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0" r:id="rId1"/>
  </p:sldMasterIdLst>
  <p:notesMasterIdLst>
    <p:notesMasterId r:id="rId48"/>
  </p:notesMasterIdLst>
  <p:handoutMasterIdLst>
    <p:handoutMasterId r:id="rId49"/>
  </p:handoutMasterIdLst>
  <p:sldIdLst>
    <p:sldId id="256" r:id="rId2"/>
    <p:sldId id="307" r:id="rId3"/>
    <p:sldId id="308" r:id="rId4"/>
    <p:sldId id="311" r:id="rId5"/>
    <p:sldId id="309" r:id="rId6"/>
    <p:sldId id="261" r:id="rId7"/>
    <p:sldId id="376" r:id="rId8"/>
    <p:sldId id="377" r:id="rId9"/>
    <p:sldId id="263" r:id="rId10"/>
    <p:sldId id="262" r:id="rId11"/>
    <p:sldId id="258" r:id="rId12"/>
    <p:sldId id="259" r:id="rId13"/>
    <p:sldId id="310" r:id="rId14"/>
    <p:sldId id="356" r:id="rId15"/>
    <p:sldId id="357" r:id="rId16"/>
    <p:sldId id="342" r:id="rId17"/>
    <p:sldId id="355" r:id="rId18"/>
    <p:sldId id="268" r:id="rId19"/>
    <p:sldId id="321" r:id="rId20"/>
    <p:sldId id="379" r:id="rId21"/>
    <p:sldId id="336" r:id="rId22"/>
    <p:sldId id="361" r:id="rId23"/>
    <p:sldId id="360" r:id="rId24"/>
    <p:sldId id="365" r:id="rId25"/>
    <p:sldId id="364" r:id="rId26"/>
    <p:sldId id="363" r:id="rId27"/>
    <p:sldId id="362" r:id="rId28"/>
    <p:sldId id="337" r:id="rId29"/>
    <p:sldId id="367" r:id="rId30"/>
    <p:sldId id="371" r:id="rId31"/>
    <p:sldId id="331" r:id="rId32"/>
    <p:sldId id="332" r:id="rId33"/>
    <p:sldId id="372" r:id="rId34"/>
    <p:sldId id="373" r:id="rId35"/>
    <p:sldId id="368" r:id="rId36"/>
    <p:sldId id="369" r:id="rId37"/>
    <p:sldId id="338" r:id="rId38"/>
    <p:sldId id="374" r:id="rId39"/>
    <p:sldId id="380" r:id="rId40"/>
    <p:sldId id="370" r:id="rId41"/>
    <p:sldId id="327" r:id="rId42"/>
    <p:sldId id="375" r:id="rId43"/>
    <p:sldId id="383" r:id="rId56"/>
    <p:sldId id="384" r:id="rId57"/>
    <p:sldId id="385" r:id="rId58"/>
    <p:sldId id="386" r:id="rId59"/>
    <p:sldId id="354" r:id="rId46"/>
    <p:sldId id="260"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787B"/>
    <a:srgbClr val="E4C8C8"/>
    <a:srgbClr val="3F739B"/>
    <a:srgbClr val="EEBE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599679-B81A-442D-8639-C76EADEE981B}" v="9" dt="2025-11-10T10:58:30.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2901" autoAdjust="0"/>
  </p:normalViewPr>
  <p:slideViewPr>
    <p:cSldViewPr snapToGrid="0">
      <p:cViewPr varScale="1">
        <p:scale>
          <a:sx n="78" d="100"/>
          <a:sy n="78" d="100"/>
        </p:scale>
        <p:origin x="206" y="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1676" y="6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microsoft.com/office/2016/11/relationships/changesInfo" Target="changesInfos/changesInfo1.xml"/><Relationship Id="rId55" Type="http://schemas.microsoft.com/office/2015/10/relationships/revisionInfo" Target="revisionInfo.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Moreh" userId="17b81281-9f29-44e0-9273-6dadbf6896a2" providerId="ADAL" clId="{BCF66164-2C9C-4B48-AFF3-6B0B0038345A}"/>
    <pc:docChg chg="addSld delSld modSld sldOrd">
      <pc:chgData name="Chris Moreh" userId="17b81281-9f29-44e0-9273-6dadbf6896a2" providerId="ADAL" clId="{BCF66164-2C9C-4B48-AFF3-6B0B0038345A}" dt="2025-11-10T10:58:30.480" v="14"/>
      <pc:docMkLst>
        <pc:docMk/>
      </pc:docMkLst>
      <pc:sldChg chg="add modTransition">
        <pc:chgData name="Chris Moreh" userId="17b81281-9f29-44e0-9273-6dadbf6896a2" providerId="ADAL" clId="{BCF66164-2C9C-4B48-AFF3-6B0B0038345A}" dt="2025-11-10T10:58:30.480" v="14"/>
        <pc:sldMkLst>
          <pc:docMk/>
          <pc:sldMk cId="1014027369" sldId="258"/>
        </pc:sldMkLst>
      </pc:sldChg>
      <pc:sldChg chg="add modTransition">
        <pc:chgData name="Chris Moreh" userId="17b81281-9f29-44e0-9273-6dadbf6896a2" providerId="ADAL" clId="{BCF66164-2C9C-4B48-AFF3-6B0B0038345A}" dt="2025-11-10T10:57:35.259" v="10"/>
        <pc:sldMkLst>
          <pc:docMk/>
          <pc:sldMk cId="2126035865" sldId="259"/>
        </pc:sldMkLst>
      </pc:sldChg>
      <pc:sldChg chg="add modTransition">
        <pc:chgData name="Chris Moreh" userId="17b81281-9f29-44e0-9273-6dadbf6896a2" providerId="ADAL" clId="{BCF66164-2C9C-4B48-AFF3-6B0B0038345A}" dt="2025-11-10T10:55:23.734" v="3"/>
        <pc:sldMkLst>
          <pc:docMk/>
          <pc:sldMk cId="1213310202" sldId="261"/>
        </pc:sldMkLst>
      </pc:sldChg>
      <pc:sldChg chg="add modTransition">
        <pc:chgData name="Chris Moreh" userId="17b81281-9f29-44e0-9273-6dadbf6896a2" providerId="ADAL" clId="{BCF66164-2C9C-4B48-AFF3-6B0B0038345A}" dt="2025-11-10T10:56:28.354" v="7"/>
        <pc:sldMkLst>
          <pc:docMk/>
          <pc:sldMk cId="4095942628" sldId="262"/>
        </pc:sldMkLst>
      </pc:sldChg>
      <pc:sldChg chg="add ord modTransition">
        <pc:chgData name="Chris Moreh" userId="17b81281-9f29-44e0-9273-6dadbf6896a2" providerId="ADAL" clId="{BCF66164-2C9C-4B48-AFF3-6B0B0038345A}" dt="2025-11-10T10:58:27.197" v="13"/>
        <pc:sldMkLst>
          <pc:docMk/>
          <pc:sldMk cId="3547964111" sldId="263"/>
        </pc:sldMkLst>
      </pc:sldChg>
      <pc:sldChg chg="modSp mod">
        <pc:chgData name="Chris Moreh" userId="17b81281-9f29-44e0-9273-6dadbf6896a2" providerId="ADAL" clId="{BCF66164-2C9C-4B48-AFF3-6B0B0038345A}" dt="2025-11-10T10:52:13.631" v="1" actId="20577"/>
        <pc:sldMkLst>
          <pc:docMk/>
          <pc:sldMk cId="3814459198" sldId="307"/>
        </pc:sldMkLst>
        <pc:spChg chg="mod">
          <ac:chgData name="Chris Moreh" userId="17b81281-9f29-44e0-9273-6dadbf6896a2" providerId="ADAL" clId="{BCF66164-2C9C-4B48-AFF3-6B0B0038345A}" dt="2025-11-10T10:52:13.631" v="1" actId="20577"/>
          <ac:spMkLst>
            <pc:docMk/>
            <pc:sldMk cId="3814459198" sldId="307"/>
            <ac:spMk id="6" creationId="{24060982-6EE3-A8F1-75FE-C4BDB2FF3CBE}"/>
          </ac:spMkLst>
        </pc:spChg>
      </pc:sldChg>
      <pc:sldChg chg="del">
        <pc:chgData name="Chris Moreh" userId="17b81281-9f29-44e0-9273-6dadbf6896a2" providerId="ADAL" clId="{BCF66164-2C9C-4B48-AFF3-6B0B0038345A}" dt="2025-11-10T10:58:10.211" v="11" actId="47"/>
        <pc:sldMkLst>
          <pc:docMk/>
          <pc:sldMk cId="2967270402" sldId="352"/>
        </pc:sldMkLst>
      </pc:sldChg>
      <pc:sldChg chg="del">
        <pc:chgData name="Chris Moreh" userId="17b81281-9f29-44e0-9273-6dadbf6896a2" providerId="ADAL" clId="{BCF66164-2C9C-4B48-AFF3-6B0B0038345A}" dt="2025-11-10T10:57:06.342" v="9" actId="47"/>
        <pc:sldMkLst>
          <pc:docMk/>
          <pc:sldMk cId="1562431172" sldId="353"/>
        </pc:sldMkLst>
      </pc:sldChg>
      <pc:sldChg chg="add modTransition">
        <pc:chgData name="Chris Moreh" userId="17b81281-9f29-44e0-9273-6dadbf6896a2" providerId="ADAL" clId="{BCF66164-2C9C-4B48-AFF3-6B0B0038345A}" dt="2025-11-10T10:55:53.937" v="5"/>
        <pc:sldMkLst>
          <pc:docMk/>
          <pc:sldMk cId="749584827" sldId="376"/>
        </pc:sldMkLst>
      </pc:sldChg>
      <pc:sldChg chg="new del">
        <pc:chgData name="Chris Moreh" userId="17b81281-9f29-44e0-9273-6dadbf6896a2" providerId="ADAL" clId="{BCF66164-2C9C-4B48-AFF3-6B0B0038345A}" dt="2025-11-10T10:55:30.469" v="4" actId="47"/>
        <pc:sldMkLst>
          <pc:docMk/>
          <pc:sldMk cId="1369631231" sldId="376"/>
        </pc:sldMkLst>
      </pc:sldChg>
      <pc:sldChg chg="add modTransition">
        <pc:chgData name="Chris Moreh" userId="17b81281-9f29-44e0-9273-6dadbf6896a2" providerId="ADAL" clId="{BCF66164-2C9C-4B48-AFF3-6B0B0038345A}" dt="2025-11-10T10:56:10.834" v="6"/>
        <pc:sldMkLst>
          <pc:docMk/>
          <pc:sldMk cId="3732555621" sldId="37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31067C-939A-4493-90F6-2E77F0A6DEC7}" type="doc">
      <dgm:prSet loTypeId="urn:microsoft.com/office/officeart/2005/8/layout/vList2" loCatId="list" qsTypeId="urn:microsoft.com/office/officeart/2005/8/quickstyle/simple4#1" qsCatId="simple" csTypeId="urn:microsoft.com/office/officeart/2005/8/colors/colorful1#1" csCatId="colorful"/>
      <dgm:spPr/>
      <dgm:t>
        <a:bodyPr/>
        <a:lstStyle/>
        <a:p>
          <a:endParaRPr lang="en-US"/>
        </a:p>
      </dgm:t>
    </dgm:pt>
    <dgm:pt modelId="{5BDC3E3B-5409-499A-8456-49B4B1DF3F4C}">
      <dgm:prSet/>
      <dgm:spPr/>
      <dgm:t>
        <a:bodyPr/>
        <a:lstStyle/>
        <a:p>
          <a:r>
            <a:rPr lang="en-GB" b="1"/>
            <a:t>Uni</a:t>
          </a:r>
          <a:r>
            <a:rPr lang="en-GB"/>
            <a:t>variate (e.g. an </a:t>
          </a:r>
          <a:r>
            <a:rPr lang="en-GB" b="1"/>
            <a:t>age</a:t>
          </a:r>
          <a:r>
            <a:rPr lang="en-GB"/>
            <a:t> distribution)</a:t>
          </a:r>
          <a:endParaRPr lang="en-US"/>
        </a:p>
      </dgm:t>
    </dgm:pt>
    <dgm:pt modelId="{AF5522EE-309B-43D6-8865-7FF76BE8A3E2}" type="parTrans" cxnId="{71461AA7-65E9-4928-822E-709000CC2566}">
      <dgm:prSet/>
      <dgm:spPr/>
      <dgm:t>
        <a:bodyPr/>
        <a:lstStyle/>
        <a:p>
          <a:endParaRPr lang="en-US"/>
        </a:p>
      </dgm:t>
    </dgm:pt>
    <dgm:pt modelId="{0B5C4F92-BD4F-47B9-A1E2-230D33FCC317}" type="sibTrans" cxnId="{71461AA7-65E9-4928-822E-709000CC2566}">
      <dgm:prSet/>
      <dgm:spPr/>
      <dgm:t>
        <a:bodyPr/>
        <a:lstStyle/>
        <a:p>
          <a:endParaRPr lang="en-US"/>
        </a:p>
      </dgm:t>
    </dgm:pt>
    <dgm:pt modelId="{E2B8447F-4E5F-4C8A-B616-7C6AB877942F}">
      <dgm:prSet/>
      <dgm:spPr/>
      <dgm:t>
        <a:bodyPr/>
        <a:lstStyle/>
        <a:p>
          <a:r>
            <a:rPr lang="en-GB" b="1"/>
            <a:t>Bi</a:t>
          </a:r>
          <a:r>
            <a:rPr lang="en-GB"/>
            <a:t>variate (e.g. </a:t>
          </a:r>
          <a:r>
            <a:rPr lang="en-GB" b="1"/>
            <a:t>age</a:t>
          </a:r>
          <a:r>
            <a:rPr lang="en-GB"/>
            <a:t> distribution by </a:t>
          </a:r>
          <a:r>
            <a:rPr lang="en-GB" b="1"/>
            <a:t>gender</a:t>
          </a:r>
          <a:r>
            <a:rPr lang="en-GB"/>
            <a:t>)</a:t>
          </a:r>
          <a:endParaRPr lang="en-US"/>
        </a:p>
      </dgm:t>
    </dgm:pt>
    <dgm:pt modelId="{0339971C-9847-4805-BA84-1A033029A979}" type="parTrans" cxnId="{181F7EE0-09FB-4A45-B237-0AE2F49ECAD6}">
      <dgm:prSet/>
      <dgm:spPr/>
      <dgm:t>
        <a:bodyPr/>
        <a:lstStyle/>
        <a:p>
          <a:endParaRPr lang="en-US"/>
        </a:p>
      </dgm:t>
    </dgm:pt>
    <dgm:pt modelId="{B8ED0442-55BB-4608-A918-0AE291B170B3}" type="sibTrans" cxnId="{181F7EE0-09FB-4A45-B237-0AE2F49ECAD6}">
      <dgm:prSet/>
      <dgm:spPr/>
      <dgm:t>
        <a:bodyPr/>
        <a:lstStyle/>
        <a:p>
          <a:endParaRPr lang="en-US"/>
        </a:p>
      </dgm:t>
    </dgm:pt>
    <dgm:pt modelId="{815F3C17-CA78-4E72-A1CD-61EA3C2C5F3B}">
      <dgm:prSet/>
      <dgm:spPr/>
      <dgm:t>
        <a:bodyPr/>
        <a:lstStyle/>
        <a:p>
          <a:r>
            <a:rPr lang="en-GB" b="1"/>
            <a:t>Multi</a:t>
          </a:r>
          <a:r>
            <a:rPr lang="en-GB"/>
            <a:t>variate (e.g. </a:t>
          </a:r>
          <a:r>
            <a:rPr lang="en-GB" b="1"/>
            <a:t>age</a:t>
          </a:r>
          <a:r>
            <a:rPr lang="en-GB"/>
            <a:t> distribution by </a:t>
          </a:r>
          <a:r>
            <a:rPr lang="en-GB" b="1"/>
            <a:t>gender</a:t>
          </a:r>
          <a:r>
            <a:rPr lang="en-GB"/>
            <a:t> and </a:t>
          </a:r>
          <a:r>
            <a:rPr lang="en-GB" b="1"/>
            <a:t>ethnicity</a:t>
          </a:r>
          <a:r>
            <a:rPr lang="en-GB"/>
            <a:t>)</a:t>
          </a:r>
          <a:endParaRPr lang="en-US"/>
        </a:p>
      </dgm:t>
    </dgm:pt>
    <dgm:pt modelId="{0B0F26CE-2F1D-4EE7-8407-DFB606295B5E}" type="parTrans" cxnId="{33157390-F3B3-4E23-B49F-6A219C780688}">
      <dgm:prSet/>
      <dgm:spPr/>
      <dgm:t>
        <a:bodyPr/>
        <a:lstStyle/>
        <a:p>
          <a:endParaRPr lang="en-US"/>
        </a:p>
      </dgm:t>
    </dgm:pt>
    <dgm:pt modelId="{93FC22AC-D591-45C8-AFC3-12F0B3689B7D}" type="sibTrans" cxnId="{33157390-F3B3-4E23-B49F-6A219C780688}">
      <dgm:prSet/>
      <dgm:spPr/>
      <dgm:t>
        <a:bodyPr/>
        <a:lstStyle/>
        <a:p>
          <a:endParaRPr lang="en-US"/>
        </a:p>
      </dgm:t>
    </dgm:pt>
    <dgm:pt modelId="{B1F309C5-83C6-42B6-AAC2-C15E9021EB2A}" type="pres">
      <dgm:prSet presAssocID="{BA31067C-939A-4493-90F6-2E77F0A6DEC7}" presName="linear" presStyleCnt="0">
        <dgm:presLayoutVars>
          <dgm:animLvl val="lvl"/>
          <dgm:resizeHandles val="exact"/>
        </dgm:presLayoutVars>
      </dgm:prSet>
      <dgm:spPr/>
    </dgm:pt>
    <dgm:pt modelId="{C205E5D4-74E8-42F4-9B49-959A3D0A3560}" type="pres">
      <dgm:prSet presAssocID="{5BDC3E3B-5409-499A-8456-49B4B1DF3F4C}" presName="parentText" presStyleLbl="node1" presStyleIdx="0" presStyleCnt="3">
        <dgm:presLayoutVars>
          <dgm:chMax val="0"/>
          <dgm:bulletEnabled val="1"/>
        </dgm:presLayoutVars>
      </dgm:prSet>
      <dgm:spPr/>
    </dgm:pt>
    <dgm:pt modelId="{B3CC37CA-DBAD-4EEB-8D9B-AA13E04DB5B4}" type="pres">
      <dgm:prSet presAssocID="{0B5C4F92-BD4F-47B9-A1E2-230D33FCC317}" presName="spacer" presStyleCnt="0"/>
      <dgm:spPr/>
    </dgm:pt>
    <dgm:pt modelId="{E7E6ACE8-8D1C-48C1-9101-A5578225006E}" type="pres">
      <dgm:prSet presAssocID="{E2B8447F-4E5F-4C8A-B616-7C6AB877942F}" presName="parentText" presStyleLbl="node1" presStyleIdx="1" presStyleCnt="3">
        <dgm:presLayoutVars>
          <dgm:chMax val="0"/>
          <dgm:bulletEnabled val="1"/>
        </dgm:presLayoutVars>
      </dgm:prSet>
      <dgm:spPr/>
    </dgm:pt>
    <dgm:pt modelId="{CFC80945-2CB9-42E5-A7B0-284C0CAA8DD3}" type="pres">
      <dgm:prSet presAssocID="{B8ED0442-55BB-4608-A918-0AE291B170B3}" presName="spacer" presStyleCnt="0"/>
      <dgm:spPr/>
    </dgm:pt>
    <dgm:pt modelId="{80F29C31-D3ED-41CD-971E-3AD284B877BF}" type="pres">
      <dgm:prSet presAssocID="{815F3C17-CA78-4E72-A1CD-61EA3C2C5F3B}" presName="parentText" presStyleLbl="node1" presStyleIdx="2" presStyleCnt="3">
        <dgm:presLayoutVars>
          <dgm:chMax val="0"/>
          <dgm:bulletEnabled val="1"/>
        </dgm:presLayoutVars>
      </dgm:prSet>
      <dgm:spPr/>
    </dgm:pt>
  </dgm:ptLst>
  <dgm:cxnLst>
    <dgm:cxn modelId="{92F4735F-6269-4CE2-98BE-156FA7BB5DC5}" type="presOf" srcId="{E2B8447F-4E5F-4C8A-B616-7C6AB877942F}" destId="{E7E6ACE8-8D1C-48C1-9101-A5578225006E}" srcOrd="0" destOrd="0" presId="urn:microsoft.com/office/officeart/2005/8/layout/vList2"/>
    <dgm:cxn modelId="{1EC51554-CAA1-4A72-90BE-74F585A6AE26}" type="presOf" srcId="{815F3C17-CA78-4E72-A1CD-61EA3C2C5F3B}" destId="{80F29C31-D3ED-41CD-971E-3AD284B877BF}" srcOrd="0" destOrd="0" presId="urn:microsoft.com/office/officeart/2005/8/layout/vList2"/>
    <dgm:cxn modelId="{A0A9037E-3E1B-422B-A024-24B40F69E2F0}" type="presOf" srcId="{BA31067C-939A-4493-90F6-2E77F0A6DEC7}" destId="{B1F309C5-83C6-42B6-AAC2-C15E9021EB2A}" srcOrd="0" destOrd="0" presId="urn:microsoft.com/office/officeart/2005/8/layout/vList2"/>
    <dgm:cxn modelId="{33157390-F3B3-4E23-B49F-6A219C780688}" srcId="{BA31067C-939A-4493-90F6-2E77F0A6DEC7}" destId="{815F3C17-CA78-4E72-A1CD-61EA3C2C5F3B}" srcOrd="2" destOrd="0" parTransId="{0B0F26CE-2F1D-4EE7-8407-DFB606295B5E}" sibTransId="{93FC22AC-D591-45C8-AFC3-12F0B3689B7D}"/>
    <dgm:cxn modelId="{71461AA7-65E9-4928-822E-709000CC2566}" srcId="{BA31067C-939A-4493-90F6-2E77F0A6DEC7}" destId="{5BDC3E3B-5409-499A-8456-49B4B1DF3F4C}" srcOrd="0" destOrd="0" parTransId="{AF5522EE-309B-43D6-8865-7FF76BE8A3E2}" sibTransId="{0B5C4F92-BD4F-47B9-A1E2-230D33FCC317}"/>
    <dgm:cxn modelId="{ADDC5DD2-ACAB-44CB-979D-A9B64C04B5E0}" type="presOf" srcId="{5BDC3E3B-5409-499A-8456-49B4B1DF3F4C}" destId="{C205E5D4-74E8-42F4-9B49-959A3D0A3560}" srcOrd="0" destOrd="0" presId="urn:microsoft.com/office/officeart/2005/8/layout/vList2"/>
    <dgm:cxn modelId="{181F7EE0-09FB-4A45-B237-0AE2F49ECAD6}" srcId="{BA31067C-939A-4493-90F6-2E77F0A6DEC7}" destId="{E2B8447F-4E5F-4C8A-B616-7C6AB877942F}" srcOrd="1" destOrd="0" parTransId="{0339971C-9847-4805-BA84-1A033029A979}" sibTransId="{B8ED0442-55BB-4608-A918-0AE291B170B3}"/>
    <dgm:cxn modelId="{056B3274-34F8-4983-A094-2913E43FA439}" type="presParOf" srcId="{B1F309C5-83C6-42B6-AAC2-C15E9021EB2A}" destId="{C205E5D4-74E8-42F4-9B49-959A3D0A3560}" srcOrd="0" destOrd="0" presId="urn:microsoft.com/office/officeart/2005/8/layout/vList2"/>
    <dgm:cxn modelId="{726003EF-A83D-4AA4-B8CC-E25FBD5DF8A6}" type="presParOf" srcId="{B1F309C5-83C6-42B6-AAC2-C15E9021EB2A}" destId="{B3CC37CA-DBAD-4EEB-8D9B-AA13E04DB5B4}" srcOrd="1" destOrd="0" presId="urn:microsoft.com/office/officeart/2005/8/layout/vList2"/>
    <dgm:cxn modelId="{60355E2F-005D-431A-A53F-798330A1B4EA}" type="presParOf" srcId="{B1F309C5-83C6-42B6-AAC2-C15E9021EB2A}" destId="{E7E6ACE8-8D1C-48C1-9101-A5578225006E}" srcOrd="2" destOrd="0" presId="urn:microsoft.com/office/officeart/2005/8/layout/vList2"/>
    <dgm:cxn modelId="{5D9C4002-13F9-4FEE-9AD6-17A5A1D34515}" type="presParOf" srcId="{B1F309C5-83C6-42B6-AAC2-C15E9021EB2A}" destId="{CFC80945-2CB9-42E5-A7B0-284C0CAA8DD3}" srcOrd="3" destOrd="0" presId="urn:microsoft.com/office/officeart/2005/8/layout/vList2"/>
    <dgm:cxn modelId="{D37010CC-AA7A-43D5-9F78-C30E4D5245DD}" type="presParOf" srcId="{B1F309C5-83C6-42B6-AAC2-C15E9021EB2A}" destId="{80F29C31-D3ED-41CD-971E-3AD284B877B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31067C-939A-4493-90F6-2E77F0A6DEC7}" type="doc">
      <dgm:prSet loTypeId="urn:microsoft.com/office/officeart/2005/8/layout/vList2" loCatId="list" qsTypeId="urn:microsoft.com/office/officeart/2005/8/quickstyle/simple4#2" qsCatId="simple" csTypeId="urn:microsoft.com/office/officeart/2005/8/colors/colorful1#2" csCatId="colorful" phldr="1"/>
      <dgm:spPr/>
      <dgm:t>
        <a:bodyPr/>
        <a:lstStyle/>
        <a:p>
          <a:endParaRPr lang="en-US"/>
        </a:p>
      </dgm:t>
    </dgm:pt>
    <dgm:pt modelId="{5BDC3E3B-5409-499A-8456-49B4B1DF3F4C}">
      <dgm:prSet/>
      <dgm:spPr/>
      <dgm:t>
        <a:bodyPr/>
        <a:lstStyle/>
        <a:p>
          <a:r>
            <a:rPr lang="en-GB" b="1"/>
            <a:t>Uni</a:t>
          </a:r>
          <a:r>
            <a:rPr lang="en-GB"/>
            <a:t>variate (e.g. an </a:t>
          </a:r>
          <a:r>
            <a:rPr lang="en-GB" b="1"/>
            <a:t>age</a:t>
          </a:r>
          <a:r>
            <a:rPr lang="en-GB"/>
            <a:t> distribution)</a:t>
          </a:r>
          <a:endParaRPr lang="en-US"/>
        </a:p>
      </dgm:t>
    </dgm:pt>
    <dgm:pt modelId="{AF5522EE-309B-43D6-8865-7FF76BE8A3E2}" type="parTrans" cxnId="{71461AA7-65E9-4928-822E-709000CC2566}">
      <dgm:prSet/>
      <dgm:spPr/>
      <dgm:t>
        <a:bodyPr/>
        <a:lstStyle/>
        <a:p>
          <a:endParaRPr lang="en-US"/>
        </a:p>
      </dgm:t>
    </dgm:pt>
    <dgm:pt modelId="{0B5C4F92-BD4F-47B9-A1E2-230D33FCC317}" type="sibTrans" cxnId="{71461AA7-65E9-4928-822E-709000CC2566}">
      <dgm:prSet/>
      <dgm:spPr/>
      <dgm:t>
        <a:bodyPr/>
        <a:lstStyle/>
        <a:p>
          <a:endParaRPr lang="en-US"/>
        </a:p>
      </dgm:t>
    </dgm:pt>
    <dgm:pt modelId="{E2B8447F-4E5F-4C8A-B616-7C6AB877942F}">
      <dgm:prSet/>
      <dgm:spPr>
        <a:solidFill>
          <a:schemeClr val="bg1">
            <a:lumMod val="95000"/>
          </a:schemeClr>
        </a:solidFill>
      </dgm:spPr>
      <dgm:t>
        <a:bodyPr/>
        <a:lstStyle/>
        <a:p>
          <a:r>
            <a:rPr lang="en-GB" b="1"/>
            <a:t>Bi</a:t>
          </a:r>
          <a:r>
            <a:rPr lang="en-GB"/>
            <a:t>variate (e.g. </a:t>
          </a:r>
          <a:r>
            <a:rPr lang="en-GB" b="1"/>
            <a:t>age</a:t>
          </a:r>
          <a:r>
            <a:rPr lang="en-GB"/>
            <a:t> distribution by </a:t>
          </a:r>
          <a:r>
            <a:rPr lang="en-GB" b="1"/>
            <a:t>gender</a:t>
          </a:r>
          <a:r>
            <a:rPr lang="en-GB"/>
            <a:t>)</a:t>
          </a:r>
          <a:endParaRPr lang="en-US"/>
        </a:p>
      </dgm:t>
    </dgm:pt>
    <dgm:pt modelId="{0339971C-9847-4805-BA84-1A033029A979}" type="parTrans" cxnId="{181F7EE0-09FB-4A45-B237-0AE2F49ECAD6}">
      <dgm:prSet/>
      <dgm:spPr/>
      <dgm:t>
        <a:bodyPr/>
        <a:lstStyle/>
        <a:p>
          <a:endParaRPr lang="en-US"/>
        </a:p>
      </dgm:t>
    </dgm:pt>
    <dgm:pt modelId="{B8ED0442-55BB-4608-A918-0AE291B170B3}" type="sibTrans" cxnId="{181F7EE0-09FB-4A45-B237-0AE2F49ECAD6}">
      <dgm:prSet/>
      <dgm:spPr/>
      <dgm:t>
        <a:bodyPr/>
        <a:lstStyle/>
        <a:p>
          <a:endParaRPr lang="en-US"/>
        </a:p>
      </dgm:t>
    </dgm:pt>
    <dgm:pt modelId="{815F3C17-CA78-4E72-A1CD-61EA3C2C5F3B}">
      <dgm:prSet/>
      <dgm:spPr>
        <a:solidFill>
          <a:schemeClr val="bg1">
            <a:lumMod val="95000"/>
          </a:schemeClr>
        </a:solidFill>
      </dgm:spPr>
      <dgm:t>
        <a:bodyPr/>
        <a:lstStyle/>
        <a:p>
          <a:r>
            <a:rPr lang="en-GB" b="1"/>
            <a:t>Multi</a:t>
          </a:r>
          <a:r>
            <a:rPr lang="en-GB"/>
            <a:t>variate (e.g. </a:t>
          </a:r>
          <a:r>
            <a:rPr lang="en-GB" b="1"/>
            <a:t>age</a:t>
          </a:r>
          <a:r>
            <a:rPr lang="en-GB"/>
            <a:t> distribution by </a:t>
          </a:r>
          <a:r>
            <a:rPr lang="en-GB" b="1"/>
            <a:t>gender</a:t>
          </a:r>
          <a:r>
            <a:rPr lang="en-GB"/>
            <a:t> and </a:t>
          </a:r>
          <a:r>
            <a:rPr lang="en-GB" b="1"/>
            <a:t>ethnicity</a:t>
          </a:r>
          <a:r>
            <a:rPr lang="en-GB"/>
            <a:t>)</a:t>
          </a:r>
          <a:endParaRPr lang="en-US"/>
        </a:p>
      </dgm:t>
    </dgm:pt>
    <dgm:pt modelId="{0B0F26CE-2F1D-4EE7-8407-DFB606295B5E}" type="parTrans" cxnId="{33157390-F3B3-4E23-B49F-6A219C780688}">
      <dgm:prSet/>
      <dgm:spPr/>
      <dgm:t>
        <a:bodyPr/>
        <a:lstStyle/>
        <a:p>
          <a:endParaRPr lang="en-US"/>
        </a:p>
      </dgm:t>
    </dgm:pt>
    <dgm:pt modelId="{93FC22AC-D591-45C8-AFC3-12F0B3689B7D}" type="sibTrans" cxnId="{33157390-F3B3-4E23-B49F-6A219C780688}">
      <dgm:prSet/>
      <dgm:spPr/>
      <dgm:t>
        <a:bodyPr/>
        <a:lstStyle/>
        <a:p>
          <a:endParaRPr lang="en-US"/>
        </a:p>
      </dgm:t>
    </dgm:pt>
    <dgm:pt modelId="{B1F309C5-83C6-42B6-AAC2-C15E9021EB2A}" type="pres">
      <dgm:prSet presAssocID="{BA31067C-939A-4493-90F6-2E77F0A6DEC7}" presName="linear" presStyleCnt="0">
        <dgm:presLayoutVars>
          <dgm:animLvl val="lvl"/>
          <dgm:resizeHandles val="exact"/>
        </dgm:presLayoutVars>
      </dgm:prSet>
      <dgm:spPr/>
    </dgm:pt>
    <dgm:pt modelId="{C205E5D4-74E8-42F4-9B49-959A3D0A3560}" type="pres">
      <dgm:prSet presAssocID="{5BDC3E3B-5409-499A-8456-49B4B1DF3F4C}" presName="parentText" presStyleLbl="node1" presStyleIdx="0" presStyleCnt="3">
        <dgm:presLayoutVars>
          <dgm:chMax val="0"/>
          <dgm:bulletEnabled val="1"/>
        </dgm:presLayoutVars>
      </dgm:prSet>
      <dgm:spPr/>
    </dgm:pt>
    <dgm:pt modelId="{B3CC37CA-DBAD-4EEB-8D9B-AA13E04DB5B4}" type="pres">
      <dgm:prSet presAssocID="{0B5C4F92-BD4F-47B9-A1E2-230D33FCC317}" presName="spacer" presStyleCnt="0"/>
      <dgm:spPr/>
    </dgm:pt>
    <dgm:pt modelId="{E7E6ACE8-8D1C-48C1-9101-A5578225006E}" type="pres">
      <dgm:prSet presAssocID="{E2B8447F-4E5F-4C8A-B616-7C6AB877942F}" presName="parentText" presStyleLbl="node1" presStyleIdx="1" presStyleCnt="3">
        <dgm:presLayoutVars>
          <dgm:chMax val="0"/>
          <dgm:bulletEnabled val="1"/>
        </dgm:presLayoutVars>
      </dgm:prSet>
      <dgm:spPr/>
    </dgm:pt>
    <dgm:pt modelId="{CFC80945-2CB9-42E5-A7B0-284C0CAA8DD3}" type="pres">
      <dgm:prSet presAssocID="{B8ED0442-55BB-4608-A918-0AE291B170B3}" presName="spacer" presStyleCnt="0"/>
      <dgm:spPr/>
    </dgm:pt>
    <dgm:pt modelId="{80F29C31-D3ED-41CD-971E-3AD284B877BF}" type="pres">
      <dgm:prSet presAssocID="{815F3C17-CA78-4E72-A1CD-61EA3C2C5F3B}" presName="parentText" presStyleLbl="node1" presStyleIdx="2" presStyleCnt="3">
        <dgm:presLayoutVars>
          <dgm:chMax val="0"/>
          <dgm:bulletEnabled val="1"/>
        </dgm:presLayoutVars>
      </dgm:prSet>
      <dgm:spPr/>
    </dgm:pt>
  </dgm:ptLst>
  <dgm:cxnLst>
    <dgm:cxn modelId="{92F4735F-6269-4CE2-98BE-156FA7BB5DC5}" type="presOf" srcId="{E2B8447F-4E5F-4C8A-B616-7C6AB877942F}" destId="{E7E6ACE8-8D1C-48C1-9101-A5578225006E}" srcOrd="0" destOrd="0" presId="urn:microsoft.com/office/officeart/2005/8/layout/vList2"/>
    <dgm:cxn modelId="{1EC51554-CAA1-4A72-90BE-74F585A6AE26}" type="presOf" srcId="{815F3C17-CA78-4E72-A1CD-61EA3C2C5F3B}" destId="{80F29C31-D3ED-41CD-971E-3AD284B877BF}" srcOrd="0" destOrd="0" presId="urn:microsoft.com/office/officeart/2005/8/layout/vList2"/>
    <dgm:cxn modelId="{A0A9037E-3E1B-422B-A024-24B40F69E2F0}" type="presOf" srcId="{BA31067C-939A-4493-90F6-2E77F0A6DEC7}" destId="{B1F309C5-83C6-42B6-AAC2-C15E9021EB2A}" srcOrd="0" destOrd="0" presId="urn:microsoft.com/office/officeart/2005/8/layout/vList2"/>
    <dgm:cxn modelId="{33157390-F3B3-4E23-B49F-6A219C780688}" srcId="{BA31067C-939A-4493-90F6-2E77F0A6DEC7}" destId="{815F3C17-CA78-4E72-A1CD-61EA3C2C5F3B}" srcOrd="2" destOrd="0" parTransId="{0B0F26CE-2F1D-4EE7-8407-DFB606295B5E}" sibTransId="{93FC22AC-D591-45C8-AFC3-12F0B3689B7D}"/>
    <dgm:cxn modelId="{71461AA7-65E9-4928-822E-709000CC2566}" srcId="{BA31067C-939A-4493-90F6-2E77F0A6DEC7}" destId="{5BDC3E3B-5409-499A-8456-49B4B1DF3F4C}" srcOrd="0" destOrd="0" parTransId="{AF5522EE-309B-43D6-8865-7FF76BE8A3E2}" sibTransId="{0B5C4F92-BD4F-47B9-A1E2-230D33FCC317}"/>
    <dgm:cxn modelId="{ADDC5DD2-ACAB-44CB-979D-A9B64C04B5E0}" type="presOf" srcId="{5BDC3E3B-5409-499A-8456-49B4B1DF3F4C}" destId="{C205E5D4-74E8-42F4-9B49-959A3D0A3560}" srcOrd="0" destOrd="0" presId="urn:microsoft.com/office/officeart/2005/8/layout/vList2"/>
    <dgm:cxn modelId="{181F7EE0-09FB-4A45-B237-0AE2F49ECAD6}" srcId="{BA31067C-939A-4493-90F6-2E77F0A6DEC7}" destId="{E2B8447F-4E5F-4C8A-B616-7C6AB877942F}" srcOrd="1" destOrd="0" parTransId="{0339971C-9847-4805-BA84-1A033029A979}" sibTransId="{B8ED0442-55BB-4608-A918-0AE291B170B3}"/>
    <dgm:cxn modelId="{056B3274-34F8-4983-A094-2913E43FA439}" type="presParOf" srcId="{B1F309C5-83C6-42B6-AAC2-C15E9021EB2A}" destId="{C205E5D4-74E8-42F4-9B49-959A3D0A3560}" srcOrd="0" destOrd="0" presId="urn:microsoft.com/office/officeart/2005/8/layout/vList2"/>
    <dgm:cxn modelId="{726003EF-A83D-4AA4-B8CC-E25FBD5DF8A6}" type="presParOf" srcId="{B1F309C5-83C6-42B6-AAC2-C15E9021EB2A}" destId="{B3CC37CA-DBAD-4EEB-8D9B-AA13E04DB5B4}" srcOrd="1" destOrd="0" presId="urn:microsoft.com/office/officeart/2005/8/layout/vList2"/>
    <dgm:cxn modelId="{60355E2F-005D-431A-A53F-798330A1B4EA}" type="presParOf" srcId="{B1F309C5-83C6-42B6-AAC2-C15E9021EB2A}" destId="{E7E6ACE8-8D1C-48C1-9101-A5578225006E}" srcOrd="2" destOrd="0" presId="urn:microsoft.com/office/officeart/2005/8/layout/vList2"/>
    <dgm:cxn modelId="{5D9C4002-13F9-4FEE-9AD6-17A5A1D34515}" type="presParOf" srcId="{B1F309C5-83C6-42B6-AAC2-C15E9021EB2A}" destId="{CFC80945-2CB9-42E5-A7B0-284C0CAA8DD3}" srcOrd="3" destOrd="0" presId="urn:microsoft.com/office/officeart/2005/8/layout/vList2"/>
    <dgm:cxn modelId="{D37010CC-AA7A-43D5-9F78-C30E4D5245DD}" type="presParOf" srcId="{B1F309C5-83C6-42B6-AAC2-C15E9021EB2A}" destId="{80F29C31-D3ED-41CD-971E-3AD284B877B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05E5D4-74E8-42F4-9B49-959A3D0A3560}">
      <dsp:nvSpPr>
        <dsp:cNvPr id="0" name=""/>
        <dsp:cNvSpPr/>
      </dsp:nvSpPr>
      <dsp:spPr>
        <a:xfrm>
          <a:off x="0" y="29462"/>
          <a:ext cx="10398125" cy="146983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GB" sz="3700" b="1" kern="1200"/>
            <a:t>Uni</a:t>
          </a:r>
          <a:r>
            <a:rPr lang="en-GB" sz="3700" kern="1200"/>
            <a:t>variate (e.g. an </a:t>
          </a:r>
          <a:r>
            <a:rPr lang="en-GB" sz="3700" b="1" kern="1200"/>
            <a:t>age</a:t>
          </a:r>
          <a:r>
            <a:rPr lang="en-GB" sz="3700" kern="1200"/>
            <a:t> distribution)</a:t>
          </a:r>
          <a:endParaRPr lang="en-US" sz="3700" kern="1200"/>
        </a:p>
      </dsp:txBody>
      <dsp:txXfrm>
        <a:off x="71751" y="101213"/>
        <a:ext cx="10254623" cy="1326328"/>
      </dsp:txXfrm>
    </dsp:sp>
    <dsp:sp modelId="{E7E6ACE8-8D1C-48C1-9101-A5578225006E}">
      <dsp:nvSpPr>
        <dsp:cNvPr id="0" name=""/>
        <dsp:cNvSpPr/>
      </dsp:nvSpPr>
      <dsp:spPr>
        <a:xfrm>
          <a:off x="0" y="1605853"/>
          <a:ext cx="10398125" cy="1469830"/>
        </a:xfrm>
        <a:prstGeom prst="round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GB" sz="3700" b="1" kern="1200"/>
            <a:t>Bi</a:t>
          </a:r>
          <a:r>
            <a:rPr lang="en-GB" sz="3700" kern="1200"/>
            <a:t>variate (e.g. </a:t>
          </a:r>
          <a:r>
            <a:rPr lang="en-GB" sz="3700" b="1" kern="1200"/>
            <a:t>age</a:t>
          </a:r>
          <a:r>
            <a:rPr lang="en-GB" sz="3700" kern="1200"/>
            <a:t> distribution by </a:t>
          </a:r>
          <a:r>
            <a:rPr lang="en-GB" sz="3700" b="1" kern="1200"/>
            <a:t>gender</a:t>
          </a:r>
          <a:r>
            <a:rPr lang="en-GB" sz="3700" kern="1200"/>
            <a:t>)</a:t>
          </a:r>
          <a:endParaRPr lang="en-US" sz="3700" kern="1200"/>
        </a:p>
      </dsp:txBody>
      <dsp:txXfrm>
        <a:off x="71751" y="1677604"/>
        <a:ext cx="10254623" cy="1326328"/>
      </dsp:txXfrm>
    </dsp:sp>
    <dsp:sp modelId="{80F29C31-D3ED-41CD-971E-3AD284B877BF}">
      <dsp:nvSpPr>
        <dsp:cNvPr id="0" name=""/>
        <dsp:cNvSpPr/>
      </dsp:nvSpPr>
      <dsp:spPr>
        <a:xfrm>
          <a:off x="0" y="3182243"/>
          <a:ext cx="10398125" cy="1469830"/>
        </a:xfrm>
        <a:prstGeom prst="roundRect">
          <a:avLst/>
        </a:prstGeom>
        <a:gradFill rotWithShape="0">
          <a:gsLst>
            <a:gs pos="0">
              <a:schemeClr val="accent4">
                <a:hueOff val="0"/>
                <a:satOff val="0"/>
                <a:lumOff val="0"/>
                <a:alphaOff val="0"/>
                <a:shade val="85000"/>
                <a:satMod val="130000"/>
              </a:schemeClr>
            </a:gs>
            <a:gs pos="34000">
              <a:schemeClr val="accent4">
                <a:hueOff val="0"/>
                <a:satOff val="0"/>
                <a:lumOff val="0"/>
                <a:alphaOff val="0"/>
                <a:shade val="87000"/>
                <a:satMod val="125000"/>
              </a:schemeClr>
            </a:gs>
            <a:gs pos="70000">
              <a:schemeClr val="accent4">
                <a:hueOff val="0"/>
                <a:satOff val="0"/>
                <a:lumOff val="0"/>
                <a:alphaOff val="0"/>
                <a:tint val="100000"/>
                <a:shade val="90000"/>
                <a:satMod val="130000"/>
              </a:schemeClr>
            </a:gs>
            <a:gs pos="100000">
              <a:schemeClr val="accent4">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GB" sz="3700" b="1" kern="1200"/>
            <a:t>Multi</a:t>
          </a:r>
          <a:r>
            <a:rPr lang="en-GB" sz="3700" kern="1200"/>
            <a:t>variate (e.g. </a:t>
          </a:r>
          <a:r>
            <a:rPr lang="en-GB" sz="3700" b="1" kern="1200"/>
            <a:t>age</a:t>
          </a:r>
          <a:r>
            <a:rPr lang="en-GB" sz="3700" kern="1200"/>
            <a:t> distribution by </a:t>
          </a:r>
          <a:r>
            <a:rPr lang="en-GB" sz="3700" b="1" kern="1200"/>
            <a:t>gender</a:t>
          </a:r>
          <a:r>
            <a:rPr lang="en-GB" sz="3700" kern="1200"/>
            <a:t> and </a:t>
          </a:r>
          <a:r>
            <a:rPr lang="en-GB" sz="3700" b="1" kern="1200"/>
            <a:t>ethnicity</a:t>
          </a:r>
          <a:r>
            <a:rPr lang="en-GB" sz="3700" kern="1200"/>
            <a:t>)</a:t>
          </a:r>
          <a:endParaRPr lang="en-US" sz="3700" kern="1200"/>
        </a:p>
      </dsp:txBody>
      <dsp:txXfrm>
        <a:off x="71751" y="3253994"/>
        <a:ext cx="10254623" cy="13263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05E5D4-74E8-42F4-9B49-959A3D0A3560}">
      <dsp:nvSpPr>
        <dsp:cNvPr id="0" name=""/>
        <dsp:cNvSpPr/>
      </dsp:nvSpPr>
      <dsp:spPr>
        <a:xfrm>
          <a:off x="0" y="29462"/>
          <a:ext cx="10398125" cy="146983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GB" sz="3700" b="1" kern="1200"/>
            <a:t>Uni</a:t>
          </a:r>
          <a:r>
            <a:rPr lang="en-GB" sz="3700" kern="1200"/>
            <a:t>variate (e.g. an </a:t>
          </a:r>
          <a:r>
            <a:rPr lang="en-GB" sz="3700" b="1" kern="1200"/>
            <a:t>age</a:t>
          </a:r>
          <a:r>
            <a:rPr lang="en-GB" sz="3700" kern="1200"/>
            <a:t> distribution)</a:t>
          </a:r>
          <a:endParaRPr lang="en-US" sz="3700" kern="1200"/>
        </a:p>
      </dsp:txBody>
      <dsp:txXfrm>
        <a:off x="71751" y="101213"/>
        <a:ext cx="10254623" cy="1326328"/>
      </dsp:txXfrm>
    </dsp:sp>
    <dsp:sp modelId="{E7E6ACE8-8D1C-48C1-9101-A5578225006E}">
      <dsp:nvSpPr>
        <dsp:cNvPr id="0" name=""/>
        <dsp:cNvSpPr/>
      </dsp:nvSpPr>
      <dsp:spPr>
        <a:xfrm>
          <a:off x="0" y="1605853"/>
          <a:ext cx="10398125" cy="1469830"/>
        </a:xfrm>
        <a:prstGeom prst="roundRect">
          <a:avLst/>
        </a:prstGeom>
        <a:solidFill>
          <a:schemeClr val="bg1">
            <a:lumMod val="9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GB" sz="3700" b="1" kern="1200"/>
            <a:t>Bi</a:t>
          </a:r>
          <a:r>
            <a:rPr lang="en-GB" sz="3700" kern="1200"/>
            <a:t>variate (e.g. </a:t>
          </a:r>
          <a:r>
            <a:rPr lang="en-GB" sz="3700" b="1" kern="1200"/>
            <a:t>age</a:t>
          </a:r>
          <a:r>
            <a:rPr lang="en-GB" sz="3700" kern="1200"/>
            <a:t> distribution by </a:t>
          </a:r>
          <a:r>
            <a:rPr lang="en-GB" sz="3700" b="1" kern="1200"/>
            <a:t>gender</a:t>
          </a:r>
          <a:r>
            <a:rPr lang="en-GB" sz="3700" kern="1200"/>
            <a:t>)</a:t>
          </a:r>
          <a:endParaRPr lang="en-US" sz="3700" kern="1200"/>
        </a:p>
      </dsp:txBody>
      <dsp:txXfrm>
        <a:off x="71751" y="1677604"/>
        <a:ext cx="10254623" cy="1326328"/>
      </dsp:txXfrm>
    </dsp:sp>
    <dsp:sp modelId="{80F29C31-D3ED-41CD-971E-3AD284B877BF}">
      <dsp:nvSpPr>
        <dsp:cNvPr id="0" name=""/>
        <dsp:cNvSpPr/>
      </dsp:nvSpPr>
      <dsp:spPr>
        <a:xfrm>
          <a:off x="0" y="3182243"/>
          <a:ext cx="10398125" cy="1469830"/>
        </a:xfrm>
        <a:prstGeom prst="roundRect">
          <a:avLst/>
        </a:prstGeom>
        <a:solidFill>
          <a:schemeClr val="bg1">
            <a:lumMod val="95000"/>
          </a:schemeClr>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GB" sz="3700" b="1" kern="1200"/>
            <a:t>Multi</a:t>
          </a:r>
          <a:r>
            <a:rPr lang="en-GB" sz="3700" kern="1200"/>
            <a:t>variate (e.g. </a:t>
          </a:r>
          <a:r>
            <a:rPr lang="en-GB" sz="3700" b="1" kern="1200"/>
            <a:t>age</a:t>
          </a:r>
          <a:r>
            <a:rPr lang="en-GB" sz="3700" kern="1200"/>
            <a:t> distribution by </a:t>
          </a:r>
          <a:r>
            <a:rPr lang="en-GB" sz="3700" b="1" kern="1200"/>
            <a:t>gender</a:t>
          </a:r>
          <a:r>
            <a:rPr lang="en-GB" sz="3700" kern="1200"/>
            <a:t> and </a:t>
          </a:r>
          <a:r>
            <a:rPr lang="en-GB" sz="3700" b="1" kern="1200"/>
            <a:t>ethnicity</a:t>
          </a:r>
          <a:r>
            <a:rPr lang="en-GB" sz="3700" kern="1200"/>
            <a:t>)</a:t>
          </a:r>
          <a:endParaRPr lang="en-US" sz="3700" kern="1200"/>
        </a:p>
      </dsp:txBody>
      <dsp:txXfrm>
        <a:off x="71751" y="3253994"/>
        <a:ext cx="10254623" cy="132632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FBD195-041F-A9A0-1644-740C91990A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7D01E07-BD6F-76A0-E2F3-6F9E834A0E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3203E3-7C81-41A5-A697-954FF252F964}" type="datetimeFigureOut">
              <a:rPr lang="en-GB" smtClean="0"/>
              <a:t>29/09/2026</a:t>
            </a:fld>
            <a:endParaRPr lang="en-GB"/>
          </a:p>
        </p:txBody>
      </p:sp>
      <p:sp>
        <p:nvSpPr>
          <p:cNvPr id="4" name="Footer Placeholder 3">
            <a:extLst>
              <a:ext uri="{FF2B5EF4-FFF2-40B4-BE49-F238E27FC236}">
                <a16:creationId xmlns:a16="http://schemas.microsoft.com/office/drawing/2014/main" id="{DDFBD701-2DB0-B4B2-C5BD-0490DCBA57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4251DA51-44A7-C88C-C39E-6DA6922B2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050DA-C3C8-4D4F-9A52-26049FB521EA}" type="slidenum">
              <a:rPr lang="en-GB" smtClean="0"/>
              <a:t>‹#›</a:t>
            </a:fld>
            <a:endParaRPr lang="en-GB"/>
          </a:p>
        </p:txBody>
      </p:sp>
    </p:spTree>
    <p:extLst>
      <p:ext uri="{BB962C8B-B14F-4D97-AF65-F5344CB8AC3E}">
        <p14:creationId xmlns:p14="http://schemas.microsoft.com/office/powerpoint/2010/main" val="33681809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54BCB-1937-48CE-9F00-49B381FEB4E9}" type="datetimeFigureOut">
              <a:rPr lang="en-GB" smtClean="0"/>
              <a:t>29/09/2026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A333E-A95D-42FE-9CF0-D7FBE7CB01EA}" type="slidenum">
              <a:rPr lang="en-GB" smtClean="0"/>
              <a:t>‹#›</a:t>
            </a:fld>
            <a:endParaRPr lang="en-GB"/>
          </a:p>
        </p:txBody>
      </p:sp>
    </p:spTree>
    <p:extLst>
      <p:ext uri="{BB962C8B-B14F-4D97-AF65-F5344CB8AC3E}">
        <p14:creationId xmlns:p14="http://schemas.microsoft.com/office/powerpoint/2010/main" val="61144826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67504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5949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956424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227147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6999B8-B6B4-4561-A3CD-BBCDAB9FC9D9}" type="slidenum">
              <a:rPr lang="en-GB" smtClean="0"/>
              <a:t>6</a:t>
            </a:fld>
            <a:endParaRPr lang="en-GB"/>
          </a:p>
        </p:txBody>
      </p:sp>
    </p:spTree>
    <p:extLst>
      <p:ext uri="{BB962C8B-B14F-4D97-AF65-F5344CB8AC3E}">
        <p14:creationId xmlns:p14="http://schemas.microsoft.com/office/powerpoint/2010/main" val="3429701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956637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01872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98571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exactly do we mean by ‘data’ here?</a:t>
            </a:r>
          </a:p>
          <a:p>
            <a:r>
              <a:rPr lang="en-GB" dirty="0"/>
              <a:t>Variables</a:t>
            </a:r>
          </a:p>
        </p:txBody>
      </p:sp>
      <p:sp>
        <p:nvSpPr>
          <p:cNvPr id="4" name="Slide Number Placeholder 3"/>
          <p:cNvSpPr>
            <a:spLocks noGrp="1"/>
          </p:cNvSpPr>
          <p:nvPr>
            <p:ph type="sldNum" sz="quarter" idx="5"/>
          </p:nvPr>
        </p:nvSpPr>
        <p:spPr/>
        <p:txBody>
          <a:bodyPr/>
          <a:lstStyle/>
          <a:p>
            <a:fld id="{AEE37250-ED74-45FE-8EEE-E7DB43DB6CB1}" type="slidenum">
              <a:rPr lang="en-GB" smtClean="0"/>
              <a:t>16</a:t>
            </a:fld>
            <a:endParaRPr lang="en-GB"/>
          </a:p>
        </p:txBody>
      </p:sp>
    </p:spTree>
    <p:extLst>
      <p:ext uri="{BB962C8B-B14F-4D97-AF65-F5344CB8AC3E}">
        <p14:creationId xmlns:p14="http://schemas.microsoft.com/office/powerpoint/2010/main" val="4061196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exactly do we mean by ‘data’ here?</a:t>
            </a:r>
          </a:p>
          <a:p>
            <a:r>
              <a:rPr lang="en-GB" dirty="0"/>
              <a:t>Variables</a:t>
            </a:r>
          </a:p>
        </p:txBody>
      </p:sp>
      <p:sp>
        <p:nvSpPr>
          <p:cNvPr id="4" name="Slide Number Placeholder 3"/>
          <p:cNvSpPr>
            <a:spLocks noGrp="1"/>
          </p:cNvSpPr>
          <p:nvPr>
            <p:ph type="sldNum" sz="quarter" idx="5"/>
          </p:nvPr>
        </p:nvSpPr>
        <p:spPr/>
        <p:txBody>
          <a:bodyPr/>
          <a:lstStyle/>
          <a:p>
            <a:fld id="{AEE37250-ED74-45FE-8EEE-E7DB43DB6CB1}" type="slidenum">
              <a:rPr lang="en-GB" smtClean="0"/>
              <a:t>17</a:t>
            </a:fld>
            <a:endParaRPr lang="en-GB"/>
          </a:p>
        </p:txBody>
      </p:sp>
    </p:spTree>
    <p:extLst>
      <p:ext uri="{BB962C8B-B14F-4D97-AF65-F5344CB8AC3E}">
        <p14:creationId xmlns:p14="http://schemas.microsoft.com/office/powerpoint/2010/main" val="2114949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Numerical data more common in the natural, physical world;</a:t>
            </a:r>
          </a:p>
          <a:p>
            <a:r>
              <a:rPr lang="en-GB" dirty="0"/>
              <a:t>In social science we have many categorical variables, as much of what we do is categorise people and their characteristics.</a:t>
            </a:r>
          </a:p>
        </p:txBody>
      </p:sp>
      <p:sp>
        <p:nvSpPr>
          <p:cNvPr id="4" name="Slide Number Placeholder 3"/>
          <p:cNvSpPr>
            <a:spLocks noGrp="1"/>
          </p:cNvSpPr>
          <p:nvPr>
            <p:ph type="sldNum" sz="quarter" idx="5"/>
          </p:nvPr>
        </p:nvSpPr>
        <p:spPr/>
        <p:txBody>
          <a:bodyPr/>
          <a:lstStyle/>
          <a:p>
            <a:fld id="{AEE37250-ED74-45FE-8EEE-E7DB43DB6CB1}" type="slidenum">
              <a:rPr lang="en-GB" smtClean="0"/>
              <a:t>18</a:t>
            </a:fld>
            <a:endParaRPr lang="en-GB"/>
          </a:p>
        </p:txBody>
      </p:sp>
    </p:spTree>
    <p:extLst>
      <p:ext uri="{BB962C8B-B14F-4D97-AF65-F5344CB8AC3E}">
        <p14:creationId xmlns:p14="http://schemas.microsoft.com/office/powerpoint/2010/main" val="1984381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19</a:t>
            </a:fld>
            <a:endParaRPr lang="en-GB"/>
          </a:p>
        </p:txBody>
      </p:sp>
    </p:spTree>
    <p:extLst>
      <p:ext uri="{BB962C8B-B14F-4D97-AF65-F5344CB8AC3E}">
        <p14:creationId xmlns:p14="http://schemas.microsoft.com/office/powerpoint/2010/main" val="380419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72549-A425-7B11-48C8-8C0505A8A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59F84-D42D-5199-DA20-C128AADB9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4D9E0-CB7C-7142-647B-954A1DFB0A4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9F99D36-0E7D-541B-7D89-18E1BEE67985}"/>
              </a:ext>
            </a:extLst>
          </p:cNvPr>
          <p:cNvSpPr>
            <a:spLocks noGrp="1"/>
          </p:cNvSpPr>
          <p:nvPr>
            <p:ph type="sldNum" sz="quarter" idx="5"/>
          </p:nvPr>
        </p:nvSpPr>
        <p:spPr/>
        <p:txBody>
          <a:bodyPr/>
          <a:lstStyle/>
          <a:p>
            <a:fld id="{AEE37250-ED74-45FE-8EEE-E7DB43DB6CB1}" type="slidenum">
              <a:rPr lang="en-GB" smtClean="0"/>
              <a:t>20</a:t>
            </a:fld>
            <a:endParaRPr lang="en-GB"/>
          </a:p>
        </p:txBody>
      </p:sp>
    </p:spTree>
    <p:extLst>
      <p:ext uri="{BB962C8B-B14F-4D97-AF65-F5344CB8AC3E}">
        <p14:creationId xmlns:p14="http://schemas.microsoft.com/office/powerpoint/2010/main" val="2430874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21</a:t>
            </a:fld>
            <a:endParaRPr lang="en-GB"/>
          </a:p>
        </p:txBody>
      </p:sp>
    </p:spTree>
    <p:extLst>
      <p:ext uri="{BB962C8B-B14F-4D97-AF65-F5344CB8AC3E}">
        <p14:creationId xmlns:p14="http://schemas.microsoft.com/office/powerpoint/2010/main" val="2688250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23</a:t>
            </a:fld>
            <a:endParaRPr lang="en-GB"/>
          </a:p>
        </p:txBody>
      </p:sp>
    </p:spTree>
    <p:extLst>
      <p:ext uri="{BB962C8B-B14F-4D97-AF65-F5344CB8AC3E}">
        <p14:creationId xmlns:p14="http://schemas.microsoft.com/office/powerpoint/2010/main" val="3438284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statistic that is not usually produced in frequency tables but can be very useful for conveying </a:t>
            </a:r>
            <a:r>
              <a:rPr lang="en-GB" b="1" dirty="0"/>
              <a:t>quantities of interest; </a:t>
            </a:r>
            <a:r>
              <a:rPr lang="en-GB" b="0" dirty="0"/>
              <a:t>direct comparisons of different categories;</a:t>
            </a:r>
          </a:p>
          <a:p>
            <a:r>
              <a:rPr lang="en-GB" dirty="0"/>
              <a:t>For every person preferring ‘remain’ there are 0.7 people preferring ‘leave’;</a:t>
            </a:r>
          </a:p>
          <a:p>
            <a:r>
              <a:rPr lang="en-GB" dirty="0"/>
              <a:t>It sounds awkward to talk about fractions of human beings; so it’s often clearer to multiply the values by ten or its multiples to confer more meaningful summaries; </a:t>
            </a:r>
          </a:p>
          <a:p>
            <a:r>
              <a:rPr lang="en-GB" dirty="0"/>
              <a:t>For every 10 </a:t>
            </a:r>
            <a:r>
              <a:rPr lang="en-GB" dirty="0" err="1"/>
              <a:t>remainers</a:t>
            </a:r>
            <a:r>
              <a:rPr lang="en-GB" dirty="0"/>
              <a:t> there are 7 leavers in the data</a:t>
            </a:r>
          </a:p>
        </p:txBody>
      </p:sp>
      <p:sp>
        <p:nvSpPr>
          <p:cNvPr id="4" name="Slide Number Placeholder 3"/>
          <p:cNvSpPr>
            <a:spLocks noGrp="1"/>
          </p:cNvSpPr>
          <p:nvPr>
            <p:ph type="sldNum" sz="quarter" idx="5"/>
          </p:nvPr>
        </p:nvSpPr>
        <p:spPr/>
        <p:txBody>
          <a:bodyPr/>
          <a:lstStyle/>
          <a:p>
            <a:fld id="{AEE37250-ED74-45FE-8EEE-E7DB43DB6CB1}" type="slidenum">
              <a:rPr lang="en-GB" smtClean="0"/>
              <a:t>24</a:t>
            </a:fld>
            <a:endParaRPr lang="en-GB"/>
          </a:p>
        </p:txBody>
      </p:sp>
    </p:spTree>
    <p:extLst>
      <p:ext uri="{BB962C8B-B14F-4D97-AF65-F5344CB8AC3E}">
        <p14:creationId xmlns:p14="http://schemas.microsoft.com/office/powerpoint/2010/main" val="40776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28</a:t>
            </a:fld>
            <a:endParaRPr lang="en-GB"/>
          </a:p>
        </p:txBody>
      </p:sp>
    </p:spTree>
    <p:extLst>
      <p:ext uri="{BB962C8B-B14F-4D97-AF65-F5344CB8AC3E}">
        <p14:creationId xmlns:p14="http://schemas.microsoft.com/office/powerpoint/2010/main" val="2502717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Central tendency can be defined as measures of the location of the middle in a distribution. </a:t>
            </a:r>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29</a:t>
            </a:fld>
            <a:endParaRPr lang="en-GB"/>
          </a:p>
        </p:txBody>
      </p:sp>
    </p:spTree>
    <p:extLst>
      <p:ext uri="{BB962C8B-B14F-4D97-AF65-F5344CB8AC3E}">
        <p14:creationId xmlns:p14="http://schemas.microsoft.com/office/powerpoint/2010/main" val="2670146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Central tendency can be defined as measures of the location of the middle in a distribution. </a:t>
            </a:r>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30</a:t>
            </a:fld>
            <a:endParaRPr lang="en-GB"/>
          </a:p>
        </p:txBody>
      </p:sp>
    </p:spTree>
    <p:extLst>
      <p:ext uri="{BB962C8B-B14F-4D97-AF65-F5344CB8AC3E}">
        <p14:creationId xmlns:p14="http://schemas.microsoft.com/office/powerpoint/2010/main" val="3545254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median is the value in the absolute middle of the distribution. We sort all the values from low to high and then identifying the value in the middle of the list. </a:t>
            </a:r>
          </a:p>
          <a:p>
            <a:r>
              <a:rPr lang="en-GB" sz="1200" b="0" i="0" u="none" strike="noStrike" kern="1200" baseline="0" dirty="0">
                <a:solidFill>
                  <a:schemeClr val="tx1"/>
                </a:solidFill>
                <a:latin typeface="+mn-lt"/>
                <a:ea typeface="+mn-ea"/>
                <a:cs typeface="+mn-cs"/>
              </a:rPr>
              <a:t>Media here is 173 cm.</a:t>
            </a:r>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31</a:t>
            </a:fld>
            <a:endParaRPr lang="en-GB"/>
          </a:p>
        </p:txBody>
      </p:sp>
    </p:spTree>
    <p:extLst>
      <p:ext uri="{BB962C8B-B14F-4D97-AF65-F5344CB8AC3E}">
        <p14:creationId xmlns:p14="http://schemas.microsoft.com/office/powerpoint/2010/main" val="4095116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mode - or “type” - is defined as the most frequently occurring value in a distribution: here 1.</a:t>
            </a:r>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32</a:t>
            </a:fld>
            <a:endParaRPr lang="en-GB"/>
          </a:p>
        </p:txBody>
      </p:sp>
    </p:spTree>
    <p:extLst>
      <p:ext uri="{BB962C8B-B14F-4D97-AF65-F5344CB8AC3E}">
        <p14:creationId xmlns:p14="http://schemas.microsoft.com/office/powerpoint/2010/main" val="2690953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Always bell-shaped. 	</a:t>
            </a:r>
          </a:p>
          <a:p>
            <a:r>
              <a:rPr lang="en-GB" sz="1200" b="0" i="0" u="none" strike="noStrike" kern="1200" baseline="0" dirty="0">
                <a:solidFill>
                  <a:schemeClr val="tx1"/>
                </a:solidFill>
                <a:latin typeface="+mn-lt"/>
                <a:ea typeface="+mn-ea"/>
                <a:cs typeface="+mn-cs"/>
              </a:rPr>
              <a:t>The peak always indicates the mean value. 	</a:t>
            </a:r>
          </a:p>
          <a:p>
            <a:r>
              <a:rPr lang="en-GB" sz="1200" b="0" i="0" u="none" strike="noStrike" kern="1200" baseline="0" dirty="0">
                <a:solidFill>
                  <a:schemeClr val="tx1"/>
                </a:solidFill>
                <a:latin typeface="+mn-lt"/>
                <a:ea typeface="+mn-ea"/>
                <a:cs typeface="+mn-cs"/>
              </a:rPr>
              <a:t>Always symmetrical, i.e. the tails on each side of the mean are equally large. This means that 50 % of the values are on one side of the mean, and 50 % of the values are on the other side of the mean. The area under the curve is always 1 (100 % of the values). </a:t>
            </a:r>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33</a:t>
            </a:fld>
            <a:endParaRPr lang="en-GB"/>
          </a:p>
        </p:txBody>
      </p:sp>
    </p:spTree>
    <p:extLst>
      <p:ext uri="{BB962C8B-B14F-4D97-AF65-F5344CB8AC3E}">
        <p14:creationId xmlns:p14="http://schemas.microsoft.com/office/powerpoint/2010/main" val="616400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37</a:t>
            </a:fld>
            <a:endParaRPr lang="en-GB"/>
          </a:p>
        </p:txBody>
      </p:sp>
    </p:spTree>
    <p:extLst>
      <p:ext uri="{BB962C8B-B14F-4D97-AF65-F5344CB8AC3E}">
        <p14:creationId xmlns:p14="http://schemas.microsoft.com/office/powerpoint/2010/main" val="1708375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These measures are most suitable for continuous variables (i.e. ratio or interval) but sometimes min, max, and range are used for ordinal variables as well. However, they cannot be used for nominal variables (for the same reason as why we do not use mean or median to describe nominal variables). </a:t>
            </a:r>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38</a:t>
            </a:fld>
            <a:endParaRPr lang="en-GB"/>
          </a:p>
        </p:txBody>
      </p:sp>
    </p:spTree>
    <p:extLst>
      <p:ext uri="{BB962C8B-B14F-4D97-AF65-F5344CB8AC3E}">
        <p14:creationId xmlns:p14="http://schemas.microsoft.com/office/powerpoint/2010/main" val="20834878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40</a:t>
            </a:fld>
            <a:endParaRPr lang="en-GB"/>
          </a:p>
        </p:txBody>
      </p:sp>
    </p:spTree>
    <p:extLst>
      <p:ext uri="{BB962C8B-B14F-4D97-AF65-F5344CB8AC3E}">
        <p14:creationId xmlns:p14="http://schemas.microsoft.com/office/powerpoint/2010/main" val="2492862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difference lies in the amount of spread of the values: because the shape of a normal distribution is not only defined by the mean value, but by the standard deviation! </a:t>
            </a:r>
          </a:p>
          <a:p>
            <a:r>
              <a:rPr lang="en-GB" sz="1200" b="0" i="0" u="none" strike="noStrike" kern="1200" baseline="0" dirty="0">
                <a:solidFill>
                  <a:schemeClr val="tx1"/>
                </a:solidFill>
                <a:latin typeface="+mn-lt"/>
                <a:ea typeface="+mn-ea"/>
                <a:cs typeface="+mn-cs"/>
              </a:rPr>
              <a:t>But what is “standard deviation”? A simple definition is that it expresses how much variation exists from the mean for a given variable. If we have a low standard deviation, it suggests that the individuals in our data have values close to the mean, and if we have a high standard deviation, it indicates that the values are more spread out over a large range of values. </a:t>
            </a:r>
            <a:endParaRPr lang="en-GB" dirty="0"/>
          </a:p>
        </p:txBody>
      </p:sp>
      <p:sp>
        <p:nvSpPr>
          <p:cNvPr id="4" name="Slide Number Placeholder 3"/>
          <p:cNvSpPr>
            <a:spLocks noGrp="1"/>
          </p:cNvSpPr>
          <p:nvPr>
            <p:ph type="sldNum" sz="quarter" idx="5"/>
          </p:nvPr>
        </p:nvSpPr>
        <p:spPr/>
        <p:txBody>
          <a:bodyPr/>
          <a:lstStyle/>
          <a:p>
            <a:fld id="{AEE37250-ED74-45FE-8EEE-E7DB43DB6CB1}" type="slidenum">
              <a:rPr lang="en-GB" smtClean="0"/>
              <a:t>41</a:t>
            </a:fld>
            <a:endParaRPr lang="en-GB"/>
          </a:p>
        </p:txBody>
      </p:sp>
    </p:spTree>
    <p:extLst>
      <p:ext uri="{BB962C8B-B14F-4D97-AF65-F5344CB8AC3E}">
        <p14:creationId xmlns:p14="http://schemas.microsoft.com/office/powerpoint/2010/main" val="1020376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While mean is ‘average’, median is the one in the ‘middle’; the 50</a:t>
            </a:r>
            <a:r>
              <a:rPr lang="en-GB" baseline="30000" dirty="0"/>
              <a:t>th</a:t>
            </a:r>
            <a:r>
              <a:rPr lang="en-GB" dirty="0"/>
              <a:t> percentile; means 50% of the data is below the P50 value;</a:t>
            </a:r>
          </a:p>
          <a:p>
            <a:r>
              <a:rPr lang="en-GB" dirty="0"/>
              <a:t>Divide each half into two again to get P25 and P75; the data is split into 4 quartiles;</a:t>
            </a:r>
          </a:p>
          <a:p>
            <a:r>
              <a:rPr lang="en-GB" dirty="0"/>
              <a:t>The range between P25 and P75 measures the amount of data in middle 50%.</a:t>
            </a:r>
          </a:p>
          <a:p>
            <a:r>
              <a:rPr lang="en-GB" dirty="0"/>
              <a:t>Boxplots specifically designed to capture this information.</a:t>
            </a:r>
          </a:p>
        </p:txBody>
      </p:sp>
      <p:sp>
        <p:nvSpPr>
          <p:cNvPr id="4" name="Slide Number Placeholder 3"/>
          <p:cNvSpPr>
            <a:spLocks noGrp="1"/>
          </p:cNvSpPr>
          <p:nvPr>
            <p:ph type="sldNum" sz="quarter" idx="5"/>
          </p:nvPr>
        </p:nvSpPr>
        <p:spPr/>
        <p:txBody>
          <a:bodyPr/>
          <a:lstStyle/>
          <a:p>
            <a:fld id="{AEE37250-ED74-45FE-8EEE-E7DB43DB6CB1}" type="slidenum">
              <a:rPr lang="en-GB" smtClean="0"/>
              <a:t>42</a:t>
            </a:fld>
            <a:endParaRPr lang="en-GB"/>
          </a:p>
        </p:txBody>
      </p:sp>
    </p:spTree>
    <p:extLst>
      <p:ext uri="{BB962C8B-B14F-4D97-AF65-F5344CB8AC3E}">
        <p14:creationId xmlns:p14="http://schemas.microsoft.com/office/powerpoint/2010/main" val="11023940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51942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58103846"/>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Descriptive Statistics table from Worksheet 1, Task 4–6, with ppltrst treated as a Scale variable. (1) Valid and Missing: 1,680 answers, 4 refusals or don't knows. (2)–(4) Three measures of the centre: the mode 7, the median 6 and the mean 5.40. The mean is lower than the median because a minority of low answers pulls it down. (5) The standard deviation, 2.3: answers typically lie about 2.3 points from the mean. (6) Minimum and maximum show that the whole 0 to 10 scale was used.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frequency table from Worksheet 1, Task 4. (1) Frequency: counts. (2) Percent uses all 1,684 respondents as the base, including the 4 missing answers. (3) Valid Percent uses only the 1,680 valid answers; it is usually the one to report. (4) Cumulative Percent adds up the valid percentages. (5) It passes 50% at 6, which is therefore the median. (6) The Missing row collects refusals (77) and don't knows (88).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paragraph that describes one variable in the way the assignment asks for: the question and its scale, the number of valid answers, centre, spread and shape, and a chart.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Week 1 Interactive Explorer page (https://cgmoreh.github.io/SOC2069-QUANT-26/Materials/Explorers/explorer_w1.html) has interactive versions of ideas from this lecture. Students can scan the code or follow the link from the course site and try the three tasks on the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www.ncl.ac.uk/gps/staff/profile/chrismoreh.html" TargetMode="Externa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hyperlink" Target="mailto:chris.moreh@ncl.ac.uk" TargetMode="External"/><Relationship Id="rId7" Type="http://schemas.openxmlformats.org/officeDocument/2006/relationships/hyperlink" Target="https://www.chrismoreh.com/" TargetMode="External"/><Relationship Id="rId8" Type="http://schemas.openxmlformats.org/officeDocument/2006/relationships/hyperlink" Target="https://github.com/CGMoreh" TargetMode="External"/><Relationship Id="rId9" Type="http://schemas.openxmlformats.org/officeDocument/2006/relationships/hyperlink" Target="https://twitter.com/cgmoreh" TargetMode="External"/><Relationship Id="rId10" Type="http://schemas.openxmlformats.org/officeDocument/2006/relationships/hyperlink" Target="https://www.linkedin.com/in/cgm-phd/" TargetMode="External"/><Relationship Id="rId11" Type="http://schemas.openxmlformats.org/officeDocument/2006/relationships/image" Target="../media/image4.png"/><Relationship Id="rId12" Type="http://schemas.openxmlformats.org/officeDocument/2006/relationships/image" Target="../media/image5.png"/><Relationship Id="rId13" Type="http://schemas.openxmlformats.org/officeDocument/2006/relationships/image" Target="../media/image6.png"/><Relationship Id="rId14" Type="http://schemas.openxmlformats.org/officeDocument/2006/relationships/image" Target="../media/image7.png"/><Relationship Id="rId15"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 Id="rId3" Type="http://schemas.openxmlformats.org/officeDocument/2006/relationships/image" Target="../media/image11.svg"/><Relationship Id="rId4" Type="http://schemas.openxmlformats.org/officeDocument/2006/relationships/image" Target="../media/image12.svg"/><Relationship Id="rId5" Type="http://schemas.openxmlformats.org/officeDocument/2006/relationships/image" Target="../media/image13.svg"/><Relationship Id="rId6" Type="http://schemas.openxmlformats.org/officeDocument/2006/relationships/image" Target="../media/image14.svg"/><Relationship Id="rId7" Type="http://schemas.openxmlformats.org/officeDocument/2006/relationships/image" Target="../media/image15.svg"/><Relationship Id="rId8" Type="http://schemas.openxmlformats.org/officeDocument/2006/relationships/image" Target="../media/image16.svg"/><Relationship Id="rId9" Type="http://schemas.openxmlformats.org/officeDocument/2006/relationships/image" Target="../media/image17.svg"/><Relationship Id="rId10" Type="http://schemas.openxmlformats.org/officeDocument/2006/relationships/image" Target="../media/image18.svg"/><Relationship Id="rId11" Type="http://schemas.openxmlformats.org/officeDocument/2006/relationships/image" Target="../media/image19.svg"/><Relationship Id="rId12" Type="http://schemas.openxmlformats.org/officeDocument/2006/relationships/image" Target="../media/image20.svg"/><Relationship Id="rId13" Type="http://schemas.openxmlformats.org/officeDocument/2006/relationships/image" Target="../media/image21.svg"/><Relationship Id="rId14" Type="http://schemas.openxmlformats.org/officeDocument/2006/relationships/image" Target="../media/image22.svg"/><Relationship Id="rId15" Type="http://schemas.openxmlformats.org/officeDocument/2006/relationships/image" Target="../media/image23.svg"/><Relationship Id="rId16" Type="http://schemas.openxmlformats.org/officeDocument/2006/relationships/image" Target="../media/image24.svg"/><Relationship Id="rId17" Type="http://schemas.openxmlformats.org/officeDocument/2006/relationships/image" Target="../media/image25.svg"/><Relationship Id="rId18" Type="http://schemas.openxmlformats.org/officeDocument/2006/relationships/image" Target="../media/image26.svg"/><Relationship Id="rId19" Type="http://schemas.openxmlformats.org/officeDocument/2006/relationships/image" Target="../media/image27.svg"/><Relationship Id="rId20" Type="http://schemas.openxmlformats.org/officeDocument/2006/relationships/image" Target="../media/image28.svg"/><Relationship Id="rId21" Type="http://schemas.openxmlformats.org/officeDocument/2006/relationships/image" Target="../media/image2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 Id="rId3" Type="http://schemas.openxmlformats.org/officeDocument/2006/relationships/image" Target="../media/image16.svg"/><Relationship Id="rId4" Type="http://schemas.openxmlformats.org/officeDocument/2006/relationships/image" Target="../media/image12.svg"/><Relationship Id="rId5" Type="http://schemas.openxmlformats.org/officeDocument/2006/relationships/image" Target="../media/image17.svg"/><Relationship Id="rId6" Type="http://schemas.openxmlformats.org/officeDocument/2006/relationships/image" Target="../media/image13.svg"/><Relationship Id="rId7" Type="http://schemas.openxmlformats.org/officeDocument/2006/relationships/image" Target="../media/image18.svg"/><Relationship Id="rId8" Type="http://schemas.openxmlformats.org/officeDocument/2006/relationships/image" Target="../media/image14.svg"/><Relationship Id="rId9" Type="http://schemas.openxmlformats.org/officeDocument/2006/relationships/image" Target="../media/image19.svg"/><Relationship Id="rId10" Type="http://schemas.openxmlformats.org/officeDocument/2006/relationships/image" Target="../media/image15.svg"/><Relationship Id="rId11"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0.png"/><Relationship Id="rId4" Type="http://schemas.microsoft.com/office/2007/relationships/hdphoto" Target="../media/hdphoto1.wdp"/><Relationship Id="rId5" Type="http://schemas.openxmlformats.org/officeDocument/2006/relationships/image" Target="../media/image31.svg"/><Relationship Id="rId6" Type="http://schemas.openxmlformats.org/officeDocument/2006/relationships/image" Target="../media/image3.svg"/><Relationship Id="rId7" Type="http://schemas.openxmlformats.org/officeDocument/2006/relationships/hyperlink" Target="mailto:chris.moreh@ncl.ac.uk" TargetMode="External"/><Relationship Id="rId8" Type="http://schemas.openxmlformats.org/officeDocument/2006/relationships/hyperlink" Target="https://www.chrismoreh.com/" TargetMode="External"/><Relationship Id="rId9" Type="http://schemas.openxmlformats.org/officeDocument/2006/relationships/hyperlink" Target="https://github.com/CGMoreh" TargetMode="External"/><Relationship Id="rId10" Type="http://schemas.openxmlformats.org/officeDocument/2006/relationships/hyperlink" Target="https://twitter.com/cgmoreh" TargetMode="External"/><Relationship Id="rId11" Type="http://schemas.openxmlformats.org/officeDocument/2006/relationships/hyperlink" Target="https://www.linkedin.com/in/cgm-phd/" TargetMode="External"/><Relationship Id="rId12" Type="http://schemas.openxmlformats.org/officeDocument/2006/relationships/image" Target="../media/image4.png"/><Relationship Id="rId13" Type="http://schemas.openxmlformats.org/officeDocument/2006/relationships/image" Target="../media/image5.png"/><Relationship Id="rId14" Type="http://schemas.openxmlformats.org/officeDocument/2006/relationships/image" Target="../media/image6.png"/><Relationship Id="rId15" Type="http://schemas.openxmlformats.org/officeDocument/2006/relationships/image" Target="../media/image7.png"/><Relationship Id="rId16" Type="http://schemas.openxmlformats.org/officeDocument/2006/relationships/image" Target="../media/image8.png"/><Relationship Id="rId17" Type="http://schemas.openxmlformats.org/officeDocument/2006/relationships/image" Target="../media/image3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alphaModFix amt="80000"/>
            <a:lum/>
          </a:blip>
          <a:srcRect/>
          <a:stretch>
            <a:fillRect l="-3000" r="-2000" b="25000"/>
          </a:stretch>
        </a:blip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Date Placeholder 3"/>
          <p:cNvSpPr>
            <a:spLocks noGrp="1"/>
          </p:cNvSpPr>
          <p:nvPr>
            <p:ph type="dt" sz="half" idx="10"/>
          </p:nvPr>
        </p:nvSpPr>
        <p:spPr/>
        <p:txBody>
          <a:bodyPr/>
          <a:lstStyle/>
          <a:p>
            <a:r>
              <a:rPr lang="en-US"/>
              <a:t>01/10/2024</a:t>
            </a:r>
            <a:endParaRPr lang="en-GB"/>
          </a:p>
        </p:txBody>
      </p:sp>
      <p:sp>
        <p:nvSpPr>
          <p:cNvPr id="5" name="Footer Placeholder 4"/>
          <p:cNvSpPr>
            <a:spLocks noGrp="1"/>
          </p:cNvSpPr>
          <p:nvPr>
            <p:ph type="ftr" sz="quarter" idx="11"/>
          </p:nvPr>
        </p:nvSpPr>
        <p:spPr/>
        <p:txBody>
          <a:bodyPr/>
          <a:lstStyle/>
          <a:p>
            <a:r>
              <a:rPr lang="en-GB"/>
              <a:t>Measurement and Description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cxnSp>
        <p:nvCxnSpPr>
          <p:cNvPr id="9" name="Straight Connector 8"/>
          <p:cNvCxnSpPr/>
          <p:nvPr/>
        </p:nvCxnSpPr>
        <p:spPr>
          <a:xfrm>
            <a:off x="1207658" y="4598116"/>
            <a:ext cx="987552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64B1F7A-19A6-1CF3-BEAB-784AD8D53EB1}"/>
              </a:ext>
            </a:extLst>
          </p:cNvPr>
          <p:cNvSpPr txBox="1"/>
          <p:nvPr userDrawn="1"/>
        </p:nvSpPr>
        <p:spPr>
          <a:xfrm>
            <a:off x="1076962" y="4981037"/>
            <a:ext cx="3298623" cy="892552"/>
          </a:xfrm>
          <a:prstGeom prst="rect">
            <a:avLst/>
          </a:prstGeom>
          <a:noFill/>
        </p:spPr>
        <p:txBody>
          <a:bodyPr wrap="square" rtlCol="0">
            <a:spAutoFit/>
          </a:bodyPr>
          <a:lstStyle/>
          <a:p>
            <a:pPr algn="ctr"/>
            <a:r>
              <a:rPr lang="en-GB" sz="2400" b="1" dirty="0">
                <a:hlinkClick r:id="rId3"/>
              </a:rPr>
              <a:t>Dr Chris Moreh</a:t>
            </a:r>
            <a:endParaRPr lang="en-GB" sz="2400" b="1" dirty="0"/>
          </a:p>
          <a:p>
            <a:pPr algn="ctr"/>
            <a:r>
              <a:rPr lang="en-GB" sz="1400" b="1" dirty="0">
                <a:solidFill>
                  <a:schemeClr val="tx1">
                    <a:lumMod val="50000"/>
                    <a:lumOff val="50000"/>
                  </a:schemeClr>
                </a:solidFill>
              </a:rPr>
              <a:t>Lecturer (Assistant Professor) in Sociology</a:t>
            </a:r>
          </a:p>
          <a:p>
            <a:pPr algn="ctr"/>
            <a:r>
              <a:rPr lang="en-GB" sz="1400" b="1" dirty="0">
                <a:solidFill>
                  <a:schemeClr val="tx1">
                    <a:lumMod val="50000"/>
                    <a:lumOff val="50000"/>
                  </a:schemeClr>
                </a:solidFill>
              </a:rPr>
              <a:t>Newcastle University (UK)</a:t>
            </a:r>
          </a:p>
        </p:txBody>
      </p:sp>
      <p:pic>
        <p:nvPicPr>
          <p:cNvPr id="17" name="Picture 12" descr="Partners; Sustaining Creative Economies ...">
            <a:extLst>
              <a:ext uri="{FF2B5EF4-FFF2-40B4-BE49-F238E27FC236}">
                <a16:creationId xmlns:a16="http://schemas.microsoft.com/office/drawing/2014/main" id="{5E3F19EF-7B80-6D97-E3A7-968224B76271}"/>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10275782" y="5643250"/>
            <a:ext cx="879898" cy="492743"/>
          </a:xfrm>
          <a:prstGeom prst="rect">
            <a:avLst/>
          </a:prstGeom>
          <a:noFill/>
          <a:extLst>
            <a:ext uri="{909E8E84-426E-40DD-AFC4-6F175D3DCCD1}">
              <a14:hiddenFill xmlns:a14="http://schemas.microsoft.com/office/drawing/2010/main">
                <a:solidFill>
                  <a:srgbClr val="FFFFFF"/>
                </a:solidFill>
              </a14:hiddenFill>
            </a:ext>
          </a:extLst>
        </p:spPr>
      </p:pic>
      <p:pic>
        <p:nvPicPr>
          <p:cNvPr id="18" name="Graphic 17">
            <a:extLst>
              <a:ext uri="{FF2B5EF4-FFF2-40B4-BE49-F238E27FC236}">
                <a16:creationId xmlns:a16="http://schemas.microsoft.com/office/drawing/2014/main" id="{D47E78DF-0172-CCB2-A101-66933B09714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616809" y="5001457"/>
            <a:ext cx="2466369" cy="811928"/>
          </a:xfrm>
          <a:prstGeom prst="rect">
            <a:avLst/>
          </a:prstGeom>
        </p:spPr>
      </p:pic>
      <p:sp>
        <p:nvSpPr>
          <p:cNvPr id="19" name="TextBox 18">
            <a:extLst>
              <a:ext uri="{FF2B5EF4-FFF2-40B4-BE49-F238E27FC236}">
                <a16:creationId xmlns:a16="http://schemas.microsoft.com/office/drawing/2014/main" id="{D366C7AD-815A-A77E-DFE5-343F532EBF9A}"/>
              </a:ext>
            </a:extLst>
          </p:cNvPr>
          <p:cNvSpPr txBox="1"/>
          <p:nvPr userDrawn="1"/>
        </p:nvSpPr>
        <p:spPr>
          <a:xfrm>
            <a:off x="5214979" y="4804497"/>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6"/>
              </a:rPr>
              <a:t>chris.moreh@ncl.ac.uk</a:t>
            </a:r>
            <a:endParaRPr lang="en-GB" sz="1600" b="0" dirty="0">
              <a:latin typeface="Arial Nova Cond Light" panose="020B0306020202020204" pitchFamily="34" charset="0"/>
              <a:cs typeface="Courier New" panose="02070309020205020404" pitchFamily="49" charset="0"/>
              <a:hlinkClick r:id="rId7"/>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Chris Moreh</a:t>
            </a:r>
            <a:endParaRPr lang="en-GB" sz="1600" b="0" dirty="0">
              <a:latin typeface="Arial Nova Cond Light" panose="020B0306020202020204" pitchFamily="34" charset="0"/>
              <a:cs typeface="Courier New" panose="02070309020205020404" pitchFamily="49" charset="0"/>
            </a:endParaRPr>
          </a:p>
        </p:txBody>
      </p:sp>
      <p:pic>
        <p:nvPicPr>
          <p:cNvPr id="20" name="Picture 19">
            <a:extLst>
              <a:ext uri="{FF2B5EF4-FFF2-40B4-BE49-F238E27FC236}">
                <a16:creationId xmlns:a16="http://schemas.microsoft.com/office/drawing/2014/main" id="{7149FC35-C474-B9EE-00BD-BC74BCEB8E9B}"/>
              </a:ext>
            </a:extLst>
          </p:cNvPr>
          <p:cNvPicPr>
            <a:picLocks noChangeAspect="1"/>
          </p:cNvPicPr>
          <p:nvPr userDrawn="1"/>
        </p:nvPicPr>
        <p:blipFill>
          <a:blip r:embed="rId11"/>
          <a:stretch>
            <a:fillRect/>
          </a:stretch>
        </p:blipFill>
        <p:spPr>
          <a:xfrm flipH="1">
            <a:off x="5230888" y="5140634"/>
            <a:ext cx="174474" cy="180000"/>
          </a:xfrm>
          <a:prstGeom prst="rect">
            <a:avLst/>
          </a:prstGeom>
        </p:spPr>
      </p:pic>
      <p:pic>
        <p:nvPicPr>
          <p:cNvPr id="21" name="Picture 4">
            <a:extLst>
              <a:ext uri="{FF2B5EF4-FFF2-40B4-BE49-F238E27FC236}">
                <a16:creationId xmlns:a16="http://schemas.microsoft.com/office/drawing/2014/main" id="{F9EC77A0-6416-6CCB-C929-DDC0F09623B6}"/>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200359" y="5607125"/>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a:extLst>
              <a:ext uri="{FF2B5EF4-FFF2-40B4-BE49-F238E27FC236}">
                <a16:creationId xmlns:a16="http://schemas.microsoft.com/office/drawing/2014/main" id="{F971661E-6DFA-370A-89DD-D2BC0DED9D7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225362" y="5875809"/>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
            <a:extLst>
              <a:ext uri="{FF2B5EF4-FFF2-40B4-BE49-F238E27FC236}">
                <a16:creationId xmlns:a16="http://schemas.microsoft.com/office/drawing/2014/main" id="{210423AF-0922-B2C9-F283-0DAD228B1889}"/>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94877" y="535357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Email Icon Clip Art , Royalty PNG Transparent Background, Free Download  #130 - FreeIconsPNG">
            <a:extLst>
              <a:ext uri="{FF2B5EF4-FFF2-40B4-BE49-F238E27FC236}">
                <a16:creationId xmlns:a16="http://schemas.microsoft.com/office/drawing/2014/main" id="{A29CD3B3-0963-AF7B-DAAC-629686F339AC}"/>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225888" y="4898445"/>
            <a:ext cx="176400" cy="1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3529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E3F75-4629-998C-D4E2-8B503E840A60}"/>
              </a:ext>
            </a:extLst>
          </p:cNvPr>
          <p:cNvSpPr>
            <a:spLocks noGrp="1"/>
          </p:cNvSpPr>
          <p:nvPr>
            <p:ph type="title"/>
          </p:nvPr>
        </p:nvSpPr>
        <p:spPr>
          <a:xfrm>
            <a:off x="756746" y="286604"/>
            <a:ext cx="9578516" cy="911576"/>
          </a:xfrm>
        </p:spPr>
        <p:txBody>
          <a:bodyPr/>
          <a:lstStyle>
            <a:lvl1pPr>
              <a:defRPr b="1"/>
            </a:lvl1pPr>
          </a:lstStyle>
          <a:p>
            <a:r>
              <a:rPr lang="en-GB" dirty="0"/>
              <a:t>Click to edit Master title style</a:t>
            </a:r>
          </a:p>
        </p:txBody>
      </p:sp>
      <p:sp>
        <p:nvSpPr>
          <p:cNvPr id="3" name="Date Placeholder 2">
            <a:extLst>
              <a:ext uri="{FF2B5EF4-FFF2-40B4-BE49-F238E27FC236}">
                <a16:creationId xmlns:a16="http://schemas.microsoft.com/office/drawing/2014/main" id="{57160149-4935-39AC-F9A6-3A67DF92E54A}"/>
              </a:ext>
            </a:extLst>
          </p:cNvPr>
          <p:cNvSpPr>
            <a:spLocks noGrp="1"/>
          </p:cNvSpPr>
          <p:nvPr>
            <p:ph type="dt" sz="half" idx="10"/>
          </p:nvPr>
        </p:nvSpPr>
        <p:spPr/>
        <p:txBody>
          <a:bodyPr/>
          <a:lstStyle/>
          <a:p>
            <a:r>
              <a:rPr lang="en-US"/>
              <a:t>01/10/2024</a:t>
            </a:r>
            <a:endParaRPr lang="en-GB"/>
          </a:p>
        </p:txBody>
      </p:sp>
      <p:sp>
        <p:nvSpPr>
          <p:cNvPr id="4" name="Footer Placeholder 3">
            <a:extLst>
              <a:ext uri="{FF2B5EF4-FFF2-40B4-BE49-F238E27FC236}">
                <a16:creationId xmlns:a16="http://schemas.microsoft.com/office/drawing/2014/main" id="{8DAF1058-E5AB-75EB-3440-399DB9E1D9B9}"/>
              </a:ext>
            </a:extLst>
          </p:cNvPr>
          <p:cNvSpPr>
            <a:spLocks noGrp="1"/>
          </p:cNvSpPr>
          <p:nvPr>
            <p:ph type="ftr" sz="quarter" idx="11"/>
          </p:nvPr>
        </p:nvSpPr>
        <p:spPr/>
        <p:txBody>
          <a:bodyPr/>
          <a:lstStyle/>
          <a:p>
            <a:r>
              <a:rPr lang="en-GB"/>
              <a:t>Measurement and Description</a:t>
            </a:r>
          </a:p>
        </p:txBody>
      </p:sp>
      <p:sp>
        <p:nvSpPr>
          <p:cNvPr id="5" name="Slide Number Placeholder 4">
            <a:extLst>
              <a:ext uri="{FF2B5EF4-FFF2-40B4-BE49-F238E27FC236}">
                <a16:creationId xmlns:a16="http://schemas.microsoft.com/office/drawing/2014/main" id="{0A3AAE89-1CB8-B1D2-4FC2-01A5F9359E58}"/>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5" descr="A black background with text and colorful dots&#10;&#10;Description automatically generated">
            <a:extLst>
              <a:ext uri="{FF2B5EF4-FFF2-40B4-BE49-F238E27FC236}">
                <a16:creationId xmlns:a16="http://schemas.microsoft.com/office/drawing/2014/main" id="{064384DD-349E-96E1-9F2A-86B3CB91ED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9002772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745" y="286604"/>
            <a:ext cx="9448800" cy="911576"/>
          </a:xfrm>
        </p:spPr>
        <p:txBody>
          <a:bodyPr/>
          <a:lstStyle>
            <a:lvl1pPr marL="0">
              <a:defRPr b="1"/>
            </a:lvl1p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10"/>
          </p:nvPr>
        </p:nvSpPr>
        <p:spPr/>
        <p:txBody>
          <a:bodyPr/>
          <a:lstStyle>
            <a:lvl1pPr>
              <a:defRPr sz="1200"/>
            </a:lvl1pPr>
          </a:lstStyle>
          <a:p>
            <a:r>
              <a:rPr lang="en-US"/>
              <a:t>01/10/2024</a:t>
            </a:r>
            <a:endParaRPr lang="en-GB"/>
          </a:p>
        </p:txBody>
      </p:sp>
      <p:sp>
        <p:nvSpPr>
          <p:cNvPr id="5" name="Footer Placeholder 4"/>
          <p:cNvSpPr>
            <a:spLocks noGrp="1"/>
          </p:cNvSpPr>
          <p:nvPr>
            <p:ph type="ftr" sz="quarter" idx="11"/>
          </p:nvPr>
        </p:nvSpPr>
        <p:spPr/>
        <p:txBody>
          <a:bodyPr/>
          <a:lstStyle/>
          <a:p>
            <a:r>
              <a:rPr lang="en-GB"/>
              <a:t>Measurement and Description</a:t>
            </a:r>
            <a:endParaRPr lang="en-GB" dirty="0"/>
          </a:p>
        </p:txBody>
      </p:sp>
      <p:sp>
        <p:nvSpPr>
          <p:cNvPr id="6" name="Slide Number Placeholder 5"/>
          <p:cNvSpPr>
            <a:spLocks noGrp="1"/>
          </p:cNvSpPr>
          <p:nvPr>
            <p:ph type="sldNum" sz="quarter" idx="12"/>
          </p:nvPr>
        </p:nvSpPr>
        <p:spPr/>
        <p:txBody>
          <a:bodyPr/>
          <a:lstStyle>
            <a:lvl1pPr>
              <a:defRPr sz="1200"/>
            </a:lvl1pPr>
          </a:lstStyle>
          <a:p>
            <a:fld id="{9FAA51BB-2FC0-4DB8-B50E-F52D50E733B6}" type="slidenum">
              <a:rPr lang="en-GB" smtClean="0"/>
              <a:pPr/>
              <a:t>‹#›</a:t>
            </a:fld>
            <a:endParaRPr lang="en-GB" dirty="0"/>
          </a:p>
        </p:txBody>
      </p:sp>
      <p:pic>
        <p:nvPicPr>
          <p:cNvPr id="8" name="Picture 7" descr="A black background with text and colorful dots&#10;&#10;Description automatically generated">
            <a:extLst>
              <a:ext uri="{FF2B5EF4-FFF2-40B4-BE49-F238E27FC236}">
                <a16:creationId xmlns:a16="http://schemas.microsoft.com/office/drawing/2014/main" id="{77856388-EE09-056A-2FE4-8DA8669CE6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5952513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01/10/2024</a:t>
            </a:r>
            <a:endParaRPr lang="en-GB"/>
          </a:p>
        </p:txBody>
      </p:sp>
      <p:sp>
        <p:nvSpPr>
          <p:cNvPr id="5" name="Footer Placeholder 4"/>
          <p:cNvSpPr>
            <a:spLocks noGrp="1"/>
          </p:cNvSpPr>
          <p:nvPr>
            <p:ph type="ftr" sz="quarter" idx="11"/>
          </p:nvPr>
        </p:nvSpPr>
        <p:spPr/>
        <p:txBody>
          <a:bodyPr/>
          <a:lstStyle/>
          <a:p>
            <a:r>
              <a:rPr lang="en-GB"/>
              <a:t>Measurement and Description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6910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1">
                <a:solidFill>
                  <a:srgbClr val="FFFFFF"/>
                </a:solidFill>
              </a:defRPr>
            </a:lvl1pPr>
          </a:lstStyle>
          <a:p>
            <a:r>
              <a:rPr lang="en-GB" dirty="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01/10/2024</a:t>
            </a:r>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GB"/>
              <a:t>Measurement and Description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FAA51BB-2FC0-4DB8-B50E-F52D50E733B6}" type="slidenum">
              <a:rPr lang="en-GB" smtClean="0"/>
              <a:t>‹#›</a:t>
            </a:fld>
            <a:endParaRPr lang="en-GB"/>
          </a:p>
        </p:txBody>
      </p:sp>
    </p:spTree>
    <p:extLst>
      <p:ext uri="{BB962C8B-B14F-4D97-AF65-F5344CB8AC3E}">
        <p14:creationId xmlns:p14="http://schemas.microsoft.com/office/powerpoint/2010/main" val="5297533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l="-1000" r="-1000" b="6000"/>
          </a:stretch>
        </a:blipFill>
        <a:effectLst/>
      </p:bgPr>
    </p:bg>
    <p:spTree>
      <p:nvGrpSpPr>
        <p:cNvPr id="1" name=""/>
        <p:cNvGrpSpPr/>
        <p:nvPr/>
      </p:nvGrpSpPr>
      <p:grpSpPr>
        <a:xfrm>
          <a:off x="0" y="0"/>
          <a:ext cx="0" cy="0"/>
          <a:chOff x="0" y="0"/>
          <a:chExt cx="0" cy="0"/>
        </a:xfrm>
      </p:grpSpPr>
      <p:sp>
        <p:nvSpPr>
          <p:cNvPr id="8" name="Rectangle 7"/>
          <p:cNvSpPr/>
          <p:nvPr/>
        </p:nvSpPr>
        <p:spPr>
          <a:xfrm>
            <a:off x="5539630" y="1128947"/>
            <a:ext cx="6468395" cy="3116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664452" y="1340856"/>
            <a:ext cx="6218753" cy="1475916"/>
          </a:xfrm>
        </p:spPr>
        <p:txBody>
          <a:bodyPr lIns="91440" tIns="0" rIns="91440" bIns="0" anchor="b">
            <a:noAutofit/>
          </a:bodyPr>
          <a:lstStyle>
            <a:lvl1pPr>
              <a:defRPr sz="5400" b="1">
                <a:solidFill>
                  <a:srgbClr val="FFFFFF"/>
                </a:solidFill>
              </a:defRPr>
            </a:lvl1pPr>
          </a:lstStyle>
          <a:p>
            <a:r>
              <a:rPr lang="en-GB" dirty="0"/>
              <a:t>Click to edit Master title style</a:t>
            </a:r>
            <a:endParaRPr lang="en-US" dirty="0"/>
          </a:p>
        </p:txBody>
      </p:sp>
      <p:sp>
        <p:nvSpPr>
          <p:cNvPr id="4" name="Text Placeholder 3"/>
          <p:cNvSpPr>
            <a:spLocks noGrp="1"/>
          </p:cNvSpPr>
          <p:nvPr>
            <p:ph type="body" sz="half" idx="2"/>
          </p:nvPr>
        </p:nvSpPr>
        <p:spPr>
          <a:xfrm>
            <a:off x="5664452" y="3094377"/>
            <a:ext cx="6218753" cy="972284"/>
          </a:xfrm>
        </p:spPr>
        <p:txBody>
          <a:bodyPr lIns="91440" tIns="0" rIns="91440" bIns="0">
            <a:normAutofit/>
          </a:bodyPr>
          <a:lstStyle>
            <a:lvl1pPr marL="0" indent="0">
              <a:spcBef>
                <a:spcPts val="0"/>
              </a:spcBef>
              <a:spcAft>
                <a:spcPts val="600"/>
              </a:spcAft>
              <a:buNone/>
              <a:defRPr sz="32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dirty="0"/>
              <a:t>Click to edit Master text styles</a:t>
            </a:r>
          </a:p>
        </p:txBody>
      </p:sp>
      <p:sp>
        <p:nvSpPr>
          <p:cNvPr id="5" name="Date Placeholder 4"/>
          <p:cNvSpPr>
            <a:spLocks noGrp="1"/>
          </p:cNvSpPr>
          <p:nvPr>
            <p:ph type="dt" sz="half" idx="10"/>
          </p:nvPr>
        </p:nvSpPr>
        <p:spPr/>
        <p:txBody>
          <a:bodyPr/>
          <a:lstStyle/>
          <a:p>
            <a:r>
              <a:rPr lang="en-US"/>
              <a:t>01/10/2024</a:t>
            </a:r>
            <a:endParaRPr lang="en-GB"/>
          </a:p>
        </p:txBody>
      </p:sp>
      <p:sp>
        <p:nvSpPr>
          <p:cNvPr id="6" name="Footer Placeholder 5"/>
          <p:cNvSpPr>
            <a:spLocks noGrp="1"/>
          </p:cNvSpPr>
          <p:nvPr>
            <p:ph type="ftr" sz="quarter" idx="11"/>
          </p:nvPr>
        </p:nvSpPr>
        <p:spPr/>
        <p:txBody>
          <a:bodyPr/>
          <a:lstStyle/>
          <a:p>
            <a:r>
              <a:rPr lang="en-GB"/>
              <a:t>Measurement and Description</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013173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t>01/10/2024</a:t>
            </a:r>
            <a:endParaRPr lang="en-GB"/>
          </a:p>
        </p:txBody>
      </p:sp>
      <p:sp>
        <p:nvSpPr>
          <p:cNvPr id="6" name="Footer Placeholder 5"/>
          <p:cNvSpPr>
            <a:spLocks noGrp="1"/>
          </p:cNvSpPr>
          <p:nvPr>
            <p:ph type="ftr" sz="quarter" idx="11"/>
          </p:nvPr>
        </p:nvSpPr>
        <p:spPr/>
        <p:txBody>
          <a:bodyPr/>
          <a:lstStyle/>
          <a:p>
            <a:r>
              <a:rPr lang="en-GB"/>
              <a:t>Measurement and Description</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2000362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r>
              <a:rPr lang="en-US"/>
              <a:t>01/10/2024</a:t>
            </a:r>
            <a:endParaRPr lang="en-GB"/>
          </a:p>
        </p:txBody>
      </p:sp>
      <p:sp>
        <p:nvSpPr>
          <p:cNvPr id="8" name="Footer Placeholder 7"/>
          <p:cNvSpPr>
            <a:spLocks noGrp="1"/>
          </p:cNvSpPr>
          <p:nvPr>
            <p:ph type="ftr" sz="quarter" idx="11"/>
          </p:nvPr>
        </p:nvSpPr>
        <p:spPr/>
        <p:txBody>
          <a:bodyPr/>
          <a:lstStyle/>
          <a:p>
            <a:r>
              <a:rPr lang="en-GB"/>
              <a:t>Measurement and Description</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0485576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r>
              <a:rPr lang="en-US"/>
              <a:t>01/10/2024</a:t>
            </a:r>
            <a:endParaRPr lang="en-GB"/>
          </a:p>
        </p:txBody>
      </p:sp>
      <p:sp>
        <p:nvSpPr>
          <p:cNvPr id="4" name="Footer Placeholder 3"/>
          <p:cNvSpPr>
            <a:spLocks noGrp="1"/>
          </p:cNvSpPr>
          <p:nvPr>
            <p:ph type="ftr" sz="quarter" idx="11"/>
          </p:nvPr>
        </p:nvSpPr>
        <p:spPr/>
        <p:txBody>
          <a:bodyPr/>
          <a:lstStyle/>
          <a:p>
            <a:r>
              <a:rPr lang="en-GB"/>
              <a:t>Measurement and Description</a:t>
            </a:r>
          </a:p>
        </p:txBody>
      </p:sp>
      <p:sp>
        <p:nvSpPr>
          <p:cNvPr id="5" name="Slide Number Placeholder 4"/>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90176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01/10/2024</a:t>
            </a:r>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GB"/>
              <a:t>Measurement and Description</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32694645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5E28854-50C7-416D-09D3-A8563C8533DC}"/>
              </a:ext>
            </a:extLst>
          </p:cNvPr>
          <p:cNvSpPr>
            <a:spLocks noGrp="1"/>
          </p:cNvSpPr>
          <p:nvPr>
            <p:ph type="dt" sz="half" idx="10"/>
          </p:nvPr>
        </p:nvSpPr>
        <p:spPr/>
        <p:txBody>
          <a:bodyPr/>
          <a:lstStyle/>
          <a:p>
            <a:r>
              <a:rPr lang="en-US"/>
              <a:t>01/10/2024</a:t>
            </a:r>
            <a:endParaRPr lang="en-GB" dirty="0"/>
          </a:p>
        </p:txBody>
      </p:sp>
      <p:sp>
        <p:nvSpPr>
          <p:cNvPr id="4" name="Footer Placeholder 3">
            <a:extLst>
              <a:ext uri="{FF2B5EF4-FFF2-40B4-BE49-F238E27FC236}">
                <a16:creationId xmlns:a16="http://schemas.microsoft.com/office/drawing/2014/main" id="{85343B67-CE49-0A0C-7F9C-757FF38AD817}"/>
              </a:ext>
            </a:extLst>
          </p:cNvPr>
          <p:cNvSpPr>
            <a:spLocks noGrp="1"/>
          </p:cNvSpPr>
          <p:nvPr>
            <p:ph type="ftr" sz="quarter" idx="11"/>
          </p:nvPr>
        </p:nvSpPr>
        <p:spPr/>
        <p:txBody>
          <a:bodyPr/>
          <a:lstStyle>
            <a:lvl1pPr>
              <a:defRPr/>
            </a:lvl1p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28470A5F-B5E2-79CD-FCA0-21992A61F920}"/>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6" name="Title 1">
            <a:extLst>
              <a:ext uri="{FF2B5EF4-FFF2-40B4-BE49-F238E27FC236}">
                <a16:creationId xmlns:a16="http://schemas.microsoft.com/office/drawing/2014/main" id="{904975CB-2B2F-AABC-1BEA-AC019045F8B6}"/>
              </a:ext>
            </a:extLst>
          </p:cNvPr>
          <p:cNvSpPr>
            <a:spLocks noGrp="1"/>
          </p:cNvSpPr>
          <p:nvPr>
            <p:ph type="title" hasCustomPrompt="1"/>
          </p:nvPr>
        </p:nvSpPr>
        <p:spPr>
          <a:xfrm>
            <a:off x="756745" y="286604"/>
            <a:ext cx="10398935" cy="911576"/>
          </a:xfrm>
        </p:spPr>
        <p:txBody>
          <a:bodyPr/>
          <a:lstStyle>
            <a:lvl1pPr>
              <a:defRPr/>
            </a:lvl1pPr>
          </a:lstStyle>
          <a:p>
            <a:r>
              <a:rPr lang="en-GB" b="1" dirty="0"/>
              <a:t>Numbered bullets</a:t>
            </a:r>
          </a:p>
        </p:txBody>
      </p:sp>
      <p:pic>
        <p:nvPicPr>
          <p:cNvPr id="7" name="Graphic 6" descr="Badge 1 with solid fill">
            <a:extLst>
              <a:ext uri="{FF2B5EF4-FFF2-40B4-BE49-F238E27FC236}">
                <a16:creationId xmlns:a16="http://schemas.microsoft.com/office/drawing/2014/main" id="{EEDCACCF-0446-119C-CB06-6CC1142E7E5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99836" y="1872658"/>
            <a:ext cx="468000" cy="468000"/>
          </a:xfrm>
          <a:prstGeom prst="rect">
            <a:avLst/>
          </a:prstGeom>
        </p:spPr>
      </p:pic>
      <p:pic>
        <p:nvPicPr>
          <p:cNvPr id="8" name="Graphic 7" descr="Badge 10 with solid fill">
            <a:extLst>
              <a:ext uri="{FF2B5EF4-FFF2-40B4-BE49-F238E27FC236}">
                <a16:creationId xmlns:a16="http://schemas.microsoft.com/office/drawing/2014/main" id="{7F8BE7BD-9E19-44BB-2FE3-12ED9FDF94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468331" y="1876667"/>
            <a:ext cx="468000" cy="468000"/>
          </a:xfrm>
          <a:prstGeom prst="rect">
            <a:avLst/>
          </a:prstGeom>
        </p:spPr>
      </p:pic>
      <p:pic>
        <p:nvPicPr>
          <p:cNvPr id="9" name="Graphic 8" descr="Badge with solid fill">
            <a:extLst>
              <a:ext uri="{FF2B5EF4-FFF2-40B4-BE49-F238E27FC236}">
                <a16:creationId xmlns:a16="http://schemas.microsoft.com/office/drawing/2014/main" id="{F9F887CA-CB36-8ED8-6315-DC7D01B490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870601" y="1878489"/>
            <a:ext cx="468000" cy="468000"/>
          </a:xfrm>
          <a:prstGeom prst="rect">
            <a:avLst/>
          </a:prstGeom>
        </p:spPr>
      </p:pic>
      <p:pic>
        <p:nvPicPr>
          <p:cNvPr id="10" name="Graphic 9" descr="Badge 3 with solid fill">
            <a:extLst>
              <a:ext uri="{FF2B5EF4-FFF2-40B4-BE49-F238E27FC236}">
                <a16:creationId xmlns:a16="http://schemas.microsoft.com/office/drawing/2014/main" id="{825A6F75-9C1C-A95D-D6DA-109E9EBA520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37342" y="1872658"/>
            <a:ext cx="468000" cy="468000"/>
          </a:xfrm>
          <a:prstGeom prst="rect">
            <a:avLst/>
          </a:prstGeom>
        </p:spPr>
      </p:pic>
      <p:pic>
        <p:nvPicPr>
          <p:cNvPr id="11" name="Graphic 10" descr="Badge 4 with solid fill">
            <a:extLst>
              <a:ext uri="{FF2B5EF4-FFF2-40B4-BE49-F238E27FC236}">
                <a16:creationId xmlns:a16="http://schemas.microsoft.com/office/drawing/2014/main" id="{60351B4A-6BB3-B9DA-023E-187EE4E1634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794542" y="1881516"/>
            <a:ext cx="468000" cy="468000"/>
          </a:xfrm>
          <a:prstGeom prst="rect">
            <a:avLst/>
          </a:prstGeom>
        </p:spPr>
      </p:pic>
      <p:pic>
        <p:nvPicPr>
          <p:cNvPr id="12" name="Graphic 11" descr="Badge 5 with solid fill">
            <a:extLst>
              <a:ext uri="{FF2B5EF4-FFF2-40B4-BE49-F238E27FC236}">
                <a16:creationId xmlns:a16="http://schemas.microsoft.com/office/drawing/2014/main" id="{1A300893-C177-035B-A219-FC6049E2DC7F}"/>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250483" y="1880076"/>
            <a:ext cx="468000" cy="468000"/>
          </a:xfrm>
          <a:prstGeom prst="rect">
            <a:avLst/>
          </a:prstGeom>
        </p:spPr>
      </p:pic>
      <p:pic>
        <p:nvPicPr>
          <p:cNvPr id="13" name="Graphic 12" descr="Badge 6 with solid fill">
            <a:extLst>
              <a:ext uri="{FF2B5EF4-FFF2-40B4-BE49-F238E27FC236}">
                <a16:creationId xmlns:a16="http://schemas.microsoft.com/office/drawing/2014/main" id="{063091E7-A963-EF50-B2F2-C6CCFD335CF3}"/>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721248" y="1882631"/>
            <a:ext cx="468000" cy="468000"/>
          </a:xfrm>
          <a:prstGeom prst="rect">
            <a:avLst/>
          </a:prstGeom>
        </p:spPr>
      </p:pic>
      <p:pic>
        <p:nvPicPr>
          <p:cNvPr id="14" name="Graphic 13" descr="Badge 7 with solid fill">
            <a:extLst>
              <a:ext uri="{FF2B5EF4-FFF2-40B4-BE49-F238E27FC236}">
                <a16:creationId xmlns:a16="http://schemas.microsoft.com/office/drawing/2014/main" id="{7412FF20-691E-38CC-D8B3-456AF73DB554}"/>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63624" y="1884307"/>
            <a:ext cx="468000" cy="468000"/>
          </a:xfrm>
          <a:prstGeom prst="rect">
            <a:avLst/>
          </a:prstGeom>
        </p:spPr>
      </p:pic>
      <p:pic>
        <p:nvPicPr>
          <p:cNvPr id="15" name="Graphic 14" descr="Badge 8 with solid fill">
            <a:extLst>
              <a:ext uri="{FF2B5EF4-FFF2-40B4-BE49-F238E27FC236}">
                <a16:creationId xmlns:a16="http://schemas.microsoft.com/office/drawing/2014/main" id="{F71DD924-767F-6F93-1AF3-D96571DEC0C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606000" y="1883485"/>
            <a:ext cx="468000" cy="468000"/>
          </a:xfrm>
          <a:prstGeom prst="rect">
            <a:avLst/>
          </a:prstGeom>
        </p:spPr>
      </p:pic>
      <p:pic>
        <p:nvPicPr>
          <p:cNvPr id="16" name="Graphic 15" descr="Badge 9 with solid fill">
            <a:extLst>
              <a:ext uri="{FF2B5EF4-FFF2-40B4-BE49-F238E27FC236}">
                <a16:creationId xmlns:a16="http://schemas.microsoft.com/office/drawing/2014/main" id="{05746AA2-07AD-BB3D-8AC7-7E01AE9FFD64}"/>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5064706" y="1880076"/>
            <a:ext cx="468000" cy="468000"/>
          </a:xfrm>
          <a:prstGeom prst="rect">
            <a:avLst/>
          </a:prstGeom>
        </p:spPr>
      </p:pic>
      <p:pic>
        <p:nvPicPr>
          <p:cNvPr id="28" name="Graphic 27" descr="Badge 1 outline">
            <a:extLst>
              <a:ext uri="{FF2B5EF4-FFF2-40B4-BE49-F238E27FC236}">
                <a16:creationId xmlns:a16="http://schemas.microsoft.com/office/drawing/2014/main" id="{377A0617-1C4D-93A7-0816-74355CD2748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100935" y="2382047"/>
            <a:ext cx="914400" cy="914400"/>
          </a:xfrm>
          <a:prstGeom prst="rect">
            <a:avLst/>
          </a:prstGeom>
        </p:spPr>
      </p:pic>
      <p:pic>
        <p:nvPicPr>
          <p:cNvPr id="32" name="Graphic 31" descr="Badge outline">
            <a:extLst>
              <a:ext uri="{FF2B5EF4-FFF2-40B4-BE49-F238E27FC236}">
                <a16:creationId xmlns:a16="http://schemas.microsoft.com/office/drawing/2014/main" id="{328E83A1-A5CF-14CE-994B-9FC912A453D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917798" y="2368814"/>
            <a:ext cx="914400" cy="914400"/>
          </a:xfrm>
          <a:prstGeom prst="rect">
            <a:avLst/>
          </a:prstGeom>
        </p:spPr>
      </p:pic>
      <p:pic>
        <p:nvPicPr>
          <p:cNvPr id="34" name="Graphic 33" descr="Badge 3 outline">
            <a:extLst>
              <a:ext uri="{FF2B5EF4-FFF2-40B4-BE49-F238E27FC236}">
                <a16:creationId xmlns:a16="http://schemas.microsoft.com/office/drawing/2014/main" id="{B8DB6A5A-BA59-B575-8EAE-1F62375C4821}"/>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2822942" y="2360054"/>
            <a:ext cx="914400" cy="914400"/>
          </a:xfrm>
          <a:prstGeom prst="rect">
            <a:avLst/>
          </a:prstGeom>
        </p:spPr>
      </p:pic>
      <p:pic>
        <p:nvPicPr>
          <p:cNvPr id="36" name="Graphic 35" descr="Badge 4 outline">
            <a:extLst>
              <a:ext uri="{FF2B5EF4-FFF2-40B4-BE49-F238E27FC236}">
                <a16:creationId xmlns:a16="http://schemas.microsoft.com/office/drawing/2014/main" id="{7D7894F2-405D-D537-E8CD-FFC2FD562CEA}"/>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3653533" y="2382047"/>
            <a:ext cx="914400" cy="914400"/>
          </a:xfrm>
          <a:prstGeom prst="rect">
            <a:avLst/>
          </a:prstGeom>
        </p:spPr>
      </p:pic>
      <p:pic>
        <p:nvPicPr>
          <p:cNvPr id="38" name="Graphic 37" descr="Badge 5 outline">
            <a:extLst>
              <a:ext uri="{FF2B5EF4-FFF2-40B4-BE49-F238E27FC236}">
                <a16:creationId xmlns:a16="http://schemas.microsoft.com/office/drawing/2014/main" id="{CCB95B5E-BCD4-CD6A-8DA0-49EF454DFC6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4470396" y="2382047"/>
            <a:ext cx="914400" cy="914400"/>
          </a:xfrm>
          <a:prstGeom prst="rect">
            <a:avLst/>
          </a:prstGeom>
        </p:spPr>
      </p:pic>
      <p:pic>
        <p:nvPicPr>
          <p:cNvPr id="40" name="Graphic 39" descr="Badge 6 outline">
            <a:extLst>
              <a:ext uri="{FF2B5EF4-FFF2-40B4-BE49-F238E27FC236}">
                <a16:creationId xmlns:a16="http://schemas.microsoft.com/office/drawing/2014/main" id="{B2E42FE5-E882-BB0B-DF27-634BED68E17D}"/>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5287259" y="2360054"/>
            <a:ext cx="914400" cy="914400"/>
          </a:xfrm>
          <a:prstGeom prst="rect">
            <a:avLst/>
          </a:prstGeom>
        </p:spPr>
      </p:pic>
      <p:pic>
        <p:nvPicPr>
          <p:cNvPr id="42" name="Graphic 41" descr="Badge 7 outline">
            <a:extLst>
              <a:ext uri="{FF2B5EF4-FFF2-40B4-BE49-F238E27FC236}">
                <a16:creationId xmlns:a16="http://schemas.microsoft.com/office/drawing/2014/main" id="{4F474E09-0F6B-A545-A2FB-528D8342017C}"/>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6104122" y="2382047"/>
            <a:ext cx="914400" cy="914400"/>
          </a:xfrm>
          <a:prstGeom prst="rect">
            <a:avLst/>
          </a:prstGeom>
        </p:spPr>
      </p:pic>
      <p:pic>
        <p:nvPicPr>
          <p:cNvPr id="44" name="Graphic 43" descr="Badge 8 outline">
            <a:extLst>
              <a:ext uri="{FF2B5EF4-FFF2-40B4-BE49-F238E27FC236}">
                <a16:creationId xmlns:a16="http://schemas.microsoft.com/office/drawing/2014/main" id="{E3982124-D3D3-AC60-CDFE-68CC967AC2ED}"/>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6880662" y="2368814"/>
            <a:ext cx="914400" cy="914400"/>
          </a:xfrm>
          <a:prstGeom prst="rect">
            <a:avLst/>
          </a:prstGeom>
        </p:spPr>
      </p:pic>
      <p:pic>
        <p:nvPicPr>
          <p:cNvPr id="46" name="Graphic 45" descr="Badge 9 outline">
            <a:extLst>
              <a:ext uri="{FF2B5EF4-FFF2-40B4-BE49-F238E27FC236}">
                <a16:creationId xmlns:a16="http://schemas.microsoft.com/office/drawing/2014/main" id="{D98F73D0-5CF6-543B-2C7E-39B53C836163}"/>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7686300" y="2368814"/>
            <a:ext cx="914400" cy="914400"/>
          </a:xfrm>
          <a:prstGeom prst="rect">
            <a:avLst/>
          </a:prstGeom>
        </p:spPr>
      </p:pic>
      <p:pic>
        <p:nvPicPr>
          <p:cNvPr id="48" name="Graphic 47" descr="Badge 10 outline">
            <a:extLst>
              <a:ext uri="{FF2B5EF4-FFF2-40B4-BE49-F238E27FC236}">
                <a16:creationId xmlns:a16="http://schemas.microsoft.com/office/drawing/2014/main" id="{9596ECA7-08AD-60AD-126A-2D32F85555E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8474065" y="2363081"/>
            <a:ext cx="914400" cy="914400"/>
          </a:xfrm>
          <a:prstGeom prst="rect">
            <a:avLst/>
          </a:prstGeom>
        </p:spPr>
      </p:pic>
    </p:spTree>
    <p:extLst>
      <p:ext uri="{BB962C8B-B14F-4D97-AF65-F5344CB8AC3E}">
        <p14:creationId xmlns:p14="http://schemas.microsoft.com/office/powerpoint/2010/main" val="1477845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210283" y="606093"/>
            <a:ext cx="9876849"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r>
              <a:rPr lang="en-US"/>
              <a:t>01/10/2024</a:t>
            </a:r>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38952401"/>
              </p:ext>
            </p:extLst>
          </p:nvPr>
        </p:nvGraphicFramePr>
        <p:xfrm>
          <a:off x="1335634" y="1993748"/>
          <a:ext cx="9626149" cy="257192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9086149">
                  <a:extLst>
                    <a:ext uri="{9D8B030D-6E8A-4147-A177-3AD203B41FA5}">
                      <a16:colId xmlns:a16="http://schemas.microsoft.com/office/drawing/2014/main" val="4258649048"/>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r>
                        <a:rPr lang="en-GB" sz="2200" dirty="0"/>
                        <a:t>one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3"/>
                          </a:ext>
                        </a:extLst>
                      </a:blip>
                      <a:stretch>
                        <a:fillRect/>
                      </a:stretch>
                    </a:blipFill>
                  </a:tcPr>
                </a:tc>
                <a:tc rowSpan="2">
                  <a:txBody>
                    <a:bodyPr/>
                    <a:lstStyle/>
                    <a:p>
                      <a:r>
                        <a:rPr lang="en-GB" sz="2200" dirty="0"/>
                        <a:t>two</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r>
                        <a:rPr lang="en-GB" sz="2200" dirty="0"/>
                        <a:t>three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r>
                        <a:rPr lang="en-GB" sz="2200" dirty="0"/>
                        <a:t>four</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bl>
          </a:graphicData>
        </a:graphic>
      </p:graphicFrame>
    </p:spTree>
    <p:extLst>
      <p:ext uri="{BB962C8B-B14F-4D97-AF65-F5344CB8AC3E}">
        <p14:creationId xmlns:p14="http://schemas.microsoft.com/office/powerpoint/2010/main" val="12704940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038399" y="689938"/>
            <a:ext cx="10115202"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r>
              <a:rPr lang="en-US"/>
              <a:t>01/10/2024</a:t>
            </a:r>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2996315249"/>
              </p:ext>
            </p:extLst>
          </p:nvPr>
        </p:nvGraphicFramePr>
        <p:xfrm>
          <a:off x="726954" y="1971714"/>
          <a:ext cx="10440000" cy="328420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4680000">
                  <a:extLst>
                    <a:ext uri="{9D8B030D-6E8A-4147-A177-3AD203B41FA5}">
                      <a16:colId xmlns:a16="http://schemas.microsoft.com/office/drawing/2014/main" val="4258649048"/>
                    </a:ext>
                  </a:extLst>
                </a:gridCol>
                <a:gridCol w="540000">
                  <a:extLst>
                    <a:ext uri="{9D8B030D-6E8A-4147-A177-3AD203B41FA5}">
                      <a16:colId xmlns:a16="http://schemas.microsoft.com/office/drawing/2014/main" val="2861192458"/>
                    </a:ext>
                  </a:extLst>
                </a:gridCol>
                <a:gridCol w="4680000">
                  <a:extLst>
                    <a:ext uri="{9D8B030D-6E8A-4147-A177-3AD203B41FA5}">
                      <a16:colId xmlns:a16="http://schemas.microsoft.com/office/drawing/2014/main" val="1996446775"/>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200" dirty="0"/>
                        <a:t>Edit in Master slide view</a:t>
                      </a:r>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dpi="0" rotWithShape="0">
                      <a:blip>
                        <a:extLst>
                          <a:ext uri="{96DAC541-7B7A-43D3-8B79-37D633B846F1}">
                            <asvg:svgBlip xmlns:asvg="http://schemas.microsoft.com/office/drawing/2016/SVG/main" r:embed="rId3"/>
                          </a:ext>
                        </a:extLst>
                      </a:blip>
                      <a:srcRect/>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6"/>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7"/>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8"/>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9"/>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0"/>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1"/>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105705"/>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5673635"/>
                  </a:ext>
                </a:extLst>
              </a:tr>
            </a:tbl>
          </a:graphicData>
        </a:graphic>
      </p:graphicFrame>
    </p:spTree>
    <p:extLst>
      <p:ext uri="{BB962C8B-B14F-4D97-AF65-F5344CB8AC3E}">
        <p14:creationId xmlns:p14="http://schemas.microsoft.com/office/powerpoint/2010/main" val="37248952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01/10/2024</a:t>
            </a:r>
            <a:endParaRPr lang="en-GB"/>
          </a:p>
        </p:txBody>
      </p:sp>
      <p:sp>
        <p:nvSpPr>
          <p:cNvPr id="5" name="Footer Placeholder 4"/>
          <p:cNvSpPr>
            <a:spLocks noGrp="1"/>
          </p:cNvSpPr>
          <p:nvPr>
            <p:ph type="ftr" sz="quarter" idx="11"/>
          </p:nvPr>
        </p:nvSpPr>
        <p:spPr/>
        <p:txBody>
          <a:bodyPr/>
          <a:lstStyle/>
          <a:p>
            <a:r>
              <a:rPr lang="en-GB"/>
              <a:t>Measurement and Description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34479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01/10/2024</a:t>
            </a:r>
            <a:endParaRPr lang="en-GB"/>
          </a:p>
        </p:txBody>
      </p:sp>
      <p:sp>
        <p:nvSpPr>
          <p:cNvPr id="5" name="Footer Placeholder 4"/>
          <p:cNvSpPr>
            <a:spLocks noGrp="1"/>
          </p:cNvSpPr>
          <p:nvPr>
            <p:ph type="ftr" sz="quarter" idx="11"/>
          </p:nvPr>
        </p:nvSpPr>
        <p:spPr/>
        <p:txBody>
          <a:bodyPr/>
          <a:lstStyle/>
          <a:p>
            <a:r>
              <a:rPr lang="en-GB"/>
              <a:t>Measurement and Description</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60267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4" name="Picture 12" descr="Partners; Sustaining Creative Economies ...">
            <a:extLst>
              <a:ext uri="{FF2B5EF4-FFF2-40B4-BE49-F238E27FC236}">
                <a16:creationId xmlns:a16="http://schemas.microsoft.com/office/drawing/2014/main" id="{C213A523-D735-8490-152A-23415FF25430}"/>
              </a:ext>
            </a:extLst>
          </p:cNvPr>
          <p:cNvPicPr>
            <a:picLocks noChangeAspect="1" noChangeArrowheads="1"/>
          </p:cNvPicPr>
          <p:nvPr userDrawn="1"/>
        </p:nvPicPr>
        <p:blipFill>
          <a:blip r:embed="rId2">
            <a:alphaModFix/>
            <a:extLst>
              <a:ext uri="{28A0092B-C50C-407E-A947-70E740481C1C}">
                <a14:useLocalDpi xmlns:a14="http://schemas.microsoft.com/office/drawing/2010/main" val="0"/>
              </a:ext>
            </a:extLst>
          </a:blip>
          <a:srcRect/>
          <a:stretch>
            <a:fillRect/>
          </a:stretch>
        </p:blipFill>
        <p:spPr bwMode="auto">
          <a:xfrm>
            <a:off x="9888991" y="5440123"/>
            <a:ext cx="1342114" cy="751584"/>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6139AE9B-1271-7638-B347-A5F464D2BE3C}"/>
              </a:ext>
            </a:extLst>
          </p:cNvPr>
          <p:cNvSpPr>
            <a:spLocks noGrp="1"/>
          </p:cNvSpPr>
          <p:nvPr>
            <p:ph type="dt" sz="half" idx="10"/>
          </p:nvPr>
        </p:nvSpPr>
        <p:spPr/>
        <p:txBody>
          <a:bodyPr/>
          <a:lstStyle/>
          <a:p>
            <a:r>
              <a:rPr lang="en-US"/>
              <a:t>01/10/2024</a:t>
            </a:r>
            <a:endParaRPr lang="en-GB"/>
          </a:p>
        </p:txBody>
      </p:sp>
      <p:sp>
        <p:nvSpPr>
          <p:cNvPr id="4" name="Footer Placeholder 3">
            <a:extLst>
              <a:ext uri="{FF2B5EF4-FFF2-40B4-BE49-F238E27FC236}">
                <a16:creationId xmlns:a16="http://schemas.microsoft.com/office/drawing/2014/main" id="{23A3BAF4-52A6-7AC7-8C6F-183586D9D88D}"/>
              </a:ext>
            </a:extLst>
          </p:cNvPr>
          <p:cNvSpPr>
            <a:spLocks noGrp="1"/>
          </p:cNvSpPr>
          <p:nvPr>
            <p:ph type="ftr" sz="quarter" idx="11"/>
          </p:nvPr>
        </p:nvSpPr>
        <p:spPr/>
        <p:txBody>
          <a:bodyPr/>
          <a:lstStyle/>
          <a:p>
            <a:r>
              <a:rPr lang="en-GB"/>
              <a:t>Measurement and Description</a:t>
            </a:r>
          </a:p>
        </p:txBody>
      </p:sp>
      <p:sp>
        <p:nvSpPr>
          <p:cNvPr id="5" name="Slide Number Placeholder 4">
            <a:extLst>
              <a:ext uri="{FF2B5EF4-FFF2-40B4-BE49-F238E27FC236}">
                <a16:creationId xmlns:a16="http://schemas.microsoft.com/office/drawing/2014/main" id="{F193AA3C-DFA6-2BE6-3BD0-0D6E60101593}"/>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10">
            <a:extLst>
              <a:ext uri="{FF2B5EF4-FFF2-40B4-BE49-F238E27FC236}">
                <a16:creationId xmlns:a16="http://schemas.microsoft.com/office/drawing/2014/main" id="{2A7E09F9-D2AF-737B-7EF3-D1714380AC3D}"/>
              </a:ext>
            </a:extLst>
          </p:cNvPr>
          <p:cNvPicPr>
            <a:picLocks noChangeAspect="1" noChangeArrowheads="1"/>
          </p:cNvPicPr>
          <p:nvPr userDrawn="1"/>
        </p:nvPicPr>
        <p:blipFill rotWithShape="1">
          <a:blip r:embed="rId3">
            <a:alphaModFix amt="35000"/>
            <a:extLst>
              <a:ext uri="{BEBA8EAE-BF5A-486C-A8C5-ECC9F3942E4B}">
                <a14:imgProps xmlns:a14="http://schemas.microsoft.com/office/drawing/2010/main">
                  <a14:imgLayer r:embed="rId4">
                    <a14:imgEffect>
                      <a14:backgroundRemoval t="7944" b="94860" l="9780" r="89976">
                        <a14:foregroundMark x1="25672" y1="20093" x2="32152" y2="70327"/>
                        <a14:foregroundMark x1="32152" y1="70327" x2="79829" y2="87383"/>
                        <a14:foregroundMark x1="79829" y1="87383" x2="79095" y2="36682"/>
                        <a14:foregroundMark x1="79095" y1="36682" x2="64914" y2="14720"/>
                        <a14:foregroundMark x1="64914" y1="14720" x2="48533" y2="7944"/>
                        <a14:foregroundMark x1="48533" y1="7944" x2="30196" y2="13084"/>
                        <a14:foregroundMark x1="30196" y1="13084" x2="25306" y2="20561"/>
                        <a14:foregroundMark x1="21760" y1="39486" x2="25061" y2="78505"/>
                        <a14:foregroundMark x1="25061" y1="78505" x2="64670" y2="92056"/>
                        <a14:foregroundMark x1="64670" y1="92056" x2="78851" y2="91822"/>
                        <a14:foregroundMark x1="82641" y1="15187" x2="86675" y2="62850"/>
                        <a14:foregroundMark x1="86675" y1="62850" x2="80196" y2="94626"/>
                        <a14:foregroundMark x1="80196" y1="94626" x2="78117" y2="94860"/>
                      </a14:backgroundRemoval>
                    </a14:imgEffect>
                  </a14:imgLayer>
                </a14:imgProps>
              </a:ext>
              <a:ext uri="{28A0092B-C50C-407E-A947-70E740481C1C}">
                <a14:useLocalDpi xmlns:a14="http://schemas.microsoft.com/office/drawing/2010/main" val="0"/>
              </a:ext>
            </a:extLst>
          </a:blip>
          <a:srcRect l="17245" t="2011" r="13041"/>
          <a:stretch/>
        </p:blipFill>
        <p:spPr bwMode="auto">
          <a:xfrm>
            <a:off x="3480620" y="-23164"/>
            <a:ext cx="8635320" cy="6350686"/>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descr="Advertising outline">
            <a:extLst>
              <a:ext uri="{FF2B5EF4-FFF2-40B4-BE49-F238E27FC236}">
                <a16:creationId xmlns:a16="http://schemas.microsoft.com/office/drawing/2014/main" id="{1EDC15B8-2173-9DC7-DB3B-645E07D8406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071" y="208195"/>
            <a:ext cx="7304134" cy="6756079"/>
          </a:xfrm>
          <a:prstGeom prst="rect">
            <a:avLst/>
          </a:prstGeom>
        </p:spPr>
      </p:pic>
      <p:pic>
        <p:nvPicPr>
          <p:cNvPr id="15" name="Graphic 14">
            <a:extLst>
              <a:ext uri="{FF2B5EF4-FFF2-40B4-BE49-F238E27FC236}">
                <a16:creationId xmlns:a16="http://schemas.microsoft.com/office/drawing/2014/main" id="{CD1C29E7-0246-1CD7-8A1F-30707B7E1852}"/>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394192" y="4729773"/>
            <a:ext cx="2851533" cy="938724"/>
          </a:xfrm>
          <a:prstGeom prst="rect">
            <a:avLst/>
          </a:prstGeom>
        </p:spPr>
      </p:pic>
      <p:sp>
        <p:nvSpPr>
          <p:cNvPr id="16" name="TextBox 15">
            <a:extLst>
              <a:ext uri="{FF2B5EF4-FFF2-40B4-BE49-F238E27FC236}">
                <a16:creationId xmlns:a16="http://schemas.microsoft.com/office/drawing/2014/main" id="{2B8C7C2A-22F2-9C49-D70E-5C8A22C35019}"/>
              </a:ext>
            </a:extLst>
          </p:cNvPr>
          <p:cNvSpPr txBox="1"/>
          <p:nvPr userDrawn="1"/>
        </p:nvSpPr>
        <p:spPr>
          <a:xfrm>
            <a:off x="2189351" y="4909434"/>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chris.moreh@ncl.ac.uk</a:t>
            </a:r>
            <a:endParaRPr lang="en-GB" sz="1600" b="0" dirty="0">
              <a:latin typeface="Arial Nova Cond Light" panose="020B0306020202020204" pitchFamily="34" charset="0"/>
              <a:cs typeface="Courier New" panose="02070309020205020404" pitchFamily="49" charset="0"/>
              <a:hlinkClick r:id="rId8"/>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1"/>
              </a:rPr>
              <a:t>Chris Moreh</a:t>
            </a:r>
            <a:endParaRPr lang="en-GB" sz="1600" b="0" dirty="0">
              <a:latin typeface="Arial Nova Cond Light" panose="020B0306020202020204" pitchFamily="34" charset="0"/>
              <a:cs typeface="Courier New" panose="02070309020205020404" pitchFamily="49" charset="0"/>
            </a:endParaRPr>
          </a:p>
        </p:txBody>
      </p:sp>
      <p:pic>
        <p:nvPicPr>
          <p:cNvPr id="17" name="Picture 16">
            <a:extLst>
              <a:ext uri="{FF2B5EF4-FFF2-40B4-BE49-F238E27FC236}">
                <a16:creationId xmlns:a16="http://schemas.microsoft.com/office/drawing/2014/main" id="{DD7CACF7-D679-73AB-9142-786DA076C3A7}"/>
              </a:ext>
            </a:extLst>
          </p:cNvPr>
          <p:cNvPicPr>
            <a:picLocks noChangeAspect="1"/>
          </p:cNvPicPr>
          <p:nvPr userDrawn="1"/>
        </p:nvPicPr>
        <p:blipFill>
          <a:blip r:embed="rId12"/>
          <a:stretch>
            <a:fillRect/>
          </a:stretch>
        </p:blipFill>
        <p:spPr>
          <a:xfrm flipH="1">
            <a:off x="2205260" y="5245571"/>
            <a:ext cx="174474" cy="180000"/>
          </a:xfrm>
          <a:prstGeom prst="rect">
            <a:avLst/>
          </a:prstGeom>
        </p:spPr>
      </p:pic>
      <p:pic>
        <p:nvPicPr>
          <p:cNvPr id="18" name="Picture 4">
            <a:extLst>
              <a:ext uri="{FF2B5EF4-FFF2-40B4-BE49-F238E27FC236}">
                <a16:creationId xmlns:a16="http://schemas.microsoft.com/office/drawing/2014/main" id="{F5D755EC-05C2-0884-2C2F-74A7297B707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174731" y="571206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40A42823-F60C-D577-74D9-FE8C3E3A623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199734" y="5980746"/>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
            <a:extLst>
              <a:ext uri="{FF2B5EF4-FFF2-40B4-BE49-F238E27FC236}">
                <a16:creationId xmlns:a16="http://schemas.microsoft.com/office/drawing/2014/main" id="{ECDBB212-ABA5-CE0D-7F0C-C37D656E0D6B}"/>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169249" y="5458509"/>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Email Icon Clip Art , Royalty PNG Transparent Background, Free Download  #130 - FreeIconsPNG">
            <a:extLst>
              <a:ext uri="{FF2B5EF4-FFF2-40B4-BE49-F238E27FC236}">
                <a16:creationId xmlns:a16="http://schemas.microsoft.com/office/drawing/2014/main" id="{9AD65224-3024-068D-2B15-9BC765970543}"/>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210092" y="5003382"/>
            <a:ext cx="1764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63504B0-8CB3-256C-EF50-E93FEF75ACFC}"/>
              </a:ext>
            </a:extLst>
          </p:cNvPr>
          <p:cNvPicPr>
            <a:picLocks noChangeAspect="1"/>
          </p:cNvPicPr>
          <p:nvPr userDrawn="1"/>
        </p:nvPicPr>
        <p:blipFill rotWithShape="1">
          <a:blip r:embed="rId17"/>
          <a:srcRect l="14262" t="5451" r="9231" b="22240"/>
          <a:stretch/>
        </p:blipFill>
        <p:spPr>
          <a:xfrm>
            <a:off x="851647" y="1470212"/>
            <a:ext cx="5629836" cy="2671482"/>
          </a:xfrm>
          <a:prstGeom prst="rect">
            <a:avLst/>
          </a:prstGeom>
        </p:spPr>
      </p:pic>
    </p:spTree>
    <p:extLst>
      <p:ext uri="{BB962C8B-B14F-4D97-AF65-F5344CB8AC3E}">
        <p14:creationId xmlns:p14="http://schemas.microsoft.com/office/powerpoint/2010/main" val="6913247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ECC6-7BD6-D9D0-DD8F-30FCF10DE4E6}"/>
              </a:ext>
            </a:extLst>
          </p:cNvPr>
          <p:cNvSpPr>
            <a:spLocks noGrp="1"/>
          </p:cNvSpPr>
          <p:nvPr>
            <p:ph type="title" hasCustomPrompt="1"/>
          </p:nvPr>
        </p:nvSpPr>
        <p:spPr/>
        <p:txBody>
          <a:bodyPr/>
          <a:lstStyle>
            <a:lvl1pPr>
              <a:defRPr/>
            </a:lvl1pPr>
          </a:lstStyle>
          <a:p>
            <a:r>
              <a:rPr lang="en-GB" dirty="0"/>
              <a:t>References</a:t>
            </a:r>
          </a:p>
        </p:txBody>
      </p:sp>
      <p:sp>
        <p:nvSpPr>
          <p:cNvPr id="3" name="Date Placeholder 2">
            <a:extLst>
              <a:ext uri="{FF2B5EF4-FFF2-40B4-BE49-F238E27FC236}">
                <a16:creationId xmlns:a16="http://schemas.microsoft.com/office/drawing/2014/main" id="{B9857D05-3B38-1245-894D-24581A24F27D}"/>
              </a:ext>
            </a:extLst>
          </p:cNvPr>
          <p:cNvSpPr>
            <a:spLocks noGrp="1"/>
          </p:cNvSpPr>
          <p:nvPr>
            <p:ph type="dt" sz="half" idx="10"/>
          </p:nvPr>
        </p:nvSpPr>
        <p:spPr/>
        <p:txBody>
          <a:bodyPr/>
          <a:lstStyle/>
          <a:p>
            <a:r>
              <a:rPr lang="en-US"/>
              <a:t>01/10/2024</a:t>
            </a:r>
            <a:endParaRPr lang="en-GB" dirty="0"/>
          </a:p>
        </p:txBody>
      </p:sp>
      <p:sp>
        <p:nvSpPr>
          <p:cNvPr id="4" name="Footer Placeholder 3">
            <a:extLst>
              <a:ext uri="{FF2B5EF4-FFF2-40B4-BE49-F238E27FC236}">
                <a16:creationId xmlns:a16="http://schemas.microsoft.com/office/drawing/2014/main" id="{F3C7BA36-6C3C-C811-3047-B251D5B25444}"/>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6589F523-D9FC-8E93-1712-1B6E3DE742AF}"/>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7" name="Text Placeholder 6">
            <a:extLst>
              <a:ext uri="{FF2B5EF4-FFF2-40B4-BE49-F238E27FC236}">
                <a16:creationId xmlns:a16="http://schemas.microsoft.com/office/drawing/2014/main" id="{C9FD4878-448B-C559-6183-304914140DFB}"/>
              </a:ext>
            </a:extLst>
          </p:cNvPr>
          <p:cNvSpPr>
            <a:spLocks noGrp="1"/>
          </p:cNvSpPr>
          <p:nvPr>
            <p:ph type="body" sz="quarter" idx="13"/>
          </p:nvPr>
        </p:nvSpPr>
        <p:spPr>
          <a:xfrm>
            <a:off x="757238" y="1431925"/>
            <a:ext cx="10455275" cy="46577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463633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756746" y="286604"/>
            <a:ext cx="9578516" cy="911576"/>
          </a:xfrm>
          <a:prstGeom prst="rect">
            <a:avLst/>
          </a:prstGeom>
        </p:spPr>
        <p:txBody>
          <a:bodyPr vert="horz" lIns="91440" tIns="45720" rIns="91440" bIns="45720" rtlCol="0" anchor="b">
            <a:normAutofit/>
          </a:bodyPr>
          <a:lstStyle/>
          <a:p>
            <a:r>
              <a:rPr lang="en-GB" dirty="0"/>
              <a:t>Click to edit Master title style</a:t>
            </a:r>
            <a:endParaRPr lang="en-US" dirty="0"/>
          </a:p>
        </p:txBody>
      </p:sp>
      <p:sp>
        <p:nvSpPr>
          <p:cNvPr id="3" name="Text Placeholder 2"/>
          <p:cNvSpPr>
            <a:spLocks noGrp="1"/>
          </p:cNvSpPr>
          <p:nvPr>
            <p:ph type="body" idx="1"/>
          </p:nvPr>
        </p:nvSpPr>
        <p:spPr>
          <a:xfrm>
            <a:off x="756745" y="1477880"/>
            <a:ext cx="10398935" cy="4681181"/>
          </a:xfrm>
          <a:prstGeom prst="rect">
            <a:avLst/>
          </a:prstGeom>
        </p:spPr>
        <p:txBody>
          <a:bodyPr vert="horz" lIns="0" tIns="45720" rIns="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1200">
                <a:solidFill>
                  <a:srgbClr val="FFFFFF"/>
                </a:solidFill>
              </a:defRPr>
            </a:lvl1pPr>
          </a:lstStyle>
          <a:p>
            <a:r>
              <a:rPr lang="en-US"/>
              <a:t>01/10/2024</a:t>
            </a:r>
            <a:endParaRPr lang="en-GB"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1000" cap="all" baseline="0">
                <a:solidFill>
                  <a:srgbClr val="FFFFFF"/>
                </a:solidFill>
              </a:defRPr>
            </a:lvl1pPr>
          </a:lstStyle>
          <a:p>
            <a:r>
              <a:rPr lang="en-GB"/>
              <a:t>Measurement and Description</a:t>
            </a:r>
            <a:endParaRPr lang="en-GB"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200">
                <a:solidFill>
                  <a:srgbClr val="FFFFFF"/>
                </a:solidFill>
              </a:defRPr>
            </a:lvl1pPr>
          </a:lstStyle>
          <a:p>
            <a:fld id="{9FAA51BB-2FC0-4DB8-B50E-F52D50E733B6}" type="slidenum">
              <a:rPr lang="en-GB" smtClean="0"/>
              <a:pPr/>
              <a:t>‹#›</a:t>
            </a:fld>
            <a:endParaRPr lang="en-GB" dirty="0"/>
          </a:p>
        </p:txBody>
      </p:sp>
    </p:spTree>
    <p:extLst>
      <p:ext uri="{BB962C8B-B14F-4D97-AF65-F5344CB8AC3E}">
        <p14:creationId xmlns:p14="http://schemas.microsoft.com/office/powerpoint/2010/main" val="3120243165"/>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68" r:id="rId5"/>
    <p:sldLayoutId id="2147483669" r:id="rId6"/>
    <p:sldLayoutId id="2147483664" r:id="rId7"/>
    <p:sldLayoutId id="2147483665" r:id="rId8"/>
    <p:sldLayoutId id="2147483666" r:id="rId9"/>
    <p:sldLayoutId id="2147483667" r:id="rId10"/>
    <p:sldLayoutId id="2147483674" r:id="rId11"/>
    <p:sldLayoutId id="2147483676" r:id="rId12"/>
    <p:sldLayoutId id="2147483675" r:id="rId13"/>
    <p:sldLayoutId id="2147483670" r:id="rId14"/>
    <p:sldLayoutId id="2147483671" r:id="rId15"/>
    <p:sldLayoutId id="2147483673" r:id="rId16"/>
    <p:sldLayoutId id="2147483677" r:id="rId17"/>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dt="0"/>
  <p:txStyles>
    <p:titleStyle>
      <a:lvl1pPr algn="l" defTabSz="914400" rtl="0" eaLnBrk="1" latinLnBrk="0" hangingPunct="1">
        <a:lnSpc>
          <a:spcPct val="100000"/>
        </a:lnSpc>
        <a:spcBef>
          <a:spcPct val="0"/>
        </a:spcBef>
        <a:buNone/>
        <a:defRPr sz="4000" b="1" kern="1200" spc="-50" baseline="0">
          <a:solidFill>
            <a:schemeClr val="accent1">
              <a:lumMod val="5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4.jpeg"/><Relationship Id="rId4" Type="http://schemas.openxmlformats.org/officeDocument/2006/relationships/image" Target="../media/image35.jpeg"/><Relationship Id="rId5" Type="http://schemas.openxmlformats.org/officeDocument/2006/relationships/image" Target="../media/image3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microsoft.com/office/2011/relationships/webextension" Target="../webextensions/webextension1.xml"/><Relationship Id="rId4"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4.png"/><Relationship Id="rId4" Type="http://schemas.openxmlformats.org/officeDocument/2006/relationships/image" Target="../media/image60.png"/><Relationship Id="rId5" Type="http://schemas.openxmlformats.org/officeDocument/2006/relationships/image" Target="../media/image230.png"/><Relationship Id="rId6"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3.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4.png"/><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6.png"/><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7.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8.png"/><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53.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3.png"/><Relationship Id="rId4" Type="http://schemas.openxmlformats.org/officeDocument/2006/relationships/image" Target="../media/image7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5.png"/><Relationship Id="rId4" Type="http://schemas.openxmlformats.org/officeDocument/2006/relationships/image" Target="../media/image7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 Id="rId3" Type="http://schemas.openxmlformats.org/officeDocument/2006/relationships/notesSlide" Target="../notesSlides/notesSlide3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a:extLst>
              <a:ext uri="{FF2B5EF4-FFF2-40B4-BE49-F238E27FC236}">
                <a16:creationId xmlns:a16="http://schemas.microsoft.com/office/drawing/2014/main" id="{8280CFAB-64B1-8AAB-08BA-B417B972F997}"/>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17245" t="2011" r="13041"/>
          <a:stretch/>
        </p:blipFill>
        <p:spPr bwMode="auto">
          <a:xfrm>
            <a:off x="9383756" y="5633884"/>
            <a:ext cx="841864" cy="619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6133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060982-6EE3-A8F1-75FE-C4BDB2FF3CBE}"/>
              </a:ext>
            </a:extLst>
          </p:cNvPr>
          <p:cNvSpPr>
            <a:spLocks noGrp="1"/>
          </p:cNvSpPr>
          <p:nvPr>
            <p:ph type="title"/>
          </p:nvPr>
        </p:nvSpPr>
        <p:spPr/>
        <p:txBody>
          <a:bodyPr/>
          <a:lstStyle/>
          <a:p>
            <a:r>
              <a:rPr lang="en-GB" sz="6000" b="1" dirty="0"/>
              <a:t>Week 1</a:t>
            </a:r>
          </a:p>
        </p:txBody>
      </p:sp>
      <p:sp>
        <p:nvSpPr>
          <p:cNvPr id="7" name="Text Placeholder 6">
            <a:extLst>
              <a:ext uri="{FF2B5EF4-FFF2-40B4-BE49-F238E27FC236}">
                <a16:creationId xmlns:a16="http://schemas.microsoft.com/office/drawing/2014/main" id="{E112B5B6-7C9E-9DE5-8D2C-13D42F1FBB68}"/>
              </a:ext>
            </a:extLst>
          </p:cNvPr>
          <p:cNvSpPr>
            <a:spLocks noGrp="1"/>
          </p:cNvSpPr>
          <p:nvPr>
            <p:ph type="body" sz="half" idx="2"/>
          </p:nvPr>
        </p:nvSpPr>
        <p:spPr/>
        <p:txBody>
          <a:bodyPr>
            <a:normAutofit/>
          </a:bodyPr>
          <a:lstStyle/>
          <a:p>
            <a:r>
              <a:rPr lang="en-GB" sz="3600" dirty="0"/>
              <a:t>Measurement and Description</a:t>
            </a:r>
          </a:p>
        </p:txBody>
      </p:sp>
      <p:sp>
        <p:nvSpPr>
          <p:cNvPr id="4" name="Footer Placeholder 3">
            <a:extLst>
              <a:ext uri="{FF2B5EF4-FFF2-40B4-BE49-F238E27FC236}">
                <a16:creationId xmlns:a16="http://schemas.microsoft.com/office/drawing/2014/main" id="{EC4BC908-4805-889D-BE4F-455E3A449AA4}"/>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9E2F49CC-8A5A-2FB3-FD34-139202D1D593}"/>
              </a:ext>
            </a:extLst>
          </p:cNvPr>
          <p:cNvSpPr>
            <a:spLocks noGrp="1"/>
          </p:cNvSpPr>
          <p:nvPr>
            <p:ph type="sldNum" sz="quarter" idx="12"/>
          </p:nvPr>
        </p:nvSpPr>
        <p:spPr/>
        <p:txBody>
          <a:bodyPr/>
          <a:lstStyle/>
          <a:p>
            <a:fld id="{9FAA51BB-2FC0-4DB8-B50E-F52D50E733B6}" type="slidenum">
              <a:rPr lang="en-GB" smtClean="0"/>
              <a:t>2</a:t>
            </a:fld>
            <a:endParaRPr lang="en-GB"/>
          </a:p>
        </p:txBody>
      </p:sp>
    </p:spTree>
    <p:extLst>
      <p:ext uri="{BB962C8B-B14F-4D97-AF65-F5344CB8AC3E}">
        <p14:creationId xmlns:p14="http://schemas.microsoft.com/office/powerpoint/2010/main" val="38144591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E217EB9-ECD3-60A1-B9CF-AF9D317C2CF5}"/>
              </a:ext>
            </a:extLst>
          </p:cNvPr>
          <p:cNvSpPr>
            <a:spLocks noGrp="1"/>
          </p:cNvSpPr>
          <p:nvPr>
            <p:ph type="title"/>
          </p:nvPr>
        </p:nvSpPr>
        <p:spPr/>
        <p:txBody>
          <a:bodyPr/>
          <a:lstStyle/>
          <a:p>
            <a:r>
              <a:rPr lang="en-GB" dirty="0"/>
              <a:t>Measurement</a:t>
            </a:r>
          </a:p>
        </p:txBody>
      </p:sp>
      <p:sp>
        <p:nvSpPr>
          <p:cNvPr id="5" name="Footer Placeholder 4">
            <a:extLst>
              <a:ext uri="{FF2B5EF4-FFF2-40B4-BE49-F238E27FC236}">
                <a16:creationId xmlns:a16="http://schemas.microsoft.com/office/drawing/2014/main" id="{6772CAAB-9C32-D830-FF00-86600C487E94}"/>
              </a:ext>
            </a:extLst>
          </p:cNvPr>
          <p:cNvSpPr>
            <a:spLocks noGrp="1"/>
          </p:cNvSpPr>
          <p:nvPr>
            <p:ph type="ftr" sz="quarter" idx="11"/>
          </p:nvPr>
        </p:nvSpPr>
        <p:spPr/>
        <p:txBody>
          <a:bodyPr/>
          <a:lstStyle/>
          <a:p>
            <a:r>
              <a:rPr lang="en-GB"/>
              <a:t>Measurement and Description</a:t>
            </a:r>
          </a:p>
        </p:txBody>
      </p:sp>
      <p:sp>
        <p:nvSpPr>
          <p:cNvPr id="6" name="Slide Number Placeholder 5">
            <a:extLst>
              <a:ext uri="{FF2B5EF4-FFF2-40B4-BE49-F238E27FC236}">
                <a16:creationId xmlns:a16="http://schemas.microsoft.com/office/drawing/2014/main" id="{953B9D79-309D-D507-17FF-67827394EFDB}"/>
              </a:ext>
            </a:extLst>
          </p:cNvPr>
          <p:cNvSpPr>
            <a:spLocks noGrp="1"/>
          </p:cNvSpPr>
          <p:nvPr>
            <p:ph type="sldNum" sz="quarter" idx="12"/>
          </p:nvPr>
        </p:nvSpPr>
        <p:spPr/>
        <p:txBody>
          <a:bodyPr/>
          <a:lstStyle/>
          <a:p>
            <a:fld id="{9FAA51BB-2FC0-4DB8-B50E-F52D50E733B6}" type="slidenum">
              <a:rPr lang="en-GB" smtClean="0"/>
              <a:t>3</a:t>
            </a:fld>
            <a:endParaRPr lang="en-GB"/>
          </a:p>
        </p:txBody>
      </p:sp>
      <p:pic>
        <p:nvPicPr>
          <p:cNvPr id="1026" name="Picture 2" descr="Salter 144 WHSVDR Mechanical Bathroom ...">
            <a:extLst>
              <a:ext uri="{FF2B5EF4-FFF2-40B4-BE49-F238E27FC236}">
                <a16:creationId xmlns:a16="http://schemas.microsoft.com/office/drawing/2014/main" id="{16184B3D-EE26-D688-2008-ECC6BC04F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630" y="1371308"/>
            <a:ext cx="2717062" cy="27170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intable Height Chart (teacher made ...">
            <a:extLst>
              <a:ext uri="{FF2B5EF4-FFF2-40B4-BE49-F238E27FC236}">
                <a16:creationId xmlns:a16="http://schemas.microsoft.com/office/drawing/2014/main" id="{09348C58-B6F5-DF30-779E-768B9D89EA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880" y="4140700"/>
            <a:ext cx="3752562" cy="18762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MPASS questionnaire measures of height and weight used to calculate BMI.">
            <a:extLst>
              <a:ext uri="{FF2B5EF4-FFF2-40B4-BE49-F238E27FC236}">
                <a16:creationId xmlns:a16="http://schemas.microsoft.com/office/drawing/2014/main" id="{F7773267-224B-DA6A-1555-12F2DFBEEF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3013" y="1408065"/>
            <a:ext cx="6313583" cy="4608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5192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5D283-6261-1179-CAFB-86CC30323982}"/>
              </a:ext>
            </a:extLst>
          </p:cNvPr>
          <p:cNvSpPr>
            <a:spLocks noGrp="1"/>
          </p:cNvSpPr>
          <p:nvPr>
            <p:ph type="title"/>
          </p:nvPr>
        </p:nvSpPr>
        <p:spPr/>
        <p:txBody>
          <a:bodyPr/>
          <a:lstStyle/>
          <a:p>
            <a:r>
              <a:rPr lang="en-GB" dirty="0"/>
              <a:t>Measurement</a:t>
            </a:r>
          </a:p>
        </p:txBody>
      </p:sp>
      <p:sp>
        <p:nvSpPr>
          <p:cNvPr id="5" name="Footer Placeholder 4">
            <a:extLst>
              <a:ext uri="{FF2B5EF4-FFF2-40B4-BE49-F238E27FC236}">
                <a16:creationId xmlns:a16="http://schemas.microsoft.com/office/drawing/2014/main" id="{D7FE8954-22F1-A334-4EB7-28968F05F215}"/>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3EFB1F97-7BC4-A770-45A1-F49D00D5180E}"/>
              </a:ext>
            </a:extLst>
          </p:cNvPr>
          <p:cNvSpPr>
            <a:spLocks noGrp="1"/>
          </p:cNvSpPr>
          <p:nvPr>
            <p:ph type="sldNum" sz="quarter" idx="12"/>
          </p:nvPr>
        </p:nvSpPr>
        <p:spPr/>
        <p:txBody>
          <a:bodyPr/>
          <a:lstStyle/>
          <a:p>
            <a:fld id="{9FAA51BB-2FC0-4DB8-B50E-F52D50E733B6}" type="slidenum">
              <a:rPr lang="en-GB" smtClean="0"/>
              <a:pPr/>
              <a:t>4</a:t>
            </a:fld>
            <a:endParaRPr lang="en-GB" dirty="0"/>
          </a:p>
        </p:txBody>
      </p:sp>
      <p:pic>
        <p:nvPicPr>
          <p:cNvPr id="2050" name="Picture 2" descr="What is customer satisfaction (CSAT ...">
            <a:extLst>
              <a:ext uri="{FF2B5EF4-FFF2-40B4-BE49-F238E27FC236}">
                <a16:creationId xmlns:a16="http://schemas.microsoft.com/office/drawing/2014/main" id="{C6F34968-FFEF-B235-2AE8-3AB20A6C5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895" y="1113918"/>
            <a:ext cx="4961199" cy="220824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iltering by age in 'Find' and 'Connect ...">
            <a:extLst>
              <a:ext uri="{FF2B5EF4-FFF2-40B4-BE49-F238E27FC236}">
                <a16:creationId xmlns:a16="http://schemas.microsoft.com/office/drawing/2014/main" id="{BF95AEBE-F22D-AEBD-1DCF-9254B99EE4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744" y="3432265"/>
            <a:ext cx="2115095" cy="272398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rocery app - categories &amp; list of products by Marcin Grygierczyk for INVO  on Dribbble">
            <a:extLst>
              <a:ext uri="{FF2B5EF4-FFF2-40B4-BE49-F238E27FC236}">
                <a16:creationId xmlns:a16="http://schemas.microsoft.com/office/drawing/2014/main" id="{A783B1E3-2737-FAC9-EEF0-24F92BA287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1959" y="3429000"/>
            <a:ext cx="3636335" cy="272725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ar Park Traffic Lights ...">
            <a:extLst>
              <a:ext uri="{FF2B5EF4-FFF2-40B4-BE49-F238E27FC236}">
                <a16:creationId xmlns:a16="http://schemas.microsoft.com/office/drawing/2014/main" id="{CB6A280B-B30C-5004-CE83-B5E8E0D4B5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6809" y="1362007"/>
            <a:ext cx="3591055" cy="4794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9407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fade">
                                      <p:cBhvr>
                                        <p:cTn id="7"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4FBCF-7231-D6CC-AAD8-9BB273821E82}"/>
              </a:ext>
            </a:extLst>
          </p:cNvPr>
          <p:cNvSpPr>
            <a:spLocks noGrp="1"/>
          </p:cNvSpPr>
          <p:nvPr>
            <p:ph type="title"/>
          </p:nvPr>
        </p:nvSpPr>
        <p:spPr/>
        <p:txBody>
          <a:bodyPr/>
          <a:lstStyle/>
          <a:p>
            <a:endParaRPr lang="en-GB"/>
          </a:p>
        </p:txBody>
      </p:sp>
      <p:sp>
        <p:nvSpPr>
          <p:cNvPr id="5" name="Footer Placeholder 4">
            <a:extLst>
              <a:ext uri="{FF2B5EF4-FFF2-40B4-BE49-F238E27FC236}">
                <a16:creationId xmlns:a16="http://schemas.microsoft.com/office/drawing/2014/main" id="{17A666B9-4A17-CF5D-81C2-307F4FDEF6C1}"/>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26F682CF-EBA6-A3AC-AD71-182B82A0087D}"/>
              </a:ext>
            </a:extLst>
          </p:cNvPr>
          <p:cNvSpPr>
            <a:spLocks noGrp="1"/>
          </p:cNvSpPr>
          <p:nvPr>
            <p:ph type="sldNum" sz="quarter" idx="12"/>
          </p:nvPr>
        </p:nvSpPr>
        <p:spPr/>
        <p:txBody>
          <a:bodyPr/>
          <a:lstStyle/>
          <a:p>
            <a:fld id="{9FAA51BB-2FC0-4DB8-B50E-F52D50E733B6}" type="slidenum">
              <a:rPr lang="en-GB" smtClean="0"/>
              <a:pPr/>
              <a:t>5</a:t>
            </a:fld>
            <a:endParaRPr lang="en-GB"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4588E4A6-4909-D80C-1879-A8B2B8BE1826}"/>
                  </a:ext>
                </a:extLst>
              </p:cNvPr>
              <p:cNvGraphicFramePr>
                <a:graphicFrameLocks noGrp="1"/>
              </p:cNvGraphicFramePr>
              <p:nvPr>
                <p:extLst>
                  <p:ext uri="{D42A27DB-BD31-4B8C-83A1-F6EECF244321}">
                    <p14:modId xmlns:p14="http://schemas.microsoft.com/office/powerpoint/2010/main" val="3344016547"/>
                  </p:ext>
                </p:extLst>
              </p:nvPr>
            </p:nvGraphicFramePr>
            <p:xfrm>
              <a:off x="0" y="-1"/>
              <a:ext cx="12192000" cy="645978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4588E4A6-4909-D80C-1879-A8B2B8BE1826}"/>
                  </a:ext>
                </a:extLst>
              </p:cNvPr>
              <p:cNvPicPr>
                <a:picLocks noGrp="1" noRot="1" noChangeAspect="1" noMove="1" noResize="1" noEditPoints="1" noAdjustHandles="1" noChangeArrowheads="1" noChangeShapeType="1"/>
              </p:cNvPicPr>
              <p:nvPr/>
            </p:nvPicPr>
            <p:blipFill>
              <a:blip r:embed="rId4"/>
              <a:stretch>
                <a:fillRect/>
              </a:stretch>
            </p:blipFill>
            <p:spPr>
              <a:xfrm>
                <a:off x="0" y="-1"/>
                <a:ext cx="12192000" cy="6459785"/>
              </a:xfrm>
              <a:prstGeom prst="rect">
                <a:avLst/>
              </a:prstGeom>
            </p:spPr>
          </p:pic>
        </mc:Fallback>
      </mc:AlternateContent>
    </p:spTree>
    <p:extLst>
      <p:ext uri="{BB962C8B-B14F-4D97-AF65-F5344CB8AC3E}">
        <p14:creationId xmlns:p14="http://schemas.microsoft.com/office/powerpoint/2010/main" val="1394487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AF937-F1D7-6F80-7449-CB88DCF67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DC64F-CA2E-1024-92B6-05E98B935999}"/>
              </a:ext>
            </a:extLst>
          </p:cNvPr>
          <p:cNvSpPr>
            <a:spLocks noGrp="1"/>
          </p:cNvSpPr>
          <p:nvPr>
            <p:ph type="title"/>
          </p:nvPr>
        </p:nvSpPr>
        <p:spPr/>
        <p:txBody>
          <a:bodyPr/>
          <a:lstStyle/>
          <a:p>
            <a:r>
              <a:rPr lang="en-GB" dirty="0" err="1"/>
              <a:t>ESS11</a:t>
            </a:r>
            <a:endParaRPr lang="en-GB" dirty="0"/>
          </a:p>
        </p:txBody>
      </p:sp>
      <p:pic>
        <p:nvPicPr>
          <p:cNvPr id="5" name="Picture 4">
            <a:extLst>
              <a:ext uri="{FF2B5EF4-FFF2-40B4-BE49-F238E27FC236}">
                <a16:creationId xmlns:a16="http://schemas.microsoft.com/office/drawing/2014/main" id="{809D0EEC-AAC7-A305-6248-9004F845577C}"/>
              </a:ext>
            </a:extLst>
          </p:cNvPr>
          <p:cNvPicPr>
            <a:picLocks noChangeAspect="1"/>
          </p:cNvPicPr>
          <p:nvPr/>
        </p:nvPicPr>
        <p:blipFill>
          <a:blip r:embed="rId3"/>
          <a:stretch>
            <a:fillRect/>
          </a:stretch>
        </p:blipFill>
        <p:spPr>
          <a:xfrm>
            <a:off x="951782" y="1771418"/>
            <a:ext cx="10288436" cy="3315163"/>
          </a:xfrm>
          <a:prstGeom prst="rect">
            <a:avLst/>
          </a:prstGeom>
        </p:spPr>
      </p:pic>
      <p:sp>
        <p:nvSpPr>
          <p:cNvPr id="7" name="TextBox 6">
            <a:extLst>
              <a:ext uri="{FF2B5EF4-FFF2-40B4-BE49-F238E27FC236}">
                <a16:creationId xmlns:a16="http://schemas.microsoft.com/office/drawing/2014/main" id="{683A9F90-0C24-7DD4-E1EA-85D3705071C7}"/>
              </a:ext>
            </a:extLst>
          </p:cNvPr>
          <p:cNvSpPr txBox="1"/>
          <p:nvPr/>
        </p:nvSpPr>
        <p:spPr>
          <a:xfrm>
            <a:off x="671051" y="6362070"/>
            <a:ext cx="4766187" cy="261610"/>
          </a:xfrm>
          <a:prstGeom prst="rect">
            <a:avLst/>
          </a:prstGeom>
          <a:noFill/>
        </p:spPr>
        <p:txBody>
          <a:bodyPr wrap="square">
            <a:spAutoFit/>
          </a:bodyPr>
          <a:lstStyle/>
          <a:p>
            <a:r>
              <a:rPr lang="en-GB" sz="1050" baseline="30000" dirty="0"/>
              <a:t>2</a:t>
            </a:r>
            <a:r>
              <a:rPr lang="en-GB" sz="1050" dirty="0"/>
              <a:t> ‘Can’t be too careful’: need to be wary or always somewhat suspicious</a:t>
            </a:r>
          </a:p>
        </p:txBody>
      </p:sp>
      <p:sp>
        <p:nvSpPr>
          <p:cNvPr id="3" name="Footer Placeholder 2">
            <a:extLst>
              <a:ext uri="{FF2B5EF4-FFF2-40B4-BE49-F238E27FC236}">
                <a16:creationId xmlns:a16="http://schemas.microsoft.com/office/drawing/2014/main" id="{B9CBB8FA-A0B7-3049-1DC6-5E8059498A00}"/>
              </a:ext>
            </a:extLst>
          </p:cNvPr>
          <p:cNvSpPr>
            <a:spLocks noGrp="1"/>
          </p:cNvSpPr>
          <p:nvPr>
            <p:ph type="ftr" sz="quarter" idx="11"/>
          </p:nvPr>
        </p:nvSpPr>
        <p:spPr/>
        <p:txBody>
          <a:bodyPr/>
          <a:lstStyle/>
          <a:p>
            <a:r>
              <a:rPr lang="en-GB"/>
              <a:t>Measurement and Description</a:t>
            </a:r>
            <a:endParaRPr lang="en-GB" dirty="0"/>
          </a:p>
        </p:txBody>
      </p:sp>
      <p:sp>
        <p:nvSpPr>
          <p:cNvPr id="4" name="Slide Number Placeholder 3">
            <a:extLst>
              <a:ext uri="{FF2B5EF4-FFF2-40B4-BE49-F238E27FC236}">
                <a16:creationId xmlns:a16="http://schemas.microsoft.com/office/drawing/2014/main" id="{48CD8842-D28B-11A4-E3B2-6ABB1D77F8DB}"/>
              </a:ext>
            </a:extLst>
          </p:cNvPr>
          <p:cNvSpPr>
            <a:spLocks noGrp="1"/>
          </p:cNvSpPr>
          <p:nvPr>
            <p:ph type="sldNum" sz="quarter" idx="12"/>
          </p:nvPr>
        </p:nvSpPr>
        <p:spPr/>
        <p:txBody>
          <a:bodyPr/>
          <a:lstStyle/>
          <a:p>
            <a:fld id="{9FAA51BB-2FC0-4DB8-B50E-F52D50E733B6}" type="slidenum">
              <a:rPr lang="en-GB" smtClean="0"/>
              <a:pPr/>
              <a:t>6</a:t>
            </a:fld>
            <a:endParaRPr lang="en-GB" dirty="0"/>
          </a:p>
        </p:txBody>
      </p:sp>
    </p:spTree>
    <p:extLst>
      <p:ext uri="{BB962C8B-B14F-4D97-AF65-F5344CB8AC3E}">
        <p14:creationId xmlns:p14="http://schemas.microsoft.com/office/powerpoint/2010/main" val="12133102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2CB0D-DEDC-E8DE-0BF0-BA0C8307A020}"/>
              </a:ext>
            </a:extLst>
          </p:cNvPr>
          <p:cNvSpPr>
            <a:spLocks noGrp="1"/>
          </p:cNvSpPr>
          <p:nvPr>
            <p:ph type="title"/>
          </p:nvPr>
        </p:nvSpPr>
        <p:spPr/>
        <p:txBody>
          <a:bodyPr/>
          <a:lstStyle/>
          <a:p>
            <a:r>
              <a:rPr lang="en-GB" dirty="0" err="1"/>
              <a:t>BSA</a:t>
            </a:r>
            <a:r>
              <a:rPr lang="en-GB" dirty="0"/>
              <a:t> 2024</a:t>
            </a:r>
          </a:p>
        </p:txBody>
      </p:sp>
      <p:pic>
        <p:nvPicPr>
          <p:cNvPr id="5" name="Picture 4">
            <a:extLst>
              <a:ext uri="{FF2B5EF4-FFF2-40B4-BE49-F238E27FC236}">
                <a16:creationId xmlns:a16="http://schemas.microsoft.com/office/drawing/2014/main" id="{7DF21C43-5F39-BDD5-1D91-19483930328F}"/>
              </a:ext>
            </a:extLst>
          </p:cNvPr>
          <p:cNvPicPr>
            <a:picLocks noChangeAspect="1"/>
          </p:cNvPicPr>
          <p:nvPr/>
        </p:nvPicPr>
        <p:blipFill>
          <a:blip r:embed="rId2"/>
          <a:stretch>
            <a:fillRect/>
          </a:stretch>
        </p:blipFill>
        <p:spPr>
          <a:xfrm>
            <a:off x="2437440" y="1690688"/>
            <a:ext cx="6811469" cy="4636723"/>
          </a:xfrm>
          <a:prstGeom prst="rect">
            <a:avLst/>
          </a:prstGeom>
        </p:spPr>
      </p:pic>
      <p:sp>
        <p:nvSpPr>
          <p:cNvPr id="3" name="Footer Placeholder 2">
            <a:extLst>
              <a:ext uri="{FF2B5EF4-FFF2-40B4-BE49-F238E27FC236}">
                <a16:creationId xmlns:a16="http://schemas.microsoft.com/office/drawing/2014/main" id="{D4083120-A136-1BB4-470D-1F42D5617FB0}"/>
              </a:ext>
            </a:extLst>
          </p:cNvPr>
          <p:cNvSpPr>
            <a:spLocks noGrp="1"/>
          </p:cNvSpPr>
          <p:nvPr>
            <p:ph type="ftr" sz="quarter" idx="11"/>
          </p:nvPr>
        </p:nvSpPr>
        <p:spPr/>
        <p:txBody>
          <a:bodyPr/>
          <a:lstStyle/>
          <a:p>
            <a:r>
              <a:rPr lang="en-GB"/>
              <a:t>Measurement and Description</a:t>
            </a:r>
            <a:endParaRPr lang="en-GB" dirty="0"/>
          </a:p>
        </p:txBody>
      </p:sp>
      <p:sp>
        <p:nvSpPr>
          <p:cNvPr id="4" name="Slide Number Placeholder 3">
            <a:extLst>
              <a:ext uri="{FF2B5EF4-FFF2-40B4-BE49-F238E27FC236}">
                <a16:creationId xmlns:a16="http://schemas.microsoft.com/office/drawing/2014/main" id="{E78A08FD-34E8-C6A7-32FF-C5698164ECFD}"/>
              </a:ext>
            </a:extLst>
          </p:cNvPr>
          <p:cNvSpPr>
            <a:spLocks noGrp="1"/>
          </p:cNvSpPr>
          <p:nvPr>
            <p:ph type="sldNum" sz="quarter" idx="12"/>
          </p:nvPr>
        </p:nvSpPr>
        <p:spPr/>
        <p:txBody>
          <a:bodyPr/>
          <a:lstStyle/>
          <a:p>
            <a:fld id="{9FAA51BB-2FC0-4DB8-B50E-F52D50E733B6}" type="slidenum">
              <a:rPr lang="en-GB" smtClean="0"/>
              <a:pPr/>
              <a:t>7</a:t>
            </a:fld>
            <a:endParaRPr lang="en-GB" dirty="0"/>
          </a:p>
        </p:txBody>
      </p:sp>
    </p:spTree>
    <p:extLst>
      <p:ext uri="{BB962C8B-B14F-4D97-AF65-F5344CB8AC3E}">
        <p14:creationId xmlns:p14="http://schemas.microsoft.com/office/powerpoint/2010/main" val="7495848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F6B73-4559-3BEC-8172-9CEC6EABB54F}"/>
              </a:ext>
            </a:extLst>
          </p:cNvPr>
          <p:cNvSpPr>
            <a:spLocks noGrp="1"/>
          </p:cNvSpPr>
          <p:nvPr>
            <p:ph type="title"/>
          </p:nvPr>
        </p:nvSpPr>
        <p:spPr/>
        <p:txBody>
          <a:bodyPr/>
          <a:lstStyle/>
          <a:p>
            <a:r>
              <a:rPr lang="en-GB" dirty="0" err="1"/>
              <a:t>BSA</a:t>
            </a:r>
            <a:r>
              <a:rPr lang="en-GB" dirty="0"/>
              <a:t> 2023</a:t>
            </a:r>
          </a:p>
        </p:txBody>
      </p:sp>
      <p:pic>
        <p:nvPicPr>
          <p:cNvPr id="7" name="Picture 6">
            <a:extLst>
              <a:ext uri="{FF2B5EF4-FFF2-40B4-BE49-F238E27FC236}">
                <a16:creationId xmlns:a16="http://schemas.microsoft.com/office/drawing/2014/main" id="{F00DFD60-7A36-8893-2020-41E083569D03}"/>
              </a:ext>
            </a:extLst>
          </p:cNvPr>
          <p:cNvPicPr>
            <a:picLocks noChangeAspect="1"/>
          </p:cNvPicPr>
          <p:nvPr/>
        </p:nvPicPr>
        <p:blipFill>
          <a:blip r:embed="rId2"/>
          <a:stretch>
            <a:fillRect/>
          </a:stretch>
        </p:blipFill>
        <p:spPr>
          <a:xfrm>
            <a:off x="838200" y="2160630"/>
            <a:ext cx="10881621" cy="3501639"/>
          </a:xfrm>
          <a:prstGeom prst="rect">
            <a:avLst/>
          </a:prstGeom>
        </p:spPr>
      </p:pic>
      <p:sp>
        <p:nvSpPr>
          <p:cNvPr id="3" name="Footer Placeholder 2">
            <a:extLst>
              <a:ext uri="{FF2B5EF4-FFF2-40B4-BE49-F238E27FC236}">
                <a16:creationId xmlns:a16="http://schemas.microsoft.com/office/drawing/2014/main" id="{4EAFF014-044D-6BDF-CC4B-FB701875BA21}"/>
              </a:ext>
            </a:extLst>
          </p:cNvPr>
          <p:cNvSpPr>
            <a:spLocks noGrp="1"/>
          </p:cNvSpPr>
          <p:nvPr>
            <p:ph type="ftr" sz="quarter" idx="11"/>
          </p:nvPr>
        </p:nvSpPr>
        <p:spPr/>
        <p:txBody>
          <a:bodyPr/>
          <a:lstStyle/>
          <a:p>
            <a:r>
              <a:rPr lang="en-GB"/>
              <a:t>Measurement and Description</a:t>
            </a:r>
            <a:endParaRPr lang="en-GB" dirty="0"/>
          </a:p>
        </p:txBody>
      </p:sp>
      <p:sp>
        <p:nvSpPr>
          <p:cNvPr id="4" name="Slide Number Placeholder 3">
            <a:extLst>
              <a:ext uri="{FF2B5EF4-FFF2-40B4-BE49-F238E27FC236}">
                <a16:creationId xmlns:a16="http://schemas.microsoft.com/office/drawing/2014/main" id="{731ED323-4124-DBB6-9186-1BB59DBFE093}"/>
              </a:ext>
            </a:extLst>
          </p:cNvPr>
          <p:cNvSpPr>
            <a:spLocks noGrp="1"/>
          </p:cNvSpPr>
          <p:nvPr>
            <p:ph type="sldNum" sz="quarter" idx="12"/>
          </p:nvPr>
        </p:nvSpPr>
        <p:spPr/>
        <p:txBody>
          <a:bodyPr/>
          <a:lstStyle/>
          <a:p>
            <a:fld id="{9FAA51BB-2FC0-4DB8-B50E-F52D50E733B6}" type="slidenum">
              <a:rPr lang="en-GB" smtClean="0"/>
              <a:pPr/>
              <a:t>8</a:t>
            </a:fld>
            <a:endParaRPr lang="en-GB" dirty="0"/>
          </a:p>
        </p:txBody>
      </p:sp>
    </p:spTree>
    <p:extLst>
      <p:ext uri="{BB962C8B-B14F-4D97-AF65-F5344CB8AC3E}">
        <p14:creationId xmlns:p14="http://schemas.microsoft.com/office/powerpoint/2010/main" val="37325556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376F5-92B9-4407-539E-413918141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D50F2-FD95-9115-3E41-6A8BC9BACAD8}"/>
              </a:ext>
            </a:extLst>
          </p:cNvPr>
          <p:cNvSpPr>
            <a:spLocks noGrp="1"/>
          </p:cNvSpPr>
          <p:nvPr>
            <p:ph type="title"/>
          </p:nvPr>
        </p:nvSpPr>
        <p:spPr/>
        <p:txBody>
          <a:bodyPr>
            <a:normAutofit fontScale="90000"/>
          </a:bodyPr>
          <a:lstStyle/>
          <a:p>
            <a:r>
              <a:rPr lang="en-GB" dirty="0" err="1"/>
              <a:t>BSA</a:t>
            </a:r>
            <a:r>
              <a:rPr lang="en-GB" dirty="0"/>
              <a:t> 2010 </a:t>
            </a:r>
            <a:br>
              <a:rPr lang="en-GB" dirty="0"/>
            </a:br>
            <a:r>
              <a:rPr lang="en-GB" dirty="0"/>
              <a:t>(SELF-COMPLETION QUESTIONNAIRE)</a:t>
            </a:r>
          </a:p>
        </p:txBody>
      </p:sp>
      <p:pic>
        <p:nvPicPr>
          <p:cNvPr id="4" name="Picture 3">
            <a:extLst>
              <a:ext uri="{FF2B5EF4-FFF2-40B4-BE49-F238E27FC236}">
                <a16:creationId xmlns:a16="http://schemas.microsoft.com/office/drawing/2014/main" id="{183616BA-8EC2-62F0-EFFF-DF6FE09512FA}"/>
              </a:ext>
            </a:extLst>
          </p:cNvPr>
          <p:cNvPicPr>
            <a:picLocks noChangeAspect="1"/>
          </p:cNvPicPr>
          <p:nvPr/>
        </p:nvPicPr>
        <p:blipFill>
          <a:blip r:embed="rId2"/>
          <a:stretch>
            <a:fillRect/>
          </a:stretch>
        </p:blipFill>
        <p:spPr>
          <a:xfrm>
            <a:off x="953729" y="2029331"/>
            <a:ext cx="9802761" cy="3701512"/>
          </a:xfrm>
          <a:prstGeom prst="rect">
            <a:avLst/>
          </a:prstGeom>
        </p:spPr>
      </p:pic>
      <p:sp>
        <p:nvSpPr>
          <p:cNvPr id="3" name="Footer Placeholder 2">
            <a:extLst>
              <a:ext uri="{FF2B5EF4-FFF2-40B4-BE49-F238E27FC236}">
                <a16:creationId xmlns:a16="http://schemas.microsoft.com/office/drawing/2014/main" id="{5DB22998-535D-5C02-BCD2-249DBB9A7169}"/>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46513790-69FE-3853-1DF3-48F87257241C}"/>
              </a:ext>
            </a:extLst>
          </p:cNvPr>
          <p:cNvSpPr>
            <a:spLocks noGrp="1"/>
          </p:cNvSpPr>
          <p:nvPr>
            <p:ph type="sldNum" sz="quarter" idx="12"/>
          </p:nvPr>
        </p:nvSpPr>
        <p:spPr/>
        <p:txBody>
          <a:bodyPr/>
          <a:lstStyle/>
          <a:p>
            <a:fld id="{9FAA51BB-2FC0-4DB8-B50E-F52D50E733B6}" type="slidenum">
              <a:rPr lang="en-GB" smtClean="0"/>
              <a:pPr/>
              <a:t>9</a:t>
            </a:fld>
            <a:endParaRPr lang="en-GB" dirty="0"/>
          </a:p>
        </p:txBody>
      </p:sp>
    </p:spTree>
    <p:extLst>
      <p:ext uri="{BB962C8B-B14F-4D97-AF65-F5344CB8AC3E}">
        <p14:creationId xmlns:p14="http://schemas.microsoft.com/office/powerpoint/2010/main" val="35479641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70ED-3993-8DF9-C3CC-93C2FCD638BD}"/>
              </a:ext>
            </a:extLst>
          </p:cNvPr>
          <p:cNvSpPr>
            <a:spLocks noGrp="1"/>
          </p:cNvSpPr>
          <p:nvPr>
            <p:ph type="title"/>
          </p:nvPr>
        </p:nvSpPr>
        <p:spPr/>
        <p:txBody>
          <a:bodyPr/>
          <a:lstStyle/>
          <a:p>
            <a:r>
              <a:rPr lang="en-GB" dirty="0" err="1"/>
              <a:t>BSA</a:t>
            </a:r>
            <a:r>
              <a:rPr lang="en-GB" dirty="0"/>
              <a:t> 2010 (</a:t>
            </a:r>
            <a:r>
              <a:rPr lang="en-GB" dirty="0" err="1"/>
              <a:t>Q828</a:t>
            </a:r>
            <a:r>
              <a:rPr lang="en-GB" dirty="0"/>
              <a:t>)</a:t>
            </a:r>
          </a:p>
        </p:txBody>
      </p:sp>
      <p:pic>
        <p:nvPicPr>
          <p:cNvPr id="5" name="Picture 4">
            <a:extLst>
              <a:ext uri="{FF2B5EF4-FFF2-40B4-BE49-F238E27FC236}">
                <a16:creationId xmlns:a16="http://schemas.microsoft.com/office/drawing/2014/main" id="{6F2D26E8-7DDA-96C5-54AD-5D97488045E8}"/>
              </a:ext>
            </a:extLst>
          </p:cNvPr>
          <p:cNvPicPr>
            <a:picLocks noChangeAspect="1"/>
          </p:cNvPicPr>
          <p:nvPr/>
        </p:nvPicPr>
        <p:blipFill>
          <a:blip r:embed="rId2"/>
          <a:stretch>
            <a:fillRect/>
          </a:stretch>
        </p:blipFill>
        <p:spPr>
          <a:xfrm>
            <a:off x="838200" y="2733867"/>
            <a:ext cx="10515601" cy="1817697"/>
          </a:xfrm>
          <a:prstGeom prst="rect">
            <a:avLst/>
          </a:prstGeom>
        </p:spPr>
      </p:pic>
      <p:sp>
        <p:nvSpPr>
          <p:cNvPr id="3" name="Footer Placeholder 2">
            <a:extLst>
              <a:ext uri="{FF2B5EF4-FFF2-40B4-BE49-F238E27FC236}">
                <a16:creationId xmlns:a16="http://schemas.microsoft.com/office/drawing/2014/main" id="{F54577E6-FA58-32B1-10AA-2DD3860A802D}"/>
              </a:ext>
            </a:extLst>
          </p:cNvPr>
          <p:cNvSpPr>
            <a:spLocks noGrp="1"/>
          </p:cNvSpPr>
          <p:nvPr>
            <p:ph type="ftr" sz="quarter" idx="11"/>
          </p:nvPr>
        </p:nvSpPr>
        <p:spPr/>
        <p:txBody>
          <a:bodyPr/>
          <a:lstStyle/>
          <a:p>
            <a:r>
              <a:rPr lang="en-GB"/>
              <a:t>Measurement and Description</a:t>
            </a:r>
            <a:endParaRPr lang="en-GB" dirty="0"/>
          </a:p>
        </p:txBody>
      </p:sp>
      <p:sp>
        <p:nvSpPr>
          <p:cNvPr id="4" name="Slide Number Placeholder 3">
            <a:extLst>
              <a:ext uri="{FF2B5EF4-FFF2-40B4-BE49-F238E27FC236}">
                <a16:creationId xmlns:a16="http://schemas.microsoft.com/office/drawing/2014/main" id="{9AE44104-9D5F-42D8-3A99-DADB2A83BDCE}"/>
              </a:ext>
            </a:extLst>
          </p:cNvPr>
          <p:cNvSpPr>
            <a:spLocks noGrp="1"/>
          </p:cNvSpPr>
          <p:nvPr>
            <p:ph type="sldNum" sz="quarter" idx="12"/>
          </p:nvPr>
        </p:nvSpPr>
        <p:spPr/>
        <p:txBody>
          <a:bodyPr/>
          <a:lstStyle/>
          <a:p>
            <a:fld id="{9FAA51BB-2FC0-4DB8-B50E-F52D50E733B6}" type="slidenum">
              <a:rPr lang="en-GB" smtClean="0"/>
              <a:pPr/>
              <a:t>10</a:t>
            </a:fld>
            <a:endParaRPr lang="en-GB" dirty="0"/>
          </a:p>
        </p:txBody>
      </p:sp>
    </p:spTree>
    <p:extLst>
      <p:ext uri="{BB962C8B-B14F-4D97-AF65-F5344CB8AC3E}">
        <p14:creationId xmlns:p14="http://schemas.microsoft.com/office/powerpoint/2010/main" val="40959426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3B922-B20B-5476-069E-B438F1A757F9}"/>
              </a:ext>
            </a:extLst>
          </p:cNvPr>
          <p:cNvSpPr>
            <a:spLocks noGrp="1"/>
          </p:cNvSpPr>
          <p:nvPr>
            <p:ph type="title"/>
          </p:nvPr>
        </p:nvSpPr>
        <p:spPr/>
        <p:txBody>
          <a:bodyPr/>
          <a:lstStyle/>
          <a:p>
            <a:r>
              <a:rPr lang="en-GB" dirty="0"/>
              <a:t>Citizenship Survey: 2010-11</a:t>
            </a:r>
          </a:p>
        </p:txBody>
      </p:sp>
      <p:pic>
        <p:nvPicPr>
          <p:cNvPr id="5" name="Picture 4">
            <a:extLst>
              <a:ext uri="{FF2B5EF4-FFF2-40B4-BE49-F238E27FC236}">
                <a16:creationId xmlns:a16="http://schemas.microsoft.com/office/drawing/2014/main" id="{C20E7805-3CDA-6E0F-864A-4423532B179E}"/>
              </a:ext>
            </a:extLst>
          </p:cNvPr>
          <p:cNvPicPr>
            <a:picLocks noChangeAspect="1"/>
          </p:cNvPicPr>
          <p:nvPr/>
        </p:nvPicPr>
        <p:blipFill>
          <a:blip r:embed="rId2"/>
          <a:stretch>
            <a:fillRect/>
          </a:stretch>
        </p:blipFill>
        <p:spPr>
          <a:xfrm>
            <a:off x="1467671" y="2457683"/>
            <a:ext cx="9810342" cy="2674826"/>
          </a:xfrm>
          <a:prstGeom prst="rect">
            <a:avLst/>
          </a:prstGeom>
        </p:spPr>
      </p:pic>
      <p:sp>
        <p:nvSpPr>
          <p:cNvPr id="3" name="Footer Placeholder 2">
            <a:extLst>
              <a:ext uri="{FF2B5EF4-FFF2-40B4-BE49-F238E27FC236}">
                <a16:creationId xmlns:a16="http://schemas.microsoft.com/office/drawing/2014/main" id="{FDF23A79-7F6F-6117-6783-245D768F1ABE}"/>
              </a:ext>
            </a:extLst>
          </p:cNvPr>
          <p:cNvSpPr>
            <a:spLocks noGrp="1"/>
          </p:cNvSpPr>
          <p:nvPr>
            <p:ph type="ftr" sz="quarter" idx="11"/>
          </p:nvPr>
        </p:nvSpPr>
        <p:spPr/>
        <p:txBody>
          <a:bodyPr/>
          <a:lstStyle/>
          <a:p>
            <a:r>
              <a:rPr lang="en-GB"/>
              <a:t>Measurement and Description</a:t>
            </a:r>
            <a:endParaRPr lang="en-GB" dirty="0"/>
          </a:p>
        </p:txBody>
      </p:sp>
      <p:sp>
        <p:nvSpPr>
          <p:cNvPr id="4" name="Slide Number Placeholder 3">
            <a:extLst>
              <a:ext uri="{FF2B5EF4-FFF2-40B4-BE49-F238E27FC236}">
                <a16:creationId xmlns:a16="http://schemas.microsoft.com/office/drawing/2014/main" id="{47019575-E590-BE1F-CF18-E0DE8470D55F}"/>
              </a:ext>
            </a:extLst>
          </p:cNvPr>
          <p:cNvSpPr>
            <a:spLocks noGrp="1"/>
          </p:cNvSpPr>
          <p:nvPr>
            <p:ph type="sldNum" sz="quarter" idx="12"/>
          </p:nvPr>
        </p:nvSpPr>
        <p:spPr/>
        <p:txBody>
          <a:bodyPr/>
          <a:lstStyle/>
          <a:p>
            <a:fld id="{9FAA51BB-2FC0-4DB8-B50E-F52D50E733B6}" type="slidenum">
              <a:rPr lang="en-GB" smtClean="0"/>
              <a:pPr/>
              <a:t>11</a:t>
            </a:fld>
            <a:endParaRPr lang="en-GB" dirty="0"/>
          </a:p>
        </p:txBody>
      </p:sp>
    </p:spTree>
    <p:extLst>
      <p:ext uri="{BB962C8B-B14F-4D97-AF65-F5344CB8AC3E}">
        <p14:creationId xmlns:p14="http://schemas.microsoft.com/office/powerpoint/2010/main" val="10140273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35FF-172F-604D-2961-E8F42A5A03CD}"/>
              </a:ext>
            </a:extLst>
          </p:cNvPr>
          <p:cNvSpPr>
            <a:spLocks noGrp="1"/>
          </p:cNvSpPr>
          <p:nvPr>
            <p:ph type="title"/>
          </p:nvPr>
        </p:nvSpPr>
        <p:spPr/>
        <p:txBody>
          <a:bodyPr/>
          <a:lstStyle/>
          <a:p>
            <a:r>
              <a:rPr lang="en-GB" dirty="0"/>
              <a:t>CLS 2023-24</a:t>
            </a:r>
          </a:p>
        </p:txBody>
      </p:sp>
      <p:pic>
        <p:nvPicPr>
          <p:cNvPr id="5" name="Picture 4">
            <a:extLst>
              <a:ext uri="{FF2B5EF4-FFF2-40B4-BE49-F238E27FC236}">
                <a16:creationId xmlns:a16="http://schemas.microsoft.com/office/drawing/2014/main" id="{C198C24C-C87F-1E08-C594-CBFFE69E3C00}"/>
              </a:ext>
            </a:extLst>
          </p:cNvPr>
          <p:cNvPicPr>
            <a:picLocks noChangeAspect="1"/>
          </p:cNvPicPr>
          <p:nvPr/>
        </p:nvPicPr>
        <p:blipFill>
          <a:blip r:embed="rId2"/>
          <a:stretch>
            <a:fillRect/>
          </a:stretch>
        </p:blipFill>
        <p:spPr>
          <a:xfrm>
            <a:off x="2006889" y="1517224"/>
            <a:ext cx="8335538" cy="4629796"/>
          </a:xfrm>
          <a:prstGeom prst="rect">
            <a:avLst/>
          </a:prstGeom>
        </p:spPr>
      </p:pic>
      <p:sp>
        <p:nvSpPr>
          <p:cNvPr id="3" name="Footer Placeholder 2">
            <a:extLst>
              <a:ext uri="{FF2B5EF4-FFF2-40B4-BE49-F238E27FC236}">
                <a16:creationId xmlns:a16="http://schemas.microsoft.com/office/drawing/2014/main" id="{AADDDF3C-A983-341A-4498-765B09DD3737}"/>
              </a:ext>
            </a:extLst>
          </p:cNvPr>
          <p:cNvSpPr>
            <a:spLocks noGrp="1"/>
          </p:cNvSpPr>
          <p:nvPr>
            <p:ph type="ftr" sz="quarter" idx="11"/>
          </p:nvPr>
        </p:nvSpPr>
        <p:spPr/>
        <p:txBody>
          <a:bodyPr/>
          <a:lstStyle/>
          <a:p>
            <a:r>
              <a:rPr lang="en-GB"/>
              <a:t>Measurement and Description</a:t>
            </a:r>
            <a:endParaRPr lang="en-GB" dirty="0"/>
          </a:p>
        </p:txBody>
      </p:sp>
      <p:sp>
        <p:nvSpPr>
          <p:cNvPr id="4" name="Slide Number Placeholder 3">
            <a:extLst>
              <a:ext uri="{FF2B5EF4-FFF2-40B4-BE49-F238E27FC236}">
                <a16:creationId xmlns:a16="http://schemas.microsoft.com/office/drawing/2014/main" id="{F313B6AE-6596-C7C8-2AF7-7DD5BCDC0B11}"/>
              </a:ext>
            </a:extLst>
          </p:cNvPr>
          <p:cNvSpPr>
            <a:spLocks noGrp="1"/>
          </p:cNvSpPr>
          <p:nvPr>
            <p:ph type="sldNum" sz="quarter" idx="12"/>
          </p:nvPr>
        </p:nvSpPr>
        <p:spPr/>
        <p:txBody>
          <a:bodyPr/>
          <a:lstStyle/>
          <a:p>
            <a:fld id="{9FAA51BB-2FC0-4DB8-B50E-F52D50E733B6}" type="slidenum">
              <a:rPr lang="en-GB" smtClean="0"/>
              <a:pPr/>
              <a:t>12</a:t>
            </a:fld>
            <a:endParaRPr lang="en-GB" dirty="0"/>
          </a:p>
        </p:txBody>
      </p:sp>
    </p:spTree>
    <p:extLst>
      <p:ext uri="{BB962C8B-B14F-4D97-AF65-F5344CB8AC3E}">
        <p14:creationId xmlns:p14="http://schemas.microsoft.com/office/powerpoint/2010/main" val="21260358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1F0D9-5A48-148E-F22D-2492926AFA90}"/>
              </a:ext>
            </a:extLst>
          </p:cNvPr>
          <p:cNvSpPr>
            <a:spLocks noGrp="1"/>
          </p:cNvSpPr>
          <p:nvPr>
            <p:ph type="title"/>
          </p:nvPr>
        </p:nvSpPr>
        <p:spPr/>
        <p:txBody>
          <a:bodyPr/>
          <a:lstStyle/>
          <a:p>
            <a:r>
              <a:rPr lang="en-GB" dirty="0"/>
              <a:t>Variables in a dataset</a:t>
            </a:r>
          </a:p>
        </p:txBody>
      </p:sp>
      <p:sp>
        <p:nvSpPr>
          <p:cNvPr id="5" name="Footer Placeholder 4">
            <a:extLst>
              <a:ext uri="{FF2B5EF4-FFF2-40B4-BE49-F238E27FC236}">
                <a16:creationId xmlns:a16="http://schemas.microsoft.com/office/drawing/2014/main" id="{A0321A74-7AA4-A23C-0092-8B71BFD950AF}"/>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2DBC1139-307D-D7C6-78D2-99834F260C1F}"/>
              </a:ext>
            </a:extLst>
          </p:cNvPr>
          <p:cNvSpPr>
            <a:spLocks noGrp="1"/>
          </p:cNvSpPr>
          <p:nvPr>
            <p:ph type="sldNum" sz="quarter" idx="12"/>
          </p:nvPr>
        </p:nvSpPr>
        <p:spPr/>
        <p:txBody>
          <a:bodyPr/>
          <a:lstStyle/>
          <a:p>
            <a:fld id="{9FAA51BB-2FC0-4DB8-B50E-F52D50E733B6}" type="slidenum">
              <a:rPr lang="en-GB" smtClean="0"/>
              <a:pPr/>
              <a:t>13</a:t>
            </a:fld>
            <a:endParaRPr lang="en-GB" dirty="0"/>
          </a:p>
        </p:txBody>
      </p:sp>
      <p:pic>
        <p:nvPicPr>
          <p:cNvPr id="8" name="Picture 7">
            <a:extLst>
              <a:ext uri="{FF2B5EF4-FFF2-40B4-BE49-F238E27FC236}">
                <a16:creationId xmlns:a16="http://schemas.microsoft.com/office/drawing/2014/main" id="{B2270D3B-103F-2A9C-1BED-96FD2DA4E5BC}"/>
              </a:ext>
            </a:extLst>
          </p:cNvPr>
          <p:cNvPicPr>
            <a:picLocks noChangeAspect="1"/>
          </p:cNvPicPr>
          <p:nvPr/>
        </p:nvPicPr>
        <p:blipFill>
          <a:blip r:embed="rId3"/>
          <a:stretch>
            <a:fillRect/>
          </a:stretch>
        </p:blipFill>
        <p:spPr>
          <a:xfrm>
            <a:off x="873996" y="1302518"/>
            <a:ext cx="8803178" cy="4881384"/>
          </a:xfrm>
          <a:prstGeom prst="rect">
            <a:avLst/>
          </a:prstGeom>
        </p:spPr>
      </p:pic>
    </p:spTree>
    <p:extLst>
      <p:ext uri="{BB962C8B-B14F-4D97-AF65-F5344CB8AC3E}">
        <p14:creationId xmlns:p14="http://schemas.microsoft.com/office/powerpoint/2010/main" val="8984580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1F0D9-5A48-148E-F22D-2492926AFA90}"/>
              </a:ext>
            </a:extLst>
          </p:cNvPr>
          <p:cNvSpPr>
            <a:spLocks noGrp="1"/>
          </p:cNvSpPr>
          <p:nvPr>
            <p:ph type="title"/>
          </p:nvPr>
        </p:nvSpPr>
        <p:spPr/>
        <p:txBody>
          <a:bodyPr/>
          <a:lstStyle/>
          <a:p>
            <a:r>
              <a:rPr lang="en-GB" dirty="0"/>
              <a:t>Variables in a dataset</a:t>
            </a:r>
          </a:p>
        </p:txBody>
      </p:sp>
      <p:sp>
        <p:nvSpPr>
          <p:cNvPr id="5" name="Footer Placeholder 4">
            <a:extLst>
              <a:ext uri="{FF2B5EF4-FFF2-40B4-BE49-F238E27FC236}">
                <a16:creationId xmlns:a16="http://schemas.microsoft.com/office/drawing/2014/main" id="{A0321A74-7AA4-A23C-0092-8B71BFD950AF}"/>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2DBC1139-307D-D7C6-78D2-99834F260C1F}"/>
              </a:ext>
            </a:extLst>
          </p:cNvPr>
          <p:cNvSpPr>
            <a:spLocks noGrp="1"/>
          </p:cNvSpPr>
          <p:nvPr>
            <p:ph type="sldNum" sz="quarter" idx="12"/>
          </p:nvPr>
        </p:nvSpPr>
        <p:spPr/>
        <p:txBody>
          <a:bodyPr/>
          <a:lstStyle/>
          <a:p>
            <a:fld id="{9FAA51BB-2FC0-4DB8-B50E-F52D50E733B6}" type="slidenum">
              <a:rPr lang="en-GB" smtClean="0"/>
              <a:pPr/>
              <a:t>14</a:t>
            </a:fld>
            <a:endParaRPr lang="en-GB" dirty="0"/>
          </a:p>
        </p:txBody>
      </p:sp>
      <p:pic>
        <p:nvPicPr>
          <p:cNvPr id="8" name="Picture 7">
            <a:extLst>
              <a:ext uri="{FF2B5EF4-FFF2-40B4-BE49-F238E27FC236}">
                <a16:creationId xmlns:a16="http://schemas.microsoft.com/office/drawing/2014/main" id="{B2270D3B-103F-2A9C-1BED-96FD2DA4E5BC}"/>
              </a:ext>
            </a:extLst>
          </p:cNvPr>
          <p:cNvPicPr>
            <a:picLocks noChangeAspect="1"/>
          </p:cNvPicPr>
          <p:nvPr/>
        </p:nvPicPr>
        <p:blipFill>
          <a:blip r:embed="rId3"/>
          <a:stretch>
            <a:fillRect/>
          </a:stretch>
        </p:blipFill>
        <p:spPr>
          <a:xfrm>
            <a:off x="873996" y="1302518"/>
            <a:ext cx="8803178" cy="4881384"/>
          </a:xfrm>
          <a:prstGeom prst="rect">
            <a:avLst/>
          </a:prstGeom>
        </p:spPr>
      </p:pic>
      <p:sp>
        <p:nvSpPr>
          <p:cNvPr id="18" name="Rectangle 17">
            <a:extLst>
              <a:ext uri="{FF2B5EF4-FFF2-40B4-BE49-F238E27FC236}">
                <a16:creationId xmlns:a16="http://schemas.microsoft.com/office/drawing/2014/main" id="{0A6B4BD8-3553-0D82-6F18-E498715C695E}"/>
              </a:ext>
            </a:extLst>
          </p:cNvPr>
          <p:cNvSpPr/>
          <p:nvPr/>
        </p:nvSpPr>
        <p:spPr>
          <a:xfrm>
            <a:off x="873996" y="1924493"/>
            <a:ext cx="2135018" cy="212651"/>
          </a:xfrm>
          <a:prstGeom prst="rect">
            <a:avLst/>
          </a:prstGeom>
          <a:solidFill>
            <a:srgbClr val="FF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C7AA7184-ECFA-A188-14D3-C0836E0FD6BA}"/>
              </a:ext>
            </a:extLst>
          </p:cNvPr>
          <p:cNvSpPr/>
          <p:nvPr/>
        </p:nvSpPr>
        <p:spPr>
          <a:xfrm>
            <a:off x="3009014" y="1924493"/>
            <a:ext cx="2817628" cy="212651"/>
          </a:xfrm>
          <a:prstGeom prst="rect">
            <a:avLst/>
          </a:prstGeom>
          <a:solidFill>
            <a:srgbClr val="FF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A35BF732-3AAD-387B-73E7-06D7DF39EFED}"/>
              </a:ext>
            </a:extLst>
          </p:cNvPr>
          <p:cNvSpPr/>
          <p:nvPr/>
        </p:nvSpPr>
        <p:spPr>
          <a:xfrm>
            <a:off x="873996" y="2162666"/>
            <a:ext cx="2135018" cy="212651"/>
          </a:xfrm>
          <a:prstGeom prst="rect">
            <a:avLst/>
          </a:prstGeom>
          <a:solidFill>
            <a:srgbClr val="FF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4BB4D75F-F6F9-C3E0-F709-814AAB64D1B8}"/>
              </a:ext>
            </a:extLst>
          </p:cNvPr>
          <p:cNvSpPr/>
          <p:nvPr/>
        </p:nvSpPr>
        <p:spPr>
          <a:xfrm>
            <a:off x="1616149" y="2783496"/>
            <a:ext cx="382772" cy="767778"/>
          </a:xfrm>
          <a:prstGeom prst="rect">
            <a:avLst/>
          </a:prstGeom>
          <a:solidFill>
            <a:srgbClr val="FF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EDE75385-D404-25BD-7E4C-EAF671C0923E}"/>
              </a:ext>
            </a:extLst>
          </p:cNvPr>
          <p:cNvSpPr/>
          <p:nvPr/>
        </p:nvSpPr>
        <p:spPr>
          <a:xfrm>
            <a:off x="1998920" y="2783496"/>
            <a:ext cx="1318437" cy="767778"/>
          </a:xfrm>
          <a:prstGeom prst="rect">
            <a:avLst/>
          </a:prstGeom>
          <a:solidFill>
            <a:srgbClr val="FF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633716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1F0D9-5A48-148E-F22D-2492926AFA90}"/>
              </a:ext>
            </a:extLst>
          </p:cNvPr>
          <p:cNvSpPr>
            <a:spLocks noGrp="1"/>
          </p:cNvSpPr>
          <p:nvPr>
            <p:ph type="title"/>
          </p:nvPr>
        </p:nvSpPr>
        <p:spPr/>
        <p:txBody>
          <a:bodyPr/>
          <a:lstStyle/>
          <a:p>
            <a:r>
              <a:rPr lang="en-GB" dirty="0"/>
              <a:t>Variables in a dataset</a:t>
            </a:r>
          </a:p>
        </p:txBody>
      </p:sp>
      <p:sp>
        <p:nvSpPr>
          <p:cNvPr id="5" name="Footer Placeholder 4">
            <a:extLst>
              <a:ext uri="{FF2B5EF4-FFF2-40B4-BE49-F238E27FC236}">
                <a16:creationId xmlns:a16="http://schemas.microsoft.com/office/drawing/2014/main" id="{A0321A74-7AA4-A23C-0092-8B71BFD950AF}"/>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2DBC1139-307D-D7C6-78D2-99834F260C1F}"/>
              </a:ext>
            </a:extLst>
          </p:cNvPr>
          <p:cNvSpPr>
            <a:spLocks noGrp="1"/>
          </p:cNvSpPr>
          <p:nvPr>
            <p:ph type="sldNum" sz="quarter" idx="12"/>
          </p:nvPr>
        </p:nvSpPr>
        <p:spPr/>
        <p:txBody>
          <a:bodyPr/>
          <a:lstStyle/>
          <a:p>
            <a:fld id="{9FAA51BB-2FC0-4DB8-B50E-F52D50E733B6}" type="slidenum">
              <a:rPr lang="en-GB" smtClean="0"/>
              <a:pPr/>
              <a:t>15</a:t>
            </a:fld>
            <a:endParaRPr lang="en-GB" dirty="0"/>
          </a:p>
        </p:txBody>
      </p:sp>
      <p:pic>
        <p:nvPicPr>
          <p:cNvPr id="8" name="Picture 7">
            <a:extLst>
              <a:ext uri="{FF2B5EF4-FFF2-40B4-BE49-F238E27FC236}">
                <a16:creationId xmlns:a16="http://schemas.microsoft.com/office/drawing/2014/main" id="{B2270D3B-103F-2A9C-1BED-96FD2DA4E5B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57263" y="1302518"/>
            <a:ext cx="8636644" cy="4881384"/>
          </a:xfrm>
          <a:prstGeom prst="rect">
            <a:avLst/>
          </a:prstGeom>
        </p:spPr>
      </p:pic>
      <p:sp>
        <p:nvSpPr>
          <p:cNvPr id="18" name="Rectangle 17">
            <a:extLst>
              <a:ext uri="{FF2B5EF4-FFF2-40B4-BE49-F238E27FC236}">
                <a16:creationId xmlns:a16="http://schemas.microsoft.com/office/drawing/2014/main" id="{0A6B4BD8-3553-0D82-6F18-E498715C695E}"/>
              </a:ext>
            </a:extLst>
          </p:cNvPr>
          <p:cNvSpPr/>
          <p:nvPr/>
        </p:nvSpPr>
        <p:spPr>
          <a:xfrm>
            <a:off x="1097280" y="2583712"/>
            <a:ext cx="2071222" cy="1414130"/>
          </a:xfrm>
          <a:prstGeom prst="rect">
            <a:avLst/>
          </a:prstGeom>
          <a:solidFill>
            <a:srgbClr val="FF0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655058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8804-72A9-4C86-A722-3B7579EC5F17}"/>
              </a:ext>
            </a:extLst>
          </p:cNvPr>
          <p:cNvSpPr>
            <a:spLocks noGrp="1"/>
          </p:cNvSpPr>
          <p:nvPr>
            <p:ph type="title"/>
          </p:nvPr>
        </p:nvSpPr>
        <p:spPr/>
        <p:txBody>
          <a:bodyPr>
            <a:normAutofit/>
          </a:bodyPr>
          <a:lstStyle/>
          <a:p>
            <a:r>
              <a:rPr lang="en-GB" dirty="0"/>
              <a:t>Describing data</a:t>
            </a:r>
          </a:p>
        </p:txBody>
      </p:sp>
      <p:graphicFrame>
        <p:nvGraphicFramePr>
          <p:cNvPr id="5" name="Content Placeholder 2">
            <a:extLst>
              <a:ext uri="{FF2B5EF4-FFF2-40B4-BE49-F238E27FC236}">
                <a16:creationId xmlns:a16="http://schemas.microsoft.com/office/drawing/2014/main" id="{5FA5CA1B-4772-44B7-97DA-8331ADEE2739}"/>
              </a:ext>
            </a:extLst>
          </p:cNvPr>
          <p:cNvGraphicFramePr>
            <a:graphicFrameLocks noGrp="1"/>
          </p:cNvGraphicFramePr>
          <p:nvPr>
            <p:ph idx="1"/>
            <p:extLst>
              <p:ext uri="{D42A27DB-BD31-4B8C-83A1-F6EECF244321}">
                <p14:modId xmlns:p14="http://schemas.microsoft.com/office/powerpoint/2010/main" val="2597015423"/>
              </p:ext>
            </p:extLst>
          </p:nvPr>
        </p:nvGraphicFramePr>
        <p:xfrm>
          <a:off x="757238" y="1477963"/>
          <a:ext cx="10398125" cy="46815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AF3C4C99-C4A6-3329-862D-1186C3716CF7}"/>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D3526AB9-94E4-4749-1B52-32755A1873C2}"/>
              </a:ext>
            </a:extLst>
          </p:cNvPr>
          <p:cNvSpPr>
            <a:spLocks noGrp="1"/>
          </p:cNvSpPr>
          <p:nvPr>
            <p:ph type="sldNum" sz="quarter" idx="12"/>
          </p:nvPr>
        </p:nvSpPr>
        <p:spPr/>
        <p:txBody>
          <a:bodyPr/>
          <a:lstStyle/>
          <a:p>
            <a:fld id="{9FAA51BB-2FC0-4DB8-B50E-F52D50E733B6}" type="slidenum">
              <a:rPr lang="en-GB" smtClean="0"/>
              <a:pPr/>
              <a:t>16</a:t>
            </a:fld>
            <a:endParaRPr lang="en-GB" dirty="0"/>
          </a:p>
        </p:txBody>
      </p:sp>
    </p:spTree>
    <p:extLst>
      <p:ext uri="{BB962C8B-B14F-4D97-AF65-F5344CB8AC3E}">
        <p14:creationId xmlns:p14="http://schemas.microsoft.com/office/powerpoint/2010/main" val="2694924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8804-72A9-4C86-A722-3B7579EC5F17}"/>
              </a:ext>
            </a:extLst>
          </p:cNvPr>
          <p:cNvSpPr>
            <a:spLocks noGrp="1"/>
          </p:cNvSpPr>
          <p:nvPr>
            <p:ph type="title"/>
          </p:nvPr>
        </p:nvSpPr>
        <p:spPr/>
        <p:txBody>
          <a:bodyPr>
            <a:normAutofit/>
          </a:bodyPr>
          <a:lstStyle/>
          <a:p>
            <a:r>
              <a:rPr lang="en-GB" dirty="0"/>
              <a:t>Describing data</a:t>
            </a:r>
          </a:p>
        </p:txBody>
      </p:sp>
      <p:graphicFrame>
        <p:nvGraphicFramePr>
          <p:cNvPr id="5" name="Content Placeholder 2">
            <a:extLst>
              <a:ext uri="{FF2B5EF4-FFF2-40B4-BE49-F238E27FC236}">
                <a16:creationId xmlns:a16="http://schemas.microsoft.com/office/drawing/2014/main" id="{5FA5CA1B-4772-44B7-97DA-8331ADEE2739}"/>
              </a:ext>
            </a:extLst>
          </p:cNvPr>
          <p:cNvGraphicFramePr>
            <a:graphicFrameLocks noGrp="1"/>
          </p:cNvGraphicFramePr>
          <p:nvPr>
            <p:ph idx="1"/>
            <p:extLst>
              <p:ext uri="{D42A27DB-BD31-4B8C-83A1-F6EECF244321}">
                <p14:modId xmlns:p14="http://schemas.microsoft.com/office/powerpoint/2010/main" val="4062915251"/>
              </p:ext>
            </p:extLst>
          </p:nvPr>
        </p:nvGraphicFramePr>
        <p:xfrm>
          <a:off x="757238" y="1477963"/>
          <a:ext cx="10398125" cy="46815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AF3C4C99-C4A6-3329-862D-1186C3716CF7}"/>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D3526AB9-94E4-4749-1B52-32755A1873C2}"/>
              </a:ext>
            </a:extLst>
          </p:cNvPr>
          <p:cNvSpPr>
            <a:spLocks noGrp="1"/>
          </p:cNvSpPr>
          <p:nvPr>
            <p:ph type="sldNum" sz="quarter" idx="12"/>
          </p:nvPr>
        </p:nvSpPr>
        <p:spPr/>
        <p:txBody>
          <a:bodyPr/>
          <a:lstStyle/>
          <a:p>
            <a:fld id="{9FAA51BB-2FC0-4DB8-B50E-F52D50E733B6}" type="slidenum">
              <a:rPr lang="en-GB" smtClean="0"/>
              <a:pPr/>
              <a:t>17</a:t>
            </a:fld>
            <a:endParaRPr lang="en-GB" dirty="0"/>
          </a:p>
        </p:txBody>
      </p:sp>
    </p:spTree>
    <p:extLst>
      <p:ext uri="{BB962C8B-B14F-4D97-AF65-F5344CB8AC3E}">
        <p14:creationId xmlns:p14="http://schemas.microsoft.com/office/powerpoint/2010/main" val="20415299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p:nvPr/>
        </p:nvSpPr>
        <p:spPr>
          <a:xfrm>
            <a:off x="4886626" y="1634836"/>
            <a:ext cx="1917286" cy="769539"/>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a:solidFill>
                  <a:srgbClr val="FFFFFF"/>
                </a:solidFill>
                <a:uFillTx/>
                <a:latin typeface="Calibri"/>
              </a:rPr>
              <a:t>Data</a:t>
            </a:r>
          </a:p>
        </p:txBody>
      </p:sp>
      <p:sp>
        <p:nvSpPr>
          <p:cNvPr id="3" name="Rectangle 4"/>
          <p:cNvSpPr/>
          <p:nvPr/>
        </p:nvSpPr>
        <p:spPr>
          <a:xfrm>
            <a:off x="2353898" y="2729571"/>
            <a:ext cx="1563331" cy="914400"/>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FFFFFF"/>
                </a:solidFill>
                <a:uFillTx/>
                <a:latin typeface="Calibri"/>
              </a:rPr>
              <a:t>Numerical</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FFFFFF"/>
                </a:solidFill>
                <a:uFillTx/>
                <a:latin typeface="Calibri"/>
              </a:rPr>
              <a:t>(Quantitative)</a:t>
            </a:r>
          </a:p>
        </p:txBody>
      </p:sp>
      <p:sp>
        <p:nvSpPr>
          <p:cNvPr id="4" name="Rectangle 5"/>
          <p:cNvSpPr/>
          <p:nvPr/>
        </p:nvSpPr>
        <p:spPr>
          <a:xfrm>
            <a:off x="7773056" y="2729571"/>
            <a:ext cx="1764892" cy="914400"/>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Calibri"/>
              </a:rPr>
              <a:t>Categorical</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Calibri"/>
              </a:rPr>
              <a:t>(Qualitative)</a:t>
            </a:r>
          </a:p>
        </p:txBody>
      </p:sp>
      <p:cxnSp>
        <p:nvCxnSpPr>
          <p:cNvPr id="5" name="Straight Arrow Connector 6"/>
          <p:cNvCxnSpPr>
            <a:cxnSpLocks/>
          </p:cNvCxnSpPr>
          <p:nvPr/>
        </p:nvCxnSpPr>
        <p:spPr>
          <a:xfrm>
            <a:off x="6803912" y="2422546"/>
            <a:ext cx="969144" cy="307025"/>
          </a:xfrm>
          <a:prstGeom prst="straightConnector1">
            <a:avLst/>
          </a:prstGeom>
          <a:noFill/>
          <a:ln w="6345" cap="flat">
            <a:solidFill>
              <a:srgbClr val="5B9BD5"/>
            </a:solidFill>
            <a:prstDash val="solid"/>
            <a:miter/>
            <a:tailEnd type="arrow"/>
          </a:ln>
        </p:spPr>
      </p:cxnSp>
      <p:cxnSp>
        <p:nvCxnSpPr>
          <p:cNvPr id="6" name="Straight Arrow Connector 7"/>
          <p:cNvCxnSpPr>
            <a:cxnSpLocks/>
          </p:cNvCxnSpPr>
          <p:nvPr/>
        </p:nvCxnSpPr>
        <p:spPr>
          <a:xfrm flipH="1">
            <a:off x="3917229" y="2398432"/>
            <a:ext cx="969398" cy="331139"/>
          </a:xfrm>
          <a:prstGeom prst="straightConnector1">
            <a:avLst/>
          </a:prstGeom>
          <a:noFill/>
          <a:ln w="6345" cap="flat">
            <a:solidFill>
              <a:srgbClr val="5B9BD5"/>
            </a:solidFill>
            <a:prstDash val="solid"/>
            <a:miter/>
            <a:tailEnd type="arrow"/>
          </a:ln>
        </p:spPr>
      </p:cxnSp>
      <p:sp>
        <p:nvSpPr>
          <p:cNvPr id="7" name="Rectangle 8"/>
          <p:cNvSpPr/>
          <p:nvPr/>
        </p:nvSpPr>
        <p:spPr>
          <a:xfrm>
            <a:off x="1362866" y="3854081"/>
            <a:ext cx="1563331" cy="914400"/>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FFFFFF"/>
                </a:solidFill>
                <a:uFillTx/>
                <a:latin typeface="Calibri"/>
              </a:rPr>
              <a:t>Ratio</a:t>
            </a:r>
          </a:p>
        </p:txBody>
      </p:sp>
      <p:sp>
        <p:nvSpPr>
          <p:cNvPr id="8" name="Rectangle 9"/>
          <p:cNvSpPr/>
          <p:nvPr/>
        </p:nvSpPr>
        <p:spPr>
          <a:xfrm>
            <a:off x="3323295" y="3854081"/>
            <a:ext cx="1563331" cy="914400"/>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dirty="0">
                <a:solidFill>
                  <a:srgbClr val="FFFFFF"/>
                </a:solidFill>
                <a:latin typeface="Calibri"/>
              </a:rPr>
              <a:t>I</a:t>
            </a:r>
            <a:r>
              <a:rPr lang="en-GB" sz="1800" b="0" i="0" u="none" strike="noStrike" kern="1200" cap="none" spc="0" baseline="0" dirty="0">
                <a:solidFill>
                  <a:srgbClr val="FFFFFF"/>
                </a:solidFill>
                <a:uFillTx/>
                <a:latin typeface="Calibri"/>
              </a:rPr>
              <a:t>nterval</a:t>
            </a:r>
          </a:p>
        </p:txBody>
      </p:sp>
      <p:sp>
        <p:nvSpPr>
          <p:cNvPr id="9" name="Rectangle 10"/>
          <p:cNvSpPr/>
          <p:nvPr/>
        </p:nvSpPr>
        <p:spPr>
          <a:xfrm>
            <a:off x="6394314" y="3854081"/>
            <a:ext cx="1563331" cy="914400"/>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FFFFFF"/>
                </a:solidFill>
                <a:uFillTx/>
                <a:latin typeface="Calibri"/>
              </a:rPr>
              <a:t>Ordinal, </a:t>
            </a:r>
            <a:r>
              <a:rPr lang="en-GB" sz="1400" b="0" i="0" u="none" strike="noStrike" kern="1200" cap="none" spc="0" baseline="0" dirty="0">
                <a:solidFill>
                  <a:srgbClr val="FFFFFF"/>
                </a:solidFill>
                <a:uFillTx/>
                <a:latin typeface="Calibri"/>
              </a:rPr>
              <a:t>categories you can rank</a:t>
            </a:r>
            <a:endParaRPr lang="en-GB" sz="1800" b="0" i="0" u="none" strike="noStrike" kern="1200" cap="none" spc="0" baseline="0" dirty="0">
              <a:solidFill>
                <a:srgbClr val="FFFFFF"/>
              </a:solidFill>
              <a:uFillTx/>
              <a:latin typeface="Calibri"/>
            </a:endParaRPr>
          </a:p>
        </p:txBody>
      </p:sp>
      <p:sp>
        <p:nvSpPr>
          <p:cNvPr id="10" name="Rectangle 11"/>
          <p:cNvSpPr/>
          <p:nvPr/>
        </p:nvSpPr>
        <p:spPr>
          <a:xfrm>
            <a:off x="8354743" y="3854081"/>
            <a:ext cx="1563331" cy="914400"/>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Calibri"/>
              </a:rPr>
              <a:t>Nominal, </a:t>
            </a:r>
            <a:r>
              <a:rPr lang="en-GB" sz="1400" b="0" i="0" u="none" strike="noStrike" kern="1200" cap="none" spc="0" baseline="0">
                <a:solidFill>
                  <a:srgbClr val="FFFFFF"/>
                </a:solidFill>
                <a:uFillTx/>
                <a:latin typeface="Calibri"/>
              </a:rPr>
              <a:t>categories without order or direction</a:t>
            </a:r>
          </a:p>
        </p:txBody>
      </p:sp>
      <p:sp>
        <p:nvSpPr>
          <p:cNvPr id="11" name="Rectangle 12"/>
          <p:cNvSpPr/>
          <p:nvPr/>
        </p:nvSpPr>
        <p:spPr>
          <a:xfrm>
            <a:off x="9136408" y="4990275"/>
            <a:ext cx="1563331" cy="914400"/>
          </a:xfrm>
          <a:prstGeom prst="rect">
            <a:avLst/>
          </a:prstGeom>
          <a:solidFill>
            <a:schemeClr val="accent4">
              <a:lumMod val="75000"/>
            </a:schemeClr>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Calibri"/>
              </a:rPr>
              <a:t>e.g. gender</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Calibri"/>
              </a:rPr>
              <a:t>Marital status</a:t>
            </a:r>
          </a:p>
        </p:txBody>
      </p:sp>
      <p:sp>
        <p:nvSpPr>
          <p:cNvPr id="12" name="Rectangle 13"/>
          <p:cNvSpPr/>
          <p:nvPr/>
        </p:nvSpPr>
        <p:spPr>
          <a:xfrm>
            <a:off x="6394315" y="4990275"/>
            <a:ext cx="1563331" cy="914400"/>
          </a:xfrm>
          <a:prstGeom prst="rect">
            <a:avLst/>
          </a:prstGeom>
          <a:solidFill>
            <a:schemeClr val="accent4">
              <a:lumMod val="75000"/>
            </a:schemeClr>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600" b="0" i="0" u="none" strike="noStrike" kern="1200" cap="none" spc="0" baseline="0" dirty="0">
              <a:solidFill>
                <a:srgbClr val="FFFFFF"/>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600" b="0" i="0" u="none" strike="noStrike" kern="1200" cap="none" spc="0" baseline="0" dirty="0">
                <a:solidFill>
                  <a:srgbClr val="FFFFFF"/>
                </a:solidFill>
                <a:uFillTx/>
                <a:latin typeface="Calibri"/>
              </a:rPr>
              <a:t>e.g. educational attainment, satisfaction</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dirty="0">
              <a:solidFill>
                <a:srgbClr val="FFFFFF"/>
              </a:solidFill>
              <a:uFillTx/>
              <a:latin typeface="Calibri"/>
            </a:endParaRPr>
          </a:p>
        </p:txBody>
      </p:sp>
      <p:sp>
        <p:nvSpPr>
          <p:cNvPr id="13" name="Rectangle 14"/>
          <p:cNvSpPr/>
          <p:nvPr/>
        </p:nvSpPr>
        <p:spPr>
          <a:xfrm>
            <a:off x="3295474" y="4990275"/>
            <a:ext cx="1563331" cy="914400"/>
          </a:xfrm>
          <a:prstGeom prst="rect">
            <a:avLst/>
          </a:prstGeom>
          <a:solidFill>
            <a:schemeClr val="accent4">
              <a:lumMod val="75000"/>
            </a:schemeClr>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Calibri"/>
              </a:rPr>
              <a:t>Temperature</a:t>
            </a:r>
          </a:p>
        </p:txBody>
      </p:sp>
      <p:sp>
        <p:nvSpPr>
          <p:cNvPr id="14" name="Rectangle 15"/>
          <p:cNvSpPr/>
          <p:nvPr/>
        </p:nvSpPr>
        <p:spPr>
          <a:xfrm>
            <a:off x="1362866" y="4990275"/>
            <a:ext cx="1563331" cy="914400"/>
          </a:xfrm>
          <a:prstGeom prst="rect">
            <a:avLst/>
          </a:prstGeom>
          <a:solidFill>
            <a:schemeClr val="accent4">
              <a:lumMod val="75000"/>
            </a:schemeClr>
          </a:solidFill>
          <a:ln w="12701" cap="flat">
            <a:solidFill>
              <a:srgbClr val="41719C"/>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FFFFFF"/>
                </a:solidFill>
                <a:uFillTx/>
                <a:latin typeface="Calibri"/>
              </a:rPr>
              <a:t>Height, weight, age, income</a:t>
            </a:r>
          </a:p>
        </p:txBody>
      </p:sp>
      <p:sp>
        <p:nvSpPr>
          <p:cNvPr id="21" name="Rectangle 11">
            <a:extLst>
              <a:ext uri="{FF2B5EF4-FFF2-40B4-BE49-F238E27FC236}">
                <a16:creationId xmlns:a16="http://schemas.microsoft.com/office/drawing/2014/main" id="{1639602F-BDB2-473A-8D67-27D9F2203187}"/>
              </a:ext>
            </a:extLst>
          </p:cNvPr>
          <p:cNvSpPr/>
          <p:nvPr/>
        </p:nvSpPr>
        <p:spPr>
          <a:xfrm>
            <a:off x="9918074" y="3854080"/>
            <a:ext cx="1757586" cy="451789"/>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lvl="0" algn="ctr" defTabSz="914400">
              <a:defRPr sz="1800" b="0" i="0" u="none" strike="noStrike" kern="0" cap="none" spc="0" baseline="0">
                <a:solidFill>
                  <a:srgbClr val="000000"/>
                </a:solidFill>
                <a:uFillTx/>
              </a:defRPr>
            </a:pPr>
            <a:r>
              <a:rPr lang="en-GB" sz="1400" dirty="0">
                <a:solidFill>
                  <a:srgbClr val="FFFFFF"/>
                </a:solidFill>
                <a:latin typeface="Calibri"/>
              </a:rPr>
              <a:t>Dichotomous </a:t>
            </a:r>
          </a:p>
          <a:p>
            <a:pPr lvl="0" algn="ctr" defTabSz="914400">
              <a:defRPr sz="1800" b="0" i="0" u="none" strike="noStrike" kern="0" cap="none" spc="0" baseline="0">
                <a:solidFill>
                  <a:srgbClr val="000000"/>
                </a:solidFill>
                <a:uFillTx/>
              </a:defRPr>
            </a:pPr>
            <a:r>
              <a:rPr lang="en-GB" sz="1400" dirty="0">
                <a:solidFill>
                  <a:srgbClr val="FFFFFF"/>
                </a:solidFill>
                <a:latin typeface="Calibri"/>
              </a:rPr>
              <a:t>(binary or ‘dummy’)</a:t>
            </a:r>
            <a:endParaRPr lang="en-GB" sz="1400" b="0" i="0" u="none" strike="noStrike" kern="1200" cap="none" spc="0" baseline="0" dirty="0">
              <a:solidFill>
                <a:srgbClr val="FFFFFF"/>
              </a:solidFill>
              <a:uFillTx/>
              <a:latin typeface="Calibri"/>
            </a:endParaRPr>
          </a:p>
        </p:txBody>
      </p:sp>
      <p:sp>
        <p:nvSpPr>
          <p:cNvPr id="22" name="Rectangle 11">
            <a:extLst>
              <a:ext uri="{FF2B5EF4-FFF2-40B4-BE49-F238E27FC236}">
                <a16:creationId xmlns:a16="http://schemas.microsoft.com/office/drawing/2014/main" id="{8539E9AD-D7DE-4538-AD1E-67BDFEDDE8DB}"/>
              </a:ext>
            </a:extLst>
          </p:cNvPr>
          <p:cNvSpPr/>
          <p:nvPr/>
        </p:nvSpPr>
        <p:spPr>
          <a:xfrm>
            <a:off x="9918074" y="4367284"/>
            <a:ext cx="1757586" cy="401196"/>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lvl="0" algn="ctr" defTabSz="914400">
              <a:defRPr sz="1800" b="0" i="0" u="none" strike="noStrike" kern="0" cap="none" spc="0" baseline="0">
                <a:solidFill>
                  <a:srgbClr val="000000"/>
                </a:solidFill>
                <a:uFillTx/>
              </a:defRPr>
            </a:pPr>
            <a:r>
              <a:rPr lang="en-GB" sz="1400" dirty="0">
                <a:solidFill>
                  <a:srgbClr val="FFFFFF"/>
                </a:solidFill>
                <a:latin typeface="Calibri"/>
              </a:rPr>
              <a:t>Polytomous</a:t>
            </a:r>
            <a:endParaRPr lang="en-GB" sz="1400" b="0" i="0" u="none" strike="noStrike" kern="1200" cap="none" spc="0" baseline="0" dirty="0">
              <a:solidFill>
                <a:srgbClr val="FFFFFF"/>
              </a:solidFill>
              <a:uFillTx/>
              <a:latin typeface="Calibri"/>
            </a:endParaRPr>
          </a:p>
        </p:txBody>
      </p:sp>
      <p:sp>
        <p:nvSpPr>
          <p:cNvPr id="23" name="Title 11">
            <a:extLst>
              <a:ext uri="{FF2B5EF4-FFF2-40B4-BE49-F238E27FC236}">
                <a16:creationId xmlns:a16="http://schemas.microsoft.com/office/drawing/2014/main" id="{189E9B5B-A460-44C4-8CAF-0F92F71DD924}"/>
              </a:ext>
            </a:extLst>
          </p:cNvPr>
          <p:cNvSpPr>
            <a:spLocks noGrp="1"/>
          </p:cNvSpPr>
          <p:nvPr>
            <p:ph type="title"/>
          </p:nvPr>
        </p:nvSpPr>
        <p:spPr/>
        <p:txBody>
          <a:bodyPr>
            <a:normAutofit/>
          </a:bodyPr>
          <a:lstStyle/>
          <a:p>
            <a:r>
              <a:rPr lang="en-GB" dirty="0"/>
              <a:t>Variable types and measurement levels</a:t>
            </a:r>
          </a:p>
        </p:txBody>
      </p:sp>
      <p:sp>
        <p:nvSpPr>
          <p:cNvPr id="17" name="Footer Placeholder 16">
            <a:extLst>
              <a:ext uri="{FF2B5EF4-FFF2-40B4-BE49-F238E27FC236}">
                <a16:creationId xmlns:a16="http://schemas.microsoft.com/office/drawing/2014/main" id="{402CE1B9-E710-2E63-46F0-C4B143976C17}"/>
              </a:ext>
            </a:extLst>
          </p:cNvPr>
          <p:cNvSpPr>
            <a:spLocks noGrp="1"/>
          </p:cNvSpPr>
          <p:nvPr>
            <p:ph type="ftr" sz="quarter" idx="11"/>
          </p:nvPr>
        </p:nvSpPr>
        <p:spPr/>
        <p:txBody>
          <a:bodyPr/>
          <a:lstStyle/>
          <a:p>
            <a:r>
              <a:rPr lang="en-GB"/>
              <a:t>Measurement and Description</a:t>
            </a:r>
            <a:endParaRPr lang="en-GB" dirty="0"/>
          </a:p>
        </p:txBody>
      </p:sp>
      <p:sp>
        <p:nvSpPr>
          <p:cNvPr id="18" name="Slide Number Placeholder 17">
            <a:extLst>
              <a:ext uri="{FF2B5EF4-FFF2-40B4-BE49-F238E27FC236}">
                <a16:creationId xmlns:a16="http://schemas.microsoft.com/office/drawing/2014/main" id="{BC5B1F5D-A2DB-254A-D175-1E38EA14887D}"/>
              </a:ext>
            </a:extLst>
          </p:cNvPr>
          <p:cNvSpPr>
            <a:spLocks noGrp="1"/>
          </p:cNvSpPr>
          <p:nvPr>
            <p:ph type="sldNum" sz="quarter" idx="12"/>
          </p:nvPr>
        </p:nvSpPr>
        <p:spPr/>
        <p:txBody>
          <a:bodyPr/>
          <a:lstStyle/>
          <a:p>
            <a:fld id="{9FAA51BB-2FC0-4DB8-B50E-F52D50E733B6}" type="slidenum">
              <a:rPr lang="en-GB" smtClean="0"/>
              <a:pPr/>
              <a:t>18</a:t>
            </a:fld>
            <a:endParaRPr lang="en-GB" dirty="0"/>
          </a:p>
        </p:txBody>
      </p:sp>
      <p:pic>
        <p:nvPicPr>
          <p:cNvPr id="19" name="Picture 18">
            <a:extLst>
              <a:ext uri="{FF2B5EF4-FFF2-40B4-BE49-F238E27FC236}">
                <a16:creationId xmlns:a16="http://schemas.microsoft.com/office/drawing/2014/main" id="{CD67DC12-A497-3E96-5573-9F32EBD3AFD7}"/>
              </a:ext>
            </a:extLst>
          </p:cNvPr>
          <p:cNvPicPr>
            <a:picLocks noChangeAspect="1"/>
          </p:cNvPicPr>
          <p:nvPr/>
        </p:nvPicPr>
        <p:blipFill>
          <a:blip r:embed="rId3"/>
          <a:stretch>
            <a:fillRect/>
          </a:stretch>
        </p:blipFill>
        <p:spPr>
          <a:xfrm>
            <a:off x="938440" y="2626169"/>
            <a:ext cx="10911748" cy="2201249"/>
          </a:xfrm>
          <a:prstGeom prst="rect">
            <a:avLst/>
          </a:prstGeom>
        </p:spPr>
      </p:pic>
    </p:spTree>
    <p:extLst>
      <p:ext uri="{BB962C8B-B14F-4D97-AF65-F5344CB8AC3E}">
        <p14:creationId xmlns:p14="http://schemas.microsoft.com/office/powerpoint/2010/main" val="19133165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7DAF8FC-C191-450B-947B-545B65E60CE8}"/>
              </a:ext>
            </a:extLst>
          </p:cNvPr>
          <p:cNvSpPr>
            <a:spLocks noGrp="1"/>
          </p:cNvSpPr>
          <p:nvPr>
            <p:ph type="title"/>
          </p:nvPr>
        </p:nvSpPr>
        <p:spPr/>
        <p:txBody>
          <a:bodyPr>
            <a:normAutofit/>
          </a:bodyPr>
          <a:lstStyle/>
          <a:p>
            <a:r>
              <a:rPr lang="en-GB" dirty="0"/>
              <a:t>Variable types and measurement levels</a:t>
            </a:r>
          </a:p>
        </p:txBody>
      </p:sp>
      <p:pic>
        <p:nvPicPr>
          <p:cNvPr id="14" name="Picture 13">
            <a:extLst>
              <a:ext uri="{FF2B5EF4-FFF2-40B4-BE49-F238E27FC236}">
                <a16:creationId xmlns:a16="http://schemas.microsoft.com/office/drawing/2014/main" id="{5BF3F05A-D3BC-4861-B2AF-9DAB4F972D55}"/>
              </a:ext>
            </a:extLst>
          </p:cNvPr>
          <p:cNvPicPr>
            <a:picLocks noChangeAspect="1"/>
          </p:cNvPicPr>
          <p:nvPr/>
        </p:nvPicPr>
        <p:blipFill>
          <a:blip r:embed="rId3"/>
          <a:stretch>
            <a:fillRect/>
          </a:stretch>
        </p:blipFill>
        <p:spPr>
          <a:xfrm>
            <a:off x="1253287" y="1201210"/>
            <a:ext cx="9749009" cy="5081603"/>
          </a:xfrm>
          <a:prstGeom prst="rect">
            <a:avLst/>
          </a:prstGeom>
        </p:spPr>
      </p:pic>
      <p:sp>
        <p:nvSpPr>
          <p:cNvPr id="3" name="Footer Placeholder 2">
            <a:extLst>
              <a:ext uri="{FF2B5EF4-FFF2-40B4-BE49-F238E27FC236}">
                <a16:creationId xmlns:a16="http://schemas.microsoft.com/office/drawing/2014/main" id="{1B90E0F2-C7D9-E2AF-BE95-ADE1C18FF564}"/>
              </a:ext>
            </a:extLst>
          </p:cNvPr>
          <p:cNvSpPr>
            <a:spLocks noGrp="1"/>
          </p:cNvSpPr>
          <p:nvPr>
            <p:ph type="ftr" sz="quarter" idx="11"/>
          </p:nvPr>
        </p:nvSpPr>
        <p:spPr/>
        <p:txBody>
          <a:bodyPr/>
          <a:lstStyle/>
          <a:p>
            <a:r>
              <a:rPr lang="en-GB"/>
              <a:t>Measurement and Description</a:t>
            </a:r>
          </a:p>
        </p:txBody>
      </p:sp>
      <p:sp>
        <p:nvSpPr>
          <p:cNvPr id="4" name="Slide Number Placeholder 3">
            <a:extLst>
              <a:ext uri="{FF2B5EF4-FFF2-40B4-BE49-F238E27FC236}">
                <a16:creationId xmlns:a16="http://schemas.microsoft.com/office/drawing/2014/main" id="{2E910458-7211-20CE-EAC4-1B95677D64C3}"/>
              </a:ext>
            </a:extLst>
          </p:cNvPr>
          <p:cNvSpPr>
            <a:spLocks noGrp="1"/>
          </p:cNvSpPr>
          <p:nvPr>
            <p:ph type="sldNum" sz="quarter" idx="12"/>
          </p:nvPr>
        </p:nvSpPr>
        <p:spPr/>
        <p:txBody>
          <a:bodyPr/>
          <a:lstStyle/>
          <a:p>
            <a:fld id="{9FAA51BB-2FC0-4DB8-B50E-F52D50E733B6}" type="slidenum">
              <a:rPr lang="en-GB" smtClean="0"/>
              <a:t>19</a:t>
            </a:fld>
            <a:endParaRPr lang="en-GB"/>
          </a:p>
        </p:txBody>
      </p:sp>
    </p:spTree>
    <p:extLst>
      <p:ext uri="{BB962C8B-B14F-4D97-AF65-F5344CB8AC3E}">
        <p14:creationId xmlns:p14="http://schemas.microsoft.com/office/powerpoint/2010/main" val="7172789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B0C45-444C-30EE-B38B-DD92768A8ADB}"/>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8A983B8B-1F13-E266-A63A-ED02B59CBA0E}"/>
              </a:ext>
            </a:extLst>
          </p:cNvPr>
          <p:cNvSpPr>
            <a:spLocks noGrp="1"/>
          </p:cNvSpPr>
          <p:nvPr>
            <p:ph type="title"/>
          </p:nvPr>
        </p:nvSpPr>
        <p:spPr/>
        <p:txBody>
          <a:bodyPr>
            <a:normAutofit/>
          </a:bodyPr>
          <a:lstStyle/>
          <a:p>
            <a:r>
              <a:rPr lang="en-GB" dirty="0"/>
              <a:t>Univariate descriptive statistics</a:t>
            </a:r>
          </a:p>
        </p:txBody>
      </p:sp>
      <p:pic>
        <p:nvPicPr>
          <p:cNvPr id="14" name="Picture 13">
            <a:extLst>
              <a:ext uri="{FF2B5EF4-FFF2-40B4-BE49-F238E27FC236}">
                <a16:creationId xmlns:a16="http://schemas.microsoft.com/office/drawing/2014/main" id="{E7C37877-D035-95F1-68A1-E3FB6B5E5F53}"/>
              </a:ext>
            </a:extLst>
          </p:cNvPr>
          <p:cNvPicPr>
            <a:picLocks noChangeAspect="1"/>
          </p:cNvPicPr>
          <p:nvPr/>
        </p:nvPicPr>
        <p:blipFill>
          <a:blip r:embed="rId3"/>
          <a:srcRect r="86634"/>
          <a:stretch>
            <a:fillRect/>
          </a:stretch>
        </p:blipFill>
        <p:spPr>
          <a:xfrm>
            <a:off x="1253288" y="1201210"/>
            <a:ext cx="1303100" cy="5081603"/>
          </a:xfrm>
          <a:prstGeom prst="rect">
            <a:avLst/>
          </a:prstGeom>
        </p:spPr>
      </p:pic>
      <p:sp>
        <p:nvSpPr>
          <p:cNvPr id="3" name="Footer Placeholder 2">
            <a:extLst>
              <a:ext uri="{FF2B5EF4-FFF2-40B4-BE49-F238E27FC236}">
                <a16:creationId xmlns:a16="http://schemas.microsoft.com/office/drawing/2014/main" id="{D0C8C946-5335-2921-801F-E32EBBDC06AC}"/>
              </a:ext>
            </a:extLst>
          </p:cNvPr>
          <p:cNvSpPr>
            <a:spLocks noGrp="1"/>
          </p:cNvSpPr>
          <p:nvPr>
            <p:ph type="ftr" sz="quarter" idx="11"/>
          </p:nvPr>
        </p:nvSpPr>
        <p:spPr/>
        <p:txBody>
          <a:bodyPr/>
          <a:lstStyle/>
          <a:p>
            <a:r>
              <a:rPr lang="en-GB"/>
              <a:t>Measurement and Description</a:t>
            </a:r>
          </a:p>
        </p:txBody>
      </p:sp>
      <p:sp>
        <p:nvSpPr>
          <p:cNvPr id="4" name="Slide Number Placeholder 3">
            <a:extLst>
              <a:ext uri="{FF2B5EF4-FFF2-40B4-BE49-F238E27FC236}">
                <a16:creationId xmlns:a16="http://schemas.microsoft.com/office/drawing/2014/main" id="{975A5B92-8D16-E54E-863B-32FBAC4EF875}"/>
              </a:ext>
            </a:extLst>
          </p:cNvPr>
          <p:cNvSpPr>
            <a:spLocks noGrp="1"/>
          </p:cNvSpPr>
          <p:nvPr>
            <p:ph type="sldNum" sz="quarter" idx="12"/>
          </p:nvPr>
        </p:nvSpPr>
        <p:spPr/>
        <p:txBody>
          <a:bodyPr/>
          <a:lstStyle/>
          <a:p>
            <a:fld id="{9FAA51BB-2FC0-4DB8-B50E-F52D50E733B6}" type="slidenum">
              <a:rPr lang="en-GB" smtClean="0"/>
              <a:t>20</a:t>
            </a:fld>
            <a:endParaRPr lang="en-GB"/>
          </a:p>
        </p:txBody>
      </p:sp>
      <p:sp>
        <p:nvSpPr>
          <p:cNvPr id="2" name="Content Placeholder 6">
            <a:extLst>
              <a:ext uri="{FF2B5EF4-FFF2-40B4-BE49-F238E27FC236}">
                <a16:creationId xmlns:a16="http://schemas.microsoft.com/office/drawing/2014/main" id="{81C30D24-0B60-B556-6D7E-847A1C23FA08}"/>
              </a:ext>
            </a:extLst>
          </p:cNvPr>
          <p:cNvSpPr txBox="1">
            <a:spLocks/>
          </p:cNvSpPr>
          <p:nvPr/>
        </p:nvSpPr>
        <p:spPr>
          <a:xfrm>
            <a:off x="3006478" y="1581188"/>
            <a:ext cx="4505367" cy="1225922"/>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2000">
              <a:lnSpc>
                <a:spcPct val="100000"/>
              </a:lnSpc>
              <a:spcBef>
                <a:spcPts val="0"/>
              </a:spcBef>
            </a:pPr>
            <a:r>
              <a:rPr lang="en-GB" sz="2400" b="1" dirty="0">
                <a:solidFill>
                  <a:schemeClr val="bg2">
                    <a:lumMod val="50000"/>
                  </a:schemeClr>
                </a:solidFill>
              </a:rPr>
              <a:t>Frequencies</a:t>
            </a:r>
          </a:p>
          <a:p>
            <a:pPr marL="72000">
              <a:lnSpc>
                <a:spcPct val="100000"/>
              </a:lnSpc>
              <a:spcBef>
                <a:spcPts val="0"/>
              </a:spcBef>
            </a:pPr>
            <a:r>
              <a:rPr lang="en-GB" sz="2400" b="1" dirty="0">
                <a:solidFill>
                  <a:schemeClr val="bg2">
                    <a:lumMod val="50000"/>
                  </a:schemeClr>
                </a:solidFill>
              </a:rPr>
              <a:t>Proportions / Percentages</a:t>
            </a:r>
          </a:p>
          <a:p>
            <a:pPr marL="72000">
              <a:lnSpc>
                <a:spcPct val="100000"/>
              </a:lnSpc>
              <a:spcBef>
                <a:spcPts val="0"/>
              </a:spcBef>
            </a:pPr>
            <a:r>
              <a:rPr lang="en-GB" sz="2400" b="1" dirty="0">
                <a:solidFill>
                  <a:schemeClr val="bg2">
                    <a:lumMod val="50000"/>
                  </a:schemeClr>
                </a:solidFill>
              </a:rPr>
              <a:t>Mode</a:t>
            </a:r>
          </a:p>
          <a:p>
            <a:pPr marL="72000">
              <a:lnSpc>
                <a:spcPct val="100000"/>
              </a:lnSpc>
              <a:spcBef>
                <a:spcPts val="0"/>
              </a:spcBef>
            </a:pPr>
            <a:endParaRPr lang="en-GB" sz="2000" b="1" dirty="0"/>
          </a:p>
        </p:txBody>
      </p:sp>
      <p:sp>
        <p:nvSpPr>
          <p:cNvPr id="6" name="Content Placeholder 6">
            <a:extLst>
              <a:ext uri="{FF2B5EF4-FFF2-40B4-BE49-F238E27FC236}">
                <a16:creationId xmlns:a16="http://schemas.microsoft.com/office/drawing/2014/main" id="{FD58E224-E23D-79BD-CA80-1F71DC0DB614}"/>
              </a:ext>
            </a:extLst>
          </p:cNvPr>
          <p:cNvSpPr txBox="1">
            <a:spLocks/>
          </p:cNvSpPr>
          <p:nvPr/>
        </p:nvSpPr>
        <p:spPr>
          <a:xfrm>
            <a:off x="3006478" y="2870570"/>
            <a:ext cx="4505367" cy="150433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2000">
              <a:lnSpc>
                <a:spcPct val="100000"/>
              </a:lnSpc>
              <a:spcBef>
                <a:spcPts val="0"/>
              </a:spcBef>
            </a:pPr>
            <a:r>
              <a:rPr lang="en-GB" sz="2400" b="1" dirty="0">
                <a:solidFill>
                  <a:schemeClr val="bg2">
                    <a:lumMod val="50000"/>
                  </a:schemeClr>
                </a:solidFill>
              </a:rPr>
              <a:t>Frequencies</a:t>
            </a:r>
          </a:p>
          <a:p>
            <a:pPr marL="72000">
              <a:lnSpc>
                <a:spcPct val="100000"/>
              </a:lnSpc>
              <a:spcBef>
                <a:spcPts val="0"/>
              </a:spcBef>
            </a:pPr>
            <a:r>
              <a:rPr lang="en-GB" sz="2400" b="1" dirty="0">
                <a:solidFill>
                  <a:schemeClr val="bg2">
                    <a:lumMod val="50000"/>
                  </a:schemeClr>
                </a:solidFill>
              </a:rPr>
              <a:t>Proportions / Percentages</a:t>
            </a:r>
          </a:p>
          <a:p>
            <a:pPr marL="72000">
              <a:lnSpc>
                <a:spcPct val="100000"/>
              </a:lnSpc>
              <a:spcBef>
                <a:spcPts val="0"/>
              </a:spcBef>
            </a:pPr>
            <a:r>
              <a:rPr lang="en-GB" sz="2400" b="1" dirty="0">
                <a:solidFill>
                  <a:schemeClr val="bg2">
                    <a:lumMod val="50000"/>
                  </a:schemeClr>
                </a:solidFill>
              </a:rPr>
              <a:t>Median</a:t>
            </a:r>
          </a:p>
          <a:p>
            <a:pPr marL="72000">
              <a:lnSpc>
                <a:spcPct val="100000"/>
              </a:lnSpc>
              <a:spcBef>
                <a:spcPts val="0"/>
              </a:spcBef>
            </a:pPr>
            <a:endParaRPr lang="en-GB" sz="2000" b="1" dirty="0"/>
          </a:p>
        </p:txBody>
      </p:sp>
      <p:sp>
        <p:nvSpPr>
          <p:cNvPr id="9" name="Content Placeholder 6">
            <a:extLst>
              <a:ext uri="{FF2B5EF4-FFF2-40B4-BE49-F238E27FC236}">
                <a16:creationId xmlns:a16="http://schemas.microsoft.com/office/drawing/2014/main" id="{C93117C8-0F8E-87A8-2E84-BC95E24C92EB}"/>
              </a:ext>
            </a:extLst>
          </p:cNvPr>
          <p:cNvSpPr txBox="1">
            <a:spLocks/>
          </p:cNvSpPr>
          <p:nvPr/>
        </p:nvSpPr>
        <p:spPr>
          <a:xfrm>
            <a:off x="3006479" y="4757911"/>
            <a:ext cx="4204538" cy="1524901"/>
          </a:xfrm>
          <a:prstGeom prst="rect">
            <a:avLst/>
          </a:prstGeom>
        </p:spPr>
        <p:txBody>
          <a:bodyPr>
            <a:normAutofit fontScale="8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2000">
              <a:lnSpc>
                <a:spcPct val="100000"/>
              </a:lnSpc>
              <a:spcBef>
                <a:spcPts val="0"/>
              </a:spcBef>
            </a:pPr>
            <a:r>
              <a:rPr lang="en-GB" sz="2400" b="1" dirty="0">
                <a:solidFill>
                  <a:schemeClr val="bg2">
                    <a:lumMod val="50000"/>
                  </a:schemeClr>
                </a:solidFill>
              </a:rPr>
              <a:t>Median</a:t>
            </a:r>
          </a:p>
          <a:p>
            <a:pPr marL="72000">
              <a:lnSpc>
                <a:spcPct val="100000"/>
              </a:lnSpc>
              <a:spcBef>
                <a:spcPts val="0"/>
              </a:spcBef>
            </a:pPr>
            <a:r>
              <a:rPr lang="en-GB" sz="2400" b="1" dirty="0">
                <a:solidFill>
                  <a:schemeClr val="bg2">
                    <a:lumMod val="50000"/>
                  </a:schemeClr>
                </a:solidFill>
              </a:rPr>
              <a:t>Mean</a:t>
            </a:r>
          </a:p>
          <a:p>
            <a:pPr marL="72000">
              <a:lnSpc>
                <a:spcPct val="100000"/>
              </a:lnSpc>
              <a:spcBef>
                <a:spcPts val="0"/>
              </a:spcBef>
            </a:pPr>
            <a:r>
              <a:rPr lang="en-GB" sz="2400" b="1" dirty="0">
                <a:solidFill>
                  <a:schemeClr val="bg2">
                    <a:lumMod val="50000"/>
                  </a:schemeClr>
                </a:solidFill>
              </a:rPr>
              <a:t>Range (maximum – minimum)</a:t>
            </a:r>
          </a:p>
          <a:p>
            <a:pPr marL="72000">
              <a:lnSpc>
                <a:spcPct val="100000"/>
              </a:lnSpc>
              <a:spcBef>
                <a:spcPts val="0"/>
              </a:spcBef>
            </a:pPr>
            <a:r>
              <a:rPr lang="en-GB" sz="2400" b="1" dirty="0">
                <a:solidFill>
                  <a:schemeClr val="bg2">
                    <a:lumMod val="50000"/>
                  </a:schemeClr>
                </a:solidFill>
              </a:rPr>
              <a:t>Percentile interquartile range, Standard deviation …</a:t>
            </a:r>
          </a:p>
          <a:p>
            <a:pPr marL="72000">
              <a:lnSpc>
                <a:spcPct val="100000"/>
              </a:lnSpc>
              <a:spcBef>
                <a:spcPts val="0"/>
              </a:spcBef>
            </a:pPr>
            <a:endParaRPr lang="en-GB" sz="2400" b="1" dirty="0">
              <a:solidFill>
                <a:schemeClr val="bg2">
                  <a:lumMod val="50000"/>
                </a:schemeClr>
              </a:solidFill>
            </a:endParaRPr>
          </a:p>
          <a:p>
            <a:pPr marL="72000">
              <a:lnSpc>
                <a:spcPct val="100000"/>
              </a:lnSpc>
              <a:spcBef>
                <a:spcPts val="0"/>
              </a:spcBef>
            </a:pPr>
            <a:endParaRPr lang="en-GB" sz="2000" b="1" dirty="0"/>
          </a:p>
        </p:txBody>
      </p:sp>
      <p:sp>
        <p:nvSpPr>
          <p:cNvPr id="10" name="Right Brace 9">
            <a:extLst>
              <a:ext uri="{FF2B5EF4-FFF2-40B4-BE49-F238E27FC236}">
                <a16:creationId xmlns:a16="http://schemas.microsoft.com/office/drawing/2014/main" id="{18085093-7490-672E-06CD-900899A63160}"/>
              </a:ext>
            </a:extLst>
          </p:cNvPr>
          <p:cNvSpPr/>
          <p:nvPr/>
        </p:nvSpPr>
        <p:spPr>
          <a:xfrm>
            <a:off x="2556388" y="3942735"/>
            <a:ext cx="412954" cy="2285993"/>
          </a:xfrm>
          <a:prstGeom prst="righ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ight Brace 12">
            <a:extLst>
              <a:ext uri="{FF2B5EF4-FFF2-40B4-BE49-F238E27FC236}">
                <a16:creationId xmlns:a16="http://schemas.microsoft.com/office/drawing/2014/main" id="{553AD09F-AAAA-9856-01AB-0403D950F359}"/>
              </a:ext>
            </a:extLst>
          </p:cNvPr>
          <p:cNvSpPr/>
          <p:nvPr/>
        </p:nvSpPr>
        <p:spPr>
          <a:xfrm>
            <a:off x="2556388" y="1691149"/>
            <a:ext cx="412954" cy="1120430"/>
          </a:xfrm>
          <a:prstGeom prst="righ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Right Brace 15">
            <a:extLst>
              <a:ext uri="{FF2B5EF4-FFF2-40B4-BE49-F238E27FC236}">
                <a16:creationId xmlns:a16="http://schemas.microsoft.com/office/drawing/2014/main" id="{70A3D8CA-BD8B-1C5A-6F3B-2E11AC7772E8}"/>
              </a:ext>
            </a:extLst>
          </p:cNvPr>
          <p:cNvSpPr/>
          <p:nvPr/>
        </p:nvSpPr>
        <p:spPr>
          <a:xfrm>
            <a:off x="2580969" y="2807110"/>
            <a:ext cx="412954" cy="1120430"/>
          </a:xfrm>
          <a:prstGeom prst="righ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8" name="Right Brace 17">
            <a:extLst>
              <a:ext uri="{FF2B5EF4-FFF2-40B4-BE49-F238E27FC236}">
                <a16:creationId xmlns:a16="http://schemas.microsoft.com/office/drawing/2014/main" id="{F25781E0-6627-79E5-8297-86D5798B3A13}"/>
              </a:ext>
            </a:extLst>
          </p:cNvPr>
          <p:cNvSpPr/>
          <p:nvPr/>
        </p:nvSpPr>
        <p:spPr>
          <a:xfrm>
            <a:off x="7193053" y="4911219"/>
            <a:ext cx="516194" cy="609142"/>
          </a:xfrm>
          <a:prstGeom prst="righ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0" name="Right Brace 19">
            <a:extLst>
              <a:ext uri="{FF2B5EF4-FFF2-40B4-BE49-F238E27FC236}">
                <a16:creationId xmlns:a16="http://schemas.microsoft.com/office/drawing/2014/main" id="{500A81F2-37BB-164E-050F-2A6459A71E70}"/>
              </a:ext>
            </a:extLst>
          </p:cNvPr>
          <p:cNvSpPr/>
          <p:nvPr/>
        </p:nvSpPr>
        <p:spPr>
          <a:xfrm>
            <a:off x="7211016" y="5597015"/>
            <a:ext cx="516194" cy="609142"/>
          </a:xfrm>
          <a:prstGeom prst="righ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Content Placeholder 6">
            <a:extLst>
              <a:ext uri="{FF2B5EF4-FFF2-40B4-BE49-F238E27FC236}">
                <a16:creationId xmlns:a16="http://schemas.microsoft.com/office/drawing/2014/main" id="{1395E356-703B-4DB5-033B-546CC1218E34}"/>
              </a:ext>
            </a:extLst>
          </p:cNvPr>
          <p:cNvSpPr txBox="1">
            <a:spLocks/>
          </p:cNvSpPr>
          <p:nvPr/>
        </p:nvSpPr>
        <p:spPr>
          <a:xfrm>
            <a:off x="7727210" y="5073445"/>
            <a:ext cx="5013242" cy="1132712"/>
          </a:xfrm>
          <a:prstGeom prst="rect">
            <a:avLst/>
          </a:prstGeom>
        </p:spPr>
        <p:txBody>
          <a:bodyPr>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2000">
              <a:lnSpc>
                <a:spcPct val="100000"/>
              </a:lnSpc>
              <a:spcBef>
                <a:spcPts val="0"/>
              </a:spcBef>
            </a:pPr>
            <a:r>
              <a:rPr lang="en-GB" sz="2400" b="1" dirty="0">
                <a:solidFill>
                  <a:schemeClr val="tx1"/>
                </a:solidFill>
              </a:rPr>
              <a:t>Central tendency</a:t>
            </a:r>
          </a:p>
          <a:p>
            <a:pPr marL="72000">
              <a:lnSpc>
                <a:spcPct val="100000"/>
              </a:lnSpc>
              <a:spcBef>
                <a:spcPts val="0"/>
              </a:spcBef>
            </a:pPr>
            <a:endParaRPr lang="en-GB" sz="2400" b="1" dirty="0">
              <a:solidFill>
                <a:schemeClr val="tx1"/>
              </a:solidFill>
            </a:endParaRPr>
          </a:p>
          <a:p>
            <a:pPr marL="72000">
              <a:lnSpc>
                <a:spcPct val="100000"/>
              </a:lnSpc>
              <a:spcBef>
                <a:spcPts val="0"/>
              </a:spcBef>
            </a:pPr>
            <a:r>
              <a:rPr lang="en-GB" sz="2400" b="1" dirty="0">
                <a:solidFill>
                  <a:schemeClr val="tx1"/>
                </a:solidFill>
              </a:rPr>
              <a:t>Dispersion</a:t>
            </a:r>
          </a:p>
          <a:p>
            <a:pPr marL="72000">
              <a:lnSpc>
                <a:spcPct val="100000"/>
              </a:lnSpc>
              <a:spcBef>
                <a:spcPts val="0"/>
              </a:spcBef>
            </a:pPr>
            <a:endParaRPr lang="en-GB" sz="2000" b="1" dirty="0"/>
          </a:p>
        </p:txBody>
      </p:sp>
      <p:sp>
        <p:nvSpPr>
          <p:cNvPr id="24" name="TextBox 23">
            <a:extLst>
              <a:ext uri="{FF2B5EF4-FFF2-40B4-BE49-F238E27FC236}">
                <a16:creationId xmlns:a16="http://schemas.microsoft.com/office/drawing/2014/main" id="{631C0721-8379-5A2E-6B82-1D5A44C1AEC6}"/>
              </a:ext>
            </a:extLst>
          </p:cNvPr>
          <p:cNvSpPr txBox="1"/>
          <p:nvPr/>
        </p:nvSpPr>
        <p:spPr>
          <a:xfrm>
            <a:off x="7192296" y="1603806"/>
            <a:ext cx="4886632" cy="1107996"/>
          </a:xfrm>
          <a:prstGeom prst="rect">
            <a:avLst/>
          </a:prstGeom>
          <a:noFill/>
        </p:spPr>
        <p:txBody>
          <a:bodyPr wrap="square">
            <a:spAutoFit/>
          </a:bodyPr>
          <a:lstStyle/>
          <a:p>
            <a:r>
              <a:rPr lang="en-GB" sz="2200" b="1" dirty="0"/>
              <a:t>Raw frequencies (counts)</a:t>
            </a:r>
          </a:p>
          <a:p>
            <a:r>
              <a:rPr lang="en-GB" sz="2200" b="1" dirty="0"/>
              <a:t>Relative (standardised)  frequencies</a:t>
            </a:r>
          </a:p>
          <a:p>
            <a:r>
              <a:rPr lang="en-GB" sz="2200" b="1" dirty="0"/>
              <a:t>Central tendency</a:t>
            </a:r>
          </a:p>
        </p:txBody>
      </p:sp>
      <p:sp>
        <p:nvSpPr>
          <p:cNvPr id="26" name="TextBox 25">
            <a:extLst>
              <a:ext uri="{FF2B5EF4-FFF2-40B4-BE49-F238E27FC236}">
                <a16:creationId xmlns:a16="http://schemas.microsoft.com/office/drawing/2014/main" id="{5F88C9D3-1354-A7B6-BF82-2E2CF4A575C9}"/>
              </a:ext>
            </a:extLst>
          </p:cNvPr>
          <p:cNvSpPr txBox="1"/>
          <p:nvPr/>
        </p:nvSpPr>
        <p:spPr>
          <a:xfrm>
            <a:off x="7211016" y="2894132"/>
            <a:ext cx="4886632" cy="1107996"/>
          </a:xfrm>
          <a:prstGeom prst="rect">
            <a:avLst/>
          </a:prstGeom>
          <a:noFill/>
        </p:spPr>
        <p:txBody>
          <a:bodyPr wrap="square">
            <a:spAutoFit/>
          </a:bodyPr>
          <a:lstStyle/>
          <a:p>
            <a:r>
              <a:rPr lang="en-GB" sz="2200" b="1" dirty="0"/>
              <a:t>Raw frequencies (counts)</a:t>
            </a:r>
          </a:p>
          <a:p>
            <a:r>
              <a:rPr lang="en-GB" sz="2200" b="1" dirty="0"/>
              <a:t>Relative (standardised)  frequencies</a:t>
            </a:r>
          </a:p>
          <a:p>
            <a:r>
              <a:rPr lang="en-GB" sz="2200" b="1" dirty="0"/>
              <a:t>Central tendency</a:t>
            </a:r>
          </a:p>
        </p:txBody>
      </p:sp>
    </p:spTree>
    <p:extLst>
      <p:ext uri="{BB962C8B-B14F-4D97-AF65-F5344CB8AC3E}">
        <p14:creationId xmlns:p14="http://schemas.microsoft.com/office/powerpoint/2010/main" val="24142206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2" grpId="0"/>
      <p:bldP spid="24"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
            <a:extLst>
              <a:ext uri="{FF2B5EF4-FFF2-40B4-BE49-F238E27FC236}">
                <a16:creationId xmlns:a16="http://schemas.microsoft.com/office/drawing/2014/main" id="{BB22E9B1-3DC5-42DF-923F-4E8001819F4D}"/>
              </a:ext>
            </a:extLst>
          </p:cNvPr>
          <p:cNvPicPr>
            <a:picLocks noChangeAspect="1"/>
          </p:cNvPicPr>
          <p:nvPr/>
        </p:nvPicPr>
        <p:blipFill rotWithShape="1">
          <a:blip r:embed="rId3"/>
          <a:srcRect t="10824" r="9090" b="7356"/>
          <a:stretch/>
        </p:blipFill>
        <p:spPr>
          <a:xfrm>
            <a:off x="2" y="10"/>
            <a:ext cx="12191695" cy="6857990"/>
          </a:xfrm>
          <a:prstGeom prst="rect">
            <a:avLst/>
          </a:prstGeom>
        </p:spPr>
      </p:pic>
      <p:sp>
        <p:nvSpPr>
          <p:cNvPr id="2" name="Title 1">
            <a:extLst>
              <a:ext uri="{FF2B5EF4-FFF2-40B4-BE49-F238E27FC236}">
                <a16:creationId xmlns:a16="http://schemas.microsoft.com/office/drawing/2014/main" id="{60C4B25A-7A41-4AEA-935C-86980FFB7802}"/>
              </a:ext>
            </a:extLst>
          </p:cNvPr>
          <p:cNvSpPr>
            <a:spLocks noGrp="1"/>
          </p:cNvSpPr>
          <p:nvPr>
            <p:ph type="title"/>
          </p:nvPr>
        </p:nvSpPr>
        <p:spPr/>
        <p:txBody>
          <a:bodyPr vert="horz" lIns="91440" tIns="45720" rIns="91440" bIns="0" rtlCol="0" anchor="b">
            <a:normAutofit/>
          </a:bodyPr>
          <a:lstStyle/>
          <a:p>
            <a:pPr algn="r"/>
            <a:r>
              <a:rPr lang="en-US" sz="4400" dirty="0">
                <a:solidFill>
                  <a:srgbClr val="FFFFFE"/>
                </a:solidFill>
              </a:rPr>
              <a:t>Frequencies</a:t>
            </a:r>
          </a:p>
        </p:txBody>
      </p:sp>
      <p:sp>
        <p:nvSpPr>
          <p:cNvPr id="4" name="Text Placeholder 3">
            <a:extLst>
              <a:ext uri="{FF2B5EF4-FFF2-40B4-BE49-F238E27FC236}">
                <a16:creationId xmlns:a16="http://schemas.microsoft.com/office/drawing/2014/main" id="{EA8A8C7F-216B-4C24-84F3-351180DFE941}"/>
              </a:ext>
            </a:extLst>
          </p:cNvPr>
          <p:cNvSpPr>
            <a:spLocks noGrp="1"/>
          </p:cNvSpPr>
          <p:nvPr>
            <p:ph type="body" sz="half" idx="2"/>
          </p:nvPr>
        </p:nvSpPr>
        <p:spPr/>
        <p:txBody>
          <a:bodyPr vert="horz" lIns="91440" tIns="91440" rIns="91440" bIns="91440" rtlCol="0">
            <a:normAutofit/>
          </a:bodyPr>
          <a:lstStyle/>
          <a:p>
            <a:pPr algn="r"/>
            <a:r>
              <a:rPr lang="en-US" sz="1600" dirty="0">
                <a:solidFill>
                  <a:srgbClr val="FFFFFE"/>
                </a:solidFill>
              </a:rPr>
              <a:t>Counts, Percentages, Proportions, Ratios </a:t>
            </a:r>
          </a:p>
        </p:txBody>
      </p:sp>
      <p:sp>
        <p:nvSpPr>
          <p:cNvPr id="5" name="Footer Placeholder 4">
            <a:extLst>
              <a:ext uri="{FF2B5EF4-FFF2-40B4-BE49-F238E27FC236}">
                <a16:creationId xmlns:a16="http://schemas.microsoft.com/office/drawing/2014/main" id="{CC3919F5-40C1-FD51-7148-A4B7D8EDE91B}"/>
              </a:ext>
            </a:extLst>
          </p:cNvPr>
          <p:cNvSpPr>
            <a:spLocks noGrp="1"/>
          </p:cNvSpPr>
          <p:nvPr>
            <p:ph type="ftr" sz="quarter" idx="11"/>
          </p:nvPr>
        </p:nvSpPr>
        <p:spPr/>
        <p:txBody>
          <a:bodyPr/>
          <a:lstStyle/>
          <a:p>
            <a:r>
              <a:rPr lang="en-GB"/>
              <a:t>Measurement and Description</a:t>
            </a:r>
          </a:p>
        </p:txBody>
      </p:sp>
      <p:sp>
        <p:nvSpPr>
          <p:cNvPr id="7" name="Slide Number Placeholder 6">
            <a:extLst>
              <a:ext uri="{FF2B5EF4-FFF2-40B4-BE49-F238E27FC236}">
                <a16:creationId xmlns:a16="http://schemas.microsoft.com/office/drawing/2014/main" id="{89545568-8712-6CEC-973A-53FF9D2AE411}"/>
              </a:ext>
            </a:extLst>
          </p:cNvPr>
          <p:cNvSpPr>
            <a:spLocks noGrp="1"/>
          </p:cNvSpPr>
          <p:nvPr>
            <p:ph type="sldNum" sz="quarter" idx="12"/>
          </p:nvPr>
        </p:nvSpPr>
        <p:spPr/>
        <p:txBody>
          <a:bodyPr/>
          <a:lstStyle/>
          <a:p>
            <a:fld id="{9FAA51BB-2FC0-4DB8-B50E-F52D50E733B6}" type="slidenum">
              <a:rPr lang="en-GB" smtClean="0"/>
              <a:t>21</a:t>
            </a:fld>
            <a:endParaRPr lang="en-GB"/>
          </a:p>
        </p:txBody>
      </p:sp>
    </p:spTree>
    <p:extLst>
      <p:ext uri="{BB962C8B-B14F-4D97-AF65-F5344CB8AC3E}">
        <p14:creationId xmlns:p14="http://schemas.microsoft.com/office/powerpoint/2010/main" val="39921328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EDB9-6A5F-43C3-88F7-890B3663CE21}"/>
              </a:ext>
            </a:extLst>
          </p:cNvPr>
          <p:cNvSpPr>
            <a:spLocks noGrp="1"/>
          </p:cNvSpPr>
          <p:nvPr>
            <p:ph type="title"/>
          </p:nvPr>
        </p:nvSpPr>
        <p:spPr/>
        <p:txBody>
          <a:bodyPr/>
          <a:lstStyle/>
          <a:p>
            <a:r>
              <a:rPr lang="en-GB" dirty="0"/>
              <a:t>Simple frequency table</a:t>
            </a:r>
          </a:p>
        </p:txBody>
      </p:sp>
      <p:pic>
        <p:nvPicPr>
          <p:cNvPr id="4" name="Picture 3">
            <a:extLst>
              <a:ext uri="{FF2B5EF4-FFF2-40B4-BE49-F238E27FC236}">
                <a16:creationId xmlns:a16="http://schemas.microsoft.com/office/drawing/2014/main" id="{AB260A47-5738-4A07-9338-946F4B6A23DE}"/>
              </a:ext>
            </a:extLst>
          </p:cNvPr>
          <p:cNvPicPr>
            <a:picLocks noChangeAspect="1"/>
          </p:cNvPicPr>
          <p:nvPr/>
        </p:nvPicPr>
        <p:blipFill>
          <a:blip r:embed="rId2"/>
          <a:stretch>
            <a:fillRect/>
          </a:stretch>
        </p:blipFill>
        <p:spPr>
          <a:xfrm>
            <a:off x="1948875" y="1718174"/>
            <a:ext cx="7656672" cy="2400981"/>
          </a:xfrm>
          <a:prstGeom prst="rect">
            <a:avLst/>
          </a:prstGeom>
        </p:spPr>
      </p:pic>
      <p:sp>
        <p:nvSpPr>
          <p:cNvPr id="5" name="Footer Placeholder 4">
            <a:extLst>
              <a:ext uri="{FF2B5EF4-FFF2-40B4-BE49-F238E27FC236}">
                <a16:creationId xmlns:a16="http://schemas.microsoft.com/office/drawing/2014/main" id="{9D8717BA-64C3-6F4A-C15F-654B802C77B2}"/>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18D26021-F2BC-354F-04C0-9D8B1AE9C8F1}"/>
              </a:ext>
            </a:extLst>
          </p:cNvPr>
          <p:cNvSpPr>
            <a:spLocks noGrp="1"/>
          </p:cNvSpPr>
          <p:nvPr>
            <p:ph type="sldNum" sz="quarter" idx="12"/>
          </p:nvPr>
        </p:nvSpPr>
        <p:spPr/>
        <p:txBody>
          <a:bodyPr/>
          <a:lstStyle/>
          <a:p>
            <a:fld id="{9FAA51BB-2FC0-4DB8-B50E-F52D50E733B6}" type="slidenum">
              <a:rPr lang="en-GB" smtClean="0"/>
              <a:pPr/>
              <a:t>22</a:t>
            </a:fld>
            <a:endParaRPr lang="en-GB" dirty="0"/>
          </a:p>
        </p:txBody>
      </p:sp>
    </p:spTree>
    <p:extLst>
      <p:ext uri="{BB962C8B-B14F-4D97-AF65-F5344CB8AC3E}">
        <p14:creationId xmlns:p14="http://schemas.microsoft.com/office/powerpoint/2010/main" val="37267975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761D7-2296-44CA-ABBE-2AFF9DEAE046}"/>
              </a:ext>
            </a:extLst>
          </p:cNvPr>
          <p:cNvSpPr>
            <a:spLocks noGrp="1"/>
          </p:cNvSpPr>
          <p:nvPr>
            <p:ph type="title"/>
          </p:nvPr>
        </p:nvSpPr>
        <p:spPr/>
        <p:txBody>
          <a:bodyPr/>
          <a:lstStyle/>
          <a:p>
            <a:r>
              <a:rPr lang="en-GB" dirty="0"/>
              <a:t>Simple frequency table</a:t>
            </a:r>
          </a:p>
        </p:txBody>
      </p:sp>
      <p:pic>
        <p:nvPicPr>
          <p:cNvPr id="13" name="Picture 12">
            <a:extLst>
              <a:ext uri="{FF2B5EF4-FFF2-40B4-BE49-F238E27FC236}">
                <a16:creationId xmlns:a16="http://schemas.microsoft.com/office/drawing/2014/main" id="{3BA622EE-976F-46F7-BFF8-B229DD7FCAF7}"/>
              </a:ext>
            </a:extLst>
          </p:cNvPr>
          <p:cNvPicPr>
            <a:picLocks noChangeAspect="1"/>
          </p:cNvPicPr>
          <p:nvPr/>
        </p:nvPicPr>
        <p:blipFill>
          <a:blip r:embed="rId3"/>
          <a:stretch>
            <a:fillRect/>
          </a:stretch>
        </p:blipFill>
        <p:spPr>
          <a:xfrm>
            <a:off x="1948875" y="1718174"/>
            <a:ext cx="7656672" cy="2400981"/>
          </a:xfrm>
          <a:prstGeom prst="rect">
            <a:avLst/>
          </a:prstGeom>
        </p:spPr>
      </p:pic>
      <p:sp>
        <p:nvSpPr>
          <p:cNvPr id="14" name="Oval 13">
            <a:extLst>
              <a:ext uri="{FF2B5EF4-FFF2-40B4-BE49-F238E27FC236}">
                <a16:creationId xmlns:a16="http://schemas.microsoft.com/office/drawing/2014/main" id="{E5D8A5F3-3E9E-42BC-A5F2-2963A3FC4F85}"/>
              </a:ext>
            </a:extLst>
          </p:cNvPr>
          <p:cNvSpPr/>
          <p:nvPr/>
        </p:nvSpPr>
        <p:spPr>
          <a:xfrm>
            <a:off x="7262949" y="2177143"/>
            <a:ext cx="1105988" cy="5902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63082A75-761C-4039-8419-0DD33C62FBEF}"/>
              </a:ext>
            </a:extLst>
          </p:cNvPr>
          <p:cNvSpPr/>
          <p:nvPr/>
        </p:nvSpPr>
        <p:spPr>
          <a:xfrm>
            <a:off x="8464730" y="2177142"/>
            <a:ext cx="914401" cy="5902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626BBB5B-1452-475A-9241-C6A09F20A70B}"/>
              </a:ext>
            </a:extLst>
          </p:cNvPr>
          <p:cNvCxnSpPr>
            <a:cxnSpLocks/>
            <a:stCxn id="14" idx="3"/>
          </p:cNvCxnSpPr>
          <p:nvPr/>
        </p:nvCxnSpPr>
        <p:spPr>
          <a:xfrm flipH="1">
            <a:off x="1223367" y="2680967"/>
            <a:ext cx="6201550" cy="17369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80EC4E2-3D24-4D65-9059-D14DF8EB8CBB}"/>
              </a:ext>
            </a:extLst>
          </p:cNvPr>
          <p:cNvCxnSpPr>
            <a:cxnSpLocks/>
            <a:stCxn id="15" idx="4"/>
            <a:endCxn id="43" idx="0"/>
          </p:cNvCxnSpPr>
          <p:nvPr/>
        </p:nvCxnSpPr>
        <p:spPr>
          <a:xfrm>
            <a:off x="8921931" y="2767409"/>
            <a:ext cx="1058090" cy="16304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1113D6CD-71FB-4DE0-907D-3512AE56E310}"/>
              </a:ext>
            </a:extLst>
          </p:cNvPr>
          <p:cNvSpPr/>
          <p:nvPr/>
        </p:nvSpPr>
        <p:spPr>
          <a:xfrm>
            <a:off x="7251944" y="3528889"/>
            <a:ext cx="1105988" cy="5902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2D690533-73E1-468D-97DC-50E52ED5BF12}"/>
              </a:ext>
            </a:extLst>
          </p:cNvPr>
          <p:cNvCxnSpPr>
            <a:cxnSpLocks/>
            <a:stCxn id="36" idx="2"/>
          </p:cNvCxnSpPr>
          <p:nvPr/>
        </p:nvCxnSpPr>
        <p:spPr>
          <a:xfrm flipH="1">
            <a:off x="4414643" y="3824022"/>
            <a:ext cx="2837301" cy="578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FFFB6BC6-A0AF-443A-B657-C0DE1CED16BD}"/>
              </a:ext>
            </a:extLst>
          </p:cNvPr>
          <p:cNvPicPr>
            <a:picLocks noChangeAspect="1"/>
          </p:cNvPicPr>
          <p:nvPr/>
        </p:nvPicPr>
        <p:blipFill>
          <a:blip r:embed="rId4"/>
          <a:stretch>
            <a:fillRect/>
          </a:stretch>
        </p:blipFill>
        <p:spPr>
          <a:xfrm>
            <a:off x="8464730" y="4397894"/>
            <a:ext cx="3030582" cy="631788"/>
          </a:xfrm>
          <a:prstGeom prst="rect">
            <a:avLst/>
          </a:prstGeom>
        </p:spPr>
      </p:pic>
      <p:pic>
        <p:nvPicPr>
          <p:cNvPr id="45" name="Picture 44">
            <a:extLst>
              <a:ext uri="{FF2B5EF4-FFF2-40B4-BE49-F238E27FC236}">
                <a16:creationId xmlns:a16="http://schemas.microsoft.com/office/drawing/2014/main" id="{2C6FBCBE-661A-44C2-9F22-904B5989A10E}"/>
              </a:ext>
            </a:extLst>
          </p:cNvPr>
          <p:cNvPicPr>
            <a:picLocks noChangeAspect="1"/>
          </p:cNvPicPr>
          <p:nvPr/>
        </p:nvPicPr>
        <p:blipFill>
          <a:blip r:embed="rId5"/>
          <a:stretch>
            <a:fillRect/>
          </a:stretch>
        </p:blipFill>
        <p:spPr>
          <a:xfrm>
            <a:off x="5929836" y="4393088"/>
            <a:ext cx="2233986" cy="631788"/>
          </a:xfrm>
          <a:prstGeom prst="rect">
            <a:avLst/>
          </a:prstGeom>
        </p:spPr>
      </p:pic>
      <p:pic>
        <p:nvPicPr>
          <p:cNvPr id="75" name="Picture 74">
            <a:extLst>
              <a:ext uri="{FF2B5EF4-FFF2-40B4-BE49-F238E27FC236}">
                <a16:creationId xmlns:a16="http://schemas.microsoft.com/office/drawing/2014/main" id="{B58EF6D8-0412-4D1F-B695-4518FC924312}"/>
              </a:ext>
            </a:extLst>
          </p:cNvPr>
          <p:cNvPicPr>
            <a:picLocks noChangeAspect="1"/>
          </p:cNvPicPr>
          <p:nvPr/>
        </p:nvPicPr>
        <p:blipFill>
          <a:blip r:embed="rId6"/>
          <a:stretch>
            <a:fillRect/>
          </a:stretch>
        </p:blipFill>
        <p:spPr>
          <a:xfrm>
            <a:off x="3259351" y="4439610"/>
            <a:ext cx="2310584" cy="585267"/>
          </a:xfrm>
          <a:prstGeom prst="rect">
            <a:avLst/>
          </a:prstGeom>
        </p:spPr>
      </p:pic>
      <p:pic>
        <p:nvPicPr>
          <p:cNvPr id="78" name="Picture 77">
            <a:extLst>
              <a:ext uri="{FF2B5EF4-FFF2-40B4-BE49-F238E27FC236}">
                <a16:creationId xmlns:a16="http://schemas.microsoft.com/office/drawing/2014/main" id="{A8CB85B2-7F20-455C-B167-13A8277EE641}"/>
              </a:ext>
            </a:extLst>
          </p:cNvPr>
          <p:cNvPicPr>
            <a:picLocks noChangeAspect="1"/>
          </p:cNvPicPr>
          <p:nvPr/>
        </p:nvPicPr>
        <p:blipFill>
          <a:blip r:embed="rId7"/>
          <a:stretch>
            <a:fillRect/>
          </a:stretch>
        </p:blipFill>
        <p:spPr>
          <a:xfrm>
            <a:off x="766127" y="4439609"/>
            <a:ext cx="914479" cy="585267"/>
          </a:xfrm>
          <a:prstGeom prst="rect">
            <a:avLst/>
          </a:prstGeom>
        </p:spPr>
      </p:pic>
      <p:pic>
        <p:nvPicPr>
          <p:cNvPr id="80" name="Picture 79">
            <a:extLst>
              <a:ext uri="{FF2B5EF4-FFF2-40B4-BE49-F238E27FC236}">
                <a16:creationId xmlns:a16="http://schemas.microsoft.com/office/drawing/2014/main" id="{5D07AB60-92C3-4969-80FB-20373A2742E5}"/>
              </a:ext>
            </a:extLst>
          </p:cNvPr>
          <p:cNvPicPr>
            <a:picLocks noChangeAspect="1"/>
          </p:cNvPicPr>
          <p:nvPr/>
        </p:nvPicPr>
        <p:blipFill>
          <a:blip r:embed="rId8"/>
          <a:stretch>
            <a:fillRect/>
          </a:stretch>
        </p:blipFill>
        <p:spPr>
          <a:xfrm>
            <a:off x="2012739" y="4460582"/>
            <a:ext cx="914479" cy="585267"/>
          </a:xfrm>
          <a:prstGeom prst="rect">
            <a:avLst/>
          </a:prstGeom>
        </p:spPr>
      </p:pic>
      <p:cxnSp>
        <p:nvCxnSpPr>
          <p:cNvPr id="81" name="Straight Arrow Connector 80">
            <a:extLst>
              <a:ext uri="{FF2B5EF4-FFF2-40B4-BE49-F238E27FC236}">
                <a16:creationId xmlns:a16="http://schemas.microsoft.com/office/drawing/2014/main" id="{6BAEA148-DB4C-4B5A-91C2-783AA0437403}"/>
              </a:ext>
            </a:extLst>
          </p:cNvPr>
          <p:cNvCxnSpPr>
            <a:cxnSpLocks/>
            <a:stCxn id="83" idx="2"/>
            <a:endCxn id="80" idx="0"/>
          </p:cNvCxnSpPr>
          <p:nvPr/>
        </p:nvCxnSpPr>
        <p:spPr>
          <a:xfrm flipH="1">
            <a:off x="2469979" y="3167798"/>
            <a:ext cx="4792970" cy="12927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C068AE12-93EC-48AB-A185-54B334DA9555}"/>
              </a:ext>
            </a:extLst>
          </p:cNvPr>
          <p:cNvSpPr/>
          <p:nvPr/>
        </p:nvSpPr>
        <p:spPr>
          <a:xfrm>
            <a:off x="7262949" y="2872665"/>
            <a:ext cx="1105988" cy="5902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CC2ECC76-9574-934D-522B-829C26D47CFF}"/>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311CEEB0-FB87-2341-3A25-86B792FC503B}"/>
              </a:ext>
            </a:extLst>
          </p:cNvPr>
          <p:cNvSpPr>
            <a:spLocks noGrp="1"/>
          </p:cNvSpPr>
          <p:nvPr>
            <p:ph type="sldNum" sz="quarter" idx="12"/>
          </p:nvPr>
        </p:nvSpPr>
        <p:spPr/>
        <p:txBody>
          <a:bodyPr/>
          <a:lstStyle/>
          <a:p>
            <a:fld id="{9FAA51BB-2FC0-4DB8-B50E-F52D50E733B6}" type="slidenum">
              <a:rPr lang="en-GB" smtClean="0"/>
              <a:pPr/>
              <a:t>23</a:t>
            </a:fld>
            <a:endParaRPr lang="en-GB" dirty="0"/>
          </a:p>
        </p:txBody>
      </p:sp>
    </p:spTree>
    <p:extLst>
      <p:ext uri="{BB962C8B-B14F-4D97-AF65-F5344CB8AC3E}">
        <p14:creationId xmlns:p14="http://schemas.microsoft.com/office/powerpoint/2010/main" val="41495688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EDB9-6A5F-43C3-88F7-890B3663CE21}"/>
              </a:ext>
            </a:extLst>
          </p:cNvPr>
          <p:cNvSpPr>
            <a:spLocks noGrp="1"/>
          </p:cNvSpPr>
          <p:nvPr>
            <p:ph type="title"/>
          </p:nvPr>
        </p:nvSpPr>
        <p:spPr/>
        <p:txBody>
          <a:bodyPr/>
          <a:lstStyle/>
          <a:p>
            <a:r>
              <a:rPr lang="en-GB" dirty="0"/>
              <a:t>Simple frequency table</a:t>
            </a:r>
          </a:p>
        </p:txBody>
      </p:sp>
      <p:pic>
        <p:nvPicPr>
          <p:cNvPr id="4" name="Picture 3">
            <a:extLst>
              <a:ext uri="{FF2B5EF4-FFF2-40B4-BE49-F238E27FC236}">
                <a16:creationId xmlns:a16="http://schemas.microsoft.com/office/drawing/2014/main" id="{AB260A47-5738-4A07-9338-946F4B6A23DE}"/>
              </a:ext>
            </a:extLst>
          </p:cNvPr>
          <p:cNvPicPr>
            <a:picLocks noChangeAspect="1"/>
          </p:cNvPicPr>
          <p:nvPr/>
        </p:nvPicPr>
        <p:blipFill>
          <a:blip r:embed="rId3"/>
          <a:stretch>
            <a:fillRect/>
          </a:stretch>
        </p:blipFill>
        <p:spPr>
          <a:xfrm>
            <a:off x="1948875" y="1718174"/>
            <a:ext cx="7656672" cy="2400981"/>
          </a:xfrm>
          <a:prstGeom prst="rect">
            <a:avLst/>
          </a:prstGeom>
        </p:spPr>
      </p:pic>
      <p:pic>
        <p:nvPicPr>
          <p:cNvPr id="5" name="Picture 4">
            <a:extLst>
              <a:ext uri="{FF2B5EF4-FFF2-40B4-BE49-F238E27FC236}">
                <a16:creationId xmlns:a16="http://schemas.microsoft.com/office/drawing/2014/main" id="{CF1ABB3C-5B40-435E-9E4D-2C5C37439C7C}"/>
              </a:ext>
            </a:extLst>
          </p:cNvPr>
          <p:cNvPicPr>
            <a:picLocks noChangeAspect="1"/>
          </p:cNvPicPr>
          <p:nvPr/>
        </p:nvPicPr>
        <p:blipFill>
          <a:blip r:embed="rId4"/>
          <a:stretch>
            <a:fillRect/>
          </a:stretch>
        </p:blipFill>
        <p:spPr>
          <a:xfrm>
            <a:off x="1948875" y="4724878"/>
            <a:ext cx="1700931" cy="768163"/>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94C2B2-7C6C-412E-876F-6DD5A4C772FC}"/>
                  </a:ext>
                </a:extLst>
              </p:cNvPr>
              <p:cNvSpPr txBox="1"/>
              <p:nvPr/>
            </p:nvSpPr>
            <p:spPr>
              <a:xfrm>
                <a:off x="3886200" y="4410024"/>
                <a:ext cx="5719347" cy="642035"/>
              </a:xfrm>
              <a:prstGeom prst="rect">
                <a:avLst/>
              </a:prstGeom>
              <a:solidFill>
                <a:schemeClr val="bg1"/>
              </a:solid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𝑅𝑎𝑡𝑖𝑜</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m:rPr>
                          <m:nor/>
                        </m:rPr>
                        <a:rPr lang="en-GB" b="0" i="0" smtClean="0">
                          <a:latin typeface="Cambria Math" panose="02040503050406030204" pitchFamily="18" charset="0"/>
                        </a:rPr>
                        <m:t>leavers</m:t>
                      </m:r>
                      <m:r>
                        <a:rPr lang="en-GB" b="0" i="1" smtClean="0">
                          <a:latin typeface="Cambria Math" panose="02040503050406030204" pitchFamily="18" charset="0"/>
                        </a:rPr>
                        <m:t> </m:t>
                      </m:r>
                      <m:r>
                        <a:rPr lang="en-GB" b="0" i="1" smtClean="0">
                          <a:latin typeface="Cambria Math" panose="02040503050406030204" pitchFamily="18" charset="0"/>
                        </a:rPr>
                        <m:t>𝑡𝑜</m:t>
                      </m:r>
                      <m:r>
                        <a:rPr lang="en-GB" b="0" i="1" smtClean="0">
                          <a:latin typeface="Cambria Math" panose="02040503050406030204" pitchFamily="18" charset="0"/>
                        </a:rPr>
                        <m:t> </m:t>
                      </m:r>
                      <m:r>
                        <m:rPr>
                          <m:nor/>
                        </m:rPr>
                        <a:rPr lang="en-GB" b="0" i="0" smtClean="0">
                          <a:latin typeface="Cambria Math" panose="02040503050406030204" pitchFamily="18" charset="0"/>
                        </a:rPr>
                        <m:t>remainers</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14,224</m:t>
                          </m:r>
                        </m:num>
                        <m:den>
                          <m:r>
                            <a:rPr lang="en-GB" b="0" i="1" smtClean="0">
                              <a:latin typeface="Cambria Math" panose="02040503050406030204" pitchFamily="18" charset="0"/>
                            </a:rPr>
                            <m:t>20,048</m:t>
                          </m:r>
                        </m:den>
                      </m:f>
                      <m:r>
                        <a:rPr lang="en-GB" b="0" i="1" smtClean="0">
                          <a:latin typeface="Cambria Math" panose="02040503050406030204" pitchFamily="18" charset="0"/>
                        </a:rPr>
                        <m:t>=0.71</m:t>
                      </m:r>
                    </m:oMath>
                  </m:oMathPara>
                </a14:m>
                <a:endParaRPr lang="en-GB" dirty="0"/>
              </a:p>
            </p:txBody>
          </p:sp>
        </mc:Choice>
        <mc:Fallback xmlns="">
          <p:sp>
            <p:nvSpPr>
              <p:cNvPr id="3" name="TextBox 2">
                <a:extLst>
                  <a:ext uri="{FF2B5EF4-FFF2-40B4-BE49-F238E27FC236}">
                    <a16:creationId xmlns:a16="http://schemas.microsoft.com/office/drawing/2014/main" id="{B294C2B2-7C6C-412E-876F-6DD5A4C772FC}"/>
                  </a:ext>
                </a:extLst>
              </p:cNvPr>
              <p:cNvSpPr txBox="1">
                <a:spLocks noRot="1" noChangeAspect="1" noMove="1" noResize="1" noEditPoints="1" noAdjustHandles="1" noChangeArrowheads="1" noChangeShapeType="1" noTextEdit="1"/>
              </p:cNvSpPr>
              <p:nvPr/>
            </p:nvSpPr>
            <p:spPr>
              <a:xfrm>
                <a:off x="3886200" y="4410024"/>
                <a:ext cx="5719347" cy="64203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0395364-9281-4DAD-BDF3-4A1DEAE97EFA}"/>
                  </a:ext>
                </a:extLst>
              </p:cNvPr>
              <p:cNvSpPr txBox="1"/>
              <p:nvPr/>
            </p:nvSpPr>
            <p:spPr>
              <a:xfrm>
                <a:off x="3886199" y="5172024"/>
                <a:ext cx="5719347" cy="642035"/>
              </a:xfrm>
              <a:prstGeom prst="rect">
                <a:avLst/>
              </a:prstGeom>
              <a:solidFill>
                <a:schemeClr val="bg1"/>
              </a:solid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𝑅𝑎𝑡𝑖𝑜</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m:rPr>
                          <m:nor/>
                        </m:rPr>
                        <a:rPr lang="en-GB" b="0" i="0" smtClean="0">
                          <a:latin typeface="Cambria Math" panose="02040503050406030204" pitchFamily="18" charset="0"/>
                        </a:rPr>
                        <m:t>remainers</m:t>
                      </m:r>
                      <m:r>
                        <a:rPr lang="en-GB" b="0" i="1" smtClean="0">
                          <a:latin typeface="Cambria Math" panose="02040503050406030204" pitchFamily="18" charset="0"/>
                        </a:rPr>
                        <m:t> </m:t>
                      </m:r>
                      <m:r>
                        <a:rPr lang="en-GB" b="0" i="1" smtClean="0">
                          <a:latin typeface="Cambria Math" panose="02040503050406030204" pitchFamily="18" charset="0"/>
                        </a:rPr>
                        <m:t>𝑡𝑜</m:t>
                      </m:r>
                      <m:r>
                        <a:rPr lang="en-GB" b="0" i="1" smtClean="0">
                          <a:latin typeface="Cambria Math" panose="02040503050406030204" pitchFamily="18" charset="0"/>
                        </a:rPr>
                        <m:t> </m:t>
                      </m:r>
                      <m:r>
                        <m:rPr>
                          <m:nor/>
                        </m:rPr>
                        <a:rPr lang="en-GB" b="0" i="0" smtClean="0">
                          <a:latin typeface="Cambria Math" panose="02040503050406030204" pitchFamily="18" charset="0"/>
                        </a:rPr>
                        <m:t>leavers</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20,048</m:t>
                          </m:r>
                        </m:num>
                        <m:den>
                          <m:r>
                            <a:rPr lang="en-GB" b="0" i="1" smtClean="0">
                              <a:latin typeface="Cambria Math" panose="02040503050406030204" pitchFamily="18" charset="0"/>
                            </a:rPr>
                            <m:t>14,224</m:t>
                          </m:r>
                        </m:den>
                      </m:f>
                      <m:r>
                        <a:rPr lang="en-GB" b="0" i="1" smtClean="0">
                          <a:latin typeface="Cambria Math" panose="02040503050406030204" pitchFamily="18" charset="0"/>
                        </a:rPr>
                        <m:t>=1.41</m:t>
                      </m:r>
                    </m:oMath>
                  </m:oMathPara>
                </a14:m>
                <a:endParaRPr lang="en-GB" dirty="0"/>
              </a:p>
            </p:txBody>
          </p:sp>
        </mc:Choice>
        <mc:Fallback xmlns="">
          <p:sp>
            <p:nvSpPr>
              <p:cNvPr id="6" name="TextBox 5">
                <a:extLst>
                  <a:ext uri="{FF2B5EF4-FFF2-40B4-BE49-F238E27FC236}">
                    <a16:creationId xmlns:a16="http://schemas.microsoft.com/office/drawing/2014/main" id="{E0395364-9281-4DAD-BDF3-4A1DEAE97EFA}"/>
                  </a:ext>
                </a:extLst>
              </p:cNvPr>
              <p:cNvSpPr txBox="1">
                <a:spLocks noRot="1" noChangeAspect="1" noMove="1" noResize="1" noEditPoints="1" noAdjustHandles="1" noChangeArrowheads="1" noChangeShapeType="1" noTextEdit="1"/>
              </p:cNvSpPr>
              <p:nvPr/>
            </p:nvSpPr>
            <p:spPr>
              <a:xfrm>
                <a:off x="3886199" y="5172024"/>
                <a:ext cx="5719347" cy="642035"/>
              </a:xfrm>
              <a:prstGeom prst="rect">
                <a:avLst/>
              </a:prstGeom>
              <a:blipFill>
                <a:blip r:embed="rId6"/>
                <a:stretch>
                  <a:fillRect/>
                </a:stretch>
              </a:blipFill>
            </p:spPr>
            <p:txBody>
              <a:bodyPr/>
              <a:lstStyle/>
              <a:p>
                <a:r>
                  <a:rPr lang="en-GB">
                    <a:noFill/>
                  </a:rPr>
                  <a:t> </a:t>
                </a:r>
              </a:p>
            </p:txBody>
          </p:sp>
        </mc:Fallback>
      </mc:AlternateContent>
      <p:sp>
        <p:nvSpPr>
          <p:cNvPr id="8" name="Footer Placeholder 7">
            <a:extLst>
              <a:ext uri="{FF2B5EF4-FFF2-40B4-BE49-F238E27FC236}">
                <a16:creationId xmlns:a16="http://schemas.microsoft.com/office/drawing/2014/main" id="{A5A36ECE-1A7C-BB74-E26D-5F39E8879877}"/>
              </a:ext>
            </a:extLst>
          </p:cNvPr>
          <p:cNvSpPr>
            <a:spLocks noGrp="1"/>
          </p:cNvSpPr>
          <p:nvPr>
            <p:ph type="ftr" sz="quarter" idx="11"/>
          </p:nvPr>
        </p:nvSpPr>
        <p:spPr/>
        <p:txBody>
          <a:bodyPr/>
          <a:lstStyle/>
          <a:p>
            <a:r>
              <a:rPr lang="en-GB"/>
              <a:t>Measurement and Description</a:t>
            </a:r>
            <a:endParaRPr lang="en-GB" dirty="0"/>
          </a:p>
        </p:txBody>
      </p:sp>
      <p:sp>
        <p:nvSpPr>
          <p:cNvPr id="9" name="Slide Number Placeholder 8">
            <a:extLst>
              <a:ext uri="{FF2B5EF4-FFF2-40B4-BE49-F238E27FC236}">
                <a16:creationId xmlns:a16="http://schemas.microsoft.com/office/drawing/2014/main" id="{F51B286F-2AA5-13F3-A016-6C1FF5AE65A3}"/>
              </a:ext>
            </a:extLst>
          </p:cNvPr>
          <p:cNvSpPr>
            <a:spLocks noGrp="1"/>
          </p:cNvSpPr>
          <p:nvPr>
            <p:ph type="sldNum" sz="quarter" idx="12"/>
          </p:nvPr>
        </p:nvSpPr>
        <p:spPr/>
        <p:txBody>
          <a:bodyPr/>
          <a:lstStyle/>
          <a:p>
            <a:fld id="{9FAA51BB-2FC0-4DB8-B50E-F52D50E733B6}" type="slidenum">
              <a:rPr lang="en-GB" smtClean="0"/>
              <a:pPr/>
              <a:t>24</a:t>
            </a:fld>
            <a:endParaRPr lang="en-GB" dirty="0"/>
          </a:p>
        </p:txBody>
      </p:sp>
    </p:spTree>
    <p:extLst>
      <p:ext uri="{BB962C8B-B14F-4D97-AF65-F5344CB8AC3E}">
        <p14:creationId xmlns:p14="http://schemas.microsoft.com/office/powerpoint/2010/main" val="30768400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7743-1C9F-44FE-8058-93C7AD8886DF}"/>
              </a:ext>
            </a:extLst>
          </p:cNvPr>
          <p:cNvSpPr>
            <a:spLocks noGrp="1"/>
          </p:cNvSpPr>
          <p:nvPr>
            <p:ph type="title"/>
          </p:nvPr>
        </p:nvSpPr>
        <p:spPr/>
        <p:txBody>
          <a:bodyPr/>
          <a:lstStyle/>
          <a:p>
            <a:r>
              <a:rPr lang="en-GB" dirty="0"/>
              <a:t>Question:</a:t>
            </a:r>
          </a:p>
        </p:txBody>
      </p:sp>
      <p:pic>
        <p:nvPicPr>
          <p:cNvPr id="7" name="Picture 6">
            <a:extLst>
              <a:ext uri="{FF2B5EF4-FFF2-40B4-BE49-F238E27FC236}">
                <a16:creationId xmlns:a16="http://schemas.microsoft.com/office/drawing/2014/main" id="{9F4FE492-1C0A-4E3D-8D9D-ABED65B3F6B5}"/>
              </a:ext>
            </a:extLst>
          </p:cNvPr>
          <p:cNvPicPr>
            <a:picLocks noChangeAspect="1"/>
          </p:cNvPicPr>
          <p:nvPr/>
        </p:nvPicPr>
        <p:blipFill>
          <a:blip r:embed="rId2"/>
          <a:stretch>
            <a:fillRect/>
          </a:stretch>
        </p:blipFill>
        <p:spPr>
          <a:xfrm>
            <a:off x="1223961" y="1633537"/>
            <a:ext cx="7820979" cy="3640044"/>
          </a:xfrm>
          <a:prstGeom prst="rect">
            <a:avLst/>
          </a:prstGeom>
        </p:spPr>
      </p:pic>
      <p:sp>
        <p:nvSpPr>
          <p:cNvPr id="9" name="TextBox 8">
            <a:extLst>
              <a:ext uri="{FF2B5EF4-FFF2-40B4-BE49-F238E27FC236}">
                <a16:creationId xmlns:a16="http://schemas.microsoft.com/office/drawing/2014/main" id="{5598A5D3-C626-482C-A7CE-36C7F9053E38}"/>
              </a:ext>
            </a:extLst>
          </p:cNvPr>
          <p:cNvSpPr txBox="1"/>
          <p:nvPr/>
        </p:nvSpPr>
        <p:spPr>
          <a:xfrm>
            <a:off x="1223961" y="5356860"/>
            <a:ext cx="8819198" cy="400110"/>
          </a:xfrm>
          <a:prstGeom prst="rect">
            <a:avLst/>
          </a:prstGeom>
          <a:solidFill>
            <a:schemeClr val="bg1"/>
          </a:solidFill>
        </p:spPr>
        <p:txBody>
          <a:bodyPr wrap="square" rtlCol="0">
            <a:spAutoFit/>
          </a:bodyPr>
          <a:lstStyle/>
          <a:p>
            <a:r>
              <a:rPr lang="en-GB" sz="2000" dirty="0"/>
              <a:t>What is the ratio of singles to married respondents in the dataset?</a:t>
            </a:r>
          </a:p>
        </p:txBody>
      </p:sp>
      <p:sp>
        <p:nvSpPr>
          <p:cNvPr id="4" name="Footer Placeholder 3">
            <a:extLst>
              <a:ext uri="{FF2B5EF4-FFF2-40B4-BE49-F238E27FC236}">
                <a16:creationId xmlns:a16="http://schemas.microsoft.com/office/drawing/2014/main" id="{98B69BD4-D6A1-2FFC-6398-D19CBDA01D09}"/>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C938F03E-0773-58D9-32F8-48AA2AAD991B}"/>
              </a:ext>
            </a:extLst>
          </p:cNvPr>
          <p:cNvSpPr>
            <a:spLocks noGrp="1"/>
          </p:cNvSpPr>
          <p:nvPr>
            <p:ph type="sldNum" sz="quarter" idx="12"/>
          </p:nvPr>
        </p:nvSpPr>
        <p:spPr/>
        <p:txBody>
          <a:bodyPr/>
          <a:lstStyle/>
          <a:p>
            <a:fld id="{9FAA51BB-2FC0-4DB8-B50E-F52D50E733B6}" type="slidenum">
              <a:rPr lang="en-GB" smtClean="0"/>
              <a:pPr/>
              <a:t>25</a:t>
            </a:fld>
            <a:endParaRPr lang="en-GB" dirty="0"/>
          </a:p>
        </p:txBody>
      </p:sp>
    </p:spTree>
    <p:extLst>
      <p:ext uri="{BB962C8B-B14F-4D97-AF65-F5344CB8AC3E}">
        <p14:creationId xmlns:p14="http://schemas.microsoft.com/office/powerpoint/2010/main" val="42718992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7743-1C9F-44FE-8058-93C7AD8886DF}"/>
              </a:ext>
            </a:extLst>
          </p:cNvPr>
          <p:cNvSpPr>
            <a:spLocks noGrp="1"/>
          </p:cNvSpPr>
          <p:nvPr>
            <p:ph type="title"/>
          </p:nvPr>
        </p:nvSpPr>
        <p:spPr/>
        <p:txBody>
          <a:bodyPr/>
          <a:lstStyle/>
          <a:p>
            <a:r>
              <a:rPr lang="en-GB" dirty="0"/>
              <a:t>Summary frequency table</a:t>
            </a:r>
          </a:p>
        </p:txBody>
      </p:sp>
      <p:pic>
        <p:nvPicPr>
          <p:cNvPr id="4" name="Picture 3">
            <a:extLst>
              <a:ext uri="{FF2B5EF4-FFF2-40B4-BE49-F238E27FC236}">
                <a16:creationId xmlns:a16="http://schemas.microsoft.com/office/drawing/2014/main" id="{947999C3-5C40-468A-A76A-1500E262D266}"/>
              </a:ext>
            </a:extLst>
          </p:cNvPr>
          <p:cNvPicPr>
            <a:picLocks noChangeAspect="1"/>
          </p:cNvPicPr>
          <p:nvPr/>
        </p:nvPicPr>
        <p:blipFill>
          <a:blip r:embed="rId2"/>
          <a:stretch>
            <a:fillRect/>
          </a:stretch>
        </p:blipFill>
        <p:spPr>
          <a:xfrm>
            <a:off x="1130270" y="1644014"/>
            <a:ext cx="6080427" cy="4257475"/>
          </a:xfrm>
          <a:prstGeom prst="rect">
            <a:avLst/>
          </a:prstGeom>
        </p:spPr>
      </p:pic>
      <p:sp>
        <p:nvSpPr>
          <p:cNvPr id="5" name="Footer Placeholder 4">
            <a:extLst>
              <a:ext uri="{FF2B5EF4-FFF2-40B4-BE49-F238E27FC236}">
                <a16:creationId xmlns:a16="http://schemas.microsoft.com/office/drawing/2014/main" id="{C9491BC5-1095-75DB-C74F-1DC7D23BA488}"/>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BB2ECF07-98E6-A0A5-DD56-A948D4EBA8F2}"/>
              </a:ext>
            </a:extLst>
          </p:cNvPr>
          <p:cNvSpPr>
            <a:spLocks noGrp="1"/>
          </p:cNvSpPr>
          <p:nvPr>
            <p:ph type="sldNum" sz="quarter" idx="12"/>
          </p:nvPr>
        </p:nvSpPr>
        <p:spPr/>
        <p:txBody>
          <a:bodyPr/>
          <a:lstStyle/>
          <a:p>
            <a:fld id="{9FAA51BB-2FC0-4DB8-B50E-F52D50E733B6}" type="slidenum">
              <a:rPr lang="en-GB" smtClean="0"/>
              <a:pPr/>
              <a:t>26</a:t>
            </a:fld>
            <a:endParaRPr lang="en-GB" dirty="0"/>
          </a:p>
        </p:txBody>
      </p:sp>
    </p:spTree>
    <p:extLst>
      <p:ext uri="{BB962C8B-B14F-4D97-AF65-F5344CB8AC3E}">
        <p14:creationId xmlns:p14="http://schemas.microsoft.com/office/powerpoint/2010/main" val="6239192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EDB9-6A5F-43C3-88F7-890B3663CE21}"/>
              </a:ext>
            </a:extLst>
          </p:cNvPr>
          <p:cNvSpPr>
            <a:spLocks noGrp="1"/>
          </p:cNvSpPr>
          <p:nvPr>
            <p:ph type="title"/>
          </p:nvPr>
        </p:nvSpPr>
        <p:spPr/>
        <p:txBody>
          <a:bodyPr/>
          <a:lstStyle/>
          <a:p>
            <a:r>
              <a:rPr lang="en-GB" dirty="0"/>
              <a:t>Summary frequency table</a:t>
            </a:r>
          </a:p>
        </p:txBody>
      </p:sp>
      <p:pic>
        <p:nvPicPr>
          <p:cNvPr id="9" name="Picture 8">
            <a:extLst>
              <a:ext uri="{FF2B5EF4-FFF2-40B4-BE49-F238E27FC236}">
                <a16:creationId xmlns:a16="http://schemas.microsoft.com/office/drawing/2014/main" id="{8B932D6C-F05B-46A2-B044-811478A104E6}"/>
              </a:ext>
            </a:extLst>
          </p:cNvPr>
          <p:cNvPicPr>
            <a:picLocks noChangeAspect="1"/>
          </p:cNvPicPr>
          <p:nvPr/>
        </p:nvPicPr>
        <p:blipFill>
          <a:blip r:embed="rId2"/>
          <a:stretch>
            <a:fillRect/>
          </a:stretch>
        </p:blipFill>
        <p:spPr>
          <a:xfrm>
            <a:off x="1130270" y="1644014"/>
            <a:ext cx="6080427" cy="4257475"/>
          </a:xfrm>
          <a:prstGeom prst="rect">
            <a:avLst/>
          </a:prstGeom>
        </p:spPr>
      </p:pic>
      <p:sp>
        <p:nvSpPr>
          <p:cNvPr id="10" name="Rectangle: Rounded Corners 9">
            <a:extLst>
              <a:ext uri="{FF2B5EF4-FFF2-40B4-BE49-F238E27FC236}">
                <a16:creationId xmlns:a16="http://schemas.microsoft.com/office/drawing/2014/main" id="{97ADBBC9-44BC-4E5C-B50F-07DD680CEB71}"/>
              </a:ext>
            </a:extLst>
          </p:cNvPr>
          <p:cNvSpPr/>
          <p:nvPr/>
        </p:nvSpPr>
        <p:spPr>
          <a:xfrm>
            <a:off x="1210492" y="2412274"/>
            <a:ext cx="4650378" cy="1576252"/>
          </a:xfrm>
          <a:prstGeom prst="roundRect">
            <a:avLst>
              <a:gd name="adj" fmla="val 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ight Brace 10">
            <a:extLst>
              <a:ext uri="{FF2B5EF4-FFF2-40B4-BE49-F238E27FC236}">
                <a16:creationId xmlns:a16="http://schemas.microsoft.com/office/drawing/2014/main" id="{33E8540D-2E5A-4E6F-B4FC-31A688775D30}"/>
              </a:ext>
            </a:extLst>
          </p:cNvPr>
          <p:cNvSpPr/>
          <p:nvPr/>
        </p:nvSpPr>
        <p:spPr>
          <a:xfrm>
            <a:off x="5860869" y="2508069"/>
            <a:ext cx="235131" cy="452845"/>
          </a:xfrm>
          <a:prstGeom prst="rightBrace">
            <a:avLst>
              <a:gd name="adj1" fmla="val 8333"/>
              <a:gd name="adj2" fmla="val 65385"/>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Right Brace 11">
            <a:extLst>
              <a:ext uri="{FF2B5EF4-FFF2-40B4-BE49-F238E27FC236}">
                <a16:creationId xmlns:a16="http://schemas.microsoft.com/office/drawing/2014/main" id="{8AE3F62E-9BFD-4D98-B425-20AB5912D4DF}"/>
              </a:ext>
            </a:extLst>
          </p:cNvPr>
          <p:cNvSpPr/>
          <p:nvPr/>
        </p:nvSpPr>
        <p:spPr>
          <a:xfrm>
            <a:off x="6013269" y="2508069"/>
            <a:ext cx="290407" cy="679268"/>
          </a:xfrm>
          <a:prstGeom prst="rightBrace">
            <a:avLst>
              <a:gd name="adj1" fmla="val 8333"/>
              <a:gd name="adj2" fmla="val 85898"/>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ight Brace 12">
            <a:extLst>
              <a:ext uri="{FF2B5EF4-FFF2-40B4-BE49-F238E27FC236}">
                <a16:creationId xmlns:a16="http://schemas.microsoft.com/office/drawing/2014/main" id="{5737B716-D904-4CD9-B6A0-E27C2206E63E}"/>
              </a:ext>
            </a:extLst>
          </p:cNvPr>
          <p:cNvSpPr/>
          <p:nvPr/>
        </p:nvSpPr>
        <p:spPr>
          <a:xfrm>
            <a:off x="6201833" y="2508068"/>
            <a:ext cx="290407" cy="920932"/>
          </a:xfrm>
          <a:prstGeom prst="rightBrace">
            <a:avLst>
              <a:gd name="adj1" fmla="val 8333"/>
              <a:gd name="adj2" fmla="val 8968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28D64A08-C5DC-4DC5-9052-8709620E3488}"/>
              </a:ext>
            </a:extLst>
          </p:cNvPr>
          <p:cNvSpPr/>
          <p:nvPr/>
        </p:nvSpPr>
        <p:spPr>
          <a:xfrm>
            <a:off x="1210492" y="4046563"/>
            <a:ext cx="4650378" cy="1509506"/>
          </a:xfrm>
          <a:prstGeom prst="roundRect">
            <a:avLst>
              <a:gd name="adj" fmla="val 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63F7066C-F3D3-E36D-86DC-2782DC46CDEA}"/>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7BCC7C22-A50C-170F-AB45-112BBC82D695}"/>
              </a:ext>
            </a:extLst>
          </p:cNvPr>
          <p:cNvSpPr>
            <a:spLocks noGrp="1"/>
          </p:cNvSpPr>
          <p:nvPr>
            <p:ph type="sldNum" sz="quarter" idx="12"/>
          </p:nvPr>
        </p:nvSpPr>
        <p:spPr/>
        <p:txBody>
          <a:bodyPr/>
          <a:lstStyle/>
          <a:p>
            <a:fld id="{9FAA51BB-2FC0-4DB8-B50E-F52D50E733B6}" type="slidenum">
              <a:rPr lang="en-GB" smtClean="0"/>
              <a:pPr/>
              <a:t>27</a:t>
            </a:fld>
            <a:endParaRPr lang="en-GB" dirty="0"/>
          </a:p>
        </p:txBody>
      </p:sp>
    </p:spTree>
    <p:extLst>
      <p:ext uri="{BB962C8B-B14F-4D97-AF65-F5344CB8AC3E}">
        <p14:creationId xmlns:p14="http://schemas.microsoft.com/office/powerpoint/2010/main" val="8405037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
            <a:extLst>
              <a:ext uri="{FF2B5EF4-FFF2-40B4-BE49-F238E27FC236}">
                <a16:creationId xmlns:a16="http://schemas.microsoft.com/office/drawing/2014/main" id="{BB22E9B1-3DC5-42DF-923F-4E8001819F4D}"/>
              </a:ext>
            </a:extLst>
          </p:cNvPr>
          <p:cNvPicPr>
            <a:picLocks noChangeAspect="1"/>
          </p:cNvPicPr>
          <p:nvPr/>
        </p:nvPicPr>
        <p:blipFill rotWithShape="1">
          <a:blip r:embed="rId3"/>
          <a:srcRect t="10824" r="9090" b="7356"/>
          <a:stretch/>
        </p:blipFill>
        <p:spPr>
          <a:xfrm>
            <a:off x="2" y="10"/>
            <a:ext cx="12191695" cy="6857990"/>
          </a:xfrm>
          <a:prstGeom prst="rect">
            <a:avLst/>
          </a:prstGeom>
        </p:spPr>
      </p:pic>
      <p:sp>
        <p:nvSpPr>
          <p:cNvPr id="2" name="Title 1">
            <a:extLst>
              <a:ext uri="{FF2B5EF4-FFF2-40B4-BE49-F238E27FC236}">
                <a16:creationId xmlns:a16="http://schemas.microsoft.com/office/drawing/2014/main" id="{60C4B25A-7A41-4AEA-935C-86980FFB7802}"/>
              </a:ext>
            </a:extLst>
          </p:cNvPr>
          <p:cNvSpPr>
            <a:spLocks noGrp="1"/>
          </p:cNvSpPr>
          <p:nvPr>
            <p:ph type="title"/>
          </p:nvPr>
        </p:nvSpPr>
        <p:spPr/>
        <p:txBody>
          <a:bodyPr vert="horz" lIns="91440" tIns="45720" rIns="91440" bIns="0" rtlCol="0" anchor="b">
            <a:normAutofit/>
          </a:bodyPr>
          <a:lstStyle/>
          <a:p>
            <a:pPr algn="r"/>
            <a:r>
              <a:rPr lang="en-US" sz="4400" dirty="0">
                <a:solidFill>
                  <a:srgbClr val="FFFFFE"/>
                </a:solidFill>
              </a:rPr>
              <a:t>Central tendency</a:t>
            </a:r>
          </a:p>
        </p:txBody>
      </p:sp>
      <p:sp>
        <p:nvSpPr>
          <p:cNvPr id="4" name="Text Placeholder 3">
            <a:extLst>
              <a:ext uri="{FF2B5EF4-FFF2-40B4-BE49-F238E27FC236}">
                <a16:creationId xmlns:a16="http://schemas.microsoft.com/office/drawing/2014/main" id="{EA8A8C7F-216B-4C24-84F3-351180DFE941}"/>
              </a:ext>
            </a:extLst>
          </p:cNvPr>
          <p:cNvSpPr>
            <a:spLocks noGrp="1"/>
          </p:cNvSpPr>
          <p:nvPr>
            <p:ph type="body" sz="half" idx="2"/>
          </p:nvPr>
        </p:nvSpPr>
        <p:spPr/>
        <p:txBody>
          <a:bodyPr vert="horz" lIns="91440" tIns="91440" rIns="91440" bIns="91440" rtlCol="0">
            <a:normAutofit/>
          </a:bodyPr>
          <a:lstStyle/>
          <a:p>
            <a:pPr algn="r"/>
            <a:r>
              <a:rPr lang="en-US" sz="1600" dirty="0">
                <a:solidFill>
                  <a:srgbClr val="FFFFFE"/>
                </a:solidFill>
              </a:rPr>
              <a:t>Mean, Median, Mode</a:t>
            </a:r>
          </a:p>
        </p:txBody>
      </p:sp>
      <p:sp>
        <p:nvSpPr>
          <p:cNvPr id="5" name="Footer Placeholder 4">
            <a:extLst>
              <a:ext uri="{FF2B5EF4-FFF2-40B4-BE49-F238E27FC236}">
                <a16:creationId xmlns:a16="http://schemas.microsoft.com/office/drawing/2014/main" id="{BAA51A6D-CB31-F7A8-8090-5A6A455F59B9}"/>
              </a:ext>
            </a:extLst>
          </p:cNvPr>
          <p:cNvSpPr>
            <a:spLocks noGrp="1"/>
          </p:cNvSpPr>
          <p:nvPr>
            <p:ph type="ftr" sz="quarter" idx="11"/>
          </p:nvPr>
        </p:nvSpPr>
        <p:spPr/>
        <p:txBody>
          <a:bodyPr/>
          <a:lstStyle/>
          <a:p>
            <a:r>
              <a:rPr lang="en-GB"/>
              <a:t>Measurement and Description</a:t>
            </a:r>
          </a:p>
        </p:txBody>
      </p:sp>
      <p:sp>
        <p:nvSpPr>
          <p:cNvPr id="7" name="Slide Number Placeholder 6">
            <a:extLst>
              <a:ext uri="{FF2B5EF4-FFF2-40B4-BE49-F238E27FC236}">
                <a16:creationId xmlns:a16="http://schemas.microsoft.com/office/drawing/2014/main" id="{9840E041-3CD9-1410-5D4D-F43559907802}"/>
              </a:ext>
            </a:extLst>
          </p:cNvPr>
          <p:cNvSpPr>
            <a:spLocks noGrp="1"/>
          </p:cNvSpPr>
          <p:nvPr>
            <p:ph type="sldNum" sz="quarter" idx="12"/>
          </p:nvPr>
        </p:nvSpPr>
        <p:spPr/>
        <p:txBody>
          <a:bodyPr/>
          <a:lstStyle/>
          <a:p>
            <a:fld id="{9FAA51BB-2FC0-4DB8-B50E-F52D50E733B6}" type="slidenum">
              <a:rPr lang="en-GB" smtClean="0"/>
              <a:t>28</a:t>
            </a:fld>
            <a:endParaRPr lang="en-GB"/>
          </a:p>
        </p:txBody>
      </p:sp>
    </p:spTree>
    <p:extLst>
      <p:ext uri="{BB962C8B-B14F-4D97-AF65-F5344CB8AC3E}">
        <p14:creationId xmlns:p14="http://schemas.microsoft.com/office/powerpoint/2010/main" val="8987196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F937-CB9E-4768-865B-E6969F560B01}"/>
              </a:ext>
            </a:extLst>
          </p:cNvPr>
          <p:cNvSpPr>
            <a:spLocks noGrp="1"/>
          </p:cNvSpPr>
          <p:nvPr>
            <p:ph type="title"/>
          </p:nvPr>
        </p:nvSpPr>
        <p:spPr/>
        <p:txBody>
          <a:bodyPr/>
          <a:lstStyle/>
          <a:p>
            <a:r>
              <a:rPr lang="en-GB" dirty="0"/>
              <a:t>Measures of ‘central tendency’</a:t>
            </a:r>
          </a:p>
        </p:txBody>
      </p:sp>
      <p:pic>
        <p:nvPicPr>
          <p:cNvPr id="6" name="Content Placeholder 5">
            <a:extLst>
              <a:ext uri="{FF2B5EF4-FFF2-40B4-BE49-F238E27FC236}">
                <a16:creationId xmlns:a16="http://schemas.microsoft.com/office/drawing/2014/main" id="{FA100196-E71B-400B-B56E-458F765CF89B}"/>
              </a:ext>
            </a:extLst>
          </p:cNvPr>
          <p:cNvPicPr>
            <a:picLocks noGrp="1" noChangeAspect="1"/>
          </p:cNvPicPr>
          <p:nvPr>
            <p:ph idx="4294967295"/>
          </p:nvPr>
        </p:nvPicPr>
        <p:blipFill>
          <a:blip r:embed="rId3"/>
          <a:stretch>
            <a:fillRect/>
          </a:stretch>
        </p:blipFill>
        <p:spPr>
          <a:xfrm>
            <a:off x="756746" y="1448385"/>
            <a:ext cx="9602788" cy="1784350"/>
          </a:xfrm>
          <a:prstGeom prst="rect">
            <a:avLst/>
          </a:prstGeom>
        </p:spPr>
      </p:pic>
      <p:pic>
        <p:nvPicPr>
          <p:cNvPr id="7" name="Picture 6">
            <a:extLst>
              <a:ext uri="{FF2B5EF4-FFF2-40B4-BE49-F238E27FC236}">
                <a16:creationId xmlns:a16="http://schemas.microsoft.com/office/drawing/2014/main" id="{36630C34-C731-4342-83C8-01F221FEAD68}"/>
              </a:ext>
            </a:extLst>
          </p:cNvPr>
          <p:cNvPicPr>
            <a:picLocks noChangeAspect="1"/>
          </p:cNvPicPr>
          <p:nvPr/>
        </p:nvPicPr>
        <p:blipFill>
          <a:blip r:embed="rId4"/>
          <a:stretch>
            <a:fillRect/>
          </a:stretch>
        </p:blipFill>
        <p:spPr>
          <a:xfrm>
            <a:off x="1130270" y="4012157"/>
            <a:ext cx="6790768" cy="1668207"/>
          </a:xfrm>
          <a:prstGeom prst="rect">
            <a:avLst/>
          </a:prstGeom>
        </p:spPr>
      </p:pic>
      <p:sp>
        <p:nvSpPr>
          <p:cNvPr id="8" name="TextBox 7">
            <a:extLst>
              <a:ext uri="{FF2B5EF4-FFF2-40B4-BE49-F238E27FC236}">
                <a16:creationId xmlns:a16="http://schemas.microsoft.com/office/drawing/2014/main" id="{925D2F79-46D3-44B6-9B91-2E03DBB6F41F}"/>
              </a:ext>
            </a:extLst>
          </p:cNvPr>
          <p:cNvSpPr txBox="1"/>
          <p:nvPr/>
        </p:nvSpPr>
        <p:spPr>
          <a:xfrm>
            <a:off x="1130270" y="3429000"/>
            <a:ext cx="4051330" cy="369332"/>
          </a:xfrm>
          <a:prstGeom prst="rect">
            <a:avLst/>
          </a:prstGeom>
          <a:noFill/>
        </p:spPr>
        <p:txBody>
          <a:bodyPr wrap="square" rtlCol="0">
            <a:spAutoFit/>
          </a:bodyPr>
          <a:lstStyle/>
          <a:p>
            <a:r>
              <a:rPr lang="en-GB" b="1" dirty="0"/>
              <a:t>Example 1: Mean</a:t>
            </a:r>
          </a:p>
        </p:txBody>
      </p:sp>
      <p:pic>
        <p:nvPicPr>
          <p:cNvPr id="11" name="Picture 10">
            <a:extLst>
              <a:ext uri="{FF2B5EF4-FFF2-40B4-BE49-F238E27FC236}">
                <a16:creationId xmlns:a16="http://schemas.microsoft.com/office/drawing/2014/main" id="{73683E45-7A24-47CF-B975-5539A0ECAB5E}"/>
              </a:ext>
            </a:extLst>
          </p:cNvPr>
          <p:cNvPicPr>
            <a:picLocks noChangeAspect="1"/>
          </p:cNvPicPr>
          <p:nvPr/>
        </p:nvPicPr>
        <p:blipFill>
          <a:blip r:embed="rId5"/>
          <a:stretch>
            <a:fillRect/>
          </a:stretch>
        </p:blipFill>
        <p:spPr>
          <a:xfrm>
            <a:off x="8619344" y="4012156"/>
            <a:ext cx="2113957" cy="1671501"/>
          </a:xfrm>
          <a:prstGeom prst="rect">
            <a:avLst/>
          </a:prstGeom>
        </p:spPr>
      </p:pic>
      <p:sp>
        <p:nvSpPr>
          <p:cNvPr id="4" name="Footer Placeholder 3">
            <a:extLst>
              <a:ext uri="{FF2B5EF4-FFF2-40B4-BE49-F238E27FC236}">
                <a16:creationId xmlns:a16="http://schemas.microsoft.com/office/drawing/2014/main" id="{07EF749C-8156-9FD3-741A-F534D5C5EE1A}"/>
              </a:ext>
            </a:extLst>
          </p:cNvPr>
          <p:cNvSpPr>
            <a:spLocks noGrp="1"/>
          </p:cNvSpPr>
          <p:nvPr>
            <p:ph type="ftr" sz="quarter" idx="11"/>
          </p:nvPr>
        </p:nvSpPr>
        <p:spPr/>
        <p:txBody>
          <a:bodyPr/>
          <a:lstStyle/>
          <a:p>
            <a:r>
              <a:rPr lang="en-GB"/>
              <a:t>Measurement and Description</a:t>
            </a:r>
          </a:p>
        </p:txBody>
      </p:sp>
      <p:sp>
        <p:nvSpPr>
          <p:cNvPr id="5" name="Slide Number Placeholder 4">
            <a:extLst>
              <a:ext uri="{FF2B5EF4-FFF2-40B4-BE49-F238E27FC236}">
                <a16:creationId xmlns:a16="http://schemas.microsoft.com/office/drawing/2014/main" id="{89046F97-9944-91EE-E72A-DC6B9DAD6437}"/>
              </a:ext>
            </a:extLst>
          </p:cNvPr>
          <p:cNvSpPr>
            <a:spLocks noGrp="1"/>
          </p:cNvSpPr>
          <p:nvPr>
            <p:ph type="sldNum" sz="quarter" idx="12"/>
          </p:nvPr>
        </p:nvSpPr>
        <p:spPr/>
        <p:txBody>
          <a:bodyPr/>
          <a:lstStyle/>
          <a:p>
            <a:fld id="{9FAA51BB-2FC0-4DB8-B50E-F52D50E733B6}" type="slidenum">
              <a:rPr lang="en-GB" smtClean="0"/>
              <a:t>29</a:t>
            </a:fld>
            <a:endParaRPr lang="en-GB"/>
          </a:p>
        </p:txBody>
      </p:sp>
    </p:spTree>
    <p:extLst>
      <p:ext uri="{BB962C8B-B14F-4D97-AF65-F5344CB8AC3E}">
        <p14:creationId xmlns:p14="http://schemas.microsoft.com/office/powerpoint/2010/main" val="31174098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F937-CB9E-4768-865B-E6969F560B01}"/>
              </a:ext>
            </a:extLst>
          </p:cNvPr>
          <p:cNvSpPr>
            <a:spLocks noGrp="1"/>
          </p:cNvSpPr>
          <p:nvPr>
            <p:ph type="title"/>
          </p:nvPr>
        </p:nvSpPr>
        <p:spPr/>
        <p:txBody>
          <a:bodyPr/>
          <a:lstStyle/>
          <a:p>
            <a:r>
              <a:rPr lang="en-GB" dirty="0"/>
              <a:t>Measures of ‘central tendency’</a:t>
            </a:r>
          </a:p>
        </p:txBody>
      </p:sp>
      <p:pic>
        <p:nvPicPr>
          <p:cNvPr id="7" name="Picture 6">
            <a:extLst>
              <a:ext uri="{FF2B5EF4-FFF2-40B4-BE49-F238E27FC236}">
                <a16:creationId xmlns:a16="http://schemas.microsoft.com/office/drawing/2014/main" id="{36630C34-C731-4342-83C8-01F221FEAD68}"/>
              </a:ext>
            </a:extLst>
          </p:cNvPr>
          <p:cNvPicPr>
            <a:picLocks noChangeAspect="1"/>
          </p:cNvPicPr>
          <p:nvPr/>
        </p:nvPicPr>
        <p:blipFill>
          <a:blip r:embed="rId3"/>
          <a:stretch>
            <a:fillRect/>
          </a:stretch>
        </p:blipFill>
        <p:spPr>
          <a:xfrm>
            <a:off x="1130270" y="4012157"/>
            <a:ext cx="6790768" cy="1668207"/>
          </a:xfrm>
          <a:prstGeom prst="rect">
            <a:avLst/>
          </a:prstGeom>
        </p:spPr>
      </p:pic>
      <p:sp>
        <p:nvSpPr>
          <p:cNvPr id="8" name="TextBox 7">
            <a:extLst>
              <a:ext uri="{FF2B5EF4-FFF2-40B4-BE49-F238E27FC236}">
                <a16:creationId xmlns:a16="http://schemas.microsoft.com/office/drawing/2014/main" id="{925D2F79-46D3-44B6-9B91-2E03DBB6F41F}"/>
              </a:ext>
            </a:extLst>
          </p:cNvPr>
          <p:cNvSpPr txBox="1"/>
          <p:nvPr/>
        </p:nvSpPr>
        <p:spPr>
          <a:xfrm>
            <a:off x="1130270" y="3429000"/>
            <a:ext cx="4051330" cy="369332"/>
          </a:xfrm>
          <a:prstGeom prst="rect">
            <a:avLst/>
          </a:prstGeom>
          <a:noFill/>
        </p:spPr>
        <p:txBody>
          <a:bodyPr wrap="square" rtlCol="0">
            <a:spAutoFit/>
          </a:bodyPr>
          <a:lstStyle/>
          <a:p>
            <a:r>
              <a:rPr lang="en-GB" b="1" dirty="0"/>
              <a:t>Example 1: Mean</a:t>
            </a:r>
          </a:p>
        </p:txBody>
      </p:sp>
      <p:sp>
        <p:nvSpPr>
          <p:cNvPr id="9" name="Rectangle 8">
            <a:extLst>
              <a:ext uri="{FF2B5EF4-FFF2-40B4-BE49-F238E27FC236}">
                <a16:creationId xmlns:a16="http://schemas.microsoft.com/office/drawing/2014/main" id="{2EDD2EAB-407A-4053-A516-0F9A1283F2E8}"/>
              </a:ext>
            </a:extLst>
          </p:cNvPr>
          <p:cNvSpPr/>
          <p:nvPr/>
        </p:nvSpPr>
        <p:spPr>
          <a:xfrm>
            <a:off x="8686799" y="4384595"/>
            <a:ext cx="3103419" cy="923330"/>
          </a:xfrm>
          <a:prstGeom prst="rect">
            <a:avLst/>
          </a:prstGeom>
        </p:spPr>
        <p:txBody>
          <a:bodyPr wrap="square">
            <a:spAutoFit/>
          </a:bodyPr>
          <a:lstStyle/>
          <a:p>
            <a:r>
              <a:rPr lang="en-GB" dirty="0"/>
              <a:t>1. Add values together</a:t>
            </a:r>
          </a:p>
          <a:p>
            <a:r>
              <a:rPr lang="en-GB" dirty="0"/>
              <a:t>2. Divide sum by number of values</a:t>
            </a:r>
          </a:p>
        </p:txBody>
      </p:sp>
      <p:sp>
        <p:nvSpPr>
          <p:cNvPr id="3" name="TextBox 2">
            <a:extLst>
              <a:ext uri="{FF2B5EF4-FFF2-40B4-BE49-F238E27FC236}">
                <a16:creationId xmlns:a16="http://schemas.microsoft.com/office/drawing/2014/main" id="{CB89B14C-A3BD-425C-94EF-1F6534567F71}"/>
              </a:ext>
            </a:extLst>
          </p:cNvPr>
          <p:cNvSpPr txBox="1"/>
          <p:nvPr/>
        </p:nvSpPr>
        <p:spPr>
          <a:xfrm>
            <a:off x="1246908" y="4979444"/>
            <a:ext cx="7439891" cy="1200329"/>
          </a:xfrm>
          <a:prstGeom prst="rect">
            <a:avLst/>
          </a:prstGeom>
          <a:noFill/>
        </p:spPr>
        <p:txBody>
          <a:bodyPr wrap="square" rtlCol="0">
            <a:spAutoFit/>
          </a:bodyPr>
          <a:lstStyle/>
          <a:p>
            <a:r>
              <a:rPr lang="en-GB" sz="3600" dirty="0">
                <a:solidFill>
                  <a:srgbClr val="FF0000"/>
                </a:solidFill>
              </a:rPr>
              <a:t>        +	           +           +	       = 4</a:t>
            </a:r>
          </a:p>
          <a:p>
            <a:r>
              <a:rPr lang="en-GB" sz="3600" dirty="0">
                <a:solidFill>
                  <a:srgbClr val="FF0000"/>
                </a:solidFill>
              </a:rPr>
              <a:t>4/(1+1+1+1)=1 =&gt; Mean = 1 kilo </a:t>
            </a:r>
          </a:p>
        </p:txBody>
      </p:sp>
      <p:sp>
        <p:nvSpPr>
          <p:cNvPr id="5" name="Footer Placeholder 4">
            <a:extLst>
              <a:ext uri="{FF2B5EF4-FFF2-40B4-BE49-F238E27FC236}">
                <a16:creationId xmlns:a16="http://schemas.microsoft.com/office/drawing/2014/main" id="{8349A762-E467-FD23-7794-E7A66C9C2CAC}"/>
              </a:ext>
            </a:extLst>
          </p:cNvPr>
          <p:cNvSpPr>
            <a:spLocks noGrp="1"/>
          </p:cNvSpPr>
          <p:nvPr>
            <p:ph type="ftr" sz="quarter" idx="11"/>
          </p:nvPr>
        </p:nvSpPr>
        <p:spPr/>
        <p:txBody>
          <a:bodyPr/>
          <a:lstStyle/>
          <a:p>
            <a:r>
              <a:rPr lang="en-GB"/>
              <a:t>Measurement and Description</a:t>
            </a:r>
          </a:p>
        </p:txBody>
      </p:sp>
      <p:sp>
        <p:nvSpPr>
          <p:cNvPr id="10" name="Slide Number Placeholder 9">
            <a:extLst>
              <a:ext uri="{FF2B5EF4-FFF2-40B4-BE49-F238E27FC236}">
                <a16:creationId xmlns:a16="http://schemas.microsoft.com/office/drawing/2014/main" id="{912C6146-3196-357B-EAC2-26D337723027}"/>
              </a:ext>
            </a:extLst>
          </p:cNvPr>
          <p:cNvSpPr>
            <a:spLocks noGrp="1"/>
          </p:cNvSpPr>
          <p:nvPr>
            <p:ph type="sldNum" sz="quarter" idx="12"/>
          </p:nvPr>
        </p:nvSpPr>
        <p:spPr/>
        <p:txBody>
          <a:bodyPr/>
          <a:lstStyle/>
          <a:p>
            <a:fld id="{9FAA51BB-2FC0-4DB8-B50E-F52D50E733B6}" type="slidenum">
              <a:rPr lang="en-GB" smtClean="0"/>
              <a:t>30</a:t>
            </a:fld>
            <a:endParaRPr lang="en-GB"/>
          </a:p>
        </p:txBody>
      </p:sp>
      <p:pic>
        <p:nvPicPr>
          <p:cNvPr id="11" name="Content Placeholder 5">
            <a:extLst>
              <a:ext uri="{FF2B5EF4-FFF2-40B4-BE49-F238E27FC236}">
                <a16:creationId xmlns:a16="http://schemas.microsoft.com/office/drawing/2014/main" id="{99F26702-E7E2-ECCA-2464-D3A6CBA998AE}"/>
              </a:ext>
            </a:extLst>
          </p:cNvPr>
          <p:cNvPicPr>
            <a:picLocks noChangeAspect="1"/>
          </p:cNvPicPr>
          <p:nvPr/>
        </p:nvPicPr>
        <p:blipFill>
          <a:blip r:embed="rId4"/>
          <a:stretch>
            <a:fillRect/>
          </a:stretch>
        </p:blipFill>
        <p:spPr>
          <a:xfrm>
            <a:off x="756746" y="1448385"/>
            <a:ext cx="9602788" cy="1784350"/>
          </a:xfrm>
          <a:prstGeom prst="rect">
            <a:avLst/>
          </a:prstGeom>
        </p:spPr>
      </p:pic>
    </p:spTree>
    <p:extLst>
      <p:ext uri="{BB962C8B-B14F-4D97-AF65-F5344CB8AC3E}">
        <p14:creationId xmlns:p14="http://schemas.microsoft.com/office/powerpoint/2010/main" val="17853844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F937-CB9E-4768-865B-E6969F560B01}"/>
              </a:ext>
            </a:extLst>
          </p:cNvPr>
          <p:cNvSpPr>
            <a:spLocks noGrp="1"/>
          </p:cNvSpPr>
          <p:nvPr>
            <p:ph type="title"/>
          </p:nvPr>
        </p:nvSpPr>
        <p:spPr/>
        <p:txBody>
          <a:bodyPr/>
          <a:lstStyle/>
          <a:p>
            <a:r>
              <a:rPr lang="en-GB" dirty="0"/>
              <a:t>Measures of ‘central tendency’</a:t>
            </a:r>
          </a:p>
        </p:txBody>
      </p:sp>
      <p:sp>
        <p:nvSpPr>
          <p:cNvPr id="8" name="TextBox 7">
            <a:extLst>
              <a:ext uri="{FF2B5EF4-FFF2-40B4-BE49-F238E27FC236}">
                <a16:creationId xmlns:a16="http://schemas.microsoft.com/office/drawing/2014/main" id="{925D2F79-46D3-44B6-9B91-2E03DBB6F41F}"/>
              </a:ext>
            </a:extLst>
          </p:cNvPr>
          <p:cNvSpPr txBox="1"/>
          <p:nvPr/>
        </p:nvSpPr>
        <p:spPr>
          <a:xfrm>
            <a:off x="1130270" y="3429000"/>
            <a:ext cx="4051330" cy="369332"/>
          </a:xfrm>
          <a:prstGeom prst="rect">
            <a:avLst/>
          </a:prstGeom>
          <a:noFill/>
        </p:spPr>
        <p:txBody>
          <a:bodyPr wrap="square" rtlCol="0">
            <a:spAutoFit/>
          </a:bodyPr>
          <a:lstStyle/>
          <a:p>
            <a:r>
              <a:rPr lang="en-GB" b="1" dirty="0"/>
              <a:t>Example 2: Median</a:t>
            </a:r>
          </a:p>
        </p:txBody>
      </p:sp>
      <p:pic>
        <p:nvPicPr>
          <p:cNvPr id="3" name="Picture 2">
            <a:extLst>
              <a:ext uri="{FF2B5EF4-FFF2-40B4-BE49-F238E27FC236}">
                <a16:creationId xmlns:a16="http://schemas.microsoft.com/office/drawing/2014/main" id="{C7BDEDB6-E10D-4D38-918F-6ACEA58745F5}"/>
              </a:ext>
            </a:extLst>
          </p:cNvPr>
          <p:cNvPicPr>
            <a:picLocks noChangeAspect="1"/>
          </p:cNvPicPr>
          <p:nvPr/>
        </p:nvPicPr>
        <p:blipFill>
          <a:blip r:embed="rId3"/>
          <a:stretch>
            <a:fillRect/>
          </a:stretch>
        </p:blipFill>
        <p:spPr>
          <a:xfrm>
            <a:off x="1130270" y="4032595"/>
            <a:ext cx="6681141" cy="1541209"/>
          </a:xfrm>
          <a:prstGeom prst="rect">
            <a:avLst/>
          </a:prstGeom>
        </p:spPr>
      </p:pic>
      <p:sp>
        <p:nvSpPr>
          <p:cNvPr id="10" name="Oval 9">
            <a:extLst>
              <a:ext uri="{FF2B5EF4-FFF2-40B4-BE49-F238E27FC236}">
                <a16:creationId xmlns:a16="http://schemas.microsoft.com/office/drawing/2014/main" id="{AFB13494-0855-4AFB-9ECA-BD6784853F74}"/>
              </a:ext>
            </a:extLst>
          </p:cNvPr>
          <p:cNvSpPr/>
          <p:nvPr/>
        </p:nvSpPr>
        <p:spPr>
          <a:xfrm>
            <a:off x="3990109" y="4322619"/>
            <a:ext cx="914400" cy="90054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9042B34-14B0-4D32-8E69-09AC016D2A94}"/>
              </a:ext>
            </a:extLst>
          </p:cNvPr>
          <p:cNvSpPr/>
          <p:nvPr/>
        </p:nvSpPr>
        <p:spPr>
          <a:xfrm>
            <a:off x="8013730" y="4322619"/>
            <a:ext cx="3610234" cy="923330"/>
          </a:xfrm>
          <a:prstGeom prst="rect">
            <a:avLst/>
          </a:prstGeom>
        </p:spPr>
        <p:txBody>
          <a:bodyPr wrap="square">
            <a:spAutoFit/>
          </a:bodyPr>
          <a:lstStyle/>
          <a:p>
            <a:r>
              <a:rPr lang="en-GB" dirty="0"/>
              <a:t>Sort values from low to high and then identifying the value in the middle</a:t>
            </a:r>
          </a:p>
        </p:txBody>
      </p:sp>
      <p:sp>
        <p:nvSpPr>
          <p:cNvPr id="5" name="Footer Placeholder 4">
            <a:extLst>
              <a:ext uri="{FF2B5EF4-FFF2-40B4-BE49-F238E27FC236}">
                <a16:creationId xmlns:a16="http://schemas.microsoft.com/office/drawing/2014/main" id="{755010E1-FF28-15A9-3669-CEDE693D36F1}"/>
              </a:ext>
            </a:extLst>
          </p:cNvPr>
          <p:cNvSpPr>
            <a:spLocks noGrp="1"/>
          </p:cNvSpPr>
          <p:nvPr>
            <p:ph type="ftr" sz="quarter" idx="11"/>
          </p:nvPr>
        </p:nvSpPr>
        <p:spPr/>
        <p:txBody>
          <a:bodyPr/>
          <a:lstStyle/>
          <a:p>
            <a:r>
              <a:rPr lang="en-GB"/>
              <a:t>Measurement and Description</a:t>
            </a:r>
          </a:p>
        </p:txBody>
      </p:sp>
      <p:sp>
        <p:nvSpPr>
          <p:cNvPr id="7" name="Slide Number Placeholder 6">
            <a:extLst>
              <a:ext uri="{FF2B5EF4-FFF2-40B4-BE49-F238E27FC236}">
                <a16:creationId xmlns:a16="http://schemas.microsoft.com/office/drawing/2014/main" id="{41DF8347-2668-3B5A-2375-B633BB3DACD8}"/>
              </a:ext>
            </a:extLst>
          </p:cNvPr>
          <p:cNvSpPr>
            <a:spLocks noGrp="1"/>
          </p:cNvSpPr>
          <p:nvPr>
            <p:ph type="sldNum" sz="quarter" idx="12"/>
          </p:nvPr>
        </p:nvSpPr>
        <p:spPr/>
        <p:txBody>
          <a:bodyPr/>
          <a:lstStyle/>
          <a:p>
            <a:fld id="{9FAA51BB-2FC0-4DB8-B50E-F52D50E733B6}" type="slidenum">
              <a:rPr lang="en-GB" smtClean="0"/>
              <a:t>31</a:t>
            </a:fld>
            <a:endParaRPr lang="en-GB"/>
          </a:p>
        </p:txBody>
      </p:sp>
      <p:pic>
        <p:nvPicPr>
          <p:cNvPr id="9" name="Content Placeholder 5">
            <a:extLst>
              <a:ext uri="{FF2B5EF4-FFF2-40B4-BE49-F238E27FC236}">
                <a16:creationId xmlns:a16="http://schemas.microsoft.com/office/drawing/2014/main" id="{E945E304-7ACB-0DBA-487A-4540382F6B9B}"/>
              </a:ext>
            </a:extLst>
          </p:cNvPr>
          <p:cNvPicPr>
            <a:picLocks noChangeAspect="1"/>
          </p:cNvPicPr>
          <p:nvPr/>
        </p:nvPicPr>
        <p:blipFill>
          <a:blip r:embed="rId4"/>
          <a:stretch>
            <a:fillRect/>
          </a:stretch>
        </p:blipFill>
        <p:spPr>
          <a:xfrm>
            <a:off x="756746" y="1448385"/>
            <a:ext cx="9602788" cy="1784350"/>
          </a:xfrm>
          <a:prstGeom prst="rect">
            <a:avLst/>
          </a:prstGeom>
        </p:spPr>
      </p:pic>
    </p:spTree>
    <p:extLst>
      <p:ext uri="{BB962C8B-B14F-4D97-AF65-F5344CB8AC3E}">
        <p14:creationId xmlns:p14="http://schemas.microsoft.com/office/powerpoint/2010/main" val="3220525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25D2F79-46D3-44B6-9B91-2E03DBB6F41F}"/>
              </a:ext>
            </a:extLst>
          </p:cNvPr>
          <p:cNvSpPr txBox="1"/>
          <p:nvPr/>
        </p:nvSpPr>
        <p:spPr>
          <a:xfrm>
            <a:off x="1130270" y="3429000"/>
            <a:ext cx="4051330" cy="369332"/>
          </a:xfrm>
          <a:prstGeom prst="rect">
            <a:avLst/>
          </a:prstGeom>
          <a:noFill/>
        </p:spPr>
        <p:txBody>
          <a:bodyPr wrap="square" rtlCol="0">
            <a:spAutoFit/>
          </a:bodyPr>
          <a:lstStyle/>
          <a:p>
            <a:r>
              <a:rPr lang="en-GB" b="1" dirty="0"/>
              <a:t>Example 3: Mode</a:t>
            </a:r>
          </a:p>
        </p:txBody>
      </p:sp>
      <p:sp>
        <p:nvSpPr>
          <p:cNvPr id="11" name="Rectangle 10">
            <a:extLst>
              <a:ext uri="{FF2B5EF4-FFF2-40B4-BE49-F238E27FC236}">
                <a16:creationId xmlns:a16="http://schemas.microsoft.com/office/drawing/2014/main" id="{49042B34-14B0-4D32-8E69-09AC016D2A94}"/>
              </a:ext>
            </a:extLst>
          </p:cNvPr>
          <p:cNvSpPr/>
          <p:nvPr/>
        </p:nvSpPr>
        <p:spPr>
          <a:xfrm>
            <a:off x="8013730" y="4322619"/>
            <a:ext cx="3610234" cy="923330"/>
          </a:xfrm>
          <a:prstGeom prst="rect">
            <a:avLst/>
          </a:prstGeom>
        </p:spPr>
        <p:txBody>
          <a:bodyPr wrap="square">
            <a:spAutoFit/>
          </a:bodyPr>
          <a:lstStyle/>
          <a:p>
            <a:r>
              <a:rPr lang="en-GB" dirty="0"/>
              <a:t>It’s the most frequently occurring value in a distribution. </a:t>
            </a:r>
          </a:p>
        </p:txBody>
      </p:sp>
      <p:pic>
        <p:nvPicPr>
          <p:cNvPr id="7" name="Picture 6">
            <a:extLst>
              <a:ext uri="{FF2B5EF4-FFF2-40B4-BE49-F238E27FC236}">
                <a16:creationId xmlns:a16="http://schemas.microsoft.com/office/drawing/2014/main" id="{DA0B9EC4-C069-42A3-A790-2A955AF7778F}"/>
              </a:ext>
            </a:extLst>
          </p:cNvPr>
          <p:cNvPicPr>
            <a:picLocks noChangeAspect="1"/>
          </p:cNvPicPr>
          <p:nvPr/>
        </p:nvPicPr>
        <p:blipFill>
          <a:blip r:embed="rId3"/>
          <a:stretch>
            <a:fillRect/>
          </a:stretch>
        </p:blipFill>
        <p:spPr>
          <a:xfrm>
            <a:off x="1130270" y="4004376"/>
            <a:ext cx="6572857" cy="1559815"/>
          </a:xfrm>
          <a:prstGeom prst="rect">
            <a:avLst/>
          </a:prstGeom>
        </p:spPr>
      </p:pic>
      <p:sp>
        <p:nvSpPr>
          <p:cNvPr id="12" name="Oval 11">
            <a:extLst>
              <a:ext uri="{FF2B5EF4-FFF2-40B4-BE49-F238E27FC236}">
                <a16:creationId xmlns:a16="http://schemas.microsoft.com/office/drawing/2014/main" id="{6EF947BC-1BAE-4B11-BE6F-B9D69BAADED6}"/>
              </a:ext>
            </a:extLst>
          </p:cNvPr>
          <p:cNvSpPr/>
          <p:nvPr/>
        </p:nvSpPr>
        <p:spPr>
          <a:xfrm>
            <a:off x="1013632" y="4581113"/>
            <a:ext cx="4051330" cy="90054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A1A2674C-263A-C8E2-17D4-C1288AED4616}"/>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572C932F-F925-2C7F-3B24-9373DDD9F683}"/>
              </a:ext>
            </a:extLst>
          </p:cNvPr>
          <p:cNvSpPr>
            <a:spLocks noGrp="1"/>
          </p:cNvSpPr>
          <p:nvPr>
            <p:ph type="sldNum" sz="quarter" idx="12"/>
          </p:nvPr>
        </p:nvSpPr>
        <p:spPr/>
        <p:txBody>
          <a:bodyPr/>
          <a:lstStyle/>
          <a:p>
            <a:fld id="{9FAA51BB-2FC0-4DB8-B50E-F52D50E733B6}" type="slidenum">
              <a:rPr lang="en-GB" smtClean="0"/>
              <a:pPr/>
              <a:t>32</a:t>
            </a:fld>
            <a:endParaRPr lang="en-GB" dirty="0"/>
          </a:p>
        </p:txBody>
      </p:sp>
      <p:pic>
        <p:nvPicPr>
          <p:cNvPr id="15" name="Content Placeholder 5">
            <a:extLst>
              <a:ext uri="{FF2B5EF4-FFF2-40B4-BE49-F238E27FC236}">
                <a16:creationId xmlns:a16="http://schemas.microsoft.com/office/drawing/2014/main" id="{520F2065-2025-264C-54EF-04835168DD20}"/>
              </a:ext>
            </a:extLst>
          </p:cNvPr>
          <p:cNvPicPr>
            <a:picLocks noChangeAspect="1"/>
          </p:cNvPicPr>
          <p:nvPr/>
        </p:nvPicPr>
        <p:blipFill>
          <a:blip r:embed="rId4"/>
          <a:stretch>
            <a:fillRect/>
          </a:stretch>
        </p:blipFill>
        <p:spPr>
          <a:xfrm>
            <a:off x="756746" y="1448385"/>
            <a:ext cx="9602788" cy="1784350"/>
          </a:xfrm>
          <a:prstGeom prst="rect">
            <a:avLst/>
          </a:prstGeom>
        </p:spPr>
      </p:pic>
      <p:sp>
        <p:nvSpPr>
          <p:cNvPr id="16" name="Title 1">
            <a:extLst>
              <a:ext uri="{FF2B5EF4-FFF2-40B4-BE49-F238E27FC236}">
                <a16:creationId xmlns:a16="http://schemas.microsoft.com/office/drawing/2014/main" id="{AC013557-6292-14FD-2835-FCE0545E79B8}"/>
              </a:ext>
            </a:extLst>
          </p:cNvPr>
          <p:cNvSpPr>
            <a:spLocks noGrp="1"/>
          </p:cNvSpPr>
          <p:nvPr>
            <p:ph type="title"/>
          </p:nvPr>
        </p:nvSpPr>
        <p:spPr>
          <a:xfrm>
            <a:off x="756746" y="286604"/>
            <a:ext cx="9578516" cy="911576"/>
          </a:xfrm>
        </p:spPr>
        <p:txBody>
          <a:bodyPr/>
          <a:lstStyle/>
          <a:p>
            <a:r>
              <a:rPr lang="en-GB" dirty="0"/>
              <a:t>Measures of ‘central tendency’</a:t>
            </a:r>
          </a:p>
        </p:txBody>
      </p:sp>
    </p:spTree>
    <p:extLst>
      <p:ext uri="{BB962C8B-B14F-4D97-AF65-F5344CB8AC3E}">
        <p14:creationId xmlns:p14="http://schemas.microsoft.com/office/powerpoint/2010/main" val="33838569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F937-CB9E-4768-865B-E6969F560B01}"/>
              </a:ext>
            </a:extLst>
          </p:cNvPr>
          <p:cNvSpPr>
            <a:spLocks noGrp="1"/>
          </p:cNvSpPr>
          <p:nvPr>
            <p:ph type="title"/>
          </p:nvPr>
        </p:nvSpPr>
        <p:spPr/>
        <p:txBody>
          <a:bodyPr/>
          <a:lstStyle/>
          <a:p>
            <a:r>
              <a:rPr lang="en-GB" dirty="0"/>
              <a:t>Measures of ‘central tendency’</a:t>
            </a:r>
          </a:p>
        </p:txBody>
      </p:sp>
      <p:pic>
        <p:nvPicPr>
          <p:cNvPr id="7" name="Picture 6">
            <a:extLst>
              <a:ext uri="{FF2B5EF4-FFF2-40B4-BE49-F238E27FC236}">
                <a16:creationId xmlns:a16="http://schemas.microsoft.com/office/drawing/2014/main" id="{98480DAE-C31C-4FB0-A2F8-B5DA0BA7271D}"/>
              </a:ext>
            </a:extLst>
          </p:cNvPr>
          <p:cNvPicPr>
            <a:picLocks noChangeAspect="1"/>
          </p:cNvPicPr>
          <p:nvPr/>
        </p:nvPicPr>
        <p:blipFill>
          <a:blip r:embed="rId3"/>
          <a:stretch>
            <a:fillRect/>
          </a:stretch>
        </p:blipFill>
        <p:spPr>
          <a:xfrm>
            <a:off x="1368846" y="3429000"/>
            <a:ext cx="9126121" cy="2577583"/>
          </a:xfrm>
          <a:prstGeom prst="rect">
            <a:avLst/>
          </a:prstGeom>
        </p:spPr>
      </p:pic>
      <p:sp>
        <p:nvSpPr>
          <p:cNvPr id="4" name="Footer Placeholder 3">
            <a:extLst>
              <a:ext uri="{FF2B5EF4-FFF2-40B4-BE49-F238E27FC236}">
                <a16:creationId xmlns:a16="http://schemas.microsoft.com/office/drawing/2014/main" id="{4D898734-4EBA-1874-646B-C4547989326B}"/>
              </a:ext>
            </a:extLst>
          </p:cNvPr>
          <p:cNvSpPr>
            <a:spLocks noGrp="1"/>
          </p:cNvSpPr>
          <p:nvPr>
            <p:ph type="ftr" sz="quarter" idx="11"/>
          </p:nvPr>
        </p:nvSpPr>
        <p:spPr/>
        <p:txBody>
          <a:bodyPr/>
          <a:lstStyle/>
          <a:p>
            <a:r>
              <a:rPr lang="en-GB"/>
              <a:t>Measurement and Description</a:t>
            </a:r>
          </a:p>
        </p:txBody>
      </p:sp>
      <p:sp>
        <p:nvSpPr>
          <p:cNvPr id="5" name="Slide Number Placeholder 4">
            <a:extLst>
              <a:ext uri="{FF2B5EF4-FFF2-40B4-BE49-F238E27FC236}">
                <a16:creationId xmlns:a16="http://schemas.microsoft.com/office/drawing/2014/main" id="{17E8A17D-5E06-1C9D-6C0A-1EF24266B9C0}"/>
              </a:ext>
            </a:extLst>
          </p:cNvPr>
          <p:cNvSpPr>
            <a:spLocks noGrp="1"/>
          </p:cNvSpPr>
          <p:nvPr>
            <p:ph type="sldNum" sz="quarter" idx="12"/>
          </p:nvPr>
        </p:nvSpPr>
        <p:spPr/>
        <p:txBody>
          <a:bodyPr/>
          <a:lstStyle/>
          <a:p>
            <a:fld id="{9FAA51BB-2FC0-4DB8-B50E-F52D50E733B6}" type="slidenum">
              <a:rPr lang="en-GB" smtClean="0"/>
              <a:t>33</a:t>
            </a:fld>
            <a:endParaRPr lang="en-GB"/>
          </a:p>
        </p:txBody>
      </p:sp>
      <p:pic>
        <p:nvPicPr>
          <p:cNvPr id="9" name="Content Placeholder 5">
            <a:extLst>
              <a:ext uri="{FF2B5EF4-FFF2-40B4-BE49-F238E27FC236}">
                <a16:creationId xmlns:a16="http://schemas.microsoft.com/office/drawing/2014/main" id="{4E1E65A8-8031-5B8D-2327-DE10DDCC956D}"/>
              </a:ext>
            </a:extLst>
          </p:cNvPr>
          <p:cNvPicPr>
            <a:picLocks noChangeAspect="1"/>
          </p:cNvPicPr>
          <p:nvPr/>
        </p:nvPicPr>
        <p:blipFill>
          <a:blip r:embed="rId4"/>
          <a:stretch>
            <a:fillRect/>
          </a:stretch>
        </p:blipFill>
        <p:spPr>
          <a:xfrm>
            <a:off x="756746" y="1448385"/>
            <a:ext cx="9602788" cy="1784350"/>
          </a:xfrm>
          <a:prstGeom prst="rect">
            <a:avLst/>
          </a:prstGeom>
        </p:spPr>
      </p:pic>
    </p:spTree>
    <p:extLst>
      <p:ext uri="{BB962C8B-B14F-4D97-AF65-F5344CB8AC3E}">
        <p14:creationId xmlns:p14="http://schemas.microsoft.com/office/powerpoint/2010/main" val="20103482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769BA-1EC6-4CFE-A1AC-3814DDE71863}"/>
              </a:ext>
            </a:extLst>
          </p:cNvPr>
          <p:cNvSpPr>
            <a:spLocks noGrp="1"/>
          </p:cNvSpPr>
          <p:nvPr>
            <p:ph type="title"/>
          </p:nvPr>
        </p:nvSpPr>
        <p:spPr/>
        <p:txBody>
          <a:bodyPr/>
          <a:lstStyle/>
          <a:p>
            <a:r>
              <a:rPr lang="en-GB" dirty="0"/>
              <a:t>Example of age distribution</a:t>
            </a:r>
          </a:p>
        </p:txBody>
      </p:sp>
      <p:pic>
        <p:nvPicPr>
          <p:cNvPr id="12" name="Picture 11">
            <a:extLst>
              <a:ext uri="{FF2B5EF4-FFF2-40B4-BE49-F238E27FC236}">
                <a16:creationId xmlns:a16="http://schemas.microsoft.com/office/drawing/2014/main" id="{7C0E3A15-B55B-461F-A16D-6448368B5EEF}"/>
              </a:ext>
            </a:extLst>
          </p:cNvPr>
          <p:cNvPicPr>
            <a:picLocks noChangeAspect="1"/>
          </p:cNvPicPr>
          <p:nvPr/>
        </p:nvPicPr>
        <p:blipFill>
          <a:blip r:embed="rId2"/>
          <a:stretch>
            <a:fillRect/>
          </a:stretch>
        </p:blipFill>
        <p:spPr>
          <a:xfrm>
            <a:off x="1130270" y="1822876"/>
            <a:ext cx="7076261" cy="4297800"/>
          </a:xfrm>
          <a:prstGeom prst="rect">
            <a:avLst/>
          </a:prstGeom>
        </p:spPr>
      </p:pic>
      <p:sp>
        <p:nvSpPr>
          <p:cNvPr id="4" name="Footer Placeholder 3">
            <a:extLst>
              <a:ext uri="{FF2B5EF4-FFF2-40B4-BE49-F238E27FC236}">
                <a16:creationId xmlns:a16="http://schemas.microsoft.com/office/drawing/2014/main" id="{AD60E59A-E560-8110-DA62-DC37E705B1B5}"/>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65ABDEC0-154D-B352-A455-B6766B87C72E}"/>
              </a:ext>
            </a:extLst>
          </p:cNvPr>
          <p:cNvSpPr>
            <a:spLocks noGrp="1"/>
          </p:cNvSpPr>
          <p:nvPr>
            <p:ph type="sldNum" sz="quarter" idx="12"/>
          </p:nvPr>
        </p:nvSpPr>
        <p:spPr/>
        <p:txBody>
          <a:bodyPr/>
          <a:lstStyle/>
          <a:p>
            <a:fld id="{9FAA51BB-2FC0-4DB8-B50E-F52D50E733B6}" type="slidenum">
              <a:rPr lang="en-GB" smtClean="0"/>
              <a:pPr/>
              <a:t>34</a:t>
            </a:fld>
            <a:endParaRPr lang="en-GB" dirty="0"/>
          </a:p>
        </p:txBody>
      </p:sp>
    </p:spTree>
    <p:extLst>
      <p:ext uri="{BB962C8B-B14F-4D97-AF65-F5344CB8AC3E}">
        <p14:creationId xmlns:p14="http://schemas.microsoft.com/office/powerpoint/2010/main" val="3998180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68B5C-5C16-49F4-80B2-4AA7EE76A84A}"/>
              </a:ext>
            </a:extLst>
          </p:cNvPr>
          <p:cNvSpPr>
            <a:spLocks noGrp="1"/>
          </p:cNvSpPr>
          <p:nvPr>
            <p:ph type="title"/>
          </p:nvPr>
        </p:nvSpPr>
        <p:spPr/>
        <p:txBody>
          <a:bodyPr/>
          <a:lstStyle/>
          <a:p>
            <a:r>
              <a:rPr lang="en-GB" dirty="0"/>
              <a:t>Example of age distribution</a:t>
            </a:r>
          </a:p>
        </p:txBody>
      </p:sp>
      <p:pic>
        <p:nvPicPr>
          <p:cNvPr id="11" name="Picture 10">
            <a:extLst>
              <a:ext uri="{FF2B5EF4-FFF2-40B4-BE49-F238E27FC236}">
                <a16:creationId xmlns:a16="http://schemas.microsoft.com/office/drawing/2014/main" id="{B1889635-D5D3-4FCF-A789-54FB009E99D0}"/>
              </a:ext>
            </a:extLst>
          </p:cNvPr>
          <p:cNvPicPr>
            <a:picLocks noChangeAspect="1"/>
          </p:cNvPicPr>
          <p:nvPr/>
        </p:nvPicPr>
        <p:blipFill>
          <a:blip r:embed="rId2"/>
          <a:stretch>
            <a:fillRect/>
          </a:stretch>
        </p:blipFill>
        <p:spPr>
          <a:xfrm>
            <a:off x="1130270" y="1784124"/>
            <a:ext cx="7077248" cy="4298400"/>
          </a:xfrm>
          <a:prstGeom prst="rect">
            <a:avLst/>
          </a:prstGeom>
        </p:spPr>
      </p:pic>
      <p:sp>
        <p:nvSpPr>
          <p:cNvPr id="4" name="Footer Placeholder 3">
            <a:extLst>
              <a:ext uri="{FF2B5EF4-FFF2-40B4-BE49-F238E27FC236}">
                <a16:creationId xmlns:a16="http://schemas.microsoft.com/office/drawing/2014/main" id="{D8B1EE42-14ED-AE38-1A8A-71FC225A7D1C}"/>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6FD320DD-6E03-27D6-26C9-6A0DF2EBCCC1}"/>
              </a:ext>
            </a:extLst>
          </p:cNvPr>
          <p:cNvSpPr>
            <a:spLocks noGrp="1"/>
          </p:cNvSpPr>
          <p:nvPr>
            <p:ph type="sldNum" sz="quarter" idx="12"/>
          </p:nvPr>
        </p:nvSpPr>
        <p:spPr/>
        <p:txBody>
          <a:bodyPr/>
          <a:lstStyle/>
          <a:p>
            <a:fld id="{9FAA51BB-2FC0-4DB8-B50E-F52D50E733B6}" type="slidenum">
              <a:rPr lang="en-GB" smtClean="0"/>
              <a:pPr/>
              <a:t>35</a:t>
            </a:fld>
            <a:endParaRPr lang="en-GB" dirty="0"/>
          </a:p>
        </p:txBody>
      </p:sp>
    </p:spTree>
    <p:extLst>
      <p:ext uri="{BB962C8B-B14F-4D97-AF65-F5344CB8AC3E}">
        <p14:creationId xmlns:p14="http://schemas.microsoft.com/office/powerpoint/2010/main" val="3806909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D6E8-5704-4563-AD9B-C941D606BF4B}"/>
              </a:ext>
            </a:extLst>
          </p:cNvPr>
          <p:cNvSpPr>
            <a:spLocks noGrp="1"/>
          </p:cNvSpPr>
          <p:nvPr>
            <p:ph type="title"/>
          </p:nvPr>
        </p:nvSpPr>
        <p:spPr/>
        <p:txBody>
          <a:bodyPr/>
          <a:lstStyle/>
          <a:p>
            <a:r>
              <a:rPr lang="en-GB" dirty="0"/>
              <a:t>Example of age distribution</a:t>
            </a:r>
          </a:p>
        </p:txBody>
      </p:sp>
      <p:pic>
        <p:nvPicPr>
          <p:cNvPr id="15" name="Picture 14">
            <a:extLst>
              <a:ext uri="{FF2B5EF4-FFF2-40B4-BE49-F238E27FC236}">
                <a16:creationId xmlns:a16="http://schemas.microsoft.com/office/drawing/2014/main" id="{D3629B8B-2F81-45B7-B82E-923E5089E25F}"/>
              </a:ext>
            </a:extLst>
          </p:cNvPr>
          <p:cNvPicPr>
            <a:picLocks noChangeAspect="1"/>
          </p:cNvPicPr>
          <p:nvPr/>
        </p:nvPicPr>
        <p:blipFill>
          <a:blip r:embed="rId2"/>
          <a:stretch>
            <a:fillRect/>
          </a:stretch>
        </p:blipFill>
        <p:spPr>
          <a:xfrm>
            <a:off x="1130270" y="1792676"/>
            <a:ext cx="7077251" cy="4298400"/>
          </a:xfrm>
          <a:prstGeom prst="rect">
            <a:avLst/>
          </a:prstGeom>
        </p:spPr>
      </p:pic>
      <p:sp>
        <p:nvSpPr>
          <p:cNvPr id="4" name="Footer Placeholder 3">
            <a:extLst>
              <a:ext uri="{FF2B5EF4-FFF2-40B4-BE49-F238E27FC236}">
                <a16:creationId xmlns:a16="http://schemas.microsoft.com/office/drawing/2014/main" id="{32748EE7-BD0E-1E88-966D-FE2A6F46F9B6}"/>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3A576EBA-C235-136F-4FE5-CB3DB3A4E43F}"/>
              </a:ext>
            </a:extLst>
          </p:cNvPr>
          <p:cNvSpPr>
            <a:spLocks noGrp="1"/>
          </p:cNvSpPr>
          <p:nvPr>
            <p:ph type="sldNum" sz="quarter" idx="12"/>
          </p:nvPr>
        </p:nvSpPr>
        <p:spPr/>
        <p:txBody>
          <a:bodyPr/>
          <a:lstStyle/>
          <a:p>
            <a:fld id="{9FAA51BB-2FC0-4DB8-B50E-F52D50E733B6}" type="slidenum">
              <a:rPr lang="en-GB" smtClean="0"/>
              <a:pPr/>
              <a:t>36</a:t>
            </a:fld>
            <a:endParaRPr lang="en-GB" dirty="0"/>
          </a:p>
        </p:txBody>
      </p:sp>
    </p:spTree>
    <p:extLst>
      <p:ext uri="{BB962C8B-B14F-4D97-AF65-F5344CB8AC3E}">
        <p14:creationId xmlns:p14="http://schemas.microsoft.com/office/powerpoint/2010/main" val="25239477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
            <a:extLst>
              <a:ext uri="{FF2B5EF4-FFF2-40B4-BE49-F238E27FC236}">
                <a16:creationId xmlns:a16="http://schemas.microsoft.com/office/drawing/2014/main" id="{BB22E9B1-3DC5-42DF-923F-4E8001819F4D}"/>
              </a:ext>
            </a:extLst>
          </p:cNvPr>
          <p:cNvPicPr>
            <a:picLocks noChangeAspect="1"/>
          </p:cNvPicPr>
          <p:nvPr/>
        </p:nvPicPr>
        <p:blipFill rotWithShape="1">
          <a:blip r:embed="rId3"/>
          <a:srcRect t="10824" r="9090" b="7356"/>
          <a:stretch/>
        </p:blipFill>
        <p:spPr>
          <a:xfrm>
            <a:off x="2" y="10"/>
            <a:ext cx="12191695" cy="6857990"/>
          </a:xfrm>
          <a:prstGeom prst="rect">
            <a:avLst/>
          </a:prstGeom>
        </p:spPr>
      </p:pic>
      <p:sp>
        <p:nvSpPr>
          <p:cNvPr id="2" name="Title 1">
            <a:extLst>
              <a:ext uri="{FF2B5EF4-FFF2-40B4-BE49-F238E27FC236}">
                <a16:creationId xmlns:a16="http://schemas.microsoft.com/office/drawing/2014/main" id="{60C4B25A-7A41-4AEA-935C-86980FFB7802}"/>
              </a:ext>
            </a:extLst>
          </p:cNvPr>
          <p:cNvSpPr>
            <a:spLocks noGrp="1"/>
          </p:cNvSpPr>
          <p:nvPr>
            <p:ph type="title"/>
          </p:nvPr>
        </p:nvSpPr>
        <p:spPr/>
        <p:txBody>
          <a:bodyPr vert="horz" lIns="91440" tIns="45720" rIns="91440" bIns="0" rtlCol="0" anchor="b">
            <a:normAutofit/>
          </a:bodyPr>
          <a:lstStyle/>
          <a:p>
            <a:pPr algn="r"/>
            <a:r>
              <a:rPr lang="en-US" sz="4400" dirty="0">
                <a:solidFill>
                  <a:srgbClr val="FFFFFE"/>
                </a:solidFill>
              </a:rPr>
              <a:t>Dispersion</a:t>
            </a:r>
          </a:p>
        </p:txBody>
      </p:sp>
      <p:sp>
        <p:nvSpPr>
          <p:cNvPr id="4" name="Text Placeholder 3">
            <a:extLst>
              <a:ext uri="{FF2B5EF4-FFF2-40B4-BE49-F238E27FC236}">
                <a16:creationId xmlns:a16="http://schemas.microsoft.com/office/drawing/2014/main" id="{EA8A8C7F-216B-4C24-84F3-351180DFE941}"/>
              </a:ext>
            </a:extLst>
          </p:cNvPr>
          <p:cNvSpPr>
            <a:spLocks noGrp="1"/>
          </p:cNvSpPr>
          <p:nvPr>
            <p:ph type="body" sz="half" idx="2"/>
          </p:nvPr>
        </p:nvSpPr>
        <p:spPr/>
        <p:txBody>
          <a:bodyPr vert="horz" lIns="91440" tIns="91440" rIns="91440" bIns="91440" rtlCol="0">
            <a:normAutofit/>
          </a:bodyPr>
          <a:lstStyle/>
          <a:p>
            <a:pPr algn="r"/>
            <a:r>
              <a:rPr lang="en-US" sz="1600" dirty="0">
                <a:solidFill>
                  <a:srgbClr val="FFFFFE"/>
                </a:solidFill>
              </a:rPr>
              <a:t>Range, Variance, Standard Deviation</a:t>
            </a:r>
          </a:p>
        </p:txBody>
      </p:sp>
      <p:sp>
        <p:nvSpPr>
          <p:cNvPr id="5" name="Footer Placeholder 4">
            <a:extLst>
              <a:ext uri="{FF2B5EF4-FFF2-40B4-BE49-F238E27FC236}">
                <a16:creationId xmlns:a16="http://schemas.microsoft.com/office/drawing/2014/main" id="{FBB048A9-5B1D-E6E3-4801-5606D369E4DD}"/>
              </a:ext>
            </a:extLst>
          </p:cNvPr>
          <p:cNvSpPr>
            <a:spLocks noGrp="1"/>
          </p:cNvSpPr>
          <p:nvPr>
            <p:ph type="ftr" sz="quarter" idx="11"/>
          </p:nvPr>
        </p:nvSpPr>
        <p:spPr/>
        <p:txBody>
          <a:bodyPr/>
          <a:lstStyle/>
          <a:p>
            <a:r>
              <a:rPr lang="en-GB"/>
              <a:t>Measurement and Description</a:t>
            </a:r>
          </a:p>
        </p:txBody>
      </p:sp>
      <p:sp>
        <p:nvSpPr>
          <p:cNvPr id="7" name="Slide Number Placeholder 6">
            <a:extLst>
              <a:ext uri="{FF2B5EF4-FFF2-40B4-BE49-F238E27FC236}">
                <a16:creationId xmlns:a16="http://schemas.microsoft.com/office/drawing/2014/main" id="{77FF7489-D232-A0C4-FCE2-7D89ADB80F6A}"/>
              </a:ext>
            </a:extLst>
          </p:cNvPr>
          <p:cNvSpPr>
            <a:spLocks noGrp="1"/>
          </p:cNvSpPr>
          <p:nvPr>
            <p:ph type="sldNum" sz="quarter" idx="12"/>
          </p:nvPr>
        </p:nvSpPr>
        <p:spPr/>
        <p:txBody>
          <a:bodyPr/>
          <a:lstStyle/>
          <a:p>
            <a:fld id="{9FAA51BB-2FC0-4DB8-B50E-F52D50E733B6}" type="slidenum">
              <a:rPr lang="en-GB" smtClean="0"/>
              <a:t>37</a:t>
            </a:fld>
            <a:endParaRPr lang="en-GB"/>
          </a:p>
        </p:txBody>
      </p:sp>
    </p:spTree>
    <p:extLst>
      <p:ext uri="{BB962C8B-B14F-4D97-AF65-F5344CB8AC3E}">
        <p14:creationId xmlns:p14="http://schemas.microsoft.com/office/powerpoint/2010/main" val="18883770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3804A-BC62-4742-A6FD-F17B3D3424E3}"/>
              </a:ext>
            </a:extLst>
          </p:cNvPr>
          <p:cNvSpPr>
            <a:spLocks noGrp="1"/>
          </p:cNvSpPr>
          <p:nvPr>
            <p:ph type="title"/>
          </p:nvPr>
        </p:nvSpPr>
        <p:spPr/>
        <p:txBody>
          <a:bodyPr>
            <a:normAutofit/>
          </a:bodyPr>
          <a:lstStyle/>
          <a:p>
            <a:r>
              <a:rPr lang="en-GB" dirty="0"/>
              <a:t>Measures of ‘dispersion’</a:t>
            </a:r>
          </a:p>
        </p:txBody>
      </p:sp>
      <p:pic>
        <p:nvPicPr>
          <p:cNvPr id="6" name="Content Placeholder 5">
            <a:extLst>
              <a:ext uri="{FF2B5EF4-FFF2-40B4-BE49-F238E27FC236}">
                <a16:creationId xmlns:a16="http://schemas.microsoft.com/office/drawing/2014/main" id="{11BF58D3-1E9C-4DD3-8F88-6E4B4C677574}"/>
              </a:ext>
            </a:extLst>
          </p:cNvPr>
          <p:cNvPicPr>
            <a:picLocks noGrp="1" noChangeAspect="1"/>
          </p:cNvPicPr>
          <p:nvPr>
            <p:ph idx="4294967295"/>
          </p:nvPr>
        </p:nvPicPr>
        <p:blipFill>
          <a:blip r:embed="rId3"/>
          <a:stretch>
            <a:fillRect/>
          </a:stretch>
        </p:blipFill>
        <p:spPr>
          <a:xfrm>
            <a:off x="835742" y="2330450"/>
            <a:ext cx="9602788" cy="2197100"/>
          </a:xfrm>
          <a:prstGeom prst="rect">
            <a:avLst/>
          </a:prstGeom>
        </p:spPr>
      </p:pic>
      <p:sp>
        <p:nvSpPr>
          <p:cNvPr id="4" name="Footer Placeholder 3">
            <a:extLst>
              <a:ext uri="{FF2B5EF4-FFF2-40B4-BE49-F238E27FC236}">
                <a16:creationId xmlns:a16="http://schemas.microsoft.com/office/drawing/2014/main" id="{A94CA09D-39DD-3F71-4E6F-264DC6E4E3B1}"/>
              </a:ext>
            </a:extLst>
          </p:cNvPr>
          <p:cNvSpPr>
            <a:spLocks noGrp="1"/>
          </p:cNvSpPr>
          <p:nvPr>
            <p:ph type="ftr" sz="quarter" idx="11"/>
          </p:nvPr>
        </p:nvSpPr>
        <p:spPr/>
        <p:txBody>
          <a:bodyPr/>
          <a:lstStyle/>
          <a:p>
            <a:r>
              <a:rPr lang="en-GB"/>
              <a:t>Measurement and Description</a:t>
            </a:r>
          </a:p>
        </p:txBody>
      </p:sp>
      <p:sp>
        <p:nvSpPr>
          <p:cNvPr id="5" name="Slide Number Placeholder 4">
            <a:extLst>
              <a:ext uri="{FF2B5EF4-FFF2-40B4-BE49-F238E27FC236}">
                <a16:creationId xmlns:a16="http://schemas.microsoft.com/office/drawing/2014/main" id="{29F4107F-52AB-3B5D-CBCB-6AFB617FC3F4}"/>
              </a:ext>
            </a:extLst>
          </p:cNvPr>
          <p:cNvSpPr>
            <a:spLocks noGrp="1"/>
          </p:cNvSpPr>
          <p:nvPr>
            <p:ph type="sldNum" sz="quarter" idx="12"/>
          </p:nvPr>
        </p:nvSpPr>
        <p:spPr/>
        <p:txBody>
          <a:bodyPr/>
          <a:lstStyle/>
          <a:p>
            <a:fld id="{9FAA51BB-2FC0-4DB8-B50E-F52D50E733B6}" type="slidenum">
              <a:rPr lang="en-GB" smtClean="0"/>
              <a:t>38</a:t>
            </a:fld>
            <a:endParaRPr lang="en-GB"/>
          </a:p>
        </p:txBody>
      </p:sp>
    </p:spTree>
    <p:extLst>
      <p:ext uri="{BB962C8B-B14F-4D97-AF65-F5344CB8AC3E}">
        <p14:creationId xmlns:p14="http://schemas.microsoft.com/office/powerpoint/2010/main" val="40061018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0CF6-99D0-1DA5-C70E-1D3CF3E9B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DF3EB-2DAE-7E19-9607-855DA5494DD5}"/>
              </a:ext>
            </a:extLst>
          </p:cNvPr>
          <p:cNvSpPr>
            <a:spLocks noGrp="1"/>
          </p:cNvSpPr>
          <p:nvPr>
            <p:ph type="title"/>
          </p:nvPr>
        </p:nvSpPr>
        <p:spPr/>
        <p:txBody>
          <a:bodyPr/>
          <a:lstStyle/>
          <a:p>
            <a:r>
              <a:rPr lang="en-GB" dirty="0"/>
              <a:t>Example of age distribution</a:t>
            </a:r>
          </a:p>
        </p:txBody>
      </p:sp>
      <p:pic>
        <p:nvPicPr>
          <p:cNvPr id="11" name="Picture 10">
            <a:extLst>
              <a:ext uri="{FF2B5EF4-FFF2-40B4-BE49-F238E27FC236}">
                <a16:creationId xmlns:a16="http://schemas.microsoft.com/office/drawing/2014/main" id="{089319BC-4008-5024-DFFD-75C173D06F6B}"/>
              </a:ext>
            </a:extLst>
          </p:cNvPr>
          <p:cNvPicPr>
            <a:picLocks noChangeAspect="1"/>
          </p:cNvPicPr>
          <p:nvPr/>
        </p:nvPicPr>
        <p:blipFill>
          <a:blip r:embed="rId2"/>
          <a:stretch>
            <a:fillRect/>
          </a:stretch>
        </p:blipFill>
        <p:spPr>
          <a:xfrm>
            <a:off x="1130270" y="1784124"/>
            <a:ext cx="7077248" cy="4298400"/>
          </a:xfrm>
          <a:prstGeom prst="rect">
            <a:avLst/>
          </a:prstGeom>
        </p:spPr>
      </p:pic>
      <p:sp>
        <p:nvSpPr>
          <p:cNvPr id="4" name="Footer Placeholder 3">
            <a:extLst>
              <a:ext uri="{FF2B5EF4-FFF2-40B4-BE49-F238E27FC236}">
                <a16:creationId xmlns:a16="http://schemas.microsoft.com/office/drawing/2014/main" id="{A28029B1-D171-D3C4-5CA2-9311D6475D35}"/>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6495DFF9-1977-9217-7086-B29D1A465DEE}"/>
              </a:ext>
            </a:extLst>
          </p:cNvPr>
          <p:cNvSpPr>
            <a:spLocks noGrp="1"/>
          </p:cNvSpPr>
          <p:nvPr>
            <p:ph type="sldNum" sz="quarter" idx="12"/>
          </p:nvPr>
        </p:nvSpPr>
        <p:spPr/>
        <p:txBody>
          <a:bodyPr/>
          <a:lstStyle/>
          <a:p>
            <a:fld id="{9FAA51BB-2FC0-4DB8-B50E-F52D50E733B6}" type="slidenum">
              <a:rPr lang="en-GB" smtClean="0"/>
              <a:pPr/>
              <a:t>39</a:t>
            </a:fld>
            <a:endParaRPr lang="en-GB" dirty="0"/>
          </a:p>
        </p:txBody>
      </p:sp>
    </p:spTree>
    <p:extLst>
      <p:ext uri="{BB962C8B-B14F-4D97-AF65-F5344CB8AC3E}">
        <p14:creationId xmlns:p14="http://schemas.microsoft.com/office/powerpoint/2010/main" val="259041656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0347-1E47-47AB-BE91-F65B1E0D1726}"/>
              </a:ext>
            </a:extLst>
          </p:cNvPr>
          <p:cNvSpPr>
            <a:spLocks noGrp="1"/>
          </p:cNvSpPr>
          <p:nvPr>
            <p:ph type="title"/>
          </p:nvPr>
        </p:nvSpPr>
        <p:spPr/>
        <p:txBody>
          <a:bodyPr/>
          <a:lstStyle/>
          <a:p>
            <a:r>
              <a:rPr lang="en-GB" dirty="0"/>
              <a:t>The Standard Deviation in an age distribution</a:t>
            </a:r>
          </a:p>
        </p:txBody>
      </p:sp>
      <p:sp>
        <p:nvSpPr>
          <p:cNvPr id="5" name="TextBox 4">
            <a:extLst>
              <a:ext uri="{FF2B5EF4-FFF2-40B4-BE49-F238E27FC236}">
                <a16:creationId xmlns:a16="http://schemas.microsoft.com/office/drawing/2014/main" id="{DF0EB488-73EB-4085-B4CF-06D8E959676B}"/>
              </a:ext>
            </a:extLst>
          </p:cNvPr>
          <p:cNvSpPr txBox="1"/>
          <p:nvPr/>
        </p:nvSpPr>
        <p:spPr>
          <a:xfrm>
            <a:off x="3050498" y="3325025"/>
            <a:ext cx="6100996" cy="215444"/>
          </a:xfrm>
          <a:prstGeom prst="rect">
            <a:avLst/>
          </a:prstGeom>
          <a:noFill/>
        </p:spPr>
        <p:txBody>
          <a:bodyPr wrap="square">
            <a:spAutoFit/>
          </a:bodyPr>
          <a:lstStyle/>
          <a:p>
            <a:endParaRPr lang="en" sz="800" b="1" dirty="0">
              <a:solidFill>
                <a:srgbClr val="ED1C24"/>
              </a:solidFill>
              <a:latin typeface="Calibri" panose="020F0502020204030204" pitchFamily="34" charset="0"/>
            </a:endParaRPr>
          </a:p>
        </p:txBody>
      </p:sp>
      <p:pic>
        <p:nvPicPr>
          <p:cNvPr id="10" name="Picture 9">
            <a:extLst>
              <a:ext uri="{FF2B5EF4-FFF2-40B4-BE49-F238E27FC236}">
                <a16:creationId xmlns:a16="http://schemas.microsoft.com/office/drawing/2014/main" id="{0A0C8AFC-B2EE-4048-A0B9-1FB82E5B343E}"/>
              </a:ext>
            </a:extLst>
          </p:cNvPr>
          <p:cNvPicPr>
            <a:picLocks noChangeAspect="1"/>
          </p:cNvPicPr>
          <p:nvPr/>
        </p:nvPicPr>
        <p:blipFill>
          <a:blip r:embed="rId3"/>
          <a:stretch>
            <a:fillRect/>
          </a:stretch>
        </p:blipFill>
        <p:spPr>
          <a:xfrm>
            <a:off x="8497808" y="2570103"/>
            <a:ext cx="2976935" cy="1940732"/>
          </a:xfrm>
          <a:prstGeom prst="rect">
            <a:avLst/>
          </a:prstGeom>
        </p:spPr>
      </p:pic>
      <p:pic>
        <p:nvPicPr>
          <p:cNvPr id="12" name="Picture 11">
            <a:extLst>
              <a:ext uri="{FF2B5EF4-FFF2-40B4-BE49-F238E27FC236}">
                <a16:creationId xmlns:a16="http://schemas.microsoft.com/office/drawing/2014/main" id="{D2706E67-87C2-4EEF-B9FE-226C3CFB6B1F}"/>
              </a:ext>
            </a:extLst>
          </p:cNvPr>
          <p:cNvPicPr>
            <a:picLocks noChangeAspect="1"/>
          </p:cNvPicPr>
          <p:nvPr/>
        </p:nvPicPr>
        <p:blipFill>
          <a:blip r:embed="rId4"/>
          <a:stretch>
            <a:fillRect/>
          </a:stretch>
        </p:blipFill>
        <p:spPr>
          <a:xfrm>
            <a:off x="1130270" y="1792734"/>
            <a:ext cx="7077248" cy="4298400"/>
          </a:xfrm>
          <a:prstGeom prst="rect">
            <a:avLst/>
          </a:prstGeom>
        </p:spPr>
      </p:pic>
      <p:sp>
        <p:nvSpPr>
          <p:cNvPr id="4" name="Footer Placeholder 3">
            <a:extLst>
              <a:ext uri="{FF2B5EF4-FFF2-40B4-BE49-F238E27FC236}">
                <a16:creationId xmlns:a16="http://schemas.microsoft.com/office/drawing/2014/main" id="{608F002C-58F1-FF8C-5E42-47ADA900882B}"/>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FF0EAB6D-DAE0-0FF4-BD50-28B4B32326B8}"/>
              </a:ext>
            </a:extLst>
          </p:cNvPr>
          <p:cNvSpPr>
            <a:spLocks noGrp="1"/>
          </p:cNvSpPr>
          <p:nvPr>
            <p:ph type="sldNum" sz="quarter" idx="12"/>
          </p:nvPr>
        </p:nvSpPr>
        <p:spPr/>
        <p:txBody>
          <a:bodyPr/>
          <a:lstStyle/>
          <a:p>
            <a:fld id="{9FAA51BB-2FC0-4DB8-B50E-F52D50E733B6}" type="slidenum">
              <a:rPr lang="en-GB" smtClean="0"/>
              <a:pPr/>
              <a:t>40</a:t>
            </a:fld>
            <a:endParaRPr lang="en-GB" dirty="0"/>
          </a:p>
        </p:txBody>
      </p:sp>
    </p:spTree>
    <p:extLst>
      <p:ext uri="{BB962C8B-B14F-4D97-AF65-F5344CB8AC3E}">
        <p14:creationId xmlns:p14="http://schemas.microsoft.com/office/powerpoint/2010/main" val="5112014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19C1-3248-4033-B708-B2B5583A88C0}"/>
              </a:ext>
            </a:extLst>
          </p:cNvPr>
          <p:cNvSpPr>
            <a:spLocks noGrp="1"/>
          </p:cNvSpPr>
          <p:nvPr>
            <p:ph type="title"/>
          </p:nvPr>
        </p:nvSpPr>
        <p:spPr/>
        <p:txBody>
          <a:bodyPr/>
          <a:lstStyle/>
          <a:p>
            <a:r>
              <a:rPr lang="en-GB" dirty="0"/>
              <a:t>The Standard Deviation </a:t>
            </a:r>
          </a:p>
        </p:txBody>
      </p:sp>
      <p:sp>
        <p:nvSpPr>
          <p:cNvPr id="8" name="Rectangle 7">
            <a:extLst>
              <a:ext uri="{FF2B5EF4-FFF2-40B4-BE49-F238E27FC236}">
                <a16:creationId xmlns:a16="http://schemas.microsoft.com/office/drawing/2014/main" id="{1A9262CD-DD48-4236-AC98-1CD5300D72C0}"/>
              </a:ext>
            </a:extLst>
          </p:cNvPr>
          <p:cNvSpPr/>
          <p:nvPr/>
        </p:nvSpPr>
        <p:spPr>
          <a:xfrm>
            <a:off x="1130270" y="1679393"/>
            <a:ext cx="6096000" cy="707886"/>
          </a:xfrm>
          <a:prstGeom prst="rect">
            <a:avLst/>
          </a:prstGeom>
        </p:spPr>
        <p:txBody>
          <a:bodyPr>
            <a:spAutoFit/>
          </a:bodyPr>
          <a:lstStyle/>
          <a:p>
            <a:r>
              <a:rPr lang="en-GB" sz="2000" dirty="0"/>
              <a:t>The sample SD expresses how much variation exists from the mean for a given variable</a:t>
            </a:r>
          </a:p>
        </p:txBody>
      </p:sp>
      <p:sp>
        <p:nvSpPr>
          <p:cNvPr id="11" name="Rectangle 10">
            <a:extLst>
              <a:ext uri="{FF2B5EF4-FFF2-40B4-BE49-F238E27FC236}">
                <a16:creationId xmlns:a16="http://schemas.microsoft.com/office/drawing/2014/main" id="{69DB2C26-FB4F-4238-89B6-A8A881AAF38E}"/>
              </a:ext>
            </a:extLst>
          </p:cNvPr>
          <p:cNvSpPr/>
          <p:nvPr/>
        </p:nvSpPr>
        <p:spPr>
          <a:xfrm>
            <a:off x="7667241" y="4486110"/>
            <a:ext cx="4039850" cy="738664"/>
          </a:xfrm>
          <a:prstGeom prst="rect">
            <a:avLst/>
          </a:prstGeom>
        </p:spPr>
        <p:txBody>
          <a:bodyPr wrap="square">
            <a:spAutoFit/>
          </a:bodyPr>
          <a:lstStyle/>
          <a:p>
            <a:r>
              <a:rPr lang="en-GB" sz="1400" dirty="0"/>
              <a:t>where xi is each value is the data set, x-bar is the mean, and n is the number of values in the data set</a:t>
            </a:r>
          </a:p>
        </p:txBody>
      </p:sp>
      <p:pic>
        <p:nvPicPr>
          <p:cNvPr id="12" name="Picture 11">
            <a:extLst>
              <a:ext uri="{FF2B5EF4-FFF2-40B4-BE49-F238E27FC236}">
                <a16:creationId xmlns:a16="http://schemas.microsoft.com/office/drawing/2014/main" id="{01E340D7-DED7-404B-9B2A-6294528DA4FE}"/>
              </a:ext>
            </a:extLst>
          </p:cNvPr>
          <p:cNvPicPr>
            <a:picLocks noChangeAspect="1"/>
          </p:cNvPicPr>
          <p:nvPr/>
        </p:nvPicPr>
        <p:blipFill>
          <a:blip r:embed="rId3"/>
          <a:stretch>
            <a:fillRect/>
          </a:stretch>
        </p:blipFill>
        <p:spPr>
          <a:xfrm>
            <a:off x="7667241" y="1679393"/>
            <a:ext cx="4039850" cy="2633671"/>
          </a:xfrm>
          <a:prstGeom prst="rect">
            <a:avLst/>
          </a:prstGeom>
        </p:spPr>
      </p:pic>
      <p:sp>
        <p:nvSpPr>
          <p:cNvPr id="9" name="TextBox 8">
            <a:extLst>
              <a:ext uri="{FF2B5EF4-FFF2-40B4-BE49-F238E27FC236}">
                <a16:creationId xmlns:a16="http://schemas.microsoft.com/office/drawing/2014/main" id="{26FC17E2-9FC3-4171-B05E-BB03A8494A29}"/>
              </a:ext>
            </a:extLst>
          </p:cNvPr>
          <p:cNvSpPr txBox="1"/>
          <p:nvPr/>
        </p:nvSpPr>
        <p:spPr>
          <a:xfrm>
            <a:off x="1125274" y="2649432"/>
            <a:ext cx="6100996" cy="2554545"/>
          </a:xfrm>
          <a:prstGeom prst="rect">
            <a:avLst/>
          </a:prstGeom>
          <a:noFill/>
        </p:spPr>
        <p:txBody>
          <a:bodyPr wrap="square">
            <a:spAutoFit/>
          </a:bodyPr>
          <a:lstStyle/>
          <a:p>
            <a:r>
              <a:rPr lang="en-GB" sz="2000" dirty="0"/>
              <a:t>1. </a:t>
            </a:r>
            <a:r>
              <a:rPr lang="en-GB" sz="2000" b="1" dirty="0"/>
              <a:t>Mean</a:t>
            </a:r>
            <a:r>
              <a:rPr lang="en-GB" sz="2000" dirty="0"/>
              <a:t>: the average of the numbers </a:t>
            </a:r>
          </a:p>
          <a:p>
            <a:r>
              <a:rPr lang="en-GB" sz="2000" dirty="0"/>
              <a:t>2. Case deviations (</a:t>
            </a:r>
            <a:r>
              <a:rPr lang="en-GB" sz="2000" b="1" dirty="0"/>
              <a:t>Residuals</a:t>
            </a:r>
            <a:r>
              <a:rPr lang="en-GB" sz="2000" dirty="0"/>
              <a:t>): subtract the mean from each number</a:t>
            </a:r>
          </a:p>
          <a:p>
            <a:r>
              <a:rPr lang="en-GB" sz="2000" dirty="0"/>
              <a:t>3. </a:t>
            </a:r>
            <a:r>
              <a:rPr lang="en-GB" sz="2000" b="1" dirty="0"/>
              <a:t>Variance</a:t>
            </a:r>
            <a:r>
              <a:rPr lang="en-GB" sz="2000" dirty="0"/>
              <a:t>: square each of the differences, add them up to get the sum of squares, and divide the sum of squares by the number of cases minus one</a:t>
            </a:r>
          </a:p>
          <a:p>
            <a:r>
              <a:rPr lang="en-GB" sz="2000" dirty="0"/>
              <a:t>4. </a:t>
            </a:r>
            <a:r>
              <a:rPr lang="en-GB" sz="2000" b="1" dirty="0"/>
              <a:t>SD</a:t>
            </a:r>
            <a:r>
              <a:rPr lang="en-GB" sz="2000" dirty="0"/>
              <a:t>: take the square root of the variance</a:t>
            </a:r>
          </a:p>
        </p:txBody>
      </p:sp>
      <p:sp>
        <p:nvSpPr>
          <p:cNvPr id="5" name="Footer Placeholder 4">
            <a:extLst>
              <a:ext uri="{FF2B5EF4-FFF2-40B4-BE49-F238E27FC236}">
                <a16:creationId xmlns:a16="http://schemas.microsoft.com/office/drawing/2014/main" id="{2D75EF57-227A-33B2-ADB1-11CA0BF45E92}"/>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A0B76405-B0FB-1A81-B771-70013890EFAE}"/>
              </a:ext>
            </a:extLst>
          </p:cNvPr>
          <p:cNvSpPr>
            <a:spLocks noGrp="1"/>
          </p:cNvSpPr>
          <p:nvPr>
            <p:ph type="sldNum" sz="quarter" idx="12"/>
          </p:nvPr>
        </p:nvSpPr>
        <p:spPr/>
        <p:txBody>
          <a:bodyPr/>
          <a:lstStyle/>
          <a:p>
            <a:fld id="{9FAA51BB-2FC0-4DB8-B50E-F52D50E733B6}" type="slidenum">
              <a:rPr lang="en-GB" smtClean="0"/>
              <a:pPr/>
              <a:t>41</a:t>
            </a:fld>
            <a:endParaRPr lang="en-GB" dirty="0"/>
          </a:p>
        </p:txBody>
      </p:sp>
    </p:spTree>
    <p:extLst>
      <p:ext uri="{BB962C8B-B14F-4D97-AF65-F5344CB8AC3E}">
        <p14:creationId xmlns:p14="http://schemas.microsoft.com/office/powerpoint/2010/main" val="36032564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02B2-42BE-434E-8F9E-1AAD6454CF83}"/>
              </a:ext>
            </a:extLst>
          </p:cNvPr>
          <p:cNvSpPr>
            <a:spLocks noGrp="1"/>
          </p:cNvSpPr>
          <p:nvPr>
            <p:ph type="title"/>
          </p:nvPr>
        </p:nvSpPr>
        <p:spPr/>
        <p:txBody>
          <a:bodyPr/>
          <a:lstStyle/>
          <a:p>
            <a:r>
              <a:rPr lang="en-GB" dirty="0"/>
              <a:t>Percentiles and the IQR</a:t>
            </a:r>
          </a:p>
        </p:txBody>
      </p:sp>
      <p:pic>
        <p:nvPicPr>
          <p:cNvPr id="7" name="Picture 6">
            <a:extLst>
              <a:ext uri="{FF2B5EF4-FFF2-40B4-BE49-F238E27FC236}">
                <a16:creationId xmlns:a16="http://schemas.microsoft.com/office/drawing/2014/main" id="{9D7902BC-49A9-44B3-9FCB-A1CDBB7E3208}"/>
              </a:ext>
            </a:extLst>
          </p:cNvPr>
          <p:cNvPicPr>
            <a:picLocks noChangeAspect="1"/>
          </p:cNvPicPr>
          <p:nvPr/>
        </p:nvPicPr>
        <p:blipFill>
          <a:blip r:embed="rId3"/>
          <a:stretch>
            <a:fillRect/>
          </a:stretch>
        </p:blipFill>
        <p:spPr>
          <a:xfrm>
            <a:off x="1130270" y="1807564"/>
            <a:ext cx="7077256" cy="4298400"/>
          </a:xfrm>
          <a:prstGeom prst="rect">
            <a:avLst/>
          </a:prstGeom>
        </p:spPr>
      </p:pic>
      <p:cxnSp>
        <p:nvCxnSpPr>
          <p:cNvPr id="9" name="Straight Arrow Connector 8">
            <a:extLst>
              <a:ext uri="{FF2B5EF4-FFF2-40B4-BE49-F238E27FC236}">
                <a16:creationId xmlns:a16="http://schemas.microsoft.com/office/drawing/2014/main" id="{D07F11BB-FE7D-4CC2-A181-3E9C12FF64D5}"/>
              </a:ext>
            </a:extLst>
          </p:cNvPr>
          <p:cNvCxnSpPr>
            <a:cxnSpLocks/>
          </p:cNvCxnSpPr>
          <p:nvPr/>
        </p:nvCxnSpPr>
        <p:spPr>
          <a:xfrm>
            <a:off x="4407108" y="2218544"/>
            <a:ext cx="101158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A38AB9C-59AD-418D-AB39-3E64A26A4E2B}"/>
              </a:ext>
            </a:extLst>
          </p:cNvPr>
          <p:cNvCxnSpPr/>
          <p:nvPr/>
        </p:nvCxnSpPr>
        <p:spPr>
          <a:xfrm flipH="1">
            <a:off x="3387902" y="2561881"/>
            <a:ext cx="3147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A67B0E9-7F53-44EF-9CA3-F095B17BFEB0}"/>
              </a:ext>
            </a:extLst>
          </p:cNvPr>
          <p:cNvCxnSpPr/>
          <p:nvPr/>
        </p:nvCxnSpPr>
        <p:spPr>
          <a:xfrm>
            <a:off x="5081416" y="2561881"/>
            <a:ext cx="3372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B66C416-2582-4B3C-813F-6EEC164E83A9}"/>
              </a:ext>
            </a:extLst>
          </p:cNvPr>
          <p:cNvCxnSpPr/>
          <p:nvPr/>
        </p:nvCxnSpPr>
        <p:spPr>
          <a:xfrm>
            <a:off x="3702695" y="2884170"/>
            <a:ext cx="1378721"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65B39C6-722F-457E-9C7A-E00959D85AAE}"/>
              </a:ext>
            </a:extLst>
          </p:cNvPr>
          <p:cNvSpPr txBox="1"/>
          <p:nvPr/>
        </p:nvSpPr>
        <p:spPr>
          <a:xfrm>
            <a:off x="5413411" y="2108788"/>
            <a:ext cx="2347559" cy="261610"/>
          </a:xfrm>
          <a:prstGeom prst="rect">
            <a:avLst/>
          </a:prstGeom>
          <a:noFill/>
        </p:spPr>
        <p:txBody>
          <a:bodyPr wrap="square" rtlCol="0">
            <a:spAutoFit/>
          </a:bodyPr>
          <a:lstStyle/>
          <a:p>
            <a:r>
              <a:rPr lang="en-GB" sz="1100" dirty="0"/>
              <a:t>Median = 50</a:t>
            </a:r>
            <a:r>
              <a:rPr lang="en-GB" sz="1100" baseline="30000" dirty="0"/>
              <a:t>th</a:t>
            </a:r>
            <a:r>
              <a:rPr lang="en-GB" sz="1100" dirty="0"/>
              <a:t> percentile (P50)</a:t>
            </a:r>
          </a:p>
        </p:txBody>
      </p:sp>
      <p:sp>
        <p:nvSpPr>
          <p:cNvPr id="18" name="TextBox 17">
            <a:extLst>
              <a:ext uri="{FF2B5EF4-FFF2-40B4-BE49-F238E27FC236}">
                <a16:creationId xmlns:a16="http://schemas.microsoft.com/office/drawing/2014/main" id="{CE96AAC3-2DC7-4390-BE35-A481645650E3}"/>
              </a:ext>
            </a:extLst>
          </p:cNvPr>
          <p:cNvSpPr txBox="1"/>
          <p:nvPr/>
        </p:nvSpPr>
        <p:spPr>
          <a:xfrm>
            <a:off x="2935698" y="2431076"/>
            <a:ext cx="609600" cy="261610"/>
          </a:xfrm>
          <a:prstGeom prst="rect">
            <a:avLst/>
          </a:prstGeom>
          <a:noFill/>
        </p:spPr>
        <p:txBody>
          <a:bodyPr wrap="square" rtlCol="0">
            <a:spAutoFit/>
          </a:bodyPr>
          <a:lstStyle/>
          <a:p>
            <a:r>
              <a:rPr lang="en-GB" sz="1100" dirty="0"/>
              <a:t>P25</a:t>
            </a:r>
          </a:p>
        </p:txBody>
      </p:sp>
      <p:sp>
        <p:nvSpPr>
          <p:cNvPr id="19" name="TextBox 18">
            <a:extLst>
              <a:ext uri="{FF2B5EF4-FFF2-40B4-BE49-F238E27FC236}">
                <a16:creationId xmlns:a16="http://schemas.microsoft.com/office/drawing/2014/main" id="{C35FA521-D5D7-4710-A132-20718DEE7D5E}"/>
              </a:ext>
            </a:extLst>
          </p:cNvPr>
          <p:cNvSpPr txBox="1"/>
          <p:nvPr/>
        </p:nvSpPr>
        <p:spPr>
          <a:xfrm>
            <a:off x="5413411" y="2432278"/>
            <a:ext cx="609600" cy="261610"/>
          </a:xfrm>
          <a:prstGeom prst="rect">
            <a:avLst/>
          </a:prstGeom>
          <a:noFill/>
        </p:spPr>
        <p:txBody>
          <a:bodyPr wrap="square" rtlCol="0">
            <a:spAutoFit/>
          </a:bodyPr>
          <a:lstStyle/>
          <a:p>
            <a:r>
              <a:rPr lang="en-GB" sz="1100" dirty="0"/>
              <a:t>P75</a:t>
            </a:r>
          </a:p>
        </p:txBody>
      </p:sp>
      <p:sp>
        <p:nvSpPr>
          <p:cNvPr id="20" name="TextBox 19">
            <a:extLst>
              <a:ext uri="{FF2B5EF4-FFF2-40B4-BE49-F238E27FC236}">
                <a16:creationId xmlns:a16="http://schemas.microsoft.com/office/drawing/2014/main" id="{3D3CED95-D5B2-4C4C-B75D-57BCF5351903}"/>
              </a:ext>
            </a:extLst>
          </p:cNvPr>
          <p:cNvSpPr txBox="1"/>
          <p:nvPr/>
        </p:nvSpPr>
        <p:spPr>
          <a:xfrm>
            <a:off x="5158740" y="2796540"/>
            <a:ext cx="2034540" cy="430887"/>
          </a:xfrm>
          <a:prstGeom prst="rect">
            <a:avLst/>
          </a:prstGeom>
          <a:noFill/>
        </p:spPr>
        <p:txBody>
          <a:bodyPr wrap="square" rtlCol="0">
            <a:spAutoFit/>
          </a:bodyPr>
          <a:lstStyle/>
          <a:p>
            <a:r>
              <a:rPr lang="en-GB" sz="1100" dirty="0"/>
              <a:t>Interquartile range (IQR) = P75 - P25</a:t>
            </a:r>
          </a:p>
        </p:txBody>
      </p:sp>
      <p:pic>
        <p:nvPicPr>
          <p:cNvPr id="21" name="Picture 20">
            <a:extLst>
              <a:ext uri="{FF2B5EF4-FFF2-40B4-BE49-F238E27FC236}">
                <a16:creationId xmlns:a16="http://schemas.microsoft.com/office/drawing/2014/main" id="{09DA75E4-DE2C-4EF3-A2CD-F7CC41EF7E14}"/>
              </a:ext>
            </a:extLst>
          </p:cNvPr>
          <p:cNvPicPr>
            <a:picLocks noChangeAspect="1"/>
          </p:cNvPicPr>
          <p:nvPr/>
        </p:nvPicPr>
        <p:blipFill>
          <a:blip r:embed="rId4"/>
          <a:stretch>
            <a:fillRect/>
          </a:stretch>
        </p:blipFill>
        <p:spPr>
          <a:xfrm>
            <a:off x="8610580" y="1807564"/>
            <a:ext cx="2804747" cy="4298400"/>
          </a:xfrm>
          <a:prstGeom prst="rect">
            <a:avLst/>
          </a:prstGeom>
        </p:spPr>
      </p:pic>
      <p:sp>
        <p:nvSpPr>
          <p:cNvPr id="4" name="Footer Placeholder 3">
            <a:extLst>
              <a:ext uri="{FF2B5EF4-FFF2-40B4-BE49-F238E27FC236}">
                <a16:creationId xmlns:a16="http://schemas.microsoft.com/office/drawing/2014/main" id="{62263EBF-6A6A-443C-46D2-1475082D2735}"/>
              </a:ext>
            </a:extLst>
          </p:cNvPr>
          <p:cNvSpPr>
            <a:spLocks noGrp="1"/>
          </p:cNvSpPr>
          <p:nvPr>
            <p:ph type="ftr" sz="quarter" idx="11"/>
          </p:nvPr>
        </p:nvSpPr>
        <p:spPr/>
        <p:txBody>
          <a:bodyPr/>
          <a:lstStyle/>
          <a:p>
            <a:r>
              <a:rPr lang="en-GB"/>
              <a:t>Measurement and Description</a:t>
            </a:r>
            <a:endParaRPr lang="en-GB" dirty="0"/>
          </a:p>
        </p:txBody>
      </p:sp>
      <p:sp>
        <p:nvSpPr>
          <p:cNvPr id="5" name="Slide Number Placeholder 4">
            <a:extLst>
              <a:ext uri="{FF2B5EF4-FFF2-40B4-BE49-F238E27FC236}">
                <a16:creationId xmlns:a16="http://schemas.microsoft.com/office/drawing/2014/main" id="{E29343D7-DD8C-FC53-31E8-6DBEAD28E717}"/>
              </a:ext>
            </a:extLst>
          </p:cNvPr>
          <p:cNvSpPr>
            <a:spLocks noGrp="1"/>
          </p:cNvSpPr>
          <p:nvPr>
            <p:ph type="sldNum" sz="quarter" idx="12"/>
          </p:nvPr>
        </p:nvSpPr>
        <p:spPr/>
        <p:txBody>
          <a:bodyPr/>
          <a:lstStyle/>
          <a:p>
            <a:fld id="{9FAA51BB-2FC0-4DB8-B50E-F52D50E733B6}" type="slidenum">
              <a:rPr lang="en-GB" smtClean="0"/>
              <a:pPr/>
              <a:t>42</a:t>
            </a:fld>
            <a:endParaRPr lang="en-GB" dirty="0"/>
          </a:p>
        </p:txBody>
      </p:sp>
    </p:spTree>
    <p:extLst>
      <p:ext uri="{BB962C8B-B14F-4D97-AF65-F5344CB8AC3E}">
        <p14:creationId xmlns:p14="http://schemas.microsoft.com/office/powerpoint/2010/main" val="10689298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JASP output: descriptive statistics</a:t>
            </a:r>
          </a:p>
        </p:txBody>
      </p:sp>
      <p:sp>
        <p:nvSpPr>
          <p:cNvPr id="3" name="Footer Placeholder 2">
            <a:extLst>
              <a:ext uri="{FF2B5EF4-FFF2-40B4-BE49-F238E27FC236}">
                <a16:creationId xmlns:a16="http://schemas.microsoft.com/office/drawing/2014/main" id="{D0C8C946-5335-2921-801F-E32EBBDC06AC}"/>
              </a:ext>
            </a:extLst>
          </p:cNvPr>
          <p:cNvSpPr>
            <a:spLocks noGrp="1"/>
          </p:cNvSpPr>
          <p:nvPr>
            <p:ph type="ftr" sz="quarter" idx="11"/>
          </p:nvPr>
        </p:nvSpPr>
        <p:spPr/>
        <p:txBody>
          <a:bodyPr/>
          <a:lstStyle/>
          <a:p>
            <a:r>
              <a:rPr lang="en-GB"/>
              <a:t>Measurement and Description</a:t>
            </a:r>
          </a:p>
        </p:txBody>
      </p:sp>
      <p:sp>
        <p:nvSpPr>
          <p:cNvPr id="4" name="Slide Number Placeholder 3">
            <a:extLst>
              <a:ext uri="{FF2B5EF4-FFF2-40B4-BE49-F238E27FC236}">
                <a16:creationId xmlns:a16="http://schemas.microsoft.com/office/drawing/2014/main" id="{975A5B92-8D16-E54E-863B-32FBAC4EF875}"/>
              </a:ext>
            </a:extLst>
          </p:cNvPr>
          <p:cNvSpPr>
            <a:spLocks noGrp="1"/>
          </p:cNvSpPr>
          <p:nvPr>
            <p:ph type="sldNum" sz="quarter" idx="12"/>
          </p:nvPr>
        </p:nvSpPr>
        <p:spPr/>
        <p:txBody>
          <a:bodyPr/>
          <a:lstStyle/>
          <a:p>
            <a:fld id="{9FAA51BB-2FC0-4DB8-B50E-F52D50E733B6}" type="slidenum">
              <a:rPr lang="en-GB" smtClean="0"/>
              <a:t>20</a:t>
            </a:fld>
            <a:endParaRPr lang="en-GB"/>
          </a:p>
        </p:txBody>
      </p:sp>
      <p:sp>
        <p:nvSpPr>
          <p:cNvPr id="5" name="TextBox 4"/>
          <p:cNvSpPr txBox="1"/>
          <p:nvPr/>
        </p:nvSpPr>
        <p:spPr>
          <a:xfrm>
            <a:off x="758952" y="1325880"/>
            <a:ext cx="3474720" cy="274320"/>
          </a:xfrm>
          <a:prstGeom prst="rect">
            <a:avLst/>
          </a:prstGeom>
          <a:noFill/>
        </p:spPr>
        <p:txBody>
          <a:bodyPr wrap="square" lIns="0" rIns="0" tIns="0" bIns="0" anchor="t">
            <a:spAutoFit/>
          </a:bodyPr>
          <a:lstStyle/>
          <a:p>
            <a:pPr algn="l"/>
            <a:r>
              <a:rPr sz="1400" b="1" i="0">
                <a:solidFill>
                  <a:srgbClr val="222222"/>
                </a:solidFill>
              </a:rPr>
              <a:t>Descriptive Statistics</a:t>
            </a:r>
            <a:endParaRPr sz="1400"/>
          </a:p>
        </p:txBody>
      </p:sp>
      <p:graphicFrame>
        <p:nvGraphicFramePr>
          <p:cNvPr id="6" name="Table 5"/>
          <p:cNvGraphicFramePr>
            <a:graphicFrameLocks noGrp="1"/>
          </p:cNvGraphicFramePr>
          <p:nvPr/>
        </p:nvGraphicFramePr>
        <p:xfrm>
          <a:off x="758952" y="1627632"/>
          <a:ext cx="3474720" cy="3291840"/>
        </p:xfrm>
        <a:graphic>
          <a:graphicData uri="http://schemas.openxmlformats.org/drawingml/2006/table">
            <a:tbl>
              <a:tblPr>
                <a:tableStyleId>{2D5ABB26-0587-4C30-8999-92F81FD0307C}</a:tableStyleId>
              </a:tblPr>
              <a:tblGrid>
                <a:gridCol w="2194560"/>
                <a:gridCol w="1280160"/>
              </a:tblGrid>
              <a:tr h="365760">
                <a:tc>
                  <a:txBody>
                    <a:bodyPr wrap="square"/>
                    <a:lstStyle/>
                    <a:p>
                      <a:pPr algn="l"/>
                      <a:r>
                        <a:rPr sz="1400" b="1" i="0">
                          <a:solidFill>
                            <a:srgbClr val="222222"/>
                          </a:solidFill>
                        </a:rPr>
                        <a:t/>
                      </a:r>
                      <a:endParaRPr sz="1400"/>
                    </a:p>
                  </a:txBody>
                  <a:tcPr marL="73152" marR="73152" marT="27432" marB="27432" anchor="ctr">
                    <a:lnL w="0">
                      <a:noFill/>
                    </a:lnL>
                    <a:lnR w="0">
                      <a:noFill/>
                    </a:lnR>
                    <a:lnT w="12700">
                      <a:solidFill>
                        <a:srgbClr val="222222"/>
                      </a:solidFill>
                    </a:lnT>
                    <a:lnB w="9525">
                      <a:solidFill>
                        <a:srgbClr val="222222"/>
                      </a:solidFill>
                    </a:lnB>
                    <a:noFill/>
                  </a:tcPr>
                </a:tc>
                <a:tc>
                  <a:txBody>
                    <a:bodyPr wrap="square"/>
                    <a:lstStyle/>
                    <a:p>
                      <a:pPr algn="r"/>
                      <a:r>
                        <a:rPr sz="1400" b="1" i="0">
                          <a:solidFill>
                            <a:srgbClr val="222222"/>
                          </a:solidFill>
                        </a:rPr>
                        <a:t>ppltrst</a:t>
                      </a:r>
                      <a:endParaRPr sz="1400"/>
                    </a:p>
                  </a:txBody>
                  <a:tcPr marL="73152" marR="73152" marT="27432" marB="27432" anchor="ctr">
                    <a:lnL w="0">
                      <a:noFill/>
                    </a:lnL>
                    <a:lnR w="0">
                      <a:noFill/>
                    </a:lnR>
                    <a:lnT w="12700">
                      <a:solidFill>
                        <a:srgbClr val="222222"/>
                      </a:solidFill>
                    </a:lnT>
                    <a:lnB w="9525">
                      <a:solidFill>
                        <a:srgbClr val="222222"/>
                      </a:solidFill>
                    </a:lnB>
                    <a:noFill/>
                  </a:tcPr>
                </a:tc>
              </a:tr>
              <a:tr h="365760">
                <a:tc>
                  <a:txBody>
                    <a:bodyPr wrap="square"/>
                    <a:lstStyle/>
                    <a:p>
                      <a:pPr algn="l"/>
                      <a:r>
                        <a:rPr sz="1400" b="0" i="0">
                          <a:solidFill>
                            <a:srgbClr val="222222"/>
                          </a:solidFill>
                        </a:rPr>
                        <a:t>Valid</a:t>
                      </a:r>
                      <a:endParaRPr sz="1400"/>
                    </a:p>
                  </a:txBody>
                  <a:tcPr marL="73152" marR="73152" marT="27432" marB="27432" anchor="ctr">
                    <a:lnL w="0">
                      <a:noFill/>
                    </a:lnL>
                    <a:lnR w="0">
                      <a:noFill/>
                    </a:lnR>
                    <a:lnT w="0">
                      <a:noFill/>
                    </a:lnT>
                    <a:lnB w="0">
                      <a:noFill/>
                    </a:lnB>
                    <a:noFill/>
                  </a:tcPr>
                </a:tc>
                <a:tc>
                  <a:txBody>
                    <a:bodyPr wrap="square"/>
                    <a:lstStyle/>
                    <a:p>
                      <a:pPr algn="r"/>
                      <a:r>
                        <a:rPr sz="1400" b="0" i="0">
                          <a:solidFill>
                            <a:srgbClr val="222222"/>
                          </a:solidFill>
                        </a:rPr>
                        <a:t>1680</a:t>
                      </a:r>
                      <a:endParaRPr sz="1400"/>
                    </a:p>
                  </a:txBody>
                  <a:tcPr marL="73152" marR="73152" marT="27432" marB="27432" anchor="ctr">
                    <a:lnL w="0">
                      <a:noFill/>
                    </a:lnL>
                    <a:lnR w="0">
                      <a:noFill/>
                    </a:lnR>
                    <a:lnT w="0">
                      <a:noFill/>
                    </a:lnT>
                    <a:lnB w="0">
                      <a:noFill/>
                    </a:lnB>
                    <a:noFill/>
                  </a:tcPr>
                </a:tc>
              </a:tr>
              <a:tr h="365760">
                <a:tc>
                  <a:txBody>
                    <a:bodyPr wrap="square"/>
                    <a:lstStyle/>
                    <a:p>
                      <a:pPr algn="l"/>
                      <a:r>
                        <a:rPr sz="1400" b="0" i="0">
                          <a:solidFill>
                            <a:srgbClr val="222222"/>
                          </a:solidFill>
                        </a:rPr>
                        <a:t>Missing</a:t>
                      </a:r>
                      <a:endParaRPr sz="1400"/>
                    </a:p>
                  </a:txBody>
                  <a:tcPr marL="73152" marR="73152" marT="27432" marB="27432" anchor="ctr">
                    <a:lnL w="0">
                      <a:noFill/>
                    </a:lnL>
                    <a:lnR w="0">
                      <a:noFill/>
                    </a:lnR>
                    <a:lnT w="0">
                      <a:noFill/>
                    </a:lnT>
                    <a:lnB w="0">
                      <a:noFill/>
                    </a:lnB>
                    <a:noFill/>
                  </a:tcPr>
                </a:tc>
                <a:tc>
                  <a:txBody>
                    <a:bodyPr wrap="square"/>
                    <a:lstStyle/>
                    <a:p>
                      <a:pPr algn="r"/>
                      <a:r>
                        <a:rPr sz="1400" b="0" i="0">
                          <a:solidFill>
                            <a:srgbClr val="222222"/>
                          </a:solidFill>
                        </a:rPr>
                        <a:t>4</a:t>
                      </a:r>
                      <a:endParaRPr sz="1400"/>
                    </a:p>
                  </a:txBody>
                  <a:tcPr marL="73152" marR="73152" marT="27432" marB="27432" anchor="ctr">
                    <a:lnL w="0">
                      <a:noFill/>
                    </a:lnL>
                    <a:lnR w="0">
                      <a:noFill/>
                    </a:lnR>
                    <a:lnT w="0">
                      <a:noFill/>
                    </a:lnT>
                    <a:lnB w="0">
                      <a:noFill/>
                    </a:lnB>
                    <a:noFill/>
                  </a:tcPr>
                </a:tc>
              </a:tr>
              <a:tr h="365760">
                <a:tc>
                  <a:txBody>
                    <a:bodyPr wrap="square"/>
                    <a:lstStyle/>
                    <a:p>
                      <a:pPr algn="l"/>
                      <a:r>
                        <a:rPr sz="1400" b="0" i="0">
                          <a:solidFill>
                            <a:srgbClr val="222222"/>
                          </a:solidFill>
                        </a:rPr>
                        <a:t>Mode</a:t>
                      </a:r>
                      <a:endParaRPr sz="1400"/>
                    </a:p>
                  </a:txBody>
                  <a:tcPr marL="73152" marR="73152" marT="27432" marB="27432" anchor="ctr">
                    <a:lnL w="0">
                      <a:noFill/>
                    </a:lnL>
                    <a:lnR w="0">
                      <a:noFill/>
                    </a:lnR>
                    <a:lnT w="0">
                      <a:noFill/>
                    </a:lnT>
                    <a:lnB w="0">
                      <a:noFill/>
                    </a:lnB>
                    <a:noFill/>
                  </a:tcPr>
                </a:tc>
                <a:tc>
                  <a:txBody>
                    <a:bodyPr wrap="square"/>
                    <a:lstStyle/>
                    <a:p>
                      <a:pPr algn="r"/>
                      <a:r>
                        <a:rPr sz="1400" b="0" i="0">
                          <a:solidFill>
                            <a:srgbClr val="222222"/>
                          </a:solidFill>
                        </a:rPr>
                        <a:t>7.000</a:t>
                      </a:r>
                      <a:endParaRPr sz="1400"/>
                    </a:p>
                  </a:txBody>
                  <a:tcPr marL="73152" marR="73152" marT="27432" marB="27432" anchor="ctr">
                    <a:lnL w="0">
                      <a:noFill/>
                    </a:lnL>
                    <a:lnR w="0">
                      <a:noFill/>
                    </a:lnR>
                    <a:lnT w="0">
                      <a:noFill/>
                    </a:lnT>
                    <a:lnB w="0">
                      <a:noFill/>
                    </a:lnB>
                    <a:noFill/>
                  </a:tcPr>
                </a:tc>
              </a:tr>
              <a:tr h="365760">
                <a:tc>
                  <a:txBody>
                    <a:bodyPr wrap="square"/>
                    <a:lstStyle/>
                    <a:p>
                      <a:pPr algn="l"/>
                      <a:r>
                        <a:rPr sz="1400" b="0" i="0">
                          <a:solidFill>
                            <a:srgbClr val="222222"/>
                          </a:solidFill>
                        </a:rPr>
                        <a:t>Median</a:t>
                      </a:r>
                      <a:endParaRPr sz="1400"/>
                    </a:p>
                  </a:txBody>
                  <a:tcPr marL="73152" marR="73152" marT="27432" marB="27432" anchor="ctr">
                    <a:lnL w="0">
                      <a:noFill/>
                    </a:lnL>
                    <a:lnR w="0">
                      <a:noFill/>
                    </a:lnR>
                    <a:lnT w="0">
                      <a:noFill/>
                    </a:lnT>
                    <a:lnB w="0">
                      <a:noFill/>
                    </a:lnB>
                    <a:noFill/>
                  </a:tcPr>
                </a:tc>
                <a:tc>
                  <a:txBody>
                    <a:bodyPr wrap="square"/>
                    <a:lstStyle/>
                    <a:p>
                      <a:pPr algn="r"/>
                      <a:r>
                        <a:rPr sz="1400" b="0" i="0">
                          <a:solidFill>
                            <a:srgbClr val="222222"/>
                          </a:solidFill>
                        </a:rPr>
                        <a:t>6.000</a:t>
                      </a:r>
                      <a:endParaRPr sz="1400"/>
                    </a:p>
                  </a:txBody>
                  <a:tcPr marL="73152" marR="73152" marT="27432" marB="27432" anchor="ctr">
                    <a:lnL w="0">
                      <a:noFill/>
                    </a:lnL>
                    <a:lnR w="0">
                      <a:noFill/>
                    </a:lnR>
                    <a:lnT w="0">
                      <a:noFill/>
                    </a:lnT>
                    <a:lnB w="0">
                      <a:noFill/>
                    </a:lnB>
                    <a:noFill/>
                  </a:tcPr>
                </a:tc>
              </a:tr>
              <a:tr h="365760">
                <a:tc>
                  <a:txBody>
                    <a:bodyPr wrap="square"/>
                    <a:lstStyle/>
                    <a:p>
                      <a:pPr algn="l"/>
                      <a:r>
                        <a:rPr sz="1400" b="0" i="0">
                          <a:solidFill>
                            <a:srgbClr val="222222"/>
                          </a:solidFill>
                        </a:rPr>
                        <a:t>Mean</a:t>
                      </a:r>
                      <a:endParaRPr sz="1400"/>
                    </a:p>
                  </a:txBody>
                  <a:tcPr marL="73152" marR="73152" marT="27432" marB="27432" anchor="ctr">
                    <a:lnL w="0">
                      <a:noFill/>
                    </a:lnL>
                    <a:lnR w="0">
                      <a:noFill/>
                    </a:lnR>
                    <a:lnT w="0">
                      <a:noFill/>
                    </a:lnT>
                    <a:lnB w="0">
                      <a:noFill/>
                    </a:lnB>
                    <a:noFill/>
                  </a:tcPr>
                </a:tc>
                <a:tc>
                  <a:txBody>
                    <a:bodyPr wrap="square"/>
                    <a:lstStyle/>
                    <a:p>
                      <a:pPr algn="r"/>
                      <a:r>
                        <a:rPr sz="1400" b="0" i="0">
                          <a:solidFill>
                            <a:srgbClr val="222222"/>
                          </a:solidFill>
                        </a:rPr>
                        <a:t>5.402</a:t>
                      </a:r>
                      <a:endParaRPr sz="1400"/>
                    </a:p>
                  </a:txBody>
                  <a:tcPr marL="73152" marR="73152" marT="27432" marB="27432" anchor="ctr">
                    <a:lnL w="0">
                      <a:noFill/>
                    </a:lnL>
                    <a:lnR w="0">
                      <a:noFill/>
                    </a:lnR>
                    <a:lnT w="0">
                      <a:noFill/>
                    </a:lnT>
                    <a:lnB w="0">
                      <a:noFill/>
                    </a:lnB>
                    <a:noFill/>
                  </a:tcPr>
                </a:tc>
              </a:tr>
              <a:tr h="365760">
                <a:tc>
                  <a:txBody>
                    <a:bodyPr wrap="square"/>
                    <a:lstStyle/>
                    <a:p>
                      <a:pPr algn="l"/>
                      <a:r>
                        <a:rPr sz="1400" b="0" i="0">
                          <a:solidFill>
                            <a:srgbClr val="222222"/>
                          </a:solidFill>
                        </a:rPr>
                        <a:t>Std. Deviation</a:t>
                      </a:r>
                      <a:endParaRPr sz="1400"/>
                    </a:p>
                  </a:txBody>
                  <a:tcPr marL="73152" marR="73152" marT="27432" marB="27432" anchor="ctr">
                    <a:lnL w="0">
                      <a:noFill/>
                    </a:lnL>
                    <a:lnR w="0">
                      <a:noFill/>
                    </a:lnR>
                    <a:lnT w="0">
                      <a:noFill/>
                    </a:lnT>
                    <a:lnB w="0">
                      <a:noFill/>
                    </a:lnB>
                    <a:noFill/>
                  </a:tcPr>
                </a:tc>
                <a:tc>
                  <a:txBody>
                    <a:bodyPr wrap="square"/>
                    <a:lstStyle/>
                    <a:p>
                      <a:pPr algn="r"/>
                      <a:r>
                        <a:rPr sz="1400" b="0" i="0">
                          <a:solidFill>
                            <a:srgbClr val="222222"/>
                          </a:solidFill>
                        </a:rPr>
                        <a:t>2.298</a:t>
                      </a:r>
                      <a:endParaRPr sz="1400"/>
                    </a:p>
                  </a:txBody>
                  <a:tcPr marL="73152" marR="73152" marT="27432" marB="27432" anchor="ctr">
                    <a:lnL w="0">
                      <a:noFill/>
                    </a:lnL>
                    <a:lnR w="0">
                      <a:noFill/>
                    </a:lnR>
                    <a:lnT w="0">
                      <a:noFill/>
                    </a:lnT>
                    <a:lnB w="0">
                      <a:noFill/>
                    </a:lnB>
                    <a:noFill/>
                  </a:tcPr>
                </a:tc>
              </a:tr>
              <a:tr h="365760">
                <a:tc>
                  <a:txBody>
                    <a:bodyPr wrap="square"/>
                    <a:lstStyle/>
                    <a:p>
                      <a:pPr algn="l"/>
                      <a:r>
                        <a:rPr sz="1400" b="0" i="0">
                          <a:solidFill>
                            <a:srgbClr val="222222"/>
                          </a:solidFill>
                        </a:rPr>
                        <a:t>Minimum</a:t>
                      </a:r>
                      <a:endParaRPr sz="1400"/>
                    </a:p>
                  </a:txBody>
                  <a:tcPr marL="73152" marR="73152" marT="27432" marB="27432" anchor="ctr">
                    <a:lnL w="0">
                      <a:noFill/>
                    </a:lnL>
                    <a:lnR w="0">
                      <a:noFill/>
                    </a:lnR>
                    <a:lnT w="0">
                      <a:noFill/>
                    </a:lnT>
                    <a:lnB w="0">
                      <a:noFill/>
                    </a:lnB>
                    <a:noFill/>
                  </a:tcPr>
                </a:tc>
                <a:tc>
                  <a:txBody>
                    <a:bodyPr wrap="square"/>
                    <a:lstStyle/>
                    <a:p>
                      <a:pPr algn="r"/>
                      <a:r>
                        <a:rPr sz="1400" b="0" i="0">
                          <a:solidFill>
                            <a:srgbClr val="222222"/>
                          </a:solidFill>
                        </a:rPr>
                        <a:t>0.000</a:t>
                      </a:r>
                      <a:endParaRPr sz="1400"/>
                    </a:p>
                  </a:txBody>
                  <a:tcPr marL="73152" marR="73152" marT="27432" marB="27432" anchor="ctr">
                    <a:lnL w="0">
                      <a:noFill/>
                    </a:lnL>
                    <a:lnR w="0">
                      <a:noFill/>
                    </a:lnR>
                    <a:lnT w="0">
                      <a:noFill/>
                    </a:lnT>
                    <a:lnB w="0">
                      <a:noFill/>
                    </a:lnB>
                    <a:noFill/>
                  </a:tcPr>
                </a:tc>
              </a:tr>
              <a:tr h="365760">
                <a:tc>
                  <a:txBody>
                    <a:bodyPr wrap="square"/>
                    <a:lstStyle/>
                    <a:p>
                      <a:pPr algn="l"/>
                      <a:r>
                        <a:rPr sz="1400" b="0" i="0">
                          <a:solidFill>
                            <a:srgbClr val="222222"/>
                          </a:solidFill>
                        </a:rPr>
                        <a:t>Maximum</a:t>
                      </a:r>
                      <a:endParaRPr sz="1400"/>
                    </a:p>
                  </a:txBody>
                  <a:tcPr marL="73152" marR="73152" marT="27432" marB="27432" anchor="ctr">
                    <a:lnL w="0">
                      <a:noFill/>
                    </a:lnL>
                    <a:lnR w="0">
                      <a:noFill/>
                    </a:lnR>
                    <a:lnT w="0">
                      <a:noFill/>
                    </a:lnT>
                    <a:lnB w="12700">
                      <a:solidFill>
                        <a:srgbClr val="222222"/>
                      </a:solidFill>
                    </a:lnB>
                    <a:noFill/>
                  </a:tcPr>
                </a:tc>
                <a:tc>
                  <a:txBody>
                    <a:bodyPr wrap="square"/>
                    <a:lstStyle/>
                    <a:p>
                      <a:pPr algn="r"/>
                      <a:r>
                        <a:rPr sz="1400" b="0" i="0">
                          <a:solidFill>
                            <a:srgbClr val="222222"/>
                          </a:solidFill>
                        </a:rPr>
                        <a:t>10.000</a:t>
                      </a:r>
                      <a:endParaRPr sz="1400"/>
                    </a:p>
                  </a:txBody>
                  <a:tcPr marL="73152" marR="73152" marT="27432" marB="27432" anchor="ctr">
                    <a:lnL w="0">
                      <a:noFill/>
                    </a:lnL>
                    <a:lnR w="0">
                      <a:noFill/>
                    </a:lnR>
                    <a:lnT w="0">
                      <a:noFill/>
                    </a:lnT>
                    <a:lnB w="12700">
                      <a:solidFill>
                        <a:srgbClr val="222222"/>
                      </a:solidFill>
                    </a:lnB>
                    <a:noFill/>
                  </a:tcPr>
                </a:tc>
              </a:tr>
            </a:tbl>
          </a:graphicData>
        </a:graphic>
      </p:graphicFrame>
      <p:sp>
        <p:nvSpPr>
          <p:cNvPr id="7" name="Oval 6"/>
          <p:cNvSpPr/>
          <p:nvPr/>
        </p:nvSpPr>
        <p:spPr>
          <a:xfrm>
            <a:off x="4361688" y="2212848"/>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1</a:t>
            </a:r>
            <a:endParaRPr sz="1200"/>
          </a:p>
        </p:txBody>
      </p:sp>
      <p:sp>
        <p:nvSpPr>
          <p:cNvPr id="8" name="Oval 7"/>
          <p:cNvSpPr/>
          <p:nvPr/>
        </p:nvSpPr>
        <p:spPr>
          <a:xfrm>
            <a:off x="4361688" y="2761488"/>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2</a:t>
            </a:r>
            <a:endParaRPr sz="1200"/>
          </a:p>
        </p:txBody>
      </p:sp>
      <p:sp>
        <p:nvSpPr>
          <p:cNvPr id="9" name="Oval 8"/>
          <p:cNvSpPr/>
          <p:nvPr/>
        </p:nvSpPr>
        <p:spPr>
          <a:xfrm>
            <a:off x="4361688" y="3127248"/>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3</a:t>
            </a:r>
            <a:endParaRPr sz="1200"/>
          </a:p>
        </p:txBody>
      </p:sp>
      <p:sp>
        <p:nvSpPr>
          <p:cNvPr id="10" name="Oval 9"/>
          <p:cNvSpPr/>
          <p:nvPr/>
        </p:nvSpPr>
        <p:spPr>
          <a:xfrm>
            <a:off x="4361688" y="3493008"/>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4</a:t>
            </a:r>
            <a:endParaRPr sz="1200"/>
          </a:p>
        </p:txBody>
      </p:sp>
      <p:sp>
        <p:nvSpPr>
          <p:cNvPr id="11" name="Oval 10"/>
          <p:cNvSpPr/>
          <p:nvPr/>
        </p:nvSpPr>
        <p:spPr>
          <a:xfrm>
            <a:off x="4361688" y="3858768"/>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5</a:t>
            </a:r>
            <a:endParaRPr sz="1200"/>
          </a:p>
        </p:txBody>
      </p:sp>
      <p:sp>
        <p:nvSpPr>
          <p:cNvPr id="12" name="Oval 11"/>
          <p:cNvSpPr/>
          <p:nvPr/>
        </p:nvSpPr>
        <p:spPr>
          <a:xfrm>
            <a:off x="4361688" y="4407408"/>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6</a:t>
            </a:r>
            <a:endParaRPr sz="1200"/>
          </a:p>
        </p:txBody>
      </p:sp>
      <p:sp>
        <p:nvSpPr>
          <p:cNvPr id="13" name="Oval 12"/>
          <p:cNvSpPr/>
          <p:nvPr/>
        </p:nvSpPr>
        <p:spPr>
          <a:xfrm>
            <a:off x="5394960" y="1655064"/>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1</a:t>
            </a:r>
            <a:endParaRPr sz="1200"/>
          </a:p>
        </p:txBody>
      </p:sp>
      <p:sp>
        <p:nvSpPr>
          <p:cNvPr id="14" name="TextBox 13"/>
          <p:cNvSpPr txBox="1"/>
          <p:nvPr/>
        </p:nvSpPr>
        <p:spPr>
          <a:xfrm>
            <a:off x="5806440" y="1463040"/>
            <a:ext cx="5532120" cy="676656"/>
          </a:xfrm>
          <a:prstGeom prst="rect">
            <a:avLst/>
          </a:prstGeom>
          <a:noFill/>
        </p:spPr>
        <p:txBody>
          <a:bodyPr wrap="square" lIns="0" rIns="0" tIns="0" bIns="0" anchor="ctr">
            <a:spAutoFit/>
          </a:bodyPr>
          <a:lstStyle/>
          <a:p>
            <a:pPr algn="l"/>
            <a:r>
              <a:rPr sz="1500" b="0" i="0">
                <a:solidFill>
                  <a:srgbClr val="1F2A33"/>
                </a:solidFill>
              </a:rPr>
              <a:t>Valid and Missing: 1,680 answered; 4 refused or did not know</a:t>
            </a:r>
            <a:endParaRPr sz="1500"/>
          </a:p>
        </p:txBody>
      </p:sp>
      <p:sp>
        <p:nvSpPr>
          <p:cNvPr id="15" name="Oval 14"/>
          <p:cNvSpPr/>
          <p:nvPr/>
        </p:nvSpPr>
        <p:spPr>
          <a:xfrm>
            <a:off x="5394960" y="2331720"/>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2</a:t>
            </a:r>
            <a:endParaRPr sz="1200"/>
          </a:p>
        </p:txBody>
      </p:sp>
      <p:sp>
        <p:nvSpPr>
          <p:cNvPr id="16" name="TextBox 15"/>
          <p:cNvSpPr txBox="1"/>
          <p:nvPr/>
        </p:nvSpPr>
        <p:spPr>
          <a:xfrm>
            <a:off x="5806440" y="2139696"/>
            <a:ext cx="5532120" cy="676656"/>
          </a:xfrm>
          <a:prstGeom prst="rect">
            <a:avLst/>
          </a:prstGeom>
          <a:noFill/>
        </p:spPr>
        <p:txBody>
          <a:bodyPr wrap="square" lIns="0" rIns="0" tIns="0" bIns="0" anchor="ctr">
            <a:spAutoFit/>
          </a:bodyPr>
          <a:lstStyle/>
          <a:p>
            <a:pPr algn="l"/>
            <a:r>
              <a:rPr sz="1500" b="0" i="0">
                <a:solidFill>
                  <a:srgbClr val="1F2A33"/>
                </a:solidFill>
              </a:rPr>
              <a:t>Mode: the most common answer, 7</a:t>
            </a:r>
            <a:endParaRPr sz="1500"/>
          </a:p>
        </p:txBody>
      </p:sp>
      <p:sp>
        <p:nvSpPr>
          <p:cNvPr id="17" name="Oval 16"/>
          <p:cNvSpPr/>
          <p:nvPr/>
        </p:nvSpPr>
        <p:spPr>
          <a:xfrm>
            <a:off x="5394960" y="3008376"/>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3</a:t>
            </a:r>
            <a:endParaRPr sz="1200"/>
          </a:p>
        </p:txBody>
      </p:sp>
      <p:sp>
        <p:nvSpPr>
          <p:cNvPr id="18" name="TextBox 17"/>
          <p:cNvSpPr txBox="1"/>
          <p:nvPr/>
        </p:nvSpPr>
        <p:spPr>
          <a:xfrm>
            <a:off x="5806440" y="2816352"/>
            <a:ext cx="5532120" cy="676656"/>
          </a:xfrm>
          <a:prstGeom prst="rect">
            <a:avLst/>
          </a:prstGeom>
          <a:noFill/>
        </p:spPr>
        <p:txBody>
          <a:bodyPr wrap="square" lIns="0" rIns="0" tIns="0" bIns="0" anchor="ctr">
            <a:spAutoFit/>
          </a:bodyPr>
          <a:lstStyle/>
          <a:p>
            <a:pPr algn="l"/>
            <a:r>
              <a:rPr sz="1500" b="0" i="0">
                <a:solidFill>
                  <a:srgbClr val="1F2A33"/>
                </a:solidFill>
              </a:rPr>
              <a:t>Median: the middle answer when all of them are lined up, 6</a:t>
            </a:r>
            <a:endParaRPr sz="1500"/>
          </a:p>
        </p:txBody>
      </p:sp>
      <p:sp>
        <p:nvSpPr>
          <p:cNvPr id="19" name="Oval 18"/>
          <p:cNvSpPr/>
          <p:nvPr/>
        </p:nvSpPr>
        <p:spPr>
          <a:xfrm>
            <a:off x="5394960" y="3685031"/>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4</a:t>
            </a:r>
            <a:endParaRPr sz="1200"/>
          </a:p>
        </p:txBody>
      </p:sp>
      <p:sp>
        <p:nvSpPr>
          <p:cNvPr id="20" name="TextBox 19"/>
          <p:cNvSpPr txBox="1"/>
          <p:nvPr/>
        </p:nvSpPr>
        <p:spPr>
          <a:xfrm>
            <a:off x="5806440" y="3493008"/>
            <a:ext cx="5532120" cy="676656"/>
          </a:xfrm>
          <a:prstGeom prst="rect">
            <a:avLst/>
          </a:prstGeom>
          <a:noFill/>
        </p:spPr>
        <p:txBody>
          <a:bodyPr wrap="square" lIns="0" rIns="0" tIns="0" bIns="0" anchor="ctr">
            <a:spAutoFit/>
          </a:bodyPr>
          <a:lstStyle/>
          <a:p>
            <a:pPr algn="l"/>
            <a:r>
              <a:rPr sz="1500" b="0" i="0">
                <a:solidFill>
                  <a:srgbClr val="1F2A33"/>
                </a:solidFill>
              </a:rPr>
              <a:t>Mean: the average answer, 5.40</a:t>
            </a:r>
            <a:endParaRPr sz="1500"/>
          </a:p>
        </p:txBody>
      </p:sp>
      <p:sp>
        <p:nvSpPr>
          <p:cNvPr id="21" name="Oval 20"/>
          <p:cNvSpPr/>
          <p:nvPr/>
        </p:nvSpPr>
        <p:spPr>
          <a:xfrm>
            <a:off x="5394960" y="4361688"/>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5</a:t>
            </a:r>
            <a:endParaRPr sz="1200"/>
          </a:p>
        </p:txBody>
      </p:sp>
      <p:sp>
        <p:nvSpPr>
          <p:cNvPr id="22" name="TextBox 21"/>
          <p:cNvSpPr txBox="1"/>
          <p:nvPr/>
        </p:nvSpPr>
        <p:spPr>
          <a:xfrm>
            <a:off x="5806440" y="4169664"/>
            <a:ext cx="5532120" cy="676656"/>
          </a:xfrm>
          <a:prstGeom prst="rect">
            <a:avLst/>
          </a:prstGeom>
          <a:noFill/>
        </p:spPr>
        <p:txBody>
          <a:bodyPr wrap="square" lIns="0" rIns="0" tIns="0" bIns="0" anchor="ctr">
            <a:spAutoFit/>
          </a:bodyPr>
          <a:lstStyle/>
          <a:p>
            <a:pPr algn="l"/>
            <a:r>
              <a:rPr sz="1500" b="0" i="0">
                <a:solidFill>
                  <a:srgbClr val="1F2A33"/>
                </a:solidFill>
              </a:rPr>
              <a:t>Std. Deviation: the typical distance of an answer from the mean, 2.3 points</a:t>
            </a:r>
            <a:endParaRPr sz="1500"/>
          </a:p>
        </p:txBody>
      </p:sp>
      <p:sp>
        <p:nvSpPr>
          <p:cNvPr id="23" name="Oval 22"/>
          <p:cNvSpPr/>
          <p:nvPr/>
        </p:nvSpPr>
        <p:spPr>
          <a:xfrm>
            <a:off x="5394960" y="5038344"/>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6</a:t>
            </a:r>
            <a:endParaRPr sz="1200"/>
          </a:p>
        </p:txBody>
      </p:sp>
      <p:sp>
        <p:nvSpPr>
          <p:cNvPr id="24" name="TextBox 23"/>
          <p:cNvSpPr txBox="1"/>
          <p:nvPr/>
        </p:nvSpPr>
        <p:spPr>
          <a:xfrm>
            <a:off x="5806440" y="4846320"/>
            <a:ext cx="5532120" cy="676656"/>
          </a:xfrm>
          <a:prstGeom prst="rect">
            <a:avLst/>
          </a:prstGeom>
          <a:noFill/>
        </p:spPr>
        <p:txBody>
          <a:bodyPr wrap="square" lIns="0" rIns="0" tIns="0" bIns="0" anchor="ctr">
            <a:spAutoFit/>
          </a:bodyPr>
          <a:lstStyle/>
          <a:p>
            <a:pPr algn="l"/>
            <a:r>
              <a:rPr sz="1500" b="0" i="0">
                <a:solidFill>
                  <a:srgbClr val="1F2A33"/>
                </a:solidFill>
              </a:rPr>
              <a:t>Minimum and Maximum: the lowest and highest answers given, 0 and 10</a:t>
            </a:r>
            <a:endParaRPr sz="1500"/>
          </a:p>
        </p:txBody>
      </p:sp>
      <p:sp>
        <p:nvSpPr>
          <p:cNvPr id="25" name="TextBox 24"/>
          <p:cNvSpPr txBox="1"/>
          <p:nvPr/>
        </p:nvSpPr>
        <p:spPr>
          <a:xfrm>
            <a:off x="758952" y="5943600"/>
            <a:ext cx="10607040" cy="292608"/>
          </a:xfrm>
          <a:prstGeom prst="rect">
            <a:avLst/>
          </a:prstGeom>
          <a:noFill/>
        </p:spPr>
        <p:txBody>
          <a:bodyPr wrap="square" lIns="0" rIns="0" tIns="0" bIns="0" anchor="ctr">
            <a:spAutoFit/>
          </a:bodyPr>
          <a:lstStyle/>
          <a:p>
            <a:pPr algn="l"/>
            <a:r>
              <a:rPr sz="1200" b="0" i="0">
                <a:solidFill>
                  <a:srgbClr val="55606B"/>
                </a:solidFill>
              </a:rPr>
              <a:t>Data: European Social Survey Round 11 (2023–24), UK sample (gb-ess11-trust.sav). JASP: Descriptives › Descriptive Statistics; ppltrst set to Scale; Mode and Median ticked.</a:t>
            </a:r>
            <a:endParaRPr sz="120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JASP output: frequency table</a:t>
            </a:r>
          </a:p>
        </p:txBody>
      </p:sp>
      <p:sp>
        <p:nvSpPr>
          <p:cNvPr id="3" name="Footer Placeholder 2">
            <a:extLst>
              <a:ext uri="{FF2B5EF4-FFF2-40B4-BE49-F238E27FC236}">
                <a16:creationId xmlns:a16="http://schemas.microsoft.com/office/drawing/2014/main" id="{D0C8C946-5335-2921-801F-E32EBBDC06AC}"/>
              </a:ext>
            </a:extLst>
          </p:cNvPr>
          <p:cNvSpPr>
            <a:spLocks noGrp="1"/>
          </p:cNvSpPr>
          <p:nvPr>
            <p:ph type="ftr" sz="quarter" idx="11"/>
          </p:nvPr>
        </p:nvSpPr>
        <p:spPr/>
        <p:txBody>
          <a:bodyPr/>
          <a:lstStyle/>
          <a:p>
            <a:r>
              <a:rPr lang="en-GB"/>
              <a:t>Measurement and Description</a:t>
            </a:r>
          </a:p>
        </p:txBody>
      </p:sp>
      <p:sp>
        <p:nvSpPr>
          <p:cNvPr id="4" name="Slide Number Placeholder 3">
            <a:extLst>
              <a:ext uri="{FF2B5EF4-FFF2-40B4-BE49-F238E27FC236}">
                <a16:creationId xmlns:a16="http://schemas.microsoft.com/office/drawing/2014/main" id="{975A5B92-8D16-E54E-863B-32FBAC4EF875}"/>
              </a:ext>
            </a:extLst>
          </p:cNvPr>
          <p:cNvSpPr>
            <a:spLocks noGrp="1"/>
          </p:cNvSpPr>
          <p:nvPr>
            <p:ph type="sldNum" sz="quarter" idx="12"/>
          </p:nvPr>
        </p:nvSpPr>
        <p:spPr/>
        <p:txBody>
          <a:bodyPr/>
          <a:lstStyle/>
          <a:p>
            <a:fld id="{9FAA51BB-2FC0-4DB8-B50E-F52D50E733B6}" type="slidenum">
              <a:rPr lang="en-GB" smtClean="0"/>
              <a:t>20</a:t>
            </a:fld>
            <a:endParaRPr lang="en-GB"/>
          </a:p>
        </p:txBody>
      </p:sp>
      <p:sp>
        <p:nvSpPr>
          <p:cNvPr id="5" name="TextBox 4"/>
          <p:cNvSpPr txBox="1"/>
          <p:nvPr/>
        </p:nvSpPr>
        <p:spPr>
          <a:xfrm>
            <a:off x="758952" y="1261872"/>
            <a:ext cx="7040880" cy="274320"/>
          </a:xfrm>
          <a:prstGeom prst="rect">
            <a:avLst/>
          </a:prstGeom>
          <a:noFill/>
        </p:spPr>
        <p:txBody>
          <a:bodyPr wrap="square" lIns="0" rIns="0" tIns="0" bIns="0" anchor="t">
            <a:spAutoFit/>
          </a:bodyPr>
          <a:lstStyle/>
          <a:p>
            <a:pPr algn="l"/>
            <a:r>
              <a:rPr sz="1400" b="1" i="0">
                <a:solidFill>
                  <a:srgbClr val="222222"/>
                </a:solidFill>
              </a:rPr>
              <a:t>Frequencies for ppltrst</a:t>
            </a:r>
            <a:endParaRPr sz="1400"/>
          </a:p>
        </p:txBody>
      </p:sp>
      <p:graphicFrame>
        <p:nvGraphicFramePr>
          <p:cNvPr id="6" name="Table 5"/>
          <p:cNvGraphicFramePr>
            <a:graphicFrameLocks noGrp="1"/>
          </p:cNvGraphicFramePr>
          <p:nvPr/>
        </p:nvGraphicFramePr>
        <p:xfrm>
          <a:off x="758952" y="1563624"/>
          <a:ext cx="7040880" cy="3648442"/>
        </p:xfrm>
        <a:graphic>
          <a:graphicData uri="http://schemas.openxmlformats.org/drawingml/2006/table">
            <a:tbl>
              <a:tblPr>
                <a:tableStyleId>{2D5ABB26-0587-4C30-8999-92F81FD0307C}</a:tableStyleId>
              </a:tblPr>
              <a:tblGrid>
                <a:gridCol w="2331720"/>
                <a:gridCol w="1005840"/>
                <a:gridCol w="914400"/>
                <a:gridCol w="1188720"/>
                <a:gridCol w="1600200"/>
              </a:tblGrid>
              <a:tr h="260603">
                <a:tc>
                  <a:txBody>
                    <a:bodyPr wrap="square"/>
                    <a:lstStyle/>
                    <a:p>
                      <a:pPr algn="l"/>
                      <a:r>
                        <a:rPr sz="1200" b="1" i="0">
                          <a:solidFill>
                            <a:srgbClr val="222222"/>
                          </a:solidFill>
                        </a:rPr>
                        <a:t>ppltrst</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wrap="square"/>
                    <a:lstStyle/>
                    <a:p>
                      <a:pPr algn="r"/>
                      <a:r>
                        <a:rPr sz="1200" b="1" i="0">
                          <a:solidFill>
                            <a:srgbClr val="222222"/>
                          </a:solidFill>
                        </a:rPr>
                        <a:t>Frequency</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wrap="square"/>
                    <a:lstStyle/>
                    <a:p>
                      <a:pPr algn="r"/>
                      <a:r>
                        <a:rPr sz="1200" b="1" i="0">
                          <a:solidFill>
                            <a:srgbClr val="222222"/>
                          </a:solidFill>
                        </a:rPr>
                        <a:t>Percent</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wrap="square"/>
                    <a:lstStyle/>
                    <a:p>
                      <a:pPr algn="r"/>
                      <a:r>
                        <a:rPr sz="1200" b="1" i="0">
                          <a:solidFill>
                            <a:srgbClr val="222222"/>
                          </a:solidFill>
                        </a:rPr>
                        <a:t>Valid Percent</a:t>
                      </a:r>
                      <a:endParaRPr sz="1200"/>
                    </a:p>
                  </a:txBody>
                  <a:tcPr marL="73152" marR="73152" marT="27432" marB="27432" anchor="ctr">
                    <a:lnL w="0">
                      <a:noFill/>
                    </a:lnL>
                    <a:lnR w="0">
                      <a:noFill/>
                    </a:lnR>
                    <a:lnT w="12700">
                      <a:solidFill>
                        <a:srgbClr val="222222"/>
                      </a:solidFill>
                    </a:lnT>
                    <a:lnB w="9525">
                      <a:solidFill>
                        <a:srgbClr val="222222"/>
                      </a:solidFill>
                    </a:lnB>
                    <a:noFill/>
                  </a:tcPr>
                </a:tc>
                <a:tc>
                  <a:txBody>
                    <a:bodyPr wrap="square"/>
                    <a:lstStyle/>
                    <a:p>
                      <a:pPr algn="r"/>
                      <a:r>
                        <a:rPr sz="1200" b="1" i="0">
                          <a:solidFill>
                            <a:srgbClr val="222222"/>
                          </a:solidFill>
                        </a:rPr>
                        <a:t>Cumulative Percent</a:t>
                      </a:r>
                      <a:endParaRPr sz="1200"/>
                    </a:p>
                  </a:txBody>
                  <a:tcPr marL="73152" marR="73152" marT="27432" marB="27432" anchor="ctr">
                    <a:lnL w="0">
                      <a:noFill/>
                    </a:lnL>
                    <a:lnR w="0">
                      <a:noFill/>
                    </a:lnR>
                    <a:lnT w="12700">
                      <a:solidFill>
                        <a:srgbClr val="222222"/>
                      </a:solidFill>
                    </a:lnT>
                    <a:lnB w="9525">
                      <a:solidFill>
                        <a:srgbClr val="222222"/>
                      </a:solidFill>
                    </a:lnB>
                    <a:noFill/>
                  </a:tcPr>
                </a:tc>
              </a:tr>
              <a:tr h="260603">
                <a:tc>
                  <a:txBody>
                    <a:bodyPr wrap="square"/>
                    <a:lstStyle/>
                    <a:p>
                      <a:pPr algn="l"/>
                      <a:r>
                        <a:rPr sz="1200" b="0" i="0">
                          <a:solidFill>
                            <a:srgbClr val="222222"/>
                          </a:solidFill>
                        </a:rPr>
                        <a:t>You can’t be too careful</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59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3.5</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3.5</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3.5</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1</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58</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3.4</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3.5</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7.0</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2</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102</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6.1</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6.1</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13.0</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3</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146</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8.7</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8.7</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21.7</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4</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117</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6.9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7.0</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28.7</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5</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329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19.5</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19.6</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48.3</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6</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231</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13.7</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13.8</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62.0</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7</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339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20.1</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20.2</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82.2</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8</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219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13.0</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13.0</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95.2</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49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2.9</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98.2</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Most people can be trusted</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31</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1.8</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1.8</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100.0</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Missing</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4</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0.2</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
                      </a:r>
                      <a:endParaRPr sz="1200"/>
                    </a:p>
                  </a:txBody>
                  <a:tcPr marL="73152" marR="73152" marT="27432" marB="27432" anchor="ctr">
                    <a:lnL w="0">
                      <a:noFill/>
                    </a:lnL>
                    <a:lnR w="0">
                      <a:noFill/>
                    </a:lnR>
                    <a:lnT w="0">
                      <a:noFill/>
                    </a:lnT>
                    <a:lnB w="0">
                      <a:noFill/>
                    </a:lnB>
                    <a:noFill/>
                  </a:tcPr>
                </a:tc>
                <a:tc>
                  <a:txBody>
                    <a:bodyPr wrap="square"/>
                    <a:lstStyle/>
                    <a:p>
                      <a:pPr algn="r"/>
                      <a:r>
                        <a:rPr sz="1200" b="0" i="0">
                          <a:solidFill>
                            <a:srgbClr val="222222"/>
                          </a:solidFill>
                        </a:rPr>
                        <a:t/>
                      </a:r>
                      <a:endParaRPr sz="1200"/>
                    </a:p>
                  </a:txBody>
                  <a:tcPr marL="73152" marR="73152" marT="27432" marB="27432" anchor="ctr">
                    <a:lnL w="0">
                      <a:noFill/>
                    </a:lnL>
                    <a:lnR w="0">
                      <a:noFill/>
                    </a:lnR>
                    <a:lnT w="0">
                      <a:noFill/>
                    </a:lnT>
                    <a:lnB w="0">
                      <a:noFill/>
                    </a:lnB>
                    <a:noFill/>
                  </a:tcPr>
                </a:tc>
              </a:tr>
              <a:tr h="260603">
                <a:tc>
                  <a:txBody>
                    <a:bodyPr wrap="square"/>
                    <a:lstStyle/>
                    <a:p>
                      <a:pPr algn="l"/>
                      <a:r>
                        <a:rPr sz="1200" b="0" i="0">
                          <a:solidFill>
                            <a:srgbClr val="222222"/>
                          </a:solidFill>
                        </a:rPr>
                        <a:t>Total</a:t>
                      </a:r>
                      <a:endParaRPr sz="1200"/>
                    </a:p>
                  </a:txBody>
                  <a:tcPr marL="73152" marR="73152" marT="27432" marB="27432" anchor="ctr">
                    <a:lnL w="0">
                      <a:noFill/>
                    </a:lnL>
                    <a:lnR w="0">
                      <a:noFill/>
                    </a:lnR>
                    <a:lnT w="0">
                      <a:noFill/>
                    </a:lnT>
                    <a:lnB w="12700">
                      <a:solidFill>
                        <a:srgbClr val="222222"/>
                      </a:solidFill>
                    </a:lnB>
                    <a:noFill/>
                  </a:tcPr>
                </a:tc>
                <a:tc>
                  <a:txBody>
                    <a:bodyPr wrap="square"/>
                    <a:lstStyle/>
                    <a:p>
                      <a:pPr algn="r"/>
                      <a:r>
                        <a:rPr sz="1200" b="0" i="0">
                          <a:solidFill>
                            <a:srgbClr val="222222"/>
                          </a:solidFill>
                        </a:rPr>
                        <a:t>1684</a:t>
                      </a:r>
                      <a:endParaRPr sz="1200"/>
                    </a:p>
                  </a:txBody>
                  <a:tcPr marL="73152" marR="73152" marT="27432" marB="27432" anchor="ctr">
                    <a:lnL w="0">
                      <a:noFill/>
                    </a:lnL>
                    <a:lnR w="0">
                      <a:noFill/>
                    </a:lnR>
                    <a:lnT w="0">
                      <a:noFill/>
                    </a:lnT>
                    <a:lnB w="12700">
                      <a:solidFill>
                        <a:srgbClr val="222222"/>
                      </a:solidFill>
                    </a:lnB>
                    <a:noFill/>
                  </a:tcPr>
                </a:tc>
                <a:tc>
                  <a:txBody>
                    <a:bodyPr wrap="square"/>
                    <a:lstStyle/>
                    <a:p>
                      <a:pPr algn="r"/>
                      <a:r>
                        <a:rPr sz="1200" b="0" i="0">
                          <a:solidFill>
                            <a:srgbClr val="222222"/>
                          </a:solidFill>
                        </a:rPr>
                        <a:t>100.0</a:t>
                      </a:r>
                      <a:endParaRPr sz="1200"/>
                    </a:p>
                  </a:txBody>
                  <a:tcPr marL="73152" marR="73152" marT="27432" marB="27432" anchor="ctr">
                    <a:lnL w="0">
                      <a:noFill/>
                    </a:lnL>
                    <a:lnR w="0">
                      <a:noFill/>
                    </a:lnR>
                    <a:lnT w="0">
                      <a:noFill/>
                    </a:lnT>
                    <a:lnB w="12700">
                      <a:solidFill>
                        <a:srgbClr val="222222"/>
                      </a:solidFill>
                    </a:lnB>
                    <a:noFill/>
                  </a:tcPr>
                </a:tc>
                <a:tc>
                  <a:txBody>
                    <a:bodyPr wrap="square"/>
                    <a:lstStyle/>
                    <a:p>
                      <a:pPr algn="r"/>
                      <a:r>
                        <a:rPr sz="1200" b="0" i="0">
                          <a:solidFill>
                            <a:srgbClr val="222222"/>
                          </a:solidFill>
                        </a:rPr>
                        <a:t/>
                      </a:r>
                      <a:endParaRPr sz="1200"/>
                    </a:p>
                  </a:txBody>
                  <a:tcPr marL="73152" marR="73152" marT="27432" marB="27432" anchor="ctr">
                    <a:lnL w="0">
                      <a:noFill/>
                    </a:lnL>
                    <a:lnR w="0">
                      <a:noFill/>
                    </a:lnR>
                    <a:lnT w="0">
                      <a:noFill/>
                    </a:lnT>
                    <a:lnB w="12700">
                      <a:solidFill>
                        <a:srgbClr val="222222"/>
                      </a:solidFill>
                    </a:lnB>
                    <a:noFill/>
                  </a:tcPr>
                </a:tc>
                <a:tc>
                  <a:txBody>
                    <a:bodyPr wrap="square"/>
                    <a:lstStyle/>
                    <a:p>
                      <a:pPr algn="r"/>
                      <a:r>
                        <a:rPr sz="1200" b="0" i="0">
                          <a:solidFill>
                            <a:srgbClr val="222222"/>
                          </a:solidFill>
                        </a:rPr>
                        <a:t/>
                      </a:r>
                      <a:endParaRPr sz="1200"/>
                    </a:p>
                  </a:txBody>
                  <a:tcPr marL="73152" marR="73152" marT="27432" marB="27432" anchor="ctr">
                    <a:lnL w="0">
                      <a:noFill/>
                    </a:lnL>
                    <a:lnR w="0">
                      <a:noFill/>
                    </a:lnR>
                    <a:lnT w="0">
                      <a:noFill/>
                    </a:lnT>
                    <a:lnB w="12700">
                      <a:solidFill>
                        <a:srgbClr val="222222"/>
                      </a:solidFill>
                    </a:lnB>
                    <a:noFill/>
                  </a:tcPr>
                </a:tc>
              </a:tr>
            </a:tbl>
          </a:graphicData>
        </a:graphic>
      </p:graphicFrame>
      <p:sp>
        <p:nvSpPr>
          <p:cNvPr id="7" name="Oval 6"/>
          <p:cNvSpPr/>
          <p:nvPr/>
        </p:nvSpPr>
        <p:spPr>
          <a:xfrm>
            <a:off x="3447287" y="1261872"/>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1</a:t>
            </a:r>
            <a:endParaRPr sz="1200"/>
          </a:p>
        </p:txBody>
      </p:sp>
      <p:sp>
        <p:nvSpPr>
          <p:cNvPr id="8" name="Oval 7"/>
          <p:cNvSpPr/>
          <p:nvPr/>
        </p:nvSpPr>
        <p:spPr>
          <a:xfrm>
            <a:off x="4407407" y="1261872"/>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2</a:t>
            </a:r>
            <a:endParaRPr sz="1200"/>
          </a:p>
        </p:txBody>
      </p:sp>
      <p:sp>
        <p:nvSpPr>
          <p:cNvPr id="9" name="Oval 8"/>
          <p:cNvSpPr/>
          <p:nvPr/>
        </p:nvSpPr>
        <p:spPr>
          <a:xfrm>
            <a:off x="5458968" y="1261872"/>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3</a:t>
            </a:r>
            <a:endParaRPr sz="1200"/>
          </a:p>
        </p:txBody>
      </p:sp>
      <p:sp>
        <p:nvSpPr>
          <p:cNvPr id="10" name="Oval 9"/>
          <p:cNvSpPr/>
          <p:nvPr/>
        </p:nvSpPr>
        <p:spPr>
          <a:xfrm>
            <a:off x="6853428" y="1261872"/>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4</a:t>
            </a:r>
            <a:endParaRPr sz="1200"/>
          </a:p>
        </p:txBody>
      </p:sp>
      <p:sp>
        <p:nvSpPr>
          <p:cNvPr id="11" name="Oval 10"/>
          <p:cNvSpPr/>
          <p:nvPr/>
        </p:nvSpPr>
        <p:spPr>
          <a:xfrm>
            <a:off x="7882127" y="3371849"/>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5</a:t>
            </a:r>
            <a:endParaRPr sz="1200"/>
          </a:p>
        </p:txBody>
      </p:sp>
      <p:sp>
        <p:nvSpPr>
          <p:cNvPr id="12" name="Oval 11"/>
          <p:cNvSpPr/>
          <p:nvPr/>
        </p:nvSpPr>
        <p:spPr>
          <a:xfrm>
            <a:off x="7882127" y="4674869"/>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6</a:t>
            </a:r>
            <a:endParaRPr sz="1200"/>
          </a:p>
        </p:txBody>
      </p:sp>
      <p:sp>
        <p:nvSpPr>
          <p:cNvPr id="13" name="Oval 12"/>
          <p:cNvSpPr/>
          <p:nvPr/>
        </p:nvSpPr>
        <p:spPr>
          <a:xfrm>
            <a:off x="8366760" y="1591056"/>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1</a:t>
            </a:r>
            <a:endParaRPr sz="1200"/>
          </a:p>
        </p:txBody>
      </p:sp>
      <p:sp>
        <p:nvSpPr>
          <p:cNvPr id="14" name="TextBox 13"/>
          <p:cNvSpPr txBox="1"/>
          <p:nvPr/>
        </p:nvSpPr>
        <p:spPr>
          <a:xfrm>
            <a:off x="8778240" y="1371600"/>
            <a:ext cx="2606039" cy="731520"/>
          </a:xfrm>
          <a:prstGeom prst="rect">
            <a:avLst/>
          </a:prstGeom>
          <a:noFill/>
        </p:spPr>
        <p:txBody>
          <a:bodyPr wrap="square" lIns="0" rIns="0" tIns="0" bIns="0" anchor="ctr">
            <a:spAutoFit/>
          </a:bodyPr>
          <a:lstStyle/>
          <a:p>
            <a:pPr algn="l"/>
            <a:r>
              <a:rPr sz="1300" b="0" i="0">
                <a:solidFill>
                  <a:srgbClr val="1F2A33"/>
                </a:solidFill>
              </a:rPr>
              <a:t>Frequency: how many respondents gave each answer</a:t>
            </a:r>
            <a:endParaRPr sz="1300"/>
          </a:p>
        </p:txBody>
      </p:sp>
      <p:sp>
        <p:nvSpPr>
          <p:cNvPr id="15" name="Oval 14"/>
          <p:cNvSpPr/>
          <p:nvPr/>
        </p:nvSpPr>
        <p:spPr>
          <a:xfrm>
            <a:off x="8366760" y="2322575"/>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2</a:t>
            </a:r>
            <a:endParaRPr sz="1200"/>
          </a:p>
        </p:txBody>
      </p:sp>
      <p:sp>
        <p:nvSpPr>
          <p:cNvPr id="16" name="TextBox 15"/>
          <p:cNvSpPr txBox="1"/>
          <p:nvPr/>
        </p:nvSpPr>
        <p:spPr>
          <a:xfrm>
            <a:off x="8778240" y="2103120"/>
            <a:ext cx="2606039" cy="731520"/>
          </a:xfrm>
          <a:prstGeom prst="rect">
            <a:avLst/>
          </a:prstGeom>
          <a:noFill/>
        </p:spPr>
        <p:txBody>
          <a:bodyPr wrap="square" lIns="0" rIns="0" tIns="0" bIns="0" anchor="ctr">
            <a:spAutoFit/>
          </a:bodyPr>
          <a:lstStyle/>
          <a:p>
            <a:pPr algn="l"/>
            <a:r>
              <a:rPr sz="1300" b="0" i="0">
                <a:solidFill>
                  <a:srgbClr val="1F2A33"/>
                </a:solidFill>
              </a:rPr>
              <a:t>Percent: the share of all 1,684 respondents, missing included</a:t>
            </a:r>
            <a:endParaRPr sz="1300"/>
          </a:p>
        </p:txBody>
      </p:sp>
      <p:sp>
        <p:nvSpPr>
          <p:cNvPr id="17" name="Oval 16"/>
          <p:cNvSpPr/>
          <p:nvPr/>
        </p:nvSpPr>
        <p:spPr>
          <a:xfrm>
            <a:off x="8366760" y="3054096"/>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3</a:t>
            </a:r>
            <a:endParaRPr sz="1200"/>
          </a:p>
        </p:txBody>
      </p:sp>
      <p:sp>
        <p:nvSpPr>
          <p:cNvPr id="18" name="TextBox 17"/>
          <p:cNvSpPr txBox="1"/>
          <p:nvPr/>
        </p:nvSpPr>
        <p:spPr>
          <a:xfrm>
            <a:off x="8778240" y="2834640"/>
            <a:ext cx="2606039" cy="731520"/>
          </a:xfrm>
          <a:prstGeom prst="rect">
            <a:avLst/>
          </a:prstGeom>
          <a:noFill/>
        </p:spPr>
        <p:txBody>
          <a:bodyPr wrap="square" lIns="0" rIns="0" tIns="0" bIns="0" anchor="ctr">
            <a:spAutoFit/>
          </a:bodyPr>
          <a:lstStyle/>
          <a:p>
            <a:pPr algn="l"/>
            <a:r>
              <a:rPr sz="1300" b="0" i="0">
                <a:solidFill>
                  <a:srgbClr val="1F2A33"/>
                </a:solidFill>
              </a:rPr>
              <a:t>Valid Percent: the share of the 1,680 who answered; usually the one to report</a:t>
            </a:r>
            <a:endParaRPr sz="1300"/>
          </a:p>
        </p:txBody>
      </p:sp>
      <p:sp>
        <p:nvSpPr>
          <p:cNvPr id="19" name="Oval 18"/>
          <p:cNvSpPr/>
          <p:nvPr/>
        </p:nvSpPr>
        <p:spPr>
          <a:xfrm>
            <a:off x="8366760" y="3785616"/>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4</a:t>
            </a:r>
            <a:endParaRPr sz="1200"/>
          </a:p>
        </p:txBody>
      </p:sp>
      <p:sp>
        <p:nvSpPr>
          <p:cNvPr id="20" name="TextBox 19"/>
          <p:cNvSpPr txBox="1"/>
          <p:nvPr/>
        </p:nvSpPr>
        <p:spPr>
          <a:xfrm>
            <a:off x="8778240" y="3566160"/>
            <a:ext cx="2606039" cy="731520"/>
          </a:xfrm>
          <a:prstGeom prst="rect">
            <a:avLst/>
          </a:prstGeom>
          <a:noFill/>
        </p:spPr>
        <p:txBody>
          <a:bodyPr wrap="square" lIns="0" rIns="0" tIns="0" bIns="0" anchor="ctr">
            <a:spAutoFit/>
          </a:bodyPr>
          <a:lstStyle/>
          <a:p>
            <a:pPr algn="l"/>
            <a:r>
              <a:rPr sz="1300" b="0" i="0">
                <a:solidFill>
                  <a:srgbClr val="1F2A33"/>
                </a:solidFill>
              </a:rPr>
              <a:t>Cumulative Percent: the share answering this value or lower</a:t>
            </a:r>
            <a:endParaRPr sz="1300"/>
          </a:p>
        </p:txBody>
      </p:sp>
      <p:sp>
        <p:nvSpPr>
          <p:cNvPr id="21" name="Oval 20"/>
          <p:cNvSpPr/>
          <p:nvPr/>
        </p:nvSpPr>
        <p:spPr>
          <a:xfrm>
            <a:off x="8366760" y="4517136"/>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5</a:t>
            </a:r>
            <a:endParaRPr sz="1200"/>
          </a:p>
        </p:txBody>
      </p:sp>
      <p:sp>
        <p:nvSpPr>
          <p:cNvPr id="22" name="TextBox 21"/>
          <p:cNvSpPr txBox="1"/>
          <p:nvPr/>
        </p:nvSpPr>
        <p:spPr>
          <a:xfrm>
            <a:off x="8778240" y="4297680"/>
            <a:ext cx="2606039" cy="731520"/>
          </a:xfrm>
          <a:prstGeom prst="rect">
            <a:avLst/>
          </a:prstGeom>
          <a:noFill/>
        </p:spPr>
        <p:txBody>
          <a:bodyPr wrap="square" lIns="0" rIns="0" tIns="0" bIns="0" anchor="ctr">
            <a:spAutoFit/>
          </a:bodyPr>
          <a:lstStyle/>
          <a:p>
            <a:pPr algn="l"/>
            <a:r>
              <a:rPr sz="1300" b="0" i="0">
                <a:solidFill>
                  <a:srgbClr val="1F2A33"/>
                </a:solidFill>
              </a:rPr>
              <a:t>The row where the cumulative percent passes 50% holds the median: 6</a:t>
            </a:r>
            <a:endParaRPr sz="1300"/>
          </a:p>
        </p:txBody>
      </p:sp>
      <p:sp>
        <p:nvSpPr>
          <p:cNvPr id="23" name="Oval 22"/>
          <p:cNvSpPr/>
          <p:nvPr/>
        </p:nvSpPr>
        <p:spPr>
          <a:xfrm>
            <a:off x="8366760" y="5248656"/>
            <a:ext cx="292608" cy="292608"/>
          </a:xfrm>
          <a:prstGeom prst="ellipse">
            <a:avLst/>
          </a:prstGeom>
          <a:solidFill>
            <a:srgbClr val="B88C00"/>
          </a:solidFill>
          <a:ln>
            <a:noFill/>
          </a:ln>
        </p:spPr>
        <p:txBody>
          <a:bodyPr rtlCol="0" anchor="ctr" wrap="square" lIns="0" rIns="0" tIns="18288" bIns="18288"/>
          <a:lstStyle/>
          <a:p>
            <a:pPr algn="ctr"/>
            <a:r>
              <a:rPr sz="1200" b="1" i="0">
                <a:solidFill>
                  <a:srgbClr val="FFFFFF"/>
                </a:solidFill>
              </a:rPr>
              <a:t>6</a:t>
            </a:r>
            <a:endParaRPr sz="1200"/>
          </a:p>
        </p:txBody>
      </p:sp>
      <p:sp>
        <p:nvSpPr>
          <p:cNvPr id="24" name="TextBox 23"/>
          <p:cNvSpPr txBox="1"/>
          <p:nvPr/>
        </p:nvSpPr>
        <p:spPr>
          <a:xfrm>
            <a:off x="8778240" y="5029200"/>
            <a:ext cx="2606039" cy="731520"/>
          </a:xfrm>
          <a:prstGeom prst="rect">
            <a:avLst/>
          </a:prstGeom>
          <a:noFill/>
        </p:spPr>
        <p:txBody>
          <a:bodyPr wrap="square" lIns="0" rIns="0" tIns="0" bIns="0" anchor="ctr">
            <a:spAutoFit/>
          </a:bodyPr>
          <a:lstStyle/>
          <a:p>
            <a:pPr algn="l"/>
            <a:r>
              <a:rPr sz="1300" b="0" i="0">
                <a:solidFill>
                  <a:srgbClr val="1F2A33"/>
                </a:solidFill>
              </a:rPr>
              <a:t>Missing: refusals and don't knows, kept out of the valid percentages</a:t>
            </a:r>
            <a:endParaRPr sz="1300"/>
          </a:p>
        </p:txBody>
      </p:sp>
      <p:sp>
        <p:nvSpPr>
          <p:cNvPr id="25" name="TextBox 24"/>
          <p:cNvSpPr txBox="1"/>
          <p:nvPr/>
        </p:nvSpPr>
        <p:spPr>
          <a:xfrm>
            <a:off x="758952" y="5943600"/>
            <a:ext cx="10607040" cy="292608"/>
          </a:xfrm>
          <a:prstGeom prst="rect">
            <a:avLst/>
          </a:prstGeom>
          <a:noFill/>
        </p:spPr>
        <p:txBody>
          <a:bodyPr wrap="square" lIns="0" rIns="0" tIns="0" bIns="0" anchor="ctr">
            <a:spAutoFit/>
          </a:bodyPr>
          <a:lstStyle/>
          <a:p>
            <a:pPr algn="l"/>
            <a:r>
              <a:rPr sz="1200" b="0" i="0">
                <a:solidFill>
                  <a:srgbClr val="55606B"/>
                </a:solidFill>
              </a:rPr>
              <a:t>Data: ESS Round 11 (2023–24), UK sample. JASP: Descriptives › Descriptive Statistics › Tables › Frequency tables (maximum distinct values raised above 11).</a:t>
            </a:r>
            <a:endParaRPr sz="120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Reporting the results</a:t>
            </a:r>
          </a:p>
        </p:txBody>
      </p:sp>
      <p:sp>
        <p:nvSpPr>
          <p:cNvPr id="3" name="Footer Placeholder 2">
            <a:extLst>
              <a:ext uri="{FF2B5EF4-FFF2-40B4-BE49-F238E27FC236}">
                <a16:creationId xmlns:a16="http://schemas.microsoft.com/office/drawing/2014/main" id="{D0C8C946-5335-2921-801F-E32EBBDC06AC}"/>
              </a:ext>
            </a:extLst>
          </p:cNvPr>
          <p:cNvSpPr>
            <a:spLocks noGrp="1"/>
          </p:cNvSpPr>
          <p:nvPr>
            <p:ph type="ftr" sz="quarter" idx="11"/>
          </p:nvPr>
        </p:nvSpPr>
        <p:spPr/>
        <p:txBody>
          <a:bodyPr/>
          <a:lstStyle/>
          <a:p>
            <a:r>
              <a:rPr lang="en-GB"/>
              <a:t>Measurement and Description</a:t>
            </a:r>
          </a:p>
        </p:txBody>
      </p:sp>
      <p:sp>
        <p:nvSpPr>
          <p:cNvPr id="4" name="Slide Number Placeholder 3">
            <a:extLst>
              <a:ext uri="{FF2B5EF4-FFF2-40B4-BE49-F238E27FC236}">
                <a16:creationId xmlns:a16="http://schemas.microsoft.com/office/drawing/2014/main" id="{975A5B92-8D16-E54E-863B-32FBAC4EF875}"/>
              </a:ext>
            </a:extLst>
          </p:cNvPr>
          <p:cNvSpPr>
            <a:spLocks noGrp="1"/>
          </p:cNvSpPr>
          <p:nvPr>
            <p:ph type="sldNum" sz="quarter" idx="12"/>
          </p:nvPr>
        </p:nvSpPr>
        <p:spPr/>
        <p:txBody>
          <a:bodyPr/>
          <a:lstStyle/>
          <a:p>
            <a:fld id="{9FAA51BB-2FC0-4DB8-B50E-F52D50E733B6}" type="slidenum">
              <a:rPr lang="en-GB" smtClean="0"/>
              <a:t>20</a:t>
            </a:fld>
            <a:endParaRPr lang="en-GB"/>
          </a:p>
        </p:txBody>
      </p:sp>
      <p:sp>
        <p:nvSpPr>
          <p:cNvPr id="5" name="Rounded Rectangle 4"/>
          <p:cNvSpPr/>
          <p:nvPr/>
        </p:nvSpPr>
        <p:spPr>
          <a:xfrm>
            <a:off x="758952" y="1371600"/>
            <a:ext cx="6675120" cy="4434840"/>
          </a:xfrm>
          <a:prstGeom prst="roundRect">
            <a:avLst>
              <a:gd name="adj" fmla="val 8000"/>
            </a:avLst>
          </a:prstGeom>
          <a:solidFill>
            <a:srgbClr val="EEF3F7"/>
          </a:solidFill>
          <a:ln>
            <a:noFill/>
          </a:ln>
        </p:spPr>
        <p:txBody>
          <a:bodyPr rtlCol="0" anchor="ctr"/>
          <a:lstStyle/>
          <a:p>
            <a:pPr algn="ctr"/>
          </a:p>
        </p:txBody>
      </p:sp>
      <p:sp>
        <p:nvSpPr>
          <p:cNvPr id="6" name="TextBox 5"/>
          <p:cNvSpPr txBox="1"/>
          <p:nvPr/>
        </p:nvSpPr>
        <p:spPr>
          <a:xfrm>
            <a:off x="987552" y="1508760"/>
            <a:ext cx="6263640" cy="4160520"/>
          </a:xfrm>
          <a:prstGeom prst="rect">
            <a:avLst/>
          </a:prstGeom>
          <a:noFill/>
        </p:spPr>
        <p:txBody>
          <a:bodyPr wrap="square" lIns="0" rIns="0" tIns="0" bIns="0" anchor="t">
            <a:spAutoFit/>
          </a:bodyPr>
          <a:lstStyle/>
          <a:p>
            <a:pPr algn="l">
              <a:spcAft>
                <a:spcPts val="600"/>
              </a:spcAft>
            </a:pPr>
            <a:r>
              <a:rPr sz="1500" b="1" i="0">
                <a:solidFill>
                  <a:srgbClr val="3F739B"/>
                </a:solidFill>
              </a:rPr>
              <a:t>Example paragraph</a:t>
            </a:r>
            <a:endParaRPr sz="1500"/>
          </a:p>
          <a:p>
            <a:pPr algn="l">
              <a:lnSpc>
                <a:spcPct val="106000"/>
              </a:lnSpc>
            </a:pPr>
            <a:r>
              <a:rPr sz="1800" b="0" i="0">
                <a:solidFill>
                  <a:srgbClr val="1F2A33"/>
                </a:solidFill>
              </a:rPr>
              <a:t>In the UK sample of the European Social Survey 2023–24, 1,680 of the 1,684 respondents answered the question on whether most people can be trusted, using a scale from 0 (“you can’t be too careful”) to 10 (“most people can be trusted”). The average answer was 5.4 and the median 6, with a standard deviation of 2.3 points. The most common answer was 7, chosen by 20% of respondents, and just under half (48%) answered 5 or below. The mean sits a little below the median because a minority of very low answers pulls it down.</a:t>
            </a:r>
            <a:endParaRPr sz="1800"/>
          </a:p>
        </p:txBody>
      </p:sp>
      <p:sp>
        <p:nvSpPr>
          <p:cNvPr id="7" name="Rounded Rectangle 6"/>
          <p:cNvSpPr/>
          <p:nvPr/>
        </p:nvSpPr>
        <p:spPr>
          <a:xfrm>
            <a:off x="7635240" y="1371600"/>
            <a:ext cx="3730752" cy="4434840"/>
          </a:xfrm>
          <a:prstGeom prst="roundRect">
            <a:avLst>
              <a:gd name="adj" fmla="val 8000"/>
            </a:avLst>
          </a:prstGeom>
          <a:solidFill>
            <a:srgbClr val="1F394D"/>
          </a:solidFill>
          <a:ln>
            <a:noFill/>
          </a:ln>
        </p:spPr>
        <p:txBody>
          <a:bodyPr rtlCol="0" anchor="ctr"/>
          <a:lstStyle/>
          <a:p>
            <a:pPr algn="ctr"/>
          </a:p>
        </p:txBody>
      </p:sp>
      <p:sp>
        <p:nvSpPr>
          <p:cNvPr id="8" name="TextBox 7"/>
          <p:cNvSpPr txBox="1"/>
          <p:nvPr/>
        </p:nvSpPr>
        <p:spPr>
          <a:xfrm>
            <a:off x="7863840" y="1508760"/>
            <a:ext cx="3337560" cy="365760"/>
          </a:xfrm>
          <a:prstGeom prst="rect">
            <a:avLst/>
          </a:prstGeom>
          <a:noFill/>
        </p:spPr>
        <p:txBody>
          <a:bodyPr wrap="square" lIns="0" rIns="0" tIns="0" bIns="0" anchor="t">
            <a:spAutoFit/>
          </a:bodyPr>
          <a:lstStyle/>
          <a:p>
            <a:pPr algn="l"/>
            <a:r>
              <a:rPr sz="1600" b="1" i="0">
                <a:solidFill>
                  <a:srgbClr val="B88C00"/>
                </a:solidFill>
              </a:rPr>
              <a:t>Checklist</a:t>
            </a:r>
            <a:endParaRPr sz="1600"/>
          </a:p>
        </p:txBody>
      </p:sp>
      <p:sp>
        <p:nvSpPr>
          <p:cNvPr id="9" name="Oval 8"/>
          <p:cNvSpPr/>
          <p:nvPr/>
        </p:nvSpPr>
        <p:spPr>
          <a:xfrm>
            <a:off x="7882128" y="2057400"/>
            <a:ext cx="365760" cy="365760"/>
          </a:xfrm>
          <a:prstGeom prst="ellipse">
            <a:avLst/>
          </a:prstGeom>
          <a:solidFill>
            <a:srgbClr val="B88C00"/>
          </a:solidFill>
          <a:ln>
            <a:noFill/>
          </a:ln>
        </p:spPr>
        <p:txBody>
          <a:bodyPr rtlCol="0" anchor="ctr" wrap="square" lIns="0" rIns="0" tIns="18288" bIns="18288"/>
          <a:lstStyle/>
          <a:p>
            <a:pPr algn="ctr"/>
            <a:r>
              <a:rPr sz="1400" b="1" i="0">
                <a:solidFill>
                  <a:srgbClr val="FFFFFF"/>
                </a:solidFill>
              </a:rPr>
              <a:t>1</a:t>
            </a:r>
            <a:endParaRPr sz="1400"/>
          </a:p>
        </p:txBody>
      </p:sp>
      <p:sp>
        <p:nvSpPr>
          <p:cNvPr id="10" name="TextBox 9"/>
          <p:cNvSpPr txBox="1"/>
          <p:nvPr/>
        </p:nvSpPr>
        <p:spPr>
          <a:xfrm>
            <a:off x="8385048" y="2057400"/>
            <a:ext cx="2880360" cy="384048"/>
          </a:xfrm>
          <a:prstGeom prst="rect">
            <a:avLst/>
          </a:prstGeom>
          <a:noFill/>
        </p:spPr>
        <p:txBody>
          <a:bodyPr wrap="square" lIns="0" rIns="0" tIns="0" bIns="0" anchor="ctr">
            <a:spAutoFit/>
          </a:bodyPr>
          <a:lstStyle/>
          <a:p>
            <a:pPr algn="l"/>
            <a:r>
              <a:rPr sz="1500" b="0" i="0">
                <a:solidFill>
                  <a:srgbClr val="FFFFFF"/>
                </a:solidFill>
              </a:rPr>
              <a:t>What was asked, and on what scale</a:t>
            </a:r>
            <a:endParaRPr sz="1500"/>
          </a:p>
        </p:txBody>
      </p:sp>
      <p:sp>
        <p:nvSpPr>
          <p:cNvPr id="11" name="Oval 10"/>
          <p:cNvSpPr/>
          <p:nvPr/>
        </p:nvSpPr>
        <p:spPr>
          <a:xfrm>
            <a:off x="7882128" y="2660904"/>
            <a:ext cx="365760" cy="365760"/>
          </a:xfrm>
          <a:prstGeom prst="ellipse">
            <a:avLst/>
          </a:prstGeom>
          <a:solidFill>
            <a:srgbClr val="B88C00"/>
          </a:solidFill>
          <a:ln>
            <a:noFill/>
          </a:ln>
        </p:spPr>
        <p:txBody>
          <a:bodyPr rtlCol="0" anchor="ctr" wrap="square" lIns="0" rIns="0" tIns="18288" bIns="18288"/>
          <a:lstStyle/>
          <a:p>
            <a:pPr algn="ctr"/>
            <a:r>
              <a:rPr sz="1400" b="1" i="0">
                <a:solidFill>
                  <a:srgbClr val="FFFFFF"/>
                </a:solidFill>
              </a:rPr>
              <a:t>2</a:t>
            </a:r>
            <a:endParaRPr sz="1400"/>
          </a:p>
        </p:txBody>
      </p:sp>
      <p:sp>
        <p:nvSpPr>
          <p:cNvPr id="12" name="TextBox 11"/>
          <p:cNvSpPr txBox="1"/>
          <p:nvPr/>
        </p:nvSpPr>
        <p:spPr>
          <a:xfrm>
            <a:off x="8385048" y="2660904"/>
            <a:ext cx="2880360" cy="384048"/>
          </a:xfrm>
          <a:prstGeom prst="rect">
            <a:avLst/>
          </a:prstGeom>
          <a:noFill/>
        </p:spPr>
        <p:txBody>
          <a:bodyPr wrap="square" lIns="0" rIns="0" tIns="0" bIns="0" anchor="ctr">
            <a:spAutoFit/>
          </a:bodyPr>
          <a:lstStyle/>
          <a:p>
            <a:pPr algn="l"/>
            <a:r>
              <a:rPr sz="1500" b="0" i="0">
                <a:solidFill>
                  <a:srgbClr val="FFFFFF"/>
                </a:solidFill>
              </a:rPr>
              <a:t>How many answered, and how many did not</a:t>
            </a:r>
            <a:endParaRPr sz="1500"/>
          </a:p>
        </p:txBody>
      </p:sp>
      <p:sp>
        <p:nvSpPr>
          <p:cNvPr id="13" name="Oval 12"/>
          <p:cNvSpPr/>
          <p:nvPr/>
        </p:nvSpPr>
        <p:spPr>
          <a:xfrm>
            <a:off x="7882128" y="3264408"/>
            <a:ext cx="365760" cy="365760"/>
          </a:xfrm>
          <a:prstGeom prst="ellipse">
            <a:avLst/>
          </a:prstGeom>
          <a:solidFill>
            <a:srgbClr val="B88C00"/>
          </a:solidFill>
          <a:ln>
            <a:noFill/>
          </a:ln>
        </p:spPr>
        <p:txBody>
          <a:bodyPr rtlCol="0" anchor="ctr" wrap="square" lIns="0" rIns="0" tIns="18288" bIns="18288"/>
          <a:lstStyle/>
          <a:p>
            <a:pPr algn="ctr"/>
            <a:r>
              <a:rPr sz="1400" b="1" i="0">
                <a:solidFill>
                  <a:srgbClr val="FFFFFF"/>
                </a:solidFill>
              </a:rPr>
              <a:t>3</a:t>
            </a:r>
            <a:endParaRPr sz="1400"/>
          </a:p>
        </p:txBody>
      </p:sp>
      <p:sp>
        <p:nvSpPr>
          <p:cNvPr id="14" name="TextBox 13"/>
          <p:cNvSpPr txBox="1"/>
          <p:nvPr/>
        </p:nvSpPr>
        <p:spPr>
          <a:xfrm>
            <a:off x="8385048" y="3264408"/>
            <a:ext cx="2880360" cy="384048"/>
          </a:xfrm>
          <a:prstGeom prst="rect">
            <a:avLst/>
          </a:prstGeom>
          <a:noFill/>
        </p:spPr>
        <p:txBody>
          <a:bodyPr wrap="square" lIns="0" rIns="0" tIns="0" bIns="0" anchor="ctr">
            <a:spAutoFit/>
          </a:bodyPr>
          <a:lstStyle/>
          <a:p>
            <a:pPr algn="l"/>
            <a:r>
              <a:rPr sz="1500" b="0" i="0">
                <a:solidFill>
                  <a:srgbClr val="FFFFFF"/>
                </a:solidFill>
              </a:rPr>
              <a:t>The centre: mean and median</a:t>
            </a:r>
            <a:endParaRPr sz="1500"/>
          </a:p>
        </p:txBody>
      </p:sp>
      <p:sp>
        <p:nvSpPr>
          <p:cNvPr id="15" name="Oval 14"/>
          <p:cNvSpPr/>
          <p:nvPr/>
        </p:nvSpPr>
        <p:spPr>
          <a:xfrm>
            <a:off x="7882128" y="3867912"/>
            <a:ext cx="365760" cy="365760"/>
          </a:xfrm>
          <a:prstGeom prst="ellipse">
            <a:avLst/>
          </a:prstGeom>
          <a:solidFill>
            <a:srgbClr val="B88C00"/>
          </a:solidFill>
          <a:ln>
            <a:noFill/>
          </a:ln>
        </p:spPr>
        <p:txBody>
          <a:bodyPr rtlCol="0" anchor="ctr" wrap="square" lIns="0" rIns="0" tIns="18288" bIns="18288"/>
          <a:lstStyle/>
          <a:p>
            <a:pPr algn="ctr"/>
            <a:r>
              <a:rPr sz="1400" b="1" i="0">
                <a:solidFill>
                  <a:srgbClr val="FFFFFF"/>
                </a:solidFill>
              </a:rPr>
              <a:t>4</a:t>
            </a:r>
            <a:endParaRPr sz="1400"/>
          </a:p>
        </p:txBody>
      </p:sp>
      <p:sp>
        <p:nvSpPr>
          <p:cNvPr id="16" name="TextBox 15"/>
          <p:cNvSpPr txBox="1"/>
          <p:nvPr/>
        </p:nvSpPr>
        <p:spPr>
          <a:xfrm>
            <a:off x="8385048" y="3867912"/>
            <a:ext cx="2880360" cy="384048"/>
          </a:xfrm>
          <a:prstGeom prst="rect">
            <a:avLst/>
          </a:prstGeom>
          <a:noFill/>
        </p:spPr>
        <p:txBody>
          <a:bodyPr wrap="square" lIns="0" rIns="0" tIns="0" bIns="0" anchor="ctr">
            <a:spAutoFit/>
          </a:bodyPr>
          <a:lstStyle/>
          <a:p>
            <a:pPr algn="l"/>
            <a:r>
              <a:rPr sz="1500" b="0" i="0">
                <a:solidFill>
                  <a:srgbClr val="FFFFFF"/>
                </a:solidFill>
              </a:rPr>
              <a:t>The spread: standard deviation</a:t>
            </a:r>
            <a:endParaRPr sz="1500"/>
          </a:p>
        </p:txBody>
      </p:sp>
      <p:sp>
        <p:nvSpPr>
          <p:cNvPr id="17" name="Oval 16"/>
          <p:cNvSpPr/>
          <p:nvPr/>
        </p:nvSpPr>
        <p:spPr>
          <a:xfrm>
            <a:off x="7882128" y="4471416"/>
            <a:ext cx="365760" cy="365760"/>
          </a:xfrm>
          <a:prstGeom prst="ellipse">
            <a:avLst/>
          </a:prstGeom>
          <a:solidFill>
            <a:srgbClr val="B88C00"/>
          </a:solidFill>
          <a:ln>
            <a:noFill/>
          </a:ln>
        </p:spPr>
        <p:txBody>
          <a:bodyPr rtlCol="0" anchor="ctr" wrap="square" lIns="0" rIns="0" tIns="18288" bIns="18288"/>
          <a:lstStyle/>
          <a:p>
            <a:pPr algn="ctr"/>
            <a:r>
              <a:rPr sz="1400" b="1" i="0">
                <a:solidFill>
                  <a:srgbClr val="FFFFFF"/>
                </a:solidFill>
              </a:rPr>
              <a:t>5</a:t>
            </a:r>
            <a:endParaRPr sz="1400"/>
          </a:p>
        </p:txBody>
      </p:sp>
      <p:sp>
        <p:nvSpPr>
          <p:cNvPr id="18" name="TextBox 17"/>
          <p:cNvSpPr txBox="1"/>
          <p:nvPr/>
        </p:nvSpPr>
        <p:spPr>
          <a:xfrm>
            <a:off x="8385048" y="4471416"/>
            <a:ext cx="2880360" cy="384048"/>
          </a:xfrm>
          <a:prstGeom prst="rect">
            <a:avLst/>
          </a:prstGeom>
          <a:noFill/>
        </p:spPr>
        <p:txBody>
          <a:bodyPr wrap="square" lIns="0" rIns="0" tIns="0" bIns="0" anchor="ctr">
            <a:spAutoFit/>
          </a:bodyPr>
          <a:lstStyle/>
          <a:p>
            <a:pPr algn="l"/>
            <a:r>
              <a:rPr sz="1500" b="0" i="0">
                <a:solidFill>
                  <a:srgbClr val="FFFFFF"/>
                </a:solidFill>
              </a:rPr>
              <a:t>The shape: symmetric or skewed</a:t>
            </a:r>
            <a:endParaRPr sz="1500"/>
          </a:p>
        </p:txBody>
      </p:sp>
      <p:sp>
        <p:nvSpPr>
          <p:cNvPr id="19" name="Oval 18"/>
          <p:cNvSpPr/>
          <p:nvPr/>
        </p:nvSpPr>
        <p:spPr>
          <a:xfrm>
            <a:off x="7882128" y="5074920"/>
            <a:ext cx="365760" cy="365760"/>
          </a:xfrm>
          <a:prstGeom prst="ellipse">
            <a:avLst/>
          </a:prstGeom>
          <a:solidFill>
            <a:srgbClr val="B88C00"/>
          </a:solidFill>
          <a:ln>
            <a:noFill/>
          </a:ln>
        </p:spPr>
        <p:txBody>
          <a:bodyPr rtlCol="0" anchor="ctr" wrap="square" lIns="0" rIns="0" tIns="18288" bIns="18288"/>
          <a:lstStyle/>
          <a:p>
            <a:pPr algn="ctr"/>
            <a:r>
              <a:rPr sz="1400" b="1" i="0">
                <a:solidFill>
                  <a:srgbClr val="FFFFFF"/>
                </a:solidFill>
              </a:rPr>
              <a:t>6</a:t>
            </a:r>
            <a:endParaRPr sz="1400"/>
          </a:p>
        </p:txBody>
      </p:sp>
      <p:sp>
        <p:nvSpPr>
          <p:cNvPr id="20" name="TextBox 19"/>
          <p:cNvSpPr txBox="1"/>
          <p:nvPr/>
        </p:nvSpPr>
        <p:spPr>
          <a:xfrm>
            <a:off x="8385048" y="5074920"/>
            <a:ext cx="2880360" cy="384048"/>
          </a:xfrm>
          <a:prstGeom prst="rect">
            <a:avLst/>
          </a:prstGeom>
          <a:noFill/>
        </p:spPr>
        <p:txBody>
          <a:bodyPr wrap="square" lIns="0" rIns="0" tIns="0" bIns="0" anchor="ctr">
            <a:spAutoFit/>
          </a:bodyPr>
          <a:lstStyle/>
          <a:p>
            <a:pPr algn="l"/>
            <a:r>
              <a:rPr sz="1500" b="0" i="0">
                <a:solidFill>
                  <a:srgbClr val="FFFFFF"/>
                </a:solidFill>
              </a:rPr>
              <a:t>A chart of the whole distribution</a:t>
            </a:r>
            <a:endParaRPr sz="1500"/>
          </a:p>
        </p:txBody>
      </p:sp>
      <p:sp>
        <p:nvSpPr>
          <p:cNvPr id="21" name="TextBox 20"/>
          <p:cNvSpPr txBox="1"/>
          <p:nvPr/>
        </p:nvSpPr>
        <p:spPr>
          <a:xfrm>
            <a:off x="758952" y="5943600"/>
            <a:ext cx="10607040" cy="292608"/>
          </a:xfrm>
          <a:prstGeom prst="rect">
            <a:avLst/>
          </a:prstGeom>
          <a:noFill/>
        </p:spPr>
        <p:txBody>
          <a:bodyPr wrap="square" lIns="0" rIns="0" tIns="0" bIns="0" anchor="ctr">
            <a:spAutoFit/>
          </a:bodyPr>
          <a:lstStyle/>
          <a:p>
            <a:pPr algn="l"/>
            <a:r>
              <a:rPr sz="1200" b="0" i="0">
                <a:solidFill>
                  <a:srgbClr val="55606B"/>
                </a:solidFill>
              </a:rPr>
              <a:t>Data: European Social Survey Round 11 (2023–24), UK sample (gb-ess11-trust.sav).</a:t>
            </a:r>
            <a:endParaRPr sz="120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Interactive explorer</a:t>
            </a:r>
          </a:p>
        </p:txBody>
      </p:sp>
      <p:sp>
        <p:nvSpPr>
          <p:cNvPr id="3" name="Footer Placeholder 2">
            <a:extLst>
              <a:ext uri="{FF2B5EF4-FFF2-40B4-BE49-F238E27FC236}">
                <a16:creationId xmlns:a16="http://schemas.microsoft.com/office/drawing/2014/main" id="{D0C8C946-5335-2921-801F-E32EBBDC06AC}"/>
              </a:ext>
            </a:extLst>
          </p:cNvPr>
          <p:cNvSpPr>
            <a:spLocks noGrp="1"/>
          </p:cNvSpPr>
          <p:nvPr>
            <p:ph type="ftr" sz="quarter" idx="11"/>
          </p:nvPr>
        </p:nvSpPr>
        <p:spPr/>
        <p:txBody>
          <a:bodyPr/>
          <a:lstStyle/>
          <a:p>
            <a:r>
              <a:rPr lang="en-GB"/>
              <a:t>Measurement and Description</a:t>
            </a:r>
          </a:p>
        </p:txBody>
      </p:sp>
      <p:sp>
        <p:nvSpPr>
          <p:cNvPr id="4" name="Slide Number Placeholder 3">
            <a:extLst>
              <a:ext uri="{FF2B5EF4-FFF2-40B4-BE49-F238E27FC236}">
                <a16:creationId xmlns:a16="http://schemas.microsoft.com/office/drawing/2014/main" id="{975A5B92-8D16-E54E-863B-32FBAC4EF875}"/>
              </a:ext>
            </a:extLst>
          </p:cNvPr>
          <p:cNvSpPr>
            <a:spLocks noGrp="1"/>
          </p:cNvSpPr>
          <p:nvPr>
            <p:ph type="sldNum" sz="quarter" idx="12"/>
          </p:nvPr>
        </p:nvSpPr>
        <p:spPr/>
        <p:txBody>
          <a:bodyPr/>
          <a:lstStyle/>
          <a:p>
            <a:fld id="{9FAA51BB-2FC0-4DB8-B50E-F52D50E733B6}" type="slidenum">
              <a:rPr lang="en-GB" smtClean="0"/>
              <a:t>20</a:t>
            </a:fld>
            <a:endParaRPr lang="en-GB"/>
          </a:p>
        </p:txBody>
      </p:sp>
      <p:pic>
        <p:nvPicPr>
          <p:cNvPr id="5" name="Picture 4" descr="qr_w1.png"/>
          <p:cNvPicPr>
            <a:picLocks noChangeAspect="1"/>
          </p:cNvPicPr>
          <p:nvPr/>
        </p:nvPicPr>
        <p:blipFill>
          <a:blip r:embed="rId2"/>
          <a:stretch>
            <a:fillRect/>
          </a:stretch>
        </p:blipFill>
        <p:spPr>
          <a:xfrm>
            <a:off x="1051560" y="1463040"/>
            <a:ext cx="2834640" cy="2834640"/>
          </a:xfrm>
          <a:prstGeom prst="rect">
            <a:avLst/>
          </a:prstGeom>
        </p:spPr>
      </p:pic>
      <p:sp>
        <p:nvSpPr>
          <p:cNvPr id="6" name="TextBox 5"/>
          <p:cNvSpPr txBox="1"/>
          <p:nvPr/>
        </p:nvSpPr>
        <p:spPr>
          <a:xfrm>
            <a:off x="758952" y="4434840"/>
            <a:ext cx="3429000" cy="1097280"/>
          </a:xfrm>
          <a:prstGeom prst="rect">
            <a:avLst/>
          </a:prstGeom>
          <a:noFill/>
        </p:spPr>
        <p:txBody>
          <a:bodyPr wrap="square" lIns="0" rIns="0" tIns="0" bIns="0" anchor="t">
            <a:spAutoFit/>
          </a:bodyPr>
          <a:lstStyle/>
          <a:p>
            <a:pPr algn="ctr">
              <a:spcAft>
                <a:spcPts val="400"/>
              </a:spcAft>
            </a:pPr>
            <a:r>
              <a:rPr sz="1400" b="1" i="0">
                <a:solidFill>
                  <a:srgbClr val="1F394D"/>
                </a:solidFill>
              </a:rPr>
              <a:t>Course site › [W1] Interactive Explorer</a:t>
            </a:r>
            <a:endParaRPr sz="1400"/>
          </a:p>
          <a:p>
            <a:pPr algn="ctr"/>
            <a:r>
              <a:rPr sz="1200" b="0" i="0">
                <a:solidFill>
                  <a:srgbClr val="55606B"/>
                </a:solidFill>
              </a:rPr>
              <a:t>cgmoreh.github.io/SOC2069-QUANT-26</a:t>
            </a:r>
            <a:endParaRPr sz="1200"/>
          </a:p>
        </p:txBody>
      </p:sp>
      <p:sp>
        <p:nvSpPr>
          <p:cNvPr id="7" name="Rounded Rectangle 6"/>
          <p:cNvSpPr/>
          <p:nvPr/>
        </p:nvSpPr>
        <p:spPr>
          <a:xfrm>
            <a:off x="4526280" y="1417320"/>
            <a:ext cx="6839712" cy="1097280"/>
          </a:xfrm>
          <a:prstGeom prst="roundRect">
            <a:avLst>
              <a:gd name="adj" fmla="val 8000"/>
            </a:avLst>
          </a:prstGeom>
          <a:solidFill>
            <a:srgbClr val="EEF3F7"/>
          </a:solidFill>
          <a:ln>
            <a:noFill/>
          </a:ln>
        </p:spPr>
        <p:txBody>
          <a:bodyPr rtlCol="0" anchor="ctr"/>
          <a:lstStyle/>
          <a:p>
            <a:pPr algn="ctr"/>
          </a:p>
        </p:txBody>
      </p:sp>
      <p:sp>
        <p:nvSpPr>
          <p:cNvPr id="8" name="Oval 7"/>
          <p:cNvSpPr/>
          <p:nvPr/>
        </p:nvSpPr>
        <p:spPr>
          <a:xfrm>
            <a:off x="4732020" y="1714500"/>
            <a:ext cx="502920" cy="502920"/>
          </a:xfrm>
          <a:prstGeom prst="ellipse">
            <a:avLst/>
          </a:prstGeom>
          <a:solidFill>
            <a:srgbClr val="1F394D"/>
          </a:solidFill>
          <a:ln>
            <a:noFill/>
          </a:ln>
        </p:spPr>
        <p:txBody>
          <a:bodyPr rtlCol="0" anchor="ctr" wrap="square" lIns="0" rIns="0" tIns="18288" bIns="18288"/>
          <a:lstStyle/>
          <a:p>
            <a:pPr algn="ctr"/>
            <a:r>
              <a:rPr sz="1800" b="1" i="0">
                <a:solidFill>
                  <a:srgbClr val="FFFFFF"/>
                </a:solidFill>
              </a:rPr>
              <a:t>1</a:t>
            </a:r>
            <a:endParaRPr sz="1800"/>
          </a:p>
        </p:txBody>
      </p:sp>
      <p:sp>
        <p:nvSpPr>
          <p:cNvPr id="9" name="TextBox 8"/>
          <p:cNvSpPr txBox="1"/>
          <p:nvPr/>
        </p:nvSpPr>
        <p:spPr>
          <a:xfrm>
            <a:off x="5440680" y="1527048"/>
            <a:ext cx="5760720" cy="877824"/>
          </a:xfrm>
          <a:prstGeom prst="rect">
            <a:avLst/>
          </a:prstGeom>
          <a:noFill/>
        </p:spPr>
        <p:txBody>
          <a:bodyPr wrap="square" lIns="0" rIns="0" tIns="0" bIns="0" anchor="ctr">
            <a:spAutoFit/>
          </a:bodyPr>
          <a:lstStyle/>
          <a:p>
            <a:pPr algn="l">
              <a:spcAft>
                <a:spcPts val="200"/>
              </a:spcAft>
            </a:pPr>
            <a:r>
              <a:rPr sz="1800" b="1" i="0">
                <a:solidFill>
                  <a:srgbClr val="1F394D"/>
                </a:solidFill>
              </a:rPr>
              <a:t>One very rich household</a:t>
            </a:r>
            <a:endParaRPr sz="1800"/>
          </a:p>
          <a:p>
            <a:pPr algn="l"/>
            <a:r>
              <a:rPr sz="1500" b="0" i="0">
                <a:solidFill>
                  <a:srgbClr val="1F2A33"/>
                </a:solidFill>
              </a:rPr>
              <a:t>Move the highest of nine incomes and watch the mean chase it while the median stays put.</a:t>
            </a:r>
            <a:endParaRPr sz="1500"/>
          </a:p>
        </p:txBody>
      </p:sp>
      <p:sp>
        <p:nvSpPr>
          <p:cNvPr id="10" name="Rounded Rectangle 9"/>
          <p:cNvSpPr/>
          <p:nvPr/>
        </p:nvSpPr>
        <p:spPr>
          <a:xfrm>
            <a:off x="4526280" y="2651760"/>
            <a:ext cx="6839712" cy="1097280"/>
          </a:xfrm>
          <a:prstGeom prst="roundRect">
            <a:avLst>
              <a:gd name="adj" fmla="val 8000"/>
            </a:avLst>
          </a:prstGeom>
          <a:solidFill>
            <a:srgbClr val="EEF3F7"/>
          </a:solidFill>
          <a:ln>
            <a:noFill/>
          </a:ln>
        </p:spPr>
        <p:txBody>
          <a:bodyPr rtlCol="0" anchor="ctr"/>
          <a:lstStyle/>
          <a:p>
            <a:pPr algn="ctr"/>
          </a:p>
        </p:txBody>
      </p:sp>
      <p:sp>
        <p:nvSpPr>
          <p:cNvPr id="11" name="Oval 10"/>
          <p:cNvSpPr/>
          <p:nvPr/>
        </p:nvSpPr>
        <p:spPr>
          <a:xfrm>
            <a:off x="4732020" y="2948940"/>
            <a:ext cx="502920" cy="502920"/>
          </a:xfrm>
          <a:prstGeom prst="ellipse">
            <a:avLst/>
          </a:prstGeom>
          <a:solidFill>
            <a:srgbClr val="1F394D"/>
          </a:solidFill>
          <a:ln>
            <a:noFill/>
          </a:ln>
        </p:spPr>
        <p:txBody>
          <a:bodyPr rtlCol="0" anchor="ctr" wrap="square" lIns="0" rIns="0" tIns="18288" bIns="18288"/>
          <a:lstStyle/>
          <a:p>
            <a:pPr algn="ctr"/>
            <a:r>
              <a:rPr sz="1800" b="1" i="0">
                <a:solidFill>
                  <a:srgbClr val="FFFFFF"/>
                </a:solidFill>
              </a:rPr>
              <a:t>2</a:t>
            </a:r>
            <a:endParaRPr sz="1800"/>
          </a:p>
        </p:txBody>
      </p:sp>
      <p:sp>
        <p:nvSpPr>
          <p:cNvPr id="12" name="TextBox 11"/>
          <p:cNvSpPr txBox="1"/>
          <p:nvPr/>
        </p:nvSpPr>
        <p:spPr>
          <a:xfrm>
            <a:off x="5440680" y="2761488"/>
            <a:ext cx="5760720" cy="877824"/>
          </a:xfrm>
          <a:prstGeom prst="rect">
            <a:avLst/>
          </a:prstGeom>
          <a:noFill/>
        </p:spPr>
        <p:txBody>
          <a:bodyPr wrap="square" lIns="0" rIns="0" tIns="0" bIns="0" anchor="ctr">
            <a:spAutoFit/>
          </a:bodyPr>
          <a:lstStyle/>
          <a:p>
            <a:pPr algn="l">
              <a:spcAft>
                <a:spcPts val="200"/>
              </a:spcAft>
            </a:pPr>
            <a:r>
              <a:rPr sz="1800" b="1" i="0">
                <a:solidFill>
                  <a:srgbClr val="1F394D"/>
                </a:solidFill>
              </a:rPr>
              <a:t>The standard deviation by hand</a:t>
            </a:r>
            <a:endParaRPr sz="1800"/>
          </a:p>
          <a:p>
            <a:pPr algn="l"/>
            <a:r>
              <a:rPr sz="1500" b="0" i="0">
                <a:solidFill>
                  <a:srgbClr val="1F2A33"/>
                </a:solidFill>
              </a:rPr>
              <a:t>Change five trust scores and follow each step from deviations to the standard deviation.</a:t>
            </a:r>
            <a:endParaRPr sz="1500"/>
          </a:p>
        </p:txBody>
      </p:sp>
      <p:sp>
        <p:nvSpPr>
          <p:cNvPr id="13" name="Rounded Rectangle 12"/>
          <p:cNvSpPr/>
          <p:nvPr/>
        </p:nvSpPr>
        <p:spPr>
          <a:xfrm>
            <a:off x="4526280" y="3886200"/>
            <a:ext cx="6839712" cy="1097280"/>
          </a:xfrm>
          <a:prstGeom prst="roundRect">
            <a:avLst>
              <a:gd name="adj" fmla="val 8000"/>
            </a:avLst>
          </a:prstGeom>
          <a:solidFill>
            <a:srgbClr val="EEF3F7"/>
          </a:solidFill>
          <a:ln>
            <a:noFill/>
          </a:ln>
        </p:spPr>
        <p:txBody>
          <a:bodyPr rtlCol="0" anchor="ctr"/>
          <a:lstStyle/>
          <a:p>
            <a:pPr algn="ctr"/>
          </a:p>
        </p:txBody>
      </p:sp>
      <p:sp>
        <p:nvSpPr>
          <p:cNvPr id="14" name="Oval 13"/>
          <p:cNvSpPr/>
          <p:nvPr/>
        </p:nvSpPr>
        <p:spPr>
          <a:xfrm>
            <a:off x="4732020" y="4183379"/>
            <a:ext cx="502920" cy="502920"/>
          </a:xfrm>
          <a:prstGeom prst="ellipse">
            <a:avLst/>
          </a:prstGeom>
          <a:solidFill>
            <a:srgbClr val="1F394D"/>
          </a:solidFill>
          <a:ln>
            <a:noFill/>
          </a:ln>
        </p:spPr>
        <p:txBody>
          <a:bodyPr rtlCol="0" anchor="ctr" wrap="square" lIns="0" rIns="0" tIns="18288" bIns="18288"/>
          <a:lstStyle/>
          <a:p>
            <a:pPr algn="ctr"/>
            <a:r>
              <a:rPr sz="1800" b="1" i="0">
                <a:solidFill>
                  <a:srgbClr val="FFFFFF"/>
                </a:solidFill>
              </a:rPr>
              <a:t>3</a:t>
            </a:r>
            <a:endParaRPr sz="1800"/>
          </a:p>
        </p:txBody>
      </p:sp>
      <p:sp>
        <p:nvSpPr>
          <p:cNvPr id="15" name="TextBox 14"/>
          <p:cNvSpPr txBox="1"/>
          <p:nvPr/>
        </p:nvSpPr>
        <p:spPr>
          <a:xfrm>
            <a:off x="5440680" y="3995928"/>
            <a:ext cx="5760720" cy="877824"/>
          </a:xfrm>
          <a:prstGeom prst="rect">
            <a:avLst/>
          </a:prstGeom>
          <a:noFill/>
        </p:spPr>
        <p:txBody>
          <a:bodyPr wrap="square" lIns="0" rIns="0" tIns="0" bIns="0" anchor="ctr">
            <a:spAutoFit/>
          </a:bodyPr>
          <a:lstStyle/>
          <a:p>
            <a:pPr algn="l">
              <a:spcAft>
                <a:spcPts val="200"/>
              </a:spcAft>
            </a:pPr>
            <a:r>
              <a:rPr sz="1800" b="1" i="0">
                <a:solidFill>
                  <a:srgbClr val="1F394D"/>
                </a:solidFill>
              </a:rPr>
              <a:t>Same average, different spread</a:t>
            </a:r>
            <a:endParaRPr sz="1800"/>
          </a:p>
          <a:p>
            <a:pPr algn="l"/>
            <a:r>
              <a:rPr sz="1500" b="0" i="0">
                <a:solidFill>
                  <a:srgbClr val="1F2A33"/>
                </a:solidFill>
              </a:rPr>
              <a:t>Widen or narrow two income distributions that share the same mean.</a:t>
            </a:r>
            <a:endParaRPr sz="1500"/>
          </a:p>
        </p:txBody>
      </p:sp>
      <p:sp>
        <p:nvSpPr>
          <p:cNvPr id="16" name="Rounded Rectangle 15"/>
          <p:cNvSpPr/>
          <p:nvPr/>
        </p:nvSpPr>
        <p:spPr>
          <a:xfrm>
            <a:off x="4526280" y="5120640"/>
            <a:ext cx="6839712" cy="731520"/>
          </a:xfrm>
          <a:prstGeom prst="roundRect">
            <a:avLst>
              <a:gd name="adj" fmla="val 8000"/>
            </a:avLst>
          </a:prstGeom>
          <a:solidFill>
            <a:srgbClr val="1F394D"/>
          </a:solidFill>
          <a:ln>
            <a:noFill/>
          </a:ln>
        </p:spPr>
        <p:txBody>
          <a:bodyPr rtlCol="0" anchor="ctr"/>
          <a:lstStyle/>
          <a:p>
            <a:pPr algn="ctr"/>
          </a:p>
        </p:txBody>
      </p:sp>
      <p:sp>
        <p:nvSpPr>
          <p:cNvPr id="17" name="TextBox 16"/>
          <p:cNvSpPr txBox="1"/>
          <p:nvPr/>
        </p:nvSpPr>
        <p:spPr>
          <a:xfrm>
            <a:off x="4754880" y="5120640"/>
            <a:ext cx="6400800" cy="731520"/>
          </a:xfrm>
          <a:prstGeom prst="rect">
            <a:avLst/>
          </a:prstGeom>
          <a:noFill/>
        </p:spPr>
        <p:txBody>
          <a:bodyPr wrap="square" lIns="0" rIns="0" tIns="0" bIns="0" anchor="ctr">
            <a:spAutoFit/>
          </a:bodyPr>
          <a:lstStyle/>
          <a:p>
            <a:pPr algn="l"/>
            <a:r>
              <a:rPr sz="1500" b="1" i="0">
                <a:solidFill>
                  <a:srgbClr val="B88C00"/>
                </a:solidFill>
              </a:rPr>
              <a:t>Also on the page: </a:t>
            </a:r>
            <a:r>
              <a:rPr sz="1500" b="0" i="0">
                <a:solidFill>
                  <a:srgbClr val="FFFFFF"/>
                </a:solidFill>
              </a:rPr>
              <a:t>the distribution of trust in the ESS 2023–24, with its mean, median and mode</a:t>
            </a:r>
            <a:endParaRPr sz="15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2CBA3A-E59C-1E5C-37CA-CD0F1E185ED5}"/>
              </a:ext>
            </a:extLst>
          </p:cNvPr>
          <p:cNvSpPr>
            <a:spLocks noGrp="1"/>
          </p:cNvSpPr>
          <p:nvPr>
            <p:ph type="title"/>
          </p:nvPr>
        </p:nvSpPr>
        <p:spPr/>
        <p:txBody>
          <a:bodyPr/>
          <a:lstStyle/>
          <a:p>
            <a:r>
              <a:rPr lang="en-GB" dirty="0"/>
              <a:t>Workshop</a:t>
            </a:r>
          </a:p>
        </p:txBody>
      </p:sp>
      <p:sp>
        <p:nvSpPr>
          <p:cNvPr id="8" name="Text Placeholder 7">
            <a:extLst>
              <a:ext uri="{FF2B5EF4-FFF2-40B4-BE49-F238E27FC236}">
                <a16:creationId xmlns:a16="http://schemas.microsoft.com/office/drawing/2014/main" id="{636F7FD2-53FA-4A51-9681-6FC5C8960063}"/>
              </a:ext>
            </a:extLst>
          </p:cNvPr>
          <p:cNvSpPr>
            <a:spLocks noGrp="1"/>
          </p:cNvSpPr>
          <p:nvPr>
            <p:ph type="body" sz="half" idx="2"/>
          </p:nvPr>
        </p:nvSpPr>
        <p:spPr/>
        <p:txBody>
          <a:bodyPr/>
          <a:lstStyle/>
          <a:p>
            <a:r>
              <a:rPr lang="en-GB" dirty="0"/>
              <a:t>3-</a:t>
            </a:r>
            <a:r>
              <a:rPr lang="en-GB" dirty="0" err="1"/>
              <a:t>5pm</a:t>
            </a:r>
            <a:endParaRPr lang="en-GB" dirty="0"/>
          </a:p>
        </p:txBody>
      </p:sp>
      <p:sp>
        <p:nvSpPr>
          <p:cNvPr id="5" name="Footer Placeholder 4">
            <a:extLst>
              <a:ext uri="{FF2B5EF4-FFF2-40B4-BE49-F238E27FC236}">
                <a16:creationId xmlns:a16="http://schemas.microsoft.com/office/drawing/2014/main" id="{E7848055-4F62-3048-C4D2-554FF0041ADC}"/>
              </a:ext>
            </a:extLst>
          </p:cNvPr>
          <p:cNvSpPr>
            <a:spLocks noGrp="1"/>
          </p:cNvSpPr>
          <p:nvPr>
            <p:ph type="ftr" sz="quarter" idx="11"/>
          </p:nvPr>
        </p:nvSpPr>
        <p:spPr/>
        <p:txBody>
          <a:bodyPr/>
          <a:lstStyle/>
          <a:p>
            <a:r>
              <a:rPr lang="en-GB"/>
              <a:t>Measurement and Description</a:t>
            </a:r>
            <a:endParaRPr lang="en-GB" dirty="0"/>
          </a:p>
        </p:txBody>
      </p:sp>
      <p:sp>
        <p:nvSpPr>
          <p:cNvPr id="6" name="Slide Number Placeholder 5">
            <a:extLst>
              <a:ext uri="{FF2B5EF4-FFF2-40B4-BE49-F238E27FC236}">
                <a16:creationId xmlns:a16="http://schemas.microsoft.com/office/drawing/2014/main" id="{70535960-24E1-CFDC-22DF-A828C2B2C10E}"/>
              </a:ext>
            </a:extLst>
          </p:cNvPr>
          <p:cNvSpPr>
            <a:spLocks noGrp="1"/>
          </p:cNvSpPr>
          <p:nvPr>
            <p:ph type="sldNum" sz="quarter" idx="12"/>
          </p:nvPr>
        </p:nvSpPr>
        <p:spPr/>
        <p:txBody>
          <a:bodyPr/>
          <a:lstStyle/>
          <a:p>
            <a:fld id="{9FAA51BB-2FC0-4DB8-B50E-F52D50E733B6}" type="slidenum">
              <a:rPr lang="en-GB" smtClean="0"/>
              <a:pPr/>
              <a:t>45</a:t>
            </a:fld>
            <a:endParaRPr lang="en-GB" dirty="0"/>
          </a:p>
        </p:txBody>
      </p:sp>
    </p:spTree>
    <p:extLst>
      <p:ext uri="{BB962C8B-B14F-4D97-AF65-F5344CB8AC3E}">
        <p14:creationId xmlns:p14="http://schemas.microsoft.com/office/powerpoint/2010/main" val="2531294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6F2723A-2C1C-2AB6-3420-9BD762F766DF}"/>
              </a:ext>
            </a:extLst>
          </p:cNvPr>
          <p:cNvSpPr>
            <a:spLocks noGrp="1"/>
          </p:cNvSpPr>
          <p:nvPr>
            <p:ph type="ftr" sz="quarter" idx="11"/>
          </p:nvPr>
        </p:nvSpPr>
        <p:spPr/>
        <p:txBody>
          <a:bodyPr/>
          <a:lstStyle/>
          <a:p>
            <a:r>
              <a:rPr lang="en-GB"/>
              <a:t>Measurement and Description</a:t>
            </a:r>
          </a:p>
        </p:txBody>
      </p:sp>
      <p:sp>
        <p:nvSpPr>
          <p:cNvPr id="4" name="Slide Number Placeholder 3">
            <a:extLst>
              <a:ext uri="{FF2B5EF4-FFF2-40B4-BE49-F238E27FC236}">
                <a16:creationId xmlns:a16="http://schemas.microsoft.com/office/drawing/2014/main" id="{E9AFD3A0-9074-636F-30B6-C6C650C3F58D}"/>
              </a:ext>
            </a:extLst>
          </p:cNvPr>
          <p:cNvSpPr>
            <a:spLocks noGrp="1"/>
          </p:cNvSpPr>
          <p:nvPr>
            <p:ph type="sldNum" sz="quarter" idx="12"/>
          </p:nvPr>
        </p:nvSpPr>
        <p:spPr>
          <a:xfrm>
            <a:off x="9900458" y="6459785"/>
            <a:ext cx="1312025" cy="365125"/>
          </a:xfrm>
        </p:spPr>
        <p:txBody>
          <a:bodyPr/>
          <a:lstStyle/>
          <a:p>
            <a:fld id="{9FAA51BB-2FC0-4DB8-B50E-F52D50E733B6}" type="slidenum">
              <a:rPr lang="en-GB" smtClean="0"/>
              <a:t>46</a:t>
            </a:fld>
            <a:endParaRPr lang="en-GB"/>
          </a:p>
        </p:txBody>
      </p:sp>
    </p:spTree>
    <p:extLst>
      <p:ext uri="{BB962C8B-B14F-4D97-AF65-F5344CB8AC3E}">
        <p14:creationId xmlns:p14="http://schemas.microsoft.com/office/powerpoint/2010/main" val="2858093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Retrospect">
  <a:themeElements>
    <a:clrScheme name="Moreh">
      <a:dk1>
        <a:srgbClr val="000000"/>
      </a:dk1>
      <a:lt1>
        <a:sysClr val="window" lastClr="FFFFFF"/>
      </a:lt1>
      <a:dk2>
        <a:srgbClr val="637052"/>
      </a:dk2>
      <a:lt2>
        <a:srgbClr val="CCDDEA"/>
      </a:lt2>
      <a:accent1>
        <a:srgbClr val="3F739B"/>
      </a:accent1>
      <a:accent2>
        <a:srgbClr val="1F394D"/>
      </a:accent2>
      <a:accent3>
        <a:srgbClr val="865640"/>
      </a:accent3>
      <a:accent4>
        <a:srgbClr val="9B8357"/>
      </a:accent4>
      <a:accent5>
        <a:srgbClr val="C2BC80"/>
      </a:accent5>
      <a:accent6>
        <a:srgbClr val="94A088"/>
      </a:accent6>
      <a:hlink>
        <a:srgbClr val="B88C00"/>
      </a:hlink>
      <a:folHlink>
        <a:srgbClr val="B88C0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Moreh template.pptx" id="{976FE89A-DE24-46CA-AC0C-F592F46D6A11}" vid="{6FA3B6B4-ED01-4468-97EF-FE3176612C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41.png"/></Relationships>
</file>

<file path=ppt/webextensions/webextension1.xml><?xml version="1.0" encoding="utf-8"?>
<we:webextension xmlns:we="http://schemas.microsoft.com/office/webextensions/webextension/2010/11" id="{41329615-EF19-4B5C-8CEC-203CB9ACC986}">
  <we:reference id="d98404ac-f9e2-4292-8cb6-eec349559ae5" version="1.0.0.2" store="EXCatalog" storeType="EXCatalog"/>
  <we:alternateReferences>
    <we:reference id="WA104381526" version="1.0.0.2" store="WA104381526" storeType="OMEX"/>
  </we:alternateReferences>
  <we:properties>
    <we:property name="FormID" value="&quot;yRJQnBa2wkSpF2aBT74-h4ESuBcpn-BEknNtrb9olqJUM1pNNVdXVU5KOVNKUTRLVE1aM0o1Nk1NRy4u&quot;"/>
    <we:property name="FormMode" value="&quot;DesignTime&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24.07.16-Osaka</Template>
  <TotalTime>2953</TotalTime>
  <Words>1348</Words>
  <Application>Microsoft Office PowerPoint</Application>
  <PresentationFormat>Widescreen</PresentationFormat>
  <Paragraphs>250</Paragraphs>
  <Slides>46</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Aptos</vt:lpstr>
      <vt:lpstr>Arial Narrow</vt:lpstr>
      <vt:lpstr>Arial Nova Cond Light</vt:lpstr>
      <vt:lpstr>Calibri</vt:lpstr>
      <vt:lpstr>Calibri Light</vt:lpstr>
      <vt:lpstr>Cambria Math</vt:lpstr>
      <vt:lpstr>Courier New</vt:lpstr>
      <vt:lpstr>Wingdings</vt:lpstr>
      <vt:lpstr>Retrospect</vt:lpstr>
      <vt:lpstr>PowerPoint Presentation</vt:lpstr>
      <vt:lpstr>Week 1</vt:lpstr>
      <vt:lpstr>Measurement</vt:lpstr>
      <vt:lpstr>Measurement</vt:lpstr>
      <vt:lpstr>PowerPoint Presentation</vt:lpstr>
      <vt:lpstr>ESS11</vt:lpstr>
      <vt:lpstr>BSA 2024</vt:lpstr>
      <vt:lpstr>BSA 2023</vt:lpstr>
      <vt:lpstr>BSA 2010  (SELF-COMPLETION QUESTIONNAIRE)</vt:lpstr>
      <vt:lpstr>BSA 2010 (Q828)</vt:lpstr>
      <vt:lpstr>Citizenship Survey: 2010-11</vt:lpstr>
      <vt:lpstr>CLS 2023-24</vt:lpstr>
      <vt:lpstr>Variables in a dataset</vt:lpstr>
      <vt:lpstr>Variables in a dataset</vt:lpstr>
      <vt:lpstr>Variables in a dataset</vt:lpstr>
      <vt:lpstr>Describing data</vt:lpstr>
      <vt:lpstr>Describing data</vt:lpstr>
      <vt:lpstr>Variable types and measurement levels</vt:lpstr>
      <vt:lpstr>Variable types and measurement levels</vt:lpstr>
      <vt:lpstr>Univariate descriptive statistics</vt:lpstr>
      <vt:lpstr>Frequencies</vt:lpstr>
      <vt:lpstr>Simple frequency table</vt:lpstr>
      <vt:lpstr>Simple frequency table</vt:lpstr>
      <vt:lpstr>Simple frequency table</vt:lpstr>
      <vt:lpstr>Question:</vt:lpstr>
      <vt:lpstr>Summary frequency table</vt:lpstr>
      <vt:lpstr>Summary frequency table</vt:lpstr>
      <vt:lpstr>Central tendency</vt:lpstr>
      <vt:lpstr>Measures of ‘central tendency’</vt:lpstr>
      <vt:lpstr>Measures of ‘central tendency’</vt:lpstr>
      <vt:lpstr>Measures of ‘central tendency’</vt:lpstr>
      <vt:lpstr>Measures of ‘central tendency’</vt:lpstr>
      <vt:lpstr>Measures of ‘central tendency’</vt:lpstr>
      <vt:lpstr>Example of age distribution</vt:lpstr>
      <vt:lpstr>Example of age distribution</vt:lpstr>
      <vt:lpstr>Example of age distribution</vt:lpstr>
      <vt:lpstr>Dispersion</vt:lpstr>
      <vt:lpstr>Measures of ‘dispersion’</vt:lpstr>
      <vt:lpstr>Example of age distribution</vt:lpstr>
      <vt:lpstr>The Standard Deviation in an age distribution</vt:lpstr>
      <vt:lpstr>The Standard Deviation </vt:lpstr>
      <vt:lpstr>Percentiles and the IQR</vt:lpstr>
      <vt:lpstr>Workshop exercise</vt:lpstr>
      <vt:lpstr>Workshop exercise</vt:lpstr>
      <vt:lpstr>Workshop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Moreh</dc:creator>
  <cp:lastModifiedBy>Chris Moreh</cp:lastModifiedBy>
  <cp:revision>6</cp:revision>
  <dcterms:created xsi:type="dcterms:W3CDTF">2024-07-11T13:35:49Z</dcterms:created>
  <dcterms:modified xsi:type="dcterms:W3CDTF">2026-09-29T11:56:24Z</dcterms:modified>
</cp:coreProperties>
</file>