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60" r:id="rId1"/>
  </p:sldMasterIdLst>
  <p:notesMasterIdLst>
    <p:notesMasterId r:id="rId34"/>
  </p:notesMasterIdLst>
  <p:handoutMasterIdLst>
    <p:handoutMasterId r:id="rId35"/>
  </p:handoutMasterIdLst>
  <p:sldIdLst>
    <p:sldId id="256" r:id="rId2"/>
    <p:sldId id="307" r:id="rId3"/>
    <p:sldId id="566" r:id="rId4"/>
    <p:sldId id="561" r:id="rId5"/>
    <p:sldId id="567" r:id="rId6"/>
    <p:sldId id="590" r:id="rId7"/>
    <p:sldId id="591" r:id="rId8"/>
    <p:sldId id="568" r:id="rId9"/>
    <p:sldId id="569" r:id="rId10"/>
    <p:sldId id="264" r:id="rId11"/>
    <p:sldId id="570" r:id="rId12"/>
    <p:sldId id="571" r:id="rId13"/>
    <p:sldId id="572" r:id="rId14"/>
    <p:sldId id="573" r:id="rId15"/>
    <p:sldId id="273" r:id="rId16"/>
    <p:sldId id="557" r:id="rId17"/>
    <p:sldId id="574" r:id="rId18"/>
    <p:sldId id="575" r:id="rId19"/>
    <p:sldId id="576" r:id="rId20"/>
    <p:sldId id="578" r:id="rId21"/>
    <p:sldId id="272" r:id="rId22"/>
    <p:sldId id="579" r:id="rId23"/>
    <p:sldId id="580" r:id="rId24"/>
    <p:sldId id="581" r:id="rId25"/>
    <p:sldId id="582" r:id="rId26"/>
    <p:sldId id="583" r:id="rId27"/>
    <p:sldId id="586" r:id="rId28"/>
    <p:sldId id="587" r:id="rId29"/>
    <p:sldId id="588" r:id="rId30"/>
    <p:sldId id="589" r:id="rId31"/>
    <p:sldId id="585" r:id="rId32"/>
    <p:sldId id="26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DA0000"/>
    <a:srgbClr val="3F739B"/>
    <a:srgbClr val="174CF7"/>
    <a:srgbClr val="E4C8C8"/>
    <a:srgbClr val="E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6F84F0-3EB6-43D9-BDF6-E8FDA7C59EF3}" v="177" dt="2025-12-08T10:58:56.1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0816" autoAdjust="0"/>
  </p:normalViewPr>
  <p:slideViewPr>
    <p:cSldViewPr snapToGrid="0">
      <p:cViewPr>
        <p:scale>
          <a:sx n="80" d="100"/>
          <a:sy n="80" d="100"/>
        </p:scale>
        <p:origin x="162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167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Moreh" userId="17b81281-9f29-44e0-9273-6dadbf6896a2" providerId="ADAL" clId="{BCF66164-2C9C-4B48-AFF3-6B0B0038345A}"/>
    <pc:docChg chg="custSel addSld delSld modSld sldOrd">
      <pc:chgData name="Chris Moreh" userId="17b81281-9f29-44e0-9273-6dadbf6896a2" providerId="ADAL" clId="{BCF66164-2C9C-4B48-AFF3-6B0B0038345A}" dt="2025-12-08T10:59:04.509" v="436" actId="14100"/>
      <pc:docMkLst>
        <pc:docMk/>
      </pc:docMkLst>
      <pc:sldChg chg="addSp delSp modSp del mod delAnim modAnim">
        <pc:chgData name="Chris Moreh" userId="17b81281-9f29-44e0-9273-6dadbf6896a2" providerId="ADAL" clId="{BCF66164-2C9C-4B48-AFF3-6B0B0038345A}" dt="2025-12-08T10:41:27.825" v="151" actId="47"/>
        <pc:sldMkLst>
          <pc:docMk/>
          <pc:sldMk cId="0" sldId="257"/>
        </pc:sldMkLst>
        <pc:spChg chg="mod">
          <ac:chgData name="Chris Moreh" userId="17b81281-9f29-44e0-9273-6dadbf6896a2" providerId="ADAL" clId="{BCF66164-2C9C-4B48-AFF3-6B0B0038345A}" dt="2025-12-08T10:40:26.062" v="131" actId="107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Chris Moreh" userId="17b81281-9f29-44e0-9273-6dadbf6896a2" providerId="ADAL" clId="{BCF66164-2C9C-4B48-AFF3-6B0B0038345A}" dt="2025-12-08T10:40:44.998" v="144" actId="21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Chris Moreh" userId="17b81281-9f29-44e0-9273-6dadbf6896a2" providerId="ADAL" clId="{BCF66164-2C9C-4B48-AFF3-6B0B0038345A}" dt="2025-12-08T10:40:44.998" v="144" actId="21"/>
          <ac:spMkLst>
            <pc:docMk/>
            <pc:sldMk cId="0" sldId="257"/>
            <ac:spMk id="8" creationId="{102922BC-3AA6-1E38-16B7-37D05AF30C91}"/>
          </ac:spMkLst>
        </pc:spChg>
      </pc:sldChg>
      <pc:sldChg chg="del">
        <pc:chgData name="Chris Moreh" userId="17b81281-9f29-44e0-9273-6dadbf6896a2" providerId="ADAL" clId="{BCF66164-2C9C-4B48-AFF3-6B0B0038345A}" dt="2025-12-08T10:37:42.037" v="100" actId="47"/>
        <pc:sldMkLst>
          <pc:docMk/>
          <pc:sldMk cId="0" sldId="259"/>
        </pc:sldMkLst>
      </pc:sldChg>
      <pc:sldChg chg="addSp modSp mod ord modAnim">
        <pc:chgData name="Chris Moreh" userId="17b81281-9f29-44e0-9273-6dadbf6896a2" providerId="ADAL" clId="{BCF66164-2C9C-4B48-AFF3-6B0B0038345A}" dt="2025-12-08T10:39:59.765" v="128" actId="1076"/>
        <pc:sldMkLst>
          <pc:docMk/>
          <pc:sldMk cId="0" sldId="261"/>
        </pc:sldMkLst>
        <pc:spChg chg="mod">
          <ac:chgData name="Chris Moreh" userId="17b81281-9f29-44e0-9273-6dadbf6896a2" providerId="ADAL" clId="{BCF66164-2C9C-4B48-AFF3-6B0B0038345A}" dt="2025-12-08T10:38:04.591" v="104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Chris Moreh" userId="17b81281-9f29-44e0-9273-6dadbf6896a2" providerId="ADAL" clId="{BCF66164-2C9C-4B48-AFF3-6B0B0038345A}" dt="2025-12-08T10:39:39.199" v="124" actId="5793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Chris Moreh" userId="17b81281-9f29-44e0-9273-6dadbf6896a2" providerId="ADAL" clId="{BCF66164-2C9C-4B48-AFF3-6B0B0038345A}" dt="2025-12-08T10:39:59.765" v="128" actId="1076"/>
          <ac:picMkLst>
            <pc:docMk/>
            <pc:sldMk cId="0" sldId="261"/>
            <ac:picMk id="7" creationId="{740BDE83-2ADF-DAB5-8DF8-1B52302B919D}"/>
          </ac:picMkLst>
        </pc:picChg>
      </pc:sldChg>
      <pc:sldChg chg="modSp del mod">
        <pc:chgData name="Chris Moreh" userId="17b81281-9f29-44e0-9273-6dadbf6896a2" providerId="ADAL" clId="{BCF66164-2C9C-4B48-AFF3-6B0B0038345A}" dt="2025-12-08T10:43:15.473" v="167" actId="47"/>
        <pc:sldMkLst>
          <pc:docMk/>
          <pc:sldMk cId="0" sldId="262"/>
        </pc:sldMkLst>
        <pc:spChg chg="mod">
          <ac:chgData name="Chris Moreh" userId="17b81281-9f29-44e0-9273-6dadbf6896a2" providerId="ADAL" clId="{BCF66164-2C9C-4B48-AFF3-6B0B0038345A}" dt="2025-12-08T10:42:43.103" v="155" actId="21"/>
          <ac:spMkLst>
            <pc:docMk/>
            <pc:sldMk cId="0" sldId="262"/>
            <ac:spMk id="3" creationId="{00000000-0000-0000-0000-000000000000}"/>
          </ac:spMkLst>
        </pc:spChg>
      </pc:sldChg>
      <pc:sldChg chg="del">
        <pc:chgData name="Chris Moreh" userId="17b81281-9f29-44e0-9273-6dadbf6896a2" providerId="ADAL" clId="{BCF66164-2C9C-4B48-AFF3-6B0B0038345A}" dt="2025-12-08T10:46:03.506" v="326" actId="47"/>
        <pc:sldMkLst>
          <pc:docMk/>
          <pc:sldMk cId="0" sldId="263"/>
        </pc:sldMkLst>
      </pc:sldChg>
      <pc:sldChg chg="mod modShow">
        <pc:chgData name="Chris Moreh" userId="17b81281-9f29-44e0-9273-6dadbf6896a2" providerId="ADAL" clId="{BCF66164-2C9C-4B48-AFF3-6B0B0038345A}" dt="2025-12-08T10:53:42.285" v="364" actId="729"/>
        <pc:sldMkLst>
          <pc:docMk/>
          <pc:sldMk cId="0" sldId="268"/>
        </pc:sldMkLst>
      </pc:sldChg>
      <pc:sldChg chg="mod modShow">
        <pc:chgData name="Chris Moreh" userId="17b81281-9f29-44e0-9273-6dadbf6896a2" providerId="ADAL" clId="{BCF66164-2C9C-4B48-AFF3-6B0B0038345A}" dt="2025-12-08T10:55:34.103" v="366" actId="729"/>
        <pc:sldMkLst>
          <pc:docMk/>
          <pc:sldMk cId="0" sldId="270"/>
        </pc:sldMkLst>
      </pc:sldChg>
      <pc:sldChg chg="modSp mod">
        <pc:chgData name="Chris Moreh" userId="17b81281-9f29-44e0-9273-6dadbf6896a2" providerId="ADAL" clId="{BCF66164-2C9C-4B48-AFF3-6B0B0038345A}" dt="2025-12-08T10:20:54.004" v="11" actId="20577"/>
        <pc:sldMkLst>
          <pc:docMk/>
          <pc:sldMk cId="3814459198" sldId="307"/>
        </pc:sldMkLst>
        <pc:spChg chg="mod">
          <ac:chgData name="Chris Moreh" userId="17b81281-9f29-44e0-9273-6dadbf6896a2" providerId="ADAL" clId="{BCF66164-2C9C-4B48-AFF3-6B0B0038345A}" dt="2025-12-08T10:20:54.004" v="11" actId="20577"/>
          <ac:spMkLst>
            <pc:docMk/>
            <pc:sldMk cId="3814459198" sldId="307"/>
            <ac:spMk id="6" creationId="{24060982-6EE3-A8F1-75FE-C4BDB2FF3CBE}"/>
          </ac:spMkLst>
        </pc:spChg>
      </pc:sldChg>
      <pc:sldChg chg="ord">
        <pc:chgData name="Chris Moreh" userId="17b81281-9f29-44e0-9273-6dadbf6896a2" providerId="ADAL" clId="{BCF66164-2C9C-4B48-AFF3-6B0B0038345A}" dt="2025-12-08T10:37:15.180" v="99"/>
        <pc:sldMkLst>
          <pc:docMk/>
          <pc:sldMk cId="0" sldId="310"/>
        </pc:sldMkLst>
      </pc:sldChg>
      <pc:sldChg chg="addSp delSp modSp mod">
        <pc:chgData name="Chris Moreh" userId="17b81281-9f29-44e0-9273-6dadbf6896a2" providerId="ADAL" clId="{BCF66164-2C9C-4B48-AFF3-6B0B0038345A}" dt="2025-12-08T10:53:00.821" v="363" actId="14100"/>
        <pc:sldMkLst>
          <pc:docMk/>
          <pc:sldMk cId="1599904202" sldId="555"/>
        </pc:sldMkLst>
        <pc:spChg chg="mod">
          <ac:chgData name="Chris Moreh" userId="17b81281-9f29-44e0-9273-6dadbf6896a2" providerId="ADAL" clId="{BCF66164-2C9C-4B48-AFF3-6B0B0038345A}" dt="2025-12-08T10:51:18.423" v="344" actId="20577"/>
          <ac:spMkLst>
            <pc:docMk/>
            <pc:sldMk cId="1599904202" sldId="555"/>
            <ac:spMk id="2" creationId="{00000000-0000-0000-0000-000000000000}"/>
          </ac:spMkLst>
        </pc:spChg>
        <pc:spChg chg="add mod">
          <ac:chgData name="Chris Moreh" userId="17b81281-9f29-44e0-9273-6dadbf6896a2" providerId="ADAL" clId="{BCF66164-2C9C-4B48-AFF3-6B0B0038345A}" dt="2025-12-08T10:52:07.662" v="350" actId="208"/>
          <ac:spMkLst>
            <pc:docMk/>
            <pc:sldMk cId="1599904202" sldId="555"/>
            <ac:spMk id="3" creationId="{F5CC5E9E-7296-7FD1-73B5-0BEADBA05664}"/>
          </ac:spMkLst>
        </pc:spChg>
        <pc:spChg chg="add del">
          <ac:chgData name="Chris Moreh" userId="17b81281-9f29-44e0-9273-6dadbf6896a2" providerId="ADAL" clId="{BCF66164-2C9C-4B48-AFF3-6B0B0038345A}" dt="2025-12-08T10:52:16.137" v="352" actId="478"/>
          <ac:spMkLst>
            <pc:docMk/>
            <pc:sldMk cId="1599904202" sldId="555"/>
            <ac:spMk id="9" creationId="{81FEC7D2-BC3F-228B-E619-DDDAF750D874}"/>
          </ac:spMkLst>
        </pc:spChg>
        <pc:spChg chg="add mod">
          <ac:chgData name="Chris Moreh" userId="17b81281-9f29-44e0-9273-6dadbf6896a2" providerId="ADAL" clId="{BCF66164-2C9C-4B48-AFF3-6B0B0038345A}" dt="2025-12-08T10:52:25.553" v="356" actId="14100"/>
          <ac:spMkLst>
            <pc:docMk/>
            <pc:sldMk cId="1599904202" sldId="555"/>
            <ac:spMk id="11" creationId="{0CB0944F-3ACE-176E-3B20-94842A5EBDBD}"/>
          </ac:spMkLst>
        </pc:spChg>
        <pc:spChg chg="add mod">
          <ac:chgData name="Chris Moreh" userId="17b81281-9f29-44e0-9273-6dadbf6896a2" providerId="ADAL" clId="{BCF66164-2C9C-4B48-AFF3-6B0B0038345A}" dt="2025-12-08T10:53:00.821" v="363" actId="14100"/>
          <ac:spMkLst>
            <pc:docMk/>
            <pc:sldMk cId="1599904202" sldId="555"/>
            <ac:spMk id="13" creationId="{0912E633-37FD-6948-3F18-50E8CBE09990}"/>
          </ac:spMkLst>
        </pc:spChg>
        <pc:picChg chg="mod">
          <ac:chgData name="Chris Moreh" userId="17b81281-9f29-44e0-9273-6dadbf6896a2" providerId="ADAL" clId="{BCF66164-2C9C-4B48-AFF3-6B0B0038345A}" dt="2025-12-08T10:51:43.239" v="347" actId="14100"/>
          <ac:picMkLst>
            <pc:docMk/>
            <pc:sldMk cId="1599904202" sldId="555"/>
            <ac:picMk id="19" creationId="{EA86AE07-9CAC-985C-B0F1-AA1EC47BEB87}"/>
          </ac:picMkLst>
        </pc:picChg>
      </pc:sldChg>
      <pc:sldChg chg="addSp modSp mod">
        <pc:chgData name="Chris Moreh" userId="17b81281-9f29-44e0-9273-6dadbf6896a2" providerId="ADAL" clId="{BCF66164-2C9C-4B48-AFF3-6B0B0038345A}" dt="2025-12-08T10:52:41.469" v="359" actId="14100"/>
        <pc:sldMkLst>
          <pc:docMk/>
          <pc:sldMk cId="220841069" sldId="556"/>
        </pc:sldMkLst>
        <pc:spChg chg="mod">
          <ac:chgData name="Chris Moreh" userId="17b81281-9f29-44e0-9273-6dadbf6896a2" providerId="ADAL" clId="{BCF66164-2C9C-4B48-AFF3-6B0B0038345A}" dt="2025-12-08T10:51:11.523" v="335" actId="20577"/>
          <ac:spMkLst>
            <pc:docMk/>
            <pc:sldMk cId="220841069" sldId="556"/>
            <ac:spMk id="2" creationId="{00000000-0000-0000-0000-000000000000}"/>
          </ac:spMkLst>
        </pc:spChg>
        <pc:spChg chg="add mod">
          <ac:chgData name="Chris Moreh" userId="17b81281-9f29-44e0-9273-6dadbf6896a2" providerId="ADAL" clId="{BCF66164-2C9C-4B48-AFF3-6B0B0038345A}" dt="2025-12-08T10:52:41.469" v="359" actId="14100"/>
          <ac:spMkLst>
            <pc:docMk/>
            <pc:sldMk cId="220841069" sldId="556"/>
            <ac:spMk id="7" creationId="{62F73FB6-E56A-1B07-72DC-2E4E773114E2}"/>
          </ac:spMkLst>
        </pc:spChg>
        <pc:picChg chg="mod">
          <ac:chgData name="Chris Moreh" userId="17b81281-9f29-44e0-9273-6dadbf6896a2" providerId="ADAL" clId="{BCF66164-2C9C-4B48-AFF3-6B0B0038345A}" dt="2025-12-08T10:51:26.115" v="346" actId="14100"/>
          <ac:picMkLst>
            <pc:docMk/>
            <pc:sldMk cId="220841069" sldId="556"/>
            <ac:picMk id="19" creationId="{EA86AE07-9CAC-985C-B0F1-AA1EC47BEB87}"/>
          </ac:picMkLst>
        </pc:picChg>
      </pc:sldChg>
      <pc:sldChg chg="modSp mod">
        <pc:chgData name="Chris Moreh" userId="17b81281-9f29-44e0-9273-6dadbf6896a2" providerId="ADAL" clId="{BCF66164-2C9C-4B48-AFF3-6B0B0038345A}" dt="2025-12-05T14:58:21.277" v="8" actId="6549"/>
        <pc:sldMkLst>
          <pc:docMk/>
          <pc:sldMk cId="3722870570" sldId="558"/>
        </pc:sldMkLst>
        <pc:spChg chg="mod">
          <ac:chgData name="Chris Moreh" userId="17b81281-9f29-44e0-9273-6dadbf6896a2" providerId="ADAL" clId="{BCF66164-2C9C-4B48-AFF3-6B0B0038345A}" dt="2025-12-05T14:58:21.277" v="8" actId="6549"/>
          <ac:spMkLst>
            <pc:docMk/>
            <pc:sldMk cId="3722870570" sldId="558"/>
            <ac:spMk id="3" creationId="{BDAC3A50-7269-FFAF-F678-1BCCF56ADC7E}"/>
          </ac:spMkLst>
        </pc:spChg>
      </pc:sldChg>
      <pc:sldChg chg="modSp mod">
        <pc:chgData name="Chris Moreh" userId="17b81281-9f29-44e0-9273-6dadbf6896a2" providerId="ADAL" clId="{BCF66164-2C9C-4B48-AFF3-6B0B0038345A}" dt="2025-12-05T14:56:51.380" v="3" actId="113"/>
        <pc:sldMkLst>
          <pc:docMk/>
          <pc:sldMk cId="518544894" sldId="559"/>
        </pc:sldMkLst>
        <pc:spChg chg="mod">
          <ac:chgData name="Chris Moreh" userId="17b81281-9f29-44e0-9273-6dadbf6896a2" providerId="ADAL" clId="{BCF66164-2C9C-4B48-AFF3-6B0B0038345A}" dt="2025-12-05T14:56:51.380" v="3" actId="113"/>
          <ac:spMkLst>
            <pc:docMk/>
            <pc:sldMk cId="518544894" sldId="559"/>
            <ac:spMk id="3" creationId="{5A79ADA7-0530-7BC3-4406-75E217001267}"/>
          </ac:spMkLst>
        </pc:spChg>
      </pc:sldChg>
      <pc:sldChg chg="addSp delSp modSp new mod ord">
        <pc:chgData name="Chris Moreh" userId="17b81281-9f29-44e0-9273-6dadbf6896a2" providerId="ADAL" clId="{BCF66164-2C9C-4B48-AFF3-6B0B0038345A}" dt="2025-12-08T10:36:35.991" v="84" actId="20577"/>
        <pc:sldMkLst>
          <pc:docMk/>
          <pc:sldMk cId="871133110" sldId="560"/>
        </pc:sldMkLst>
        <pc:spChg chg="mod">
          <ac:chgData name="Chris Moreh" userId="17b81281-9f29-44e0-9273-6dadbf6896a2" providerId="ADAL" clId="{BCF66164-2C9C-4B48-AFF3-6B0B0038345A}" dt="2025-12-08T10:34:33.109" v="36" actId="20577"/>
          <ac:spMkLst>
            <pc:docMk/>
            <pc:sldMk cId="871133110" sldId="560"/>
            <ac:spMk id="2" creationId="{38DC0BB7-2CFD-25BE-34E3-F2B2154FEB62}"/>
          </ac:spMkLst>
        </pc:spChg>
        <pc:spChg chg="del">
          <ac:chgData name="Chris Moreh" userId="17b81281-9f29-44e0-9273-6dadbf6896a2" providerId="ADAL" clId="{BCF66164-2C9C-4B48-AFF3-6B0B0038345A}" dt="2025-12-08T10:34:36.159" v="37" actId="478"/>
          <ac:spMkLst>
            <pc:docMk/>
            <pc:sldMk cId="871133110" sldId="560"/>
            <ac:spMk id="3" creationId="{2614FC1D-FC22-D113-08F2-0B2B2FE7F891}"/>
          </ac:spMkLst>
        </pc:spChg>
        <pc:spChg chg="add mod">
          <ac:chgData name="Chris Moreh" userId="17b81281-9f29-44e0-9273-6dadbf6896a2" providerId="ADAL" clId="{BCF66164-2C9C-4B48-AFF3-6B0B0038345A}" dt="2025-12-08T10:35:59.929" v="60" actId="20577"/>
          <ac:spMkLst>
            <pc:docMk/>
            <pc:sldMk cId="871133110" sldId="560"/>
            <ac:spMk id="8" creationId="{0E937996-025D-4429-681A-A1C939031362}"/>
          </ac:spMkLst>
        </pc:spChg>
        <pc:spChg chg="add mod">
          <ac:chgData name="Chris Moreh" userId="17b81281-9f29-44e0-9273-6dadbf6896a2" providerId="ADAL" clId="{BCF66164-2C9C-4B48-AFF3-6B0B0038345A}" dt="2025-12-08T10:36:35.991" v="84" actId="20577"/>
          <ac:spMkLst>
            <pc:docMk/>
            <pc:sldMk cId="871133110" sldId="560"/>
            <ac:spMk id="9" creationId="{419804F1-59F4-3DAF-8926-494AB004B85C}"/>
          </ac:spMkLst>
        </pc:spChg>
        <pc:picChg chg="add mod">
          <ac:chgData name="Chris Moreh" userId="17b81281-9f29-44e0-9273-6dadbf6896a2" providerId="ADAL" clId="{BCF66164-2C9C-4B48-AFF3-6B0B0038345A}" dt="2025-12-08T10:35:36.707" v="42" actId="1076"/>
          <ac:picMkLst>
            <pc:docMk/>
            <pc:sldMk cId="871133110" sldId="560"/>
            <ac:picMk id="6" creationId="{AD589DDC-08EF-A102-6902-FA8C96C139A4}"/>
          </ac:picMkLst>
        </pc:picChg>
        <pc:picChg chg="add mod">
          <ac:chgData name="Chris Moreh" userId="17b81281-9f29-44e0-9273-6dadbf6896a2" providerId="ADAL" clId="{BCF66164-2C9C-4B48-AFF3-6B0B0038345A}" dt="2025-12-08T10:35:39.036" v="43" actId="1076"/>
          <ac:picMkLst>
            <pc:docMk/>
            <pc:sldMk cId="871133110" sldId="560"/>
            <ac:picMk id="7" creationId="{0C7EB355-F7A1-2640-59D4-455681B4B07D}"/>
          </ac:picMkLst>
        </pc:picChg>
      </pc:sldChg>
      <pc:sldChg chg="addSp delSp modSp new mod ord modAnim">
        <pc:chgData name="Chris Moreh" userId="17b81281-9f29-44e0-9273-6dadbf6896a2" providerId="ADAL" clId="{BCF66164-2C9C-4B48-AFF3-6B0B0038345A}" dt="2025-12-08T10:42:55.377" v="163" actId="6549"/>
        <pc:sldMkLst>
          <pc:docMk/>
          <pc:sldMk cId="475431339" sldId="561"/>
        </pc:sldMkLst>
        <pc:spChg chg="mod">
          <ac:chgData name="Chris Moreh" userId="17b81281-9f29-44e0-9273-6dadbf6896a2" providerId="ADAL" clId="{BCF66164-2C9C-4B48-AFF3-6B0B0038345A}" dt="2025-12-08T10:40:36.355" v="143" actId="20577"/>
          <ac:spMkLst>
            <pc:docMk/>
            <pc:sldMk cId="475431339" sldId="561"/>
            <ac:spMk id="2" creationId="{E16C9E2F-9C8E-1072-2DF2-826C624ADFE7}"/>
          </ac:spMkLst>
        </pc:spChg>
        <pc:spChg chg="del">
          <ac:chgData name="Chris Moreh" userId="17b81281-9f29-44e0-9273-6dadbf6896a2" providerId="ADAL" clId="{BCF66164-2C9C-4B48-AFF3-6B0B0038345A}" dt="2025-12-08T10:40:49.302" v="145" actId="478"/>
          <ac:spMkLst>
            <pc:docMk/>
            <pc:sldMk cId="475431339" sldId="561"/>
            <ac:spMk id="3" creationId="{5755DF92-22B3-3BEF-32D3-E72E0564E222}"/>
          </ac:spMkLst>
        </pc:spChg>
        <pc:spChg chg="add mod">
          <ac:chgData name="Chris Moreh" userId="17b81281-9f29-44e0-9273-6dadbf6896a2" providerId="ADAL" clId="{BCF66164-2C9C-4B48-AFF3-6B0B0038345A}" dt="2025-12-08T10:42:55.377" v="163" actId="6549"/>
          <ac:spMkLst>
            <pc:docMk/>
            <pc:sldMk cId="475431339" sldId="561"/>
            <ac:spMk id="6" creationId="{00000000-0000-0000-0000-000000000000}"/>
          </ac:spMkLst>
        </pc:spChg>
      </pc:sldChg>
      <pc:sldChg chg="modSp new del mod">
        <pc:chgData name="Chris Moreh" userId="17b81281-9f29-44e0-9273-6dadbf6896a2" providerId="ADAL" clId="{BCF66164-2C9C-4B48-AFF3-6B0B0038345A}" dt="2025-12-08T10:39:01.449" v="111" actId="47"/>
        <pc:sldMkLst>
          <pc:docMk/>
          <pc:sldMk cId="1231331108" sldId="561"/>
        </pc:sldMkLst>
        <pc:spChg chg="mod">
          <ac:chgData name="Chris Moreh" userId="17b81281-9f29-44e0-9273-6dadbf6896a2" providerId="ADAL" clId="{BCF66164-2C9C-4B48-AFF3-6B0B0038345A}" dt="2025-12-08T10:36:57.591" v="95" actId="20577"/>
          <ac:spMkLst>
            <pc:docMk/>
            <pc:sldMk cId="1231331108" sldId="561"/>
            <ac:spMk id="2" creationId="{E3D29C3F-8709-74C7-58D9-152CD3D11A3B}"/>
          </ac:spMkLst>
        </pc:spChg>
      </pc:sldChg>
      <pc:sldChg chg="modSp add mod modAnim">
        <pc:chgData name="Chris Moreh" userId="17b81281-9f29-44e0-9273-6dadbf6896a2" providerId="ADAL" clId="{BCF66164-2C9C-4B48-AFF3-6B0B0038345A}" dt="2025-12-08T10:43:06.866" v="166" actId="6549"/>
        <pc:sldMkLst>
          <pc:docMk/>
          <pc:sldMk cId="3286368955" sldId="562"/>
        </pc:sldMkLst>
        <pc:spChg chg="mod">
          <ac:chgData name="Chris Moreh" userId="17b81281-9f29-44e0-9273-6dadbf6896a2" providerId="ADAL" clId="{BCF66164-2C9C-4B48-AFF3-6B0B0038345A}" dt="2025-12-08T10:43:06.866" v="166" actId="6549"/>
          <ac:spMkLst>
            <pc:docMk/>
            <pc:sldMk cId="3286368955" sldId="562"/>
            <ac:spMk id="6" creationId="{5A068F79-ED22-D341-7889-7F2C8C78E094}"/>
          </ac:spMkLst>
        </pc:spChg>
      </pc:sldChg>
      <pc:sldChg chg="addSp delSp modSp add mod delAnim modAnim">
        <pc:chgData name="Chris Moreh" userId="17b81281-9f29-44e0-9273-6dadbf6896a2" providerId="ADAL" clId="{BCF66164-2C9C-4B48-AFF3-6B0B0038345A}" dt="2025-12-08T10:45:53.217" v="325" actId="313"/>
        <pc:sldMkLst>
          <pc:docMk/>
          <pc:sldMk cId="3878208410" sldId="563"/>
        </pc:sldMkLst>
        <pc:spChg chg="mod">
          <ac:chgData name="Chris Moreh" userId="17b81281-9f29-44e0-9273-6dadbf6896a2" providerId="ADAL" clId="{BCF66164-2C9C-4B48-AFF3-6B0B0038345A}" dt="2025-12-08T10:43:52.387" v="185" actId="20577"/>
          <ac:spMkLst>
            <pc:docMk/>
            <pc:sldMk cId="3878208410" sldId="563"/>
            <ac:spMk id="2" creationId="{4C87B184-AD45-20A5-8991-D06D7756870E}"/>
          </ac:spMkLst>
        </pc:spChg>
        <pc:spChg chg="del">
          <ac:chgData name="Chris Moreh" userId="17b81281-9f29-44e0-9273-6dadbf6896a2" providerId="ADAL" clId="{BCF66164-2C9C-4B48-AFF3-6B0B0038345A}" dt="2025-12-08T10:43:59.230" v="186" actId="478"/>
          <ac:spMkLst>
            <pc:docMk/>
            <pc:sldMk cId="3878208410" sldId="563"/>
            <ac:spMk id="6" creationId="{422D2281-FC69-F589-BB17-354B409A6867}"/>
          </ac:spMkLst>
        </pc:spChg>
        <pc:spChg chg="add del mod">
          <ac:chgData name="Chris Moreh" userId="17b81281-9f29-44e0-9273-6dadbf6896a2" providerId="ADAL" clId="{BCF66164-2C9C-4B48-AFF3-6B0B0038345A}" dt="2025-12-08T10:44:09.950" v="187" actId="478"/>
          <ac:spMkLst>
            <pc:docMk/>
            <pc:sldMk cId="3878208410" sldId="563"/>
            <ac:spMk id="7" creationId="{D0153EDB-2DC0-474A-51E1-1D4BB26BD337}"/>
          </ac:spMkLst>
        </pc:spChg>
        <pc:spChg chg="add mod">
          <ac:chgData name="Chris Moreh" userId="17b81281-9f29-44e0-9273-6dadbf6896a2" providerId="ADAL" clId="{BCF66164-2C9C-4B48-AFF3-6B0B0038345A}" dt="2025-12-08T10:45:53.217" v="325" actId="313"/>
          <ac:spMkLst>
            <pc:docMk/>
            <pc:sldMk cId="3878208410" sldId="563"/>
            <ac:spMk id="8" creationId="{31D64A2C-366E-3681-A83B-719D74222201}"/>
          </ac:spMkLst>
        </pc:spChg>
      </pc:sldChg>
      <pc:sldChg chg="addSp delSp modSp new mod">
        <pc:chgData name="Chris Moreh" userId="17b81281-9f29-44e0-9273-6dadbf6896a2" providerId="ADAL" clId="{BCF66164-2C9C-4B48-AFF3-6B0B0038345A}" dt="2025-12-08T10:58:09.459" v="406" actId="208"/>
        <pc:sldMkLst>
          <pc:docMk/>
          <pc:sldMk cId="1657935463" sldId="564"/>
        </pc:sldMkLst>
        <pc:spChg chg="mod">
          <ac:chgData name="Chris Moreh" userId="17b81281-9f29-44e0-9273-6dadbf6896a2" providerId="ADAL" clId="{BCF66164-2C9C-4B48-AFF3-6B0B0038345A}" dt="2025-12-08T10:57:29.465" v="393" actId="20577"/>
          <ac:spMkLst>
            <pc:docMk/>
            <pc:sldMk cId="1657935463" sldId="564"/>
            <ac:spMk id="2" creationId="{6B75C1F8-CA42-9EB9-3B3D-7BB82E4ADE99}"/>
          </ac:spMkLst>
        </pc:spChg>
        <pc:spChg chg="del">
          <ac:chgData name="Chris Moreh" userId="17b81281-9f29-44e0-9273-6dadbf6896a2" providerId="ADAL" clId="{BCF66164-2C9C-4B48-AFF3-6B0B0038345A}" dt="2025-12-08T10:57:41.527" v="397" actId="478"/>
          <ac:spMkLst>
            <pc:docMk/>
            <pc:sldMk cId="1657935463" sldId="564"/>
            <ac:spMk id="3" creationId="{3A95A963-D4E9-5FFD-23E7-5EB40ED32B0C}"/>
          </ac:spMkLst>
        </pc:spChg>
        <pc:spChg chg="add mod">
          <ac:chgData name="Chris Moreh" userId="17b81281-9f29-44e0-9273-6dadbf6896a2" providerId="ADAL" clId="{BCF66164-2C9C-4B48-AFF3-6B0B0038345A}" dt="2025-12-08T10:58:09.459" v="406" actId="208"/>
          <ac:spMkLst>
            <pc:docMk/>
            <pc:sldMk cId="1657935463" sldId="564"/>
            <ac:spMk id="8" creationId="{B78A550A-E8C3-5E56-5BDA-DDEC1523B295}"/>
          </ac:spMkLst>
        </pc:spChg>
        <pc:picChg chg="add mod">
          <ac:chgData name="Chris Moreh" userId="17b81281-9f29-44e0-9273-6dadbf6896a2" providerId="ADAL" clId="{BCF66164-2C9C-4B48-AFF3-6B0B0038345A}" dt="2025-12-08T10:57:51.293" v="403" actId="1076"/>
          <ac:picMkLst>
            <pc:docMk/>
            <pc:sldMk cId="1657935463" sldId="564"/>
            <ac:picMk id="7" creationId="{364872C7-DE19-27AA-B787-53592B25E49C}"/>
          </ac:picMkLst>
        </pc:picChg>
      </pc:sldChg>
      <pc:sldChg chg="add del">
        <pc:chgData name="Chris Moreh" userId="17b81281-9f29-44e0-9273-6dadbf6896a2" providerId="ADAL" clId="{BCF66164-2C9C-4B48-AFF3-6B0B0038345A}" dt="2025-12-08T10:55:37.719" v="367" actId="47"/>
        <pc:sldMkLst>
          <pc:docMk/>
          <pc:sldMk cId="3003568146" sldId="564"/>
        </pc:sldMkLst>
      </pc:sldChg>
      <pc:sldChg chg="addSp delSp modSp new mod ord">
        <pc:chgData name="Chris Moreh" userId="17b81281-9f29-44e0-9273-6dadbf6896a2" providerId="ADAL" clId="{BCF66164-2C9C-4B48-AFF3-6B0B0038345A}" dt="2025-12-08T10:59:04.509" v="436" actId="14100"/>
        <pc:sldMkLst>
          <pc:docMk/>
          <pc:sldMk cId="2756258063" sldId="565"/>
        </pc:sldMkLst>
        <pc:spChg chg="mod">
          <ac:chgData name="Chris Moreh" userId="17b81281-9f29-44e0-9273-6dadbf6896a2" providerId="ADAL" clId="{BCF66164-2C9C-4B48-AFF3-6B0B0038345A}" dt="2025-12-08T10:58:21.158" v="425" actId="20577"/>
          <ac:spMkLst>
            <pc:docMk/>
            <pc:sldMk cId="2756258063" sldId="565"/>
            <ac:spMk id="2" creationId="{DE41F17C-8CAE-76F2-3694-BF94A821C290}"/>
          </ac:spMkLst>
        </pc:spChg>
        <pc:spChg chg="del">
          <ac:chgData name="Chris Moreh" userId="17b81281-9f29-44e0-9273-6dadbf6896a2" providerId="ADAL" clId="{BCF66164-2C9C-4B48-AFF3-6B0B0038345A}" dt="2025-12-08T10:58:41.397" v="426" actId="478"/>
          <ac:spMkLst>
            <pc:docMk/>
            <pc:sldMk cId="2756258063" sldId="565"/>
            <ac:spMk id="3" creationId="{AAEA563A-4B63-ABA2-B4C0-1E640BB6FD57}"/>
          </ac:spMkLst>
        </pc:spChg>
        <pc:spChg chg="add mod">
          <ac:chgData name="Chris Moreh" userId="17b81281-9f29-44e0-9273-6dadbf6896a2" providerId="ADAL" clId="{BCF66164-2C9C-4B48-AFF3-6B0B0038345A}" dt="2025-12-08T10:59:04.509" v="436" actId="14100"/>
          <ac:spMkLst>
            <pc:docMk/>
            <pc:sldMk cId="2756258063" sldId="565"/>
            <ac:spMk id="8" creationId="{B91688C1-D556-ADCF-8792-771531B9296F}"/>
          </ac:spMkLst>
        </pc:spChg>
        <pc:picChg chg="add mod">
          <ac:chgData name="Chris Moreh" userId="17b81281-9f29-44e0-9273-6dadbf6896a2" providerId="ADAL" clId="{BCF66164-2C9C-4B48-AFF3-6B0B0038345A}" dt="2025-12-08T10:58:48.704" v="432" actId="1076"/>
          <ac:picMkLst>
            <pc:docMk/>
            <pc:sldMk cId="2756258063" sldId="565"/>
            <ac:picMk id="7" creationId="{1492BFEA-D662-6C59-9C80-CB82B924465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 of 100</c:v>
                </c:pt>
              </c:strCache>
            </c:strRef>
          </c:tx>
          <c:spPr>
            <a:ln w="38100">
              <a:solidFill>
                <a:srgbClr val="3F739B"/>
              </a:solidFill>
            </a:ln>
          </c:spPr>
          <c:marker>
            <c:symbol val="none"/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0.2525</c:v>
                </c:pt>
                <c:pt idx="1">
                  <c:v>0.27250000000000002</c:v>
                </c:pt>
                <c:pt idx="2">
                  <c:v>0.29249999999999998</c:v>
                </c:pt>
                <c:pt idx="3">
                  <c:v>0.3125</c:v>
                </c:pt>
                <c:pt idx="4">
                  <c:v>0.33250000000000002</c:v>
                </c:pt>
                <c:pt idx="5">
                  <c:v>0.35249999999999998</c:v>
                </c:pt>
                <c:pt idx="6">
                  <c:v>0.3725</c:v>
                </c:pt>
                <c:pt idx="7">
                  <c:v>0.39250000000000002</c:v>
                </c:pt>
                <c:pt idx="8">
                  <c:v>0.41249999999999998</c:v>
                </c:pt>
                <c:pt idx="9">
                  <c:v>0.4325</c:v>
                </c:pt>
                <c:pt idx="10">
                  <c:v>0.45250000000000001</c:v>
                </c:pt>
                <c:pt idx="11">
                  <c:v>0.47249999999999998</c:v>
                </c:pt>
                <c:pt idx="12">
                  <c:v>0.49249999999999999</c:v>
                </c:pt>
                <c:pt idx="13">
                  <c:v>0.51249999999999996</c:v>
                </c:pt>
                <c:pt idx="14">
                  <c:v>0.53249999999999997</c:v>
                </c:pt>
                <c:pt idx="15">
                  <c:v>0.55249999999999999</c:v>
                </c:pt>
                <c:pt idx="16">
                  <c:v>0.57250000000000001</c:v>
                </c:pt>
                <c:pt idx="17">
                  <c:v>0.59250000000000003</c:v>
                </c:pt>
                <c:pt idx="18">
                  <c:v>0.61250000000000004</c:v>
                </c:pt>
                <c:pt idx="19">
                  <c:v>0.63249999999999995</c:v>
                </c:pt>
                <c:pt idx="20">
                  <c:v>0.65249999999999997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5</c:v>
                </c:pt>
                <c:pt idx="2">
                  <c:v>11</c:v>
                </c:pt>
                <c:pt idx="3">
                  <c:v>32</c:v>
                </c:pt>
                <c:pt idx="4">
                  <c:v>114</c:v>
                </c:pt>
                <c:pt idx="5">
                  <c:v>261</c:v>
                </c:pt>
                <c:pt idx="6">
                  <c:v>507</c:v>
                </c:pt>
                <c:pt idx="7">
                  <c:v>861</c:v>
                </c:pt>
                <c:pt idx="8">
                  <c:v>1268</c:v>
                </c:pt>
                <c:pt idx="9">
                  <c:v>1494</c:v>
                </c:pt>
                <c:pt idx="10">
                  <c:v>1652</c:v>
                </c:pt>
                <c:pt idx="11">
                  <c:v>1397</c:v>
                </c:pt>
                <c:pt idx="12">
                  <c:v>1066</c:v>
                </c:pt>
                <c:pt idx="13">
                  <c:v>673</c:v>
                </c:pt>
                <c:pt idx="14">
                  <c:v>382</c:v>
                </c:pt>
                <c:pt idx="15">
                  <c:v>172</c:v>
                </c:pt>
                <c:pt idx="16">
                  <c:v>75</c:v>
                </c:pt>
                <c:pt idx="17">
                  <c:v>23</c:v>
                </c:pt>
                <c:pt idx="18">
                  <c:v>7</c:v>
                </c:pt>
                <c:pt idx="19">
                  <c:v>0</c:v>
                </c:pt>
                <c:pt idx="2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353-4551-9DD6-B9A829B70F1E}"/>
            </c:ext>
          </c:extLst>
        </c:ser>
        <c:ser>
          <c:idx val="1"/>
          <c:order val="1"/>
          <c:tx>
            <c:strRef>
              <c:f>Sheet1!$B$24</c:f>
              <c:strCache>
                <c:ptCount val="1"/>
                <c:pt idx="0">
                  <c:v>Samples of 1,000</c:v>
                </c:pt>
              </c:strCache>
            </c:strRef>
          </c:tx>
          <c:spPr>
            <a:ln w="38100">
              <a:solidFill>
                <a:srgbClr val="1F394D"/>
              </a:solidFill>
            </a:ln>
          </c:spPr>
          <c:marker>
            <c:symbol val="none"/>
          </c:marker>
          <c:xVal>
            <c:numRef>
              <c:f>Sheet1!$A$25:$A$45</c:f>
              <c:numCache>
                <c:formatCode>General</c:formatCode>
                <c:ptCount val="21"/>
                <c:pt idx="0">
                  <c:v>0.2525</c:v>
                </c:pt>
                <c:pt idx="1">
                  <c:v>0.27250000000000002</c:v>
                </c:pt>
                <c:pt idx="2">
                  <c:v>0.29249999999999998</c:v>
                </c:pt>
                <c:pt idx="3">
                  <c:v>0.3125</c:v>
                </c:pt>
                <c:pt idx="4">
                  <c:v>0.33250000000000002</c:v>
                </c:pt>
                <c:pt idx="5">
                  <c:v>0.35249999999999998</c:v>
                </c:pt>
                <c:pt idx="6">
                  <c:v>0.3725</c:v>
                </c:pt>
                <c:pt idx="7">
                  <c:v>0.39250000000000002</c:v>
                </c:pt>
                <c:pt idx="8">
                  <c:v>0.41249999999999998</c:v>
                </c:pt>
                <c:pt idx="9">
                  <c:v>0.4325</c:v>
                </c:pt>
                <c:pt idx="10">
                  <c:v>0.45250000000000001</c:v>
                </c:pt>
                <c:pt idx="11">
                  <c:v>0.47249999999999998</c:v>
                </c:pt>
                <c:pt idx="12">
                  <c:v>0.49249999999999999</c:v>
                </c:pt>
                <c:pt idx="13">
                  <c:v>0.51249999999999996</c:v>
                </c:pt>
                <c:pt idx="14">
                  <c:v>0.53249999999999997</c:v>
                </c:pt>
                <c:pt idx="15">
                  <c:v>0.55249999999999999</c:v>
                </c:pt>
                <c:pt idx="16">
                  <c:v>0.57250000000000001</c:v>
                </c:pt>
                <c:pt idx="17">
                  <c:v>0.59250000000000003</c:v>
                </c:pt>
                <c:pt idx="18">
                  <c:v>0.61250000000000004</c:v>
                </c:pt>
                <c:pt idx="19">
                  <c:v>0.63249999999999995</c:v>
                </c:pt>
                <c:pt idx="20">
                  <c:v>0.65249999999999997</c:v>
                </c:pt>
              </c:numCache>
            </c:numRef>
          </c:xVal>
          <c:yVal>
            <c:numRef>
              <c:f>Sheet1!$B$25:$B$45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12</c:v>
                </c:pt>
                <c:pt idx="8">
                  <c:v>387</c:v>
                </c:pt>
                <c:pt idx="9">
                  <c:v>2710</c:v>
                </c:pt>
                <c:pt idx="10">
                  <c:v>4732</c:v>
                </c:pt>
                <c:pt idx="11">
                  <c:v>1972</c:v>
                </c:pt>
                <c:pt idx="12">
                  <c:v>180</c:v>
                </c:pt>
                <c:pt idx="13">
                  <c:v>7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353-4551-9DD6-B9A829B70F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0.65"/>
          <c:min val="0.25"/>
        </c:scaling>
        <c:delete val="0"/>
        <c:axPos val="b"/>
        <c:title>
          <c:tx>
            <c:rich>
              <a:bodyPr/>
              <a:lstStyle/>
              <a:p>
                <a:r>
                  <a:rPr lang="en-GB" sz="1300" b="0">
                    <a:solidFill>
                      <a:srgbClr val="55606B"/>
                    </a:solidFill>
                  </a:rPr>
                  <a:t>Estimated share who trust (one estimate per sample)</a:t>
                </a:r>
              </a:p>
            </c:rich>
          </c:tx>
          <c:overlay val="0"/>
        </c:title>
        <c:numFmt formatCode="0%" sourceLinked="0"/>
        <c:majorTickMark val="out"/>
        <c:minorTickMark val="none"/>
        <c:tickLblPos val="nextTo"/>
        <c:spPr>
          <a:ln>
            <a:solidFill>
              <a:srgbClr val="BBC4CC"/>
            </a:solidFill>
          </a:ln>
        </c:spPr>
        <c:txPr>
          <a:bodyPr/>
          <a:lstStyle/>
          <a:p>
            <a:pPr>
              <a:defRPr sz="1300">
                <a:solidFill>
                  <a:srgbClr val="55606B"/>
                </a:solidFill>
              </a:defRPr>
            </a:pPr>
            <a:endParaRPr lang="en-US"/>
          </a:p>
        </c:txPr>
        <c:crossAx val="-2129643912"/>
        <c:crosses val="autoZero"/>
        <c:crossBetween val="midCat"/>
        <c:majorUnit val="0.05"/>
      </c:valAx>
      <c:valAx>
        <c:axId val="-212964391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300">
          <a:solidFill>
            <a:srgbClr val="55606B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FBD195-041F-A9A0-1644-740C91990A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01E07-BD6F-76A0-E2F3-6F9E834A0E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203E3-7C81-41A5-A697-954FF252F964}" type="datetimeFigureOut">
              <a:rPr lang="en-GB" smtClean="0"/>
              <a:t>27/10/2026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BD701-2DB0-B4B2-C5BD-0490DCBA57E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1DA51-44A7-C88C-C39E-6DA6922B2A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050DA-C3C8-4D4F-9A52-26049FB52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1809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54BCB-1937-48CE-9F00-49B381FEB4E9}" type="datetimeFigureOut">
              <a:rPr lang="en-GB" smtClean="0"/>
              <a:t>27/10/2026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A333E-A95D-42FE-9CF0-D7FBE7CB0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4482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7504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9490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Synthetic example: a made-up population in which exactly 45% trust most people. We draw 20 random samples of 100 people and 20 of 1,000. Each dot is one sample's estimate. Small samples scatter widely (from 37% to 53%); large samples cluster near the true 45%. In real research we only ever get one dot: that is why we need to describe its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74D00-AF81-D808-5AB9-B9F967855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67DA4-C27E-21DF-F0AD-53420B8EDF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C60391-6DD2-6A4B-FDC7-15452A3471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Synthetic example: a made-up population in which exactly 45% trust most people. We draw 20 random samples of 100 people and 20 of 1,000. Each dot is one sample's estimate. Small samples scatter widely (from 37% to 53%); large samples cluster near the true 45%. In real research we only ever get one dot: that is why we need to describe its uncertainty.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8F9ED-1A00-45D9-6DBB-304060BA7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92195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9B2B3-880C-E94E-56B0-C13B9FC40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C6557-6A3E-717D-7604-4AE27C582F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808B3-A6A6-5FB8-F2F2-DF2E845B8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Synthetic example: a made-up population in which exactly 45% trust most people. We draw 20 random samples of 100 people and 20 of 1,000. Each dot is one sample's estimate. Small samples scatter widely (from 37% to 53%); large samples cluster near the true 45%. In real research we only ever get one dot: that is why we need to describe its uncertainty.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F65F5-E765-E305-ED44-160F71E85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84496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Synthetic example: 10,000 samples of each size from the same population. The estimates form a bell-shaped 'sampling distribution' centred on the true value. Its standard deviation is called the standard error. With 1,000 people it is about 1.6 points; with 100 people about 5 points. We can calculate it from a single sample with a formula, so we never need to draw 10,000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BSA 2010: 45.4% of 1,060. Standard error = sqrt(0.454 x 0.546 / 1,060) = 0.0153, i.e. 1.5 percentage points. A 95% confidence interval is roughly the estimate plus or minus 2 standard errors (1.96 to be exact): 42.4% to 48.4%. The same 45% from only 100 respondents would come with an interval nearly ten points either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Synthetic example: 50 samples of 200 people from a population where exactly 45% trust. Each line is one sample's 95% confidence interval. 47 of the 50 capture the true value; 3 (gold) miss it. Over many samples, 95% of intervals built this way contain the truth. For any single interval we can't know whether it is one of the hits or one of the misses: that's what 'confidence' refers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of hands.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Hypothetical example (the numbers are invented). An analyst claims 20% of Newcastle households are in poverty. Our random sample of 500 finds 23%. If the analyst were right, samples of 500 would vary around 20% with a standard error of 1.8 points. 23% is 1.68 standard errors above 20%. Results at least that far from 20% in either direction would turn up in about 9% of samples: p = 0.09. That's not unusual enough to reject the analyst's claim at the conventional 5% level. It does NOT prove the analyst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Corrected version of the earlier slide: the poverty example runs all the way through. The test is a 'proof by contradiction' in probability: assume the null, and ask whether the data would be surprising.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Corrected version of the earlier p-value slide, which mixed up the p-value with the 5% error rate. The p-value belongs to the data; the 5% significance level (alpha) is a rule we set in advance. If we always reject when p &lt; 0.05, then when the null is true we will wrongly reject it in 5% of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Model M3 from Worksheet 3, now with all the columns. SE: how much the coefficient would vary across samples. t = coefficient / SE. p: the probability of a t at least this far from 0 if the true slope were 0. 95% CI: roughly the coefficient plus or minus 2 SEs. Inequality: CI excludes 0, p &lt; .001. Homicides: CI includes 0, p = .48. The 23 countries are not a random sample from a population, so here 'inference' is about the process that generated the data rather than a survey population: worth a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Logistic regression from Week 4, now with 95% confidence intervals on the odds-ratio scale (JASP's default when you tick Confidence intervals). The reference line is 1 (no difference in odds). Female: the whole interval is below 1, so the data are not compatible with no difference. Age (per decade): the interval runs from 0.995 to 1.14, so it includes 1 and we can't rule out no association (p = .069).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Three real comparisons on 0-10 trust scales, each with its 95% CI. Community Life Survey: 16-24s vs 25+, a gap of 0.6 points, estimated very precisely from 50,000 people. ESS: women vs men, a gap of 0.27 points, statistically significant (p = .015) but small: about a tenth of a standard deviation. </a:t>
            </a:r>
            <a:r>
              <a:rPr dirty="0" err="1"/>
              <a:t>BSA</a:t>
            </a:r>
            <a:r>
              <a:rPr dirty="0"/>
              <a:t> 2024: 16-24s vs 25+, a gap of 0.16 points, NOT significant (p = .58) because only 78 young respondents: the interval runs from -0.71 to +0.40 and includes the CLS estimate. 'Not significant' means 'not enough evidence', not 'no difference'.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Model M3 (inequality and homicides). Show of hands.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output from Worksheet 5 for the Spirit Level model with inequality and homicides, with confidence intervals ticked. (1) Standard Error: the sampling variability of each estimate. (2) t is the estimate divided by its standard error. (3) p for inequality is &lt; .001; for homicides 0.483. (4) The 95% CI for inequality runs from −10.977 to −3.318 and excludes 0; the CI for homicides includes 0. (5) The ANOVA table tests the whole model against the null model: F = 8.35, p = 0.002. (6) The M₀ rows test whether mean trust is 0, which nobody wants to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Week 4 logistic regression with confidence intervals ticked. (1) z is the estimate divided by its standard error; JASP also gives the Wald statistic, which is z squared. (2) p for sex is &lt; .001; for age 0.069. (3) The intervals are on the odds-ratio scale, so the reference value is 1, not 0. (4) The Model Summary tests the model against the null model: ΔΧ² = 15.3, 2 df. (5) JASP rounds the lower bound for age to 1.000; it is 0.9995, just below 1, which matches p = 0.069 &gt; .05. (6) For sex the whole interval lies below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Model write-ups adapted from the Worksheet 5 solution, with the checklist that markers look for. Point students to the Interpretation Guide for more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Week 5 Interactive Explorer page (https://cgmoreh.github.io/SOC2069-QUANT-26/Materials/Explorers/explorer_w5.html) has interactive versions of ideas from this lecture. Students can scan the code or follow the link from the course site and try the three tasks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8103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GMoreh" TargetMode="External"/><Relationship Id="rId13" Type="http://schemas.openxmlformats.org/officeDocument/2006/relationships/image" Target="../media/image6.png"/><Relationship Id="rId3" Type="http://schemas.openxmlformats.org/officeDocument/2006/relationships/hyperlink" Target="https://www.ncl.ac.uk/gps/staff/profile/chrismoreh.html" TargetMode="External"/><Relationship Id="rId7" Type="http://schemas.openxmlformats.org/officeDocument/2006/relationships/hyperlink" Target="https://www.chrismoreh.com/" TargetMode="External"/><Relationship Id="rId12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chris.moreh@ncl.ac.uk" TargetMode="External"/><Relationship Id="rId11" Type="http://schemas.openxmlformats.org/officeDocument/2006/relationships/image" Target="../media/image4.png"/><Relationship Id="rId5" Type="http://schemas.openxmlformats.org/officeDocument/2006/relationships/image" Target="../media/image3.svg"/><Relationship Id="rId15" Type="http://schemas.openxmlformats.org/officeDocument/2006/relationships/image" Target="../media/image8.png"/><Relationship Id="rId10" Type="http://schemas.openxmlformats.org/officeDocument/2006/relationships/hyperlink" Target="https://www.linkedin.com/in/cgm-phd/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twitter.com/cgmoreh" TargetMode="External"/><Relationship Id="rId1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svg"/><Relationship Id="rId18" Type="http://schemas.openxmlformats.org/officeDocument/2006/relationships/image" Target="../media/image26.svg"/><Relationship Id="rId3" Type="http://schemas.openxmlformats.org/officeDocument/2006/relationships/image" Target="../media/image11.svg"/><Relationship Id="rId21" Type="http://schemas.openxmlformats.org/officeDocument/2006/relationships/image" Target="../media/image29.svg"/><Relationship Id="rId7" Type="http://schemas.openxmlformats.org/officeDocument/2006/relationships/image" Target="../media/image15.svg"/><Relationship Id="rId12" Type="http://schemas.openxmlformats.org/officeDocument/2006/relationships/image" Target="../media/image20.svg"/><Relationship Id="rId17" Type="http://schemas.openxmlformats.org/officeDocument/2006/relationships/image" Target="../media/image25.svg"/><Relationship Id="rId2" Type="http://schemas.openxmlformats.org/officeDocument/2006/relationships/image" Target="../media/image10.svg"/><Relationship Id="rId16" Type="http://schemas.openxmlformats.org/officeDocument/2006/relationships/image" Target="../media/image24.svg"/><Relationship Id="rId20" Type="http://schemas.openxmlformats.org/officeDocument/2006/relationships/image" Target="../media/image2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svg"/><Relationship Id="rId10" Type="http://schemas.openxmlformats.org/officeDocument/2006/relationships/image" Target="../media/image18.svg"/><Relationship Id="rId19" Type="http://schemas.openxmlformats.org/officeDocument/2006/relationships/image" Target="../media/image27.svg"/><Relationship Id="rId4" Type="http://schemas.openxmlformats.org/officeDocument/2006/relationships/image" Target="../media/image12.svg"/><Relationship Id="rId9" Type="http://schemas.openxmlformats.org/officeDocument/2006/relationships/image" Target="../media/image17.svg"/><Relationship Id="rId14" Type="http://schemas.openxmlformats.org/officeDocument/2006/relationships/image" Target="../media/image2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6.svg"/><Relationship Id="rId7" Type="http://schemas.openxmlformats.org/officeDocument/2006/relationships/image" Target="../media/image18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11" Type="http://schemas.openxmlformats.org/officeDocument/2006/relationships/image" Target="../media/image11.svg"/><Relationship Id="rId5" Type="http://schemas.openxmlformats.org/officeDocument/2006/relationships/image" Target="../media/image17.svg"/><Relationship Id="rId10" Type="http://schemas.openxmlformats.org/officeDocument/2006/relationships/image" Target="../media/image15.svg"/><Relationship Id="rId4" Type="http://schemas.openxmlformats.org/officeDocument/2006/relationships/image" Target="../media/image12.svg"/><Relationship Id="rId9" Type="http://schemas.openxmlformats.org/officeDocument/2006/relationships/image" Target="../media/image19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hrismoreh.com/" TargetMode="External"/><Relationship Id="rId13" Type="http://schemas.openxmlformats.org/officeDocument/2006/relationships/image" Target="../media/image5.png"/><Relationship Id="rId3" Type="http://schemas.openxmlformats.org/officeDocument/2006/relationships/image" Target="../media/image30.png"/><Relationship Id="rId7" Type="http://schemas.openxmlformats.org/officeDocument/2006/relationships/hyperlink" Target="mailto:chris.moreh@ncl.ac.uk" TargetMode="External"/><Relationship Id="rId12" Type="http://schemas.openxmlformats.org/officeDocument/2006/relationships/image" Target="../media/image4.png"/><Relationship Id="rId17" Type="http://schemas.openxmlformats.org/officeDocument/2006/relationships/image" Target="../media/image32.png"/><Relationship Id="rId2" Type="http://schemas.openxmlformats.org/officeDocument/2006/relationships/image" Target="../media/image2.png"/><Relationship Id="rId16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11" Type="http://schemas.openxmlformats.org/officeDocument/2006/relationships/hyperlink" Target="https://www.linkedin.com/in/cgm-phd/" TargetMode="External"/><Relationship Id="rId5" Type="http://schemas.openxmlformats.org/officeDocument/2006/relationships/image" Target="../media/image31.svg"/><Relationship Id="rId15" Type="http://schemas.openxmlformats.org/officeDocument/2006/relationships/image" Target="../media/image7.png"/><Relationship Id="rId10" Type="http://schemas.openxmlformats.org/officeDocument/2006/relationships/hyperlink" Target="https://twitter.com/cgmoreh" TargetMode="External"/><Relationship Id="rId4" Type="http://schemas.microsoft.com/office/2007/relationships/hdphoto" Target="../media/hdphoto1.wdp"/><Relationship Id="rId9" Type="http://schemas.openxmlformats.org/officeDocument/2006/relationships/hyperlink" Target="https://github.com/CGMoreh" TargetMode="External"/><Relationship Id="rId1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80000"/>
            <a:lum/>
          </a:blip>
          <a:srcRect/>
          <a:stretch>
            <a:fillRect l="2000" r="2000" b="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2D0E9-173E-41C0-9D0C-BFCCF1B26BF3}" type="datetime3">
              <a:rPr lang="en-US" smtClean="0"/>
              <a:t>27 October 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598116"/>
            <a:ext cx="987552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64B1F7A-19A6-1CF3-BEAB-784AD8D53EB1}"/>
              </a:ext>
            </a:extLst>
          </p:cNvPr>
          <p:cNvSpPr txBox="1"/>
          <p:nvPr userDrawn="1"/>
        </p:nvSpPr>
        <p:spPr>
          <a:xfrm>
            <a:off x="1076962" y="4981037"/>
            <a:ext cx="329862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hlinkClick r:id="rId3"/>
              </a:rPr>
              <a:t>Dr Chris Moreh</a:t>
            </a:r>
            <a:endParaRPr lang="en-GB" sz="2400" b="1" dirty="0"/>
          </a:p>
          <a:p>
            <a:pPr algn="ctr"/>
            <a:r>
              <a:rPr lang="en-GB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Lecturer (Assistant Professor) in Sociology</a:t>
            </a:r>
          </a:p>
          <a:p>
            <a:pPr algn="ctr"/>
            <a:r>
              <a:rPr lang="en-GB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Newcastle University (UK)</a:t>
            </a:r>
          </a:p>
        </p:txBody>
      </p:sp>
      <p:pic>
        <p:nvPicPr>
          <p:cNvPr id="17" name="Picture 12" descr="Partners; Sustaining Creative Economies ...">
            <a:extLst>
              <a:ext uri="{FF2B5EF4-FFF2-40B4-BE49-F238E27FC236}">
                <a16:creationId xmlns:a16="http://schemas.microsoft.com/office/drawing/2014/main" id="{5E3F19EF-7B80-6D97-E3A7-968224B762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8455" y="5559906"/>
            <a:ext cx="879898" cy="492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47E78DF-0172-CCB2-A101-66933B0971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5271" y="4969095"/>
            <a:ext cx="2466369" cy="8119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366C7AD-815A-A77E-DFE5-343F532EBF9A}"/>
              </a:ext>
            </a:extLst>
          </p:cNvPr>
          <p:cNvSpPr txBox="1"/>
          <p:nvPr userDrawn="1"/>
        </p:nvSpPr>
        <p:spPr>
          <a:xfrm>
            <a:off x="5214979" y="4804497"/>
            <a:ext cx="25825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6"/>
              </a:rPr>
              <a:t>chris.moreh@ncl.ac.uk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  <a:hlinkClick r:id="rId7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7"/>
              </a:rPr>
              <a:t>chrismoreh.com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8"/>
              </a:rPr>
              <a:t>/CGMoreh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9"/>
              </a:rPr>
              <a:t>@CGMoreh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0"/>
              </a:rPr>
              <a:t>Chris 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49FC35-C474-B9EE-00BD-BC74BCEB8E9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 flipH="1">
            <a:off x="5230888" y="5140634"/>
            <a:ext cx="174474" cy="18000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F9EC77A0-6416-6CCB-C929-DDC0F09623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359" y="5607125"/>
            <a:ext cx="238421" cy="23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>
            <a:extLst>
              <a:ext uri="{FF2B5EF4-FFF2-40B4-BE49-F238E27FC236}">
                <a16:creationId xmlns:a16="http://schemas.microsoft.com/office/drawing/2014/main" id="{F971661E-6DFA-370A-89DD-D2BC0DED9D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362" y="5875809"/>
            <a:ext cx="19125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6">
            <a:extLst>
              <a:ext uri="{FF2B5EF4-FFF2-40B4-BE49-F238E27FC236}">
                <a16:creationId xmlns:a16="http://schemas.microsoft.com/office/drawing/2014/main" id="{210423AF-0922-B2C9-F283-0DAD228B18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877" y="5353572"/>
            <a:ext cx="238421" cy="23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Email Icon Clip Art , Royalty PNG Transparent Background, Free Download  #130 - FreeIconsPNG">
            <a:extLst>
              <a:ext uri="{FF2B5EF4-FFF2-40B4-BE49-F238E27FC236}">
                <a16:creationId xmlns:a16="http://schemas.microsoft.com/office/drawing/2014/main" id="{A29CD3B3-0963-AF7B-DAAC-629686F339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888" y="4898445"/>
            <a:ext cx="17640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3352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E3F75-4629-998C-D4E2-8B503E840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746" y="286604"/>
            <a:ext cx="9578516" cy="911576"/>
          </a:xfrm>
        </p:spPr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160149-4935-39AC-F9A6-3A67DF92E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2826-B67C-4F7A-B125-1998A9078BC3}" type="datetime3">
              <a:rPr lang="en-US" smtClean="0"/>
              <a:t>27 October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F1058-E5AB-75EB-3440-399DB9E1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AAE89-1CB8-B1D2-4FC2-01A5F935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A black background with text and colorful dots&#10;&#10;Description automatically generated">
            <a:extLst>
              <a:ext uri="{FF2B5EF4-FFF2-40B4-BE49-F238E27FC236}">
                <a16:creationId xmlns:a16="http://schemas.microsoft.com/office/drawing/2014/main" id="{064384DD-349E-96E1-9F2A-86B3CB91ED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261" y="286604"/>
            <a:ext cx="1640837" cy="91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277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745" y="286604"/>
            <a:ext cx="9448800" cy="911576"/>
          </a:xfrm>
        </p:spPr>
        <p:txBody>
          <a:bodyPr/>
          <a:lstStyle>
            <a:lvl1pPr marL="0"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C5B692E6-9897-4277-9118-4222602D0EFA}" type="datetime3">
              <a:rPr lang="en-US" smtClean="0"/>
              <a:t>27 October 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A black background with text and colorful dots&#10;&#10;Description automatically generated">
            <a:extLst>
              <a:ext uri="{FF2B5EF4-FFF2-40B4-BE49-F238E27FC236}">
                <a16:creationId xmlns:a16="http://schemas.microsoft.com/office/drawing/2014/main" id="{77856388-EE09-056A-2FE4-8DA8669CE6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261" y="286604"/>
            <a:ext cx="1640837" cy="91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251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6E00-E271-4660-86A8-FFAB6AA0B697}" type="datetime3">
              <a:rPr lang="en-US" smtClean="0"/>
              <a:t>27 October 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691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240283F-FE4B-4C6C-94F0-A8E75166B284}" type="datetime3">
              <a:rPr lang="en-US" smtClean="0"/>
              <a:t>27 October 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Logistic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753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 dpi="0" rotWithShape="1">
          <a:blip r:embed="rId2">
            <a:lum/>
          </a:blip>
          <a:srcRect/>
          <a:stretch>
            <a:fillRect l="-1000" r="-1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539630" y="1128947"/>
            <a:ext cx="6468395" cy="31162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4452" y="1340856"/>
            <a:ext cx="6218753" cy="1475916"/>
          </a:xfrm>
        </p:spPr>
        <p:txBody>
          <a:bodyPr lIns="91440" tIns="0" rIns="91440" bIns="0" anchor="b">
            <a:noAutofit/>
          </a:bodyPr>
          <a:lstStyle>
            <a:lvl1pPr>
              <a:defRPr sz="5400" b="1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4452" y="3094377"/>
            <a:ext cx="6218753" cy="972284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32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070D0-C279-483A-BEA1-B506F338A3A6}" type="datetime3">
              <a:rPr lang="en-US" smtClean="0"/>
              <a:t>27 October 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317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3A096-76A2-437B-8225-A90CE2FC85D9}" type="datetime3">
              <a:rPr lang="en-US" smtClean="0"/>
              <a:t>27 October 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362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A4D5-9EA8-41C0-B518-42B9F35892D8}" type="datetime3">
              <a:rPr lang="en-US" smtClean="0"/>
              <a:t>27 October 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557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891EF-8FAA-41A7-94E7-A8C0B31E1AB1}" type="datetime3">
              <a:rPr lang="en-US" smtClean="0"/>
              <a:t>27 October 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176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6112-DBC4-4041-9B16-62EEC6F9EBFD}" type="datetime3">
              <a:rPr lang="en-US" smtClean="0"/>
              <a:t>27 October 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Logistic regression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464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E28854-50C7-416D-09D3-A8563C853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BB777-8368-44A8-8361-DAFD39A82D81}" type="datetime3">
              <a:rPr lang="en-US" smtClean="0"/>
              <a:t>27 October 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43B67-CE49-0A0C-7F9C-757FF38AD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70A5F-B5E2-79CD-FCA0-21992A61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04975CB-2B2F-AABC-1BEA-AC019045F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745" y="286604"/>
            <a:ext cx="10398935" cy="911576"/>
          </a:xfrm>
        </p:spPr>
        <p:txBody>
          <a:bodyPr/>
          <a:lstStyle>
            <a:lvl1pPr>
              <a:defRPr/>
            </a:lvl1pPr>
          </a:lstStyle>
          <a:p>
            <a:r>
              <a:rPr lang="en-GB" b="1" dirty="0"/>
              <a:t>Numbered bullets</a:t>
            </a:r>
          </a:p>
        </p:txBody>
      </p:sp>
      <p:pic>
        <p:nvPicPr>
          <p:cNvPr id="7" name="Graphic 6" descr="Badge 1 with solid fill">
            <a:extLst>
              <a:ext uri="{FF2B5EF4-FFF2-40B4-BE49-F238E27FC236}">
                <a16:creationId xmlns:a16="http://schemas.microsoft.com/office/drawing/2014/main" id="{EEDCACCF-0446-119C-CB06-6CC1142E7E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9836" y="1872658"/>
            <a:ext cx="468000" cy="468000"/>
          </a:xfrm>
          <a:prstGeom prst="rect">
            <a:avLst/>
          </a:prstGeom>
        </p:spPr>
      </p:pic>
      <p:pic>
        <p:nvPicPr>
          <p:cNvPr id="8" name="Graphic 7" descr="Badge 10 with solid fill">
            <a:extLst>
              <a:ext uri="{FF2B5EF4-FFF2-40B4-BE49-F238E27FC236}">
                <a16:creationId xmlns:a16="http://schemas.microsoft.com/office/drawing/2014/main" id="{7F8BE7BD-9E19-44BB-2FE3-12ED9FDF94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8331" y="1876667"/>
            <a:ext cx="468000" cy="468000"/>
          </a:xfrm>
          <a:prstGeom prst="rect">
            <a:avLst/>
          </a:prstGeom>
        </p:spPr>
      </p:pic>
      <p:pic>
        <p:nvPicPr>
          <p:cNvPr id="9" name="Graphic 8" descr="Badge with solid fill">
            <a:extLst>
              <a:ext uri="{FF2B5EF4-FFF2-40B4-BE49-F238E27FC236}">
                <a16:creationId xmlns:a16="http://schemas.microsoft.com/office/drawing/2014/main" id="{F9F887CA-CB36-8ED8-6315-DC7D01B490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0601" y="1878489"/>
            <a:ext cx="468000" cy="468000"/>
          </a:xfrm>
          <a:prstGeom prst="rect">
            <a:avLst/>
          </a:prstGeom>
        </p:spPr>
      </p:pic>
      <p:pic>
        <p:nvPicPr>
          <p:cNvPr id="10" name="Graphic 9" descr="Badge 3 with solid fill">
            <a:extLst>
              <a:ext uri="{FF2B5EF4-FFF2-40B4-BE49-F238E27FC236}">
                <a16:creationId xmlns:a16="http://schemas.microsoft.com/office/drawing/2014/main" id="{825A6F75-9C1C-A95D-D6DA-109E9EBA52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37342" y="1872658"/>
            <a:ext cx="468000" cy="468000"/>
          </a:xfrm>
          <a:prstGeom prst="rect">
            <a:avLst/>
          </a:prstGeom>
        </p:spPr>
      </p:pic>
      <p:pic>
        <p:nvPicPr>
          <p:cNvPr id="11" name="Graphic 10" descr="Badge 4 with solid fill">
            <a:extLst>
              <a:ext uri="{FF2B5EF4-FFF2-40B4-BE49-F238E27FC236}">
                <a16:creationId xmlns:a16="http://schemas.microsoft.com/office/drawing/2014/main" id="{60351B4A-6BB3-B9DA-023E-187EE4E163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4542" y="1881516"/>
            <a:ext cx="468000" cy="468000"/>
          </a:xfrm>
          <a:prstGeom prst="rect">
            <a:avLst/>
          </a:prstGeom>
        </p:spPr>
      </p:pic>
      <p:pic>
        <p:nvPicPr>
          <p:cNvPr id="12" name="Graphic 11" descr="Badge 5 with solid fill">
            <a:extLst>
              <a:ext uri="{FF2B5EF4-FFF2-40B4-BE49-F238E27FC236}">
                <a16:creationId xmlns:a16="http://schemas.microsoft.com/office/drawing/2014/main" id="{1A300893-C177-035B-A219-FC6049E2DC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50483" y="1880076"/>
            <a:ext cx="468000" cy="468000"/>
          </a:xfrm>
          <a:prstGeom prst="rect">
            <a:avLst/>
          </a:prstGeom>
        </p:spPr>
      </p:pic>
      <p:pic>
        <p:nvPicPr>
          <p:cNvPr id="13" name="Graphic 12" descr="Badge 6 with solid fill">
            <a:extLst>
              <a:ext uri="{FF2B5EF4-FFF2-40B4-BE49-F238E27FC236}">
                <a16:creationId xmlns:a16="http://schemas.microsoft.com/office/drawing/2014/main" id="{063091E7-A963-EF50-B2F2-C6CCFD335C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21248" y="1882631"/>
            <a:ext cx="468000" cy="468000"/>
          </a:xfrm>
          <a:prstGeom prst="rect">
            <a:avLst/>
          </a:prstGeom>
        </p:spPr>
      </p:pic>
      <p:pic>
        <p:nvPicPr>
          <p:cNvPr id="14" name="Graphic 13" descr="Badge 7 with solid fill">
            <a:extLst>
              <a:ext uri="{FF2B5EF4-FFF2-40B4-BE49-F238E27FC236}">
                <a16:creationId xmlns:a16="http://schemas.microsoft.com/office/drawing/2014/main" id="{7412FF20-691E-38CC-D8B3-456AF73DB5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63624" y="1884307"/>
            <a:ext cx="468000" cy="468000"/>
          </a:xfrm>
          <a:prstGeom prst="rect">
            <a:avLst/>
          </a:prstGeom>
        </p:spPr>
      </p:pic>
      <p:pic>
        <p:nvPicPr>
          <p:cNvPr id="15" name="Graphic 14" descr="Badge 8 with solid fill">
            <a:extLst>
              <a:ext uri="{FF2B5EF4-FFF2-40B4-BE49-F238E27FC236}">
                <a16:creationId xmlns:a16="http://schemas.microsoft.com/office/drawing/2014/main" id="{F71DD924-767F-6F93-1AF3-D96571DEC0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06000" y="1883485"/>
            <a:ext cx="468000" cy="468000"/>
          </a:xfrm>
          <a:prstGeom prst="rect">
            <a:avLst/>
          </a:prstGeom>
        </p:spPr>
      </p:pic>
      <p:pic>
        <p:nvPicPr>
          <p:cNvPr id="16" name="Graphic 15" descr="Badge 9 with solid fill">
            <a:extLst>
              <a:ext uri="{FF2B5EF4-FFF2-40B4-BE49-F238E27FC236}">
                <a16:creationId xmlns:a16="http://schemas.microsoft.com/office/drawing/2014/main" id="{05746AA2-07AD-BB3D-8AC7-7E01AE9FFD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64706" y="1880076"/>
            <a:ext cx="468000" cy="468000"/>
          </a:xfrm>
          <a:prstGeom prst="rect">
            <a:avLst/>
          </a:prstGeom>
        </p:spPr>
      </p:pic>
      <p:pic>
        <p:nvPicPr>
          <p:cNvPr id="28" name="Graphic 27" descr="Badge 1 outline">
            <a:extLst>
              <a:ext uri="{FF2B5EF4-FFF2-40B4-BE49-F238E27FC236}">
                <a16:creationId xmlns:a16="http://schemas.microsoft.com/office/drawing/2014/main" id="{377A0617-1C4D-93A7-0816-74355CD274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0935" y="2382047"/>
            <a:ext cx="914400" cy="914400"/>
          </a:xfrm>
          <a:prstGeom prst="rect">
            <a:avLst/>
          </a:prstGeom>
        </p:spPr>
      </p:pic>
      <p:pic>
        <p:nvPicPr>
          <p:cNvPr id="32" name="Graphic 31" descr="Badge outline">
            <a:extLst>
              <a:ext uri="{FF2B5EF4-FFF2-40B4-BE49-F238E27FC236}">
                <a16:creationId xmlns:a16="http://schemas.microsoft.com/office/drawing/2014/main" id="{328E83A1-A5CF-14CE-994B-9FC912A453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17798" y="2368814"/>
            <a:ext cx="914400" cy="914400"/>
          </a:xfrm>
          <a:prstGeom prst="rect">
            <a:avLst/>
          </a:prstGeom>
        </p:spPr>
      </p:pic>
      <p:pic>
        <p:nvPicPr>
          <p:cNvPr id="34" name="Graphic 33" descr="Badge 3 outline">
            <a:extLst>
              <a:ext uri="{FF2B5EF4-FFF2-40B4-BE49-F238E27FC236}">
                <a16:creationId xmlns:a16="http://schemas.microsoft.com/office/drawing/2014/main" id="{B8DB6A5A-BA59-B575-8EAE-1F62375C48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22942" y="2360054"/>
            <a:ext cx="914400" cy="914400"/>
          </a:xfrm>
          <a:prstGeom prst="rect">
            <a:avLst/>
          </a:prstGeom>
        </p:spPr>
      </p:pic>
      <p:pic>
        <p:nvPicPr>
          <p:cNvPr id="36" name="Graphic 35" descr="Badge 4 outline">
            <a:extLst>
              <a:ext uri="{FF2B5EF4-FFF2-40B4-BE49-F238E27FC236}">
                <a16:creationId xmlns:a16="http://schemas.microsoft.com/office/drawing/2014/main" id="{7D7894F2-405D-D537-E8CD-FFC2FD562C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53533" y="2382047"/>
            <a:ext cx="914400" cy="914400"/>
          </a:xfrm>
          <a:prstGeom prst="rect">
            <a:avLst/>
          </a:prstGeom>
        </p:spPr>
      </p:pic>
      <p:pic>
        <p:nvPicPr>
          <p:cNvPr id="38" name="Graphic 37" descr="Badge 5 outline">
            <a:extLst>
              <a:ext uri="{FF2B5EF4-FFF2-40B4-BE49-F238E27FC236}">
                <a16:creationId xmlns:a16="http://schemas.microsoft.com/office/drawing/2014/main" id="{CCB95B5E-BCD4-CD6A-8DA0-49EF454DFC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70396" y="2382047"/>
            <a:ext cx="914400" cy="914400"/>
          </a:xfrm>
          <a:prstGeom prst="rect">
            <a:avLst/>
          </a:prstGeom>
        </p:spPr>
      </p:pic>
      <p:pic>
        <p:nvPicPr>
          <p:cNvPr id="40" name="Graphic 39" descr="Badge 6 outline">
            <a:extLst>
              <a:ext uri="{FF2B5EF4-FFF2-40B4-BE49-F238E27FC236}">
                <a16:creationId xmlns:a16="http://schemas.microsoft.com/office/drawing/2014/main" id="{B2E42FE5-E882-BB0B-DF27-634BED68E1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87259" y="2360054"/>
            <a:ext cx="914400" cy="914400"/>
          </a:xfrm>
          <a:prstGeom prst="rect">
            <a:avLst/>
          </a:prstGeom>
        </p:spPr>
      </p:pic>
      <p:pic>
        <p:nvPicPr>
          <p:cNvPr id="42" name="Graphic 41" descr="Badge 7 outline">
            <a:extLst>
              <a:ext uri="{FF2B5EF4-FFF2-40B4-BE49-F238E27FC236}">
                <a16:creationId xmlns:a16="http://schemas.microsoft.com/office/drawing/2014/main" id="{4F474E09-0F6B-A545-A2FB-528D834201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104122" y="2382047"/>
            <a:ext cx="914400" cy="914400"/>
          </a:xfrm>
          <a:prstGeom prst="rect">
            <a:avLst/>
          </a:prstGeom>
        </p:spPr>
      </p:pic>
      <p:pic>
        <p:nvPicPr>
          <p:cNvPr id="44" name="Graphic 43" descr="Badge 8 outline">
            <a:extLst>
              <a:ext uri="{FF2B5EF4-FFF2-40B4-BE49-F238E27FC236}">
                <a16:creationId xmlns:a16="http://schemas.microsoft.com/office/drawing/2014/main" id="{E3982124-D3D3-AC60-CDFE-68CC967AC2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80662" y="2368814"/>
            <a:ext cx="914400" cy="914400"/>
          </a:xfrm>
          <a:prstGeom prst="rect">
            <a:avLst/>
          </a:prstGeom>
        </p:spPr>
      </p:pic>
      <p:pic>
        <p:nvPicPr>
          <p:cNvPr id="46" name="Graphic 45" descr="Badge 9 outline">
            <a:extLst>
              <a:ext uri="{FF2B5EF4-FFF2-40B4-BE49-F238E27FC236}">
                <a16:creationId xmlns:a16="http://schemas.microsoft.com/office/drawing/2014/main" id="{D98F73D0-5CF6-543B-2C7E-39B53C8361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86300" y="2368814"/>
            <a:ext cx="914400" cy="914400"/>
          </a:xfrm>
          <a:prstGeom prst="rect">
            <a:avLst/>
          </a:prstGeom>
        </p:spPr>
      </p:pic>
      <p:pic>
        <p:nvPicPr>
          <p:cNvPr id="48" name="Graphic 47" descr="Badge 10 outline">
            <a:extLst>
              <a:ext uri="{FF2B5EF4-FFF2-40B4-BE49-F238E27FC236}">
                <a16:creationId xmlns:a16="http://schemas.microsoft.com/office/drawing/2014/main" id="{9596ECA7-08AD-60AD-126A-2D32F85555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74065" y="23630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45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3FB93-0A54-F0A3-44FD-9D6D98D41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283" y="606093"/>
            <a:ext cx="9876849" cy="911576"/>
          </a:xfrm>
        </p:spPr>
        <p:txBody>
          <a:bodyPr>
            <a:noAutofit/>
          </a:bodyPr>
          <a:lstStyle>
            <a:lvl1pPr algn="ctr">
              <a:defRPr sz="7200" b="1">
                <a:latin typeface="+mn-lt"/>
              </a:defRPr>
            </a:lvl1pPr>
          </a:lstStyle>
          <a:p>
            <a:r>
              <a:rPr lang="en-GB" dirty="0"/>
              <a:t>Add Outline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D10C5-6787-77AE-977F-D7E7083D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57CA2-243F-4A3D-83CC-ACEBD9D33988}" type="datetime3">
              <a:rPr lang="en-US" smtClean="0"/>
              <a:t>27 October 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36E4D-BDDF-D97C-2EC6-0E974709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1CEC6-7F83-2BE7-95A9-5DF472D2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49E6D0-17C2-32B5-650D-F84097C07BF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952401"/>
              </p:ext>
            </p:extLst>
          </p:nvPr>
        </p:nvGraphicFramePr>
        <p:xfrm>
          <a:off x="1335634" y="1993748"/>
          <a:ext cx="9626149" cy="257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547184884"/>
                    </a:ext>
                  </a:extLst>
                </a:gridCol>
                <a:gridCol w="9086149">
                  <a:extLst>
                    <a:ext uri="{9D8B030D-6E8A-4147-A177-3AD203B41FA5}">
                      <a16:colId xmlns:a16="http://schemas.microsoft.com/office/drawing/2014/main" val="425864904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2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200" dirty="0"/>
                        <a:t>one</a:t>
                      </a:r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083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58223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3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200" dirty="0"/>
                        <a:t>two</a:t>
                      </a:r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763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44012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200" dirty="0"/>
                        <a:t>three</a:t>
                      </a:r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06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2184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200" dirty="0"/>
                        <a:t>four</a:t>
                      </a:r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21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066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494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3FB93-0A54-F0A3-44FD-9D6D98D41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399" y="689938"/>
            <a:ext cx="10115202" cy="911576"/>
          </a:xfrm>
        </p:spPr>
        <p:txBody>
          <a:bodyPr>
            <a:noAutofit/>
          </a:bodyPr>
          <a:lstStyle>
            <a:lvl1pPr algn="ctr">
              <a:defRPr sz="7200" b="1">
                <a:latin typeface="+mn-lt"/>
              </a:defRPr>
            </a:lvl1pPr>
          </a:lstStyle>
          <a:p>
            <a:r>
              <a:rPr lang="en-GB" dirty="0"/>
              <a:t>Add Outline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D10C5-6787-77AE-977F-D7E7083D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A695E-9617-46A3-B2A4-B1515159ECCB}" type="datetime3">
              <a:rPr lang="en-US" smtClean="0"/>
              <a:t>27 October 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36E4D-BDDF-D97C-2EC6-0E974709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1CEC6-7F83-2BE7-95A9-5DF472D2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49E6D0-17C2-32B5-650D-F84097C07BF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96315249"/>
              </p:ext>
            </p:extLst>
          </p:nvPr>
        </p:nvGraphicFramePr>
        <p:xfrm>
          <a:off x="726954" y="1971714"/>
          <a:ext cx="10440000" cy="328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547184884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425864904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861192458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199644677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2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/>
                        <a:t>Edit in Master slide view</a:t>
                      </a:r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0">
                      <a:blip>
                        <a:extLst>
                          <a:ext uri="{96DAC541-7B7A-43D3-8B79-37D633B846F1}">
                            <asvg:svgBlip xmlns:asvg="http://schemas.microsoft.com/office/drawing/2016/SVG/main" r:embed="rId3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083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58223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763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44012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7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06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2184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8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9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21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06641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10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11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105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673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895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5C1E-58EC-4573-8DC8-5E090CCA932A}" type="datetime3">
              <a:rPr lang="en-US" smtClean="0"/>
              <a:t>27 October 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479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D92C9-5601-4E6C-A948-1EA561CFD697}" type="datetime3">
              <a:rPr lang="en-US" smtClean="0"/>
              <a:t>27 October 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267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2" descr="Partners; Sustaining Creative Economies ...">
            <a:extLst>
              <a:ext uri="{FF2B5EF4-FFF2-40B4-BE49-F238E27FC236}">
                <a16:creationId xmlns:a16="http://schemas.microsoft.com/office/drawing/2014/main" id="{C213A523-D735-8490-152A-23415FF254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8991" y="5440123"/>
            <a:ext cx="1342114" cy="75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39AE9B-1271-7638-B347-A5F464D2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84E39-C5F7-4614-B180-A2BACFF3BA24}" type="datetime3">
              <a:rPr lang="en-US" smtClean="0"/>
              <a:t>27 October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3BAF4-52A6-7AC7-8C6F-183586D9D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3AA3C-DFA6-2BE6-3BD0-0D6E6010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2A7E09F9-D2AF-737B-7EF3-D1714380AC3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944" b="94860" l="9780" r="89976">
                        <a14:foregroundMark x1="25672" y1="20093" x2="32152" y2="70327"/>
                        <a14:foregroundMark x1="32152" y1="70327" x2="79829" y2="87383"/>
                        <a14:foregroundMark x1="79829" y1="87383" x2="79095" y2="36682"/>
                        <a14:foregroundMark x1="79095" y1="36682" x2="64914" y2="14720"/>
                        <a14:foregroundMark x1="64914" y1="14720" x2="48533" y2="7944"/>
                        <a14:foregroundMark x1="48533" y1="7944" x2="30196" y2="13084"/>
                        <a14:foregroundMark x1="30196" y1="13084" x2="25306" y2="20561"/>
                        <a14:foregroundMark x1="21760" y1="39486" x2="25061" y2="78505"/>
                        <a14:foregroundMark x1="25061" y1="78505" x2="64670" y2="92056"/>
                        <a14:foregroundMark x1="64670" y1="92056" x2="78851" y2="91822"/>
                        <a14:foregroundMark x1="82641" y1="15187" x2="86675" y2="62850"/>
                        <a14:foregroundMark x1="86675" y1="62850" x2="80196" y2="94626"/>
                        <a14:foregroundMark x1="80196" y1="94626" x2="78117" y2="94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245" t="2011" r="13041"/>
          <a:stretch/>
        </p:blipFill>
        <p:spPr bwMode="auto">
          <a:xfrm>
            <a:off x="3480620" y="-23164"/>
            <a:ext cx="8635320" cy="6350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 descr="Advertising outline">
            <a:extLst>
              <a:ext uri="{FF2B5EF4-FFF2-40B4-BE49-F238E27FC236}">
                <a16:creationId xmlns:a16="http://schemas.microsoft.com/office/drawing/2014/main" id="{1EDC15B8-2173-9DC7-DB3B-645E07D840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71" y="208195"/>
            <a:ext cx="7304134" cy="675607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D1C29E7-0246-1CD7-8A1F-30707B7E18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4192" y="4729773"/>
            <a:ext cx="2851533" cy="9387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8C7C2A-22F2-9C49-D70E-5C8A22C35019}"/>
              </a:ext>
            </a:extLst>
          </p:cNvPr>
          <p:cNvSpPr txBox="1"/>
          <p:nvPr userDrawn="1"/>
        </p:nvSpPr>
        <p:spPr>
          <a:xfrm>
            <a:off x="2189351" y="4909434"/>
            <a:ext cx="25825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7"/>
              </a:rPr>
              <a:t>chris.moreh@ncl.ac.uk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  <a:hlinkClick r:id="rId8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8"/>
              </a:rPr>
              <a:t>chrismoreh.com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9"/>
              </a:rPr>
              <a:t>/CGMoreh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0"/>
              </a:rPr>
              <a:t>@CGMoreh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1"/>
              </a:rPr>
              <a:t>Chris 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D7CACF7-D679-73AB-9142-786DA076C3A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 flipH="1">
            <a:off x="2205260" y="5245571"/>
            <a:ext cx="174474" cy="180000"/>
          </a:xfrm>
          <a:prstGeom prst="rect">
            <a:avLst/>
          </a:prstGeom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F5D755EC-05C2-0884-2C2F-74A7297B70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731" y="5712062"/>
            <a:ext cx="238421" cy="23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>
            <a:extLst>
              <a:ext uri="{FF2B5EF4-FFF2-40B4-BE49-F238E27FC236}">
                <a16:creationId xmlns:a16="http://schemas.microsoft.com/office/drawing/2014/main" id="{40A42823-F60C-D577-74D9-FE8C3E3A62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734" y="5980746"/>
            <a:ext cx="19125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6">
            <a:extLst>
              <a:ext uri="{FF2B5EF4-FFF2-40B4-BE49-F238E27FC236}">
                <a16:creationId xmlns:a16="http://schemas.microsoft.com/office/drawing/2014/main" id="{ECDBB212-ABA5-CE0D-7F0C-C37D656E0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249" y="5458509"/>
            <a:ext cx="238421" cy="23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Email Icon Clip Art , Royalty PNG Transparent Background, Free Download  #130 - FreeIconsPNG">
            <a:extLst>
              <a:ext uri="{FF2B5EF4-FFF2-40B4-BE49-F238E27FC236}">
                <a16:creationId xmlns:a16="http://schemas.microsoft.com/office/drawing/2014/main" id="{9AD65224-3024-068D-2B15-9BC7659705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092" y="5003382"/>
            <a:ext cx="17640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63504B0-8CB3-256C-EF50-E93FEF75AC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/>
          <a:srcRect l="14262" t="5451" r="9231" b="22240"/>
          <a:stretch/>
        </p:blipFill>
        <p:spPr>
          <a:xfrm>
            <a:off x="851647" y="1470212"/>
            <a:ext cx="5629836" cy="267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24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ECC6-7BD6-D9D0-DD8F-30FCF10DE4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References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57D05-3B38-1245-894D-24581A24F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4250B-448A-4AED-B8B3-4BDFCDEB8EA3}" type="datetime3">
              <a:rPr lang="en-US" smtClean="0"/>
              <a:t>27 October 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C7BA36-6C3C-C811-3047-B251D5B25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89F523-D9FC-8E93-1712-1B6E3DE7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FD4878-448B-C559-6183-304914140D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7238" y="1431925"/>
            <a:ext cx="10455275" cy="46577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363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A8F960-150E-CFFE-3EB5-036D92AC41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F921059-ACFF-7915-A3D0-F9C1B13326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2734" y="3113785"/>
            <a:ext cx="6165348" cy="104878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marL="990575" indent="-990575" algn="l">
              <a:buFont typeface="+mj-lt"/>
              <a:buAutoNum type="arabicPeriod"/>
              <a:defRPr sz="5867">
                <a:solidFill>
                  <a:srgbClr val="496F2F"/>
                </a:solidFill>
              </a:defRPr>
            </a:lvl1pPr>
          </a:lstStyle>
          <a:p>
            <a:r>
              <a:rPr lang="en-US" dirty="0"/>
              <a:t>Section number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BE298-0C12-3E53-D830-52A766E96A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5782" y="4309859"/>
            <a:ext cx="6972300" cy="1727200"/>
          </a:xfrm>
        </p:spPr>
        <p:txBody>
          <a:bodyPr/>
          <a:lstStyle>
            <a:lvl1pPr marL="482588" indent="-245527">
              <a:buFont typeface="Arial" panose="020B0604020202020204" pitchFamily="34" charset="0"/>
              <a:buChar char="•"/>
              <a:defRPr sz="1867"/>
            </a:lvl1pPr>
            <a:lvl2pPr marL="457189" indent="0">
              <a:buNone/>
              <a:defRPr sz="1600"/>
            </a:lvl2pPr>
            <a:lvl3pPr marL="596885" indent="0">
              <a:buNone/>
              <a:defRPr sz="1467"/>
            </a:lvl3pPr>
            <a:lvl4pPr marL="842412" indent="0">
              <a:buNone/>
              <a:defRPr sz="1400"/>
            </a:lvl4pPr>
            <a:lvl5pPr marL="1071007" indent="0">
              <a:buNone/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34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6746" y="286604"/>
            <a:ext cx="9578516" cy="9115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745" y="1477880"/>
            <a:ext cx="10398935" cy="468118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DAA8515-A473-4602-A99A-4C7C8D13F189}" type="datetime3">
              <a:rPr lang="en-US" smtClean="0"/>
              <a:t>27 October 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024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3" r:id="rId4"/>
    <p:sldLayoutId id="2147483668" r:id="rId5"/>
    <p:sldLayoutId id="2147483669" r:id="rId6"/>
    <p:sldLayoutId id="2147483664" r:id="rId7"/>
    <p:sldLayoutId id="2147483665" r:id="rId8"/>
    <p:sldLayoutId id="2147483666" r:id="rId9"/>
    <p:sldLayoutId id="2147483667" r:id="rId10"/>
    <p:sldLayoutId id="2147483674" r:id="rId11"/>
    <p:sldLayoutId id="2147483676" r:id="rId12"/>
    <p:sldLayoutId id="2147483675" r:id="rId13"/>
    <p:sldLayoutId id="2147483670" r:id="rId14"/>
    <p:sldLayoutId id="2147483671" r:id="rId15"/>
    <p:sldLayoutId id="2147483673" r:id="rId16"/>
    <p:sldLayoutId id="2147483677" r:id="rId17"/>
    <p:sldLayoutId id="2147483678" r:id="rId18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 spc="-50" baseline="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120000"/>
        <a:buFont typeface="Arial Narrow" panose="020B0606020202030204" pitchFamily="34" charset="0"/>
        <a:buChar char="●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110000"/>
        <a:buFont typeface="Courier New" panose="02070309020205020404" pitchFamily="49" charset="0"/>
        <a:buChar char="o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749808" indent="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None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613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4060982-6EE3-A8F1-75FE-C4BDB2FF3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6000" b="1" dirty="0"/>
              <a:t>Week 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12B5B6-7C9E-9DE5-8D2C-13D42F1FB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64452" y="3094377"/>
            <a:ext cx="6369052" cy="972284"/>
          </a:xfrm>
        </p:spPr>
        <p:txBody>
          <a:bodyPr>
            <a:normAutofit/>
          </a:bodyPr>
          <a:lstStyle/>
          <a:p>
            <a:r>
              <a:rPr lang="en-GB" sz="3600" dirty="0"/>
              <a:t>Uncertainty and Inference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6383FB-FAD5-ACBF-8362-99A44C5B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4BC908-4805-889D-BE4F-455E3A449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Uncertainty and Inference</a:t>
            </a:r>
          </a:p>
        </p:txBody>
      </p:sp>
    </p:spTree>
    <p:extLst>
      <p:ext uri="{BB962C8B-B14F-4D97-AF65-F5344CB8AC3E}">
        <p14:creationId xmlns:p14="http://schemas.microsoft.com/office/powerpoint/2010/main" val="3814459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sp>
        <p:nvSpPr>
          <p:cNvPr id="6" name="Step 1"/>
          <p:cNvSpPr/>
          <p:nvPr/>
        </p:nvSpPr>
        <p:spPr>
          <a:xfrm>
            <a:off x="758952" y="1463040"/>
            <a:ext cx="2144268" cy="210312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1869948" cy="19202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 i="0">
                <a:solidFill>
                  <a:srgbClr val="1F394D"/>
                </a:solidFill>
              </a:rPr>
              <a:t>Samples vary</a:t>
            </a:r>
          </a:p>
          <a:p>
            <a:pPr algn="l"/>
            <a:r>
              <a:rPr sz="1700" b="0" i="0">
                <a:solidFill>
                  <a:srgbClr val="55606B"/>
                </a:solidFill>
              </a:rPr>
              <a:t>Why every estimate comes with uncertainty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12948" y="2350008"/>
            <a:ext cx="457200" cy="329184"/>
          </a:xfrm>
          <a:prstGeom prst="rightArrow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ep 2"/>
          <p:cNvSpPr/>
          <p:nvPr/>
        </p:nvSpPr>
        <p:spPr>
          <a:xfrm>
            <a:off x="3579876" y="1463040"/>
            <a:ext cx="2144268" cy="210312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17036" y="1554480"/>
            <a:ext cx="1869948" cy="19202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 i="0">
                <a:solidFill>
                  <a:srgbClr val="1F394D"/>
                </a:solidFill>
              </a:rPr>
              <a:t>Confidence intervals</a:t>
            </a:r>
          </a:p>
          <a:p>
            <a:pPr algn="l"/>
            <a:r>
              <a:rPr sz="1700" b="0" i="0">
                <a:solidFill>
                  <a:srgbClr val="55606B"/>
                </a:solidFill>
              </a:rPr>
              <a:t>A range of plausible population values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33872" y="2350008"/>
            <a:ext cx="457200" cy="329184"/>
          </a:xfrm>
          <a:prstGeom prst="rightArrow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ep 3"/>
          <p:cNvSpPr/>
          <p:nvPr/>
        </p:nvSpPr>
        <p:spPr>
          <a:xfrm>
            <a:off x="6400800" y="1463040"/>
            <a:ext cx="2144268" cy="210312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941365"/>
            <a:ext cx="1869948" cy="1146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 i="0" dirty="0">
                <a:solidFill>
                  <a:srgbClr val="1F394D"/>
                </a:solidFill>
              </a:rPr>
              <a:t>Hypothesis tests</a:t>
            </a:r>
          </a:p>
          <a:p>
            <a:pPr algn="l"/>
            <a:r>
              <a:rPr sz="1700" b="0" i="0" dirty="0">
                <a:solidFill>
                  <a:srgbClr val="55606B"/>
                </a:solidFill>
              </a:rPr>
              <a:t>Could </a:t>
            </a:r>
            <a:r>
              <a:rPr lang="en-GB" sz="1700" b="0" i="0" dirty="0">
                <a:solidFill>
                  <a:srgbClr val="55606B"/>
                </a:solidFill>
              </a:rPr>
              <a:t>your results</a:t>
            </a:r>
            <a:r>
              <a:rPr sz="1700" b="0" i="0" dirty="0">
                <a:solidFill>
                  <a:srgbClr val="55606B"/>
                </a:solidFill>
              </a:rPr>
              <a:t> be</a:t>
            </a:r>
            <a:r>
              <a:rPr lang="en-GB" sz="1700" b="0" i="0" dirty="0">
                <a:solidFill>
                  <a:srgbClr val="55606B"/>
                </a:solidFill>
              </a:rPr>
              <a:t> due purely to</a:t>
            </a:r>
            <a:r>
              <a:rPr sz="1700" b="0" i="0" dirty="0">
                <a:solidFill>
                  <a:srgbClr val="55606B"/>
                </a:solidFill>
              </a:rPr>
              <a:t> chance? p-values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54795" y="2350008"/>
            <a:ext cx="457200" cy="329184"/>
          </a:xfrm>
          <a:prstGeom prst="rightArrow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tep 4"/>
          <p:cNvSpPr/>
          <p:nvPr/>
        </p:nvSpPr>
        <p:spPr>
          <a:xfrm>
            <a:off x="9221724" y="1463040"/>
            <a:ext cx="2144268" cy="2103120"/>
          </a:xfrm>
          <a:prstGeom prst="roundRect">
            <a:avLst>
              <a:gd name="adj" fmla="val 8000"/>
            </a:avLst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58884" y="1554480"/>
            <a:ext cx="1869948" cy="19202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 i="0">
                <a:solidFill>
                  <a:srgbClr val="FFFFFF"/>
                </a:solidFill>
              </a:rPr>
              <a:t>Your assignment</a:t>
            </a:r>
          </a:p>
          <a:p>
            <a:pPr algn="l"/>
            <a:r>
              <a:rPr sz="1700" b="0" i="0">
                <a:solidFill>
                  <a:srgbClr val="CCDDEA"/>
                </a:solidFill>
              </a:rPr>
              <a:t>Reading SE, CI and p in JASP regression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931920"/>
            <a:ext cx="10607040" cy="173736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092854"/>
            <a:ext cx="10204704" cy="964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GB" sz="2000" b="1" dirty="0">
                <a:solidFill>
                  <a:srgbClr val="1F394D"/>
                </a:solidFill>
              </a:rPr>
              <a:t>Applied example data for this week</a:t>
            </a:r>
            <a:endParaRPr sz="2000" b="1" i="0" dirty="0">
              <a:solidFill>
                <a:srgbClr val="1F394D"/>
              </a:solidFill>
            </a:endParaRPr>
          </a:p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F2A33"/>
                </a:solidFill>
              </a:rPr>
              <a:t>The </a:t>
            </a:r>
            <a:r>
              <a:rPr sz="1800" b="0" i="0" dirty="0" err="1">
                <a:solidFill>
                  <a:srgbClr val="1F2A33"/>
                </a:solidFill>
              </a:rPr>
              <a:t>BSA</a:t>
            </a:r>
            <a:r>
              <a:rPr sz="1800" b="0" i="0" dirty="0">
                <a:solidFill>
                  <a:srgbClr val="1F2A33"/>
                </a:solidFill>
              </a:rPr>
              <a:t> 2010 found that 45.4% of 1,060 respondents say most people can be trusted.</a:t>
            </a:r>
          </a:p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F2A33"/>
                </a:solidFill>
              </a:rPr>
              <a:t>What can we say about all adults in Britain, not just these respondents?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9E2F-9C8E-1072-2DF2-826C624AD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Inference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DE2FB-D224-B73B-9844-8C5D40FAC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3034A-10B0-B9E5-F2F3-8DAD528B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6745" y="1477880"/>
            <a:ext cx="10398935" cy="4681181"/>
          </a:xfrm>
        </p:spPr>
        <p:txBody>
          <a:bodyPr>
            <a:normAutofit/>
          </a:bodyPr>
          <a:lstStyle/>
          <a:p>
            <a:pPr lvl="0"/>
            <a:r>
              <a:rPr b="1" i="1" dirty="0"/>
              <a:t>Statistical inference</a:t>
            </a:r>
            <a:r>
              <a:rPr dirty="0"/>
              <a:t> can be formulated as a set of operations on data that yield </a:t>
            </a:r>
            <a:r>
              <a:rPr b="1" i="1" dirty="0"/>
              <a:t>estimates</a:t>
            </a:r>
            <a:r>
              <a:rPr dirty="0"/>
              <a:t> and </a:t>
            </a:r>
            <a:r>
              <a:rPr b="1" i="1" dirty="0"/>
              <a:t>uncertainty statements</a:t>
            </a:r>
            <a:r>
              <a:rPr dirty="0"/>
              <a:t> about </a:t>
            </a:r>
            <a:r>
              <a:rPr b="1" i="1" dirty="0"/>
              <a:t>predictions</a:t>
            </a:r>
            <a:r>
              <a:rPr dirty="0"/>
              <a:t> and </a:t>
            </a:r>
            <a:r>
              <a:rPr b="1" i="1" dirty="0"/>
              <a:t>parameters</a:t>
            </a:r>
            <a:r>
              <a:rPr dirty="0"/>
              <a:t> of some underlying </a:t>
            </a:r>
            <a:r>
              <a:rPr b="1" i="1" dirty="0"/>
              <a:t>process</a:t>
            </a:r>
            <a:r>
              <a:rPr dirty="0"/>
              <a:t> or </a:t>
            </a:r>
            <a:r>
              <a:rPr b="1" i="1" dirty="0"/>
              <a:t>population</a:t>
            </a:r>
            <a:r>
              <a:rPr dirty="0"/>
              <a:t> </a:t>
            </a:r>
            <a:endParaRPr lang="en-GB" dirty="0"/>
          </a:p>
          <a:p>
            <a:pPr lvl="0"/>
            <a:r>
              <a:rPr lang="en-GB" dirty="0"/>
              <a:t>Statistical inference provides methods and tools for us to use the single sample we have observed to make </a:t>
            </a:r>
            <a:r>
              <a:rPr lang="en-GB" b="1" dirty="0"/>
              <a:t>valid statements (inferences) </a:t>
            </a:r>
            <a:r>
              <a:rPr lang="en-GB" dirty="0"/>
              <a:t>about the </a:t>
            </a:r>
            <a:r>
              <a:rPr lang="en-GB" b="1" dirty="0"/>
              <a:t>population</a:t>
            </a:r>
            <a:r>
              <a:rPr lang="en-GB" dirty="0"/>
              <a:t> it was sampled from</a:t>
            </a:r>
          </a:p>
          <a:p>
            <a:pPr lvl="0"/>
            <a:r>
              <a:rPr lang="en-GB" dirty="0"/>
              <a:t>For our inferences to be valid, the sample should be </a:t>
            </a:r>
            <a:r>
              <a:rPr lang="en-GB" b="1" dirty="0"/>
              <a:t>random</a:t>
            </a:r>
            <a:r>
              <a:rPr lang="en-GB" dirty="0"/>
              <a:t> and </a:t>
            </a:r>
            <a:r>
              <a:rPr lang="en-GB" b="1" dirty="0"/>
              <a:t>representative</a:t>
            </a:r>
            <a:r>
              <a:rPr lang="en-GB" dirty="0"/>
              <a:t> of the population it was sampled from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5431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Every sample gives a different answer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cxnSp>
        <p:nvCxnSpPr>
          <p:cNvPr id="6" name="Connector 5"/>
          <p:cNvCxnSpPr/>
          <p:nvPr/>
        </p:nvCxnSpPr>
        <p:spPr>
          <a:xfrm>
            <a:off x="2953512" y="5166360"/>
            <a:ext cx="8229600" cy="0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639311" y="516636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3090671" y="5239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35%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53812" y="516636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4805172" y="5239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40%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68312" y="516636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519672" y="5239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45%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82812" y="516636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234172" y="5239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50%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497312" y="516636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9948672" y="5239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55%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55138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Share who trust most people in each sample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068312" y="1600200"/>
            <a:ext cx="0" cy="3566160"/>
          </a:xfrm>
          <a:prstGeom prst="line">
            <a:avLst/>
          </a:prstGeom>
          <a:ln w="31750">
            <a:solidFill>
              <a:srgbClr val="B88C00"/>
            </a:solidFill>
            <a:prstDash val="dash"/>
          </a:ln>
        </p:spPr>
      </p:cxnSp>
      <p:sp>
        <p:nvSpPr>
          <p:cNvPr id="19" name="TextBox 18"/>
          <p:cNvSpPr txBox="1"/>
          <p:nvPr/>
        </p:nvSpPr>
        <p:spPr>
          <a:xfrm>
            <a:off x="6153912" y="1325880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dirty="0">
                <a:solidFill>
                  <a:srgbClr val="7A5C00"/>
                </a:solidFill>
              </a:rPr>
              <a:t>true value: 45%</a:t>
            </a:r>
          </a:p>
        </p:txBody>
      </p:sp>
      <p:sp>
        <p:nvSpPr>
          <p:cNvPr id="20" name="Oval 19"/>
          <p:cNvSpPr/>
          <p:nvPr/>
        </p:nvSpPr>
        <p:spPr>
          <a:xfrm>
            <a:off x="42473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9331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2760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047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905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3334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33488" y="2449677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33488" y="2188159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676387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676387" y="2449677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676387" y="2188159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676387" y="1926640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0192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019288" y="2449677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3621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7050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705088" y="2449677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0479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3908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7337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785112" y="248208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F739B"/>
                </a:solidFill>
              </a:rPr>
              <a:t>20 samples of 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5112" y="28478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5606B"/>
                </a:solidFill>
              </a:rPr>
              <a:t>range 37% to 53%</a:t>
            </a:r>
          </a:p>
        </p:txBody>
      </p:sp>
      <p:sp>
        <p:nvSpPr>
          <p:cNvPr id="42" name="Oval 41"/>
          <p:cNvSpPr/>
          <p:nvPr/>
        </p:nvSpPr>
        <p:spPr>
          <a:xfrm>
            <a:off x="582472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85901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06475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33907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44194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64768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85342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853428" y="3876141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92200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922008" y="3876141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99058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702487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705916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719632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7196328" y="3876141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29919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299198" y="3876141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40206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747064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798499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785112" y="39085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394D"/>
                </a:solidFill>
              </a:rPr>
              <a:t>20 samples of 1,000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85112" y="427431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5606B"/>
                </a:solidFill>
              </a:rPr>
              <a:t>range 42% to 48%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8952" y="5943600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88C00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58952" y="594360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7A5C00"/>
                </a:solidFill>
              </a:rPr>
              <a:t>SYNTHETIC EXAMPLE DATA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10712" y="5943600"/>
            <a:ext cx="795527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dirty="0">
                <a:solidFill>
                  <a:srgbClr val="55606B"/>
                </a:solidFill>
              </a:rPr>
              <a:t>R code: </a:t>
            </a:r>
            <a:r>
              <a:rPr sz="1200" b="0" i="0" dirty="0" err="1">
                <a:solidFill>
                  <a:srgbClr val="55606B"/>
                </a:solidFill>
              </a:rPr>
              <a:t>synthetic_examples.R</a:t>
            </a:r>
            <a:r>
              <a:rPr sz="1200" b="0" i="0" dirty="0">
                <a:solidFill>
                  <a:srgbClr val="55606B"/>
                </a:solidFill>
              </a:rPr>
              <a:t>, section </a:t>
            </a:r>
            <a:r>
              <a:rPr sz="1200" b="0" i="0" dirty="0" err="1">
                <a:solidFill>
                  <a:srgbClr val="55606B"/>
                </a:solidFill>
              </a:rPr>
              <a:t>W5a</a:t>
            </a:r>
            <a:r>
              <a:rPr sz="1200" b="0" i="0" dirty="0">
                <a:solidFill>
                  <a:srgbClr val="55606B"/>
                </a:solidFill>
              </a:rPr>
              <a:t>. A population where 45% trust; 20 random samples of each size.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7B02C5-7635-DF3B-D574-49873CC0895B}"/>
              </a:ext>
            </a:extLst>
          </p:cNvPr>
          <p:cNvSpPr txBox="1"/>
          <p:nvPr/>
        </p:nvSpPr>
        <p:spPr>
          <a:xfrm>
            <a:off x="833126" y="1224811"/>
            <a:ext cx="5055612" cy="1077218"/>
          </a:xfrm>
          <a:prstGeom prst="rect">
            <a:avLst/>
          </a:prstGeom>
          <a:noFill/>
          <a:ln w="63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600" i="0" dirty="0">
                <a:solidFill>
                  <a:srgbClr val="7A5C00"/>
                </a:solidFill>
              </a:rPr>
              <a:t>Let’s imagine a hypothetical situation in which we have supernatural powers and we know precisely that 45% of the whole population of the United Kingdom in 2010 would have answered that ‘most people can be trusted’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7A4F9-A11F-0D7F-0B7D-3C1B55A8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663A3-7281-C6BC-F3F4-FB3943D4F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Every sample gives a different answer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CF721-EE6F-2F5D-CD86-9503B1E48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C1924-0D16-E321-831A-1955E5676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DE1BB7DD-0275-E378-8382-A665CC263EC2}"/>
              </a:ext>
            </a:extLst>
          </p:cNvPr>
          <p:cNvCxnSpPr/>
          <p:nvPr/>
        </p:nvCxnSpPr>
        <p:spPr>
          <a:xfrm>
            <a:off x="2953512" y="5166360"/>
            <a:ext cx="8229600" cy="0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1FD9B096-2C19-AE95-8C31-3276B8D95D82}"/>
              </a:ext>
            </a:extLst>
          </p:cNvPr>
          <p:cNvCxnSpPr/>
          <p:nvPr/>
        </p:nvCxnSpPr>
        <p:spPr>
          <a:xfrm>
            <a:off x="3639311" y="516636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CC70F35-F7AE-F144-237E-2EADCD3B6E6E}"/>
              </a:ext>
            </a:extLst>
          </p:cNvPr>
          <p:cNvSpPr txBox="1"/>
          <p:nvPr/>
        </p:nvSpPr>
        <p:spPr>
          <a:xfrm>
            <a:off x="3090671" y="5239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35%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053B1951-57BC-FDA1-84BB-B7754AC20565}"/>
              </a:ext>
            </a:extLst>
          </p:cNvPr>
          <p:cNvCxnSpPr/>
          <p:nvPr/>
        </p:nvCxnSpPr>
        <p:spPr>
          <a:xfrm>
            <a:off x="5353812" y="516636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93CC870-0BC4-E4A4-0F4A-3938B16B7E69}"/>
              </a:ext>
            </a:extLst>
          </p:cNvPr>
          <p:cNvSpPr txBox="1"/>
          <p:nvPr/>
        </p:nvSpPr>
        <p:spPr>
          <a:xfrm>
            <a:off x="4805172" y="5239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40%</a:t>
            </a: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F294B121-4204-16B6-B036-6A21D743C7E0}"/>
              </a:ext>
            </a:extLst>
          </p:cNvPr>
          <p:cNvCxnSpPr/>
          <p:nvPr/>
        </p:nvCxnSpPr>
        <p:spPr>
          <a:xfrm>
            <a:off x="7068312" y="516636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4A1F461-7F57-6F7F-91F4-D18F5B3DD70F}"/>
              </a:ext>
            </a:extLst>
          </p:cNvPr>
          <p:cNvSpPr txBox="1"/>
          <p:nvPr/>
        </p:nvSpPr>
        <p:spPr>
          <a:xfrm>
            <a:off x="6519672" y="5239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45%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8549DADE-E9E3-A895-3AAA-3A41F0240BD4}"/>
              </a:ext>
            </a:extLst>
          </p:cNvPr>
          <p:cNvCxnSpPr/>
          <p:nvPr/>
        </p:nvCxnSpPr>
        <p:spPr>
          <a:xfrm>
            <a:off x="8782812" y="516636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182BEC0-CF35-73E3-2900-9D1406F6A015}"/>
              </a:ext>
            </a:extLst>
          </p:cNvPr>
          <p:cNvSpPr txBox="1"/>
          <p:nvPr/>
        </p:nvSpPr>
        <p:spPr>
          <a:xfrm>
            <a:off x="8234172" y="5239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50%</a:t>
            </a:r>
          </a:p>
        </p:txBody>
      </p: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A219EA82-0946-A37F-78F1-CBAF8B1B3CA4}"/>
              </a:ext>
            </a:extLst>
          </p:cNvPr>
          <p:cNvCxnSpPr/>
          <p:nvPr/>
        </p:nvCxnSpPr>
        <p:spPr>
          <a:xfrm>
            <a:off x="10497312" y="516636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B770AD-2C75-F8E3-E0E5-2AE170145E14}"/>
              </a:ext>
            </a:extLst>
          </p:cNvPr>
          <p:cNvSpPr txBox="1"/>
          <p:nvPr/>
        </p:nvSpPr>
        <p:spPr>
          <a:xfrm>
            <a:off x="9948672" y="5239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55%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9DC28D-F17E-7A36-5716-3ED048459823}"/>
              </a:ext>
            </a:extLst>
          </p:cNvPr>
          <p:cNvSpPr txBox="1"/>
          <p:nvPr/>
        </p:nvSpPr>
        <p:spPr>
          <a:xfrm>
            <a:off x="2953512" y="55138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Share who trust most people in each sample</a:t>
            </a:r>
          </a:p>
        </p:txBody>
      </p: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F736EE42-1135-577C-1F71-033E89758254}"/>
              </a:ext>
            </a:extLst>
          </p:cNvPr>
          <p:cNvCxnSpPr/>
          <p:nvPr/>
        </p:nvCxnSpPr>
        <p:spPr>
          <a:xfrm flipV="1">
            <a:off x="7068312" y="1600200"/>
            <a:ext cx="0" cy="3566160"/>
          </a:xfrm>
          <a:prstGeom prst="line">
            <a:avLst/>
          </a:prstGeom>
          <a:ln w="31750">
            <a:solidFill>
              <a:srgbClr val="B88C00"/>
            </a:solidFill>
            <a:prstDash val="dash"/>
          </a:ln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2BBAD03-518C-E473-1E95-B71A0539EAFF}"/>
              </a:ext>
            </a:extLst>
          </p:cNvPr>
          <p:cNvSpPr txBox="1"/>
          <p:nvPr/>
        </p:nvSpPr>
        <p:spPr>
          <a:xfrm>
            <a:off x="6153912" y="1325880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dirty="0">
                <a:solidFill>
                  <a:srgbClr val="7A5C00"/>
                </a:solidFill>
              </a:rPr>
              <a:t>true value: 45%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EE792AB-F495-A7E0-5A67-92E882209307}"/>
              </a:ext>
            </a:extLst>
          </p:cNvPr>
          <p:cNvSpPr/>
          <p:nvPr/>
        </p:nvSpPr>
        <p:spPr>
          <a:xfrm>
            <a:off x="42473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F0517BD-1281-30BE-390C-237FD0AD9B5A}"/>
              </a:ext>
            </a:extLst>
          </p:cNvPr>
          <p:cNvSpPr/>
          <p:nvPr/>
        </p:nvSpPr>
        <p:spPr>
          <a:xfrm>
            <a:off x="49331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9B551B-85F0-9907-7D95-4A6381065631}"/>
              </a:ext>
            </a:extLst>
          </p:cNvPr>
          <p:cNvSpPr/>
          <p:nvPr/>
        </p:nvSpPr>
        <p:spPr>
          <a:xfrm>
            <a:off x="52760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0DF0FEE-1021-589E-271D-88E98FEEEF15}"/>
              </a:ext>
            </a:extLst>
          </p:cNvPr>
          <p:cNvSpPr/>
          <p:nvPr/>
        </p:nvSpPr>
        <p:spPr>
          <a:xfrm>
            <a:off x="63047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D39D878-018E-1B4B-CCE7-A2529D660977}"/>
              </a:ext>
            </a:extLst>
          </p:cNvPr>
          <p:cNvSpPr/>
          <p:nvPr/>
        </p:nvSpPr>
        <p:spPr>
          <a:xfrm>
            <a:off x="69905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1A78098-034E-98A7-7E57-E0443C0C2C49}"/>
              </a:ext>
            </a:extLst>
          </p:cNvPr>
          <p:cNvSpPr/>
          <p:nvPr/>
        </p:nvSpPr>
        <p:spPr>
          <a:xfrm>
            <a:off x="73334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7EEF685-EDF8-5E5A-B1CD-B92FB9B3FAB7}"/>
              </a:ext>
            </a:extLst>
          </p:cNvPr>
          <p:cNvSpPr/>
          <p:nvPr/>
        </p:nvSpPr>
        <p:spPr>
          <a:xfrm>
            <a:off x="7333488" y="2449677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C13BC07-706D-74B4-663E-9817C8D58CE0}"/>
              </a:ext>
            </a:extLst>
          </p:cNvPr>
          <p:cNvSpPr/>
          <p:nvPr/>
        </p:nvSpPr>
        <p:spPr>
          <a:xfrm>
            <a:off x="7333488" y="2188159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4A332CC-F337-F53D-FA76-19E4327F7215}"/>
              </a:ext>
            </a:extLst>
          </p:cNvPr>
          <p:cNvSpPr/>
          <p:nvPr/>
        </p:nvSpPr>
        <p:spPr>
          <a:xfrm>
            <a:off x="7676387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F374048-DFF0-B361-DEFE-D847E87C8A69}"/>
              </a:ext>
            </a:extLst>
          </p:cNvPr>
          <p:cNvSpPr/>
          <p:nvPr/>
        </p:nvSpPr>
        <p:spPr>
          <a:xfrm>
            <a:off x="7676387" y="2449677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CB1E745-B5C3-1F35-F107-6353306E1963}"/>
              </a:ext>
            </a:extLst>
          </p:cNvPr>
          <p:cNvSpPr/>
          <p:nvPr/>
        </p:nvSpPr>
        <p:spPr>
          <a:xfrm>
            <a:off x="7676387" y="2188159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EB5BC1A-6939-AC6C-5FA6-FE43FA3F9168}"/>
              </a:ext>
            </a:extLst>
          </p:cNvPr>
          <p:cNvSpPr/>
          <p:nvPr/>
        </p:nvSpPr>
        <p:spPr>
          <a:xfrm>
            <a:off x="7676387" y="1926640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ABE18B6-8BD3-9673-0660-ADEE442F64AC}"/>
              </a:ext>
            </a:extLst>
          </p:cNvPr>
          <p:cNvSpPr/>
          <p:nvPr/>
        </p:nvSpPr>
        <p:spPr>
          <a:xfrm>
            <a:off x="80192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EBB07FC-B6ED-9B2A-3190-C74075BDA106}"/>
              </a:ext>
            </a:extLst>
          </p:cNvPr>
          <p:cNvSpPr/>
          <p:nvPr/>
        </p:nvSpPr>
        <p:spPr>
          <a:xfrm>
            <a:off x="8019288" y="2449677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5A5D650-B2D7-0753-9533-B6FFCA2F1986}"/>
              </a:ext>
            </a:extLst>
          </p:cNvPr>
          <p:cNvSpPr/>
          <p:nvPr/>
        </p:nvSpPr>
        <p:spPr>
          <a:xfrm>
            <a:off x="83621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A28F853-7ADC-5B6D-5709-809C3E40766E}"/>
              </a:ext>
            </a:extLst>
          </p:cNvPr>
          <p:cNvSpPr/>
          <p:nvPr/>
        </p:nvSpPr>
        <p:spPr>
          <a:xfrm>
            <a:off x="87050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0F534C2-87D9-F149-6A16-4E652BB8871F}"/>
              </a:ext>
            </a:extLst>
          </p:cNvPr>
          <p:cNvSpPr/>
          <p:nvPr/>
        </p:nvSpPr>
        <p:spPr>
          <a:xfrm>
            <a:off x="8705088" y="2449677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318A78E-D358-23AA-149B-DB713C8C4A3D}"/>
              </a:ext>
            </a:extLst>
          </p:cNvPr>
          <p:cNvSpPr/>
          <p:nvPr/>
        </p:nvSpPr>
        <p:spPr>
          <a:xfrm>
            <a:off x="90479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8B599F-BA50-9887-039C-F72717F10112}"/>
              </a:ext>
            </a:extLst>
          </p:cNvPr>
          <p:cNvSpPr/>
          <p:nvPr/>
        </p:nvSpPr>
        <p:spPr>
          <a:xfrm>
            <a:off x="93908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FE52112-EE1A-91E5-E736-8850E3196CE1}"/>
              </a:ext>
            </a:extLst>
          </p:cNvPr>
          <p:cNvSpPr/>
          <p:nvPr/>
        </p:nvSpPr>
        <p:spPr>
          <a:xfrm>
            <a:off x="97337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3AE438-E869-DD8D-F108-AD4AEC34AD76}"/>
              </a:ext>
            </a:extLst>
          </p:cNvPr>
          <p:cNvSpPr txBox="1"/>
          <p:nvPr/>
        </p:nvSpPr>
        <p:spPr>
          <a:xfrm>
            <a:off x="1785112" y="248208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F739B"/>
                </a:solidFill>
              </a:rPr>
              <a:t>20 samples of 100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529BBD-97B7-ED17-F5BB-3FE4D552A87A}"/>
              </a:ext>
            </a:extLst>
          </p:cNvPr>
          <p:cNvSpPr txBox="1"/>
          <p:nvPr/>
        </p:nvSpPr>
        <p:spPr>
          <a:xfrm>
            <a:off x="1785112" y="28478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5606B"/>
                </a:solidFill>
              </a:rPr>
              <a:t>range 37% to 53%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0608D5B-5AE4-5573-7B3C-AC04C27158B6}"/>
              </a:ext>
            </a:extLst>
          </p:cNvPr>
          <p:cNvSpPr/>
          <p:nvPr/>
        </p:nvSpPr>
        <p:spPr>
          <a:xfrm>
            <a:off x="582472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B748E53-9E76-8058-CEDB-0AB374407656}"/>
              </a:ext>
            </a:extLst>
          </p:cNvPr>
          <p:cNvSpPr/>
          <p:nvPr/>
        </p:nvSpPr>
        <p:spPr>
          <a:xfrm>
            <a:off x="585901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9545BC7-7492-DFA5-D314-E526A05518CE}"/>
              </a:ext>
            </a:extLst>
          </p:cNvPr>
          <p:cNvSpPr/>
          <p:nvPr/>
        </p:nvSpPr>
        <p:spPr>
          <a:xfrm>
            <a:off x="606475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F57EC9F-B11F-6AAD-45A1-789EE225A847}"/>
              </a:ext>
            </a:extLst>
          </p:cNvPr>
          <p:cNvSpPr/>
          <p:nvPr/>
        </p:nvSpPr>
        <p:spPr>
          <a:xfrm>
            <a:off x="633907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6A97FA2-7C32-7619-8758-366526E447B2}"/>
              </a:ext>
            </a:extLst>
          </p:cNvPr>
          <p:cNvSpPr/>
          <p:nvPr/>
        </p:nvSpPr>
        <p:spPr>
          <a:xfrm>
            <a:off x="644194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67B52D8-053C-2489-A911-B31C52620AD1}"/>
              </a:ext>
            </a:extLst>
          </p:cNvPr>
          <p:cNvSpPr/>
          <p:nvPr/>
        </p:nvSpPr>
        <p:spPr>
          <a:xfrm>
            <a:off x="664768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86314EA-07F0-5A01-12F7-CAB98F8FCF76}"/>
              </a:ext>
            </a:extLst>
          </p:cNvPr>
          <p:cNvSpPr/>
          <p:nvPr/>
        </p:nvSpPr>
        <p:spPr>
          <a:xfrm>
            <a:off x="685342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465F296-6B63-DECB-D416-84BE4633619F}"/>
              </a:ext>
            </a:extLst>
          </p:cNvPr>
          <p:cNvSpPr/>
          <p:nvPr/>
        </p:nvSpPr>
        <p:spPr>
          <a:xfrm>
            <a:off x="6853428" y="3876141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3D3D3B5-2CDB-A2E8-2081-3FC915112F07}"/>
              </a:ext>
            </a:extLst>
          </p:cNvPr>
          <p:cNvSpPr/>
          <p:nvPr/>
        </p:nvSpPr>
        <p:spPr>
          <a:xfrm>
            <a:off x="692200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717A6DE-048E-2FD0-FD84-B46030307CB3}"/>
              </a:ext>
            </a:extLst>
          </p:cNvPr>
          <p:cNvSpPr/>
          <p:nvPr/>
        </p:nvSpPr>
        <p:spPr>
          <a:xfrm>
            <a:off x="6922008" y="3876141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250E0B1-3CEF-62BD-2EC5-57E2193A3275}"/>
              </a:ext>
            </a:extLst>
          </p:cNvPr>
          <p:cNvSpPr/>
          <p:nvPr/>
        </p:nvSpPr>
        <p:spPr>
          <a:xfrm>
            <a:off x="705916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678F46E-8004-88AE-4616-1372CECE82DE}"/>
              </a:ext>
            </a:extLst>
          </p:cNvPr>
          <p:cNvSpPr/>
          <p:nvPr/>
        </p:nvSpPr>
        <p:spPr>
          <a:xfrm>
            <a:off x="7024878" y="4137660"/>
            <a:ext cx="155448" cy="15544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5137C4D-4C08-8DA5-3767-823C08CC1DCD}"/>
              </a:ext>
            </a:extLst>
          </p:cNvPr>
          <p:cNvSpPr/>
          <p:nvPr/>
        </p:nvSpPr>
        <p:spPr>
          <a:xfrm>
            <a:off x="6990588" y="4137660"/>
            <a:ext cx="155448" cy="155448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8146422-2053-659E-061D-1244473B5CB4}"/>
              </a:ext>
            </a:extLst>
          </p:cNvPr>
          <p:cNvSpPr/>
          <p:nvPr/>
        </p:nvSpPr>
        <p:spPr>
          <a:xfrm>
            <a:off x="719632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1C5DAC2-4128-5243-AE89-A11807A61157}"/>
              </a:ext>
            </a:extLst>
          </p:cNvPr>
          <p:cNvSpPr/>
          <p:nvPr/>
        </p:nvSpPr>
        <p:spPr>
          <a:xfrm>
            <a:off x="7196328" y="3876141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44A41D9-5F07-880F-0A20-5CBCCF728761}"/>
              </a:ext>
            </a:extLst>
          </p:cNvPr>
          <p:cNvSpPr/>
          <p:nvPr/>
        </p:nvSpPr>
        <p:spPr>
          <a:xfrm>
            <a:off x="729919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E36019B-179D-49A8-11F9-CBD4FCEEB4EF}"/>
              </a:ext>
            </a:extLst>
          </p:cNvPr>
          <p:cNvSpPr/>
          <p:nvPr/>
        </p:nvSpPr>
        <p:spPr>
          <a:xfrm>
            <a:off x="7299198" y="3876141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6F27CD3-4B7A-7876-86A4-5A911B36BC01}"/>
              </a:ext>
            </a:extLst>
          </p:cNvPr>
          <p:cNvSpPr/>
          <p:nvPr/>
        </p:nvSpPr>
        <p:spPr>
          <a:xfrm>
            <a:off x="740206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98F5FF2-6CD9-BB36-3FD4-98FCE7A20DE6}"/>
              </a:ext>
            </a:extLst>
          </p:cNvPr>
          <p:cNvSpPr/>
          <p:nvPr/>
        </p:nvSpPr>
        <p:spPr>
          <a:xfrm>
            <a:off x="747064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1746C45-B9F7-08A9-72B4-85EA3868E60F}"/>
              </a:ext>
            </a:extLst>
          </p:cNvPr>
          <p:cNvSpPr/>
          <p:nvPr/>
        </p:nvSpPr>
        <p:spPr>
          <a:xfrm>
            <a:off x="798499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2EB58C-A6DC-047D-1F91-64E34F3BB62D}"/>
              </a:ext>
            </a:extLst>
          </p:cNvPr>
          <p:cNvSpPr txBox="1"/>
          <p:nvPr/>
        </p:nvSpPr>
        <p:spPr>
          <a:xfrm>
            <a:off x="1785112" y="39085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394D"/>
                </a:solidFill>
              </a:rPr>
              <a:t>20 samples of 1,000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AAAC54-272B-8B2F-73A3-D28D25338540}"/>
              </a:ext>
            </a:extLst>
          </p:cNvPr>
          <p:cNvSpPr txBox="1"/>
          <p:nvPr/>
        </p:nvSpPr>
        <p:spPr>
          <a:xfrm>
            <a:off x="1785112" y="427431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5606B"/>
                </a:solidFill>
              </a:rPr>
              <a:t>range 42% to 48%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27E2692D-917B-5888-9E7A-576F8A523787}"/>
              </a:ext>
            </a:extLst>
          </p:cNvPr>
          <p:cNvSpPr/>
          <p:nvPr/>
        </p:nvSpPr>
        <p:spPr>
          <a:xfrm>
            <a:off x="758952" y="5943600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88C00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858619E-9206-C5AB-9A12-61206357426B}"/>
              </a:ext>
            </a:extLst>
          </p:cNvPr>
          <p:cNvSpPr txBox="1"/>
          <p:nvPr/>
        </p:nvSpPr>
        <p:spPr>
          <a:xfrm>
            <a:off x="758952" y="594360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7A5C00"/>
                </a:solidFill>
              </a:rPr>
              <a:t>SYNTHETIC EXAMPLE DATA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13EC18-13C1-2892-9A7E-F46397FC5132}"/>
              </a:ext>
            </a:extLst>
          </p:cNvPr>
          <p:cNvSpPr txBox="1"/>
          <p:nvPr/>
        </p:nvSpPr>
        <p:spPr>
          <a:xfrm>
            <a:off x="3410712" y="5943600"/>
            <a:ext cx="795527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dirty="0">
                <a:solidFill>
                  <a:srgbClr val="55606B"/>
                </a:solidFill>
              </a:rPr>
              <a:t>R code: </a:t>
            </a:r>
            <a:r>
              <a:rPr sz="1200" b="0" i="0" dirty="0" err="1">
                <a:solidFill>
                  <a:srgbClr val="55606B"/>
                </a:solidFill>
              </a:rPr>
              <a:t>synthetic_examples.R</a:t>
            </a:r>
            <a:r>
              <a:rPr sz="1200" b="0" i="0" dirty="0">
                <a:solidFill>
                  <a:srgbClr val="55606B"/>
                </a:solidFill>
              </a:rPr>
              <a:t>, section </a:t>
            </a:r>
            <a:r>
              <a:rPr sz="1200" b="0" i="0" dirty="0" err="1">
                <a:solidFill>
                  <a:srgbClr val="55606B"/>
                </a:solidFill>
              </a:rPr>
              <a:t>W5a</a:t>
            </a:r>
            <a:r>
              <a:rPr sz="1200" b="0" i="0" dirty="0">
                <a:solidFill>
                  <a:srgbClr val="55606B"/>
                </a:solidFill>
              </a:rPr>
              <a:t>. A population where 45% trust; 20 random samples of each size.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07A4B3B-0200-E0ED-6B21-B6F12069A558}"/>
              </a:ext>
            </a:extLst>
          </p:cNvPr>
          <p:cNvSpPr txBox="1"/>
          <p:nvPr/>
        </p:nvSpPr>
        <p:spPr>
          <a:xfrm>
            <a:off x="8679942" y="3200491"/>
            <a:ext cx="2835527" cy="1384995"/>
          </a:xfrm>
          <a:prstGeom prst="rect">
            <a:avLst/>
          </a:prstGeom>
          <a:noFill/>
          <a:ln w="63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400" i="0" dirty="0">
                <a:solidFill>
                  <a:srgbClr val="7A5C00"/>
                </a:solidFill>
              </a:rPr>
              <a:t>In real research we only ever get one of these dots: one survey data collection, e.</a:t>
            </a:r>
            <a:r>
              <a:rPr lang="en-GB" sz="1400" dirty="0">
                <a:solidFill>
                  <a:srgbClr val="7A5C00"/>
                </a:solidFill>
              </a:rPr>
              <a:t>g. the 2010 British Social Attitudes survey, with its sample of 1,060 respondents.</a:t>
            </a:r>
          </a:p>
          <a:p>
            <a:r>
              <a:rPr lang="en-GB" sz="1400" i="0" dirty="0">
                <a:solidFill>
                  <a:srgbClr val="00B050"/>
                </a:solidFill>
              </a:rPr>
              <a:t>If we are luck</a:t>
            </a:r>
            <a:r>
              <a:rPr lang="en-GB" sz="1400" dirty="0">
                <a:solidFill>
                  <a:srgbClr val="00B050"/>
                </a:solidFill>
              </a:rPr>
              <a:t>y, it will be this dot.</a:t>
            </a:r>
            <a:endParaRPr lang="en-GB" sz="1400" i="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604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E47A3-63AD-0795-BB90-A5104EBA5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B33DA-79ED-6590-30D9-18BFA0793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Every sample gives a different answer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8A0C5-5DF9-6D05-0C3B-F2FE5C641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9EB4B-B48A-A0B9-0C2A-CB43C8725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34ED1B6E-2F4F-E38D-D99E-558122C1E57F}"/>
              </a:ext>
            </a:extLst>
          </p:cNvPr>
          <p:cNvCxnSpPr/>
          <p:nvPr/>
        </p:nvCxnSpPr>
        <p:spPr>
          <a:xfrm>
            <a:off x="2953512" y="5166360"/>
            <a:ext cx="8229600" cy="0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BB8E261C-05B6-DE2D-CA74-005F8EBFA33C}"/>
              </a:ext>
            </a:extLst>
          </p:cNvPr>
          <p:cNvCxnSpPr/>
          <p:nvPr/>
        </p:nvCxnSpPr>
        <p:spPr>
          <a:xfrm>
            <a:off x="3639311" y="516636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352399-2761-8F38-86A2-98E72A225C02}"/>
              </a:ext>
            </a:extLst>
          </p:cNvPr>
          <p:cNvSpPr txBox="1"/>
          <p:nvPr/>
        </p:nvSpPr>
        <p:spPr>
          <a:xfrm>
            <a:off x="3090671" y="5239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35%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6177FB7A-F010-20BB-639B-C53A3F6B1731}"/>
              </a:ext>
            </a:extLst>
          </p:cNvPr>
          <p:cNvCxnSpPr/>
          <p:nvPr/>
        </p:nvCxnSpPr>
        <p:spPr>
          <a:xfrm>
            <a:off x="5353812" y="516636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5B2D7D5-9BDF-3918-8AF7-020AC7539138}"/>
              </a:ext>
            </a:extLst>
          </p:cNvPr>
          <p:cNvSpPr txBox="1"/>
          <p:nvPr/>
        </p:nvSpPr>
        <p:spPr>
          <a:xfrm>
            <a:off x="4805172" y="5239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40%</a:t>
            </a: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AF30BFE2-97A3-A2EC-0873-B4CE916CF91E}"/>
              </a:ext>
            </a:extLst>
          </p:cNvPr>
          <p:cNvCxnSpPr/>
          <p:nvPr/>
        </p:nvCxnSpPr>
        <p:spPr>
          <a:xfrm>
            <a:off x="7068312" y="516636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43916-67B7-681A-118F-2099FD6A75E6}"/>
              </a:ext>
            </a:extLst>
          </p:cNvPr>
          <p:cNvSpPr txBox="1"/>
          <p:nvPr/>
        </p:nvSpPr>
        <p:spPr>
          <a:xfrm>
            <a:off x="6519672" y="5239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45%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4CBA24EC-5023-FA74-418F-FE6A3FB3EBD3}"/>
              </a:ext>
            </a:extLst>
          </p:cNvPr>
          <p:cNvCxnSpPr/>
          <p:nvPr/>
        </p:nvCxnSpPr>
        <p:spPr>
          <a:xfrm>
            <a:off x="8782812" y="516636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E956E27-71B0-1431-3779-2B69BEB82A54}"/>
              </a:ext>
            </a:extLst>
          </p:cNvPr>
          <p:cNvSpPr txBox="1"/>
          <p:nvPr/>
        </p:nvSpPr>
        <p:spPr>
          <a:xfrm>
            <a:off x="8234172" y="5239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50%</a:t>
            </a:r>
          </a:p>
        </p:txBody>
      </p: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8C640750-5C43-CF06-1F0F-904B1F223A46}"/>
              </a:ext>
            </a:extLst>
          </p:cNvPr>
          <p:cNvCxnSpPr/>
          <p:nvPr/>
        </p:nvCxnSpPr>
        <p:spPr>
          <a:xfrm>
            <a:off x="10497312" y="516636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58C7282-1D4E-C66F-FAB3-CC38BDAF1AB9}"/>
              </a:ext>
            </a:extLst>
          </p:cNvPr>
          <p:cNvSpPr txBox="1"/>
          <p:nvPr/>
        </p:nvSpPr>
        <p:spPr>
          <a:xfrm>
            <a:off x="9948672" y="5239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55%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FFF7CB-BCF6-061F-B7A7-FDBB4483275A}"/>
              </a:ext>
            </a:extLst>
          </p:cNvPr>
          <p:cNvSpPr txBox="1"/>
          <p:nvPr/>
        </p:nvSpPr>
        <p:spPr>
          <a:xfrm>
            <a:off x="2953512" y="55138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Share who trust most people in each sample</a:t>
            </a:r>
          </a:p>
        </p:txBody>
      </p: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CFE9AF0A-F768-1FB6-B731-CE9754E098B5}"/>
              </a:ext>
            </a:extLst>
          </p:cNvPr>
          <p:cNvCxnSpPr/>
          <p:nvPr/>
        </p:nvCxnSpPr>
        <p:spPr>
          <a:xfrm flipV="1">
            <a:off x="7068312" y="1600200"/>
            <a:ext cx="0" cy="3566160"/>
          </a:xfrm>
          <a:prstGeom prst="line">
            <a:avLst/>
          </a:prstGeom>
          <a:ln w="31750">
            <a:solidFill>
              <a:srgbClr val="B88C00"/>
            </a:solidFill>
            <a:prstDash val="dash"/>
          </a:ln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E647027-49C0-945B-64F3-5F8484877A3E}"/>
              </a:ext>
            </a:extLst>
          </p:cNvPr>
          <p:cNvSpPr txBox="1"/>
          <p:nvPr/>
        </p:nvSpPr>
        <p:spPr>
          <a:xfrm>
            <a:off x="6153912" y="1325880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dirty="0">
                <a:solidFill>
                  <a:srgbClr val="7A5C00"/>
                </a:solidFill>
              </a:rPr>
              <a:t>true value: 45%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0B58F07-87C7-525C-6FFC-AD258871D024}"/>
              </a:ext>
            </a:extLst>
          </p:cNvPr>
          <p:cNvSpPr/>
          <p:nvPr/>
        </p:nvSpPr>
        <p:spPr>
          <a:xfrm>
            <a:off x="42473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0700A17-C804-E723-E095-7A76C3DB4335}"/>
              </a:ext>
            </a:extLst>
          </p:cNvPr>
          <p:cNvSpPr/>
          <p:nvPr/>
        </p:nvSpPr>
        <p:spPr>
          <a:xfrm>
            <a:off x="49331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E3E2DEA-DF9C-A7F4-A7A2-4F7015050F70}"/>
              </a:ext>
            </a:extLst>
          </p:cNvPr>
          <p:cNvSpPr/>
          <p:nvPr/>
        </p:nvSpPr>
        <p:spPr>
          <a:xfrm>
            <a:off x="52760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DF4F9C3-E995-FD5D-7E90-AC0325ADD8B3}"/>
              </a:ext>
            </a:extLst>
          </p:cNvPr>
          <p:cNvSpPr/>
          <p:nvPr/>
        </p:nvSpPr>
        <p:spPr>
          <a:xfrm>
            <a:off x="63047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FA0ED83-6722-C2E6-4EC2-7DB1ECB10561}"/>
              </a:ext>
            </a:extLst>
          </p:cNvPr>
          <p:cNvSpPr/>
          <p:nvPr/>
        </p:nvSpPr>
        <p:spPr>
          <a:xfrm>
            <a:off x="69905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D42D7FB-907D-6BF9-6240-F56CAA692247}"/>
              </a:ext>
            </a:extLst>
          </p:cNvPr>
          <p:cNvSpPr/>
          <p:nvPr/>
        </p:nvSpPr>
        <p:spPr>
          <a:xfrm>
            <a:off x="73334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541F90D-BCDF-F6E0-6D15-1B3D144AD86C}"/>
              </a:ext>
            </a:extLst>
          </p:cNvPr>
          <p:cNvSpPr/>
          <p:nvPr/>
        </p:nvSpPr>
        <p:spPr>
          <a:xfrm>
            <a:off x="7333488" y="2449677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2DB209E-973F-F3CC-1DA0-F79B9FD8BA8B}"/>
              </a:ext>
            </a:extLst>
          </p:cNvPr>
          <p:cNvSpPr/>
          <p:nvPr/>
        </p:nvSpPr>
        <p:spPr>
          <a:xfrm>
            <a:off x="7333488" y="2188159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5E785F4-F502-DCE2-9001-048F90134602}"/>
              </a:ext>
            </a:extLst>
          </p:cNvPr>
          <p:cNvSpPr/>
          <p:nvPr/>
        </p:nvSpPr>
        <p:spPr>
          <a:xfrm>
            <a:off x="7676387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8F6154F-F3BE-FF55-45A5-3F4C90EAFAB4}"/>
              </a:ext>
            </a:extLst>
          </p:cNvPr>
          <p:cNvSpPr/>
          <p:nvPr/>
        </p:nvSpPr>
        <p:spPr>
          <a:xfrm>
            <a:off x="7676387" y="2449677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BB4DAD8-9FE2-5322-7197-123850AC8E54}"/>
              </a:ext>
            </a:extLst>
          </p:cNvPr>
          <p:cNvSpPr/>
          <p:nvPr/>
        </p:nvSpPr>
        <p:spPr>
          <a:xfrm>
            <a:off x="7676387" y="2188159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F9045ED-813F-CF0C-F09A-6000AFFB2492}"/>
              </a:ext>
            </a:extLst>
          </p:cNvPr>
          <p:cNvSpPr/>
          <p:nvPr/>
        </p:nvSpPr>
        <p:spPr>
          <a:xfrm>
            <a:off x="7676387" y="1926640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3FDC7FA-6D4F-9C8E-5EF5-1D28077465C1}"/>
              </a:ext>
            </a:extLst>
          </p:cNvPr>
          <p:cNvSpPr/>
          <p:nvPr/>
        </p:nvSpPr>
        <p:spPr>
          <a:xfrm>
            <a:off x="80192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A9F54E6-71CB-114C-57B3-FAC8642BC220}"/>
              </a:ext>
            </a:extLst>
          </p:cNvPr>
          <p:cNvSpPr/>
          <p:nvPr/>
        </p:nvSpPr>
        <p:spPr>
          <a:xfrm>
            <a:off x="8019288" y="2449677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A59103D-FF15-4553-BCFF-6C048A5427C2}"/>
              </a:ext>
            </a:extLst>
          </p:cNvPr>
          <p:cNvSpPr/>
          <p:nvPr/>
        </p:nvSpPr>
        <p:spPr>
          <a:xfrm>
            <a:off x="83621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3668CF2-7115-BAB6-C98B-97A60D7282C5}"/>
              </a:ext>
            </a:extLst>
          </p:cNvPr>
          <p:cNvSpPr/>
          <p:nvPr/>
        </p:nvSpPr>
        <p:spPr>
          <a:xfrm>
            <a:off x="87050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9363993-8A85-50CE-0AF1-60972308873A}"/>
              </a:ext>
            </a:extLst>
          </p:cNvPr>
          <p:cNvSpPr/>
          <p:nvPr/>
        </p:nvSpPr>
        <p:spPr>
          <a:xfrm>
            <a:off x="8705088" y="2449677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1B50B14-3814-38F0-1AA6-3B496BD4A4E2}"/>
              </a:ext>
            </a:extLst>
          </p:cNvPr>
          <p:cNvSpPr/>
          <p:nvPr/>
        </p:nvSpPr>
        <p:spPr>
          <a:xfrm>
            <a:off x="90479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D6E701E-42BF-E082-A1C5-294C5A1D46EF}"/>
              </a:ext>
            </a:extLst>
          </p:cNvPr>
          <p:cNvSpPr/>
          <p:nvPr/>
        </p:nvSpPr>
        <p:spPr>
          <a:xfrm>
            <a:off x="93908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B760850-3432-4612-28D4-CD82D8A9B718}"/>
              </a:ext>
            </a:extLst>
          </p:cNvPr>
          <p:cNvSpPr/>
          <p:nvPr/>
        </p:nvSpPr>
        <p:spPr>
          <a:xfrm>
            <a:off x="9733788" y="2711196"/>
            <a:ext cx="155448" cy="15544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AAFAD2-B855-4B74-31F2-EC8505A07059}"/>
              </a:ext>
            </a:extLst>
          </p:cNvPr>
          <p:cNvSpPr txBox="1"/>
          <p:nvPr/>
        </p:nvSpPr>
        <p:spPr>
          <a:xfrm>
            <a:off x="1785112" y="248208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F739B"/>
                </a:solidFill>
              </a:rPr>
              <a:t>20 samples of 100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42568A-4212-E5BF-240F-2EB583C9ED88}"/>
              </a:ext>
            </a:extLst>
          </p:cNvPr>
          <p:cNvSpPr txBox="1"/>
          <p:nvPr/>
        </p:nvSpPr>
        <p:spPr>
          <a:xfrm>
            <a:off x="1785112" y="28478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5606B"/>
                </a:solidFill>
              </a:rPr>
              <a:t>range 37% to 53%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F5E91D0-8A14-ABFF-52E6-0417689AE44E}"/>
              </a:ext>
            </a:extLst>
          </p:cNvPr>
          <p:cNvSpPr/>
          <p:nvPr/>
        </p:nvSpPr>
        <p:spPr>
          <a:xfrm>
            <a:off x="582472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9F5D00F-86FB-E63F-B27B-521F4DDA7FA1}"/>
              </a:ext>
            </a:extLst>
          </p:cNvPr>
          <p:cNvSpPr/>
          <p:nvPr/>
        </p:nvSpPr>
        <p:spPr>
          <a:xfrm>
            <a:off x="5859018" y="4137660"/>
            <a:ext cx="155448" cy="155448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063995C-B09C-4F85-CC61-6E2A270E4A2A}"/>
              </a:ext>
            </a:extLst>
          </p:cNvPr>
          <p:cNvSpPr/>
          <p:nvPr/>
        </p:nvSpPr>
        <p:spPr>
          <a:xfrm>
            <a:off x="606475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E4D6F61-2B10-3681-360C-28A2ED115FF9}"/>
              </a:ext>
            </a:extLst>
          </p:cNvPr>
          <p:cNvSpPr/>
          <p:nvPr/>
        </p:nvSpPr>
        <p:spPr>
          <a:xfrm>
            <a:off x="633907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718D5F7-C214-46F8-ED1F-9EC6411AB63E}"/>
              </a:ext>
            </a:extLst>
          </p:cNvPr>
          <p:cNvSpPr/>
          <p:nvPr/>
        </p:nvSpPr>
        <p:spPr>
          <a:xfrm>
            <a:off x="644194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85E523E-209F-59D3-A7CD-C97A8D045498}"/>
              </a:ext>
            </a:extLst>
          </p:cNvPr>
          <p:cNvSpPr/>
          <p:nvPr/>
        </p:nvSpPr>
        <p:spPr>
          <a:xfrm>
            <a:off x="664768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C02D17A-6931-5E29-9C2A-D1ADD0C00DE7}"/>
              </a:ext>
            </a:extLst>
          </p:cNvPr>
          <p:cNvSpPr/>
          <p:nvPr/>
        </p:nvSpPr>
        <p:spPr>
          <a:xfrm>
            <a:off x="685342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0B51DC7-90E2-03A5-B30B-77031D82A826}"/>
              </a:ext>
            </a:extLst>
          </p:cNvPr>
          <p:cNvSpPr/>
          <p:nvPr/>
        </p:nvSpPr>
        <p:spPr>
          <a:xfrm>
            <a:off x="6853428" y="3876141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4F12F84-F1E2-68DE-E28B-047F4E5B42E4}"/>
              </a:ext>
            </a:extLst>
          </p:cNvPr>
          <p:cNvSpPr/>
          <p:nvPr/>
        </p:nvSpPr>
        <p:spPr>
          <a:xfrm>
            <a:off x="692200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BC39808-F623-6A97-8DAF-DD0A0509FCF1}"/>
              </a:ext>
            </a:extLst>
          </p:cNvPr>
          <p:cNvSpPr/>
          <p:nvPr/>
        </p:nvSpPr>
        <p:spPr>
          <a:xfrm>
            <a:off x="6922008" y="3876141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1BAF719-411B-3AE6-44F4-2775743AC7C5}"/>
              </a:ext>
            </a:extLst>
          </p:cNvPr>
          <p:cNvSpPr/>
          <p:nvPr/>
        </p:nvSpPr>
        <p:spPr>
          <a:xfrm>
            <a:off x="699058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6C0A4EE-6DF1-5EE0-88CE-BA574E753F6D}"/>
              </a:ext>
            </a:extLst>
          </p:cNvPr>
          <p:cNvSpPr/>
          <p:nvPr/>
        </p:nvSpPr>
        <p:spPr>
          <a:xfrm>
            <a:off x="702487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153B8A4-3F3F-41F1-E530-AA4F1E919C1F}"/>
              </a:ext>
            </a:extLst>
          </p:cNvPr>
          <p:cNvSpPr/>
          <p:nvPr/>
        </p:nvSpPr>
        <p:spPr>
          <a:xfrm>
            <a:off x="705916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2F58877-C153-FED2-F519-F5428527FD51}"/>
              </a:ext>
            </a:extLst>
          </p:cNvPr>
          <p:cNvSpPr/>
          <p:nvPr/>
        </p:nvSpPr>
        <p:spPr>
          <a:xfrm>
            <a:off x="719632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009F74F-958B-1AB2-3F2A-7EA54F81AA01}"/>
              </a:ext>
            </a:extLst>
          </p:cNvPr>
          <p:cNvSpPr/>
          <p:nvPr/>
        </p:nvSpPr>
        <p:spPr>
          <a:xfrm>
            <a:off x="7196328" y="3876141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1A723D2-03EA-506F-9753-8659E1CB919C}"/>
              </a:ext>
            </a:extLst>
          </p:cNvPr>
          <p:cNvSpPr/>
          <p:nvPr/>
        </p:nvSpPr>
        <p:spPr>
          <a:xfrm>
            <a:off x="729919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B425E6D-1E9E-D6B5-F4A6-8485ED3EBCF0}"/>
              </a:ext>
            </a:extLst>
          </p:cNvPr>
          <p:cNvSpPr/>
          <p:nvPr/>
        </p:nvSpPr>
        <p:spPr>
          <a:xfrm>
            <a:off x="7299198" y="3876141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D09D396-894B-1DFB-5223-A1CBEF4F9812}"/>
              </a:ext>
            </a:extLst>
          </p:cNvPr>
          <p:cNvSpPr/>
          <p:nvPr/>
        </p:nvSpPr>
        <p:spPr>
          <a:xfrm>
            <a:off x="740206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6C7C410-1BA3-3A30-EEB1-812FD4E5963B}"/>
              </a:ext>
            </a:extLst>
          </p:cNvPr>
          <p:cNvSpPr/>
          <p:nvPr/>
        </p:nvSpPr>
        <p:spPr>
          <a:xfrm>
            <a:off x="747064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AD4C59C-A932-CB98-454A-AD410B1DD404}"/>
              </a:ext>
            </a:extLst>
          </p:cNvPr>
          <p:cNvSpPr/>
          <p:nvPr/>
        </p:nvSpPr>
        <p:spPr>
          <a:xfrm>
            <a:off x="7984998" y="4137660"/>
            <a:ext cx="155448" cy="15544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F07A7B-F957-D601-1E1C-3B4E01074A6B}"/>
              </a:ext>
            </a:extLst>
          </p:cNvPr>
          <p:cNvSpPr txBox="1"/>
          <p:nvPr/>
        </p:nvSpPr>
        <p:spPr>
          <a:xfrm>
            <a:off x="1785112" y="39085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394D"/>
                </a:solidFill>
              </a:rPr>
              <a:t>20 samples of 1,000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43EA966-5D7A-5BF1-8F10-0EFB030830A8}"/>
              </a:ext>
            </a:extLst>
          </p:cNvPr>
          <p:cNvSpPr txBox="1"/>
          <p:nvPr/>
        </p:nvSpPr>
        <p:spPr>
          <a:xfrm>
            <a:off x="1785112" y="427431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5606B"/>
                </a:solidFill>
              </a:rPr>
              <a:t>range 42% to 48%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FD45EEAF-B430-6FAC-CF41-8CF21CE19992}"/>
              </a:ext>
            </a:extLst>
          </p:cNvPr>
          <p:cNvSpPr/>
          <p:nvPr/>
        </p:nvSpPr>
        <p:spPr>
          <a:xfrm>
            <a:off x="758952" y="5943600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88C00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79A345-A154-50AB-5D87-658BD8C28890}"/>
              </a:ext>
            </a:extLst>
          </p:cNvPr>
          <p:cNvSpPr txBox="1"/>
          <p:nvPr/>
        </p:nvSpPr>
        <p:spPr>
          <a:xfrm>
            <a:off x="758952" y="594360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7A5C00"/>
                </a:solidFill>
              </a:rPr>
              <a:t>SYNTHETIC EXAMPLE DATA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3A9819-6234-19EA-8169-F2C59FB9AFB0}"/>
              </a:ext>
            </a:extLst>
          </p:cNvPr>
          <p:cNvSpPr txBox="1"/>
          <p:nvPr/>
        </p:nvSpPr>
        <p:spPr>
          <a:xfrm>
            <a:off x="3410712" y="5943600"/>
            <a:ext cx="795527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dirty="0">
                <a:solidFill>
                  <a:srgbClr val="55606B"/>
                </a:solidFill>
              </a:rPr>
              <a:t>R code: </a:t>
            </a:r>
            <a:r>
              <a:rPr sz="1200" b="0" i="0" dirty="0" err="1">
                <a:solidFill>
                  <a:srgbClr val="55606B"/>
                </a:solidFill>
              </a:rPr>
              <a:t>synthetic_examples.R</a:t>
            </a:r>
            <a:r>
              <a:rPr sz="1200" b="0" i="0" dirty="0">
                <a:solidFill>
                  <a:srgbClr val="55606B"/>
                </a:solidFill>
              </a:rPr>
              <a:t>, section </a:t>
            </a:r>
            <a:r>
              <a:rPr sz="1200" b="0" i="0" dirty="0" err="1">
                <a:solidFill>
                  <a:srgbClr val="55606B"/>
                </a:solidFill>
              </a:rPr>
              <a:t>W5a</a:t>
            </a:r>
            <a:r>
              <a:rPr sz="1200" b="0" i="0" dirty="0">
                <a:solidFill>
                  <a:srgbClr val="55606B"/>
                </a:solidFill>
              </a:rPr>
              <a:t>. A population where 45% trust; 20 random samples of each size.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A4369A0-3452-2303-B5F2-B5256DE82C7A}"/>
              </a:ext>
            </a:extLst>
          </p:cNvPr>
          <p:cNvSpPr txBox="1"/>
          <p:nvPr/>
        </p:nvSpPr>
        <p:spPr>
          <a:xfrm>
            <a:off x="8679942" y="3200491"/>
            <a:ext cx="2835527" cy="1384995"/>
          </a:xfrm>
          <a:prstGeom prst="rect">
            <a:avLst/>
          </a:prstGeom>
          <a:noFill/>
          <a:ln w="63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400" i="0" dirty="0">
                <a:solidFill>
                  <a:srgbClr val="7A5C00"/>
                </a:solidFill>
              </a:rPr>
              <a:t>In real research we only ever get one of these dots: one survey data collection, e.</a:t>
            </a:r>
            <a:r>
              <a:rPr lang="en-GB" sz="1400" dirty="0">
                <a:solidFill>
                  <a:srgbClr val="7A5C00"/>
                </a:solidFill>
              </a:rPr>
              <a:t>g. the 2010 British Social Attitudes survey, with its sample of 1,060 respondents.</a:t>
            </a:r>
          </a:p>
          <a:p>
            <a:r>
              <a:rPr lang="en-GB" sz="1400" i="0" dirty="0">
                <a:solidFill>
                  <a:srgbClr val="FF0000"/>
                </a:solidFill>
              </a:rPr>
              <a:t>If we are unluck</a:t>
            </a:r>
            <a:r>
              <a:rPr lang="en-GB" sz="1400" dirty="0">
                <a:solidFill>
                  <a:srgbClr val="FF0000"/>
                </a:solidFill>
              </a:rPr>
              <a:t>y, it will be this one.</a:t>
            </a:r>
            <a:endParaRPr lang="en-GB" sz="1400" i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902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shape of chance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graphicFrame>
        <p:nvGraphicFramePr>
          <p:cNvPr id="6" name="Sampling distributions"/>
          <p:cNvGraphicFramePr>
            <a:graphicFrameLocks noGrp="1"/>
          </p:cNvGraphicFramePr>
          <p:nvPr/>
        </p:nvGraphicFramePr>
        <p:xfrm>
          <a:off x="758952" y="1280160"/>
          <a:ext cx="731520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21040" y="1417320"/>
            <a:ext cx="3044952" cy="128016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22208" y="1578254"/>
            <a:ext cx="2642616" cy="958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3F739B"/>
                </a:solidFill>
              </a:rPr>
              <a:t>SE = 4.9 points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3"/>
                </a:solidFill>
              </a:rPr>
              <a:t>spread of estimates, n =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880360"/>
            <a:ext cx="3044952" cy="128016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22208" y="3041294"/>
            <a:ext cx="2642616" cy="958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F394D"/>
                </a:solidFill>
              </a:rPr>
              <a:t>SE = 1.6 points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3"/>
                </a:solidFill>
              </a:rPr>
              <a:t>spread of estimates, n = 1,000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4389120"/>
            <a:ext cx="3044952" cy="890626"/>
          </a:xfrm>
          <a:prstGeom prst="roundRect">
            <a:avLst>
              <a:gd name="adj" fmla="val 8000"/>
            </a:avLst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22208" y="4531181"/>
            <a:ext cx="2642616" cy="543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B88C00"/>
                </a:solidFill>
              </a:rPr>
              <a:t>SE = √(p</a:t>
            </a:r>
            <a:r>
              <a:rPr lang="en-GB" sz="1800" b="1" i="0" dirty="0" err="1">
                <a:solidFill>
                  <a:srgbClr val="B88C00"/>
                </a:solidFill>
              </a:rPr>
              <a:t>rop</a:t>
            </a:r>
            <a:r>
              <a:rPr lang="en-GB" sz="1800" b="1" i="0" dirty="0">
                <a:solidFill>
                  <a:srgbClr val="B88C00"/>
                </a:solidFill>
              </a:rPr>
              <a:t> x </a:t>
            </a:r>
            <a:r>
              <a:rPr sz="1800" b="1" i="0" dirty="0">
                <a:solidFill>
                  <a:srgbClr val="B88C00"/>
                </a:solidFill>
              </a:rPr>
              <a:t>(1 − p</a:t>
            </a:r>
            <a:r>
              <a:rPr lang="en-GB" sz="1800" b="1" i="0" dirty="0" err="1">
                <a:solidFill>
                  <a:srgbClr val="B88C00"/>
                </a:solidFill>
              </a:rPr>
              <a:t>rop</a:t>
            </a:r>
            <a:r>
              <a:rPr sz="1800" b="1" i="0" dirty="0">
                <a:solidFill>
                  <a:srgbClr val="B88C00"/>
                </a:solidFill>
              </a:rPr>
              <a:t>) ÷ n)</a:t>
            </a:r>
          </a:p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CCDDEA"/>
                </a:solidFill>
              </a:rPr>
              <a:t>from one sample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5943600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88C00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594360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7A5C00"/>
                </a:solidFill>
              </a:rPr>
              <a:t>SYNTHETIC EXAMPLE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5943600"/>
            <a:ext cx="795527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5606B"/>
                </a:solidFill>
              </a:rPr>
              <a:t>R code: synthetic_examples.R, section W5b. 10,000 samples of 100 and of 1,000 from a population where 45% trust.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 to the real survey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sp>
        <p:nvSpPr>
          <p:cNvPr id="6" name="Rounded Rectangle 5"/>
          <p:cNvSpPr/>
          <p:nvPr/>
        </p:nvSpPr>
        <p:spPr>
          <a:xfrm>
            <a:off x="758952" y="137160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32534"/>
            <a:ext cx="3026664" cy="1506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94D"/>
                </a:solidFill>
              </a:rPr>
              <a:t>45.4%</a:t>
            </a:r>
          </a:p>
          <a:p>
            <a:pPr algn="l"/>
            <a:r>
              <a:rPr sz="1500" b="1" i="0">
                <a:solidFill>
                  <a:srgbClr val="55606B"/>
                </a:solidFill>
              </a:rPr>
              <a:t>Estimate</a:t>
            </a:r>
          </a:p>
          <a:p>
            <a:pPr algn="l"/>
            <a:r>
              <a:rPr sz="1500" b="0" i="0">
                <a:solidFill>
                  <a:srgbClr val="1F2A33"/>
                </a:solidFill>
              </a:rPr>
              <a:t>481 of 1,060 trust most people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7160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532534"/>
            <a:ext cx="3026664" cy="1506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94D"/>
                </a:solidFill>
              </a:rPr>
              <a:t>1.5 points</a:t>
            </a:r>
          </a:p>
          <a:p>
            <a:pPr algn="l"/>
            <a:r>
              <a:rPr sz="1500" b="1" i="0">
                <a:solidFill>
                  <a:srgbClr val="55606B"/>
                </a:solidFill>
              </a:rPr>
              <a:t>Standard error</a:t>
            </a:r>
          </a:p>
          <a:p>
            <a:pPr algn="l"/>
            <a:r>
              <a:rPr sz="1500" b="0" i="0">
                <a:solidFill>
                  <a:srgbClr val="1F2A33"/>
                </a:solidFill>
              </a:rPr>
              <a:t>√(0.454 × 0.546 ÷ 1,060)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2712" y="137160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80" y="1532534"/>
            <a:ext cx="3026664" cy="1506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B88C00"/>
                </a:solidFill>
              </a:rPr>
              <a:t>42.4% to 48.4%</a:t>
            </a:r>
          </a:p>
          <a:p>
            <a:pPr algn="l"/>
            <a:r>
              <a:rPr sz="1500" b="1" i="0">
                <a:solidFill>
                  <a:srgbClr val="CCDDEA"/>
                </a:solidFill>
              </a:rPr>
              <a:t>95% confidence interval</a:t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estimate ± 1.96 × 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70632" y="5440679"/>
            <a:ext cx="8503920" cy="0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770632" y="5440679"/>
            <a:ext cx="0" cy="64009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2221992" y="5513831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30%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87952" y="5440679"/>
            <a:ext cx="0" cy="64009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3639312" y="5513831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35%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05272" y="5440679"/>
            <a:ext cx="0" cy="64009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5056632" y="5513831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40%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22592" y="5440679"/>
            <a:ext cx="0" cy="64009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473952" y="5513831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45%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39912" y="5440679"/>
            <a:ext cx="0" cy="64009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7891272" y="5513831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50%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57232" y="5440679"/>
            <a:ext cx="0" cy="64009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9308592" y="5513831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55%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274552" y="5440679"/>
            <a:ext cx="0" cy="64009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10725912" y="5513831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60%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79974" y="4181094"/>
            <a:ext cx="1699170" cy="0"/>
          </a:xfrm>
          <a:prstGeom prst="line">
            <a:avLst/>
          </a:prstGeom>
          <a:ln w="63500">
            <a:solidFill>
              <a:srgbClr val="1F394D"/>
            </a:solidFill>
          </a:ln>
        </p:spPr>
      </p:cxnSp>
      <p:sp>
        <p:nvSpPr>
          <p:cNvPr id="28" name="Oval 27"/>
          <p:cNvSpPr/>
          <p:nvPr/>
        </p:nvSpPr>
        <p:spPr>
          <a:xfrm>
            <a:off x="7028975" y="4080509"/>
            <a:ext cx="201168" cy="20116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" y="3998213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394D"/>
                </a:solidFill>
              </a:rPr>
              <a:t>n = 1,060 (actual)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63510" y="4876038"/>
            <a:ext cx="5532098" cy="0"/>
          </a:xfrm>
          <a:prstGeom prst="line">
            <a:avLst/>
          </a:prstGeom>
          <a:ln w="63500">
            <a:solidFill>
              <a:srgbClr val="9AA4AE"/>
            </a:solidFill>
          </a:ln>
        </p:spPr>
      </p:cxnSp>
      <p:sp>
        <p:nvSpPr>
          <p:cNvPr id="31" name="Oval 30"/>
          <p:cNvSpPr/>
          <p:nvPr/>
        </p:nvSpPr>
        <p:spPr>
          <a:xfrm>
            <a:off x="7028975" y="4775453"/>
            <a:ext cx="201168" cy="201168"/>
          </a:xfrm>
          <a:prstGeom prst="ellipse">
            <a:avLst/>
          </a:prstGeom>
          <a:solidFill>
            <a:srgbClr val="9AA4A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" y="4693157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9AA4AE"/>
                </a:solidFill>
              </a:rPr>
              <a:t>n = 100 (hypothetical)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94360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5606B"/>
                </a:solidFill>
              </a:rPr>
              <a:t>Data: British Social Attitudes 2010 (gb-bsa10-trust.sav), n = 1,060. Outcome: “most people can be trusted”.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722315"/>
            <a:ext cx="10043168" cy="49468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Confidence interval for the slope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6745" y="1857375"/>
            <a:ext cx="10398935" cy="4301686"/>
          </a:xfrm>
        </p:spPr>
        <p:txBody>
          <a:bodyPr/>
          <a:lstStyle/>
          <a:p>
            <a:pPr lvl="0"/>
            <a:r>
              <a:rPr b="1" dirty="0"/>
              <a:t>Confidence interval:</a:t>
            </a:r>
            <a:r>
              <a:rPr dirty="0"/>
              <a:t> Provide a </a:t>
            </a:r>
            <a:r>
              <a:rPr b="1" dirty="0"/>
              <a:t>plausible range of values </a:t>
            </a:r>
            <a:r>
              <a:rPr dirty="0"/>
              <a:t>for </a:t>
            </a:r>
            <a:r>
              <a:rPr lang="en-GB" dirty="0"/>
              <a:t>a coefficient </a:t>
            </a:r>
            <a:r>
              <a:rPr b="1" dirty="0"/>
              <a:t>at a given confidence level</a:t>
            </a:r>
            <a:r>
              <a:rPr dirty="0"/>
              <a:t>.</a:t>
            </a:r>
          </a:p>
          <a:p>
            <a:pPr lvl="0"/>
            <a:r>
              <a:rPr dirty="0"/>
              <a:t>Using only a single point estimate is like fishing in a murky lake with a spear, and using a confidence interval is like fishing with a net</a:t>
            </a:r>
            <a:r>
              <a:rPr lang="en-GB" dirty="0"/>
              <a:t>:</a:t>
            </a:r>
            <a:endParaRPr dirty="0"/>
          </a:p>
          <a:p>
            <a:pPr lvl="1"/>
            <a:r>
              <a:rPr dirty="0"/>
              <a:t>We can throw a spear where we saw a </a:t>
            </a:r>
            <a:r>
              <a:rPr lang="en-GB" dirty="0"/>
              <a:t>fish,</a:t>
            </a:r>
            <a:r>
              <a:rPr dirty="0"/>
              <a:t> but we will probably miss</a:t>
            </a:r>
            <a:r>
              <a:rPr lang="en-GB" dirty="0"/>
              <a:t>;</a:t>
            </a:r>
            <a:r>
              <a:rPr dirty="0"/>
              <a:t> if we toss a net in that area, we have a good chance of catching the fish</a:t>
            </a:r>
          </a:p>
          <a:p>
            <a:pPr lvl="1"/>
            <a:r>
              <a:rPr lang="en-GB" dirty="0"/>
              <a:t>If </a:t>
            </a:r>
            <a:r>
              <a:rPr dirty="0"/>
              <a:t>we report </a:t>
            </a:r>
            <a:r>
              <a:rPr lang="en-GB" dirty="0"/>
              <a:t>one </a:t>
            </a:r>
            <a:r>
              <a:rPr dirty="0"/>
              <a:t>point estimate, we probably will not hit the exact population parameter, but if we report a range of plausible </a:t>
            </a:r>
            <a:r>
              <a:rPr lang="en-GB" dirty="0"/>
              <a:t>values,</a:t>
            </a:r>
            <a:r>
              <a:rPr dirty="0"/>
              <a:t> we have a good shot at capturing the parameter</a:t>
            </a:r>
            <a:r>
              <a:rPr lang="en-GB" dirty="0"/>
              <a:t> with that range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Uncertainty and Inference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9ABFB-00D4-8573-2D2A-DD68C8511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“95% confidence” means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cxnSp>
        <p:nvCxnSpPr>
          <p:cNvPr id="6" name="Connector 5"/>
          <p:cNvCxnSpPr/>
          <p:nvPr/>
        </p:nvCxnSpPr>
        <p:spPr>
          <a:xfrm>
            <a:off x="1033271" y="5532120"/>
            <a:ext cx="6766561" cy="0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431304" y="55321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82664" y="56052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30%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6387" y="55321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1877747" y="56052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35%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21469" y="55321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2872829" y="56052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40%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16552" y="55321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3867912" y="56052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45%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11634" y="55321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4862994" y="56052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50%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6716" y="55321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5858076" y="56052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55%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01799" y="55321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853159" y="56052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60%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416552" y="1371600"/>
            <a:ext cx="0" cy="4160520"/>
          </a:xfrm>
          <a:prstGeom prst="line">
            <a:avLst/>
          </a:prstGeom>
          <a:ln w="25400">
            <a:solidFill>
              <a:srgbClr val="B88C00"/>
            </a:solidFill>
            <a:prstDash val="dash"/>
          </a:ln>
        </p:spPr>
      </p:cxnSp>
      <p:cxnSp>
        <p:nvCxnSpPr>
          <p:cNvPr id="22" name="Connector 21"/>
          <p:cNvCxnSpPr/>
          <p:nvPr/>
        </p:nvCxnSpPr>
        <p:spPr>
          <a:xfrm>
            <a:off x="2652987" y="1453178"/>
            <a:ext cx="2731063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3991087" y="1425746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3044351" y="1534757"/>
            <a:ext cx="2744401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4389120" y="1507325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4032520" y="1616336"/>
            <a:ext cx="2758228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5384202" y="1588904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3536704" y="1697915"/>
            <a:ext cx="2754777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4886661" y="1670483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4732461" y="1779494"/>
            <a:ext cx="2751461" cy="0"/>
          </a:xfrm>
          <a:prstGeom prst="line">
            <a:avLst/>
          </a:prstGeom>
          <a:ln w="38100">
            <a:solidFill>
              <a:srgbClr val="B88C00"/>
            </a:solidFill>
          </a:ln>
        </p:spPr>
      </p:cxnSp>
      <p:sp>
        <p:nvSpPr>
          <p:cNvPr id="31" name="Oval 30"/>
          <p:cNvSpPr/>
          <p:nvPr/>
        </p:nvSpPr>
        <p:spPr>
          <a:xfrm>
            <a:off x="6080760" y="1752062"/>
            <a:ext cx="54864" cy="54864"/>
          </a:xfrm>
          <a:prstGeom prst="ellipse">
            <a:avLst/>
          </a:prstGeom>
          <a:solidFill>
            <a:srgbClr val="7A5C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2946299" y="1861072"/>
            <a:ext cx="2741489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4289611" y="1833640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2458155" y="1942651"/>
            <a:ext cx="2722694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3792070" y="1915219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>
            <a:off x="3933081" y="2024230"/>
            <a:ext cx="2758089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37" name="Oval 36"/>
          <p:cNvSpPr/>
          <p:nvPr/>
        </p:nvSpPr>
        <p:spPr>
          <a:xfrm>
            <a:off x="5284694" y="1996798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2555500" y="2105809"/>
            <a:ext cx="2727021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3891578" y="2078377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2848387" y="2187388"/>
            <a:ext cx="2738296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4190103" y="2159956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3044351" y="2268967"/>
            <a:ext cx="2744401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4389120" y="2241535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2652987" y="2350545"/>
            <a:ext cx="2731063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3991087" y="2323113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4032520" y="2432124"/>
            <a:ext cx="2758228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47" name="Oval 46"/>
          <p:cNvSpPr/>
          <p:nvPr/>
        </p:nvSpPr>
        <p:spPr>
          <a:xfrm>
            <a:off x="5384202" y="2404692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2263897" y="2513703"/>
            <a:ext cx="2713177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3593054" y="2486271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2652987" y="2595282"/>
            <a:ext cx="2731063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51" name="Oval 50"/>
          <p:cNvSpPr/>
          <p:nvPr/>
        </p:nvSpPr>
        <p:spPr>
          <a:xfrm>
            <a:off x="3991087" y="2567850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4231812" y="2676861"/>
            <a:ext cx="2757676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53" name="Oval 52"/>
          <p:cNvSpPr/>
          <p:nvPr/>
        </p:nvSpPr>
        <p:spPr>
          <a:xfrm>
            <a:off x="5583218" y="2649429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Connector 53"/>
          <p:cNvCxnSpPr/>
          <p:nvPr/>
        </p:nvCxnSpPr>
        <p:spPr>
          <a:xfrm>
            <a:off x="2360954" y="2758440"/>
            <a:ext cx="2718079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55" name="Oval 54"/>
          <p:cNvSpPr/>
          <p:nvPr/>
        </p:nvSpPr>
        <p:spPr>
          <a:xfrm>
            <a:off x="3692562" y="2731008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>
            <a:off x="3635591" y="2840018"/>
            <a:ext cx="2756020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4986169" y="2812586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8" name="Connector 57"/>
          <p:cNvCxnSpPr/>
          <p:nvPr/>
        </p:nvCxnSpPr>
        <p:spPr>
          <a:xfrm>
            <a:off x="3734616" y="2921597"/>
            <a:ext cx="2756986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59" name="Oval 58"/>
          <p:cNvSpPr/>
          <p:nvPr/>
        </p:nvSpPr>
        <p:spPr>
          <a:xfrm>
            <a:off x="5085677" y="2894165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Connector 59"/>
          <p:cNvCxnSpPr/>
          <p:nvPr/>
        </p:nvCxnSpPr>
        <p:spPr>
          <a:xfrm>
            <a:off x="3536704" y="3003176"/>
            <a:ext cx="2754777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61" name="Oval 60"/>
          <p:cNvSpPr/>
          <p:nvPr/>
        </p:nvSpPr>
        <p:spPr>
          <a:xfrm>
            <a:off x="4886661" y="2975744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Connector 61"/>
          <p:cNvCxnSpPr/>
          <p:nvPr/>
        </p:nvCxnSpPr>
        <p:spPr>
          <a:xfrm>
            <a:off x="2652987" y="3084755"/>
            <a:ext cx="2731063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63" name="Oval 62"/>
          <p:cNvSpPr/>
          <p:nvPr/>
        </p:nvSpPr>
        <p:spPr>
          <a:xfrm>
            <a:off x="3991087" y="3057323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4" name="Connector 63"/>
          <p:cNvCxnSpPr/>
          <p:nvPr/>
        </p:nvCxnSpPr>
        <p:spPr>
          <a:xfrm>
            <a:off x="3142543" y="3166334"/>
            <a:ext cx="2747034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65" name="Oval 64"/>
          <p:cNvSpPr/>
          <p:nvPr/>
        </p:nvSpPr>
        <p:spPr>
          <a:xfrm>
            <a:off x="4488628" y="3138902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" name="Connector 65"/>
          <p:cNvCxnSpPr/>
          <p:nvPr/>
        </p:nvCxnSpPr>
        <p:spPr>
          <a:xfrm>
            <a:off x="2360954" y="3247912"/>
            <a:ext cx="2718079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67" name="Oval 66"/>
          <p:cNvSpPr/>
          <p:nvPr/>
        </p:nvSpPr>
        <p:spPr>
          <a:xfrm>
            <a:off x="3692562" y="3220480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" name="Connector 67"/>
          <p:cNvCxnSpPr/>
          <p:nvPr/>
        </p:nvCxnSpPr>
        <p:spPr>
          <a:xfrm>
            <a:off x="3240874" y="3329491"/>
            <a:ext cx="2749388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69" name="Oval 68"/>
          <p:cNvSpPr/>
          <p:nvPr/>
        </p:nvSpPr>
        <p:spPr>
          <a:xfrm>
            <a:off x="4588136" y="3302059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0" name="Connector 69"/>
          <p:cNvCxnSpPr/>
          <p:nvPr/>
        </p:nvCxnSpPr>
        <p:spPr>
          <a:xfrm>
            <a:off x="3240874" y="3411070"/>
            <a:ext cx="2749388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71" name="Oval 70"/>
          <p:cNvSpPr/>
          <p:nvPr/>
        </p:nvSpPr>
        <p:spPr>
          <a:xfrm>
            <a:off x="4588136" y="3383638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2" name="Connector 71"/>
          <p:cNvCxnSpPr/>
          <p:nvPr/>
        </p:nvCxnSpPr>
        <p:spPr>
          <a:xfrm>
            <a:off x="3240874" y="3492649"/>
            <a:ext cx="2749388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73" name="Oval 72"/>
          <p:cNvSpPr/>
          <p:nvPr/>
        </p:nvSpPr>
        <p:spPr>
          <a:xfrm>
            <a:off x="4588136" y="3465217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4" name="Connector 73"/>
          <p:cNvCxnSpPr/>
          <p:nvPr/>
        </p:nvCxnSpPr>
        <p:spPr>
          <a:xfrm>
            <a:off x="3734616" y="3574228"/>
            <a:ext cx="2756986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75" name="Oval 74"/>
          <p:cNvSpPr/>
          <p:nvPr/>
        </p:nvSpPr>
        <p:spPr>
          <a:xfrm>
            <a:off x="5085677" y="3546796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6" name="Connector 75"/>
          <p:cNvCxnSpPr/>
          <p:nvPr/>
        </p:nvCxnSpPr>
        <p:spPr>
          <a:xfrm>
            <a:off x="3240874" y="3655807"/>
            <a:ext cx="2749388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77" name="Oval 76"/>
          <p:cNvSpPr/>
          <p:nvPr/>
        </p:nvSpPr>
        <p:spPr>
          <a:xfrm>
            <a:off x="4588136" y="3628375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Connector 77"/>
          <p:cNvCxnSpPr/>
          <p:nvPr/>
        </p:nvCxnSpPr>
        <p:spPr>
          <a:xfrm>
            <a:off x="2263897" y="3737385"/>
            <a:ext cx="2713177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79" name="Oval 78"/>
          <p:cNvSpPr/>
          <p:nvPr/>
        </p:nvSpPr>
        <p:spPr>
          <a:xfrm>
            <a:off x="3593054" y="3709953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0" name="Connector 79"/>
          <p:cNvCxnSpPr/>
          <p:nvPr/>
        </p:nvCxnSpPr>
        <p:spPr>
          <a:xfrm>
            <a:off x="2070219" y="3818964"/>
            <a:ext cx="2702500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81" name="Oval 80"/>
          <p:cNvSpPr/>
          <p:nvPr/>
        </p:nvSpPr>
        <p:spPr>
          <a:xfrm>
            <a:off x="3394037" y="3791532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2" name="Connector 81"/>
          <p:cNvCxnSpPr/>
          <p:nvPr/>
        </p:nvCxnSpPr>
        <p:spPr>
          <a:xfrm>
            <a:off x="5135480" y="3900543"/>
            <a:ext cx="2741489" cy="0"/>
          </a:xfrm>
          <a:prstGeom prst="line">
            <a:avLst/>
          </a:prstGeom>
          <a:ln w="38100">
            <a:solidFill>
              <a:srgbClr val="B88C00"/>
            </a:solidFill>
          </a:ln>
        </p:spPr>
      </p:cxnSp>
      <p:sp>
        <p:nvSpPr>
          <p:cNvPr id="83" name="Oval 82"/>
          <p:cNvSpPr/>
          <p:nvPr/>
        </p:nvSpPr>
        <p:spPr>
          <a:xfrm>
            <a:off x="6478792" y="3873111"/>
            <a:ext cx="54864" cy="54864"/>
          </a:xfrm>
          <a:prstGeom prst="ellipse">
            <a:avLst/>
          </a:prstGeom>
          <a:solidFill>
            <a:srgbClr val="7A5C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4" name="Connector 83"/>
          <p:cNvCxnSpPr/>
          <p:nvPr/>
        </p:nvCxnSpPr>
        <p:spPr>
          <a:xfrm>
            <a:off x="2946299" y="3982122"/>
            <a:ext cx="2741489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85" name="Oval 84"/>
          <p:cNvSpPr/>
          <p:nvPr/>
        </p:nvSpPr>
        <p:spPr>
          <a:xfrm>
            <a:off x="4289611" y="3954690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6" name="Connector 85"/>
          <p:cNvCxnSpPr/>
          <p:nvPr/>
        </p:nvCxnSpPr>
        <p:spPr>
          <a:xfrm>
            <a:off x="2458155" y="4063701"/>
            <a:ext cx="2722694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87" name="Oval 86"/>
          <p:cNvSpPr/>
          <p:nvPr/>
        </p:nvSpPr>
        <p:spPr>
          <a:xfrm>
            <a:off x="3792070" y="4036269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8" name="Connector 87"/>
          <p:cNvCxnSpPr/>
          <p:nvPr/>
        </p:nvCxnSpPr>
        <p:spPr>
          <a:xfrm>
            <a:off x="3536704" y="4145280"/>
            <a:ext cx="2754777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89" name="Oval 88"/>
          <p:cNvSpPr/>
          <p:nvPr/>
        </p:nvSpPr>
        <p:spPr>
          <a:xfrm>
            <a:off x="4886661" y="4117847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" name="Connector 89"/>
          <p:cNvCxnSpPr/>
          <p:nvPr/>
        </p:nvCxnSpPr>
        <p:spPr>
          <a:xfrm>
            <a:off x="3933081" y="4226858"/>
            <a:ext cx="2758089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91" name="Oval 90"/>
          <p:cNvSpPr/>
          <p:nvPr/>
        </p:nvSpPr>
        <p:spPr>
          <a:xfrm>
            <a:off x="5284694" y="4199426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2" name="Connector 91"/>
          <p:cNvCxnSpPr/>
          <p:nvPr/>
        </p:nvCxnSpPr>
        <p:spPr>
          <a:xfrm>
            <a:off x="3635591" y="4308437"/>
            <a:ext cx="2756020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93" name="Oval 92"/>
          <p:cNvSpPr/>
          <p:nvPr/>
        </p:nvSpPr>
        <p:spPr>
          <a:xfrm>
            <a:off x="4986169" y="4281005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4" name="Connector 93"/>
          <p:cNvCxnSpPr/>
          <p:nvPr/>
        </p:nvCxnSpPr>
        <p:spPr>
          <a:xfrm>
            <a:off x="3734616" y="4390016"/>
            <a:ext cx="2756986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95" name="Oval 94"/>
          <p:cNvSpPr/>
          <p:nvPr/>
        </p:nvSpPr>
        <p:spPr>
          <a:xfrm>
            <a:off x="5085677" y="4362584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6" name="Connector 95"/>
          <p:cNvCxnSpPr/>
          <p:nvPr/>
        </p:nvCxnSpPr>
        <p:spPr>
          <a:xfrm>
            <a:off x="2555500" y="4471595"/>
            <a:ext cx="2727021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97" name="Oval 96"/>
          <p:cNvSpPr/>
          <p:nvPr/>
        </p:nvSpPr>
        <p:spPr>
          <a:xfrm>
            <a:off x="3891578" y="4444163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8" name="Connector 97"/>
          <p:cNvCxnSpPr/>
          <p:nvPr/>
        </p:nvCxnSpPr>
        <p:spPr>
          <a:xfrm>
            <a:off x="3044351" y="4553174"/>
            <a:ext cx="2744401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99" name="Oval 98"/>
          <p:cNvSpPr/>
          <p:nvPr/>
        </p:nvSpPr>
        <p:spPr>
          <a:xfrm>
            <a:off x="4389120" y="4525742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0" name="Connector 99"/>
          <p:cNvCxnSpPr/>
          <p:nvPr/>
        </p:nvCxnSpPr>
        <p:spPr>
          <a:xfrm>
            <a:off x="4132097" y="4634752"/>
            <a:ext cx="2758090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101" name="Oval 100"/>
          <p:cNvSpPr/>
          <p:nvPr/>
        </p:nvSpPr>
        <p:spPr>
          <a:xfrm>
            <a:off x="5483710" y="4607320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2" name="Connector 101"/>
          <p:cNvCxnSpPr/>
          <p:nvPr/>
        </p:nvCxnSpPr>
        <p:spPr>
          <a:xfrm>
            <a:off x="3734616" y="4716331"/>
            <a:ext cx="2756986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103" name="Oval 102"/>
          <p:cNvSpPr/>
          <p:nvPr/>
        </p:nvSpPr>
        <p:spPr>
          <a:xfrm>
            <a:off x="5085677" y="4688899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4" name="Connector 103"/>
          <p:cNvCxnSpPr/>
          <p:nvPr/>
        </p:nvCxnSpPr>
        <p:spPr>
          <a:xfrm>
            <a:off x="1780804" y="4797910"/>
            <a:ext cx="2684281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105" name="Oval 104"/>
          <p:cNvSpPr/>
          <p:nvPr/>
        </p:nvSpPr>
        <p:spPr>
          <a:xfrm>
            <a:off x="3095512" y="4770478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6" name="Connector 105"/>
          <p:cNvCxnSpPr/>
          <p:nvPr/>
        </p:nvCxnSpPr>
        <p:spPr>
          <a:xfrm>
            <a:off x="2946299" y="4879489"/>
            <a:ext cx="2741489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107" name="Oval 106"/>
          <p:cNvSpPr/>
          <p:nvPr/>
        </p:nvSpPr>
        <p:spPr>
          <a:xfrm>
            <a:off x="4289611" y="4852057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8" name="Connector 107"/>
          <p:cNvCxnSpPr/>
          <p:nvPr/>
        </p:nvCxnSpPr>
        <p:spPr>
          <a:xfrm>
            <a:off x="2166985" y="4961068"/>
            <a:ext cx="2707984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109" name="Oval 108"/>
          <p:cNvSpPr/>
          <p:nvPr/>
        </p:nvSpPr>
        <p:spPr>
          <a:xfrm>
            <a:off x="3493545" y="4933636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0" name="Connector 109"/>
          <p:cNvCxnSpPr/>
          <p:nvPr/>
        </p:nvCxnSpPr>
        <p:spPr>
          <a:xfrm>
            <a:off x="2263897" y="5042647"/>
            <a:ext cx="2713177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111" name="Oval 110"/>
          <p:cNvSpPr/>
          <p:nvPr/>
        </p:nvSpPr>
        <p:spPr>
          <a:xfrm>
            <a:off x="3593054" y="5015215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2" name="Connector 111"/>
          <p:cNvCxnSpPr/>
          <p:nvPr/>
        </p:nvCxnSpPr>
        <p:spPr>
          <a:xfrm>
            <a:off x="4032520" y="5124225"/>
            <a:ext cx="2758228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113" name="Oval 112"/>
          <p:cNvSpPr/>
          <p:nvPr/>
        </p:nvSpPr>
        <p:spPr>
          <a:xfrm>
            <a:off x="5384202" y="5096793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4" name="Connector 113"/>
          <p:cNvCxnSpPr/>
          <p:nvPr/>
        </p:nvCxnSpPr>
        <p:spPr>
          <a:xfrm>
            <a:off x="3635591" y="5205804"/>
            <a:ext cx="2756020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115" name="Oval 114"/>
          <p:cNvSpPr/>
          <p:nvPr/>
        </p:nvSpPr>
        <p:spPr>
          <a:xfrm>
            <a:off x="4986169" y="5178372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6" name="Connector 115"/>
          <p:cNvCxnSpPr/>
          <p:nvPr/>
        </p:nvCxnSpPr>
        <p:spPr>
          <a:xfrm>
            <a:off x="3142543" y="5287383"/>
            <a:ext cx="2747034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117" name="Oval 116"/>
          <p:cNvSpPr/>
          <p:nvPr/>
        </p:nvSpPr>
        <p:spPr>
          <a:xfrm>
            <a:off x="4488628" y="5259951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8" name="Connector 117"/>
          <p:cNvCxnSpPr/>
          <p:nvPr/>
        </p:nvCxnSpPr>
        <p:spPr>
          <a:xfrm>
            <a:off x="1684630" y="5368962"/>
            <a:ext cx="2677612" cy="0"/>
          </a:xfrm>
          <a:prstGeom prst="line">
            <a:avLst/>
          </a:prstGeom>
          <a:ln w="38100">
            <a:solidFill>
              <a:srgbClr val="B88C00"/>
            </a:solidFill>
          </a:ln>
        </p:spPr>
      </p:cxnSp>
      <p:sp>
        <p:nvSpPr>
          <p:cNvPr id="119" name="Oval 118"/>
          <p:cNvSpPr/>
          <p:nvPr/>
        </p:nvSpPr>
        <p:spPr>
          <a:xfrm>
            <a:off x="2996004" y="5341530"/>
            <a:ext cx="54864" cy="54864"/>
          </a:xfrm>
          <a:prstGeom prst="ellipse">
            <a:avLst/>
          </a:prstGeom>
          <a:solidFill>
            <a:srgbClr val="7A5C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0" name="Connector 119"/>
          <p:cNvCxnSpPr/>
          <p:nvPr/>
        </p:nvCxnSpPr>
        <p:spPr>
          <a:xfrm>
            <a:off x="2263897" y="5450541"/>
            <a:ext cx="2713177" cy="0"/>
          </a:xfrm>
          <a:prstGeom prst="line">
            <a:avLst/>
          </a:prstGeom>
          <a:ln w="28575">
            <a:solidFill>
              <a:srgbClr val="1F394D"/>
            </a:solidFill>
          </a:ln>
        </p:spPr>
      </p:cxnSp>
      <p:sp>
        <p:nvSpPr>
          <p:cNvPr id="121" name="Oval 120"/>
          <p:cNvSpPr/>
          <p:nvPr/>
        </p:nvSpPr>
        <p:spPr>
          <a:xfrm>
            <a:off x="3593054" y="5423109"/>
            <a:ext cx="54864" cy="54864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8138160" y="1417320"/>
            <a:ext cx="3227832" cy="2011680"/>
          </a:xfrm>
          <a:prstGeom prst="roundRect">
            <a:avLst>
              <a:gd name="adj" fmla="val 8000"/>
            </a:avLst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339328" y="1578254"/>
            <a:ext cx="2825496" cy="16898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B88C00"/>
                </a:solidFill>
              </a:rPr>
              <a:t>47 of 50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CDDEA"/>
                </a:solidFill>
              </a:rPr>
              <a:t>intervals contain the true 45%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138160" y="3611880"/>
            <a:ext cx="3227832" cy="214884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339328" y="3772814"/>
            <a:ext cx="2825496" cy="1826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94D"/>
                </a:solidFill>
              </a:rPr>
              <a:t>The catch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A33"/>
                </a:solidFill>
              </a:rPr>
              <a:t>With one real sample we can’t tell whether ours is a hit or a miss.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58952" y="5943600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88C00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58952" y="594360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7A5C00"/>
                </a:solidFill>
              </a:rPr>
              <a:t>SYNTHETIC EXAMPLE DATA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410712" y="5943600"/>
            <a:ext cx="795527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5606B"/>
                </a:solidFill>
              </a:rPr>
              <a:t>R code: synthetic_examples.R, section W5c. 50 samples of 200 from a population where 45% trust.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true or false?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758952" y="121615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5606B"/>
                </a:solidFill>
              </a:rPr>
              <a:t>BSA 2010: 45.4% trust most people, 95% CI 42.4% to 48.4% (n = 1,060)</a:t>
            </a:r>
          </a:p>
        </p:txBody>
      </p:sp>
      <p:sp>
        <p:nvSpPr>
          <p:cNvPr id="7" name="Statement 1"/>
          <p:cNvSpPr/>
          <p:nvPr/>
        </p:nvSpPr>
        <p:spPr>
          <a:xfrm>
            <a:off x="758952" y="1783080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956816"/>
            <a:ext cx="548640" cy="54864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1783080"/>
            <a:ext cx="950976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1F2A33"/>
                </a:solidFill>
              </a:rPr>
              <a:t>We can be 95% confident that between 42.4% and 48.4% of adults in Britain in 2010 would say most people can be trusted.</a:t>
            </a:r>
          </a:p>
        </p:txBody>
      </p:sp>
      <p:sp>
        <p:nvSpPr>
          <p:cNvPr id="10" name="Statement 2"/>
          <p:cNvSpPr/>
          <p:nvPr/>
        </p:nvSpPr>
        <p:spPr>
          <a:xfrm>
            <a:off x="758952" y="2807208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980944"/>
            <a:ext cx="548640" cy="54864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2807208"/>
            <a:ext cx="950976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1F2A33"/>
                </a:solidFill>
              </a:rPr>
              <a:t>95% of respondents answered between 42.4% and 48.4%.</a:t>
            </a:r>
          </a:p>
        </p:txBody>
      </p:sp>
      <p:sp>
        <p:nvSpPr>
          <p:cNvPr id="13" name="Statement 3"/>
          <p:cNvSpPr/>
          <p:nvPr/>
        </p:nvSpPr>
        <p:spPr>
          <a:xfrm>
            <a:off x="758952" y="3831336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005072"/>
            <a:ext cx="548640" cy="54864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3831336"/>
            <a:ext cx="950976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1F2A33"/>
                </a:solidFill>
              </a:rPr>
              <a:t>A random sample of 4,000 would give a narrower interval.</a:t>
            </a:r>
          </a:p>
        </p:txBody>
      </p:sp>
      <p:sp>
        <p:nvSpPr>
          <p:cNvPr id="16" name="Statement 4"/>
          <p:cNvSpPr/>
          <p:nvPr/>
        </p:nvSpPr>
        <p:spPr>
          <a:xfrm>
            <a:off x="758952" y="4855464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5029200"/>
            <a:ext cx="548640" cy="54864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855464"/>
            <a:ext cx="950976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1F2A33"/>
                </a:solidFill>
              </a:rPr>
              <a:t>A 95% interval means the survey is 95% accurate.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True or false: answers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758952" y="121615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5606B"/>
                </a:solidFill>
              </a:rPr>
              <a:t>BSA 2010: 45.4% trust most people, 95% CI 42.4% to 48.4% (n = 1,060)</a:t>
            </a:r>
          </a:p>
        </p:txBody>
      </p:sp>
      <p:sp>
        <p:nvSpPr>
          <p:cNvPr id="7" name="Statement 1"/>
          <p:cNvSpPr/>
          <p:nvPr/>
        </p:nvSpPr>
        <p:spPr>
          <a:xfrm>
            <a:off x="758952" y="1783080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956816"/>
            <a:ext cx="548640" cy="54864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1828800"/>
            <a:ext cx="6949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F2A33"/>
                </a:solidFill>
              </a:rPr>
              <a:t>We can be 95% confident that between 42.4% and 48.4% of adults in Britain in 2010 would say most people can be trusted.</a:t>
            </a:r>
          </a:p>
          <a:p>
            <a:pPr algn="l"/>
            <a:r>
              <a:rPr sz="1400" b="0" i="0">
                <a:solidFill>
                  <a:srgbClr val="55606B"/>
                </a:solidFill>
              </a:rPr>
              <a:t>A range of plausible values for the population share.</a:t>
            </a:r>
          </a:p>
        </p:txBody>
      </p:sp>
      <p:sp>
        <p:nvSpPr>
          <p:cNvPr id="10" name="Verdict 1"/>
          <p:cNvSpPr/>
          <p:nvPr/>
        </p:nvSpPr>
        <p:spPr>
          <a:xfrm>
            <a:off x="8823960" y="1965960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2E6B4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23960" y="1965960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Right</a:t>
            </a:r>
          </a:p>
        </p:txBody>
      </p:sp>
      <p:sp>
        <p:nvSpPr>
          <p:cNvPr id="12" name="Statement 2"/>
          <p:cNvSpPr/>
          <p:nvPr/>
        </p:nvSpPr>
        <p:spPr>
          <a:xfrm>
            <a:off x="758952" y="2807208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2980944"/>
            <a:ext cx="548640" cy="54864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2852928"/>
            <a:ext cx="6949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F2A33"/>
                </a:solidFill>
              </a:rPr>
              <a:t>95% of respondents answered between 42.4% and 48.4%.</a:t>
            </a:r>
          </a:p>
          <a:p>
            <a:pPr algn="l"/>
            <a:r>
              <a:rPr sz="1400" b="0" i="0">
                <a:solidFill>
                  <a:srgbClr val="55606B"/>
                </a:solidFill>
              </a:rPr>
              <a:t>The interval is about the population share, not individual answers.</a:t>
            </a:r>
          </a:p>
        </p:txBody>
      </p:sp>
      <p:sp>
        <p:nvSpPr>
          <p:cNvPr id="15" name="Verdict 2"/>
          <p:cNvSpPr/>
          <p:nvPr/>
        </p:nvSpPr>
        <p:spPr>
          <a:xfrm>
            <a:off x="8823960" y="2990088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65640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3960" y="2990088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865640"/>
                </a:solidFill>
              </a:rPr>
              <a:t>Not quite</a:t>
            </a:r>
          </a:p>
        </p:txBody>
      </p:sp>
      <p:sp>
        <p:nvSpPr>
          <p:cNvPr id="17" name="Statement 3"/>
          <p:cNvSpPr/>
          <p:nvPr/>
        </p:nvSpPr>
        <p:spPr>
          <a:xfrm>
            <a:off x="758952" y="3831336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005072"/>
            <a:ext cx="548640" cy="54864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3877056"/>
            <a:ext cx="6949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F2A33"/>
                </a:solidFill>
              </a:rPr>
              <a:t>A random sample of 4,000 would give a narrower interval.</a:t>
            </a:r>
          </a:p>
          <a:p>
            <a:pPr algn="l"/>
            <a:r>
              <a:rPr sz="1400" b="0" i="0">
                <a:solidFill>
                  <a:srgbClr val="55606B"/>
                </a:solidFill>
              </a:rPr>
              <a:t>About half as wide: the SE shrinks with √n.</a:t>
            </a:r>
          </a:p>
        </p:txBody>
      </p:sp>
      <p:sp>
        <p:nvSpPr>
          <p:cNvPr id="20" name="Verdict 3"/>
          <p:cNvSpPr/>
          <p:nvPr/>
        </p:nvSpPr>
        <p:spPr>
          <a:xfrm>
            <a:off x="8823960" y="4014216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2E6B4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60" y="4014216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Right</a:t>
            </a:r>
          </a:p>
        </p:txBody>
      </p:sp>
      <p:sp>
        <p:nvSpPr>
          <p:cNvPr id="22" name="Statement 4"/>
          <p:cNvSpPr/>
          <p:nvPr/>
        </p:nvSpPr>
        <p:spPr>
          <a:xfrm>
            <a:off x="758952" y="4855464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4400" y="5029200"/>
            <a:ext cx="548640" cy="54864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4901184"/>
            <a:ext cx="6949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F2A33"/>
                </a:solidFill>
              </a:rPr>
              <a:t>A 95% interval means the survey is 95% accurate.</a:t>
            </a:r>
          </a:p>
          <a:p>
            <a:pPr algn="l"/>
            <a:r>
              <a:rPr sz="1400" b="0" i="0">
                <a:solidFill>
                  <a:srgbClr val="55606B"/>
                </a:solidFill>
              </a:rPr>
              <a:t>It covers sampling error only, not wording, non-response or coverage problems.</a:t>
            </a:r>
          </a:p>
        </p:txBody>
      </p:sp>
      <p:sp>
        <p:nvSpPr>
          <p:cNvPr id="25" name="Verdict 4"/>
          <p:cNvSpPr/>
          <p:nvPr/>
        </p:nvSpPr>
        <p:spPr>
          <a:xfrm>
            <a:off x="8823960" y="5038344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65640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23960" y="5038344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865640"/>
                </a:solidFill>
              </a:rPr>
              <a:t>Not quite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Hypothesis</a:t>
            </a:r>
          </a:p>
          <a:p>
            <a:r>
              <a:rPr sz="4000"/>
              <a:t>tests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sz="2400"/>
              <a:t>Could the result just be chance?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Hypothesis testing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0"/>
                <a:r>
                  <a:t>Start with a null hypothesis,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t> that represents the status quo</a:t>
                </a:r>
              </a:p>
              <a:p>
                <a:pPr lvl="0"/>
                <a:r>
                  <a:t>Set an alternative hypothesis,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t> that represents the research question, i.e. what we’re testing for</a:t>
                </a:r>
              </a:p>
              <a:p>
                <a:pPr lvl="0"/>
                <a:r>
                  <a:t>Conduct a hypothesis test under the assumption that the null hypothesis is true and calculate a </a:t>
                </a:r>
                <a:r>
                  <a:rPr b="1"/>
                  <a:t>p-value</a:t>
                </a:r>
                <a:r>
                  <a:t> (probability of observed or more extreme outcome given that the null hypothesis is true)</a:t>
                </a:r>
              </a:p>
              <a:p>
                <a:pPr lvl="1"/>
                <a:r>
                  <a:t>if the test results suggest that the data do not provide convincing evidence for the alternative hypothesis, stick with the null hypothesis</a:t>
                </a:r>
              </a:p>
              <a:p>
                <a:pPr lvl="1"/>
                <a:r>
                  <a:t>if they do, then reject the null hypothesis in favour of the alternative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1172" t="-2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Uncertainty and Inference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9B49F-A0A0-C054-8EB5-0A18CF273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56104-5C50-972F-E964-795393614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Hypothesis testing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93158-B3FE-4B91-C71C-9777D9AD9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GB" sz="3200" b="0" i="0" u="none" strike="noStrike" baseline="0" dirty="0">
                <a:solidFill>
                  <a:srgbClr val="2C3E50"/>
                </a:solidFill>
                <a:latin typeface="FiraSans-Book-Identity-H"/>
              </a:rPr>
              <a:t>Statistical hypothesis testing is a </a:t>
            </a:r>
            <a:r>
              <a:rPr lang="en-GB" sz="3200" b="1" i="0" u="none" strike="noStrike" baseline="0" dirty="0">
                <a:solidFill>
                  <a:srgbClr val="2C3E50"/>
                </a:solidFill>
                <a:latin typeface="FiraSans-Bold-Identity-H"/>
              </a:rPr>
              <a:t>thought experiment</a:t>
            </a:r>
            <a:r>
              <a:rPr lang="en-GB" sz="3200" b="0" i="0" u="none" strike="noStrike" baseline="0" dirty="0">
                <a:solidFill>
                  <a:srgbClr val="2C3E50"/>
                </a:solidFill>
                <a:latin typeface="FiraSans-Book-Identity-H"/>
              </a:rPr>
              <a:t>.</a:t>
            </a:r>
          </a:p>
          <a:p>
            <a:pPr lvl="1"/>
            <a:r>
              <a:rPr lang="en-GB" sz="2300" b="0" i="0" u="none" strike="noStrike" baseline="0" dirty="0">
                <a:solidFill>
                  <a:srgbClr val="2C3E50"/>
                </a:solidFill>
                <a:latin typeface="FiraSans-Book-Identity-H"/>
              </a:rPr>
              <a:t>Could our results just be due to random chance?</a:t>
            </a:r>
          </a:p>
          <a:p>
            <a:pPr lvl="1"/>
            <a:r>
              <a:rPr lang="en-GB" sz="2300" b="0" i="0" u="none" strike="noStrike" baseline="0" dirty="0">
                <a:solidFill>
                  <a:srgbClr val="2C3E50"/>
                </a:solidFill>
                <a:latin typeface="FiraSans-Book-Identity-H"/>
              </a:rPr>
              <a:t>What would the world look like </a:t>
            </a:r>
            <a:r>
              <a:rPr lang="en-GB" sz="2300" b="1" i="0" u="none" strike="noStrike" baseline="0" dirty="0">
                <a:solidFill>
                  <a:srgbClr val="2C3E50"/>
                </a:solidFill>
                <a:latin typeface="FiraSans-Bold-Identity-H"/>
              </a:rPr>
              <a:t>if we knew the truth</a:t>
            </a:r>
            <a:r>
              <a:rPr lang="en-GB" sz="2300" b="0" i="0" u="none" strike="noStrike" baseline="0" dirty="0">
                <a:solidFill>
                  <a:srgbClr val="2C3E50"/>
                </a:solidFill>
                <a:latin typeface="FiraSans-Book-Identity-H"/>
              </a:rPr>
              <a:t>?</a:t>
            </a:r>
          </a:p>
          <a:p>
            <a:pPr algn="l"/>
            <a:r>
              <a:rPr lang="en-GB" sz="3200" b="0" i="0" u="none" strike="noStrike" baseline="0" dirty="0">
                <a:solidFill>
                  <a:srgbClr val="2C3E50"/>
                </a:solidFill>
                <a:latin typeface="FiraSans-Book-Identity-H"/>
              </a:rPr>
              <a:t>Example:</a:t>
            </a:r>
          </a:p>
          <a:p>
            <a:pPr lvl="1"/>
            <a:r>
              <a:rPr lang="en-GB" sz="2300" b="0" i="0" u="none" strike="noStrike" baseline="0" dirty="0">
                <a:solidFill>
                  <a:srgbClr val="2C3E50"/>
                </a:solidFill>
                <a:latin typeface="FiraSans-Book-Identity-H"/>
              </a:rPr>
              <a:t>An analyst claims that 20% of Newcastle households are in poverty.</a:t>
            </a:r>
          </a:p>
          <a:p>
            <a:pPr lvl="1"/>
            <a:r>
              <a:rPr lang="en-GB" sz="2300" b="0" i="0" u="none" strike="noStrike" baseline="0" dirty="0">
                <a:solidFill>
                  <a:srgbClr val="2C3E50"/>
                </a:solidFill>
                <a:latin typeface="FiraSans-Book-Identity-H"/>
              </a:rPr>
              <a:t>You take a sample of 500 households and find that 23% of the sample is under the poverty line.</a:t>
            </a:r>
          </a:p>
          <a:p>
            <a:pPr marL="201168" lvl="1" indent="0">
              <a:buNone/>
            </a:pPr>
            <a:endParaRPr lang="en-GB" sz="2300" b="0" i="0" u="none" strike="noStrike" baseline="0" dirty="0">
              <a:solidFill>
                <a:srgbClr val="2C3E50"/>
              </a:solidFill>
              <a:latin typeface="FiraSans-Book-Identity-H"/>
            </a:endParaRPr>
          </a:p>
          <a:p>
            <a:pPr lvl="1"/>
            <a:r>
              <a:rPr lang="en-GB" b="0" i="0" u="none" strike="noStrike" baseline="0" dirty="0">
                <a:solidFill>
                  <a:srgbClr val="2C3E50"/>
                </a:solidFill>
                <a:latin typeface="FiraSans-Book-Identity-H"/>
              </a:rPr>
              <a:t>Should you conclude that the analyst is wrong?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23719-8C28-BB85-24E6-9A5322B52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79C07-DA35-4DFC-639A-138CAD9F6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5106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Could it just be chance?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cxnSp>
        <p:nvCxnSpPr>
          <p:cNvPr id="6" name="Connector 5"/>
          <p:cNvCxnSpPr/>
          <p:nvPr/>
        </p:nvCxnSpPr>
        <p:spPr>
          <a:xfrm>
            <a:off x="1033271" y="5029200"/>
            <a:ext cx="7223761" cy="0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33271" y="502920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484631" y="51023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14%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37231" y="502920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1688591" y="51023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16%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41191" y="502920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2892551" y="51023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18%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45152" y="502920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4096512" y="51023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20%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49112" y="502920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5300472" y="51023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22%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53071" y="502920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504431" y="51023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24%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57032" y="502920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7708392" y="51023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26%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5376672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Share in poverty in a sample of 500, if the true share were 20%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1033271" y="5017716"/>
            <a:ext cx="0" cy="11484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1093469" y="5015369"/>
            <a:ext cx="0" cy="13831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1153667" y="5012595"/>
            <a:ext cx="0" cy="16605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1213865" y="5009327"/>
            <a:ext cx="0" cy="19873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1274063" y="5005489"/>
            <a:ext cx="0" cy="23711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1334261" y="5000999"/>
            <a:ext cx="0" cy="28201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1394459" y="4995762"/>
            <a:ext cx="0" cy="33438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1454657" y="4989678"/>
            <a:ext cx="0" cy="39522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514855" y="4982631"/>
            <a:ext cx="0" cy="46569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575053" y="4974500"/>
            <a:ext cx="0" cy="54700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635251" y="4965149"/>
            <a:ext cx="0" cy="64051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33" name="Connector 32"/>
          <p:cNvCxnSpPr/>
          <p:nvPr/>
        </p:nvCxnSpPr>
        <p:spPr>
          <a:xfrm flipV="1">
            <a:off x="1695449" y="4954434"/>
            <a:ext cx="0" cy="74766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34" name="Connector 33"/>
          <p:cNvCxnSpPr/>
          <p:nvPr/>
        </p:nvCxnSpPr>
        <p:spPr>
          <a:xfrm flipV="1">
            <a:off x="1755647" y="4942199"/>
            <a:ext cx="0" cy="87001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1815845" y="4928277"/>
            <a:ext cx="0" cy="100923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36" name="Connector 35"/>
          <p:cNvCxnSpPr/>
          <p:nvPr/>
        </p:nvCxnSpPr>
        <p:spPr>
          <a:xfrm flipV="1">
            <a:off x="1876043" y="4912493"/>
            <a:ext cx="0" cy="116707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37" name="Connector 36"/>
          <p:cNvCxnSpPr/>
          <p:nvPr/>
        </p:nvCxnSpPr>
        <p:spPr>
          <a:xfrm flipV="1">
            <a:off x="1936241" y="4894661"/>
            <a:ext cx="0" cy="134539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38" name="Connector 37"/>
          <p:cNvCxnSpPr/>
          <p:nvPr/>
        </p:nvCxnSpPr>
        <p:spPr>
          <a:xfrm flipV="1">
            <a:off x="1996439" y="4874588"/>
            <a:ext cx="0" cy="154612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39" name="Connector 38"/>
          <p:cNvCxnSpPr/>
          <p:nvPr/>
        </p:nvCxnSpPr>
        <p:spPr>
          <a:xfrm flipV="1">
            <a:off x="2056637" y="4852075"/>
            <a:ext cx="0" cy="177125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40" name="Connector 39"/>
          <p:cNvCxnSpPr/>
          <p:nvPr/>
        </p:nvCxnSpPr>
        <p:spPr>
          <a:xfrm flipV="1">
            <a:off x="2116835" y="4826917"/>
            <a:ext cx="0" cy="202283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41" name="Connector 40"/>
          <p:cNvCxnSpPr/>
          <p:nvPr/>
        </p:nvCxnSpPr>
        <p:spPr>
          <a:xfrm flipV="1">
            <a:off x="2177033" y="4798906"/>
            <a:ext cx="0" cy="230294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2237231" y="4767835"/>
            <a:ext cx="0" cy="261365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43" name="Connector 42"/>
          <p:cNvCxnSpPr/>
          <p:nvPr/>
        </p:nvCxnSpPr>
        <p:spPr>
          <a:xfrm flipV="1">
            <a:off x="2297429" y="4733497"/>
            <a:ext cx="0" cy="295703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2357627" y="4695692"/>
            <a:ext cx="0" cy="333508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45" name="Connector 44"/>
          <p:cNvCxnSpPr/>
          <p:nvPr/>
        </p:nvCxnSpPr>
        <p:spPr>
          <a:xfrm flipV="1">
            <a:off x="2417825" y="4654227"/>
            <a:ext cx="0" cy="374973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46" name="Connector 45"/>
          <p:cNvCxnSpPr/>
          <p:nvPr/>
        </p:nvCxnSpPr>
        <p:spPr>
          <a:xfrm flipV="1">
            <a:off x="2478023" y="4608922"/>
            <a:ext cx="0" cy="420278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47" name="Connector 46"/>
          <p:cNvCxnSpPr/>
          <p:nvPr/>
        </p:nvCxnSpPr>
        <p:spPr>
          <a:xfrm flipV="1">
            <a:off x="2538221" y="4559613"/>
            <a:ext cx="0" cy="469587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48" name="Connector 47"/>
          <p:cNvCxnSpPr/>
          <p:nvPr/>
        </p:nvCxnSpPr>
        <p:spPr>
          <a:xfrm flipV="1">
            <a:off x="2598420" y="4506155"/>
            <a:ext cx="0" cy="523045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49" name="Connector 48"/>
          <p:cNvCxnSpPr/>
          <p:nvPr/>
        </p:nvCxnSpPr>
        <p:spPr>
          <a:xfrm flipV="1">
            <a:off x="2658618" y="4448430"/>
            <a:ext cx="0" cy="580770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50" name="Connector 49"/>
          <p:cNvCxnSpPr/>
          <p:nvPr/>
        </p:nvCxnSpPr>
        <p:spPr>
          <a:xfrm flipV="1">
            <a:off x="2718816" y="4386347"/>
            <a:ext cx="0" cy="642853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51" name="Connector 50"/>
          <p:cNvCxnSpPr/>
          <p:nvPr/>
        </p:nvCxnSpPr>
        <p:spPr>
          <a:xfrm flipV="1">
            <a:off x="2779014" y="4319846"/>
            <a:ext cx="0" cy="709354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52" name="Connector 51"/>
          <p:cNvCxnSpPr/>
          <p:nvPr/>
        </p:nvCxnSpPr>
        <p:spPr>
          <a:xfrm flipV="1">
            <a:off x="2839212" y="4248909"/>
            <a:ext cx="0" cy="780291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53" name="Connector 52"/>
          <p:cNvCxnSpPr/>
          <p:nvPr/>
        </p:nvCxnSpPr>
        <p:spPr>
          <a:xfrm flipV="1">
            <a:off x="6451092" y="4248909"/>
            <a:ext cx="0" cy="780291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54" name="Connector 53"/>
          <p:cNvCxnSpPr/>
          <p:nvPr/>
        </p:nvCxnSpPr>
        <p:spPr>
          <a:xfrm flipV="1">
            <a:off x="6511290" y="4319846"/>
            <a:ext cx="0" cy="709354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55" name="Connector 54"/>
          <p:cNvCxnSpPr/>
          <p:nvPr/>
        </p:nvCxnSpPr>
        <p:spPr>
          <a:xfrm flipV="1">
            <a:off x="6571488" y="4386347"/>
            <a:ext cx="0" cy="642853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56" name="Connector 55"/>
          <p:cNvCxnSpPr/>
          <p:nvPr/>
        </p:nvCxnSpPr>
        <p:spPr>
          <a:xfrm flipV="1">
            <a:off x="6631686" y="4448430"/>
            <a:ext cx="0" cy="580770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57" name="Connector 56"/>
          <p:cNvCxnSpPr/>
          <p:nvPr/>
        </p:nvCxnSpPr>
        <p:spPr>
          <a:xfrm flipV="1">
            <a:off x="6691884" y="4506155"/>
            <a:ext cx="0" cy="523045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6752081" y="4559613"/>
            <a:ext cx="0" cy="469587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59" name="Connector 58"/>
          <p:cNvCxnSpPr/>
          <p:nvPr/>
        </p:nvCxnSpPr>
        <p:spPr>
          <a:xfrm flipV="1">
            <a:off x="6812279" y="4608922"/>
            <a:ext cx="0" cy="420278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6872477" y="4654227"/>
            <a:ext cx="0" cy="374973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61" name="Connector 60"/>
          <p:cNvCxnSpPr/>
          <p:nvPr/>
        </p:nvCxnSpPr>
        <p:spPr>
          <a:xfrm flipV="1">
            <a:off x="6932675" y="4695692"/>
            <a:ext cx="0" cy="333508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62" name="Connector 61"/>
          <p:cNvCxnSpPr/>
          <p:nvPr/>
        </p:nvCxnSpPr>
        <p:spPr>
          <a:xfrm flipV="1">
            <a:off x="6992873" y="4733497"/>
            <a:ext cx="0" cy="295703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63" name="Connector 62"/>
          <p:cNvCxnSpPr/>
          <p:nvPr/>
        </p:nvCxnSpPr>
        <p:spPr>
          <a:xfrm flipV="1">
            <a:off x="7053071" y="4767835"/>
            <a:ext cx="0" cy="261365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64" name="Connector 63"/>
          <p:cNvCxnSpPr/>
          <p:nvPr/>
        </p:nvCxnSpPr>
        <p:spPr>
          <a:xfrm flipV="1">
            <a:off x="7113269" y="4798906"/>
            <a:ext cx="0" cy="230294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65" name="Connector 64"/>
          <p:cNvCxnSpPr/>
          <p:nvPr/>
        </p:nvCxnSpPr>
        <p:spPr>
          <a:xfrm flipV="1">
            <a:off x="7173467" y="4826917"/>
            <a:ext cx="0" cy="202283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66" name="Connector 65"/>
          <p:cNvCxnSpPr/>
          <p:nvPr/>
        </p:nvCxnSpPr>
        <p:spPr>
          <a:xfrm flipV="1">
            <a:off x="7233665" y="4852075"/>
            <a:ext cx="0" cy="177125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67" name="Connector 66"/>
          <p:cNvCxnSpPr/>
          <p:nvPr/>
        </p:nvCxnSpPr>
        <p:spPr>
          <a:xfrm flipV="1">
            <a:off x="7293864" y="4874588"/>
            <a:ext cx="0" cy="154612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68" name="Connector 67"/>
          <p:cNvCxnSpPr/>
          <p:nvPr/>
        </p:nvCxnSpPr>
        <p:spPr>
          <a:xfrm flipV="1">
            <a:off x="7354062" y="4894661"/>
            <a:ext cx="0" cy="134539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69" name="Connector 68"/>
          <p:cNvCxnSpPr/>
          <p:nvPr/>
        </p:nvCxnSpPr>
        <p:spPr>
          <a:xfrm flipV="1">
            <a:off x="7414259" y="4912493"/>
            <a:ext cx="0" cy="116707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70" name="Connector 69"/>
          <p:cNvCxnSpPr/>
          <p:nvPr/>
        </p:nvCxnSpPr>
        <p:spPr>
          <a:xfrm flipV="1">
            <a:off x="7474458" y="4928277"/>
            <a:ext cx="0" cy="100923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71" name="Connector 70"/>
          <p:cNvCxnSpPr/>
          <p:nvPr/>
        </p:nvCxnSpPr>
        <p:spPr>
          <a:xfrm flipV="1">
            <a:off x="7534655" y="4942199"/>
            <a:ext cx="0" cy="87001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72" name="Connector 71"/>
          <p:cNvCxnSpPr/>
          <p:nvPr/>
        </p:nvCxnSpPr>
        <p:spPr>
          <a:xfrm flipV="1">
            <a:off x="7594853" y="4954434"/>
            <a:ext cx="0" cy="74766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73" name="Connector 72"/>
          <p:cNvCxnSpPr/>
          <p:nvPr/>
        </p:nvCxnSpPr>
        <p:spPr>
          <a:xfrm flipV="1">
            <a:off x="7655051" y="4965149"/>
            <a:ext cx="0" cy="64051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74" name="Connector 73"/>
          <p:cNvCxnSpPr/>
          <p:nvPr/>
        </p:nvCxnSpPr>
        <p:spPr>
          <a:xfrm flipV="1">
            <a:off x="7715250" y="4974500"/>
            <a:ext cx="0" cy="54700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75" name="Connector 74"/>
          <p:cNvCxnSpPr/>
          <p:nvPr/>
        </p:nvCxnSpPr>
        <p:spPr>
          <a:xfrm flipV="1">
            <a:off x="7775448" y="4982631"/>
            <a:ext cx="0" cy="46569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76" name="Connector 75"/>
          <p:cNvCxnSpPr/>
          <p:nvPr/>
        </p:nvCxnSpPr>
        <p:spPr>
          <a:xfrm flipV="1">
            <a:off x="7835646" y="4989678"/>
            <a:ext cx="0" cy="39522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77" name="Connector 76"/>
          <p:cNvCxnSpPr/>
          <p:nvPr/>
        </p:nvCxnSpPr>
        <p:spPr>
          <a:xfrm flipV="1">
            <a:off x="7895844" y="4995762"/>
            <a:ext cx="0" cy="33438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78" name="Connector 77"/>
          <p:cNvCxnSpPr/>
          <p:nvPr/>
        </p:nvCxnSpPr>
        <p:spPr>
          <a:xfrm flipV="1">
            <a:off x="7956041" y="5000999"/>
            <a:ext cx="0" cy="28201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79" name="Connector 78"/>
          <p:cNvCxnSpPr/>
          <p:nvPr/>
        </p:nvCxnSpPr>
        <p:spPr>
          <a:xfrm flipV="1">
            <a:off x="8016239" y="5005489"/>
            <a:ext cx="0" cy="23711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80" name="Connector 79"/>
          <p:cNvCxnSpPr/>
          <p:nvPr/>
        </p:nvCxnSpPr>
        <p:spPr>
          <a:xfrm flipV="1">
            <a:off x="8076438" y="5009327"/>
            <a:ext cx="0" cy="19873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81" name="Connector 80"/>
          <p:cNvCxnSpPr/>
          <p:nvPr/>
        </p:nvCxnSpPr>
        <p:spPr>
          <a:xfrm flipV="1">
            <a:off x="8136636" y="5012595"/>
            <a:ext cx="0" cy="16605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82" name="Connector 81"/>
          <p:cNvCxnSpPr/>
          <p:nvPr/>
        </p:nvCxnSpPr>
        <p:spPr>
          <a:xfrm flipV="1">
            <a:off x="8196834" y="5015369"/>
            <a:ext cx="0" cy="13831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83" name="Connector 82"/>
          <p:cNvCxnSpPr/>
          <p:nvPr/>
        </p:nvCxnSpPr>
        <p:spPr>
          <a:xfrm flipV="1">
            <a:off x="8257032" y="5017716"/>
            <a:ext cx="0" cy="11484"/>
          </a:xfrm>
          <a:prstGeom prst="line">
            <a:avLst/>
          </a:prstGeom>
          <a:ln w="20320">
            <a:solidFill>
              <a:srgbClr val="E9D38C"/>
            </a:solidFill>
          </a:ln>
        </p:spPr>
      </p:cxnSp>
      <p:cxnSp>
        <p:nvCxnSpPr>
          <p:cNvPr id="84" name="Connector 83"/>
          <p:cNvCxnSpPr/>
          <p:nvPr/>
        </p:nvCxnSpPr>
        <p:spPr>
          <a:xfrm flipV="1">
            <a:off x="1033271" y="5015369"/>
            <a:ext cx="60198" cy="2347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85" name="Connector 84"/>
          <p:cNvCxnSpPr/>
          <p:nvPr/>
        </p:nvCxnSpPr>
        <p:spPr>
          <a:xfrm flipV="1">
            <a:off x="1093469" y="5012595"/>
            <a:ext cx="60198" cy="2774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86" name="Connector 85"/>
          <p:cNvCxnSpPr/>
          <p:nvPr/>
        </p:nvCxnSpPr>
        <p:spPr>
          <a:xfrm flipV="1">
            <a:off x="1153667" y="5009327"/>
            <a:ext cx="60198" cy="326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87" name="Connector 86"/>
          <p:cNvCxnSpPr/>
          <p:nvPr/>
        </p:nvCxnSpPr>
        <p:spPr>
          <a:xfrm flipV="1">
            <a:off x="1213865" y="5005489"/>
            <a:ext cx="60198" cy="383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88" name="Connector 87"/>
          <p:cNvCxnSpPr/>
          <p:nvPr/>
        </p:nvCxnSpPr>
        <p:spPr>
          <a:xfrm flipV="1">
            <a:off x="1274063" y="5000999"/>
            <a:ext cx="60198" cy="4490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89" name="Connector 88"/>
          <p:cNvCxnSpPr/>
          <p:nvPr/>
        </p:nvCxnSpPr>
        <p:spPr>
          <a:xfrm flipV="1">
            <a:off x="1334261" y="4995762"/>
            <a:ext cx="60198" cy="5237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90" name="Connector 89"/>
          <p:cNvCxnSpPr/>
          <p:nvPr/>
        </p:nvCxnSpPr>
        <p:spPr>
          <a:xfrm flipV="1">
            <a:off x="1394459" y="4989678"/>
            <a:ext cx="60198" cy="6084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91" name="Connector 90"/>
          <p:cNvCxnSpPr/>
          <p:nvPr/>
        </p:nvCxnSpPr>
        <p:spPr>
          <a:xfrm flipV="1">
            <a:off x="1454657" y="4982631"/>
            <a:ext cx="60198" cy="7047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92" name="Connector 91"/>
          <p:cNvCxnSpPr/>
          <p:nvPr/>
        </p:nvCxnSpPr>
        <p:spPr>
          <a:xfrm flipV="1">
            <a:off x="1514855" y="4974500"/>
            <a:ext cx="60198" cy="8131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93" name="Connector 92"/>
          <p:cNvCxnSpPr/>
          <p:nvPr/>
        </p:nvCxnSpPr>
        <p:spPr>
          <a:xfrm flipV="1">
            <a:off x="1575053" y="4965149"/>
            <a:ext cx="60198" cy="9351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94" name="Connector 93"/>
          <p:cNvCxnSpPr/>
          <p:nvPr/>
        </p:nvCxnSpPr>
        <p:spPr>
          <a:xfrm flipV="1">
            <a:off x="1635251" y="4954434"/>
            <a:ext cx="60198" cy="1071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95" name="Connector 94"/>
          <p:cNvCxnSpPr/>
          <p:nvPr/>
        </p:nvCxnSpPr>
        <p:spPr>
          <a:xfrm flipV="1">
            <a:off x="1695449" y="4942199"/>
            <a:ext cx="60198" cy="1223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96" name="Connector 95"/>
          <p:cNvCxnSpPr/>
          <p:nvPr/>
        </p:nvCxnSpPr>
        <p:spPr>
          <a:xfrm flipV="1">
            <a:off x="1755647" y="4928277"/>
            <a:ext cx="60198" cy="13922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97" name="Connector 96"/>
          <p:cNvCxnSpPr/>
          <p:nvPr/>
        </p:nvCxnSpPr>
        <p:spPr>
          <a:xfrm flipV="1">
            <a:off x="1815845" y="4912493"/>
            <a:ext cx="60198" cy="15784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98" name="Connector 97"/>
          <p:cNvCxnSpPr/>
          <p:nvPr/>
        </p:nvCxnSpPr>
        <p:spPr>
          <a:xfrm flipV="1">
            <a:off x="1876043" y="4894661"/>
            <a:ext cx="60198" cy="17832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99" name="Connector 98"/>
          <p:cNvCxnSpPr/>
          <p:nvPr/>
        </p:nvCxnSpPr>
        <p:spPr>
          <a:xfrm flipV="1">
            <a:off x="1936241" y="4874588"/>
            <a:ext cx="60198" cy="20073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00" name="Connector 99"/>
          <p:cNvCxnSpPr/>
          <p:nvPr/>
        </p:nvCxnSpPr>
        <p:spPr>
          <a:xfrm flipV="1">
            <a:off x="1996439" y="4852075"/>
            <a:ext cx="60198" cy="22513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01" name="Connector 100"/>
          <p:cNvCxnSpPr/>
          <p:nvPr/>
        </p:nvCxnSpPr>
        <p:spPr>
          <a:xfrm flipV="1">
            <a:off x="2056637" y="4826917"/>
            <a:ext cx="60198" cy="2515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02" name="Connector 101"/>
          <p:cNvCxnSpPr/>
          <p:nvPr/>
        </p:nvCxnSpPr>
        <p:spPr>
          <a:xfrm flipV="1">
            <a:off x="2116835" y="4798906"/>
            <a:ext cx="60198" cy="28011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03" name="Connector 102"/>
          <p:cNvCxnSpPr/>
          <p:nvPr/>
        </p:nvCxnSpPr>
        <p:spPr>
          <a:xfrm flipV="1">
            <a:off x="2177033" y="4767835"/>
            <a:ext cx="60198" cy="31071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04" name="Connector 103"/>
          <p:cNvCxnSpPr/>
          <p:nvPr/>
        </p:nvCxnSpPr>
        <p:spPr>
          <a:xfrm flipV="1">
            <a:off x="2237231" y="4733497"/>
            <a:ext cx="60198" cy="3433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05" name="Connector 104"/>
          <p:cNvCxnSpPr/>
          <p:nvPr/>
        </p:nvCxnSpPr>
        <p:spPr>
          <a:xfrm flipV="1">
            <a:off x="2297429" y="4695692"/>
            <a:ext cx="60198" cy="3780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06" name="Connector 105"/>
          <p:cNvCxnSpPr/>
          <p:nvPr/>
        </p:nvCxnSpPr>
        <p:spPr>
          <a:xfrm flipV="1">
            <a:off x="2357627" y="4654227"/>
            <a:ext cx="60198" cy="4146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07" name="Connector 106"/>
          <p:cNvCxnSpPr/>
          <p:nvPr/>
        </p:nvCxnSpPr>
        <p:spPr>
          <a:xfrm flipV="1">
            <a:off x="2417825" y="4608922"/>
            <a:ext cx="60198" cy="4530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08" name="Connector 107"/>
          <p:cNvCxnSpPr/>
          <p:nvPr/>
        </p:nvCxnSpPr>
        <p:spPr>
          <a:xfrm flipV="1">
            <a:off x="2478023" y="4559613"/>
            <a:ext cx="60198" cy="49309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09" name="Connector 108"/>
          <p:cNvCxnSpPr/>
          <p:nvPr/>
        </p:nvCxnSpPr>
        <p:spPr>
          <a:xfrm flipV="1">
            <a:off x="2538221" y="4506155"/>
            <a:ext cx="60199" cy="5345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10" name="Connector 109"/>
          <p:cNvCxnSpPr/>
          <p:nvPr/>
        </p:nvCxnSpPr>
        <p:spPr>
          <a:xfrm flipV="1">
            <a:off x="2598420" y="4448430"/>
            <a:ext cx="60198" cy="5772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11" name="Connector 110"/>
          <p:cNvCxnSpPr/>
          <p:nvPr/>
        </p:nvCxnSpPr>
        <p:spPr>
          <a:xfrm flipV="1">
            <a:off x="2658618" y="4386347"/>
            <a:ext cx="60198" cy="62083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12" name="Connector 111"/>
          <p:cNvCxnSpPr/>
          <p:nvPr/>
        </p:nvCxnSpPr>
        <p:spPr>
          <a:xfrm flipV="1">
            <a:off x="2718816" y="4319846"/>
            <a:ext cx="60198" cy="66501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13" name="Connector 112"/>
          <p:cNvCxnSpPr/>
          <p:nvPr/>
        </p:nvCxnSpPr>
        <p:spPr>
          <a:xfrm flipV="1">
            <a:off x="2779014" y="4248909"/>
            <a:ext cx="60198" cy="70937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14" name="Connector 113"/>
          <p:cNvCxnSpPr/>
          <p:nvPr/>
        </p:nvCxnSpPr>
        <p:spPr>
          <a:xfrm flipV="1">
            <a:off x="2839212" y="4173556"/>
            <a:ext cx="60198" cy="75353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15" name="Connector 114"/>
          <p:cNvCxnSpPr/>
          <p:nvPr/>
        </p:nvCxnSpPr>
        <p:spPr>
          <a:xfrm flipV="1">
            <a:off x="2899410" y="4093854"/>
            <a:ext cx="60197" cy="79702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16" name="Connector 115"/>
          <p:cNvCxnSpPr/>
          <p:nvPr/>
        </p:nvCxnSpPr>
        <p:spPr>
          <a:xfrm flipV="1">
            <a:off x="2959607" y="4009918"/>
            <a:ext cx="60198" cy="83936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17" name="Connector 116"/>
          <p:cNvCxnSpPr/>
          <p:nvPr/>
        </p:nvCxnSpPr>
        <p:spPr>
          <a:xfrm flipV="1">
            <a:off x="3019805" y="3921915"/>
            <a:ext cx="60198" cy="88003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18" name="Connector 117"/>
          <p:cNvCxnSpPr/>
          <p:nvPr/>
        </p:nvCxnSpPr>
        <p:spPr>
          <a:xfrm flipV="1">
            <a:off x="3080003" y="3830067"/>
            <a:ext cx="60198" cy="9184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19" name="Connector 118"/>
          <p:cNvCxnSpPr/>
          <p:nvPr/>
        </p:nvCxnSpPr>
        <p:spPr>
          <a:xfrm flipV="1">
            <a:off x="3140201" y="3734653"/>
            <a:ext cx="60198" cy="95414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20" name="Connector 119"/>
          <p:cNvCxnSpPr/>
          <p:nvPr/>
        </p:nvCxnSpPr>
        <p:spPr>
          <a:xfrm flipV="1">
            <a:off x="3200399" y="3636007"/>
            <a:ext cx="60198" cy="98646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21" name="Connector 120"/>
          <p:cNvCxnSpPr/>
          <p:nvPr/>
        </p:nvCxnSpPr>
        <p:spPr>
          <a:xfrm flipV="1">
            <a:off x="3260597" y="3534522"/>
            <a:ext cx="60198" cy="10148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22" name="Connector 121"/>
          <p:cNvCxnSpPr/>
          <p:nvPr/>
        </p:nvCxnSpPr>
        <p:spPr>
          <a:xfrm flipV="1">
            <a:off x="3320795" y="3430648"/>
            <a:ext cx="60198" cy="103874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23" name="Connector 122"/>
          <p:cNvCxnSpPr/>
          <p:nvPr/>
        </p:nvCxnSpPr>
        <p:spPr>
          <a:xfrm flipV="1">
            <a:off x="3380993" y="3324889"/>
            <a:ext cx="60198" cy="105759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24" name="Connector 123"/>
          <p:cNvCxnSpPr/>
          <p:nvPr/>
        </p:nvCxnSpPr>
        <p:spPr>
          <a:xfrm flipV="1">
            <a:off x="3441191" y="3217803"/>
            <a:ext cx="60198" cy="107086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25" name="Connector 124"/>
          <p:cNvCxnSpPr/>
          <p:nvPr/>
        </p:nvCxnSpPr>
        <p:spPr>
          <a:xfrm flipV="1">
            <a:off x="3501389" y="3109995"/>
            <a:ext cx="60198" cy="10780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26" name="Connector 125"/>
          <p:cNvCxnSpPr/>
          <p:nvPr/>
        </p:nvCxnSpPr>
        <p:spPr>
          <a:xfrm flipV="1">
            <a:off x="3561587" y="3002116"/>
            <a:ext cx="60198" cy="107879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27" name="Connector 126"/>
          <p:cNvCxnSpPr/>
          <p:nvPr/>
        </p:nvCxnSpPr>
        <p:spPr>
          <a:xfrm flipV="1">
            <a:off x="3621785" y="2894853"/>
            <a:ext cx="60198" cy="107263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28" name="Connector 127"/>
          <p:cNvCxnSpPr/>
          <p:nvPr/>
        </p:nvCxnSpPr>
        <p:spPr>
          <a:xfrm flipV="1">
            <a:off x="3681983" y="2788925"/>
            <a:ext cx="60198" cy="10592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29" name="Connector 128"/>
          <p:cNvCxnSpPr/>
          <p:nvPr/>
        </p:nvCxnSpPr>
        <p:spPr>
          <a:xfrm flipV="1">
            <a:off x="3742181" y="2685078"/>
            <a:ext cx="60199" cy="103847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30" name="Connector 129"/>
          <p:cNvCxnSpPr/>
          <p:nvPr/>
        </p:nvCxnSpPr>
        <p:spPr>
          <a:xfrm flipV="1">
            <a:off x="3802380" y="2584070"/>
            <a:ext cx="60197" cy="10100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31" name="Connector 130"/>
          <p:cNvCxnSpPr/>
          <p:nvPr/>
        </p:nvCxnSpPr>
        <p:spPr>
          <a:xfrm flipV="1">
            <a:off x="3862577" y="2486667"/>
            <a:ext cx="60198" cy="97403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32" name="Connector 131"/>
          <p:cNvCxnSpPr/>
          <p:nvPr/>
        </p:nvCxnSpPr>
        <p:spPr>
          <a:xfrm flipV="1">
            <a:off x="3922775" y="2393633"/>
            <a:ext cx="60198" cy="93034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33" name="Connector 132"/>
          <p:cNvCxnSpPr/>
          <p:nvPr/>
        </p:nvCxnSpPr>
        <p:spPr>
          <a:xfrm flipV="1">
            <a:off x="3982973" y="2305719"/>
            <a:ext cx="60198" cy="87914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34" name="Connector 133"/>
          <p:cNvCxnSpPr/>
          <p:nvPr/>
        </p:nvCxnSpPr>
        <p:spPr>
          <a:xfrm flipV="1">
            <a:off x="4043171" y="2223653"/>
            <a:ext cx="60198" cy="82066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35" name="Connector 134"/>
          <p:cNvCxnSpPr/>
          <p:nvPr/>
        </p:nvCxnSpPr>
        <p:spPr>
          <a:xfrm flipV="1">
            <a:off x="4103369" y="2148133"/>
            <a:ext cx="60198" cy="75520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36" name="Connector 135"/>
          <p:cNvCxnSpPr/>
          <p:nvPr/>
        </p:nvCxnSpPr>
        <p:spPr>
          <a:xfrm flipV="1">
            <a:off x="4163567" y="2079810"/>
            <a:ext cx="60199" cy="68323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37" name="Connector 136"/>
          <p:cNvCxnSpPr/>
          <p:nvPr/>
        </p:nvCxnSpPr>
        <p:spPr>
          <a:xfrm flipV="1">
            <a:off x="4223766" y="2019288"/>
            <a:ext cx="60198" cy="60522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38" name="Connector 137"/>
          <p:cNvCxnSpPr/>
          <p:nvPr/>
        </p:nvCxnSpPr>
        <p:spPr>
          <a:xfrm flipV="1">
            <a:off x="4283964" y="1967108"/>
            <a:ext cx="60198" cy="52180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39" name="Connector 138"/>
          <p:cNvCxnSpPr/>
          <p:nvPr/>
        </p:nvCxnSpPr>
        <p:spPr>
          <a:xfrm flipV="1">
            <a:off x="4344162" y="1923743"/>
            <a:ext cx="60198" cy="4336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40" name="Connector 139"/>
          <p:cNvCxnSpPr/>
          <p:nvPr/>
        </p:nvCxnSpPr>
        <p:spPr>
          <a:xfrm flipV="1">
            <a:off x="4404360" y="1889591"/>
            <a:ext cx="60198" cy="34152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41" name="Connector 140"/>
          <p:cNvCxnSpPr/>
          <p:nvPr/>
        </p:nvCxnSpPr>
        <p:spPr>
          <a:xfrm flipV="1">
            <a:off x="4464558" y="1864966"/>
            <a:ext cx="60198" cy="2462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42" name="Connector 141"/>
          <p:cNvCxnSpPr/>
          <p:nvPr/>
        </p:nvCxnSpPr>
        <p:spPr>
          <a:xfrm flipV="1">
            <a:off x="4524756" y="1850099"/>
            <a:ext cx="60198" cy="14867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43" name="Connector 142"/>
          <p:cNvCxnSpPr/>
          <p:nvPr/>
        </p:nvCxnSpPr>
        <p:spPr>
          <a:xfrm flipV="1">
            <a:off x="4584954" y="1845128"/>
            <a:ext cx="60198" cy="4971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44" name="Connector 143"/>
          <p:cNvCxnSpPr/>
          <p:nvPr/>
        </p:nvCxnSpPr>
        <p:spPr>
          <a:xfrm>
            <a:off x="4645152" y="1845128"/>
            <a:ext cx="60198" cy="4971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45" name="Connector 144"/>
          <p:cNvCxnSpPr/>
          <p:nvPr/>
        </p:nvCxnSpPr>
        <p:spPr>
          <a:xfrm>
            <a:off x="4705350" y="1850099"/>
            <a:ext cx="60198" cy="14867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46" name="Connector 145"/>
          <p:cNvCxnSpPr/>
          <p:nvPr/>
        </p:nvCxnSpPr>
        <p:spPr>
          <a:xfrm>
            <a:off x="4765548" y="1864966"/>
            <a:ext cx="60198" cy="2462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47" name="Connector 146"/>
          <p:cNvCxnSpPr/>
          <p:nvPr/>
        </p:nvCxnSpPr>
        <p:spPr>
          <a:xfrm>
            <a:off x="4825746" y="1889591"/>
            <a:ext cx="60197" cy="34152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48" name="Connector 147"/>
          <p:cNvCxnSpPr/>
          <p:nvPr/>
        </p:nvCxnSpPr>
        <p:spPr>
          <a:xfrm>
            <a:off x="4885943" y="1923743"/>
            <a:ext cx="60198" cy="4336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49" name="Connector 148"/>
          <p:cNvCxnSpPr/>
          <p:nvPr/>
        </p:nvCxnSpPr>
        <p:spPr>
          <a:xfrm>
            <a:off x="4946141" y="1967108"/>
            <a:ext cx="60198" cy="52180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50" name="Connector 149"/>
          <p:cNvCxnSpPr/>
          <p:nvPr/>
        </p:nvCxnSpPr>
        <p:spPr>
          <a:xfrm>
            <a:off x="5006339" y="2019288"/>
            <a:ext cx="60198" cy="60522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51" name="Connector 150"/>
          <p:cNvCxnSpPr/>
          <p:nvPr/>
        </p:nvCxnSpPr>
        <p:spPr>
          <a:xfrm>
            <a:off x="5066537" y="2079810"/>
            <a:ext cx="60198" cy="68323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52" name="Connector 151"/>
          <p:cNvCxnSpPr/>
          <p:nvPr/>
        </p:nvCxnSpPr>
        <p:spPr>
          <a:xfrm>
            <a:off x="5126735" y="2148133"/>
            <a:ext cx="60198" cy="75520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53" name="Connector 152"/>
          <p:cNvCxnSpPr/>
          <p:nvPr/>
        </p:nvCxnSpPr>
        <p:spPr>
          <a:xfrm>
            <a:off x="5186933" y="2223653"/>
            <a:ext cx="60198" cy="82066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54" name="Connector 153"/>
          <p:cNvCxnSpPr/>
          <p:nvPr/>
        </p:nvCxnSpPr>
        <p:spPr>
          <a:xfrm>
            <a:off x="5247131" y="2305719"/>
            <a:ext cx="60199" cy="87914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55" name="Connector 154"/>
          <p:cNvCxnSpPr/>
          <p:nvPr/>
        </p:nvCxnSpPr>
        <p:spPr>
          <a:xfrm>
            <a:off x="5307330" y="2393633"/>
            <a:ext cx="60197" cy="93034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56" name="Connector 155"/>
          <p:cNvCxnSpPr/>
          <p:nvPr/>
        </p:nvCxnSpPr>
        <p:spPr>
          <a:xfrm>
            <a:off x="5367527" y="2486667"/>
            <a:ext cx="60198" cy="97403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57" name="Connector 156"/>
          <p:cNvCxnSpPr/>
          <p:nvPr/>
        </p:nvCxnSpPr>
        <p:spPr>
          <a:xfrm>
            <a:off x="5427725" y="2584070"/>
            <a:ext cx="60198" cy="10100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58" name="Connector 157"/>
          <p:cNvCxnSpPr/>
          <p:nvPr/>
        </p:nvCxnSpPr>
        <p:spPr>
          <a:xfrm>
            <a:off x="5487923" y="2685078"/>
            <a:ext cx="60198" cy="103847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59" name="Connector 158"/>
          <p:cNvCxnSpPr/>
          <p:nvPr/>
        </p:nvCxnSpPr>
        <p:spPr>
          <a:xfrm>
            <a:off x="5548121" y="2788925"/>
            <a:ext cx="60198" cy="10592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60" name="Connector 159"/>
          <p:cNvCxnSpPr/>
          <p:nvPr/>
        </p:nvCxnSpPr>
        <p:spPr>
          <a:xfrm>
            <a:off x="5608319" y="2894853"/>
            <a:ext cx="60199" cy="107263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61" name="Connector 160"/>
          <p:cNvCxnSpPr/>
          <p:nvPr/>
        </p:nvCxnSpPr>
        <p:spPr>
          <a:xfrm>
            <a:off x="5668518" y="3002116"/>
            <a:ext cx="60198" cy="107879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62" name="Connector 161"/>
          <p:cNvCxnSpPr/>
          <p:nvPr/>
        </p:nvCxnSpPr>
        <p:spPr>
          <a:xfrm>
            <a:off x="5728716" y="3109995"/>
            <a:ext cx="60197" cy="10780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63" name="Connector 162"/>
          <p:cNvCxnSpPr/>
          <p:nvPr/>
        </p:nvCxnSpPr>
        <p:spPr>
          <a:xfrm>
            <a:off x="5788913" y="3217803"/>
            <a:ext cx="60199" cy="107086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64" name="Connector 163"/>
          <p:cNvCxnSpPr/>
          <p:nvPr/>
        </p:nvCxnSpPr>
        <p:spPr>
          <a:xfrm>
            <a:off x="5849112" y="3324889"/>
            <a:ext cx="60197" cy="105759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65" name="Connector 164"/>
          <p:cNvCxnSpPr/>
          <p:nvPr/>
        </p:nvCxnSpPr>
        <p:spPr>
          <a:xfrm>
            <a:off x="5909309" y="3430648"/>
            <a:ext cx="60198" cy="103874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66" name="Connector 165"/>
          <p:cNvCxnSpPr/>
          <p:nvPr/>
        </p:nvCxnSpPr>
        <p:spPr>
          <a:xfrm>
            <a:off x="5969507" y="3534522"/>
            <a:ext cx="60199" cy="10148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67" name="Connector 166"/>
          <p:cNvCxnSpPr/>
          <p:nvPr/>
        </p:nvCxnSpPr>
        <p:spPr>
          <a:xfrm>
            <a:off x="6029706" y="3636007"/>
            <a:ext cx="60198" cy="98646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68" name="Connector 167"/>
          <p:cNvCxnSpPr/>
          <p:nvPr/>
        </p:nvCxnSpPr>
        <p:spPr>
          <a:xfrm>
            <a:off x="6089904" y="3734653"/>
            <a:ext cx="60198" cy="95414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69" name="Connector 168"/>
          <p:cNvCxnSpPr/>
          <p:nvPr/>
        </p:nvCxnSpPr>
        <p:spPr>
          <a:xfrm>
            <a:off x="6150102" y="3830067"/>
            <a:ext cx="60198" cy="9184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70" name="Connector 169"/>
          <p:cNvCxnSpPr/>
          <p:nvPr/>
        </p:nvCxnSpPr>
        <p:spPr>
          <a:xfrm>
            <a:off x="6210300" y="3921915"/>
            <a:ext cx="60198" cy="88003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71" name="Connector 170"/>
          <p:cNvCxnSpPr/>
          <p:nvPr/>
        </p:nvCxnSpPr>
        <p:spPr>
          <a:xfrm>
            <a:off x="6270498" y="4009918"/>
            <a:ext cx="60198" cy="83936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72" name="Connector 171"/>
          <p:cNvCxnSpPr/>
          <p:nvPr/>
        </p:nvCxnSpPr>
        <p:spPr>
          <a:xfrm>
            <a:off x="6330696" y="4093854"/>
            <a:ext cx="60198" cy="79702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73" name="Connector 172"/>
          <p:cNvCxnSpPr/>
          <p:nvPr/>
        </p:nvCxnSpPr>
        <p:spPr>
          <a:xfrm>
            <a:off x="6390894" y="4173556"/>
            <a:ext cx="60198" cy="75353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74" name="Connector 173"/>
          <p:cNvCxnSpPr/>
          <p:nvPr/>
        </p:nvCxnSpPr>
        <p:spPr>
          <a:xfrm>
            <a:off x="6451092" y="4248909"/>
            <a:ext cx="60198" cy="70937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75" name="Connector 174"/>
          <p:cNvCxnSpPr/>
          <p:nvPr/>
        </p:nvCxnSpPr>
        <p:spPr>
          <a:xfrm>
            <a:off x="6511290" y="4319846"/>
            <a:ext cx="60198" cy="66501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76" name="Connector 175"/>
          <p:cNvCxnSpPr/>
          <p:nvPr/>
        </p:nvCxnSpPr>
        <p:spPr>
          <a:xfrm>
            <a:off x="6571488" y="4386347"/>
            <a:ext cx="60198" cy="62083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77" name="Connector 176"/>
          <p:cNvCxnSpPr/>
          <p:nvPr/>
        </p:nvCxnSpPr>
        <p:spPr>
          <a:xfrm>
            <a:off x="6631686" y="4448430"/>
            <a:ext cx="60198" cy="5772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78" name="Connector 177"/>
          <p:cNvCxnSpPr/>
          <p:nvPr/>
        </p:nvCxnSpPr>
        <p:spPr>
          <a:xfrm>
            <a:off x="6691884" y="4506155"/>
            <a:ext cx="60197" cy="5345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79" name="Connector 178"/>
          <p:cNvCxnSpPr/>
          <p:nvPr/>
        </p:nvCxnSpPr>
        <p:spPr>
          <a:xfrm>
            <a:off x="6752081" y="4559613"/>
            <a:ext cx="60198" cy="49309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80" name="Connector 179"/>
          <p:cNvCxnSpPr/>
          <p:nvPr/>
        </p:nvCxnSpPr>
        <p:spPr>
          <a:xfrm>
            <a:off x="6812279" y="4608922"/>
            <a:ext cx="60198" cy="4530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81" name="Connector 180"/>
          <p:cNvCxnSpPr/>
          <p:nvPr/>
        </p:nvCxnSpPr>
        <p:spPr>
          <a:xfrm>
            <a:off x="6872477" y="4654227"/>
            <a:ext cx="60198" cy="4146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82" name="Connector 181"/>
          <p:cNvCxnSpPr/>
          <p:nvPr/>
        </p:nvCxnSpPr>
        <p:spPr>
          <a:xfrm>
            <a:off x="6932675" y="4695692"/>
            <a:ext cx="60198" cy="3780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83" name="Connector 182"/>
          <p:cNvCxnSpPr/>
          <p:nvPr/>
        </p:nvCxnSpPr>
        <p:spPr>
          <a:xfrm>
            <a:off x="6992873" y="4733497"/>
            <a:ext cx="60198" cy="3433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84" name="Connector 183"/>
          <p:cNvCxnSpPr/>
          <p:nvPr/>
        </p:nvCxnSpPr>
        <p:spPr>
          <a:xfrm>
            <a:off x="7053071" y="4767835"/>
            <a:ext cx="60198" cy="31071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85" name="Connector 184"/>
          <p:cNvCxnSpPr/>
          <p:nvPr/>
        </p:nvCxnSpPr>
        <p:spPr>
          <a:xfrm>
            <a:off x="7113269" y="4798906"/>
            <a:ext cx="60198" cy="28011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86" name="Connector 185"/>
          <p:cNvCxnSpPr/>
          <p:nvPr/>
        </p:nvCxnSpPr>
        <p:spPr>
          <a:xfrm>
            <a:off x="7173467" y="4826917"/>
            <a:ext cx="60198" cy="2515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87" name="Connector 186"/>
          <p:cNvCxnSpPr/>
          <p:nvPr/>
        </p:nvCxnSpPr>
        <p:spPr>
          <a:xfrm>
            <a:off x="7233665" y="4852075"/>
            <a:ext cx="60199" cy="22513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88" name="Connector 187"/>
          <p:cNvCxnSpPr/>
          <p:nvPr/>
        </p:nvCxnSpPr>
        <p:spPr>
          <a:xfrm>
            <a:off x="7293864" y="4874588"/>
            <a:ext cx="60198" cy="20073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89" name="Connector 188"/>
          <p:cNvCxnSpPr/>
          <p:nvPr/>
        </p:nvCxnSpPr>
        <p:spPr>
          <a:xfrm>
            <a:off x="7354062" y="4894661"/>
            <a:ext cx="60197" cy="17832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90" name="Connector 189"/>
          <p:cNvCxnSpPr/>
          <p:nvPr/>
        </p:nvCxnSpPr>
        <p:spPr>
          <a:xfrm>
            <a:off x="7414259" y="4912493"/>
            <a:ext cx="60199" cy="15784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91" name="Connector 190"/>
          <p:cNvCxnSpPr/>
          <p:nvPr/>
        </p:nvCxnSpPr>
        <p:spPr>
          <a:xfrm>
            <a:off x="7474458" y="4928277"/>
            <a:ext cx="60197" cy="13922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92" name="Connector 191"/>
          <p:cNvCxnSpPr/>
          <p:nvPr/>
        </p:nvCxnSpPr>
        <p:spPr>
          <a:xfrm>
            <a:off x="7534655" y="4942199"/>
            <a:ext cx="60198" cy="1223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93" name="Connector 192"/>
          <p:cNvCxnSpPr/>
          <p:nvPr/>
        </p:nvCxnSpPr>
        <p:spPr>
          <a:xfrm>
            <a:off x="7594853" y="4954434"/>
            <a:ext cx="60198" cy="10715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94" name="Connector 193"/>
          <p:cNvCxnSpPr/>
          <p:nvPr/>
        </p:nvCxnSpPr>
        <p:spPr>
          <a:xfrm>
            <a:off x="7655051" y="4965149"/>
            <a:ext cx="60199" cy="9351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95" name="Connector 194"/>
          <p:cNvCxnSpPr/>
          <p:nvPr/>
        </p:nvCxnSpPr>
        <p:spPr>
          <a:xfrm>
            <a:off x="7715250" y="4974500"/>
            <a:ext cx="60198" cy="8131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96" name="Connector 195"/>
          <p:cNvCxnSpPr/>
          <p:nvPr/>
        </p:nvCxnSpPr>
        <p:spPr>
          <a:xfrm>
            <a:off x="7775448" y="4982631"/>
            <a:ext cx="60198" cy="7047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97" name="Connector 196"/>
          <p:cNvCxnSpPr/>
          <p:nvPr/>
        </p:nvCxnSpPr>
        <p:spPr>
          <a:xfrm>
            <a:off x="7835646" y="4989678"/>
            <a:ext cx="60198" cy="6084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98" name="Connector 197"/>
          <p:cNvCxnSpPr/>
          <p:nvPr/>
        </p:nvCxnSpPr>
        <p:spPr>
          <a:xfrm>
            <a:off x="7895844" y="4995762"/>
            <a:ext cx="60197" cy="5237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199" name="Connector 198"/>
          <p:cNvCxnSpPr/>
          <p:nvPr/>
        </p:nvCxnSpPr>
        <p:spPr>
          <a:xfrm>
            <a:off x="7956041" y="5000999"/>
            <a:ext cx="60198" cy="4490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200" name="Connector 199"/>
          <p:cNvCxnSpPr/>
          <p:nvPr/>
        </p:nvCxnSpPr>
        <p:spPr>
          <a:xfrm>
            <a:off x="8016239" y="5005489"/>
            <a:ext cx="60199" cy="383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201" name="Connector 200"/>
          <p:cNvCxnSpPr/>
          <p:nvPr/>
        </p:nvCxnSpPr>
        <p:spPr>
          <a:xfrm>
            <a:off x="8076438" y="5009327"/>
            <a:ext cx="60198" cy="3268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202" name="Connector 201"/>
          <p:cNvCxnSpPr/>
          <p:nvPr/>
        </p:nvCxnSpPr>
        <p:spPr>
          <a:xfrm>
            <a:off x="8136636" y="5012595"/>
            <a:ext cx="60198" cy="2774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203" name="Connector 202"/>
          <p:cNvCxnSpPr/>
          <p:nvPr/>
        </p:nvCxnSpPr>
        <p:spPr>
          <a:xfrm>
            <a:off x="8196834" y="5015369"/>
            <a:ext cx="60198" cy="2347"/>
          </a:xfrm>
          <a:prstGeom prst="line">
            <a:avLst/>
          </a:prstGeom>
          <a:ln w="31750">
            <a:solidFill>
              <a:srgbClr val="1F394D"/>
            </a:solidFill>
          </a:ln>
        </p:spPr>
      </p:cxnSp>
      <p:cxnSp>
        <p:nvCxnSpPr>
          <p:cNvPr id="204" name="Connector 203"/>
          <p:cNvCxnSpPr/>
          <p:nvPr/>
        </p:nvCxnSpPr>
        <p:spPr>
          <a:xfrm flipV="1">
            <a:off x="6451092" y="2004332"/>
            <a:ext cx="0" cy="3024868"/>
          </a:xfrm>
          <a:prstGeom prst="line">
            <a:avLst/>
          </a:prstGeom>
          <a:ln w="31750">
            <a:solidFill>
              <a:srgbClr val="7A5C00"/>
            </a:solidFill>
          </a:ln>
        </p:spPr>
      </p:cxnSp>
      <p:sp>
        <p:nvSpPr>
          <p:cNvPr id="205" name="TextBox 204"/>
          <p:cNvSpPr txBox="1"/>
          <p:nvPr/>
        </p:nvSpPr>
        <p:spPr>
          <a:xfrm>
            <a:off x="6524244" y="191289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7A5C00"/>
                </a:solidFill>
              </a:rPr>
              <a:t>our sample: 23%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730752" y="149765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F394D"/>
                </a:solidFill>
              </a:rPr>
              <a:t>if H₀ is true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138160" y="1417320"/>
            <a:ext cx="3227832" cy="100584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8293608" y="1541678"/>
            <a:ext cx="2916936" cy="757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94D"/>
                </a:solidFill>
              </a:rPr>
              <a:t>1.8 points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606B"/>
                </a:solidFill>
              </a:rPr>
              <a:t>Standard error under H₀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8138160" y="2560320"/>
            <a:ext cx="3227832" cy="100584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8293608" y="2684678"/>
            <a:ext cx="2916936" cy="757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94D"/>
                </a:solidFill>
              </a:rPr>
              <a:t>1.68 SEs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606B"/>
                </a:solidFill>
              </a:rPr>
              <a:t>Distance from 20%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8138160" y="3703320"/>
            <a:ext cx="3227832" cy="1005840"/>
          </a:xfrm>
          <a:prstGeom prst="roundRect">
            <a:avLst>
              <a:gd name="adj" fmla="val 8000"/>
            </a:avLst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8293608" y="3827678"/>
            <a:ext cx="2916936" cy="757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B88C00"/>
                </a:solidFill>
              </a:rPr>
              <a:t>0.09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CDDEA"/>
                </a:solidFill>
              </a:rPr>
              <a:t>p-value (shaded tails)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8138160" y="4846320"/>
            <a:ext cx="3227832" cy="96012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8275320" y="4956048"/>
            <a:ext cx="2953512" cy="740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F394D"/>
                </a:solidFill>
              </a:rPr>
              <a:t>Not unusual enough to reject the claim at the 5% level.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758952" y="5943600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88C00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758952" y="594360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7A5C00"/>
                </a:solidFill>
              </a:rPr>
              <a:t>SYNTHETIC EXAMPLE DATA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3410712" y="5943600"/>
            <a:ext cx="795527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5606B"/>
                </a:solidFill>
              </a:rPr>
              <a:t>R code: synthetic_examples.R, section W5e. Hypothetical: claimed 20% in poverty, sample of 500 finds 23%; normal approximation.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Null and alternative hypotheses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sp>
        <p:nvSpPr>
          <p:cNvPr id="6" name="Null hypothesis"/>
          <p:cNvSpPr/>
          <p:nvPr/>
        </p:nvSpPr>
        <p:spPr>
          <a:xfrm>
            <a:off x="758952" y="1371600"/>
            <a:ext cx="5212080" cy="342900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33271" y="1600200"/>
            <a:ext cx="822960" cy="82296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H₀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9112" y="160020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F394D"/>
                </a:solidFill>
              </a:rPr>
              <a:t>Null 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651760"/>
            <a:ext cx="46634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F2A33"/>
                </a:solidFill>
              </a:rPr>
              <a:t>The “devil’s advocate” position: no difference, no association.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F2A33"/>
                </a:solidFill>
              </a:rPr>
              <a:t>Poverty example: the true share is 20%; our 23% is chance.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F2A33"/>
                </a:solidFill>
              </a:rPr>
              <a:t>Regression: the population slope is 0.</a:t>
            </a:r>
          </a:p>
        </p:txBody>
      </p:sp>
      <p:sp>
        <p:nvSpPr>
          <p:cNvPr id="10" name="Alternative hypothesis"/>
          <p:cNvSpPr/>
          <p:nvPr/>
        </p:nvSpPr>
        <p:spPr>
          <a:xfrm>
            <a:off x="6153912" y="1371600"/>
            <a:ext cx="5212080" cy="3429000"/>
          </a:xfrm>
          <a:prstGeom prst="roundRect">
            <a:avLst>
              <a:gd name="adj" fmla="val 8000"/>
            </a:avLst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28231" y="1600200"/>
            <a:ext cx="822960" cy="822960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1F2A33"/>
                </a:solidFill>
              </a:rPr>
              <a:t>H₁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34071" y="160020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Alternative hypothesis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651760"/>
            <a:ext cx="46634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CCDDEA"/>
                </a:solidFill>
              </a:rPr>
              <a:t>What we suspect instead: there is a difference or association.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CCDDEA"/>
                </a:solidFill>
              </a:rPr>
              <a:t>Poverty example: the true share is not 20%.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CCDDEA"/>
                </a:solidFill>
              </a:rPr>
              <a:t>Regression: the population slope is not 0.</a:t>
            </a:r>
          </a:p>
        </p:txBody>
      </p:sp>
      <p:sp>
        <p:nvSpPr>
          <p:cNvPr id="14" name="Logic"/>
          <p:cNvSpPr/>
          <p:nvPr/>
        </p:nvSpPr>
        <p:spPr>
          <a:xfrm>
            <a:off x="758952" y="5029200"/>
            <a:ext cx="106070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88C00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502920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394D"/>
                </a:solidFill>
              </a:rPr>
              <a:t>Assume H₀ is true, then ask: how surprising would data like ours be? If very surprising, reject H₀.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p-value is, and isn’t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sp>
        <p:nvSpPr>
          <p:cNvPr id="6" name="Rounded Rectangle 5"/>
          <p:cNvSpPr/>
          <p:nvPr/>
        </p:nvSpPr>
        <p:spPr>
          <a:xfrm>
            <a:off x="758952" y="1371600"/>
            <a:ext cx="10607040" cy="1463040"/>
          </a:xfrm>
          <a:prstGeom prst="roundRect">
            <a:avLst>
              <a:gd name="adj" fmla="val 8000"/>
            </a:avLst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32534"/>
            <a:ext cx="10204704" cy="11411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B88C00"/>
                </a:solidFill>
              </a:rPr>
              <a:t>The p-value is …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</a:rPr>
              <a:t>the probability of getting data at least as extreme as ours, if the null hypothesis were true.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306324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224174"/>
            <a:ext cx="3026664" cy="1278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94D"/>
                </a:solidFill>
              </a:rPr>
              <a:t>Not the probability that H₀ is true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3"/>
                </a:solidFill>
              </a:rPr>
              <a:t>p = .09 does not mean a 9% chance the analyst is right.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306324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3224174"/>
            <a:ext cx="3026664" cy="1278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94D"/>
                </a:solidFill>
              </a:rPr>
              <a:t>Not the size or importance of a result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3"/>
                </a:solidFill>
              </a:rPr>
              <a:t>Tiny differences can have tiny p-values in big samples.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2712" y="306324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3224174"/>
            <a:ext cx="3026664" cy="1278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94D"/>
                </a:solidFill>
              </a:rPr>
              <a:t>Not a verdict on its own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3"/>
                </a:solidFill>
              </a:rPr>
              <a:t>p = .049 and p = .051 are practically the same evidence.</a:t>
            </a:r>
          </a:p>
        </p:txBody>
      </p:sp>
      <p:sp>
        <p:nvSpPr>
          <p:cNvPr id="14" name="Alpha"/>
          <p:cNvSpPr/>
          <p:nvPr/>
        </p:nvSpPr>
        <p:spPr>
          <a:xfrm>
            <a:off x="758952" y="489204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892040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F394D"/>
                </a:solidFill>
              </a:rPr>
              <a:t>Significance level (α = 0.05): </a:t>
            </a:r>
            <a:r>
              <a:rPr sz="1700" b="0" i="0">
                <a:solidFill>
                  <a:srgbClr val="1F2A33"/>
                </a:solidFill>
              </a:rPr>
              <a:t>a threshold chosen in advance. Rejecting H₀ whenever p &lt; 0.05 means that, when H₀ is true, we wrongly reject it 5% of the time.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Inference for</a:t>
            </a:r>
          </a:p>
          <a:p>
            <a:r>
              <a:rPr sz="4000"/>
              <a:t>regression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sz="2400"/>
              <a:t>Reading SE, CI and p in JASP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5" y="682475"/>
            <a:ext cx="10043168" cy="49468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dirty="0"/>
              <a:t>Hypothesis test for the slope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>
              <a:xfrm>
                <a:off x="756745" y="2076450"/>
                <a:ext cx="10398935" cy="4082611"/>
              </a:xfrm>
            </p:spPr>
            <p:txBody>
              <a:bodyPr/>
              <a:lstStyle/>
              <a:p>
                <a:pPr lvl="0"/>
                <a:r>
                  <a:rPr dirty="0"/>
                  <a:t>“Do the data provide sufficient evidence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 (the true slope for the population) is different from 0?”</a:t>
                </a:r>
              </a:p>
              <a:p>
                <a:pPr lvl="0"/>
                <a:r>
                  <a:rPr b="1" dirty="0"/>
                  <a:t>Null hypothesis</a:t>
                </a:r>
                <a:r>
                  <a:rPr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, there is no linear relationship between </a:t>
                </a:r>
                <a:r>
                  <a:rPr dirty="0">
                    <a:latin typeface="Courier"/>
                  </a:rPr>
                  <a:t>inequality</a:t>
                </a:r>
                <a:r>
                  <a:rPr dirty="0"/>
                  <a:t> and </a:t>
                </a:r>
                <a:r>
                  <a:rPr dirty="0">
                    <a:latin typeface="Courier"/>
                  </a:rPr>
                  <a:t>trust</a:t>
                </a:r>
              </a:p>
              <a:p>
                <a:pPr lvl="0"/>
                <a:r>
                  <a:rPr b="1" dirty="0"/>
                  <a:t>Alternative hypothesis</a:t>
                </a:r>
                <a:r>
                  <a:rPr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dirty="0"/>
                  <a:t>, there is a linear relationship between </a:t>
                </a:r>
                <a:r>
                  <a:rPr dirty="0">
                    <a:latin typeface="Courier"/>
                  </a:rPr>
                  <a:t>inequality</a:t>
                </a:r>
                <a:r>
                  <a:rPr dirty="0"/>
                  <a:t> and </a:t>
                </a:r>
                <a:r>
                  <a:rPr dirty="0">
                    <a:latin typeface="Courier"/>
                  </a:rPr>
                  <a:t>trust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xfrm>
                <a:off x="756745" y="2076450"/>
                <a:ext cx="10398935" cy="4082611"/>
              </a:xfrm>
              <a:blipFill>
                <a:blip r:embed="rId2"/>
                <a:stretch>
                  <a:fillRect l="-1172" t="-2541" r="-16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Uncertainty and Inference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5DE1F-86D8-D8E5-4DE8-B767915E7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Every coefficient comes with its uncertainty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8952" y="1371600"/>
          <a:ext cx="10607040" cy="17007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</a:rPr>
                        <a:t>Model M₃ (n = 23)</a:t>
                      </a:r>
                    </a:p>
                  </a:txBody>
                  <a:tcPr marT="27432" marB="27432" anchor="ctr">
                    <a:solidFill>
                      <a:srgbClr val="1F39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FFFFFF"/>
                          </a:solidFill>
                        </a:rPr>
                        <a:t>Unstandardized</a:t>
                      </a:r>
                    </a:p>
                  </a:txBody>
                  <a:tcPr marT="27432" marB="27432" anchor="ctr">
                    <a:solidFill>
                      <a:srgbClr val="1F39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FFFFFF"/>
                          </a:solidFill>
                        </a:rPr>
                        <a:t>SE</a:t>
                      </a:r>
                    </a:p>
                  </a:txBody>
                  <a:tcPr marT="27432" marB="27432" anchor="ctr">
                    <a:solidFill>
                      <a:srgbClr val="1F39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FFFFFF"/>
                          </a:solidFill>
                        </a:rPr>
                        <a:t>t</a:t>
                      </a:r>
                    </a:p>
                  </a:txBody>
                  <a:tcPr marT="27432" marB="27432" anchor="ctr">
                    <a:solidFill>
                      <a:srgbClr val="1F39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 marT="27432" marB="27432" anchor="ctr">
                    <a:solidFill>
                      <a:srgbClr val="1F39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 marT="27432" marB="27432" anchor="ctr">
                    <a:solidFill>
                      <a:srgbClr val="1F39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F2A33"/>
                          </a:solidFill>
                        </a:rPr>
                        <a:t>Income inequality</a:t>
                      </a:r>
                    </a:p>
                  </a:txBody>
                  <a:tcPr marT="27432" marB="27432" anchor="ctr">
                    <a:solidFill>
                      <a:srgbClr val="F6E7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1F2A33"/>
                          </a:solidFill>
                        </a:rPr>
                        <a:t>−7.147</a:t>
                      </a:r>
                    </a:p>
                  </a:txBody>
                  <a:tcPr marT="27432" marB="27432" anchor="ctr">
                    <a:solidFill>
                      <a:srgbClr val="F6E7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1F2A33"/>
                          </a:solidFill>
                        </a:rPr>
                        <a:t>1.836</a:t>
                      </a:r>
                    </a:p>
                  </a:txBody>
                  <a:tcPr marT="27432" marB="27432" anchor="ctr">
                    <a:solidFill>
                      <a:srgbClr val="F6E7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1F2A33"/>
                          </a:solidFill>
                        </a:rPr>
                        <a:t>−3.89</a:t>
                      </a:r>
                    </a:p>
                  </a:txBody>
                  <a:tcPr marT="27432" marB="27432" anchor="ctr">
                    <a:solidFill>
                      <a:srgbClr val="F6E7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1F2A33"/>
                          </a:solidFill>
                        </a:rPr>
                        <a:t>&lt; .001</a:t>
                      </a:r>
                    </a:p>
                  </a:txBody>
                  <a:tcPr marT="27432" marB="27432" anchor="ctr">
                    <a:solidFill>
                      <a:srgbClr val="F6E7B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1F2A33"/>
                          </a:solidFill>
                        </a:rPr>
                        <a:t>−10.98 to −3.32</a:t>
                      </a:r>
                    </a:p>
                  </a:txBody>
                  <a:tcPr marT="27432" marB="27432" anchor="ctr">
                    <a:solidFill>
                      <a:srgbClr val="F6E7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F2A33"/>
                          </a:solidFill>
                        </a:rPr>
                        <a:t>Homicides (per million)</a:t>
                      </a:r>
                    </a:p>
                  </a:txBody>
                  <a:tcPr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1F2A33"/>
                          </a:solidFill>
                        </a:rPr>
                        <a:t>0.174</a:t>
                      </a:r>
                    </a:p>
                  </a:txBody>
                  <a:tcPr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1F2A33"/>
                          </a:solidFill>
                        </a:rPr>
                        <a:t>0.244</a:t>
                      </a:r>
                    </a:p>
                  </a:txBody>
                  <a:tcPr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1F2A33"/>
                          </a:solidFill>
                        </a:rPr>
                        <a:t>0.72</a:t>
                      </a:r>
                    </a:p>
                  </a:txBody>
                  <a:tcPr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1F2A33"/>
                          </a:solidFill>
                        </a:rPr>
                        <a:t>.483</a:t>
                      </a:r>
                    </a:p>
                  </a:txBody>
                  <a:tcPr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1F2A33"/>
                          </a:solidFill>
                        </a:rPr>
                        <a:t>−0.33 to 0.68</a:t>
                      </a:r>
                    </a:p>
                  </a:txBody>
                  <a:tcPr marT="27432" marB="27432" anchor="ctr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" y="333756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461918"/>
            <a:ext cx="2249424" cy="1351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94D"/>
                </a:solidFill>
              </a:rPr>
              <a:t>SE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3"/>
                </a:solidFill>
              </a:rPr>
              <a:t>How much the slope would vary from sample to sample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333756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3461918"/>
            <a:ext cx="2249424" cy="1351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94D"/>
                </a:solidFill>
              </a:rPr>
              <a:t>t = b ÷ SE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3"/>
                </a:solidFill>
              </a:rPr>
              <a:t>Inequality: −7.15 ÷ 1.84 = −3.89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33756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3461918"/>
            <a:ext cx="2249424" cy="1351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94D"/>
                </a:solidFill>
              </a:rPr>
              <a:t>p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3"/>
                </a:solidFill>
              </a:rPr>
              <a:t>How surprising t is if the true slope were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51392" y="3337560"/>
            <a:ext cx="2560320" cy="160020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06840" y="3461918"/>
            <a:ext cx="2249424" cy="1351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94D"/>
                </a:solidFill>
              </a:rPr>
              <a:t>95% CI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3"/>
                </a:solidFill>
              </a:rPr>
              <a:t>≈ b ± 2 × SE: plausible values for the slope</a:t>
            </a:r>
          </a:p>
        </p:txBody>
      </p:sp>
      <p:sp>
        <p:nvSpPr>
          <p:cNvPr id="15" name="Rule"/>
          <p:cNvSpPr/>
          <p:nvPr/>
        </p:nvSpPr>
        <p:spPr>
          <a:xfrm>
            <a:off x="758952" y="5120640"/>
            <a:ext cx="10607040" cy="685800"/>
          </a:xfrm>
          <a:prstGeom prst="roundRect">
            <a:avLst>
              <a:gd name="adj" fmla="val 8000"/>
            </a:avLst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5120640"/>
            <a:ext cx="10149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CI excludes 0  ↔  p &lt; .05.   Inequality: yes.   Homicides: no.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94360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5606B"/>
                </a:solidFill>
              </a:rPr>
              <a:t>Data: pickett2009.csv (Wilkinson &amp; Pickett 2009), 23 countries.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Confidence intervals for odds ratios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cxnSp>
        <p:nvCxnSpPr>
          <p:cNvPr id="6" name="Connector 5"/>
          <p:cNvCxnSpPr/>
          <p:nvPr/>
        </p:nvCxnSpPr>
        <p:spPr>
          <a:xfrm>
            <a:off x="3227832" y="4846320"/>
            <a:ext cx="4846320" cy="0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227832" y="48463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2679192" y="49194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0.4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97096" y="48463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648456" y="49194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0.6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66360" y="48463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617720" y="49194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0.8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35624" y="48463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5586984" y="49194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1.0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04888" y="48463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556248" y="49194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1.2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74152" y="48463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7525512" y="49194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1.4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51937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Odds ratio (95% CI)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135624" y="1554479"/>
            <a:ext cx="0" cy="3291841"/>
          </a:xfrm>
          <a:prstGeom prst="line">
            <a:avLst/>
          </a:prstGeom>
          <a:ln w="19050">
            <a:solidFill>
              <a:srgbClr val="55606B"/>
            </a:solidFill>
            <a:prstDash val="dash"/>
          </a:ln>
        </p:spPr>
      </p:cxnSp>
      <p:sp>
        <p:nvSpPr>
          <p:cNvPr id="21" name="TextBox 20"/>
          <p:cNvSpPr txBox="1"/>
          <p:nvPr/>
        </p:nvSpPr>
        <p:spPr>
          <a:xfrm>
            <a:off x="5404104" y="1261871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5606B"/>
                </a:solidFill>
              </a:rPr>
              <a:t>no difference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11818" y="2542031"/>
            <a:ext cx="694122" cy="0"/>
          </a:xfrm>
          <a:prstGeom prst="line">
            <a:avLst/>
          </a:prstGeom>
          <a:ln w="50800">
            <a:solidFill>
              <a:srgbClr val="3F739B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6337488" y="2432303"/>
            <a:ext cx="219456" cy="219456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2157983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F739B"/>
                </a:solidFill>
              </a:rPr>
              <a:t>Age (per 10 years)</a:t>
            </a:r>
          </a:p>
          <a:p>
            <a:pPr algn="l"/>
            <a:r>
              <a:rPr sz="1400" b="0" i="0">
                <a:solidFill>
                  <a:srgbClr val="3F739B"/>
                </a:solidFill>
              </a:rPr>
              <a:t>1.06 (0.995 to 1.14)</a:t>
            </a:r>
          </a:p>
          <a:p>
            <a:pPr algn="l"/>
            <a:r>
              <a:rPr sz="1300" b="0" i="0">
                <a:solidFill>
                  <a:srgbClr val="55606B"/>
                </a:solidFill>
              </a:rPr>
              <a:t>p = .069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38709" y="3858768"/>
            <a:ext cx="1551136" cy="0"/>
          </a:xfrm>
          <a:prstGeom prst="line">
            <a:avLst/>
          </a:prstGeom>
          <a:ln w="50800">
            <a:solidFill>
              <a:srgbClr val="1F394D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4309902" y="3749039"/>
            <a:ext cx="219456" cy="219456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347472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394D"/>
                </a:solidFill>
              </a:rPr>
              <a:t>Female (vs male)</a:t>
            </a:r>
          </a:p>
          <a:p>
            <a:pPr algn="l"/>
            <a:r>
              <a:rPr sz="1400" b="0" i="0">
                <a:solidFill>
                  <a:srgbClr val="1F394D"/>
                </a:solidFill>
              </a:rPr>
              <a:t>0.65 (0.51 to 0.83)</a:t>
            </a:r>
          </a:p>
          <a:p>
            <a:pPr algn="l"/>
            <a:r>
              <a:rPr sz="1300" b="0" i="0">
                <a:solidFill>
                  <a:srgbClr val="55606B"/>
                </a:solidFill>
              </a:rPr>
              <a:t>p &lt; .001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1417320"/>
            <a:ext cx="2999232" cy="2103120"/>
          </a:xfrm>
          <a:prstGeom prst="roundRect">
            <a:avLst>
              <a:gd name="adj" fmla="val 8000"/>
            </a:avLst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67928" y="1578254"/>
            <a:ext cx="2596896" cy="1781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B88C00"/>
                </a:solidFill>
              </a:rPr>
              <a:t>Female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CDDEA"/>
                </a:solidFill>
              </a:rPr>
              <a:t>Whole interval below 1: lower odds of trusting, beyond what chance would easily produce.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3703320"/>
            <a:ext cx="2999232" cy="205740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67928" y="3864254"/>
            <a:ext cx="2596896" cy="1735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94D"/>
                </a:solidFill>
              </a:rPr>
              <a:t>Age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3"/>
                </a:solidFill>
              </a:rPr>
              <a:t>The interval reaches 1: no clear evidence of an association.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94360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5606B"/>
                </a:solidFill>
              </a:rPr>
              <a:t>Data: British Social Attitudes 2010 (gb-bsa10-trust.sav), n = 1,060. Logistic regression of trust on age and sex.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Significant is not the same as big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cxnSp>
        <p:nvCxnSpPr>
          <p:cNvPr id="6" name="Connector 5"/>
          <p:cNvCxnSpPr/>
          <p:nvPr/>
        </p:nvCxnSpPr>
        <p:spPr>
          <a:xfrm>
            <a:off x="4142232" y="4617720"/>
            <a:ext cx="4206239" cy="0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4142232" y="46177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3593592" y="4690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−1.0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68012" y="46177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4119372" y="4690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−0.8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93792" y="46177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645152" y="4690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−0.6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19572" y="46177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5170932" y="4690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−0.4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45352" y="46177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5696712" y="4690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−0.2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71132" y="46177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222492" y="4690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96912" y="46177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748272" y="4690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0.2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22692" y="46177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7274052" y="4690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0.4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48471" y="4617720"/>
            <a:ext cx="0" cy="64008"/>
          </a:xfrm>
          <a:prstGeom prst="line">
            <a:avLst/>
          </a:prstGeom>
          <a:ln w="15875">
            <a:solidFill>
              <a:srgbClr val="BBC4CC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7799831" y="4690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0.6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42232" y="496519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606B"/>
                </a:solidFill>
              </a:rPr>
              <a:t>Difference in mean trust (0 to 10 scale), 95% CI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6771132" y="1554479"/>
            <a:ext cx="0" cy="3063241"/>
          </a:xfrm>
          <a:prstGeom prst="line">
            <a:avLst/>
          </a:prstGeom>
          <a:ln w="19050">
            <a:solidFill>
              <a:srgbClr val="55606B"/>
            </a:solidFill>
            <a:prstDash val="dash"/>
          </a:ln>
        </p:spPr>
      </p:cxnSp>
      <p:cxnSp>
        <p:nvCxnSpPr>
          <p:cNvPr id="27" name="Connector 26"/>
          <p:cNvCxnSpPr/>
          <p:nvPr/>
        </p:nvCxnSpPr>
        <p:spPr>
          <a:xfrm>
            <a:off x="5063563" y="2065020"/>
            <a:ext cx="311484" cy="0"/>
          </a:xfrm>
          <a:prstGeom prst="line">
            <a:avLst/>
          </a:prstGeom>
          <a:ln w="50800">
            <a:solidFill>
              <a:srgbClr val="1F394D"/>
            </a:solidFill>
          </a:ln>
        </p:spPr>
      </p:cxnSp>
      <p:sp>
        <p:nvSpPr>
          <p:cNvPr id="28" name="Oval 27"/>
          <p:cNvSpPr/>
          <p:nvPr/>
        </p:nvSpPr>
        <p:spPr>
          <a:xfrm>
            <a:off x="5118721" y="1964436"/>
            <a:ext cx="201168" cy="20116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" y="174498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394D"/>
                </a:solidFill>
              </a:rPr>
              <a:t>CLS 2023-24: aged 16-24 vs 25+</a:t>
            </a:r>
          </a:p>
          <a:p>
            <a:pPr algn="l"/>
            <a:r>
              <a:rPr sz="1300" b="0" i="0">
                <a:solidFill>
                  <a:srgbClr val="55606B"/>
                </a:solidFill>
              </a:rPr>
              <a:t>n = 50,706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1744980"/>
            <a:ext cx="27706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94D"/>
                </a:solidFill>
              </a:rPr>
              <a:t>−0.59 (−0.65 to −0.53)</a:t>
            </a:r>
          </a:p>
          <a:p>
            <a:pPr algn="l"/>
            <a:r>
              <a:rPr sz="1300" b="0" i="0">
                <a:solidFill>
                  <a:srgbClr val="55606B"/>
                </a:solidFill>
              </a:rPr>
              <a:t>p &lt; .001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75159" y="3001009"/>
            <a:ext cx="1155003" cy="0"/>
          </a:xfrm>
          <a:prstGeom prst="line">
            <a:avLst/>
          </a:prstGeom>
          <a:ln w="50800">
            <a:solidFill>
              <a:srgbClr val="3F739B"/>
            </a:solidFill>
          </a:ln>
        </p:spPr>
      </p:cxnSp>
      <p:sp>
        <p:nvSpPr>
          <p:cNvPr id="32" name="Oval 31"/>
          <p:cNvSpPr/>
          <p:nvPr/>
        </p:nvSpPr>
        <p:spPr>
          <a:xfrm>
            <a:off x="5952076" y="2900426"/>
            <a:ext cx="201168" cy="201168"/>
          </a:xfrm>
          <a:prstGeom prst="ellipse">
            <a:avLst/>
          </a:prstGeom>
          <a:solidFill>
            <a:srgbClr val="3F739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" y="2680969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3F739B"/>
                </a:solidFill>
              </a:rPr>
              <a:t>ESS 2023-24: women vs men</a:t>
            </a:r>
          </a:p>
          <a:p>
            <a:pPr algn="l"/>
            <a:r>
              <a:rPr sz="1300" b="0" i="0">
                <a:solidFill>
                  <a:srgbClr val="55606B"/>
                </a:solidFill>
              </a:rPr>
              <a:t>n = 1,680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2680969"/>
            <a:ext cx="27706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F739B"/>
                </a:solidFill>
              </a:rPr>
              <a:t>−0.27 (−0.49 to −0.05)</a:t>
            </a:r>
          </a:p>
          <a:p>
            <a:pPr algn="l"/>
            <a:r>
              <a:rPr sz="1300" b="0" i="0">
                <a:solidFill>
                  <a:srgbClr val="55606B"/>
                </a:solidFill>
              </a:rPr>
              <a:t>p = .015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895416" y="3937000"/>
            <a:ext cx="2923542" cy="0"/>
          </a:xfrm>
          <a:prstGeom prst="line">
            <a:avLst/>
          </a:prstGeom>
          <a:ln w="50800">
            <a:solidFill>
              <a:srgbClr val="7A5C00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6256603" y="3836415"/>
            <a:ext cx="201168" cy="201168"/>
          </a:xfrm>
          <a:prstGeom prst="ellipse">
            <a:avLst/>
          </a:prstGeom>
          <a:solidFill>
            <a:srgbClr val="7A5C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" y="3616959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7A5C00"/>
                </a:solidFill>
              </a:rPr>
              <a:t>BSA 2024: aged 16-24 vs 25+</a:t>
            </a:r>
          </a:p>
          <a:p>
            <a:pPr algn="l"/>
            <a:r>
              <a:rPr sz="1300" b="0" i="0">
                <a:solidFill>
                  <a:srgbClr val="55606B"/>
                </a:solidFill>
              </a:rPr>
              <a:t>n = 1,453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616959"/>
            <a:ext cx="27706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7A5C00"/>
                </a:solidFill>
              </a:rPr>
              <a:t>−0.16 (−0.71 to 0.40)</a:t>
            </a:r>
          </a:p>
          <a:p>
            <a:pPr algn="l"/>
            <a:r>
              <a:rPr sz="1300" b="0" i="0">
                <a:solidFill>
                  <a:srgbClr val="55606B"/>
                </a:solidFill>
              </a:rPr>
              <a:t>p = .579</a:t>
            </a:r>
          </a:p>
        </p:txBody>
      </p:sp>
      <p:sp>
        <p:nvSpPr>
          <p:cNvPr id="39" name="Rule"/>
          <p:cNvSpPr/>
          <p:nvPr/>
        </p:nvSpPr>
        <p:spPr>
          <a:xfrm>
            <a:off x="758952" y="5257800"/>
            <a:ext cx="10607040" cy="594360"/>
          </a:xfrm>
          <a:prstGeom prst="roundRect">
            <a:avLst>
              <a:gd name="adj" fmla="val 8000"/>
            </a:avLst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" y="5257800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Report the size and its interval, not just the p-value. “Not significant” ≠ “no difference”.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94360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5606B"/>
                </a:solidFill>
              </a:rPr>
              <a:t>Data: CLS 2023-24 (England), ESS Round 11 (UK), BSA 2024; linear regressions, adjusted for sex where relevant (the ESS gap is unadjusted).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reading p-values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758952" y="121615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5606B"/>
                </a:solidFill>
              </a:rPr>
              <a:t>Model M₃: inequality p &lt; .001; homicides p = 0.48</a:t>
            </a:r>
          </a:p>
        </p:txBody>
      </p:sp>
      <p:sp>
        <p:nvSpPr>
          <p:cNvPr id="7" name="Statement 1"/>
          <p:cNvSpPr/>
          <p:nvPr/>
        </p:nvSpPr>
        <p:spPr>
          <a:xfrm>
            <a:off x="758952" y="1783080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956816"/>
            <a:ext cx="548640" cy="54864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1783080"/>
            <a:ext cx="950976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1F2A33"/>
                </a:solidFill>
              </a:rPr>
              <a:t>p = 0.48 means there is a 48% chance that homicides have no association with trust.</a:t>
            </a:r>
          </a:p>
        </p:txBody>
      </p:sp>
      <p:sp>
        <p:nvSpPr>
          <p:cNvPr id="10" name="Statement 2"/>
          <p:cNvSpPr/>
          <p:nvPr/>
        </p:nvSpPr>
        <p:spPr>
          <a:xfrm>
            <a:off x="758952" y="2807208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980944"/>
            <a:ext cx="548640" cy="54864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2807208"/>
            <a:ext cx="950976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1F2A33"/>
                </a:solidFill>
              </a:rPr>
              <a:t>If homicides had no association with trust (adjusting for inequality), a slope this far from 0 would turn up in about half of samples.</a:t>
            </a:r>
          </a:p>
        </p:txBody>
      </p:sp>
      <p:sp>
        <p:nvSpPr>
          <p:cNvPr id="13" name="Statement 3"/>
          <p:cNvSpPr/>
          <p:nvPr/>
        </p:nvSpPr>
        <p:spPr>
          <a:xfrm>
            <a:off x="758952" y="3831336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005072"/>
            <a:ext cx="548640" cy="54864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3831336"/>
            <a:ext cx="950976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1F2A33"/>
                </a:solidFill>
              </a:rPr>
              <a:t>Inequality’s p &lt; .001 proves that inequality causes low trust.</a:t>
            </a:r>
          </a:p>
        </p:txBody>
      </p:sp>
      <p:sp>
        <p:nvSpPr>
          <p:cNvPr id="16" name="Statement 4"/>
          <p:cNvSpPr/>
          <p:nvPr/>
        </p:nvSpPr>
        <p:spPr>
          <a:xfrm>
            <a:off x="758952" y="4855464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5029200"/>
            <a:ext cx="548640" cy="54864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855464"/>
            <a:ext cx="950976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1F2A33"/>
                </a:solidFill>
              </a:rPr>
              <a:t>The 95% CI for inequality (−11.0 to −3.3) excludes 0, which matches p &lt; .05.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p-values: answers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758952" y="121615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5606B"/>
                </a:solidFill>
              </a:rPr>
              <a:t>Model M₃: inequality p &lt; .001; homicides p = 0.48</a:t>
            </a:r>
          </a:p>
        </p:txBody>
      </p:sp>
      <p:sp>
        <p:nvSpPr>
          <p:cNvPr id="7" name="Statement 1"/>
          <p:cNvSpPr/>
          <p:nvPr/>
        </p:nvSpPr>
        <p:spPr>
          <a:xfrm>
            <a:off x="758952" y="1783080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956816"/>
            <a:ext cx="548640" cy="54864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1828800"/>
            <a:ext cx="6949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F2A33"/>
                </a:solidFill>
              </a:rPr>
              <a:t>p = 0.48 means there is a 48% chance that homicides have no association with trust.</a:t>
            </a:r>
          </a:p>
          <a:p>
            <a:pPr algn="l"/>
            <a:r>
              <a:rPr sz="1400" b="0" i="0">
                <a:solidFill>
                  <a:srgbClr val="55606B"/>
                </a:solidFill>
              </a:rPr>
              <a:t>The p-value assumes H₀; it isn’t the probability that H₀ is true.</a:t>
            </a:r>
          </a:p>
        </p:txBody>
      </p:sp>
      <p:sp>
        <p:nvSpPr>
          <p:cNvPr id="10" name="Verdict 1"/>
          <p:cNvSpPr/>
          <p:nvPr/>
        </p:nvSpPr>
        <p:spPr>
          <a:xfrm>
            <a:off x="8823960" y="1965960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65640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23960" y="1965960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865640"/>
                </a:solidFill>
              </a:rPr>
              <a:t>Not quite</a:t>
            </a:r>
          </a:p>
        </p:txBody>
      </p:sp>
      <p:sp>
        <p:nvSpPr>
          <p:cNvPr id="12" name="Statement 2"/>
          <p:cNvSpPr/>
          <p:nvPr/>
        </p:nvSpPr>
        <p:spPr>
          <a:xfrm>
            <a:off x="758952" y="2807208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2980944"/>
            <a:ext cx="548640" cy="54864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2852928"/>
            <a:ext cx="6949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F2A33"/>
                </a:solidFill>
              </a:rPr>
              <a:t>If homicides had no association with trust (adjusting for inequality), a slope this far from 0 would turn up in about half of samples.</a:t>
            </a:r>
          </a:p>
          <a:p>
            <a:pPr algn="l"/>
            <a:r>
              <a:rPr sz="1400" b="0" i="0">
                <a:solidFill>
                  <a:srgbClr val="55606B"/>
                </a:solidFill>
              </a:rPr>
              <a:t>That is what p ≈ .48 means.</a:t>
            </a:r>
          </a:p>
        </p:txBody>
      </p:sp>
      <p:sp>
        <p:nvSpPr>
          <p:cNvPr id="15" name="Verdict 2"/>
          <p:cNvSpPr/>
          <p:nvPr/>
        </p:nvSpPr>
        <p:spPr>
          <a:xfrm>
            <a:off x="8823960" y="2990088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2E6B4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3960" y="2990088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Right</a:t>
            </a:r>
          </a:p>
        </p:txBody>
      </p:sp>
      <p:sp>
        <p:nvSpPr>
          <p:cNvPr id="17" name="Statement 3"/>
          <p:cNvSpPr/>
          <p:nvPr/>
        </p:nvSpPr>
        <p:spPr>
          <a:xfrm>
            <a:off x="758952" y="3831336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005072"/>
            <a:ext cx="548640" cy="54864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3877056"/>
            <a:ext cx="6949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F2A33"/>
                </a:solidFill>
              </a:rPr>
              <a:t>Inequality’s p &lt; .001 proves that inequality causes low trust.</a:t>
            </a:r>
          </a:p>
          <a:p>
            <a:pPr algn="l"/>
            <a:r>
              <a:rPr sz="1400" b="0" i="0">
                <a:solidFill>
                  <a:srgbClr val="55606B"/>
                </a:solidFill>
              </a:rPr>
              <a:t>It shows the association is unlikely to be chance alone, not why it exists.</a:t>
            </a:r>
          </a:p>
        </p:txBody>
      </p:sp>
      <p:sp>
        <p:nvSpPr>
          <p:cNvPr id="20" name="Verdict 3"/>
          <p:cNvSpPr/>
          <p:nvPr/>
        </p:nvSpPr>
        <p:spPr>
          <a:xfrm>
            <a:off x="8823960" y="4014216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65640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60" y="4014216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865640"/>
                </a:solidFill>
              </a:rPr>
              <a:t>Not quite</a:t>
            </a:r>
          </a:p>
        </p:txBody>
      </p:sp>
      <p:sp>
        <p:nvSpPr>
          <p:cNvPr id="22" name="Statement 4"/>
          <p:cNvSpPr/>
          <p:nvPr/>
        </p:nvSpPr>
        <p:spPr>
          <a:xfrm>
            <a:off x="758952" y="4855464"/>
            <a:ext cx="10607040" cy="896112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4400" y="5029200"/>
            <a:ext cx="548640" cy="54864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4901184"/>
            <a:ext cx="6949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1F2A33"/>
                </a:solidFill>
              </a:rPr>
              <a:t>The 95% CI for inequality (−11.0 to −3.3) excludes 0, which matches p &lt; .05.</a:t>
            </a:r>
          </a:p>
          <a:p>
            <a:pPr algn="l"/>
            <a:r>
              <a:rPr sz="1400" b="0" i="0">
                <a:solidFill>
                  <a:srgbClr val="55606B"/>
                </a:solidFill>
              </a:rPr>
              <a:t>A 95% CI excludes 0 exactly when p &lt; .05.</a:t>
            </a:r>
          </a:p>
        </p:txBody>
      </p:sp>
      <p:sp>
        <p:nvSpPr>
          <p:cNvPr id="25" name="Verdict 4"/>
          <p:cNvSpPr/>
          <p:nvPr/>
        </p:nvSpPr>
        <p:spPr>
          <a:xfrm>
            <a:off x="8823960" y="5038344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2E6B4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23960" y="5038344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Right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the JASP output: linear regression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758952" y="1261872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</a:rPr>
              <a:t>ANOVA</a:t>
            </a:r>
            <a:endParaRPr sz="140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" y="1563624"/>
          <a:ext cx="7223760" cy="1097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Model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Sum of Squares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df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Mean Square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F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p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M₁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Regression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2487.699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2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1243.850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8.351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0.002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Residual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2978.830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20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148.941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Total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5466.529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22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" y="2697480"/>
            <a:ext cx="7223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222222"/>
                </a:solidFill>
              </a:rPr>
              <a:t>Note. </a:t>
            </a:r>
            <a:r>
              <a:rPr sz="1100" b="0" i="0">
                <a:solidFill>
                  <a:srgbClr val="222222"/>
                </a:solidFill>
              </a:rPr>
              <a:t>M₁ includes Income inequality, Homicides</a:t>
            </a:r>
            <a:endParaRPr sz="1100"/>
          </a:p>
        </p:txBody>
      </p:sp>
      <p:sp>
        <p:nvSpPr>
          <p:cNvPr id="9" name="TextBox 8"/>
          <p:cNvSpPr txBox="1"/>
          <p:nvPr/>
        </p:nvSpPr>
        <p:spPr>
          <a:xfrm>
            <a:off x="758952" y="3026664"/>
            <a:ext cx="10104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</a:rPr>
              <a:t>Coefficients</a:t>
            </a:r>
            <a:endParaRPr sz="140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58952" y="3328416"/>
          <a:ext cx="10104120" cy="1371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Model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Unstandardized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Standard Error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Standardized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t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p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95% CI lower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95% CI upper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M₀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(Intercept)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38.830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3.287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11.814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&lt; .001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32.014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45.647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M₁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(Intercept)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77.513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9.856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7.864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&lt; .001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56.953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98.073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Income inequality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−7.147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1.836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−0.726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−3.893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&lt; .001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−10.977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−3.318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Homicides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0.174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0.244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0.133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0.715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0.483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−0.334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0.683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4887468" y="3026664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  <a:endParaRPr sz="1200"/>
          </a:p>
        </p:txBody>
      </p:sp>
      <p:sp>
        <p:nvSpPr>
          <p:cNvPr id="12" name="Oval 11"/>
          <p:cNvSpPr/>
          <p:nvPr/>
        </p:nvSpPr>
        <p:spPr>
          <a:xfrm>
            <a:off x="6990588" y="3026664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  <a:endParaRPr sz="1200"/>
          </a:p>
        </p:txBody>
      </p:sp>
      <p:sp>
        <p:nvSpPr>
          <p:cNvPr id="13" name="Oval 12"/>
          <p:cNvSpPr/>
          <p:nvPr/>
        </p:nvSpPr>
        <p:spPr>
          <a:xfrm>
            <a:off x="7767828" y="3026664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  <a:endParaRPr sz="1200"/>
          </a:p>
        </p:txBody>
      </p:sp>
      <p:sp>
        <p:nvSpPr>
          <p:cNvPr id="14" name="Oval 13"/>
          <p:cNvSpPr/>
          <p:nvPr/>
        </p:nvSpPr>
        <p:spPr>
          <a:xfrm>
            <a:off x="9436608" y="3026664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  <a:endParaRPr sz="1200"/>
          </a:p>
        </p:txBody>
      </p:sp>
      <p:sp>
        <p:nvSpPr>
          <p:cNvPr id="15" name="Oval 14"/>
          <p:cNvSpPr/>
          <p:nvPr/>
        </p:nvSpPr>
        <p:spPr>
          <a:xfrm>
            <a:off x="6556248" y="1261872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  <a:endParaRPr sz="1200"/>
          </a:p>
        </p:txBody>
      </p:sp>
      <p:sp>
        <p:nvSpPr>
          <p:cNvPr id="16" name="Oval 15"/>
          <p:cNvSpPr/>
          <p:nvPr/>
        </p:nvSpPr>
        <p:spPr>
          <a:xfrm>
            <a:off x="402335" y="3593591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  <a:endParaRPr sz="1200"/>
          </a:p>
        </p:txBody>
      </p:sp>
      <p:sp>
        <p:nvSpPr>
          <p:cNvPr id="17" name="Oval 16"/>
          <p:cNvSpPr/>
          <p:nvPr/>
        </p:nvSpPr>
        <p:spPr>
          <a:xfrm>
            <a:off x="758952" y="4869180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1143000" y="4809744"/>
            <a:ext cx="31089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33"/>
                </a:solidFill>
              </a:rPr>
              <a:t>Standard Error: how much the estimate would vary from sample to sample</a:t>
            </a:r>
            <a:endParaRPr sz="1300"/>
          </a:p>
        </p:txBody>
      </p:sp>
      <p:sp>
        <p:nvSpPr>
          <p:cNvPr id="19" name="Oval 18"/>
          <p:cNvSpPr/>
          <p:nvPr/>
        </p:nvSpPr>
        <p:spPr>
          <a:xfrm>
            <a:off x="4325112" y="4869180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4709159" y="4809744"/>
            <a:ext cx="31089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33"/>
                </a:solidFill>
              </a:rPr>
              <a:t>t = Unstandardized ÷ Standard Error: −7.147 ÷ 1.836 = −3.893</a:t>
            </a:r>
            <a:endParaRPr sz="1300"/>
          </a:p>
        </p:txBody>
      </p:sp>
      <p:sp>
        <p:nvSpPr>
          <p:cNvPr id="21" name="Oval 20"/>
          <p:cNvSpPr/>
          <p:nvPr/>
        </p:nvSpPr>
        <p:spPr>
          <a:xfrm>
            <a:off x="7891271" y="4869180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  <a:endParaRPr sz="1200"/>
          </a:p>
        </p:txBody>
      </p:sp>
      <p:sp>
        <p:nvSpPr>
          <p:cNvPr id="22" name="TextBox 21"/>
          <p:cNvSpPr txBox="1"/>
          <p:nvPr/>
        </p:nvSpPr>
        <p:spPr>
          <a:xfrm>
            <a:off x="8275319" y="4809744"/>
            <a:ext cx="31089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33"/>
                </a:solidFill>
              </a:rPr>
              <a:t>p: how often a t this far from 0 would turn up if the true slope were 0</a:t>
            </a:r>
            <a:endParaRPr sz="1300"/>
          </a:p>
        </p:txBody>
      </p:sp>
      <p:sp>
        <p:nvSpPr>
          <p:cNvPr id="23" name="Oval 22"/>
          <p:cNvSpPr/>
          <p:nvPr/>
        </p:nvSpPr>
        <p:spPr>
          <a:xfrm>
            <a:off x="758952" y="5372100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1143000" y="5312664"/>
            <a:ext cx="31089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33"/>
                </a:solidFill>
              </a:rPr>
              <a:t>95% CI: plausible values for the slope; it excludes 0 exactly when p &lt; .05</a:t>
            </a:r>
            <a:endParaRPr sz="1300"/>
          </a:p>
        </p:txBody>
      </p:sp>
      <p:sp>
        <p:nvSpPr>
          <p:cNvPr id="25" name="Oval 24"/>
          <p:cNvSpPr/>
          <p:nvPr/>
        </p:nvSpPr>
        <p:spPr>
          <a:xfrm>
            <a:off x="4325112" y="5372100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4709159" y="5312664"/>
            <a:ext cx="31089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33"/>
                </a:solidFill>
              </a:rPr>
              <a:t>ANOVA F and p: the model as a whole against the null model M₀</a:t>
            </a:r>
            <a:endParaRPr sz="1300"/>
          </a:p>
        </p:txBody>
      </p:sp>
      <p:sp>
        <p:nvSpPr>
          <p:cNvPr id="27" name="Oval 26"/>
          <p:cNvSpPr/>
          <p:nvPr/>
        </p:nvSpPr>
        <p:spPr>
          <a:xfrm>
            <a:off x="7891271" y="5372100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8275319" y="5312664"/>
            <a:ext cx="31089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33"/>
                </a:solidFill>
              </a:rPr>
              <a:t>M₀: the null model; its test (is mean trust 0?) is of no interest</a:t>
            </a:r>
            <a:endParaRPr sz="1300"/>
          </a:p>
        </p:txBody>
      </p:sp>
      <p:sp>
        <p:nvSpPr>
          <p:cNvPr id="29" name="TextBox 28"/>
          <p:cNvSpPr txBox="1"/>
          <p:nvPr/>
        </p:nvSpPr>
        <p:spPr>
          <a:xfrm>
            <a:off x="758952" y="594360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5606B"/>
                </a:solidFill>
              </a:rPr>
              <a:t>Data: pickett2009.csv, 23 countries; the model with inequality and homicides (M₃ in Worksheet 3). JASP: Linear Regression › Statistics › Confidence intervals.</a:t>
            </a:r>
            <a:endParaRPr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the JASP output: logistic regression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758952" y="1261872"/>
            <a:ext cx="7726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</a:rPr>
              <a:t>Model Summary – SocTrust</a:t>
            </a:r>
            <a:endParaRPr sz="140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" y="1563624"/>
          <a:ext cx="7726680" cy="822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Model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Deviance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AIC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BIC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df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ΔΧ²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p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Nagelkerke R²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M₀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1460.399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1462.399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1467.365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1059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M₁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1445.108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1451.108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1466.006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1057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15.290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&lt; .001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0.019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" y="249631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</a:rPr>
              <a:t>Coefficients</a:t>
            </a:r>
            <a:endParaRPr sz="140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952" y="2798064"/>
          <a:ext cx="9601200" cy="1097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Estimate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Standard Error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Odds Ratio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z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Wald Statistic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df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p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CI lower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22222"/>
                          </a:solidFill>
                        </a:rPr>
                        <a:t>CI upper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222222"/>
                      </a:solidFill>
                    </a:lnT>
                    <a:lnB w="9525">
                      <a:solidFill>
                        <a:srgbClr val="22222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(Intercept)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−0.257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0.196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0.773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−1.311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1.719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0.190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0.526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1.136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Age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0.006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0.003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1.006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1.816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3.299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0.069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1.000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1.013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Sex (Female)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−0.437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0.125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0.646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−3.492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12.197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1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&lt; .001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0.505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222222"/>
                          </a:solidFill>
                        </a:rPr>
                        <a:t>0.825</a:t>
                      </a:r>
                      <a:endParaRPr sz="120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2222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" y="3931920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222222"/>
                </a:solidFill>
              </a:rPr>
              <a:t>Note. </a:t>
            </a:r>
            <a:r>
              <a:rPr sz="1100" b="0" i="0">
                <a:solidFill>
                  <a:srgbClr val="222222"/>
                </a:solidFill>
              </a:rPr>
              <a:t>SocTrust level ‘Trusts’ coded as class 1. Confidence intervals on the odds-ratio scale.</a:t>
            </a:r>
            <a:endParaRPr sz="1100"/>
          </a:p>
        </p:txBody>
      </p:sp>
      <p:sp>
        <p:nvSpPr>
          <p:cNvPr id="11" name="Oval 10"/>
          <p:cNvSpPr/>
          <p:nvPr/>
        </p:nvSpPr>
        <p:spPr>
          <a:xfrm>
            <a:off x="5527548" y="2496312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  <a:endParaRPr sz="1200"/>
          </a:p>
        </p:txBody>
      </p:sp>
      <p:sp>
        <p:nvSpPr>
          <p:cNvPr id="12" name="Oval 11"/>
          <p:cNvSpPr/>
          <p:nvPr/>
        </p:nvSpPr>
        <p:spPr>
          <a:xfrm>
            <a:off x="7904988" y="2496312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  <a:endParaRPr sz="1200"/>
          </a:p>
        </p:txBody>
      </p:sp>
      <p:sp>
        <p:nvSpPr>
          <p:cNvPr id="13" name="Oval 12"/>
          <p:cNvSpPr/>
          <p:nvPr/>
        </p:nvSpPr>
        <p:spPr>
          <a:xfrm>
            <a:off x="9253728" y="2496312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  <a:endParaRPr sz="1200"/>
          </a:p>
        </p:txBody>
      </p:sp>
      <p:sp>
        <p:nvSpPr>
          <p:cNvPr id="14" name="Oval 13"/>
          <p:cNvSpPr/>
          <p:nvPr/>
        </p:nvSpPr>
        <p:spPr>
          <a:xfrm>
            <a:off x="5687568" y="1261872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  <a:endParaRPr sz="1200"/>
          </a:p>
        </p:txBody>
      </p:sp>
      <p:sp>
        <p:nvSpPr>
          <p:cNvPr id="15" name="Oval 14"/>
          <p:cNvSpPr/>
          <p:nvPr/>
        </p:nvSpPr>
        <p:spPr>
          <a:xfrm>
            <a:off x="402335" y="3337560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  <a:endParaRPr sz="1200"/>
          </a:p>
        </p:txBody>
      </p:sp>
      <p:sp>
        <p:nvSpPr>
          <p:cNvPr id="16" name="Oval 15"/>
          <p:cNvSpPr/>
          <p:nvPr/>
        </p:nvSpPr>
        <p:spPr>
          <a:xfrm>
            <a:off x="402335" y="3611880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  <a:endParaRPr sz="1200"/>
          </a:p>
        </p:txBody>
      </p:sp>
      <p:sp>
        <p:nvSpPr>
          <p:cNvPr id="17" name="Oval 16"/>
          <p:cNvSpPr/>
          <p:nvPr/>
        </p:nvSpPr>
        <p:spPr>
          <a:xfrm>
            <a:off x="758952" y="4338828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  <a:endParaRPr sz="1200"/>
          </a:p>
        </p:txBody>
      </p:sp>
      <p:sp>
        <p:nvSpPr>
          <p:cNvPr id="18" name="TextBox 17"/>
          <p:cNvSpPr txBox="1"/>
          <p:nvPr/>
        </p:nvSpPr>
        <p:spPr>
          <a:xfrm>
            <a:off x="1143000" y="4279392"/>
            <a:ext cx="31089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33"/>
                </a:solidFill>
              </a:rPr>
              <a:t>z = Estimate ÷ Standard Error; the Wald statistic is z²</a:t>
            </a:r>
            <a:endParaRPr sz="1300"/>
          </a:p>
        </p:txBody>
      </p:sp>
      <p:sp>
        <p:nvSpPr>
          <p:cNvPr id="19" name="Oval 18"/>
          <p:cNvSpPr/>
          <p:nvPr/>
        </p:nvSpPr>
        <p:spPr>
          <a:xfrm>
            <a:off x="4325112" y="4338828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4709159" y="4279392"/>
            <a:ext cx="31089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33"/>
                </a:solidFill>
              </a:rPr>
              <a:t>p: how often a z this far from 0 would turn up with no association</a:t>
            </a:r>
            <a:endParaRPr sz="1300"/>
          </a:p>
        </p:txBody>
      </p:sp>
      <p:sp>
        <p:nvSpPr>
          <p:cNvPr id="21" name="Oval 20"/>
          <p:cNvSpPr/>
          <p:nvPr/>
        </p:nvSpPr>
        <p:spPr>
          <a:xfrm>
            <a:off x="7891271" y="4338828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  <a:endParaRPr sz="1200"/>
          </a:p>
        </p:txBody>
      </p:sp>
      <p:sp>
        <p:nvSpPr>
          <p:cNvPr id="22" name="TextBox 21"/>
          <p:cNvSpPr txBox="1"/>
          <p:nvPr/>
        </p:nvSpPr>
        <p:spPr>
          <a:xfrm>
            <a:off x="8275319" y="4279392"/>
            <a:ext cx="31089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33"/>
                </a:solidFill>
              </a:rPr>
              <a:t>95% CI for the odds ratio: it excludes 1 exactly when p &lt; .05</a:t>
            </a:r>
            <a:endParaRPr sz="1300"/>
          </a:p>
        </p:txBody>
      </p:sp>
      <p:sp>
        <p:nvSpPr>
          <p:cNvPr id="23" name="Oval 22"/>
          <p:cNvSpPr/>
          <p:nvPr/>
        </p:nvSpPr>
        <p:spPr>
          <a:xfrm>
            <a:off x="758952" y="4841748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1143000" y="4782312"/>
            <a:ext cx="31089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33"/>
                </a:solidFill>
              </a:rPr>
              <a:t>ΔΧ² and p: the model against the null model M₀</a:t>
            </a:r>
            <a:endParaRPr sz="1300"/>
          </a:p>
        </p:txBody>
      </p:sp>
      <p:sp>
        <p:nvSpPr>
          <p:cNvPr id="25" name="Oval 24"/>
          <p:cNvSpPr/>
          <p:nvPr/>
        </p:nvSpPr>
        <p:spPr>
          <a:xfrm>
            <a:off x="4325112" y="4841748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4709159" y="4782312"/>
            <a:ext cx="31089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33"/>
                </a:solidFill>
              </a:rPr>
              <a:t>Age: the interval runs from 0.9995 (shown as 1.000) to 1.013, so it reaches 1</a:t>
            </a:r>
            <a:endParaRPr sz="1300"/>
          </a:p>
        </p:txBody>
      </p:sp>
      <p:sp>
        <p:nvSpPr>
          <p:cNvPr id="27" name="Oval 26"/>
          <p:cNvSpPr/>
          <p:nvPr/>
        </p:nvSpPr>
        <p:spPr>
          <a:xfrm>
            <a:off x="7891271" y="4841748"/>
            <a:ext cx="292608" cy="292608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8275319" y="4782312"/>
            <a:ext cx="31089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33"/>
                </a:solidFill>
              </a:rPr>
              <a:t>Sex (Female): the whole interval lies below 1 (0.51 to 0.83)</a:t>
            </a:r>
            <a:endParaRPr sz="1300"/>
          </a:p>
        </p:txBody>
      </p:sp>
      <p:sp>
        <p:nvSpPr>
          <p:cNvPr id="29" name="TextBox 28"/>
          <p:cNvSpPr txBox="1"/>
          <p:nvPr/>
        </p:nvSpPr>
        <p:spPr>
          <a:xfrm>
            <a:off x="758952" y="594360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5606B"/>
                </a:solidFill>
              </a:rPr>
              <a:t>Data: British Social Attitudes 2010 (gb-bsa10-trust.sav), n = 1,060. JASP: Logistic Regression › Statistics › Confidence intervals (odds-ratio scale).</a:t>
            </a:r>
            <a:endParaRPr sz="1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the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sp>
        <p:nvSpPr>
          <p:cNvPr id="6" name="Rounded Rectangle 5"/>
          <p:cNvSpPr/>
          <p:nvPr/>
        </p:nvSpPr>
        <p:spPr>
          <a:xfrm>
            <a:off x="758952" y="1371600"/>
            <a:ext cx="6675120" cy="2125979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08760"/>
            <a:ext cx="6263640" cy="1682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 dirty="0">
                <a:solidFill>
                  <a:srgbClr val="3F739B"/>
                </a:solidFill>
              </a:rPr>
              <a:t>Linear regression (Spirit Level, 23 countries)</a:t>
            </a:r>
            <a:endParaRPr sz="1500" dirty="0"/>
          </a:p>
          <a:p>
            <a:pPr algn="l">
              <a:lnSpc>
                <a:spcPct val="106000"/>
              </a:lnSpc>
            </a:pPr>
            <a:r>
              <a:rPr sz="1700" b="0" i="0" dirty="0">
                <a:solidFill>
                  <a:srgbClr val="1F2A33"/>
                </a:solidFill>
              </a:rPr>
              <a:t>Adjusting for homicide rates, income inequality was negatively associated with trust: a one-unit higher quintile share ratio </a:t>
            </a:r>
            <a:r>
              <a:rPr lang="en-GB" sz="1700" b="0" i="0" dirty="0">
                <a:solidFill>
                  <a:srgbClr val="1F2A33"/>
                </a:solidFill>
              </a:rPr>
              <a:t>was associated</a:t>
            </a:r>
            <a:r>
              <a:rPr sz="1700" b="0" i="0" dirty="0">
                <a:solidFill>
                  <a:srgbClr val="1F2A33"/>
                </a:solidFill>
              </a:rPr>
              <a:t> with 7.1 percentage points lower trust (95% CI −11.0 to −3.3; p &lt; .001). Homicide rates were not reliably associated with trust once inequality was taken into account (p = 0.48).</a:t>
            </a:r>
            <a:endParaRPr sz="1700" dirty="0"/>
          </a:p>
        </p:txBody>
      </p:sp>
      <p:sp>
        <p:nvSpPr>
          <p:cNvPr id="8" name="Rounded Rectangle 7"/>
          <p:cNvSpPr/>
          <p:nvPr/>
        </p:nvSpPr>
        <p:spPr>
          <a:xfrm>
            <a:off x="758952" y="3680460"/>
            <a:ext cx="6675120" cy="2125979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3817620"/>
            <a:ext cx="6263640" cy="1851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 dirty="0">
                <a:solidFill>
                  <a:srgbClr val="3F739B"/>
                </a:solidFill>
              </a:rPr>
              <a:t>Logistic regression (</a:t>
            </a:r>
            <a:r>
              <a:rPr sz="1500" b="1" i="0" dirty="0" err="1">
                <a:solidFill>
                  <a:srgbClr val="3F739B"/>
                </a:solidFill>
              </a:rPr>
              <a:t>BSA</a:t>
            </a:r>
            <a:r>
              <a:rPr sz="1500" b="1" i="0" dirty="0">
                <a:solidFill>
                  <a:srgbClr val="3F739B"/>
                </a:solidFill>
              </a:rPr>
              <a:t> 2010, n = 1,060)</a:t>
            </a:r>
            <a:endParaRPr sz="1500" dirty="0"/>
          </a:p>
          <a:p>
            <a:pPr algn="l">
              <a:lnSpc>
                <a:spcPct val="106000"/>
              </a:lnSpc>
            </a:pPr>
            <a:r>
              <a:rPr sz="1700" b="0" i="0" dirty="0">
                <a:solidFill>
                  <a:srgbClr val="1F2A33"/>
                </a:solidFill>
              </a:rPr>
              <a:t>Among respondents of the same age, women had 35% lower odds than men of saying most people can be trusted (OR = 0.65, 95% CI 0.51 to 0.83; p &lt; .001). Older respondents were slightly more trusting (OR = 1.06 per decade), but the interval includes 1 (p = 0.069), so we cannot rule out no association.</a:t>
            </a:r>
            <a:endParaRPr sz="1700" dirty="0"/>
          </a:p>
        </p:txBody>
      </p:sp>
      <p:sp>
        <p:nvSpPr>
          <p:cNvPr id="10" name="Rounded Rectangle 9"/>
          <p:cNvSpPr/>
          <p:nvPr/>
        </p:nvSpPr>
        <p:spPr>
          <a:xfrm>
            <a:off x="7635240" y="1371600"/>
            <a:ext cx="3730752" cy="4434840"/>
          </a:xfrm>
          <a:prstGeom prst="roundRect">
            <a:avLst>
              <a:gd name="adj" fmla="val 8000"/>
            </a:avLst>
          </a:prstGeom>
          <a:solidFill>
            <a:srgbClr val="1F39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1508760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B88C00"/>
                </a:solidFill>
              </a:rPr>
              <a:t>Checklist</a:t>
            </a:r>
            <a:endParaRPr sz="1600"/>
          </a:p>
        </p:txBody>
      </p:sp>
      <p:sp>
        <p:nvSpPr>
          <p:cNvPr id="12" name="Oval 11"/>
          <p:cNvSpPr/>
          <p:nvPr/>
        </p:nvSpPr>
        <p:spPr>
          <a:xfrm>
            <a:off x="7882128" y="2057400"/>
            <a:ext cx="365760" cy="365760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8385048" y="2057400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The estimate, in units or as an odds ratio</a:t>
            </a:r>
            <a:endParaRPr sz="1500"/>
          </a:p>
        </p:txBody>
      </p:sp>
      <p:sp>
        <p:nvSpPr>
          <p:cNvPr id="14" name="Oval 13"/>
          <p:cNvSpPr/>
          <p:nvPr/>
        </p:nvSpPr>
        <p:spPr>
          <a:xfrm>
            <a:off x="7882128" y="2660904"/>
            <a:ext cx="365760" cy="365760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  <a:endParaRPr sz="1400"/>
          </a:p>
        </p:txBody>
      </p:sp>
      <p:sp>
        <p:nvSpPr>
          <p:cNvPr id="15" name="TextBox 14"/>
          <p:cNvSpPr txBox="1"/>
          <p:nvPr/>
        </p:nvSpPr>
        <p:spPr>
          <a:xfrm>
            <a:off x="8385048" y="2660904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Its 95% confidence interval</a:t>
            </a:r>
            <a:endParaRPr sz="1500"/>
          </a:p>
        </p:txBody>
      </p:sp>
      <p:sp>
        <p:nvSpPr>
          <p:cNvPr id="16" name="Oval 15"/>
          <p:cNvSpPr/>
          <p:nvPr/>
        </p:nvSpPr>
        <p:spPr>
          <a:xfrm>
            <a:off x="7882128" y="3264408"/>
            <a:ext cx="365760" cy="365760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8385048" y="3264408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The exact p-value, or p &lt; .001</a:t>
            </a:r>
            <a:endParaRPr sz="1500"/>
          </a:p>
        </p:txBody>
      </p:sp>
      <p:sp>
        <p:nvSpPr>
          <p:cNvPr id="18" name="Oval 17"/>
          <p:cNvSpPr/>
          <p:nvPr/>
        </p:nvSpPr>
        <p:spPr>
          <a:xfrm>
            <a:off x="7882128" y="3867912"/>
            <a:ext cx="365760" cy="365760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  <a:endParaRPr sz="1400"/>
          </a:p>
        </p:txBody>
      </p:sp>
      <p:sp>
        <p:nvSpPr>
          <p:cNvPr id="19" name="TextBox 18"/>
          <p:cNvSpPr txBox="1"/>
          <p:nvPr/>
        </p:nvSpPr>
        <p:spPr>
          <a:xfrm>
            <a:off x="8385048" y="3867912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Size first, then significance</a:t>
            </a:r>
            <a:endParaRPr sz="1500"/>
          </a:p>
        </p:txBody>
      </p:sp>
      <p:sp>
        <p:nvSpPr>
          <p:cNvPr id="20" name="Oval 19"/>
          <p:cNvSpPr/>
          <p:nvPr/>
        </p:nvSpPr>
        <p:spPr>
          <a:xfrm>
            <a:off x="7882128" y="4471416"/>
            <a:ext cx="365760" cy="365760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8385048" y="4471416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‘Not significant’ is not ‘no difference’</a:t>
            </a:r>
            <a:endParaRPr sz="1500"/>
          </a:p>
        </p:txBody>
      </p:sp>
      <p:sp>
        <p:nvSpPr>
          <p:cNvPr id="22" name="Oval 21"/>
          <p:cNvSpPr/>
          <p:nvPr/>
        </p:nvSpPr>
        <p:spPr>
          <a:xfrm>
            <a:off x="7882128" y="5074920"/>
            <a:ext cx="365760" cy="365760"/>
          </a:xfrm>
          <a:prstGeom prst="ellipse">
            <a:avLst/>
          </a:prstGeom>
          <a:solidFill>
            <a:srgbClr val="B88C00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8385048" y="5074920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Association, not cause</a:t>
            </a:r>
            <a:endParaRPr sz="1500"/>
          </a:p>
        </p:txBody>
      </p:sp>
      <p:sp>
        <p:nvSpPr>
          <p:cNvPr id="24" name="TextBox 23"/>
          <p:cNvSpPr txBox="1"/>
          <p:nvPr/>
        </p:nvSpPr>
        <p:spPr>
          <a:xfrm>
            <a:off x="758952" y="594360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5606B"/>
                </a:solidFill>
              </a:rPr>
              <a:t>Data: pickett2009.csv (23 countries); British Social Attitudes 2010 (gb-bsa10-trust.sav), n = 1,060.</a:t>
            </a:r>
            <a:endParaRPr sz="1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explorer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pic>
        <p:nvPicPr>
          <p:cNvPr id="6" name="Picture 5" descr="qr_w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463040"/>
            <a:ext cx="2834640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" y="4434840"/>
            <a:ext cx="3429000" cy="451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 dirty="0">
                <a:solidFill>
                  <a:srgbClr val="1F394D"/>
                </a:solidFill>
              </a:rPr>
              <a:t>Course site › [</a:t>
            </a:r>
            <a:r>
              <a:rPr sz="1400" b="1" i="0" dirty="0" err="1">
                <a:solidFill>
                  <a:srgbClr val="1F394D"/>
                </a:solidFill>
              </a:rPr>
              <a:t>W5</a:t>
            </a:r>
            <a:r>
              <a:rPr sz="1400" b="1" i="0" dirty="0">
                <a:solidFill>
                  <a:srgbClr val="1F394D"/>
                </a:solidFill>
              </a:rPr>
              <a:t>] Interactive Explorer</a:t>
            </a:r>
            <a:endParaRPr sz="1400" dirty="0"/>
          </a:p>
          <a:p>
            <a:pPr algn="ctr"/>
            <a:r>
              <a:rPr sz="1200" b="0" i="0" dirty="0">
                <a:solidFill>
                  <a:srgbClr val="55606B"/>
                </a:solidFill>
              </a:rPr>
              <a:t>cgmoreh.github.io/</a:t>
            </a:r>
            <a:r>
              <a:rPr sz="1200" b="0" i="0" dirty="0" err="1">
                <a:solidFill>
                  <a:srgbClr val="55606B"/>
                </a:solidFill>
              </a:rPr>
              <a:t>SOC2069</a:t>
            </a:r>
            <a:r>
              <a:rPr sz="1200" b="0" i="0" dirty="0">
                <a:solidFill>
                  <a:srgbClr val="55606B"/>
                </a:solidFill>
              </a:rPr>
              <a:t>-QUANT-26</a:t>
            </a:r>
            <a:r>
              <a:rPr lang="en-GB" sz="1200" b="0" i="0" dirty="0">
                <a:solidFill>
                  <a:srgbClr val="55606B"/>
                </a:solidFill>
              </a:rPr>
              <a:t> </a:t>
            </a:r>
            <a:endParaRPr sz="1200" dirty="0"/>
          </a:p>
        </p:txBody>
      </p:sp>
      <p:sp>
        <p:nvSpPr>
          <p:cNvPr id="8" name="Rounded Rectangle 7"/>
          <p:cNvSpPr/>
          <p:nvPr/>
        </p:nvSpPr>
        <p:spPr>
          <a:xfrm>
            <a:off x="4526280" y="1417320"/>
            <a:ext cx="6839712" cy="109728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732020" y="1714500"/>
            <a:ext cx="502920" cy="50292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  <a:endParaRPr sz="1800"/>
          </a:p>
        </p:txBody>
      </p:sp>
      <p:sp>
        <p:nvSpPr>
          <p:cNvPr id="10" name="TextBox 9"/>
          <p:cNvSpPr txBox="1"/>
          <p:nvPr/>
        </p:nvSpPr>
        <p:spPr>
          <a:xfrm>
            <a:off x="5440680" y="1527048"/>
            <a:ext cx="576072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1F394D"/>
                </a:solidFill>
              </a:rPr>
              <a:t>Draw samples</a:t>
            </a:r>
            <a:endParaRPr sz="1800" dirty="0"/>
          </a:p>
          <a:p>
            <a:pPr algn="l"/>
            <a:r>
              <a:rPr sz="1500" b="0" i="0" dirty="0">
                <a:solidFill>
                  <a:srgbClr val="1F2A33"/>
                </a:solidFill>
              </a:rPr>
              <a:t>Watch estimates pile up into a sampling distribution, and change the sample size to see the spread shrink.</a:t>
            </a:r>
            <a:endParaRPr sz="1500" dirty="0"/>
          </a:p>
        </p:txBody>
      </p:sp>
      <p:sp>
        <p:nvSpPr>
          <p:cNvPr id="11" name="Rounded Rectangle 10"/>
          <p:cNvSpPr/>
          <p:nvPr/>
        </p:nvSpPr>
        <p:spPr>
          <a:xfrm>
            <a:off x="4526280" y="2651760"/>
            <a:ext cx="6839712" cy="109728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32020" y="2948940"/>
            <a:ext cx="502920" cy="50292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  <a:endParaRPr sz="1800"/>
          </a:p>
        </p:txBody>
      </p:sp>
      <p:sp>
        <p:nvSpPr>
          <p:cNvPr id="13" name="TextBox 12"/>
          <p:cNvSpPr txBox="1"/>
          <p:nvPr/>
        </p:nvSpPr>
        <p:spPr>
          <a:xfrm>
            <a:off x="5440680" y="2761488"/>
            <a:ext cx="576072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394D"/>
                </a:solidFill>
              </a:rPr>
              <a:t>Fifty intervals</a:t>
            </a:r>
            <a:endParaRPr sz="1800"/>
          </a:p>
          <a:p>
            <a:pPr algn="l"/>
            <a:r>
              <a:rPr sz="1500" b="0" i="0">
                <a:solidFill>
                  <a:srgbClr val="1F2A33"/>
                </a:solidFill>
              </a:rPr>
              <a:t>Count how many 95% intervals catch the true value, then change the confidence level.</a:t>
            </a:r>
            <a:endParaRPr sz="1500"/>
          </a:p>
        </p:txBody>
      </p:sp>
      <p:sp>
        <p:nvSpPr>
          <p:cNvPr id="14" name="Rounded Rectangle 13"/>
          <p:cNvSpPr/>
          <p:nvPr/>
        </p:nvSpPr>
        <p:spPr>
          <a:xfrm>
            <a:off x="4526280" y="3886200"/>
            <a:ext cx="6839712" cy="109728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32020" y="4183379"/>
            <a:ext cx="502920" cy="502920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wrap="square" lIns="0" tIns="18288" rIns="0" bIns="18288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  <a:endParaRPr sz="1800"/>
          </a:p>
        </p:txBody>
      </p:sp>
      <p:sp>
        <p:nvSpPr>
          <p:cNvPr id="16" name="TextBox 15"/>
          <p:cNvSpPr txBox="1"/>
          <p:nvPr/>
        </p:nvSpPr>
        <p:spPr>
          <a:xfrm>
            <a:off x="5440680" y="3995928"/>
            <a:ext cx="5760720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394D"/>
                </a:solidFill>
              </a:rPr>
              <a:t>Shuffle the countries</a:t>
            </a:r>
            <a:endParaRPr sz="1800"/>
          </a:p>
          <a:p>
            <a:pPr algn="l"/>
            <a:r>
              <a:rPr sz="1500" b="0" i="0">
                <a:solidFill>
                  <a:srgbClr val="1F2A33"/>
                </a:solidFill>
              </a:rPr>
              <a:t>Break the link between inequality and trust and count how often a slope as steep as −6.54 turns up by chance.</a:t>
            </a:r>
            <a:endParaRPr sz="15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B7FA-678D-8875-AA66-53A8C0D5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21DD-CA21-DA52-0A3D-FF73D983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  <a:endParaRPr lang="en-GB" dirty="0"/>
          </a:p>
        </p:txBody>
      </p:sp>
      <p:sp>
        <p:nvSpPr>
          <p:cNvPr id="6" name="Card 1"/>
          <p:cNvSpPr/>
          <p:nvPr/>
        </p:nvSpPr>
        <p:spPr>
          <a:xfrm>
            <a:off x="758952" y="1417320"/>
            <a:ext cx="5212080" cy="210312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" y="1645920"/>
            <a:ext cx="566928" cy="56692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1618488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F394D"/>
                </a:solidFill>
              </a:rPr>
              <a:t>Samples vary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2313432"/>
            <a:ext cx="4023360" cy="1097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F2A33"/>
                </a:solidFill>
              </a:rPr>
              <a:t>Every estimate has a standard error; bigger samples give smaller ones.</a:t>
            </a:r>
          </a:p>
        </p:txBody>
      </p:sp>
      <p:sp>
        <p:nvSpPr>
          <p:cNvPr id="10" name="Card 2"/>
          <p:cNvSpPr/>
          <p:nvPr/>
        </p:nvSpPr>
        <p:spPr>
          <a:xfrm>
            <a:off x="6153912" y="1417320"/>
            <a:ext cx="5212080" cy="210312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6382512" y="1645920"/>
            <a:ext cx="566928" cy="56692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1618488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F394D"/>
                </a:solidFill>
              </a:rPr>
              <a:t>Intervals over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2313432"/>
            <a:ext cx="4023360" cy="1097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F2A33"/>
                </a:solidFill>
              </a:rPr>
              <a:t>A 95% CI gives plausible population values. Report it alongside the estimate.</a:t>
            </a:r>
          </a:p>
        </p:txBody>
      </p:sp>
      <p:sp>
        <p:nvSpPr>
          <p:cNvPr id="14" name="Card 3"/>
          <p:cNvSpPr/>
          <p:nvPr/>
        </p:nvSpPr>
        <p:spPr>
          <a:xfrm>
            <a:off x="758952" y="3749039"/>
            <a:ext cx="5212080" cy="210312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987552" y="3977639"/>
            <a:ext cx="566928" cy="56692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072" y="3962470"/>
            <a:ext cx="402336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>
                <a:solidFill>
                  <a:srgbClr val="1F394D"/>
                </a:solidFill>
              </a:rPr>
              <a:t>p-values answer one </a:t>
            </a:r>
            <a:r>
              <a:rPr lang="en-GB" sz="2000" b="1" i="0" dirty="0">
                <a:solidFill>
                  <a:srgbClr val="1F394D"/>
                </a:solidFill>
              </a:rPr>
              <a:t>very specific </a:t>
            </a:r>
            <a:r>
              <a:rPr sz="2000" b="1" i="0" dirty="0">
                <a:solidFill>
                  <a:srgbClr val="1F394D"/>
                </a:solidFill>
              </a:rPr>
              <a:t>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072" y="4645152"/>
            <a:ext cx="4023360" cy="1097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F2A33"/>
                </a:solidFill>
              </a:rPr>
              <a:t>How surprising the data would be if H₀ were true. Not the size, not the truth of H₀.</a:t>
            </a:r>
          </a:p>
        </p:txBody>
      </p:sp>
      <p:sp>
        <p:nvSpPr>
          <p:cNvPr id="18" name="Card 4"/>
          <p:cNvSpPr/>
          <p:nvPr/>
        </p:nvSpPr>
        <p:spPr>
          <a:xfrm>
            <a:off x="6153912" y="3749039"/>
            <a:ext cx="5212080" cy="210312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82512" y="3977639"/>
            <a:ext cx="566928" cy="566928"/>
          </a:xfrm>
          <a:prstGeom prst="ellipse">
            <a:avLst/>
          </a:prstGeom>
          <a:solidFill>
            <a:srgbClr val="1F394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3950207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F394D"/>
                </a:solidFill>
              </a:rPr>
              <a:t>Size, precision, then significance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4645152"/>
            <a:ext cx="4023360" cy="1097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F2A33"/>
                </a:solidFill>
              </a:rPr>
              <a:t>Say how big, how precise, and only then whether it is “significant”.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AE4DB1-6B08-6AEB-B597-8064268FD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27 October 2026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F2723A-2C1C-2AB6-3420-9BD762F76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Uncertainty and Inference</a:t>
            </a:r>
          </a:p>
        </p:txBody>
      </p:sp>
    </p:spTree>
    <p:extLst>
      <p:ext uri="{BB962C8B-B14F-4D97-AF65-F5344CB8AC3E}">
        <p14:creationId xmlns:p14="http://schemas.microsoft.com/office/powerpoint/2010/main" val="2858093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Moreh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3F739B"/>
      </a:accent1>
      <a:accent2>
        <a:srgbClr val="1F394D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B88C00"/>
      </a:hlink>
      <a:folHlink>
        <a:srgbClr val="B88C0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reh template.pptx" id="{976FE89A-DE24-46CA-AC0C-F592F46D6A11}" vid="{6FA3B6B4-ED01-4468-97EF-FE3176612C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24.07.16-Osaka</Template>
  <TotalTime>3931</TotalTime>
  <Words>4870</Words>
  <Application>Microsoft Office PowerPoint</Application>
  <PresentationFormat>Widescreen</PresentationFormat>
  <Paragraphs>601</Paragraphs>
  <Slides>32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5" baseType="lpstr">
      <vt:lpstr>Aptos</vt:lpstr>
      <vt:lpstr>Arial</vt:lpstr>
      <vt:lpstr>Arial Narrow</vt:lpstr>
      <vt:lpstr>Arial Nova Cond Light</vt:lpstr>
      <vt:lpstr>Calibri</vt:lpstr>
      <vt:lpstr>Calibri Light</vt:lpstr>
      <vt:lpstr>Cambria Math</vt:lpstr>
      <vt:lpstr>Courier</vt:lpstr>
      <vt:lpstr>Courier New</vt:lpstr>
      <vt:lpstr>FiraSans-Bold-Identity-H</vt:lpstr>
      <vt:lpstr>FiraSans-Book-Identity-H</vt:lpstr>
      <vt:lpstr>Wingdings</vt:lpstr>
      <vt:lpstr>Retrospect</vt:lpstr>
      <vt:lpstr>PowerPoint Presentation</vt:lpstr>
      <vt:lpstr>Week 5</vt:lpstr>
      <vt:lpstr>Outline</vt:lpstr>
      <vt:lpstr>Inference</vt:lpstr>
      <vt:lpstr>Every sample gives a different answer</vt:lpstr>
      <vt:lpstr>Every sample gives a different answer</vt:lpstr>
      <vt:lpstr>Every sample gives a different answer</vt:lpstr>
      <vt:lpstr>The shape of chance</vt:lpstr>
      <vt:lpstr>Back to the real survey</vt:lpstr>
      <vt:lpstr>Confidence interval for the slope</vt:lpstr>
      <vt:lpstr>What “95% confidence” means</vt:lpstr>
      <vt:lpstr>Activity: true or false?</vt:lpstr>
      <vt:lpstr>True or false: answers</vt:lpstr>
      <vt:lpstr>Hypothesis tests</vt:lpstr>
      <vt:lpstr>Hypothesis testing framework</vt:lpstr>
      <vt:lpstr>Hypothesis testing framework</vt:lpstr>
      <vt:lpstr>Could it just be chance?</vt:lpstr>
      <vt:lpstr>Null and alternative hypotheses</vt:lpstr>
      <vt:lpstr>What a p-value is, and isn’t</vt:lpstr>
      <vt:lpstr>Inference for regression</vt:lpstr>
      <vt:lpstr>Hypothesis test for the slope</vt:lpstr>
      <vt:lpstr>Every coefficient comes with its uncertainty</vt:lpstr>
      <vt:lpstr>Confidence intervals for odds ratios</vt:lpstr>
      <vt:lpstr>Significant is not the same as big</vt:lpstr>
      <vt:lpstr>Activity: reading p-values</vt:lpstr>
      <vt:lpstr>Reading p-values: answers</vt:lpstr>
      <vt:lpstr>Reading the JASP output: linear regression</vt:lpstr>
      <vt:lpstr>Reading the JASP output: logistic regression</vt:lpstr>
      <vt:lpstr>Reporting the results</vt:lpstr>
      <vt:lpstr>Interactive explorer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Moreh</dc:creator>
  <cp:lastModifiedBy>Chris Moreh</cp:lastModifiedBy>
  <cp:revision>11</cp:revision>
  <dcterms:created xsi:type="dcterms:W3CDTF">2024-07-11T13:35:49Z</dcterms:created>
  <dcterms:modified xsi:type="dcterms:W3CDTF">2026-10-27T12:11:04Z</dcterms:modified>
</cp:coreProperties>
</file>