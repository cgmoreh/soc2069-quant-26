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3">
  <p:sldMasterIdLst>
    <p:sldMasterId id="2147483660" r:id="rId1"/>
  </p:sldMasterIdLst>
  <p:notesMasterIdLst>
    <p:notesMasterId r:id="rId33"/>
  </p:notesMasterIdLst>
  <p:handoutMasterIdLst>
    <p:handoutMasterId r:id="rId34"/>
  </p:handoutMasterIdLst>
  <p:sldIdLst>
    <p:sldId id="256" r:id="rId2"/>
    <p:sldId id="307" r:id="rId3"/>
    <p:sldId id="565" r:id="rId4"/>
    <p:sldId id="566" r:id="rId5"/>
    <p:sldId id="567" r:id="rId6"/>
    <p:sldId id="568" r:id="rId7"/>
    <p:sldId id="569" r:id="rId8"/>
    <p:sldId id="570" r:id="rId9"/>
    <p:sldId id="571" r:id="rId10"/>
    <p:sldId id="592" r:id="rId41"/>
    <p:sldId id="573" r:id="rId12"/>
    <p:sldId id="574" r:id="rId13"/>
    <p:sldId id="575" r:id="rId14"/>
    <p:sldId id="576" r:id="rId15"/>
    <p:sldId id="577" r:id="rId16"/>
    <p:sldId id="578" r:id="rId17"/>
    <p:sldId id="579" r:id="rId18"/>
    <p:sldId id="580" r:id="rId19"/>
    <p:sldId id="581" r:id="rId20"/>
    <p:sldId id="582" r:id="rId21"/>
    <p:sldId id="583" r:id="rId22"/>
    <p:sldId id="584" r:id="rId23"/>
    <p:sldId id="585" r:id="rId24"/>
    <p:sldId id="586" r:id="rId25"/>
    <p:sldId id="587" r:id="rId26"/>
    <p:sldId id="588" r:id="rId27"/>
    <p:sldId id="589" r:id="rId28"/>
    <p:sldId id="590" r:id="rId29"/>
    <p:sldId id="593" r:id="rId42"/>
    <p:sldId id="594" r:id="rId43"/>
    <p:sldId id="591" r:id="rId30"/>
    <p:sldId id="354" r:id="rId31"/>
    <p:sldId id="260"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0000"/>
    <a:srgbClr val="3F739B"/>
    <a:srgbClr val="174CF7"/>
    <a:srgbClr val="E4C8C8"/>
    <a:srgbClr val="EEBE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6D3A32-358D-49FC-8B3F-D94A730CE098}" v="1" dt="2025-11-24T11:03:53.9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2648" autoAdjust="0"/>
  </p:normalViewPr>
  <p:slideViewPr>
    <p:cSldViewPr snapToGrid="0">
      <p:cViewPr varScale="1">
        <p:scale>
          <a:sx n="58" d="100"/>
          <a:sy n="58" d="100"/>
        </p:scale>
        <p:origin x="432" y="6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5" d="100"/>
          <a:sy n="55" d="100"/>
        </p:scale>
        <p:origin x="1676" y="6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6/11/relationships/changesInfo" Target="changesInfos/changesInfo1.xml"/><Relationship Id="rId40" Type="http://schemas.microsoft.com/office/2015/10/relationships/revisionInfo" Target="revisionInfo.xml"/><Relationship Id="rId41" Type="http://schemas.openxmlformats.org/officeDocument/2006/relationships/slide" Target="slides/slide10.xml"/><Relationship Id="rId42" Type="http://schemas.openxmlformats.org/officeDocument/2006/relationships/slide" Target="slides/slide29.xml"/><Relationship Id="rId43" Type="http://schemas.openxmlformats.org/officeDocument/2006/relationships/slide" Target="slides/slide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Moreh" userId="17b81281-9f29-44e0-9273-6dadbf6896a2" providerId="ADAL" clId="{BCF66164-2C9C-4B48-AFF3-6B0B0038345A}"/>
    <pc:docChg chg="undo custSel addSld delSld modSld sldOrd">
      <pc:chgData name="Chris Moreh" userId="17b81281-9f29-44e0-9273-6dadbf6896a2" providerId="ADAL" clId="{BCF66164-2C9C-4B48-AFF3-6B0B0038345A}" dt="2025-11-24T11:03:53.903" v="61"/>
      <pc:docMkLst>
        <pc:docMk/>
      </pc:docMkLst>
      <pc:sldChg chg="add">
        <pc:chgData name="Chris Moreh" userId="17b81281-9f29-44e0-9273-6dadbf6896a2" providerId="ADAL" clId="{BCF66164-2C9C-4B48-AFF3-6B0B0038345A}" dt="2025-11-24T11:03:53.903" v="61"/>
        <pc:sldMkLst>
          <pc:docMk/>
          <pc:sldMk cId="0" sldId="259"/>
        </pc:sldMkLst>
      </pc:sldChg>
      <pc:sldChg chg="ord">
        <pc:chgData name="Chris Moreh" userId="17b81281-9f29-44e0-9273-6dadbf6896a2" providerId="ADAL" clId="{BCF66164-2C9C-4B48-AFF3-6B0B0038345A}" dt="2025-11-24T10:59:13.431" v="58"/>
        <pc:sldMkLst>
          <pc:docMk/>
          <pc:sldMk cId="782263443" sldId="297"/>
        </pc:sldMkLst>
      </pc:sldChg>
      <pc:sldChg chg="modSp mod">
        <pc:chgData name="Chris Moreh" userId="17b81281-9f29-44e0-9273-6dadbf6896a2" providerId="ADAL" clId="{BCF66164-2C9C-4B48-AFF3-6B0B0038345A}" dt="2025-11-24T09:41:18.727" v="1" actId="20577"/>
        <pc:sldMkLst>
          <pc:docMk/>
          <pc:sldMk cId="3814459198" sldId="307"/>
        </pc:sldMkLst>
        <pc:spChg chg="mod">
          <ac:chgData name="Chris Moreh" userId="17b81281-9f29-44e0-9273-6dadbf6896a2" providerId="ADAL" clId="{BCF66164-2C9C-4B48-AFF3-6B0B0038345A}" dt="2025-11-24T09:41:18.727" v="1" actId="20577"/>
          <ac:spMkLst>
            <pc:docMk/>
            <pc:sldMk cId="3814459198" sldId="307"/>
            <ac:spMk id="6" creationId="{24060982-6EE3-A8F1-75FE-C4BDB2FF3CBE}"/>
          </ac:spMkLst>
        </pc:spChg>
      </pc:sldChg>
      <pc:sldChg chg="add">
        <pc:chgData name="Chris Moreh" userId="17b81281-9f29-44e0-9273-6dadbf6896a2" providerId="ADAL" clId="{BCF66164-2C9C-4B48-AFF3-6B0B0038345A}" dt="2025-11-24T11:03:53.903" v="61"/>
        <pc:sldMkLst>
          <pc:docMk/>
          <pc:sldMk cId="0" sldId="310"/>
        </pc:sldMkLst>
      </pc:sldChg>
      <pc:sldChg chg="ord">
        <pc:chgData name="Chris Moreh" userId="17b81281-9f29-44e0-9273-6dadbf6896a2" providerId="ADAL" clId="{BCF66164-2C9C-4B48-AFF3-6B0B0038345A}" dt="2025-11-24T10:58:31.525" v="54"/>
        <pc:sldMkLst>
          <pc:docMk/>
          <pc:sldMk cId="404413708" sldId="357"/>
        </pc:sldMkLst>
      </pc:sldChg>
      <pc:sldChg chg="modSp mod">
        <pc:chgData name="Chris Moreh" userId="17b81281-9f29-44e0-9273-6dadbf6896a2" providerId="ADAL" clId="{BCF66164-2C9C-4B48-AFF3-6B0B0038345A}" dt="2025-11-24T09:42:45.650" v="48" actId="114"/>
        <pc:sldMkLst>
          <pc:docMk/>
          <pc:sldMk cId="3523596212" sldId="518"/>
        </pc:sldMkLst>
        <pc:spChg chg="mod">
          <ac:chgData name="Chris Moreh" userId="17b81281-9f29-44e0-9273-6dadbf6896a2" providerId="ADAL" clId="{BCF66164-2C9C-4B48-AFF3-6B0B0038345A}" dt="2025-11-24T09:42:45.650" v="48" actId="114"/>
          <ac:spMkLst>
            <pc:docMk/>
            <pc:sldMk cId="3523596212" sldId="518"/>
            <ac:spMk id="13" creationId="{2C10D394-C9B2-B03C-4136-7B6EEA8FFA9D}"/>
          </ac:spMkLst>
        </pc:spChg>
      </pc:sldChg>
      <pc:sldChg chg="del">
        <pc:chgData name="Chris Moreh" userId="17b81281-9f29-44e0-9273-6dadbf6896a2" providerId="ADAL" clId="{BCF66164-2C9C-4B48-AFF3-6B0B0038345A}" dt="2025-11-24T10:59:56.307" v="60" actId="47"/>
        <pc:sldMkLst>
          <pc:docMk/>
          <pc:sldMk cId="1301853266" sldId="523"/>
        </pc:sldMkLst>
      </pc:sldChg>
      <pc:sldChg chg="del">
        <pc:chgData name="Chris Moreh" userId="17b81281-9f29-44e0-9273-6dadbf6896a2" providerId="ADAL" clId="{BCF66164-2C9C-4B48-AFF3-6B0B0038345A}" dt="2025-11-24T10:57:34.746" v="50" actId="47"/>
        <pc:sldMkLst>
          <pc:docMk/>
          <pc:sldMk cId="2121120123" sldId="542"/>
        </pc:sldMkLst>
      </pc:sldChg>
      <pc:sldChg chg="del">
        <pc:chgData name="Chris Moreh" userId="17b81281-9f29-44e0-9273-6dadbf6896a2" providerId="ADAL" clId="{BCF66164-2C9C-4B48-AFF3-6B0B0038345A}" dt="2025-11-24T10:57:27.312" v="49" actId="47"/>
        <pc:sldMkLst>
          <pc:docMk/>
          <pc:sldMk cId="2617544839" sldId="549"/>
        </pc:sldMkLst>
      </pc:sldChg>
      <pc:sldChg chg="del">
        <pc:chgData name="Chris Moreh" userId="17b81281-9f29-44e0-9273-6dadbf6896a2" providerId="ADAL" clId="{BCF66164-2C9C-4B48-AFF3-6B0B0038345A}" dt="2025-11-24T10:57:41.291" v="52" actId="47"/>
        <pc:sldMkLst>
          <pc:docMk/>
          <pc:sldMk cId="1896707103" sldId="551"/>
        </pc:sldMkLst>
      </pc:sldChg>
      <pc:sldChg chg="del">
        <pc:chgData name="Chris Moreh" userId="17b81281-9f29-44e0-9273-6dadbf6896a2" providerId="ADAL" clId="{BCF66164-2C9C-4B48-AFF3-6B0B0038345A}" dt="2025-11-24T10:57:38.706" v="51" actId="47"/>
        <pc:sldMkLst>
          <pc:docMk/>
          <pc:sldMk cId="324367232" sldId="560"/>
        </pc:sldMkLst>
      </pc:sldChg>
      <pc:sldChg chg="del">
        <pc:chgData name="Chris Moreh" userId="17b81281-9f29-44e0-9273-6dadbf6896a2" providerId="ADAL" clId="{BCF66164-2C9C-4B48-AFF3-6B0B0038345A}" dt="2025-11-24T10:59:45.059" v="59" actId="47"/>
        <pc:sldMkLst>
          <pc:docMk/>
          <pc:sldMk cId="3329067806" sldId="563"/>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8.0399999999999991</c:v>
                </c:pt>
                <c:pt idx="1">
                  <c:v>6.95</c:v>
                </c:pt>
                <c:pt idx="2">
                  <c:v>7.58</c:v>
                </c:pt>
                <c:pt idx="3">
                  <c:v>8.81</c:v>
                </c:pt>
                <c:pt idx="4">
                  <c:v>8.33</c:v>
                </c:pt>
                <c:pt idx="5">
                  <c:v>9.9600000000000009</c:v>
                </c:pt>
                <c:pt idx="6">
                  <c:v>7.24</c:v>
                </c:pt>
                <c:pt idx="7">
                  <c:v>4.26</c:v>
                </c:pt>
                <c:pt idx="8">
                  <c:v>10.84</c:v>
                </c:pt>
                <c:pt idx="9">
                  <c:v>4.82</c:v>
                </c:pt>
                <c:pt idx="10">
                  <c:v>5.68</c:v>
                </c:pt>
              </c:numCache>
            </c:numRef>
          </c:yVal>
          <c:smooth val="0"/>
          <c:extLst>
            <c:ext xmlns:c16="http://schemas.microsoft.com/office/drawing/2014/chart" uri="{C3380CC4-5D6E-409C-BE32-E72D297353CC}">
              <c16:uniqueId val="{00000000-F64B-4748-BC13-6CE91852CF70}"/>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5.0004545450000002</c:v>
                </c:pt>
                <c:pt idx="1">
                  <c:v>10.001363639999999</c:v>
                </c:pt>
              </c:numCache>
            </c:numRef>
          </c:yVal>
          <c:smooth val="0"/>
          <c:extLst>
            <c:ext xmlns:c16="http://schemas.microsoft.com/office/drawing/2014/chart" uri="{C3380CC4-5D6E-409C-BE32-E72D297353CC}">
              <c16:uniqueId val="{00000001-F64B-4748-BC13-6CE91852CF70}"/>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3.0000909089999999</c:v>
                </c:pt>
                <c:pt idx="1">
                  <c:v>5.0004545450000002</c:v>
                </c:pt>
              </c:numCache>
            </c:numRef>
          </c:yVal>
          <c:smooth val="0"/>
          <c:extLst>
            <c:ext xmlns:c16="http://schemas.microsoft.com/office/drawing/2014/chart" uri="{C3380CC4-5D6E-409C-BE32-E72D297353CC}">
              <c16:uniqueId val="{00000000-A011-4E0E-B363-278A4227A0D6}"/>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3.0000909089999999</c:v>
                </c:pt>
              </c:numCache>
            </c:numRef>
          </c:yVal>
          <c:smooth val="0"/>
          <c:extLst>
            <c:ext xmlns:c16="http://schemas.microsoft.com/office/drawing/2014/chart" uri="{C3380CC4-5D6E-409C-BE32-E72D297353CC}">
              <c16:uniqueId val="{00000001-A011-4E0E-B363-278A4227A0D6}"/>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9.14</c:v>
                </c:pt>
                <c:pt idx="1">
                  <c:v>8.14</c:v>
                </c:pt>
                <c:pt idx="2">
                  <c:v>8.74</c:v>
                </c:pt>
                <c:pt idx="3">
                  <c:v>8.77</c:v>
                </c:pt>
                <c:pt idx="4">
                  <c:v>9.26</c:v>
                </c:pt>
                <c:pt idx="5">
                  <c:v>8.1</c:v>
                </c:pt>
                <c:pt idx="6">
                  <c:v>6.13</c:v>
                </c:pt>
                <c:pt idx="7">
                  <c:v>3.1</c:v>
                </c:pt>
                <c:pt idx="8">
                  <c:v>9.1300000000000008</c:v>
                </c:pt>
                <c:pt idx="9">
                  <c:v>7.26</c:v>
                </c:pt>
                <c:pt idx="10">
                  <c:v>4.74</c:v>
                </c:pt>
              </c:numCache>
            </c:numRef>
          </c:yVal>
          <c:smooth val="0"/>
          <c:extLst>
            <c:ext xmlns:c16="http://schemas.microsoft.com/office/drawing/2014/chart" uri="{C3380CC4-5D6E-409C-BE32-E72D297353CC}">
              <c16:uniqueId val="{00000000-6936-4A29-B554-4F62D489FADA}"/>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5.0009090909999996</c:v>
                </c:pt>
                <c:pt idx="1">
                  <c:v>10.00090909</c:v>
                </c:pt>
              </c:numCache>
            </c:numRef>
          </c:yVal>
          <c:smooth val="0"/>
          <c:extLst>
            <c:ext xmlns:c16="http://schemas.microsoft.com/office/drawing/2014/chart" uri="{C3380CC4-5D6E-409C-BE32-E72D297353CC}">
              <c16:uniqueId val="{00000001-6936-4A29-B554-4F62D489FADA}"/>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3.000909091</c:v>
                </c:pt>
                <c:pt idx="1">
                  <c:v>5.0009090909999996</c:v>
                </c:pt>
              </c:numCache>
            </c:numRef>
          </c:yVal>
          <c:smooth val="0"/>
          <c:extLst>
            <c:ext xmlns:c16="http://schemas.microsoft.com/office/drawing/2014/chart" uri="{C3380CC4-5D6E-409C-BE32-E72D297353CC}">
              <c16:uniqueId val="{00000000-4BBC-4B45-878F-F690FEE7E18C}"/>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3.000909091</c:v>
                </c:pt>
              </c:numCache>
            </c:numRef>
          </c:yVal>
          <c:smooth val="0"/>
          <c:extLst>
            <c:ext xmlns:c16="http://schemas.microsoft.com/office/drawing/2014/chart" uri="{C3380CC4-5D6E-409C-BE32-E72D297353CC}">
              <c16:uniqueId val="{00000001-4BBC-4B45-878F-F690FEE7E18C}"/>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7.46</c:v>
                </c:pt>
                <c:pt idx="1">
                  <c:v>6.77</c:v>
                </c:pt>
                <c:pt idx="2">
                  <c:v>12.74</c:v>
                </c:pt>
                <c:pt idx="3">
                  <c:v>7.11</c:v>
                </c:pt>
                <c:pt idx="4">
                  <c:v>7.81</c:v>
                </c:pt>
                <c:pt idx="5">
                  <c:v>8.84</c:v>
                </c:pt>
                <c:pt idx="6">
                  <c:v>6.08</c:v>
                </c:pt>
                <c:pt idx="7">
                  <c:v>5.39</c:v>
                </c:pt>
                <c:pt idx="8">
                  <c:v>8.15</c:v>
                </c:pt>
                <c:pt idx="9">
                  <c:v>6.42</c:v>
                </c:pt>
                <c:pt idx="10">
                  <c:v>5.73</c:v>
                </c:pt>
              </c:numCache>
            </c:numRef>
          </c:yVal>
          <c:smooth val="0"/>
          <c:extLst>
            <c:ext xmlns:c16="http://schemas.microsoft.com/office/drawing/2014/chart" uri="{C3380CC4-5D6E-409C-BE32-E72D297353CC}">
              <c16:uniqueId val="{00000000-E1B8-431D-8986-0013AED0E26A}"/>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5.0013636359999998</c:v>
                </c:pt>
                <c:pt idx="1">
                  <c:v>9.9986363639999993</c:v>
                </c:pt>
              </c:numCache>
            </c:numRef>
          </c:yVal>
          <c:smooth val="0"/>
          <c:extLst>
            <c:ext xmlns:c16="http://schemas.microsoft.com/office/drawing/2014/chart" uri="{C3380CC4-5D6E-409C-BE32-E72D297353CC}">
              <c16:uniqueId val="{00000001-E1B8-431D-8986-0013AED0E26A}"/>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3.002454545</c:v>
                </c:pt>
                <c:pt idx="1">
                  <c:v>5.0013636359999998</c:v>
                </c:pt>
              </c:numCache>
            </c:numRef>
          </c:yVal>
          <c:smooth val="0"/>
          <c:extLst>
            <c:ext xmlns:c16="http://schemas.microsoft.com/office/drawing/2014/chart" uri="{C3380CC4-5D6E-409C-BE32-E72D297353CC}">
              <c16:uniqueId val="{00000000-F7F4-466E-A957-825D0430B074}"/>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3.002454545</c:v>
                </c:pt>
              </c:numCache>
            </c:numRef>
          </c:yVal>
          <c:smooth val="0"/>
          <c:extLst>
            <c:ext xmlns:c16="http://schemas.microsoft.com/office/drawing/2014/chart" uri="{C3380CC4-5D6E-409C-BE32-E72D297353CC}">
              <c16:uniqueId val="{00000001-F7F4-466E-A957-825D0430B074}"/>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8</c:v>
                </c:pt>
                <c:pt idx="1">
                  <c:v>8</c:v>
                </c:pt>
                <c:pt idx="2">
                  <c:v>8</c:v>
                </c:pt>
                <c:pt idx="3">
                  <c:v>8</c:v>
                </c:pt>
                <c:pt idx="4">
                  <c:v>8</c:v>
                </c:pt>
                <c:pt idx="5">
                  <c:v>8</c:v>
                </c:pt>
                <c:pt idx="6">
                  <c:v>8</c:v>
                </c:pt>
                <c:pt idx="7">
                  <c:v>19</c:v>
                </c:pt>
                <c:pt idx="8">
                  <c:v>8</c:v>
                </c:pt>
                <c:pt idx="9">
                  <c:v>8</c:v>
                </c:pt>
                <c:pt idx="10">
                  <c:v>8</c:v>
                </c:pt>
              </c:numCache>
            </c:numRef>
          </c:xVal>
          <c:yVal>
            <c:numRef>
              <c:f>Sheet1!$B$2:$B$12</c:f>
              <c:numCache>
                <c:formatCode>General</c:formatCode>
                <c:ptCount val="11"/>
                <c:pt idx="0">
                  <c:v>6.58</c:v>
                </c:pt>
                <c:pt idx="1">
                  <c:v>5.76</c:v>
                </c:pt>
                <c:pt idx="2">
                  <c:v>7.71</c:v>
                </c:pt>
                <c:pt idx="3">
                  <c:v>8.84</c:v>
                </c:pt>
                <c:pt idx="4">
                  <c:v>8.4700000000000006</c:v>
                </c:pt>
                <c:pt idx="5">
                  <c:v>7.04</c:v>
                </c:pt>
                <c:pt idx="6">
                  <c:v>5.25</c:v>
                </c:pt>
                <c:pt idx="7">
                  <c:v>12.5</c:v>
                </c:pt>
                <c:pt idx="8">
                  <c:v>5.56</c:v>
                </c:pt>
                <c:pt idx="9">
                  <c:v>7.91</c:v>
                </c:pt>
                <c:pt idx="10">
                  <c:v>6.89</c:v>
                </c:pt>
              </c:numCache>
            </c:numRef>
          </c:yVal>
          <c:smooth val="0"/>
          <c:extLst>
            <c:ext xmlns:c16="http://schemas.microsoft.com/office/drawing/2014/chart" uri="{C3380CC4-5D6E-409C-BE32-E72D297353CC}">
              <c16:uniqueId val="{00000000-8555-41E3-B81C-24AD18502701}"/>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8</c:v>
                </c:pt>
                <c:pt idx="1">
                  <c:v>19</c:v>
                </c:pt>
              </c:numCache>
            </c:numRef>
          </c:xVal>
          <c:yVal>
            <c:numRef>
              <c:f>Sheet1!$B$15:$B$16</c:f>
              <c:numCache>
                <c:formatCode>General</c:formatCode>
                <c:ptCount val="2"/>
                <c:pt idx="0">
                  <c:v>7.0010000000000003</c:v>
                </c:pt>
                <c:pt idx="1">
                  <c:v>12.5</c:v>
                </c:pt>
              </c:numCache>
            </c:numRef>
          </c:yVal>
          <c:smooth val="0"/>
          <c:extLst>
            <c:ext xmlns:c16="http://schemas.microsoft.com/office/drawing/2014/chart" uri="{C3380CC4-5D6E-409C-BE32-E72D297353CC}">
              <c16:uniqueId val="{00000001-8555-41E3-B81C-24AD18502701}"/>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8</c:v>
                </c:pt>
              </c:numCache>
            </c:numRef>
          </c:xVal>
          <c:yVal>
            <c:numRef>
              <c:f>Sheet1!$B$19:$B$20</c:f>
              <c:numCache>
                <c:formatCode>General</c:formatCode>
                <c:ptCount val="2"/>
                <c:pt idx="0">
                  <c:v>3.0017272730000002</c:v>
                </c:pt>
                <c:pt idx="1">
                  <c:v>7.0010000000000003</c:v>
                </c:pt>
              </c:numCache>
            </c:numRef>
          </c:yVal>
          <c:smooth val="0"/>
          <c:extLst>
            <c:ext xmlns:c16="http://schemas.microsoft.com/office/drawing/2014/chart" uri="{C3380CC4-5D6E-409C-BE32-E72D297353CC}">
              <c16:uniqueId val="{00000000-6E2D-42A3-863D-AD9FE236E4CB}"/>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3.0017272730000002</c:v>
                </c:pt>
              </c:numCache>
            </c:numRef>
          </c:yVal>
          <c:smooth val="0"/>
          <c:extLst>
            <c:ext xmlns:c16="http://schemas.microsoft.com/office/drawing/2014/chart" uri="{C3380CC4-5D6E-409C-BE32-E72D297353CC}">
              <c16:uniqueId val="{00000001-6E2D-42A3-863D-AD9FE236E4CB}"/>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Countries</c:v>
                </c:pt>
              </c:strCache>
            </c:strRef>
          </c:tx>
          <c:spPr>
            <a:ln w="47625">
              <a:noFill/>
            </a:ln>
          </c:spPr>
          <c:marker>
            <c:symbol val="circle"/>
            <c:size val="9"/>
            <c:spPr>
              <a:solidFill>
                <a:srgbClr val="1F394D"/>
              </a:solidFill>
              <a:ln>
                <a:solidFill>
                  <a:srgbClr val="FFFFFF"/>
                </a:solidFill>
              </a:ln>
            </c:spPr>
          </c:marker>
          <c:dLbls>
            <c:dLbl>
              <c:idx val="4"/>
              <c:tx>
                <c:rich>
                  <a:bodyPr/>
                  <a:lstStyle/>
                  <a:p>
                    <a:r>
                      <a:rPr lang="en-US" sz="1200">
                        <a:solidFill>
                          <a:srgbClr val="55606B"/>
                        </a:solidFill>
                      </a:rPr>
                      <a:t>Denmark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A32-497F-9E2B-0EBAAC7328BC}"/>
                </c:ext>
              </c:extLst>
            </c:dLbl>
            <c:dLbl>
              <c:idx val="6"/>
              <c:tx>
                <c:rich>
                  <a:bodyPr/>
                  <a:lstStyle/>
                  <a:p>
                    <a:r>
                      <a:rPr lang="en-US" sz="1200">
                        <a:solidFill>
                          <a:srgbClr val="55606B"/>
                        </a:solidFill>
                      </a:rPr>
                      <a:t>France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A32-497F-9E2B-0EBAAC7328BC}"/>
                </c:ext>
              </c:extLst>
            </c:dLbl>
            <c:dLbl>
              <c:idx val="12"/>
              <c:tx>
                <c:rich>
                  <a:bodyPr/>
                  <a:lstStyle/>
                  <a:p>
                    <a:r>
                      <a:rPr lang="en-US" sz="1200">
                        <a:solidFill>
                          <a:srgbClr val="55606B"/>
                        </a:solidFill>
                      </a:rPr>
                      <a:t>Japan</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AA32-497F-9E2B-0EBAAC7328BC}"/>
                </c:ext>
              </c:extLst>
            </c:dLbl>
            <c:dLbl>
              <c:idx val="13"/>
              <c:tx>
                <c:rich>
                  <a:bodyPr/>
                  <a:lstStyle/>
                  <a:p>
                    <a:r>
                      <a:rPr lang="en-US" sz="1200">
                        <a:solidFill>
                          <a:srgbClr val="55606B"/>
                        </a:solidFill>
                      </a:rPr>
                      <a:t>Netherlands</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A32-497F-9E2B-0EBAAC7328BC}"/>
                </c:ext>
              </c:extLst>
            </c:dLbl>
            <c:dLbl>
              <c:idx val="16"/>
              <c:tx>
                <c:rich>
                  <a:bodyPr/>
                  <a:lstStyle/>
                  <a:p>
                    <a:r>
                      <a:rPr lang="en-US" sz="1200">
                        <a:solidFill>
                          <a:srgbClr val="55606B"/>
                        </a:solidFill>
                      </a:rPr>
                      <a:t>Portugal</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A32-497F-9E2B-0EBAAC7328BC}"/>
                </c:ext>
              </c:extLst>
            </c:dLbl>
            <c:dLbl>
              <c:idx val="17"/>
              <c:tx>
                <c:rich>
                  <a:bodyPr/>
                  <a:lstStyle/>
                  <a:p>
                    <a:r>
                      <a:rPr lang="en-US" sz="1200">
                        <a:solidFill>
                          <a:srgbClr val="55606B"/>
                        </a:solidFill>
                      </a:rPr>
                      <a:t>Singapore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A32-497F-9E2B-0EBAAC7328BC}"/>
                </c:ext>
              </c:extLst>
            </c:dLbl>
            <c:dLbl>
              <c:idx val="21"/>
              <c:tx>
                <c:rich>
                  <a:bodyPr/>
                  <a:lstStyle/>
                  <a:p>
                    <a:r>
                      <a:rPr lang="en-US" sz="1200">
                        <a:solidFill>
                          <a:srgbClr val="55606B"/>
                        </a:solidFill>
                      </a:rPr>
                      <a:t>UK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A32-497F-9E2B-0EBAAC7328BC}"/>
                </c:ext>
              </c:extLst>
            </c:dLbl>
            <c:dLbl>
              <c:idx val="22"/>
              <c:tx>
                <c:rich>
                  <a:bodyPr/>
                  <a:lstStyle/>
                  <a:p>
                    <a:r>
                      <a:rPr lang="en-US" sz="1200">
                        <a:solidFill>
                          <a:srgbClr val="55606B"/>
                        </a:solidFill>
                      </a:rPr>
                      <a:t>USA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A32-497F-9E2B-0EBAAC7328B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Sheet1!$A$2:$A$24</c:f>
              <c:numCache>
                <c:formatCode>General</c:formatCode>
                <c:ptCount val="23"/>
                <c:pt idx="0">
                  <c:v>7</c:v>
                </c:pt>
                <c:pt idx="1">
                  <c:v>4.8249998092651367</c:v>
                </c:pt>
                <c:pt idx="2">
                  <c:v>4.5999999046325684</c:v>
                </c:pt>
                <c:pt idx="3">
                  <c:v>5.625</c:v>
                </c:pt>
                <c:pt idx="4">
                  <c:v>4.3000001907348633</c:v>
                </c:pt>
                <c:pt idx="5">
                  <c:v>3.7249999046325679</c:v>
                </c:pt>
                <c:pt idx="6">
                  <c:v>5.5999999046325684</c:v>
                </c:pt>
                <c:pt idx="7">
                  <c:v>5.2000002861022949</c:v>
                </c:pt>
                <c:pt idx="8">
                  <c:v>6.1999998092651367</c:v>
                </c:pt>
                <c:pt idx="9">
                  <c:v>6.0500001907348633</c:v>
                </c:pt>
                <c:pt idx="10">
                  <c:v>6.7750000953674316</c:v>
                </c:pt>
                <c:pt idx="11">
                  <c:v>6.6500000953674316</c:v>
                </c:pt>
                <c:pt idx="12">
                  <c:v>3.4000000953674321</c:v>
                </c:pt>
                <c:pt idx="13">
                  <c:v>5.3000001907348633</c:v>
                </c:pt>
                <c:pt idx="14">
                  <c:v>6.8000001907348633</c:v>
                </c:pt>
                <c:pt idx="15">
                  <c:v>3.8500001430511479</c:v>
                </c:pt>
                <c:pt idx="16">
                  <c:v>8</c:v>
                </c:pt>
                <c:pt idx="17">
                  <c:v>9.6999998092651367</c:v>
                </c:pt>
                <c:pt idx="18">
                  <c:v>5.5500001907348633</c:v>
                </c:pt>
                <c:pt idx="19">
                  <c:v>3.9500000476837158</c:v>
                </c:pt>
                <c:pt idx="20">
                  <c:v>5.7250003814697266</c:v>
                </c:pt>
                <c:pt idx="21">
                  <c:v>7.1749997138977051</c:v>
                </c:pt>
                <c:pt idx="22">
                  <c:v>8.5499992370605469</c:v>
                </c:pt>
              </c:numCache>
            </c:numRef>
          </c:xVal>
          <c:yVal>
            <c:numRef>
              <c:f>Sheet1!$B$2:$B$24</c:f>
              <c:numCache>
                <c:formatCode>General</c:formatCode>
                <c:ptCount val="23"/>
                <c:pt idx="0">
                  <c:v>39.900001525878906</c:v>
                </c:pt>
                <c:pt idx="1">
                  <c:v>33.900001525878906</c:v>
                </c:pt>
                <c:pt idx="2">
                  <c:v>30.700000762939453</c:v>
                </c:pt>
                <c:pt idx="3">
                  <c:v>38.799999237060547</c:v>
                </c:pt>
                <c:pt idx="4">
                  <c:v>66.5</c:v>
                </c:pt>
                <c:pt idx="5">
                  <c:v>58</c:v>
                </c:pt>
                <c:pt idx="6">
                  <c:v>22.200000762939453</c:v>
                </c:pt>
                <c:pt idx="7">
                  <c:v>34.799999237060547</c:v>
                </c:pt>
                <c:pt idx="8">
                  <c:v>23.700000762939453</c:v>
                </c:pt>
                <c:pt idx="9">
                  <c:v>35.200000762939453</c:v>
                </c:pt>
                <c:pt idx="10">
                  <c:v>23.5</c:v>
                </c:pt>
                <c:pt idx="11">
                  <c:v>32.599998474121094</c:v>
                </c:pt>
                <c:pt idx="12">
                  <c:v>43.099998474121087</c:v>
                </c:pt>
                <c:pt idx="13">
                  <c:v>59.799999237060547</c:v>
                </c:pt>
                <c:pt idx="14">
                  <c:v>49.099998474121087</c:v>
                </c:pt>
                <c:pt idx="15">
                  <c:v>65.300003051757813</c:v>
                </c:pt>
                <c:pt idx="16">
                  <c:v>10</c:v>
                </c:pt>
                <c:pt idx="17">
                  <c:v>16.899999618530273</c:v>
                </c:pt>
                <c:pt idx="18">
                  <c:v>36.200000762939453</c:v>
                </c:pt>
                <c:pt idx="19">
                  <c:v>66.300003051757813</c:v>
                </c:pt>
                <c:pt idx="20">
                  <c:v>41</c:v>
                </c:pt>
                <c:pt idx="21">
                  <c:v>29.799999237060547</c:v>
                </c:pt>
                <c:pt idx="22">
                  <c:v>35.799999237060547</c:v>
                </c:pt>
              </c:numCache>
            </c:numRef>
          </c:yVal>
          <c:smooth val="0"/>
          <c:extLst>
            <c:ext xmlns:c16="http://schemas.microsoft.com/office/drawing/2014/chart" uri="{C3380CC4-5D6E-409C-BE32-E72D297353CC}">
              <c16:uniqueId val="{00000008-AA32-497F-9E2B-0EBAAC7328BC}"/>
            </c:ext>
          </c:extLst>
        </c:ser>
        <c:ser>
          <c:idx val="1"/>
          <c:order val="1"/>
          <c:tx>
            <c:strRef>
              <c:f>Sheet1!$B$26</c:f>
              <c:strCache>
                <c:ptCount val="1"/>
                <c:pt idx="0">
                  <c:v>Regression line</c:v>
                </c:pt>
              </c:strCache>
            </c:strRef>
          </c:tx>
          <c:spPr>
            <a:ln w="38100">
              <a:solidFill>
                <a:srgbClr val="B88C00"/>
              </a:solidFill>
            </a:ln>
          </c:spPr>
          <c:marker>
            <c:symbol val="none"/>
          </c:marker>
          <c:xVal>
            <c:numRef>
              <c:f>Sheet1!$A$27:$A$28</c:f>
              <c:numCache>
                <c:formatCode>General</c:formatCode>
                <c:ptCount val="2"/>
                <c:pt idx="0">
                  <c:v>3.4000000950000002</c:v>
                </c:pt>
                <c:pt idx="1">
                  <c:v>9.6999998089999995</c:v>
                </c:pt>
              </c:numCache>
            </c:numRef>
          </c:xVal>
          <c:yVal>
            <c:numRef>
              <c:f>Sheet1!$B$27:$B$28</c:f>
              <c:numCache>
                <c:formatCode>General</c:formatCode>
                <c:ptCount val="2"/>
                <c:pt idx="0">
                  <c:v>54.842085529999999</c:v>
                </c:pt>
                <c:pt idx="1">
                  <c:v>13.6692702</c:v>
                </c:pt>
              </c:numCache>
            </c:numRef>
          </c:yVal>
          <c:smooth val="0"/>
          <c:extLst>
            <c:ext xmlns:c16="http://schemas.microsoft.com/office/drawing/2014/chart" uri="{C3380CC4-5D6E-409C-BE32-E72D297353CC}">
              <c16:uniqueId val="{00000009-AA32-497F-9E2B-0EBAAC7328BC}"/>
            </c:ext>
          </c:extLst>
        </c:ser>
        <c:ser>
          <c:idx val="2"/>
          <c:order val="2"/>
          <c:tx>
            <c:strRef>
              <c:f>Sheet1!$B$30</c:f>
              <c:strCache>
                <c:ptCount val="1"/>
                <c:pt idx="0">
                  <c:v>Line beyond the data</c:v>
                </c:pt>
              </c:strCache>
            </c:strRef>
          </c:tx>
          <c:spPr>
            <a:ln w="28575" cap="rnd">
              <a:solidFill>
                <a:srgbClr val="B88C00"/>
              </a:solidFill>
              <a:prstDash val="dash"/>
              <a:round/>
            </a:ln>
          </c:spPr>
          <c:marker>
            <c:symbol val="none"/>
          </c:marker>
          <c:xVal>
            <c:numRef>
              <c:f>Sheet1!$A$31:$A$32</c:f>
              <c:numCache>
                <c:formatCode>General</c:formatCode>
                <c:ptCount val="2"/>
                <c:pt idx="0">
                  <c:v>0</c:v>
                </c:pt>
                <c:pt idx="1">
                  <c:v>3.4000000950000002</c:v>
                </c:pt>
              </c:numCache>
            </c:numRef>
          </c:xVal>
          <c:yVal>
            <c:numRef>
              <c:f>Sheet1!$B$31:$B$32</c:f>
              <c:numCache>
                <c:formatCode>General</c:formatCode>
                <c:ptCount val="2"/>
                <c:pt idx="0">
                  <c:v>77.062336700000003</c:v>
                </c:pt>
                <c:pt idx="1">
                  <c:v>54.842085529999999</c:v>
                </c:pt>
              </c:numCache>
            </c:numRef>
          </c:yVal>
          <c:smooth val="0"/>
          <c:extLst>
            <c:ext xmlns:c16="http://schemas.microsoft.com/office/drawing/2014/chart" uri="{C3380CC4-5D6E-409C-BE32-E72D297353CC}">
              <c16:uniqueId val="{00000000-CB20-44B0-95E7-BE197E41C6E6}"/>
            </c:ext>
          </c:extLst>
        </c:ser>
        <c:ser>
          <c:idx val="3"/>
          <c:order val="3"/>
          <c:tx>
            <c:strRef>
              <c:f>Sheet1!$B$34</c:f>
              <c:strCache>
                <c:ptCount val="1"/>
                <c:pt idx="0">
                  <c:v>Slope: run</c:v>
                </c:pt>
              </c:strCache>
            </c:strRef>
          </c:tx>
          <c:spPr>
            <a:ln w="15875" cap="rnd">
              <a:solidFill>
                <a:srgbClr val="1F394D"/>
              </a:solidFill>
              <a:prstDash val="sysDash"/>
              <a:round/>
            </a:ln>
          </c:spPr>
          <c:marker>
            <c:symbol val="none"/>
          </c:marker>
          <c:dLbls>
            <c:dLbl>
              <c:idx val="1"/>
              <c:tx>
                <c:rich>
                  <a:bodyPr/>
                  <a:lstStyle/>
                  <a:p>
                    <a:r>
                      <a:rPr lang="en-US" sz="1300" b="1">
                        <a:solidFill>
                          <a:srgbClr val="1F394D"/>
                        </a:solidFill>
                      </a:rPr>
                      <a:t>+1</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Sheet1!$A$35:$A$37</c:f>
              <c:numCache>
                <c:formatCode>General</c:formatCode>
                <c:ptCount val="3"/>
                <c:pt idx="0">
                  <c:v>0</c:v>
                </c:pt>
                <c:pt idx="1">
                  <c:v>0.5</c:v>
                </c:pt>
                <c:pt idx="2">
                  <c:v>1</c:v>
                </c:pt>
              </c:numCache>
            </c:numRef>
          </c:xVal>
          <c:yVal>
            <c:numRef>
              <c:f>Sheet1!$B$35:$B$37</c:f>
              <c:numCache>
                <c:formatCode>General</c:formatCode>
                <c:ptCount val="3"/>
                <c:pt idx="0">
                  <c:v>77.062336700000003</c:v>
                </c:pt>
                <c:pt idx="1">
                  <c:v>77.062336700000003</c:v>
                </c:pt>
                <c:pt idx="2">
                  <c:v>77.062336700000003</c:v>
                </c:pt>
              </c:numCache>
            </c:numRef>
          </c:yVal>
          <c:smooth val="0"/>
          <c:extLst>
            <c:ext xmlns:c16="http://schemas.microsoft.com/office/drawing/2014/chart" uri="{C3380CC4-5D6E-409C-BE32-E72D297353CC}">
              <c16:uniqueId val="{00000002-CB20-44B0-95E7-BE197E41C6E6}"/>
            </c:ext>
          </c:extLst>
        </c:ser>
        <c:ser>
          <c:idx val="4"/>
          <c:order val="4"/>
          <c:tx>
            <c:strRef>
              <c:f>Sheet1!$B$39</c:f>
              <c:strCache>
                <c:ptCount val="1"/>
                <c:pt idx="0">
                  <c:v>Slope: rise</c:v>
                </c:pt>
              </c:strCache>
            </c:strRef>
          </c:tx>
          <c:spPr>
            <a:ln w="15875" cap="rnd">
              <a:solidFill>
                <a:srgbClr val="1F394D"/>
              </a:solidFill>
              <a:prstDash val="sysDash"/>
              <a:round/>
            </a:ln>
          </c:spPr>
          <c:marker>
            <c:symbol val="none"/>
          </c:marker>
          <c:dLbls>
            <c:dLbl>
              <c:idx val="1"/>
              <c:tx>
                <c:rich>
                  <a:bodyPr/>
                  <a:lstStyle/>
                  <a:p>
                    <a:r>
                      <a:rPr lang="en-US" sz="1300" b="1">
                        <a:solidFill>
                          <a:srgbClr val="1F394D"/>
                        </a:solidFill>
                      </a:rPr>
                      <a:t>−6.54 (slope)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Sheet1!$A$40:$A$42</c:f>
              <c:numCache>
                <c:formatCode>General</c:formatCode>
                <c:ptCount val="3"/>
                <c:pt idx="0">
                  <c:v>1</c:v>
                </c:pt>
                <c:pt idx="1">
                  <c:v>1</c:v>
                </c:pt>
                <c:pt idx="2">
                  <c:v>1</c:v>
                </c:pt>
              </c:numCache>
            </c:numRef>
          </c:xVal>
          <c:yVal>
            <c:numRef>
              <c:f>Sheet1!$B$40:$B$42</c:f>
              <c:numCache>
                <c:formatCode>General</c:formatCode>
                <c:ptCount val="3"/>
                <c:pt idx="0">
                  <c:v>77.062336700000003</c:v>
                </c:pt>
                <c:pt idx="1">
                  <c:v>73.794652799999994</c:v>
                </c:pt>
                <c:pt idx="2">
                  <c:v>70.526968890000006</c:v>
                </c:pt>
              </c:numCache>
            </c:numRef>
          </c:yVal>
          <c:smooth val="0"/>
          <c:extLst>
            <c:ext xmlns:c16="http://schemas.microsoft.com/office/drawing/2014/chart" uri="{C3380CC4-5D6E-409C-BE32-E72D297353CC}">
              <c16:uniqueId val="{00000004-CB20-44B0-95E7-BE197E41C6E6}"/>
            </c:ext>
          </c:extLst>
        </c:ser>
        <c:ser>
          <c:idx val="5"/>
          <c:order val="5"/>
          <c:tx>
            <c:strRef>
              <c:f>Sheet1!$B$44</c:f>
              <c:strCache>
                <c:ptCount val="1"/>
                <c:pt idx="0">
                  <c:v>Intercept</c:v>
                </c:pt>
              </c:strCache>
            </c:strRef>
          </c:tx>
          <c:spPr>
            <a:ln w="47625">
              <a:noFill/>
            </a:ln>
          </c:spPr>
          <c:marker>
            <c:symbol val="circle"/>
            <c:size val="11"/>
            <c:spPr>
              <a:solidFill>
                <a:srgbClr val="B88C00"/>
              </a:solidFill>
              <a:ln w="15875">
                <a:solidFill>
                  <a:srgbClr val="FFFFFF"/>
                </a:solidFill>
              </a:ln>
            </c:spPr>
          </c:marker>
          <c:xVal>
            <c:numRef>
              <c:f>Sheet1!$A$45:$A$45</c:f>
              <c:numCache>
                <c:formatCode>General</c:formatCode>
                <c:ptCount val="1"/>
                <c:pt idx="0">
                  <c:v>0</c:v>
                </c:pt>
              </c:numCache>
            </c:numRef>
          </c:xVal>
          <c:yVal>
            <c:numRef>
              <c:f>Sheet1!$B$45:$B$45</c:f>
              <c:numCache>
                <c:formatCode>General</c:formatCode>
                <c:ptCount val="1"/>
                <c:pt idx="0">
                  <c:v>77.062336700000003</c:v>
                </c:pt>
              </c:numCache>
            </c:numRef>
          </c:yVal>
          <c:smooth val="0"/>
          <c:extLst>
            <c:ext xmlns:c16="http://schemas.microsoft.com/office/drawing/2014/chart" uri="{C3380CC4-5D6E-409C-BE32-E72D297353CC}">
              <c16:uniqueId val="{00000005-CB20-44B0-95E7-BE197E41C6E6}"/>
            </c:ext>
          </c:extLst>
        </c:ser>
        <c:ser>
          <c:idx val="6"/>
          <c:order val="6"/>
          <c:tx>
            <c:strRef>
              <c:f>Sheet1!$B$47</c:f>
              <c:strCache>
                <c:ptCount val="1"/>
                <c:pt idx="0">
                  <c:v>Intercept label</c:v>
                </c:pt>
              </c:strCache>
            </c:strRef>
          </c:tx>
          <c:spPr>
            <a:ln w="47625">
              <a:noFill/>
            </a:ln>
          </c:spPr>
          <c:marker>
            <c:symbol val="none"/>
          </c:marker>
          <c:dLbls>
            <c:dLbl>
              <c:idx val="0"/>
              <c:tx>
                <c:rich>
                  <a:bodyPr/>
                  <a:lstStyle/>
                  <a:p>
                    <a:r>
                      <a:rPr lang="en-US" sz="1300" b="1">
                        <a:solidFill>
                          <a:srgbClr val="7A5C00"/>
                        </a:solidFill>
                      </a:rPr>
                      <a:t>77.1 (intercept)</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Sheet1!$A$48:$A$48</c:f>
              <c:numCache>
                <c:formatCode>General</c:formatCode>
                <c:ptCount val="1"/>
                <c:pt idx="0">
                  <c:v>0</c:v>
                </c:pt>
              </c:numCache>
            </c:numRef>
          </c:xVal>
          <c:yVal>
            <c:numRef>
              <c:f>Sheet1!$B$48:$B$48</c:f>
              <c:numCache>
                <c:formatCode>General</c:formatCode>
                <c:ptCount val="1"/>
                <c:pt idx="0">
                  <c:v>90.062336700000003</c:v>
                </c:pt>
              </c:numCache>
            </c:numRef>
          </c:yVal>
          <c:smooth val="0"/>
          <c:extLst>
            <c:ext xmlns:c16="http://schemas.microsoft.com/office/drawing/2014/chart" uri="{C3380CC4-5D6E-409C-BE32-E72D297353CC}">
              <c16:uniqueId val="{00000007-CB20-44B0-95E7-BE197E41C6E6}"/>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GB" sz="1300" b="0">
                    <a:solidFill>
                      <a:srgbClr val="55606B"/>
                    </a:solidFill>
                  </a:rPr>
                  <a:t>Income inequality (richest fifth’s income ÷ poorest fifth’s)</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100"/>
          <c:min val="0"/>
        </c:scaling>
        <c:delete val="0"/>
        <c:axPos val="l"/>
        <c:majorGridlines>
          <c:spPr>
            <a:ln>
              <a:solidFill>
                <a:srgbClr val="DDE3E8"/>
              </a:solidFill>
            </a:ln>
          </c:spPr>
        </c:majorGridlines>
        <c:title>
          <c:tx>
            <c:rich>
              <a:bodyPr/>
              <a:lstStyle/>
              <a:p>
                <a:r>
                  <a:rPr lang="en-GB" sz="1300" b="0">
                    <a:solidFill>
                      <a:srgbClr val="55606B"/>
                    </a:solidFill>
                  </a:rPr>
                  <a:t>% who say most people can be trusted</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10"/>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Sum of squares</c:v>
                </c:pt>
              </c:strCache>
            </c:strRef>
          </c:tx>
          <c:spPr>
            <a:solidFill>
              <a:srgbClr val="1F394D"/>
            </a:solidFill>
          </c:spPr>
          <c:invertIfNegative val="1"/>
          <c:dPt>
            <c:idx val="0"/>
            <c:invertIfNegative val="1"/>
            <c:bubble3D val="0"/>
            <c:spPr>
              <a:solidFill>
                <a:srgbClr val="9AA4AE"/>
              </a:solidFill>
            </c:spPr>
            <c:extLst>
              <c:ext xmlns:c16="http://schemas.microsoft.com/office/drawing/2014/chart" uri="{C3380CC4-5D6E-409C-BE32-E72D297353CC}">
                <c16:uniqueId val="{00000001-3E0A-48C8-8234-837F782774A4}"/>
              </c:ext>
            </c:extLst>
          </c:dPt>
          <c:dPt>
            <c:idx val="1"/>
            <c:invertIfNegative val="1"/>
            <c:bubble3D val="0"/>
            <c:extLst>
              <c:ext xmlns:c16="http://schemas.microsoft.com/office/drawing/2014/chart" uri="{C3380CC4-5D6E-409C-BE32-E72D297353CC}">
                <c16:uniqueId val="{00000003-3E0A-48C8-8234-837F782774A4}"/>
              </c:ext>
            </c:extLst>
          </c:dPt>
          <c:dLbls>
            <c:numFmt formatCode="#,##0" sourceLinked="0"/>
            <c:spPr>
              <a:noFill/>
              <a:ln>
                <a:noFill/>
              </a:ln>
              <a:effectLst/>
            </c:spPr>
            <c:txPr>
              <a:bodyPr/>
              <a:lstStyle/>
              <a:p>
                <a:pPr>
                  <a:defRPr sz="16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Total variation around the mean</c:v>
                </c:pt>
                <c:pt idx="1">
                  <c:v>Left over around the line</c:v>
                </c:pt>
              </c:strCache>
            </c:strRef>
          </c:cat>
          <c:val>
            <c:numRef>
              <c:f>Sheet1!$B$2:$B$3</c:f>
              <c:numCache>
                <c:formatCode>General</c:formatCode>
                <c:ptCount val="2"/>
                <c:pt idx="0">
                  <c:v>5467</c:v>
                </c:pt>
                <c:pt idx="1">
                  <c:v>3055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3E0A-48C8-8234-837F782774A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500">
                <a:solidFill>
                  <a:srgbClr val="55606B"/>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Region A</c:v>
                </c:pt>
              </c:strCache>
            </c:strRef>
          </c:tx>
          <c:spPr>
            <a:ln w="47625">
              <a:noFill/>
            </a:ln>
          </c:spPr>
          <c:marker>
            <c:symbol val="circle"/>
            <c:size val="7"/>
            <c:spPr>
              <a:solidFill>
                <a:srgbClr val="3F739B"/>
              </a:solidFill>
              <a:ln>
                <a:solidFill>
                  <a:srgbClr val="FFFFFF"/>
                </a:solidFill>
              </a:ln>
            </c:spPr>
          </c:marker>
          <c:xVal>
            <c:numRef>
              <c:f>Sheet1!$A$2:$A$31</c:f>
              <c:numCache>
                <c:formatCode>General</c:formatCode>
                <c:ptCount val="30"/>
                <c:pt idx="0">
                  <c:v>3.5270000000000001</c:v>
                </c:pt>
                <c:pt idx="1">
                  <c:v>4.0209999999999999</c:v>
                </c:pt>
                <c:pt idx="2">
                  <c:v>2.7869999999999999</c:v>
                </c:pt>
                <c:pt idx="3">
                  <c:v>2.91</c:v>
                </c:pt>
                <c:pt idx="4">
                  <c:v>4.9429999999999996</c:v>
                </c:pt>
                <c:pt idx="5">
                  <c:v>3.2530000000000001</c:v>
                </c:pt>
                <c:pt idx="6">
                  <c:v>5.0590000000000002</c:v>
                </c:pt>
                <c:pt idx="7">
                  <c:v>4.5</c:v>
                </c:pt>
                <c:pt idx="8">
                  <c:v>3.9630000000000001</c:v>
                </c:pt>
                <c:pt idx="9">
                  <c:v>3.1970000000000001</c:v>
                </c:pt>
                <c:pt idx="10">
                  <c:v>3.3370000000000002</c:v>
                </c:pt>
                <c:pt idx="11">
                  <c:v>3.7210000000000001</c:v>
                </c:pt>
                <c:pt idx="12">
                  <c:v>2.7690000000000001</c:v>
                </c:pt>
                <c:pt idx="13">
                  <c:v>3.7959999999999998</c:v>
                </c:pt>
                <c:pt idx="14">
                  <c:v>3.08</c:v>
                </c:pt>
                <c:pt idx="15">
                  <c:v>4.01</c:v>
                </c:pt>
                <c:pt idx="16">
                  <c:v>3.8220000000000001</c:v>
                </c:pt>
                <c:pt idx="17">
                  <c:v>4.71</c:v>
                </c:pt>
                <c:pt idx="18">
                  <c:v>3.5259999999999998</c:v>
                </c:pt>
                <c:pt idx="19">
                  <c:v>3.4750000000000001</c:v>
                </c:pt>
                <c:pt idx="20">
                  <c:v>3.4540000000000002</c:v>
                </c:pt>
                <c:pt idx="21">
                  <c:v>3.9870000000000001</c:v>
                </c:pt>
                <c:pt idx="22">
                  <c:v>3.6459999999999999</c:v>
                </c:pt>
                <c:pt idx="23">
                  <c:v>4.282</c:v>
                </c:pt>
                <c:pt idx="24">
                  <c:v>4.0590000000000002</c:v>
                </c:pt>
                <c:pt idx="25">
                  <c:v>4.0060000000000002</c:v>
                </c:pt>
                <c:pt idx="26">
                  <c:v>3.85</c:v>
                </c:pt>
                <c:pt idx="27">
                  <c:v>3.387</c:v>
                </c:pt>
                <c:pt idx="28">
                  <c:v>3.823</c:v>
                </c:pt>
                <c:pt idx="29">
                  <c:v>3.2130000000000001</c:v>
                </c:pt>
              </c:numCache>
            </c:numRef>
          </c:xVal>
          <c:yVal>
            <c:numRef>
              <c:f>Sheet1!$B$2:$B$31</c:f>
              <c:numCache>
                <c:formatCode>General</c:formatCode>
                <c:ptCount val="30"/>
                <c:pt idx="0">
                  <c:v>60.332999999999998</c:v>
                </c:pt>
                <c:pt idx="1">
                  <c:v>50.036999999999999</c:v>
                </c:pt>
                <c:pt idx="2">
                  <c:v>58.061</c:v>
                </c:pt>
                <c:pt idx="3">
                  <c:v>56.314</c:v>
                </c:pt>
                <c:pt idx="4">
                  <c:v>49.506999999999998</c:v>
                </c:pt>
                <c:pt idx="5">
                  <c:v>57.728000000000002</c:v>
                </c:pt>
                <c:pt idx="6">
                  <c:v>53.749000000000002</c:v>
                </c:pt>
                <c:pt idx="7">
                  <c:v>52.756999999999998</c:v>
                </c:pt>
                <c:pt idx="8">
                  <c:v>55.91</c:v>
                </c:pt>
                <c:pt idx="9">
                  <c:v>50.984999999999999</c:v>
                </c:pt>
                <c:pt idx="10">
                  <c:v>52.91</c:v>
                </c:pt>
                <c:pt idx="11">
                  <c:v>48.972000000000001</c:v>
                </c:pt>
                <c:pt idx="12">
                  <c:v>55.448999999999998</c:v>
                </c:pt>
                <c:pt idx="13">
                  <c:v>49.161999999999999</c:v>
                </c:pt>
                <c:pt idx="14">
                  <c:v>52.287999999999997</c:v>
                </c:pt>
                <c:pt idx="15">
                  <c:v>51.746000000000002</c:v>
                </c:pt>
                <c:pt idx="16">
                  <c:v>51.308999999999997</c:v>
                </c:pt>
                <c:pt idx="17">
                  <c:v>43.805</c:v>
                </c:pt>
                <c:pt idx="18">
                  <c:v>52.088000000000001</c:v>
                </c:pt>
                <c:pt idx="19">
                  <c:v>53.890999999999998</c:v>
                </c:pt>
                <c:pt idx="20">
                  <c:v>48.423999999999999</c:v>
                </c:pt>
                <c:pt idx="21">
                  <c:v>53.658000000000001</c:v>
                </c:pt>
                <c:pt idx="22">
                  <c:v>48.093000000000004</c:v>
                </c:pt>
                <c:pt idx="23">
                  <c:v>50.558999999999997</c:v>
                </c:pt>
                <c:pt idx="24">
                  <c:v>51.548999999999999</c:v>
                </c:pt>
                <c:pt idx="25">
                  <c:v>52.764000000000003</c:v>
                </c:pt>
                <c:pt idx="26">
                  <c:v>53.466999999999999</c:v>
                </c:pt>
                <c:pt idx="27">
                  <c:v>59.271999999999998</c:v>
                </c:pt>
                <c:pt idx="28">
                  <c:v>51.383000000000003</c:v>
                </c:pt>
                <c:pt idx="29">
                  <c:v>54.71</c:v>
                </c:pt>
              </c:numCache>
            </c:numRef>
          </c:yVal>
          <c:smooth val="0"/>
          <c:extLst>
            <c:ext xmlns:c16="http://schemas.microsoft.com/office/drawing/2014/chart" uri="{C3380CC4-5D6E-409C-BE32-E72D297353CC}">
              <c16:uniqueId val="{00000000-1AA5-446C-B5F0-4F6ED63FBCD2}"/>
            </c:ext>
          </c:extLst>
        </c:ser>
        <c:ser>
          <c:idx val="1"/>
          <c:order val="1"/>
          <c:tx>
            <c:strRef>
              <c:f>Sheet1!$B$33</c:f>
              <c:strCache>
                <c:ptCount val="1"/>
                <c:pt idx="0">
                  <c:v>Region B</c:v>
                </c:pt>
              </c:strCache>
            </c:strRef>
          </c:tx>
          <c:spPr>
            <a:ln w="47625">
              <a:noFill/>
            </a:ln>
          </c:spPr>
          <c:marker>
            <c:symbol val="circle"/>
            <c:size val="7"/>
            <c:spPr>
              <a:solidFill>
                <a:srgbClr val="B88C00"/>
              </a:solidFill>
              <a:ln>
                <a:solidFill>
                  <a:srgbClr val="FFFFFF"/>
                </a:solidFill>
              </a:ln>
            </c:spPr>
          </c:marker>
          <c:xVal>
            <c:numRef>
              <c:f>Sheet1!$A$34:$A$63</c:f>
              <c:numCache>
                <c:formatCode>General</c:formatCode>
                <c:ptCount val="30"/>
                <c:pt idx="0">
                  <c:v>7.9619999999999997</c:v>
                </c:pt>
                <c:pt idx="1">
                  <c:v>6.1779999999999999</c:v>
                </c:pt>
                <c:pt idx="2">
                  <c:v>7.7510000000000003</c:v>
                </c:pt>
                <c:pt idx="3">
                  <c:v>6.5650000000000004</c:v>
                </c:pt>
                <c:pt idx="4">
                  <c:v>7.41</c:v>
                </c:pt>
                <c:pt idx="5">
                  <c:v>6.718</c:v>
                </c:pt>
                <c:pt idx="6">
                  <c:v>8.0609999999999999</c:v>
                </c:pt>
                <c:pt idx="7">
                  <c:v>6.0880000000000001</c:v>
                </c:pt>
                <c:pt idx="8">
                  <c:v>8.1300000000000008</c:v>
                </c:pt>
                <c:pt idx="9">
                  <c:v>6.5179999999999998</c:v>
                </c:pt>
                <c:pt idx="10">
                  <c:v>6.6470000000000002</c:v>
                </c:pt>
                <c:pt idx="11">
                  <c:v>7.1950000000000003</c:v>
                </c:pt>
                <c:pt idx="12">
                  <c:v>7.4770000000000003</c:v>
                </c:pt>
                <c:pt idx="13">
                  <c:v>6.9039999999999999</c:v>
                </c:pt>
                <c:pt idx="14">
                  <c:v>5.3440000000000003</c:v>
                </c:pt>
                <c:pt idx="15">
                  <c:v>7.4690000000000003</c:v>
                </c:pt>
                <c:pt idx="16">
                  <c:v>7.3920000000000003</c:v>
                </c:pt>
                <c:pt idx="17">
                  <c:v>6.1950000000000003</c:v>
                </c:pt>
                <c:pt idx="18">
                  <c:v>8.016</c:v>
                </c:pt>
                <c:pt idx="19">
                  <c:v>7.899</c:v>
                </c:pt>
                <c:pt idx="20">
                  <c:v>7.6740000000000004</c:v>
                </c:pt>
                <c:pt idx="21">
                  <c:v>8.2959999999999994</c:v>
                </c:pt>
                <c:pt idx="22">
                  <c:v>7.3579999999999997</c:v>
                </c:pt>
                <c:pt idx="23">
                  <c:v>5.1609999999999996</c:v>
                </c:pt>
                <c:pt idx="24">
                  <c:v>6.9370000000000003</c:v>
                </c:pt>
                <c:pt idx="25">
                  <c:v>6.5819999999999999</c:v>
                </c:pt>
                <c:pt idx="26">
                  <c:v>6.6660000000000004</c:v>
                </c:pt>
                <c:pt idx="27">
                  <c:v>7.2439999999999998</c:v>
                </c:pt>
                <c:pt idx="28">
                  <c:v>6.9749999999999996</c:v>
                </c:pt>
                <c:pt idx="29">
                  <c:v>7.0839999999999996</c:v>
                </c:pt>
              </c:numCache>
            </c:numRef>
          </c:xVal>
          <c:yVal>
            <c:numRef>
              <c:f>Sheet1!$B$34:$B$63</c:f>
              <c:numCache>
                <c:formatCode>General</c:formatCode>
                <c:ptCount val="30"/>
                <c:pt idx="0">
                  <c:v>21.289000000000001</c:v>
                </c:pt>
                <c:pt idx="1">
                  <c:v>31.658000000000001</c:v>
                </c:pt>
                <c:pt idx="2">
                  <c:v>27.776</c:v>
                </c:pt>
                <c:pt idx="3">
                  <c:v>30.937999999999999</c:v>
                </c:pt>
                <c:pt idx="4">
                  <c:v>24.207000000000001</c:v>
                </c:pt>
                <c:pt idx="5">
                  <c:v>31.088999999999999</c:v>
                </c:pt>
                <c:pt idx="6">
                  <c:v>30.97</c:v>
                </c:pt>
                <c:pt idx="7">
                  <c:v>34.582999999999998</c:v>
                </c:pt>
                <c:pt idx="8">
                  <c:v>23.44</c:v>
                </c:pt>
                <c:pt idx="9">
                  <c:v>28.117999999999999</c:v>
                </c:pt>
                <c:pt idx="10">
                  <c:v>28.725000000000001</c:v>
                </c:pt>
                <c:pt idx="11">
                  <c:v>25.911999999999999</c:v>
                </c:pt>
                <c:pt idx="12">
                  <c:v>28.800999999999998</c:v>
                </c:pt>
                <c:pt idx="13">
                  <c:v>28.512</c:v>
                </c:pt>
                <c:pt idx="14">
                  <c:v>27.387</c:v>
                </c:pt>
                <c:pt idx="15">
                  <c:v>26.77</c:v>
                </c:pt>
                <c:pt idx="16">
                  <c:v>22.960999999999999</c:v>
                </c:pt>
                <c:pt idx="17">
                  <c:v>28.852</c:v>
                </c:pt>
                <c:pt idx="18">
                  <c:v>26.062000000000001</c:v>
                </c:pt>
                <c:pt idx="19">
                  <c:v>26.097000000000001</c:v>
                </c:pt>
                <c:pt idx="20">
                  <c:v>28.199000000000002</c:v>
                </c:pt>
                <c:pt idx="21">
                  <c:v>26.404</c:v>
                </c:pt>
                <c:pt idx="22">
                  <c:v>30.113</c:v>
                </c:pt>
                <c:pt idx="23">
                  <c:v>32.613</c:v>
                </c:pt>
                <c:pt idx="24">
                  <c:v>24.858000000000001</c:v>
                </c:pt>
                <c:pt idx="25">
                  <c:v>32.024000000000001</c:v>
                </c:pt>
                <c:pt idx="26">
                  <c:v>25.696000000000002</c:v>
                </c:pt>
                <c:pt idx="27">
                  <c:v>30.960999999999999</c:v>
                </c:pt>
                <c:pt idx="28">
                  <c:v>30.696000000000002</c:v>
                </c:pt>
                <c:pt idx="29">
                  <c:v>31.318000000000001</c:v>
                </c:pt>
              </c:numCache>
            </c:numRef>
          </c:yVal>
          <c:smooth val="0"/>
          <c:extLst>
            <c:ext xmlns:c16="http://schemas.microsoft.com/office/drawing/2014/chart" uri="{C3380CC4-5D6E-409C-BE32-E72D297353CC}">
              <c16:uniqueId val="{00000001-1AA5-446C-B5F0-4F6ED63FBCD2}"/>
            </c:ext>
          </c:extLst>
        </c:ser>
        <c:ser>
          <c:idx val="2"/>
          <c:order val="2"/>
          <c:tx>
            <c:strRef>
              <c:f>Sheet1!$B$65</c:f>
              <c:strCache>
                <c:ptCount val="1"/>
                <c:pt idx="0">
                  <c:v>Simple slope (−6.6)</c:v>
                </c:pt>
              </c:strCache>
            </c:strRef>
          </c:tx>
          <c:spPr>
            <a:ln w="31750">
              <a:solidFill>
                <a:srgbClr val="55606B"/>
              </a:solidFill>
              <a:prstDash val="dash"/>
            </a:ln>
          </c:spPr>
          <c:marker>
            <c:symbol val="none"/>
          </c:marker>
          <c:xVal>
            <c:numRef>
              <c:f>Sheet1!$A$66:$A$67</c:f>
              <c:numCache>
                <c:formatCode>General</c:formatCode>
                <c:ptCount val="2"/>
                <c:pt idx="0">
                  <c:v>0</c:v>
                </c:pt>
                <c:pt idx="1">
                  <c:v>9</c:v>
                </c:pt>
              </c:numCache>
            </c:numRef>
          </c:xVal>
          <c:yVal>
            <c:numRef>
              <c:f>Sheet1!$B$66:$B$67</c:f>
              <c:numCache>
                <c:formatCode>General</c:formatCode>
                <c:ptCount val="2"/>
                <c:pt idx="0">
                  <c:v>76.33296</c:v>
                </c:pt>
                <c:pt idx="1">
                  <c:v>16.554932999999998</c:v>
                </c:pt>
              </c:numCache>
            </c:numRef>
          </c:yVal>
          <c:smooth val="0"/>
          <c:extLst>
            <c:ext xmlns:c16="http://schemas.microsoft.com/office/drawing/2014/chart" uri="{C3380CC4-5D6E-409C-BE32-E72D297353CC}">
              <c16:uniqueId val="{00000002-1AA5-446C-B5F0-4F6ED63FBCD2}"/>
            </c:ext>
          </c:extLst>
        </c:ser>
        <c:ser>
          <c:idx val="3"/>
          <c:order val="3"/>
          <c:tx>
            <c:strRef>
              <c:f>Sheet1!$B$69</c:f>
              <c:strCache>
                <c:ptCount val="1"/>
                <c:pt idx="0">
                  <c:v>Within region A (−2.4)</c:v>
                </c:pt>
              </c:strCache>
            </c:strRef>
          </c:tx>
          <c:spPr>
            <a:ln w="38100">
              <a:solidFill>
                <a:srgbClr val="3F739B"/>
              </a:solidFill>
            </a:ln>
          </c:spPr>
          <c:marker>
            <c:symbol val="none"/>
          </c:marker>
          <c:xVal>
            <c:numRef>
              <c:f>Sheet1!$A$70:$A$71</c:f>
              <c:numCache>
                <c:formatCode>General</c:formatCode>
                <c:ptCount val="2"/>
                <c:pt idx="0">
                  <c:v>2.7690000000000001</c:v>
                </c:pt>
                <c:pt idx="1">
                  <c:v>5.0590000000000002</c:v>
                </c:pt>
              </c:numCache>
            </c:numRef>
          </c:xVal>
          <c:yVal>
            <c:numRef>
              <c:f>Sheet1!$B$70:$B$71</c:f>
              <c:numCache>
                <c:formatCode>General</c:formatCode>
                <c:ptCount val="2"/>
                <c:pt idx="0">
                  <c:v>55.000282970000001</c:v>
                </c:pt>
                <c:pt idx="1">
                  <c:v>49.549597489999996</c:v>
                </c:pt>
              </c:numCache>
            </c:numRef>
          </c:yVal>
          <c:smooth val="0"/>
          <c:extLst>
            <c:ext xmlns:c16="http://schemas.microsoft.com/office/drawing/2014/chart" uri="{C3380CC4-5D6E-409C-BE32-E72D297353CC}">
              <c16:uniqueId val="{00000003-1AA5-446C-B5F0-4F6ED63FBCD2}"/>
            </c:ext>
          </c:extLst>
        </c:ser>
        <c:ser>
          <c:idx val="4"/>
          <c:order val="4"/>
          <c:tx>
            <c:strRef>
              <c:f>Sheet1!$B$73</c:f>
              <c:strCache>
                <c:ptCount val="1"/>
                <c:pt idx="0">
                  <c:v>Within region B (−2.4)</c:v>
                </c:pt>
              </c:strCache>
            </c:strRef>
          </c:tx>
          <c:spPr>
            <a:ln w="38100">
              <a:solidFill>
                <a:srgbClr val="7A5C00"/>
              </a:solidFill>
            </a:ln>
          </c:spPr>
          <c:marker>
            <c:symbol val="none"/>
          </c:marker>
          <c:xVal>
            <c:numRef>
              <c:f>Sheet1!$A$74:$A$75</c:f>
              <c:numCache>
                <c:formatCode>General</c:formatCode>
                <c:ptCount val="2"/>
                <c:pt idx="0">
                  <c:v>5.1609999999999996</c:v>
                </c:pt>
                <c:pt idx="1">
                  <c:v>8.2959999999999994</c:v>
                </c:pt>
              </c:numCache>
            </c:numRef>
          </c:xVal>
          <c:yVal>
            <c:numRef>
              <c:f>Sheet1!$B$74:$B$75</c:f>
              <c:numCache>
                <c:formatCode>General</c:formatCode>
                <c:ptCount val="2"/>
                <c:pt idx="0">
                  <c:v>32.761935870000002</c:v>
                </c:pt>
                <c:pt idx="1">
                  <c:v>25.299971249999999</c:v>
                </c:pt>
              </c:numCache>
            </c:numRef>
          </c:yVal>
          <c:smooth val="0"/>
          <c:extLst>
            <c:ext xmlns:c16="http://schemas.microsoft.com/office/drawing/2014/chart" uri="{C3380CC4-5D6E-409C-BE32-E72D297353CC}">
              <c16:uniqueId val="{00000004-1AA5-446C-B5F0-4F6ED63FBCD2}"/>
            </c:ext>
          </c:extLst>
        </c:ser>
        <c:ser>
          <c:idx val="5"/>
          <c:order val="5"/>
          <c:tx>
            <c:strRef>
              <c:f>Sheet1!$B$77</c:f>
              <c:strCache>
                <c:ptCount val="1"/>
                <c:pt idx="0">
                  <c:v>Beyond the data</c:v>
                </c:pt>
              </c:strCache>
            </c:strRef>
          </c:tx>
          <c:spPr>
            <a:ln w="28575" cap="rnd">
              <a:solidFill>
                <a:srgbClr val="3F739B"/>
              </a:solidFill>
              <a:prstDash val="dash"/>
              <a:round/>
            </a:ln>
          </c:spPr>
          <c:marker>
            <c:symbol val="none"/>
          </c:marker>
          <c:xVal>
            <c:numRef>
              <c:f>Sheet1!$A$78:$A$79</c:f>
              <c:numCache>
                <c:formatCode>General</c:formatCode>
                <c:ptCount val="2"/>
                <c:pt idx="0">
                  <c:v>0</c:v>
                </c:pt>
                <c:pt idx="1">
                  <c:v>2.7690000000000001</c:v>
                </c:pt>
              </c:numCache>
            </c:numRef>
          </c:xVal>
          <c:yVal>
            <c:numRef>
              <c:f>Sheet1!$B$78:$B$79</c:f>
              <c:numCache>
                <c:formatCode>General</c:formatCode>
                <c:ptCount val="2"/>
                <c:pt idx="0">
                  <c:v>61.591090000000001</c:v>
                </c:pt>
                <c:pt idx="1">
                  <c:v>55.000282970000001</c:v>
                </c:pt>
              </c:numCache>
            </c:numRef>
          </c:yVal>
          <c:smooth val="0"/>
          <c:extLst>
            <c:ext xmlns:c16="http://schemas.microsoft.com/office/drawing/2014/chart" uri="{C3380CC4-5D6E-409C-BE32-E72D297353CC}">
              <c16:uniqueId val="{00000000-D7E0-4BF0-BD33-468FF1E194FF}"/>
            </c:ext>
          </c:extLst>
        </c:ser>
        <c:ser>
          <c:idx val="6"/>
          <c:order val="6"/>
          <c:tx>
            <c:strRef>
              <c:f>Sheet1!$B$81</c:f>
              <c:strCache>
                <c:ptCount val="1"/>
                <c:pt idx="0">
                  <c:v>Beyond the data</c:v>
                </c:pt>
              </c:strCache>
            </c:strRef>
          </c:tx>
          <c:spPr>
            <a:ln w="28575" cap="rnd">
              <a:solidFill>
                <a:srgbClr val="7A5C00"/>
              </a:solidFill>
              <a:prstDash val="dash"/>
              <a:round/>
            </a:ln>
          </c:spPr>
          <c:marker>
            <c:symbol val="none"/>
          </c:marker>
          <c:xVal>
            <c:numRef>
              <c:f>Sheet1!$A$82:$A$83</c:f>
              <c:numCache>
                <c:formatCode>General</c:formatCode>
                <c:ptCount val="2"/>
                <c:pt idx="0">
                  <c:v>0</c:v>
                </c:pt>
                <c:pt idx="1">
                  <c:v>5.1609999999999996</c:v>
                </c:pt>
              </c:numCache>
            </c:numRef>
          </c:xVal>
          <c:yVal>
            <c:numRef>
              <c:f>Sheet1!$B$82:$B$83</c:f>
              <c:numCache>
                <c:formatCode>General</c:formatCode>
                <c:ptCount val="2"/>
                <c:pt idx="0">
                  <c:v>45.046210000000002</c:v>
                </c:pt>
                <c:pt idx="1">
                  <c:v>32.761935870000002</c:v>
                </c:pt>
              </c:numCache>
            </c:numRef>
          </c:yVal>
          <c:smooth val="0"/>
          <c:extLst>
            <c:ext xmlns:c16="http://schemas.microsoft.com/office/drawing/2014/chart" uri="{C3380CC4-5D6E-409C-BE32-E72D297353CC}">
              <c16:uniqueId val="{00000001-D7E0-4BF0-BD33-468FF1E194FF}"/>
            </c:ext>
          </c:extLst>
        </c:ser>
        <c:ser>
          <c:idx val="7"/>
          <c:order val="7"/>
          <c:tx>
            <c:strRef>
              <c:f>Sheet1!$B$85</c:f>
              <c:strCache>
                <c:ptCount val="1"/>
                <c:pt idx="0">
                  <c:v>Intercept</c:v>
                </c:pt>
              </c:strCache>
            </c:strRef>
          </c:tx>
          <c:spPr>
            <a:ln w="47625">
              <a:noFill/>
            </a:ln>
          </c:spPr>
          <c:marker>
            <c:symbol val="circle"/>
            <c:size val="9"/>
            <c:spPr>
              <a:solidFill>
                <a:srgbClr val="55606B"/>
              </a:solidFill>
              <a:ln w="15875">
                <a:solidFill>
                  <a:srgbClr val="FFFFFF"/>
                </a:solidFill>
              </a:ln>
            </c:spPr>
          </c:marker>
          <c:xVal>
            <c:numRef>
              <c:f>Sheet1!$A$86:$A$86</c:f>
              <c:numCache>
                <c:formatCode>General</c:formatCode>
                <c:ptCount val="1"/>
                <c:pt idx="0">
                  <c:v>0</c:v>
                </c:pt>
              </c:numCache>
            </c:numRef>
          </c:xVal>
          <c:yVal>
            <c:numRef>
              <c:f>Sheet1!$B$86:$B$86</c:f>
              <c:numCache>
                <c:formatCode>General</c:formatCode>
                <c:ptCount val="1"/>
                <c:pt idx="0">
                  <c:v>76.33296</c:v>
                </c:pt>
              </c:numCache>
            </c:numRef>
          </c:yVal>
          <c:smooth val="0"/>
          <c:extLst>
            <c:ext xmlns:c16="http://schemas.microsoft.com/office/drawing/2014/chart" uri="{C3380CC4-5D6E-409C-BE32-E72D297353CC}">
              <c16:uniqueId val="{00000002-D7E0-4BF0-BD33-468FF1E194FF}"/>
            </c:ext>
          </c:extLst>
        </c:ser>
        <c:ser>
          <c:idx val="8"/>
          <c:order val="8"/>
          <c:tx>
            <c:strRef>
              <c:f>Sheet1!$B$88</c:f>
              <c:strCache>
                <c:ptCount val="1"/>
                <c:pt idx="0">
                  <c:v>Intercept label</c:v>
                </c:pt>
              </c:strCache>
            </c:strRef>
          </c:tx>
          <c:spPr>
            <a:ln w="47625">
              <a:noFill/>
            </a:ln>
          </c:spPr>
          <c:marker>
            <c:symbol val="none"/>
          </c:marker>
          <c:dLbls>
            <c:dLbl>
              <c:idx val="0"/>
              <c:tx>
                <c:rich>
                  <a:bodyPr/>
                  <a:lstStyle/>
                  <a:p>
                    <a:r>
                      <a:rPr lang="en-GB" sz="1200" b="1">
                        <a:solidFill>
                          <a:srgbClr val="55606B"/>
                        </a:solidFill>
                      </a:rPr>
                      <a:t>76.3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Sheet1!$A$89:$A$89</c:f>
              <c:numCache>
                <c:formatCode>General</c:formatCode>
                <c:ptCount val="1"/>
                <c:pt idx="0">
                  <c:v>0</c:v>
                </c:pt>
              </c:numCache>
            </c:numRef>
          </c:xVal>
          <c:yVal>
            <c:numRef>
              <c:f>Sheet1!$B$89:$B$89</c:f>
              <c:numCache>
                <c:formatCode>General</c:formatCode>
                <c:ptCount val="1"/>
                <c:pt idx="0">
                  <c:v>79.532960000000003</c:v>
                </c:pt>
              </c:numCache>
            </c:numRef>
          </c:yVal>
          <c:smooth val="0"/>
          <c:extLst>
            <c:ext xmlns:c16="http://schemas.microsoft.com/office/drawing/2014/chart" uri="{C3380CC4-5D6E-409C-BE32-E72D297353CC}">
              <c16:uniqueId val="{00000004-D7E0-4BF0-BD33-468FF1E194FF}"/>
            </c:ext>
          </c:extLst>
        </c:ser>
        <c:ser>
          <c:idx val="9"/>
          <c:order val="9"/>
          <c:tx>
            <c:strRef>
              <c:f>Sheet1!$B$91</c:f>
              <c:strCache>
                <c:ptCount val="1"/>
                <c:pt idx="0">
                  <c:v>Intercept</c:v>
                </c:pt>
              </c:strCache>
            </c:strRef>
          </c:tx>
          <c:spPr>
            <a:ln w="47625">
              <a:noFill/>
            </a:ln>
          </c:spPr>
          <c:marker>
            <c:symbol val="circle"/>
            <c:size val="9"/>
            <c:spPr>
              <a:solidFill>
                <a:srgbClr val="3F739B"/>
              </a:solidFill>
              <a:ln w="15875">
                <a:solidFill>
                  <a:srgbClr val="FFFFFF"/>
                </a:solidFill>
              </a:ln>
            </c:spPr>
          </c:marker>
          <c:xVal>
            <c:numRef>
              <c:f>Sheet1!$A$92:$A$92</c:f>
              <c:numCache>
                <c:formatCode>General</c:formatCode>
                <c:ptCount val="1"/>
                <c:pt idx="0">
                  <c:v>0</c:v>
                </c:pt>
              </c:numCache>
            </c:numRef>
          </c:xVal>
          <c:yVal>
            <c:numRef>
              <c:f>Sheet1!$B$92:$B$92</c:f>
              <c:numCache>
                <c:formatCode>General</c:formatCode>
                <c:ptCount val="1"/>
                <c:pt idx="0">
                  <c:v>61.591090000000001</c:v>
                </c:pt>
              </c:numCache>
            </c:numRef>
          </c:yVal>
          <c:smooth val="0"/>
          <c:extLst>
            <c:ext xmlns:c16="http://schemas.microsoft.com/office/drawing/2014/chart" uri="{C3380CC4-5D6E-409C-BE32-E72D297353CC}">
              <c16:uniqueId val="{00000005-D7E0-4BF0-BD33-468FF1E194FF}"/>
            </c:ext>
          </c:extLst>
        </c:ser>
        <c:ser>
          <c:idx val="10"/>
          <c:order val="10"/>
          <c:tx>
            <c:strRef>
              <c:f>Sheet1!$B$94</c:f>
              <c:strCache>
                <c:ptCount val="1"/>
                <c:pt idx="0">
                  <c:v>Intercept label</c:v>
                </c:pt>
              </c:strCache>
            </c:strRef>
          </c:tx>
          <c:spPr>
            <a:ln w="47625">
              <a:noFill/>
            </a:ln>
          </c:spPr>
          <c:marker>
            <c:symbol val="none"/>
          </c:marker>
          <c:dLbls>
            <c:dLbl>
              <c:idx val="0"/>
              <c:tx>
                <c:rich>
                  <a:bodyPr/>
                  <a:lstStyle/>
                  <a:p>
                    <a:r>
                      <a:rPr lang="en-GB" sz="1200" b="1">
                        <a:solidFill>
                          <a:srgbClr val="3F739B"/>
                        </a:solidFill>
                      </a:rPr>
                      <a:t>61.6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Sheet1!$A$95:$A$95</c:f>
              <c:numCache>
                <c:formatCode>General</c:formatCode>
                <c:ptCount val="1"/>
                <c:pt idx="0">
                  <c:v>0</c:v>
                </c:pt>
              </c:numCache>
            </c:numRef>
          </c:xVal>
          <c:yVal>
            <c:numRef>
              <c:f>Sheet1!$B$95:$B$95</c:f>
              <c:numCache>
                <c:formatCode>General</c:formatCode>
                <c:ptCount val="1"/>
                <c:pt idx="0">
                  <c:v>65.591089999999994</c:v>
                </c:pt>
              </c:numCache>
            </c:numRef>
          </c:yVal>
          <c:smooth val="0"/>
          <c:extLst>
            <c:ext xmlns:c16="http://schemas.microsoft.com/office/drawing/2014/chart" uri="{C3380CC4-5D6E-409C-BE32-E72D297353CC}">
              <c16:uniqueId val="{00000007-D7E0-4BF0-BD33-468FF1E194FF}"/>
            </c:ext>
          </c:extLst>
        </c:ser>
        <c:ser>
          <c:idx val="11"/>
          <c:order val="11"/>
          <c:tx>
            <c:strRef>
              <c:f>Sheet1!$B$97</c:f>
              <c:strCache>
                <c:ptCount val="1"/>
                <c:pt idx="0">
                  <c:v>Intercept</c:v>
                </c:pt>
              </c:strCache>
            </c:strRef>
          </c:tx>
          <c:spPr>
            <a:ln w="47625">
              <a:noFill/>
            </a:ln>
          </c:spPr>
          <c:marker>
            <c:symbol val="circle"/>
            <c:size val="9"/>
            <c:spPr>
              <a:solidFill>
                <a:srgbClr val="7A5C00"/>
              </a:solidFill>
              <a:ln w="15875">
                <a:solidFill>
                  <a:srgbClr val="FFFFFF"/>
                </a:solidFill>
              </a:ln>
            </c:spPr>
          </c:marker>
          <c:xVal>
            <c:numRef>
              <c:f>Sheet1!$A$98:$A$98</c:f>
              <c:numCache>
                <c:formatCode>General</c:formatCode>
                <c:ptCount val="1"/>
                <c:pt idx="0">
                  <c:v>0</c:v>
                </c:pt>
              </c:numCache>
            </c:numRef>
          </c:xVal>
          <c:yVal>
            <c:numRef>
              <c:f>Sheet1!$B$98:$B$98</c:f>
              <c:numCache>
                <c:formatCode>General</c:formatCode>
                <c:ptCount val="1"/>
                <c:pt idx="0">
                  <c:v>45.046210000000002</c:v>
                </c:pt>
              </c:numCache>
            </c:numRef>
          </c:yVal>
          <c:smooth val="0"/>
          <c:extLst>
            <c:ext xmlns:c16="http://schemas.microsoft.com/office/drawing/2014/chart" uri="{C3380CC4-5D6E-409C-BE32-E72D297353CC}">
              <c16:uniqueId val="{00000008-D7E0-4BF0-BD33-468FF1E194FF}"/>
            </c:ext>
          </c:extLst>
        </c:ser>
        <c:ser>
          <c:idx val="12"/>
          <c:order val="12"/>
          <c:tx>
            <c:strRef>
              <c:f>Sheet1!$B$100</c:f>
              <c:strCache>
                <c:ptCount val="1"/>
                <c:pt idx="0">
                  <c:v>Intercept label</c:v>
                </c:pt>
              </c:strCache>
            </c:strRef>
          </c:tx>
          <c:spPr>
            <a:ln w="47625">
              <a:noFill/>
            </a:ln>
          </c:spPr>
          <c:marker>
            <c:symbol val="none"/>
          </c:marker>
          <c:dLbls>
            <c:dLbl>
              <c:idx val="0"/>
              <c:tx>
                <c:rich>
                  <a:bodyPr/>
                  <a:lstStyle/>
                  <a:p>
                    <a:r>
                      <a:rPr lang="en-GB" sz="1200" b="1">
                        <a:solidFill>
                          <a:srgbClr val="7A5C00"/>
                        </a:solidFill>
                      </a:rPr>
                      <a:t>45.0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Sheet1!$A$101:$A$101</c:f>
              <c:numCache>
                <c:formatCode>General</c:formatCode>
                <c:ptCount val="1"/>
                <c:pt idx="0">
                  <c:v>0</c:v>
                </c:pt>
              </c:numCache>
            </c:numRef>
          </c:xVal>
          <c:yVal>
            <c:numRef>
              <c:f>Sheet1!$B$101:$B$101</c:f>
              <c:numCache>
                <c:formatCode>General</c:formatCode>
                <c:ptCount val="1"/>
                <c:pt idx="0">
                  <c:v>49.046210000000002</c:v>
                </c:pt>
              </c:numCache>
            </c:numRef>
          </c:yVal>
          <c:smooth val="0"/>
          <c:extLst>
            <c:ext xmlns:c16="http://schemas.microsoft.com/office/drawing/2014/chart" uri="{C3380CC4-5D6E-409C-BE32-E72D297353CC}">
              <c16:uniqueId val="{0000000A-D7E0-4BF0-BD33-468FF1E194FF}"/>
            </c:ext>
          </c:extLst>
        </c:ser>
        <c:dLbls>
          <c:showLegendKey val="0"/>
          <c:showVal val="0"/>
          <c:showCatName val="0"/>
          <c:showSerName val="0"/>
          <c:showPercent val="0"/>
          <c:showBubbleSize val="0"/>
        </c:dLbls>
        <c:axId val="-2128940872"/>
        <c:axId val="-2129643912"/>
      </c:scatterChart>
      <c:valAx>
        <c:axId val="-2128940872"/>
        <c:scaling>
          <c:orientation val="minMax"/>
          <c:max val="9"/>
          <c:min val="0"/>
        </c:scaling>
        <c:delete val="0"/>
        <c:axPos val="b"/>
        <c:title>
          <c:tx>
            <c:rich>
              <a:bodyPr/>
              <a:lstStyle/>
              <a:p>
                <a:r>
                  <a:rPr lang="en-GB" sz="1300" b="0">
                    <a:solidFill>
                      <a:srgbClr val="55606B"/>
                    </a:solidFill>
                  </a:rPr>
                  <a:t>Predictor X</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80"/>
          <c:min val="0"/>
        </c:scaling>
        <c:delete val="0"/>
        <c:axPos val="l"/>
        <c:majorGridlines>
          <c:spPr>
            <a:ln>
              <a:solidFill>
                <a:srgbClr val="DDE3E8"/>
              </a:solidFill>
            </a:ln>
          </c:spPr>
        </c:majorGridlines>
        <c:title>
          <c:tx>
            <c:rich>
              <a:bodyPr/>
              <a:lstStyle/>
              <a:p>
                <a:r>
                  <a:rPr lang="en-GB" sz="1300" b="0">
                    <a:solidFill>
                      <a:srgbClr val="55606B"/>
                    </a:solidFill>
                  </a:rPr>
                  <a:t>Outcome Y</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10"/>
      </c:valAx>
    </c:plotArea>
    <c:legend>
      <c:legendPos val="b"/>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overlay val="0"/>
      <c:txPr>
        <a:bodyPr/>
        <a:lstStyle/>
        <a:p>
          <a:pPr>
            <a:defRPr sz="1400"/>
          </a:pPr>
          <a:endParaRPr lang="en-US"/>
        </a:p>
      </c:txPr>
    </c:legend>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Mean trust (%)</c:v>
                </c:pt>
              </c:strCache>
            </c:strRef>
          </c:tx>
          <c:spPr>
            <a:solidFill>
              <a:srgbClr val="1F394D"/>
            </a:solidFill>
          </c:spPr>
          <c:invertIfNegative val="1"/>
          <c:dPt>
            <c:idx val="0"/>
            <c:invertIfNegative val="1"/>
            <c:bubble3D val="0"/>
            <c:spPr>
              <a:solidFill>
                <a:srgbClr val="3F739B"/>
              </a:solidFill>
            </c:spPr>
            <c:extLst>
              <c:ext xmlns:c16="http://schemas.microsoft.com/office/drawing/2014/chart" uri="{C3380CC4-5D6E-409C-BE32-E72D297353CC}">
                <c16:uniqueId val="{00000001-D61A-48D5-80C9-79F90145EB69}"/>
              </c:ext>
            </c:extLst>
          </c:dPt>
          <c:dPt>
            <c:idx val="1"/>
            <c:invertIfNegative val="1"/>
            <c:bubble3D val="0"/>
            <c:spPr>
              <a:solidFill>
                <a:srgbClr val="3F739B"/>
              </a:solidFill>
            </c:spPr>
            <c:extLst>
              <c:ext xmlns:c16="http://schemas.microsoft.com/office/drawing/2014/chart" uri="{C3380CC4-5D6E-409C-BE32-E72D297353CC}">
                <c16:uniqueId val="{00000003-D61A-48D5-80C9-79F90145EB69}"/>
              </c:ext>
            </c:extLst>
          </c:dPt>
          <c:dPt>
            <c:idx val="2"/>
            <c:invertIfNegative val="1"/>
            <c:bubble3D val="0"/>
            <c:spPr>
              <a:solidFill>
                <a:srgbClr val="3F739B"/>
              </a:solidFill>
            </c:spPr>
            <c:extLst>
              <c:ext xmlns:c16="http://schemas.microsoft.com/office/drawing/2014/chart" uri="{C3380CC4-5D6E-409C-BE32-E72D297353CC}">
                <c16:uniqueId val="{00000005-D61A-48D5-80C9-79F90145EB69}"/>
              </c:ext>
            </c:extLst>
          </c:dPt>
          <c:dPt>
            <c:idx val="3"/>
            <c:invertIfNegative val="1"/>
            <c:bubble3D val="0"/>
            <c:spPr>
              <a:solidFill>
                <a:srgbClr val="3F739B"/>
              </a:solidFill>
            </c:spPr>
            <c:extLst>
              <c:ext xmlns:c16="http://schemas.microsoft.com/office/drawing/2014/chart" uri="{C3380CC4-5D6E-409C-BE32-E72D297353CC}">
                <c16:uniqueId val="{00000007-D61A-48D5-80C9-79F90145EB69}"/>
              </c:ext>
            </c:extLst>
          </c:dPt>
          <c:dPt>
            <c:idx val="4"/>
            <c:invertIfNegative val="1"/>
            <c:bubble3D val="0"/>
            <c:spPr>
              <a:solidFill>
                <a:srgbClr val="B88C00"/>
              </a:solidFill>
            </c:spPr>
            <c:extLst>
              <c:ext xmlns:c16="http://schemas.microsoft.com/office/drawing/2014/chart" uri="{C3380CC4-5D6E-409C-BE32-E72D297353CC}">
                <c16:uniqueId val="{00000009-D61A-48D5-80C9-79F90145EB69}"/>
              </c:ext>
            </c:extLst>
          </c:dPt>
          <c:dPt>
            <c:idx val="5"/>
            <c:invertIfNegative val="1"/>
            <c:bubble3D val="0"/>
            <c:spPr>
              <a:solidFill>
                <a:srgbClr val="3F739B"/>
              </a:solidFill>
            </c:spPr>
            <c:extLst>
              <c:ext xmlns:c16="http://schemas.microsoft.com/office/drawing/2014/chart" uri="{C3380CC4-5D6E-409C-BE32-E72D297353CC}">
                <c16:uniqueId val="{0000000B-D61A-48D5-80C9-79F90145EB69}"/>
              </c:ext>
            </c:extLst>
          </c:dPt>
          <c:dLbls>
            <c:numFmt formatCode="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Africa
(n = 2)</c:v>
                </c:pt>
                <c:pt idx="1">
                  <c:v>Americas
(n = 11)</c:v>
                </c:pt>
                <c:pt idx="2">
                  <c:v>Eastern Europe
(n = 21)</c:v>
                </c:pt>
                <c:pt idx="3">
                  <c:v>Asia
(n = 8)</c:v>
                </c:pt>
                <c:pt idx="4">
                  <c:v>Western Europe
(n = 16)</c:v>
                </c:pt>
                <c:pt idx="5">
                  <c:v>Oceania
(n = 2)</c:v>
                </c:pt>
              </c:strCache>
            </c:strRef>
          </c:cat>
          <c:val>
            <c:numRef>
              <c:f>Sheet1!$B$2:$B$7</c:f>
              <c:numCache>
                <c:formatCode>General</c:formatCode>
                <c:ptCount val="6"/>
                <c:pt idx="0">
                  <c:v>16.600000000000001</c:v>
                </c:pt>
                <c:pt idx="1">
                  <c:v>21.5</c:v>
                </c:pt>
                <c:pt idx="2">
                  <c:v>22.7</c:v>
                </c:pt>
                <c:pt idx="3">
                  <c:v>26.7</c:v>
                </c:pt>
                <c:pt idx="4">
                  <c:v>40.700000000000003</c:v>
                </c:pt>
                <c:pt idx="5">
                  <c:v>44.6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D61A-48D5-80C9-79F90145EB6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13994440"/>
        <c:crosses val="autoZero"/>
        <c:auto val="1"/>
        <c:lblAlgn val="ctr"/>
        <c:lblOffset val="100"/>
        <c:noMultiLvlLbl val="0"/>
      </c:catAx>
      <c:valAx>
        <c:axId val="-2113994440"/>
        <c:scaling>
          <c:orientation val="minMax"/>
          <c:max val="50"/>
          <c:min val="0"/>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majorUnit val="10"/>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Mean trust (%)</c:v>
                </c:pt>
              </c:strCache>
            </c:strRef>
          </c:tx>
          <c:spPr>
            <a:solidFill>
              <a:srgbClr val="1F394D"/>
            </a:solidFill>
          </c:spPr>
          <c:invertIfNegative val="1"/>
          <c:dPt>
            <c:idx val="0"/>
            <c:invertIfNegative val="1"/>
            <c:bubble3D val="0"/>
            <c:spPr>
              <a:solidFill>
                <a:srgbClr val="3F739B"/>
              </a:solidFill>
            </c:spPr>
            <c:extLst>
              <c:ext xmlns:c16="http://schemas.microsoft.com/office/drawing/2014/chart" uri="{C3380CC4-5D6E-409C-BE32-E72D297353CC}">
                <c16:uniqueId val="{00000001-4457-45F0-AFDD-F159C120145D}"/>
              </c:ext>
            </c:extLst>
          </c:dPt>
          <c:dPt>
            <c:idx val="1"/>
            <c:invertIfNegative val="1"/>
            <c:bubble3D val="0"/>
            <c:extLst>
              <c:ext xmlns:c16="http://schemas.microsoft.com/office/drawing/2014/chart" uri="{C3380CC4-5D6E-409C-BE32-E72D297353CC}">
                <c16:uniqueId val="{00000003-4457-45F0-AFDD-F159C120145D}"/>
              </c:ext>
            </c:extLst>
          </c:dPt>
          <c:dLbls>
            <c:numFmt formatCode="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Not Protestant</c:v>
                </c:pt>
                <c:pt idx="1">
                  <c:v>Protestant</c:v>
                </c:pt>
              </c:strCache>
            </c:strRef>
          </c:cat>
          <c:val>
            <c:numRef>
              <c:f>Sheet1!$B$2:$B$3</c:f>
              <c:numCache>
                <c:formatCode>General</c:formatCode>
                <c:ptCount val="2"/>
                <c:pt idx="0">
                  <c:v>24.8</c:v>
                </c:pt>
                <c:pt idx="1">
                  <c:v>48.3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4457-45F0-AFDD-F159C120145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500">
                <a:solidFill>
                  <a:srgbClr val="55606B"/>
                </a:solidFill>
              </a:defRPr>
            </a:pPr>
            <a:endParaRPr lang="en-US"/>
          </a:p>
        </c:txPr>
        <c:crossAx val="-2113994440"/>
        <c:crosses val="autoZero"/>
        <c:auto val="1"/>
        <c:lblAlgn val="ctr"/>
        <c:lblOffset val="100"/>
        <c:noMultiLvlLbl val="0"/>
      </c:catAx>
      <c:valAx>
        <c:axId val="-2113994440"/>
        <c:scaling>
          <c:orientation val="minMax"/>
          <c:max val="60"/>
          <c:min val="0"/>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majorUnit val="10"/>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5FBD195-041F-A9A0-1644-740C91990AE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37D01E07-BD6F-76A0-E2F3-6F9E834A0EE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3203E3-7C81-41A5-A697-954FF252F964}" type="datetimeFigureOut">
              <a:rPr lang="en-GB" smtClean="0"/>
              <a:t>13/10/2026</a:t>
            </a:fld>
            <a:endParaRPr lang="en-GB"/>
          </a:p>
        </p:txBody>
      </p:sp>
      <p:sp>
        <p:nvSpPr>
          <p:cNvPr id="4" name="Footer Placeholder 3">
            <a:extLst>
              <a:ext uri="{FF2B5EF4-FFF2-40B4-BE49-F238E27FC236}">
                <a16:creationId xmlns:a16="http://schemas.microsoft.com/office/drawing/2014/main" id="{DDFBD701-2DB0-B4B2-C5BD-0490DCBA57E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251DA51-44A7-C88C-C39E-6DA6922B2AB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0050DA-C3C8-4D4F-9A52-26049FB521EA}" type="slidenum">
              <a:rPr lang="en-GB" smtClean="0"/>
              <a:t>‹#›</a:t>
            </a:fld>
            <a:endParaRPr lang="en-GB"/>
          </a:p>
        </p:txBody>
      </p:sp>
    </p:spTree>
    <p:extLst>
      <p:ext uri="{BB962C8B-B14F-4D97-AF65-F5344CB8AC3E}">
        <p14:creationId xmlns:p14="http://schemas.microsoft.com/office/powerpoint/2010/main" val="336818098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E54BCB-1937-48CE-9F00-49B381FEB4E9}" type="datetimeFigureOut">
              <a:rPr lang="en-GB" smtClean="0"/>
              <a:t>13/10/2026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5A333E-A95D-42FE-9CF0-D7FBE7CB01EA}" type="slidenum">
              <a:rPr lang="en-GB" smtClean="0"/>
              <a:t>‹#›</a:t>
            </a:fld>
            <a:endParaRPr lang="en-GB"/>
          </a:p>
        </p:txBody>
      </p:sp>
    </p:spTree>
    <p:extLst>
      <p:ext uri="{BB962C8B-B14F-4D97-AF65-F5344CB8AC3E}">
        <p14:creationId xmlns:p14="http://schemas.microsoft.com/office/powerpoint/2010/main" val="61144826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67504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594900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Correlation summarises how tightly two variables move together, in no particular direction and without units. Regression chooses an outcome, describes the line in the outcome's own units, and lets us predict and add more predictors.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twelve people, years of education and trust (0-10). The line is the best straight-line summary. Each vertical gap between a point and the line is a residual: what the line gets wrong for that person. Slope: one more year of education goes with about 0.3 points more trust, on average.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same twelve people. If we ignore education, the best prediction for everyone is the mean: the flat line on the left. Its squared residuals add up to 15.0. The regression line (right) cuts that to 3.7. Least squares picks the line with the smallest possible sum. The share removed, 1 - 3.7/15.0 = 0.75, is R-squared.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small datasets published by F. J. Anscombe (1973). All four have the same regression line (y = 3 + 0.5x) and the same r (0.82), but only the first is a sensible use of a straight line. Number 2 is curved, number 3 has one outlier tilting the line, number 4 is a single influential point. The numbers are identical; the pictures are not.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scatter plot as last week, now with the least-squares line. The equation is what JASP's Coefficients table reports in the Unstandardized column.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Plug a country's inequality into the equation to get its predicted trust. The residual is observed minus predicted. Portugal and France trust much less than their inequality predicts; Denmark and the USA much more. Big residuals tell us inequality is far from the whole story, which motivates adding more predictors.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Calculators out: 3 minutes.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up the squared distances of each country's trust from the overall mean: that is the total variation (about 5,467). Add up the squared residuals around the regression line: about 3,055 is left unexplained. The rest, 44%, is what the line accounts for. R-squared is comparable across models with the same outcome; individual coefficients are not, unless their units match.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Unstandardized: in the variables' own units. Standardized: both variables converted to z-scores (SDs from the mean), which makes coefficients comparable across predictors measured in different units. In a one-predictor model the standardized slope equals 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Suppose more unequal countries also have more homicides, and fear of crime erodes trust. Then part of the inequality-trust association might really be about homicides. In these data inequality and homicides correlate at r = 0.47. Multiple regression estimates the inequality slope while adjusting for homicides.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M1 and M2 are simple regressions; M3 includes both predictors. The inequality slope barely moves (it becomes slightly steeper). Homicides were weakly negative on their own but turn slightly positive, with a large standard error, once inequality is in the model: homicides add almost nothing (R-squared from 0.441 to 0.455). Note the multicollinearity check: VIF = 1/(1 - r^2) = 1.28, nothing to worry about.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60 countries in two regions. Region B has both higher X and lower Y. The simple slope (dashed) mixes the difference between regions with the relationship within them: about -6.6. Adding region to the model compares countries within the same region: the slope is about -2.4, the same in both regions (the two parallel lines). That is what 'adjusting for' or 'holding constant' means in a regression.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M3 from the previous slides. Show of hands.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Delhey &amp; Newton's 60 countries. Western Europe and Oceania are high; the Americas, Eastern Europe and Africa low. Note the group sizes: Africa and Oceania have only two countries each, so their means are very fragile.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JASP turns a factor into indicator (dummy) variables, one per category except the reference. With Western Europe as the reference, the intercept is the Western European mean and each coefficient is a region's difference from it. JASP uses the first category as the reference: in Worksheet 3 you reorder the labels so that Western Europe comes first instead of Africa, which has only two countries.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Protestantism is coded 1 for countries with a significant Protestant population (Delhey &amp; Newton's definition), 0 otherwise. The coefficient is simply the difference in means: 48.26 - 24.81 = 23.45 points. Adding the Gini coefficient, the Protestant gap shrinks to 19.1: part of it went with Protestant countries being more equal. A 0/1 variable can go in Covariates (Scale) or Factors: the coefficient is the same.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coefficient table (reference: Western Europe, intercept 40.66). 3 minutes.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checklist for the assignment. Linearity: look at the scatter plot. Influential cases: countries with large residuals or extreme values. Multicollinearity: highly correlated predictors make coefficients unstable (check VIF). Extrapolation: the line only describes the range of the data.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58103846"/>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JASP shows for Worksheet 3, Exercise 3.1. (1) R² = 0.441: inequality accounts for 44% of the variation in trust across the 23 countries. (2) RMSE = 12.1: the typical distance of a country from the line, in percentage points. (3) The M₀ rows belong to the null model, whose intercept is the average trust, 38.8%. (4) The M₁ rows give the line: 77.062 − 6.535 × inequality. (5) Standardized, −0.664: the slope in standard deviations; with one predictor it equals r. (6) Standard Error, t and p, and the ANOVA table that JASP prints above the coefficients, are next week's topic.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results paragraph of the kind the assignment asks for: outcome and predictors with their units, the slope in words, what was held constant, R² and the limits of the data. Week 5 adds confidence intervals and p-values to the same paragraph.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Week 3 Interactive Explorer page (https://cgmoreh.github.io/SOC2069-QUANT-26/Materials/Explorers/explorer_w3.html) has interactive versions of ideas from this lecture. Students can scan the code or follow the link from the course site and try the three tasks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ncl.ac.uk/gps/staff/profile/chrismoreh.html" TargetMode="External"/><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hyperlink" Target="mailto:chris.moreh@ncl.ac.uk" TargetMode="External"/><Relationship Id="rId7" Type="http://schemas.openxmlformats.org/officeDocument/2006/relationships/hyperlink" Target="https://www.chrismoreh.com/" TargetMode="External"/><Relationship Id="rId8" Type="http://schemas.openxmlformats.org/officeDocument/2006/relationships/hyperlink" Target="https://github.com/CGMoreh" TargetMode="External"/><Relationship Id="rId9" Type="http://schemas.openxmlformats.org/officeDocument/2006/relationships/hyperlink" Target="https://twitter.com/cgmoreh" TargetMode="External"/><Relationship Id="rId10" Type="http://schemas.openxmlformats.org/officeDocument/2006/relationships/hyperlink" Target="https://www.linkedin.com/in/cgm-phd/" TargetMode="External"/><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1.svg"/><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4.svg"/><Relationship Id="rId7" Type="http://schemas.openxmlformats.org/officeDocument/2006/relationships/image" Target="../media/image15.svg"/><Relationship Id="rId8" Type="http://schemas.openxmlformats.org/officeDocument/2006/relationships/image" Target="../media/image16.svg"/><Relationship Id="rId9" Type="http://schemas.openxmlformats.org/officeDocument/2006/relationships/image" Target="../media/image17.svg"/><Relationship Id="rId10" Type="http://schemas.openxmlformats.org/officeDocument/2006/relationships/image" Target="../media/image18.svg"/><Relationship Id="rId11" Type="http://schemas.openxmlformats.org/officeDocument/2006/relationships/image" Target="../media/image19.svg"/><Relationship Id="rId12" Type="http://schemas.openxmlformats.org/officeDocument/2006/relationships/image" Target="../media/image20.svg"/><Relationship Id="rId13" Type="http://schemas.openxmlformats.org/officeDocument/2006/relationships/image" Target="../media/image21.svg"/><Relationship Id="rId14" Type="http://schemas.openxmlformats.org/officeDocument/2006/relationships/image" Target="../media/image22.svg"/><Relationship Id="rId15" Type="http://schemas.openxmlformats.org/officeDocument/2006/relationships/image" Target="../media/image23.svg"/><Relationship Id="rId16" Type="http://schemas.openxmlformats.org/officeDocument/2006/relationships/image" Target="../media/image24.svg"/><Relationship Id="rId17" Type="http://schemas.openxmlformats.org/officeDocument/2006/relationships/image" Target="../media/image25.svg"/><Relationship Id="rId18" Type="http://schemas.openxmlformats.org/officeDocument/2006/relationships/image" Target="../media/image26.svg"/><Relationship Id="rId19" Type="http://schemas.openxmlformats.org/officeDocument/2006/relationships/image" Target="../media/image27.svg"/><Relationship Id="rId20" Type="http://schemas.openxmlformats.org/officeDocument/2006/relationships/image" Target="../media/image28.svg"/><Relationship Id="rId21" Type="http://schemas.openxmlformats.org/officeDocument/2006/relationships/image" Target="../media/image2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6.svg"/><Relationship Id="rId4" Type="http://schemas.openxmlformats.org/officeDocument/2006/relationships/image" Target="../media/image12.svg"/><Relationship Id="rId5" Type="http://schemas.openxmlformats.org/officeDocument/2006/relationships/image" Target="../media/image17.svg"/><Relationship Id="rId6" Type="http://schemas.openxmlformats.org/officeDocument/2006/relationships/image" Target="../media/image13.svg"/><Relationship Id="rId7" Type="http://schemas.openxmlformats.org/officeDocument/2006/relationships/image" Target="../media/image18.svg"/><Relationship Id="rId8" Type="http://schemas.openxmlformats.org/officeDocument/2006/relationships/image" Target="../media/image14.svg"/><Relationship Id="rId9" Type="http://schemas.openxmlformats.org/officeDocument/2006/relationships/image" Target="../media/image19.svg"/><Relationship Id="rId10" Type="http://schemas.openxmlformats.org/officeDocument/2006/relationships/image" Target="../media/image15.svg"/><Relationship Id="rId11" Type="http://schemas.openxmlformats.org/officeDocument/2006/relationships/image" Target="../media/image1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0.png"/><Relationship Id="rId4" Type="http://schemas.microsoft.com/office/2007/relationships/hdphoto" Target="../media/hdphoto1.wdp"/><Relationship Id="rId5" Type="http://schemas.openxmlformats.org/officeDocument/2006/relationships/image" Target="../media/image31.svg"/><Relationship Id="rId6" Type="http://schemas.openxmlformats.org/officeDocument/2006/relationships/image" Target="../media/image3.svg"/><Relationship Id="rId7" Type="http://schemas.openxmlformats.org/officeDocument/2006/relationships/hyperlink" Target="mailto:chris.moreh@ncl.ac.uk" TargetMode="External"/><Relationship Id="rId8" Type="http://schemas.openxmlformats.org/officeDocument/2006/relationships/hyperlink" Target="https://www.chrismoreh.com/" TargetMode="External"/><Relationship Id="rId9" Type="http://schemas.openxmlformats.org/officeDocument/2006/relationships/hyperlink" Target="https://github.com/CGMoreh" TargetMode="External"/><Relationship Id="rId10" Type="http://schemas.openxmlformats.org/officeDocument/2006/relationships/hyperlink" Target="https://twitter.com/cgmoreh" TargetMode="External"/><Relationship Id="rId11" Type="http://schemas.openxmlformats.org/officeDocument/2006/relationships/hyperlink" Target="https://www.linkedin.com/in/cgm-phd/" TargetMode="External"/><Relationship Id="rId12" Type="http://schemas.openxmlformats.org/officeDocument/2006/relationships/image" Target="../media/image4.png"/><Relationship Id="rId13" Type="http://schemas.openxmlformats.org/officeDocument/2006/relationships/image" Target="../media/image5.png"/><Relationship Id="rId14" Type="http://schemas.openxmlformats.org/officeDocument/2006/relationships/image" Target="../media/image6.png"/><Relationship Id="rId15" Type="http://schemas.openxmlformats.org/officeDocument/2006/relationships/image" Target="../media/image7.png"/><Relationship Id="rId16" Type="http://schemas.openxmlformats.org/officeDocument/2006/relationships/image" Target="../media/image8.png"/><Relationship Id="rId17" Type="http://schemas.openxmlformats.org/officeDocument/2006/relationships/image" Target="../media/image3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alphaModFix amt="80000"/>
            <a:lum/>
          </a:blip>
          <a:srcRect/>
          <a:stretch>
            <a:fillRect l="2000" r="2000" b="27000"/>
          </a:stretch>
        </a:blip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598116"/>
            <a:ext cx="987552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64B1F7A-19A6-1CF3-BEAB-784AD8D53EB1}"/>
              </a:ext>
            </a:extLst>
          </p:cNvPr>
          <p:cNvSpPr txBox="1"/>
          <p:nvPr userDrawn="1"/>
        </p:nvSpPr>
        <p:spPr>
          <a:xfrm>
            <a:off x="1076962" y="4981037"/>
            <a:ext cx="3298623" cy="892552"/>
          </a:xfrm>
          <a:prstGeom prst="rect">
            <a:avLst/>
          </a:prstGeom>
          <a:noFill/>
        </p:spPr>
        <p:txBody>
          <a:bodyPr wrap="square" rtlCol="0">
            <a:spAutoFit/>
          </a:bodyPr>
          <a:lstStyle/>
          <a:p>
            <a:pPr algn="ctr"/>
            <a:r>
              <a:rPr lang="en-GB" sz="2400" b="1" dirty="0">
                <a:hlinkClick r:id="rId3"/>
              </a:rPr>
              <a:t>Dr Chris Moreh</a:t>
            </a:r>
            <a:endParaRPr lang="en-GB" sz="2400" b="1" dirty="0"/>
          </a:p>
          <a:p>
            <a:pPr algn="ctr"/>
            <a:r>
              <a:rPr lang="en-GB" sz="1400" b="1" dirty="0">
                <a:solidFill>
                  <a:schemeClr val="tx1">
                    <a:lumMod val="50000"/>
                    <a:lumOff val="50000"/>
                  </a:schemeClr>
                </a:solidFill>
              </a:rPr>
              <a:t>Lecturer (Assistant Professor) in Sociology</a:t>
            </a:r>
          </a:p>
          <a:p>
            <a:pPr algn="ctr"/>
            <a:r>
              <a:rPr lang="en-GB" sz="1400" b="1" dirty="0">
                <a:solidFill>
                  <a:schemeClr val="tx1">
                    <a:lumMod val="50000"/>
                    <a:lumOff val="50000"/>
                  </a:schemeClr>
                </a:solidFill>
              </a:rPr>
              <a:t>Newcastle University (UK)</a:t>
            </a:r>
          </a:p>
        </p:txBody>
      </p:sp>
      <p:pic>
        <p:nvPicPr>
          <p:cNvPr id="17" name="Picture 12" descr="Partners; Sustaining Creative Economies ...">
            <a:extLst>
              <a:ext uri="{FF2B5EF4-FFF2-40B4-BE49-F238E27FC236}">
                <a16:creationId xmlns:a16="http://schemas.microsoft.com/office/drawing/2014/main" id="{5E3F19EF-7B80-6D97-E3A7-968224B76271}"/>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9288455" y="5559906"/>
            <a:ext cx="879898" cy="492743"/>
          </a:xfrm>
          <a:prstGeom prst="rect">
            <a:avLst/>
          </a:prstGeom>
          <a:noFill/>
          <a:extLst>
            <a:ext uri="{909E8E84-426E-40DD-AFC4-6F175D3DCCD1}">
              <a14:hiddenFill xmlns:a14="http://schemas.microsoft.com/office/drawing/2010/main">
                <a:solidFill>
                  <a:srgbClr val="FFFFFF"/>
                </a:solidFill>
              </a14:hiddenFill>
            </a:ext>
          </a:extLst>
        </p:spPr>
      </p:pic>
      <p:pic>
        <p:nvPicPr>
          <p:cNvPr id="18" name="Graphic 17">
            <a:extLst>
              <a:ext uri="{FF2B5EF4-FFF2-40B4-BE49-F238E27FC236}">
                <a16:creationId xmlns:a16="http://schemas.microsoft.com/office/drawing/2014/main" id="{D47E78DF-0172-CCB2-A101-66933B09714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055271" y="4969095"/>
            <a:ext cx="2466369" cy="811928"/>
          </a:xfrm>
          <a:prstGeom prst="rect">
            <a:avLst/>
          </a:prstGeom>
        </p:spPr>
      </p:pic>
      <p:sp>
        <p:nvSpPr>
          <p:cNvPr id="19" name="TextBox 18">
            <a:extLst>
              <a:ext uri="{FF2B5EF4-FFF2-40B4-BE49-F238E27FC236}">
                <a16:creationId xmlns:a16="http://schemas.microsoft.com/office/drawing/2014/main" id="{D366C7AD-815A-A77E-DFE5-343F532EBF9A}"/>
              </a:ext>
            </a:extLst>
          </p:cNvPr>
          <p:cNvSpPr txBox="1"/>
          <p:nvPr userDrawn="1"/>
        </p:nvSpPr>
        <p:spPr>
          <a:xfrm>
            <a:off x="5214979" y="4804497"/>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6"/>
              </a:rPr>
              <a:t>chris.moreh@ncl.ac.uk</a:t>
            </a:r>
            <a:endParaRPr lang="en-GB" sz="1600" b="0" dirty="0">
              <a:latin typeface="Arial Nova Cond Light" panose="020B0306020202020204" pitchFamily="34" charset="0"/>
              <a:cs typeface="Courier New" panose="02070309020205020404" pitchFamily="49" charset="0"/>
              <a:hlinkClick r:id="rId7"/>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Chris Moreh</a:t>
            </a:r>
            <a:endParaRPr lang="en-GB" sz="1600" b="0" dirty="0">
              <a:latin typeface="Arial Nova Cond Light" panose="020B0306020202020204" pitchFamily="34" charset="0"/>
              <a:cs typeface="Courier New" panose="02070309020205020404" pitchFamily="49" charset="0"/>
            </a:endParaRPr>
          </a:p>
        </p:txBody>
      </p:sp>
      <p:pic>
        <p:nvPicPr>
          <p:cNvPr id="20" name="Picture 19">
            <a:extLst>
              <a:ext uri="{FF2B5EF4-FFF2-40B4-BE49-F238E27FC236}">
                <a16:creationId xmlns:a16="http://schemas.microsoft.com/office/drawing/2014/main" id="{7149FC35-C474-B9EE-00BD-BC74BCEB8E9B}"/>
              </a:ext>
            </a:extLst>
          </p:cNvPr>
          <p:cNvPicPr>
            <a:picLocks noChangeAspect="1"/>
          </p:cNvPicPr>
          <p:nvPr userDrawn="1"/>
        </p:nvPicPr>
        <p:blipFill>
          <a:blip r:embed="rId11"/>
          <a:stretch>
            <a:fillRect/>
          </a:stretch>
        </p:blipFill>
        <p:spPr>
          <a:xfrm flipH="1">
            <a:off x="5230888" y="5140634"/>
            <a:ext cx="174474" cy="180000"/>
          </a:xfrm>
          <a:prstGeom prst="rect">
            <a:avLst/>
          </a:prstGeom>
        </p:spPr>
      </p:pic>
      <p:pic>
        <p:nvPicPr>
          <p:cNvPr id="21" name="Picture 4">
            <a:extLst>
              <a:ext uri="{FF2B5EF4-FFF2-40B4-BE49-F238E27FC236}">
                <a16:creationId xmlns:a16="http://schemas.microsoft.com/office/drawing/2014/main" id="{F9EC77A0-6416-6CCB-C929-DDC0F09623B6}"/>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5200359" y="5607125"/>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a:extLst>
              <a:ext uri="{FF2B5EF4-FFF2-40B4-BE49-F238E27FC236}">
                <a16:creationId xmlns:a16="http://schemas.microsoft.com/office/drawing/2014/main" id="{F971661E-6DFA-370A-89DD-D2BC0DED9D7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5225362" y="5875809"/>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6">
            <a:extLst>
              <a:ext uri="{FF2B5EF4-FFF2-40B4-BE49-F238E27FC236}">
                <a16:creationId xmlns:a16="http://schemas.microsoft.com/office/drawing/2014/main" id="{210423AF-0922-B2C9-F283-0DAD228B1889}"/>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194877" y="535357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Email Icon Clip Art , Royalty PNG Transparent Background, Free Download  #130 - FreeIconsPNG">
            <a:extLst>
              <a:ext uri="{FF2B5EF4-FFF2-40B4-BE49-F238E27FC236}">
                <a16:creationId xmlns:a16="http://schemas.microsoft.com/office/drawing/2014/main" id="{A29CD3B3-0963-AF7B-DAAC-629686F339AC}"/>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5225888" y="4898445"/>
            <a:ext cx="176400" cy="1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3529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E3F75-4629-998C-D4E2-8B503E840A60}"/>
              </a:ext>
            </a:extLst>
          </p:cNvPr>
          <p:cNvSpPr>
            <a:spLocks noGrp="1"/>
          </p:cNvSpPr>
          <p:nvPr>
            <p:ph type="title"/>
          </p:nvPr>
        </p:nvSpPr>
        <p:spPr>
          <a:xfrm>
            <a:off x="756746" y="286604"/>
            <a:ext cx="9578516" cy="911576"/>
          </a:xfrm>
        </p:spPr>
        <p:txBody>
          <a:bodyPr/>
          <a:lstStyle>
            <a:lvl1pPr>
              <a:defRPr b="1"/>
            </a:lvl1pPr>
          </a:lstStyle>
          <a:p>
            <a:r>
              <a:rPr lang="en-GB" dirty="0"/>
              <a:t>Click to edit Master title style</a:t>
            </a:r>
          </a:p>
        </p:txBody>
      </p:sp>
      <p:sp>
        <p:nvSpPr>
          <p:cNvPr id="3" name="Date Placeholder 2">
            <a:extLst>
              <a:ext uri="{FF2B5EF4-FFF2-40B4-BE49-F238E27FC236}">
                <a16:creationId xmlns:a16="http://schemas.microsoft.com/office/drawing/2014/main" id="{57160149-4935-39AC-F9A6-3A67DF92E54A}"/>
              </a:ext>
            </a:extLst>
          </p:cNvPr>
          <p:cNvSpPr>
            <a:spLocks noGrp="1"/>
          </p:cNvSpPr>
          <p:nvPr>
            <p:ph type="dt" sz="half" idx="10"/>
          </p:nvPr>
        </p:nvSpPr>
        <p:spPr/>
        <p:txBody>
          <a:bodyPr/>
          <a:lstStyle/>
          <a:p>
            <a:r>
              <a:rPr lang="en-US"/>
              <a:t>8 October 2024</a:t>
            </a:r>
            <a:endParaRPr lang="en-GB"/>
          </a:p>
        </p:txBody>
      </p:sp>
      <p:sp>
        <p:nvSpPr>
          <p:cNvPr id="4" name="Footer Placeholder 3">
            <a:extLst>
              <a:ext uri="{FF2B5EF4-FFF2-40B4-BE49-F238E27FC236}">
                <a16:creationId xmlns:a16="http://schemas.microsoft.com/office/drawing/2014/main" id="{8DAF1058-E5AB-75EB-3440-399DB9E1D9B9}"/>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0A3AAE89-1CB8-B1D2-4FC2-01A5F9359E58}"/>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5" descr="A black background with text and colorful dots&#10;&#10;Description automatically generated">
            <a:extLst>
              <a:ext uri="{FF2B5EF4-FFF2-40B4-BE49-F238E27FC236}">
                <a16:creationId xmlns:a16="http://schemas.microsoft.com/office/drawing/2014/main" id="{064384DD-349E-96E1-9F2A-86B3CB91EDD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90027723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56745" y="286604"/>
            <a:ext cx="9448800" cy="911576"/>
          </a:xfrm>
        </p:spPr>
        <p:txBody>
          <a:bodyPr/>
          <a:lstStyle>
            <a:lvl1pPr marL="0">
              <a:defRPr b="1"/>
            </a:lvl1pPr>
          </a:lstStyle>
          <a:p>
            <a:r>
              <a:rPr lang="en-GB" dirty="0"/>
              <a:t>Click to edit Master title style</a:t>
            </a:r>
            <a:endParaRPr lang="en-US" dirty="0"/>
          </a:p>
        </p:txBody>
      </p:sp>
      <p:sp>
        <p:nvSpPr>
          <p:cNvPr id="3" name="Content Placeholder 2"/>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10"/>
          </p:nvPr>
        </p:nvSpPr>
        <p:spPr/>
        <p:txBody>
          <a:bodyPr/>
          <a:lstStyle>
            <a:lvl1pPr>
              <a:defRPr sz="1200"/>
            </a:lvl1p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endParaRPr lang="en-GB" dirty="0"/>
          </a:p>
        </p:txBody>
      </p:sp>
      <p:sp>
        <p:nvSpPr>
          <p:cNvPr id="6" name="Slide Number Placeholder 5"/>
          <p:cNvSpPr>
            <a:spLocks noGrp="1"/>
          </p:cNvSpPr>
          <p:nvPr>
            <p:ph type="sldNum" sz="quarter" idx="12"/>
          </p:nvPr>
        </p:nvSpPr>
        <p:spPr/>
        <p:txBody>
          <a:bodyPr/>
          <a:lstStyle>
            <a:lvl1pPr>
              <a:defRPr sz="1200"/>
            </a:lvl1pPr>
          </a:lstStyle>
          <a:p>
            <a:fld id="{9FAA51BB-2FC0-4DB8-B50E-F52D50E733B6}" type="slidenum">
              <a:rPr lang="en-GB" smtClean="0"/>
              <a:pPr/>
              <a:t>‹#›</a:t>
            </a:fld>
            <a:endParaRPr lang="en-GB" dirty="0"/>
          </a:p>
        </p:txBody>
      </p:sp>
      <p:pic>
        <p:nvPicPr>
          <p:cNvPr id="8" name="Picture 7" descr="A black background with text and colorful dots&#10;&#10;Description automatically generated">
            <a:extLst>
              <a:ext uri="{FF2B5EF4-FFF2-40B4-BE49-F238E27FC236}">
                <a16:creationId xmlns:a16="http://schemas.microsoft.com/office/drawing/2014/main" id="{77856388-EE09-056A-2FE4-8DA8669CE65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595251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96910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1">
                <a:solidFill>
                  <a:srgbClr val="FFFFFF"/>
                </a:solidFill>
              </a:defRPr>
            </a:lvl1pPr>
          </a:lstStyle>
          <a:p>
            <a:r>
              <a:rPr lang="en-GB" dirty="0"/>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r>
              <a:rPr lang="en-US"/>
              <a:t>8 October 2024</a:t>
            </a:r>
            <a:endParaRPr lang="en-GB"/>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GB"/>
              <a:t>Comparisons and Associations</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FAA51BB-2FC0-4DB8-B50E-F52D50E733B6}" type="slidenum">
              <a:rPr lang="en-GB" smtClean="0"/>
              <a:t>‹#›</a:t>
            </a:fld>
            <a:endParaRPr lang="en-GB"/>
          </a:p>
        </p:txBody>
      </p:sp>
    </p:spTree>
    <p:extLst>
      <p:ext uri="{BB962C8B-B14F-4D97-AF65-F5344CB8AC3E}">
        <p14:creationId xmlns:p14="http://schemas.microsoft.com/office/powerpoint/2010/main" val="5297533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bg>
      <p:bgPr>
        <a:blipFill dpi="0" rotWithShape="1">
          <a:blip r:embed="rId2">
            <a:lum/>
          </a:blip>
          <a:srcRect/>
          <a:stretch>
            <a:fillRect l="-1000" r="-1000" b="6000"/>
          </a:stretch>
        </a:blipFill>
        <a:effectLst/>
      </p:bgPr>
    </p:bg>
    <p:spTree>
      <p:nvGrpSpPr>
        <p:cNvPr id="1" name=""/>
        <p:cNvGrpSpPr/>
        <p:nvPr/>
      </p:nvGrpSpPr>
      <p:grpSpPr>
        <a:xfrm>
          <a:off x="0" y="0"/>
          <a:ext cx="0" cy="0"/>
          <a:chOff x="0" y="0"/>
          <a:chExt cx="0" cy="0"/>
        </a:xfrm>
      </p:grpSpPr>
      <p:sp>
        <p:nvSpPr>
          <p:cNvPr id="8" name="Rectangle 7"/>
          <p:cNvSpPr/>
          <p:nvPr/>
        </p:nvSpPr>
        <p:spPr>
          <a:xfrm>
            <a:off x="5539630" y="1128947"/>
            <a:ext cx="6468395" cy="3116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a:xfrm>
            <a:off x="5664452" y="1340856"/>
            <a:ext cx="6218753" cy="1475916"/>
          </a:xfrm>
        </p:spPr>
        <p:txBody>
          <a:bodyPr lIns="91440" tIns="0" rIns="91440" bIns="0" anchor="b">
            <a:noAutofit/>
          </a:bodyPr>
          <a:lstStyle>
            <a:lvl1pPr>
              <a:defRPr sz="5400" b="1">
                <a:solidFill>
                  <a:srgbClr val="FFFFFF"/>
                </a:solidFill>
              </a:defRPr>
            </a:lvl1pPr>
          </a:lstStyle>
          <a:p>
            <a:r>
              <a:rPr lang="en-GB" dirty="0"/>
              <a:t>Click to edit Master title style</a:t>
            </a:r>
            <a:endParaRPr lang="en-US" dirty="0"/>
          </a:p>
        </p:txBody>
      </p:sp>
      <p:sp>
        <p:nvSpPr>
          <p:cNvPr id="4" name="Text Placeholder 3"/>
          <p:cNvSpPr>
            <a:spLocks noGrp="1"/>
          </p:cNvSpPr>
          <p:nvPr>
            <p:ph type="body" sz="half" idx="2"/>
          </p:nvPr>
        </p:nvSpPr>
        <p:spPr>
          <a:xfrm>
            <a:off x="5664452" y="3094377"/>
            <a:ext cx="6218753" cy="972284"/>
          </a:xfrm>
        </p:spPr>
        <p:txBody>
          <a:bodyPr lIns="91440" tIns="0" rIns="91440" bIns="0">
            <a:normAutofit/>
          </a:bodyPr>
          <a:lstStyle>
            <a:lvl1pPr marL="0" indent="0">
              <a:spcBef>
                <a:spcPts val="0"/>
              </a:spcBef>
              <a:spcAft>
                <a:spcPts val="600"/>
              </a:spcAft>
              <a:buNone/>
              <a:defRPr sz="32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
        <p:nvSpPr>
          <p:cNvPr id="5" name="Date Placeholder 4"/>
          <p:cNvSpPr>
            <a:spLocks noGrp="1"/>
          </p:cNvSpPr>
          <p:nvPr>
            <p:ph type="dt" sz="half" idx="10"/>
          </p:nvPr>
        </p:nvSpPr>
        <p:spPr/>
        <p:txBody>
          <a:bodyPr/>
          <a:lstStyle/>
          <a:p>
            <a:r>
              <a:rPr lang="en-US"/>
              <a:t>8 October 2024</a:t>
            </a:r>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013173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r>
              <a:rPr lang="en-US"/>
              <a:t>8 October 2024</a:t>
            </a:r>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200036292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r>
              <a:rPr lang="en-US"/>
              <a:t>8 October 2024</a:t>
            </a:r>
            <a:endParaRPr lang="en-GB"/>
          </a:p>
        </p:txBody>
      </p:sp>
      <p:sp>
        <p:nvSpPr>
          <p:cNvPr id="8" name="Footer Placeholder 7"/>
          <p:cNvSpPr>
            <a:spLocks noGrp="1"/>
          </p:cNvSpPr>
          <p:nvPr>
            <p:ph type="ftr" sz="quarter" idx="11"/>
          </p:nvPr>
        </p:nvSpPr>
        <p:spPr/>
        <p:txBody>
          <a:body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0485576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Date Placeholder 2"/>
          <p:cNvSpPr>
            <a:spLocks noGrp="1"/>
          </p:cNvSpPr>
          <p:nvPr>
            <p:ph type="dt" sz="half" idx="10"/>
          </p:nvPr>
        </p:nvSpPr>
        <p:spPr/>
        <p:txBody>
          <a:bodyPr/>
          <a:lstStyle/>
          <a:p>
            <a:r>
              <a:rPr lang="en-US"/>
              <a:t>8 October 2024</a:t>
            </a:r>
            <a:endParaRPr lang="en-GB"/>
          </a:p>
        </p:txBody>
      </p:sp>
      <p:sp>
        <p:nvSpPr>
          <p:cNvPr id="4" name="Footer Placeholder 3"/>
          <p:cNvSpPr>
            <a:spLocks noGrp="1"/>
          </p:cNvSpPr>
          <p:nvPr>
            <p:ph type="ftr" sz="quarter" idx="11"/>
          </p:nvPr>
        </p:nvSpPr>
        <p:spPr/>
        <p:txBody>
          <a:bodyPr/>
          <a:lstStyle/>
          <a:p>
            <a:r>
              <a:rPr lang="en-GB"/>
              <a:t>Comparisons and Associations</a:t>
            </a:r>
          </a:p>
        </p:txBody>
      </p:sp>
      <p:sp>
        <p:nvSpPr>
          <p:cNvPr id="5" name="Slide Number Placeholder 4"/>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90176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7" name="Date Placeholder 6"/>
          <p:cNvSpPr>
            <a:spLocks noGrp="1"/>
          </p:cNvSpPr>
          <p:nvPr>
            <p:ph type="dt" sz="half" idx="10"/>
          </p:nvPr>
        </p:nvSpPr>
        <p:spPr/>
        <p:txBody>
          <a:bodyPr/>
          <a:lstStyle/>
          <a:p>
            <a:r>
              <a:rPr lang="en-US"/>
              <a:t>8 October 2024</a:t>
            </a:r>
            <a:endParaRPr lang="en-GB"/>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3269464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5E28854-50C7-416D-09D3-A8563C8533DC}"/>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85343B67-CE49-0A0C-7F9C-757FF38AD817}"/>
              </a:ext>
            </a:extLst>
          </p:cNvPr>
          <p:cNvSpPr>
            <a:spLocks noGrp="1"/>
          </p:cNvSpPr>
          <p:nvPr>
            <p:ph type="ftr" sz="quarter" idx="11"/>
          </p:nvPr>
        </p:nvSpPr>
        <p:spPr/>
        <p:txBody>
          <a:bodyPr/>
          <a:lstStyle>
            <a:lvl1pPr>
              <a:defRPr/>
            </a:lvl1p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28470A5F-B5E2-79CD-FCA0-21992A61F920}"/>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6" name="Title 1">
            <a:extLst>
              <a:ext uri="{FF2B5EF4-FFF2-40B4-BE49-F238E27FC236}">
                <a16:creationId xmlns:a16="http://schemas.microsoft.com/office/drawing/2014/main" id="{904975CB-2B2F-AABC-1BEA-AC019045F8B6}"/>
              </a:ext>
            </a:extLst>
          </p:cNvPr>
          <p:cNvSpPr>
            <a:spLocks noGrp="1"/>
          </p:cNvSpPr>
          <p:nvPr>
            <p:ph type="title" hasCustomPrompt="1"/>
          </p:nvPr>
        </p:nvSpPr>
        <p:spPr>
          <a:xfrm>
            <a:off x="756745" y="286604"/>
            <a:ext cx="10398935" cy="911576"/>
          </a:xfrm>
        </p:spPr>
        <p:txBody>
          <a:bodyPr/>
          <a:lstStyle>
            <a:lvl1pPr>
              <a:defRPr/>
            </a:lvl1pPr>
          </a:lstStyle>
          <a:p>
            <a:r>
              <a:rPr lang="en-GB" b="1" dirty="0"/>
              <a:t>Numbered bullets</a:t>
            </a:r>
          </a:p>
        </p:txBody>
      </p:sp>
      <p:pic>
        <p:nvPicPr>
          <p:cNvPr id="7" name="Graphic 6" descr="Badge 1 with solid fill">
            <a:extLst>
              <a:ext uri="{FF2B5EF4-FFF2-40B4-BE49-F238E27FC236}">
                <a16:creationId xmlns:a16="http://schemas.microsoft.com/office/drawing/2014/main" id="{EEDCACCF-0446-119C-CB06-6CC1142E7E5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99836" y="1872658"/>
            <a:ext cx="468000" cy="468000"/>
          </a:xfrm>
          <a:prstGeom prst="rect">
            <a:avLst/>
          </a:prstGeom>
        </p:spPr>
      </p:pic>
      <p:pic>
        <p:nvPicPr>
          <p:cNvPr id="8" name="Graphic 7" descr="Badge 10 with solid fill">
            <a:extLst>
              <a:ext uri="{FF2B5EF4-FFF2-40B4-BE49-F238E27FC236}">
                <a16:creationId xmlns:a16="http://schemas.microsoft.com/office/drawing/2014/main" id="{7F8BE7BD-9E19-44BB-2FE3-12ED9FDF94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468331" y="1876667"/>
            <a:ext cx="468000" cy="468000"/>
          </a:xfrm>
          <a:prstGeom prst="rect">
            <a:avLst/>
          </a:prstGeom>
        </p:spPr>
      </p:pic>
      <p:pic>
        <p:nvPicPr>
          <p:cNvPr id="9" name="Graphic 8" descr="Badge with solid fill">
            <a:extLst>
              <a:ext uri="{FF2B5EF4-FFF2-40B4-BE49-F238E27FC236}">
                <a16:creationId xmlns:a16="http://schemas.microsoft.com/office/drawing/2014/main" id="{F9F887CA-CB36-8ED8-6315-DC7D01B490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870601" y="1878489"/>
            <a:ext cx="468000" cy="468000"/>
          </a:xfrm>
          <a:prstGeom prst="rect">
            <a:avLst/>
          </a:prstGeom>
        </p:spPr>
      </p:pic>
      <p:pic>
        <p:nvPicPr>
          <p:cNvPr id="10" name="Graphic 9" descr="Badge 3 with solid fill">
            <a:extLst>
              <a:ext uri="{FF2B5EF4-FFF2-40B4-BE49-F238E27FC236}">
                <a16:creationId xmlns:a16="http://schemas.microsoft.com/office/drawing/2014/main" id="{825A6F75-9C1C-A95D-D6DA-109E9EBA5201}"/>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37342" y="1872658"/>
            <a:ext cx="468000" cy="468000"/>
          </a:xfrm>
          <a:prstGeom prst="rect">
            <a:avLst/>
          </a:prstGeom>
        </p:spPr>
      </p:pic>
      <p:pic>
        <p:nvPicPr>
          <p:cNvPr id="11" name="Graphic 10" descr="Badge 4 with solid fill">
            <a:extLst>
              <a:ext uri="{FF2B5EF4-FFF2-40B4-BE49-F238E27FC236}">
                <a16:creationId xmlns:a16="http://schemas.microsoft.com/office/drawing/2014/main" id="{60351B4A-6BB3-B9DA-023E-187EE4E1634A}"/>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794542" y="1881516"/>
            <a:ext cx="468000" cy="468000"/>
          </a:xfrm>
          <a:prstGeom prst="rect">
            <a:avLst/>
          </a:prstGeom>
        </p:spPr>
      </p:pic>
      <p:pic>
        <p:nvPicPr>
          <p:cNvPr id="12" name="Graphic 11" descr="Badge 5 with solid fill">
            <a:extLst>
              <a:ext uri="{FF2B5EF4-FFF2-40B4-BE49-F238E27FC236}">
                <a16:creationId xmlns:a16="http://schemas.microsoft.com/office/drawing/2014/main" id="{1A300893-C177-035B-A219-FC6049E2DC7F}"/>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3250483" y="1880076"/>
            <a:ext cx="468000" cy="468000"/>
          </a:xfrm>
          <a:prstGeom prst="rect">
            <a:avLst/>
          </a:prstGeom>
        </p:spPr>
      </p:pic>
      <p:pic>
        <p:nvPicPr>
          <p:cNvPr id="13" name="Graphic 12" descr="Badge 6 with solid fill">
            <a:extLst>
              <a:ext uri="{FF2B5EF4-FFF2-40B4-BE49-F238E27FC236}">
                <a16:creationId xmlns:a16="http://schemas.microsoft.com/office/drawing/2014/main" id="{063091E7-A963-EF50-B2F2-C6CCFD335CF3}"/>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721248" y="1882631"/>
            <a:ext cx="468000" cy="468000"/>
          </a:xfrm>
          <a:prstGeom prst="rect">
            <a:avLst/>
          </a:prstGeom>
        </p:spPr>
      </p:pic>
      <p:pic>
        <p:nvPicPr>
          <p:cNvPr id="14" name="Graphic 13" descr="Badge 7 with solid fill">
            <a:extLst>
              <a:ext uri="{FF2B5EF4-FFF2-40B4-BE49-F238E27FC236}">
                <a16:creationId xmlns:a16="http://schemas.microsoft.com/office/drawing/2014/main" id="{7412FF20-691E-38CC-D8B3-456AF73DB554}"/>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4163624" y="1884307"/>
            <a:ext cx="468000" cy="468000"/>
          </a:xfrm>
          <a:prstGeom prst="rect">
            <a:avLst/>
          </a:prstGeom>
        </p:spPr>
      </p:pic>
      <p:pic>
        <p:nvPicPr>
          <p:cNvPr id="15" name="Graphic 14" descr="Badge 8 with solid fill">
            <a:extLst>
              <a:ext uri="{FF2B5EF4-FFF2-40B4-BE49-F238E27FC236}">
                <a16:creationId xmlns:a16="http://schemas.microsoft.com/office/drawing/2014/main" id="{F71DD924-767F-6F93-1AF3-D96571DEC0CD}"/>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06000" y="1883485"/>
            <a:ext cx="468000" cy="468000"/>
          </a:xfrm>
          <a:prstGeom prst="rect">
            <a:avLst/>
          </a:prstGeom>
        </p:spPr>
      </p:pic>
      <p:pic>
        <p:nvPicPr>
          <p:cNvPr id="16" name="Graphic 15" descr="Badge 9 with solid fill">
            <a:extLst>
              <a:ext uri="{FF2B5EF4-FFF2-40B4-BE49-F238E27FC236}">
                <a16:creationId xmlns:a16="http://schemas.microsoft.com/office/drawing/2014/main" id="{05746AA2-07AD-BB3D-8AC7-7E01AE9FFD6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5064706" y="1880076"/>
            <a:ext cx="468000" cy="468000"/>
          </a:xfrm>
          <a:prstGeom prst="rect">
            <a:avLst/>
          </a:prstGeom>
        </p:spPr>
      </p:pic>
      <p:pic>
        <p:nvPicPr>
          <p:cNvPr id="28" name="Graphic 27" descr="Badge 1 outline">
            <a:extLst>
              <a:ext uri="{FF2B5EF4-FFF2-40B4-BE49-F238E27FC236}">
                <a16:creationId xmlns:a16="http://schemas.microsoft.com/office/drawing/2014/main" id="{377A0617-1C4D-93A7-0816-74355CD2748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00935" y="2382047"/>
            <a:ext cx="914400" cy="914400"/>
          </a:xfrm>
          <a:prstGeom prst="rect">
            <a:avLst/>
          </a:prstGeom>
        </p:spPr>
      </p:pic>
      <p:pic>
        <p:nvPicPr>
          <p:cNvPr id="32" name="Graphic 31" descr="Badge outline">
            <a:extLst>
              <a:ext uri="{FF2B5EF4-FFF2-40B4-BE49-F238E27FC236}">
                <a16:creationId xmlns:a16="http://schemas.microsoft.com/office/drawing/2014/main" id="{328E83A1-A5CF-14CE-994B-9FC912A453D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917798" y="2368814"/>
            <a:ext cx="914400" cy="914400"/>
          </a:xfrm>
          <a:prstGeom prst="rect">
            <a:avLst/>
          </a:prstGeom>
        </p:spPr>
      </p:pic>
      <p:pic>
        <p:nvPicPr>
          <p:cNvPr id="34" name="Graphic 33" descr="Badge 3 outline">
            <a:extLst>
              <a:ext uri="{FF2B5EF4-FFF2-40B4-BE49-F238E27FC236}">
                <a16:creationId xmlns:a16="http://schemas.microsoft.com/office/drawing/2014/main" id="{B8DB6A5A-BA59-B575-8EAE-1F62375C4821}"/>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2822942" y="2360054"/>
            <a:ext cx="914400" cy="914400"/>
          </a:xfrm>
          <a:prstGeom prst="rect">
            <a:avLst/>
          </a:prstGeom>
        </p:spPr>
      </p:pic>
      <p:pic>
        <p:nvPicPr>
          <p:cNvPr id="36" name="Graphic 35" descr="Badge 4 outline">
            <a:extLst>
              <a:ext uri="{FF2B5EF4-FFF2-40B4-BE49-F238E27FC236}">
                <a16:creationId xmlns:a16="http://schemas.microsoft.com/office/drawing/2014/main" id="{7D7894F2-405D-D537-E8CD-FFC2FD562C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3653533" y="2382047"/>
            <a:ext cx="914400" cy="914400"/>
          </a:xfrm>
          <a:prstGeom prst="rect">
            <a:avLst/>
          </a:prstGeom>
        </p:spPr>
      </p:pic>
      <p:pic>
        <p:nvPicPr>
          <p:cNvPr id="38" name="Graphic 37" descr="Badge 5 outline">
            <a:extLst>
              <a:ext uri="{FF2B5EF4-FFF2-40B4-BE49-F238E27FC236}">
                <a16:creationId xmlns:a16="http://schemas.microsoft.com/office/drawing/2014/main" id="{CCB95B5E-BCD4-CD6A-8DA0-49EF454DFC6B}"/>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4470396" y="2382047"/>
            <a:ext cx="914400" cy="914400"/>
          </a:xfrm>
          <a:prstGeom prst="rect">
            <a:avLst/>
          </a:prstGeom>
        </p:spPr>
      </p:pic>
      <p:pic>
        <p:nvPicPr>
          <p:cNvPr id="40" name="Graphic 39" descr="Badge 6 outline">
            <a:extLst>
              <a:ext uri="{FF2B5EF4-FFF2-40B4-BE49-F238E27FC236}">
                <a16:creationId xmlns:a16="http://schemas.microsoft.com/office/drawing/2014/main" id="{B2E42FE5-E882-BB0B-DF27-634BED68E17D}"/>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5287259" y="2360054"/>
            <a:ext cx="914400" cy="914400"/>
          </a:xfrm>
          <a:prstGeom prst="rect">
            <a:avLst/>
          </a:prstGeom>
        </p:spPr>
      </p:pic>
      <p:pic>
        <p:nvPicPr>
          <p:cNvPr id="42" name="Graphic 41" descr="Badge 7 outline">
            <a:extLst>
              <a:ext uri="{FF2B5EF4-FFF2-40B4-BE49-F238E27FC236}">
                <a16:creationId xmlns:a16="http://schemas.microsoft.com/office/drawing/2014/main" id="{4F474E09-0F6B-A545-A2FB-528D8342017C}"/>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6104122" y="2382047"/>
            <a:ext cx="914400" cy="914400"/>
          </a:xfrm>
          <a:prstGeom prst="rect">
            <a:avLst/>
          </a:prstGeom>
        </p:spPr>
      </p:pic>
      <p:pic>
        <p:nvPicPr>
          <p:cNvPr id="44" name="Graphic 43" descr="Badge 8 outline">
            <a:extLst>
              <a:ext uri="{FF2B5EF4-FFF2-40B4-BE49-F238E27FC236}">
                <a16:creationId xmlns:a16="http://schemas.microsoft.com/office/drawing/2014/main" id="{E3982124-D3D3-AC60-CDFE-68CC967AC2ED}"/>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6880662" y="2368814"/>
            <a:ext cx="914400" cy="914400"/>
          </a:xfrm>
          <a:prstGeom prst="rect">
            <a:avLst/>
          </a:prstGeom>
        </p:spPr>
      </p:pic>
      <p:pic>
        <p:nvPicPr>
          <p:cNvPr id="46" name="Graphic 45" descr="Badge 9 outline">
            <a:extLst>
              <a:ext uri="{FF2B5EF4-FFF2-40B4-BE49-F238E27FC236}">
                <a16:creationId xmlns:a16="http://schemas.microsoft.com/office/drawing/2014/main" id="{D98F73D0-5CF6-543B-2C7E-39B53C836163}"/>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7686300" y="2368814"/>
            <a:ext cx="914400" cy="914400"/>
          </a:xfrm>
          <a:prstGeom prst="rect">
            <a:avLst/>
          </a:prstGeom>
        </p:spPr>
      </p:pic>
      <p:pic>
        <p:nvPicPr>
          <p:cNvPr id="48" name="Graphic 47" descr="Badge 10 outline">
            <a:extLst>
              <a:ext uri="{FF2B5EF4-FFF2-40B4-BE49-F238E27FC236}">
                <a16:creationId xmlns:a16="http://schemas.microsoft.com/office/drawing/2014/main" id="{9596ECA7-08AD-60AD-126A-2D32F85555E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8474065" y="2363081"/>
            <a:ext cx="914400" cy="914400"/>
          </a:xfrm>
          <a:prstGeom prst="rect">
            <a:avLst/>
          </a:prstGeom>
        </p:spPr>
      </p:pic>
    </p:spTree>
    <p:extLst>
      <p:ext uri="{BB962C8B-B14F-4D97-AF65-F5344CB8AC3E}">
        <p14:creationId xmlns:p14="http://schemas.microsoft.com/office/powerpoint/2010/main" val="14778459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210283" y="606093"/>
            <a:ext cx="9876849"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38952401"/>
              </p:ext>
            </p:extLst>
          </p:nvPr>
        </p:nvGraphicFramePr>
        <p:xfrm>
          <a:off x="1335634" y="1993748"/>
          <a:ext cx="9626149" cy="257192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9086149">
                  <a:extLst>
                    <a:ext uri="{9D8B030D-6E8A-4147-A177-3AD203B41FA5}">
                      <a16:colId xmlns:a16="http://schemas.microsoft.com/office/drawing/2014/main" val="4258649048"/>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r>
                        <a:rPr lang="en-GB" sz="2200" dirty="0"/>
                        <a:t>one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3"/>
                          </a:ext>
                        </a:extLst>
                      </a:blip>
                      <a:stretch>
                        <a:fillRect/>
                      </a:stretch>
                    </a:blipFill>
                  </a:tcPr>
                </a:tc>
                <a:tc rowSpan="2">
                  <a:txBody>
                    <a:bodyPr/>
                    <a:lstStyle/>
                    <a:p>
                      <a:r>
                        <a:rPr lang="en-GB" sz="2200" dirty="0"/>
                        <a:t>two</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r>
                        <a:rPr lang="en-GB" sz="2200" dirty="0"/>
                        <a:t>three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r>
                        <a:rPr lang="en-GB" sz="2200" dirty="0"/>
                        <a:t>four</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bl>
          </a:graphicData>
        </a:graphic>
      </p:graphicFrame>
    </p:spTree>
    <p:extLst>
      <p:ext uri="{BB962C8B-B14F-4D97-AF65-F5344CB8AC3E}">
        <p14:creationId xmlns:p14="http://schemas.microsoft.com/office/powerpoint/2010/main" val="12704940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038399" y="689938"/>
            <a:ext cx="10115202"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2996315249"/>
              </p:ext>
            </p:extLst>
          </p:nvPr>
        </p:nvGraphicFramePr>
        <p:xfrm>
          <a:off x="726954" y="1971714"/>
          <a:ext cx="10440000" cy="328420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4680000">
                  <a:extLst>
                    <a:ext uri="{9D8B030D-6E8A-4147-A177-3AD203B41FA5}">
                      <a16:colId xmlns:a16="http://schemas.microsoft.com/office/drawing/2014/main" val="4258649048"/>
                    </a:ext>
                  </a:extLst>
                </a:gridCol>
                <a:gridCol w="540000">
                  <a:extLst>
                    <a:ext uri="{9D8B030D-6E8A-4147-A177-3AD203B41FA5}">
                      <a16:colId xmlns:a16="http://schemas.microsoft.com/office/drawing/2014/main" val="2861192458"/>
                    </a:ext>
                  </a:extLst>
                </a:gridCol>
                <a:gridCol w="4680000">
                  <a:extLst>
                    <a:ext uri="{9D8B030D-6E8A-4147-A177-3AD203B41FA5}">
                      <a16:colId xmlns:a16="http://schemas.microsoft.com/office/drawing/2014/main" val="1996446775"/>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200" dirty="0"/>
                        <a:t>Edit in Master slide view</a:t>
                      </a:r>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dpi="0" rotWithShape="0">
                      <a:blip>
                        <a:extLst>
                          <a:ext uri="{96DAC541-7B7A-43D3-8B79-37D633B846F1}">
                            <asvg:svgBlip xmlns:asvg="http://schemas.microsoft.com/office/drawing/2016/SVG/main" r:embed="rId3"/>
                          </a:ext>
                        </a:extLst>
                      </a:blip>
                      <a:srcRect/>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6"/>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7"/>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8"/>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9"/>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0"/>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1"/>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69105705"/>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5673635"/>
                  </a:ext>
                </a:extLst>
              </a:tr>
            </a:tbl>
          </a:graphicData>
        </a:graphic>
      </p:graphicFrame>
    </p:spTree>
    <p:extLst>
      <p:ext uri="{BB962C8B-B14F-4D97-AF65-F5344CB8AC3E}">
        <p14:creationId xmlns:p14="http://schemas.microsoft.com/office/powerpoint/2010/main" val="37248952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344790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6026729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14" name="Picture 12" descr="Partners; Sustaining Creative Economies ...">
            <a:extLst>
              <a:ext uri="{FF2B5EF4-FFF2-40B4-BE49-F238E27FC236}">
                <a16:creationId xmlns:a16="http://schemas.microsoft.com/office/drawing/2014/main" id="{C213A523-D735-8490-152A-23415FF25430}"/>
              </a:ext>
            </a:extLst>
          </p:cNvPr>
          <p:cNvPicPr>
            <a:picLocks noChangeAspect="1" noChangeArrowheads="1"/>
          </p:cNvPicPr>
          <p:nvPr userDrawn="1"/>
        </p:nvPicPr>
        <p:blipFill>
          <a:blip r:embed="rId2">
            <a:alphaModFix/>
            <a:extLst>
              <a:ext uri="{28A0092B-C50C-407E-A947-70E740481C1C}">
                <a14:useLocalDpi xmlns:a14="http://schemas.microsoft.com/office/drawing/2010/main" val="0"/>
              </a:ext>
            </a:extLst>
          </a:blip>
          <a:srcRect/>
          <a:stretch>
            <a:fillRect/>
          </a:stretch>
        </p:blipFill>
        <p:spPr bwMode="auto">
          <a:xfrm>
            <a:off x="9888991" y="5440123"/>
            <a:ext cx="1342114" cy="751584"/>
          </a:xfrm>
          <a:prstGeom prst="rect">
            <a:avLst/>
          </a:prstGeom>
          <a:noFill/>
          <a:extLst>
            <a:ext uri="{909E8E84-426E-40DD-AFC4-6F175D3DCCD1}">
              <a14:hiddenFill xmlns:a14="http://schemas.microsoft.com/office/drawing/2010/main">
                <a:solidFill>
                  <a:srgbClr val="FFFFFF"/>
                </a:solidFill>
              </a14:hiddenFill>
            </a:ext>
          </a:extLst>
        </p:spPr>
      </p:pic>
      <p:sp>
        <p:nvSpPr>
          <p:cNvPr id="3" name="Date Placeholder 2">
            <a:extLst>
              <a:ext uri="{FF2B5EF4-FFF2-40B4-BE49-F238E27FC236}">
                <a16:creationId xmlns:a16="http://schemas.microsoft.com/office/drawing/2014/main" id="{6139AE9B-1271-7638-B347-A5F464D2BE3C}"/>
              </a:ext>
            </a:extLst>
          </p:cNvPr>
          <p:cNvSpPr>
            <a:spLocks noGrp="1"/>
          </p:cNvSpPr>
          <p:nvPr>
            <p:ph type="dt" sz="half" idx="10"/>
          </p:nvPr>
        </p:nvSpPr>
        <p:spPr/>
        <p:txBody>
          <a:bodyPr/>
          <a:lstStyle/>
          <a:p>
            <a:r>
              <a:rPr lang="en-US"/>
              <a:t>8 October 2024</a:t>
            </a:r>
            <a:endParaRPr lang="en-GB"/>
          </a:p>
        </p:txBody>
      </p:sp>
      <p:sp>
        <p:nvSpPr>
          <p:cNvPr id="4" name="Footer Placeholder 3">
            <a:extLst>
              <a:ext uri="{FF2B5EF4-FFF2-40B4-BE49-F238E27FC236}">
                <a16:creationId xmlns:a16="http://schemas.microsoft.com/office/drawing/2014/main" id="{23A3BAF4-52A6-7AC7-8C6F-183586D9D88D}"/>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F193AA3C-DFA6-2BE6-3BD0-0D6E60101593}"/>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10">
            <a:extLst>
              <a:ext uri="{FF2B5EF4-FFF2-40B4-BE49-F238E27FC236}">
                <a16:creationId xmlns:a16="http://schemas.microsoft.com/office/drawing/2014/main" id="{2A7E09F9-D2AF-737B-7EF3-D1714380AC3D}"/>
              </a:ext>
            </a:extLst>
          </p:cNvPr>
          <p:cNvPicPr>
            <a:picLocks noChangeAspect="1" noChangeArrowheads="1"/>
          </p:cNvPicPr>
          <p:nvPr userDrawn="1"/>
        </p:nvPicPr>
        <p:blipFill rotWithShape="1">
          <a:blip r:embed="rId3">
            <a:alphaModFix amt="35000"/>
            <a:extLst>
              <a:ext uri="{BEBA8EAE-BF5A-486C-A8C5-ECC9F3942E4B}">
                <a14:imgProps xmlns:a14="http://schemas.microsoft.com/office/drawing/2010/main">
                  <a14:imgLayer r:embed="rId4">
                    <a14:imgEffect>
                      <a14:backgroundRemoval t="7944" b="94860" l="9780" r="89976">
                        <a14:foregroundMark x1="25672" y1="20093" x2="32152" y2="70327"/>
                        <a14:foregroundMark x1="32152" y1="70327" x2="79829" y2="87383"/>
                        <a14:foregroundMark x1="79829" y1="87383" x2="79095" y2="36682"/>
                        <a14:foregroundMark x1="79095" y1="36682" x2="64914" y2="14720"/>
                        <a14:foregroundMark x1="64914" y1="14720" x2="48533" y2="7944"/>
                        <a14:foregroundMark x1="48533" y1="7944" x2="30196" y2="13084"/>
                        <a14:foregroundMark x1="30196" y1="13084" x2="25306" y2="20561"/>
                        <a14:foregroundMark x1="21760" y1="39486" x2="25061" y2="78505"/>
                        <a14:foregroundMark x1="25061" y1="78505" x2="64670" y2="92056"/>
                        <a14:foregroundMark x1="64670" y1="92056" x2="78851" y2="91822"/>
                        <a14:foregroundMark x1="82641" y1="15187" x2="86675" y2="62850"/>
                        <a14:foregroundMark x1="86675" y1="62850" x2="80196" y2="94626"/>
                        <a14:foregroundMark x1="80196" y1="94626" x2="78117" y2="94860"/>
                      </a14:backgroundRemoval>
                    </a14:imgEffect>
                  </a14:imgLayer>
                </a14:imgProps>
              </a:ext>
              <a:ext uri="{28A0092B-C50C-407E-A947-70E740481C1C}">
                <a14:useLocalDpi xmlns:a14="http://schemas.microsoft.com/office/drawing/2010/main" val="0"/>
              </a:ext>
            </a:extLst>
          </a:blip>
          <a:srcRect l="17245" t="2011" r="13041"/>
          <a:stretch/>
        </p:blipFill>
        <p:spPr bwMode="auto">
          <a:xfrm>
            <a:off x="3480620" y="-23164"/>
            <a:ext cx="8635320" cy="6350686"/>
          </a:xfrm>
          <a:prstGeom prst="rect">
            <a:avLst/>
          </a:prstGeom>
          <a:noFill/>
          <a:extLst>
            <a:ext uri="{909E8E84-426E-40DD-AFC4-6F175D3DCCD1}">
              <a14:hiddenFill xmlns:a14="http://schemas.microsoft.com/office/drawing/2010/main">
                <a:solidFill>
                  <a:srgbClr val="FFFFFF"/>
                </a:solidFill>
              </a14:hiddenFill>
            </a:ext>
          </a:extLst>
        </p:spPr>
      </p:pic>
      <p:pic>
        <p:nvPicPr>
          <p:cNvPr id="10" name="Graphic 9" descr="Advertising outline">
            <a:extLst>
              <a:ext uri="{FF2B5EF4-FFF2-40B4-BE49-F238E27FC236}">
                <a16:creationId xmlns:a16="http://schemas.microsoft.com/office/drawing/2014/main" id="{1EDC15B8-2173-9DC7-DB3B-645E07D8406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1071" y="208195"/>
            <a:ext cx="7304134" cy="6756079"/>
          </a:xfrm>
          <a:prstGeom prst="rect">
            <a:avLst/>
          </a:prstGeom>
        </p:spPr>
      </p:pic>
      <p:pic>
        <p:nvPicPr>
          <p:cNvPr id="15" name="Graphic 14">
            <a:extLst>
              <a:ext uri="{FF2B5EF4-FFF2-40B4-BE49-F238E27FC236}">
                <a16:creationId xmlns:a16="http://schemas.microsoft.com/office/drawing/2014/main" id="{CD1C29E7-0246-1CD7-8A1F-30707B7E1852}"/>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394192" y="4729773"/>
            <a:ext cx="2851533" cy="938724"/>
          </a:xfrm>
          <a:prstGeom prst="rect">
            <a:avLst/>
          </a:prstGeom>
        </p:spPr>
      </p:pic>
      <p:sp>
        <p:nvSpPr>
          <p:cNvPr id="16" name="TextBox 15">
            <a:extLst>
              <a:ext uri="{FF2B5EF4-FFF2-40B4-BE49-F238E27FC236}">
                <a16:creationId xmlns:a16="http://schemas.microsoft.com/office/drawing/2014/main" id="{2B8C7C2A-22F2-9C49-D70E-5C8A22C35019}"/>
              </a:ext>
            </a:extLst>
          </p:cNvPr>
          <p:cNvSpPr txBox="1"/>
          <p:nvPr userDrawn="1"/>
        </p:nvSpPr>
        <p:spPr>
          <a:xfrm>
            <a:off x="2189351" y="4909434"/>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chris.moreh@ncl.ac.uk</a:t>
            </a:r>
            <a:endParaRPr lang="en-GB" sz="1600" b="0" dirty="0">
              <a:latin typeface="Arial Nova Cond Light" panose="020B0306020202020204" pitchFamily="34" charset="0"/>
              <a:cs typeface="Courier New" panose="02070309020205020404" pitchFamily="49" charset="0"/>
              <a:hlinkClick r:id="rId8"/>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1"/>
              </a:rPr>
              <a:t>Chris Moreh</a:t>
            </a:r>
            <a:endParaRPr lang="en-GB" sz="1600" b="0" dirty="0">
              <a:latin typeface="Arial Nova Cond Light" panose="020B0306020202020204" pitchFamily="34" charset="0"/>
              <a:cs typeface="Courier New" panose="02070309020205020404" pitchFamily="49" charset="0"/>
            </a:endParaRPr>
          </a:p>
        </p:txBody>
      </p:sp>
      <p:pic>
        <p:nvPicPr>
          <p:cNvPr id="17" name="Picture 16">
            <a:extLst>
              <a:ext uri="{FF2B5EF4-FFF2-40B4-BE49-F238E27FC236}">
                <a16:creationId xmlns:a16="http://schemas.microsoft.com/office/drawing/2014/main" id="{DD7CACF7-D679-73AB-9142-786DA076C3A7}"/>
              </a:ext>
            </a:extLst>
          </p:cNvPr>
          <p:cNvPicPr>
            <a:picLocks noChangeAspect="1"/>
          </p:cNvPicPr>
          <p:nvPr userDrawn="1"/>
        </p:nvPicPr>
        <p:blipFill>
          <a:blip r:embed="rId12"/>
          <a:stretch>
            <a:fillRect/>
          </a:stretch>
        </p:blipFill>
        <p:spPr>
          <a:xfrm flipH="1">
            <a:off x="2205260" y="5245571"/>
            <a:ext cx="174474" cy="180000"/>
          </a:xfrm>
          <a:prstGeom prst="rect">
            <a:avLst/>
          </a:prstGeom>
        </p:spPr>
      </p:pic>
      <p:pic>
        <p:nvPicPr>
          <p:cNvPr id="18" name="Picture 4">
            <a:extLst>
              <a:ext uri="{FF2B5EF4-FFF2-40B4-BE49-F238E27FC236}">
                <a16:creationId xmlns:a16="http://schemas.microsoft.com/office/drawing/2014/main" id="{F5D755EC-05C2-0884-2C2F-74A7297B707D}"/>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2174731" y="571206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6">
            <a:extLst>
              <a:ext uri="{FF2B5EF4-FFF2-40B4-BE49-F238E27FC236}">
                <a16:creationId xmlns:a16="http://schemas.microsoft.com/office/drawing/2014/main" id="{40A42823-F60C-D577-74D9-FE8C3E3A6237}"/>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2199734" y="5980746"/>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6">
            <a:extLst>
              <a:ext uri="{FF2B5EF4-FFF2-40B4-BE49-F238E27FC236}">
                <a16:creationId xmlns:a16="http://schemas.microsoft.com/office/drawing/2014/main" id="{ECDBB212-ABA5-CE0D-7F0C-C37D656E0D6B}"/>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169249" y="5458509"/>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Email Icon Clip Art , Royalty PNG Transparent Background, Free Download  #130 - FreeIconsPNG">
            <a:extLst>
              <a:ext uri="{FF2B5EF4-FFF2-40B4-BE49-F238E27FC236}">
                <a16:creationId xmlns:a16="http://schemas.microsoft.com/office/drawing/2014/main" id="{9AD65224-3024-068D-2B15-9BC765970543}"/>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2210092" y="5003382"/>
            <a:ext cx="17640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D63504B0-8CB3-256C-EF50-E93FEF75ACFC}"/>
              </a:ext>
            </a:extLst>
          </p:cNvPr>
          <p:cNvPicPr>
            <a:picLocks noChangeAspect="1"/>
          </p:cNvPicPr>
          <p:nvPr userDrawn="1"/>
        </p:nvPicPr>
        <p:blipFill rotWithShape="1">
          <a:blip r:embed="rId17"/>
          <a:srcRect l="14262" t="5451" r="9231" b="22240"/>
          <a:stretch/>
        </p:blipFill>
        <p:spPr>
          <a:xfrm>
            <a:off x="851647" y="1470212"/>
            <a:ext cx="5629836" cy="2671482"/>
          </a:xfrm>
          <a:prstGeom prst="rect">
            <a:avLst/>
          </a:prstGeom>
        </p:spPr>
      </p:pic>
    </p:spTree>
    <p:extLst>
      <p:ext uri="{BB962C8B-B14F-4D97-AF65-F5344CB8AC3E}">
        <p14:creationId xmlns:p14="http://schemas.microsoft.com/office/powerpoint/2010/main" val="691324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ECC6-7BD6-D9D0-DD8F-30FCF10DE4E6}"/>
              </a:ext>
            </a:extLst>
          </p:cNvPr>
          <p:cNvSpPr>
            <a:spLocks noGrp="1"/>
          </p:cNvSpPr>
          <p:nvPr>
            <p:ph type="title" hasCustomPrompt="1"/>
          </p:nvPr>
        </p:nvSpPr>
        <p:spPr/>
        <p:txBody>
          <a:bodyPr/>
          <a:lstStyle>
            <a:lvl1pPr>
              <a:defRPr/>
            </a:lvl1pPr>
          </a:lstStyle>
          <a:p>
            <a:r>
              <a:rPr lang="en-GB" dirty="0"/>
              <a:t>References</a:t>
            </a:r>
          </a:p>
        </p:txBody>
      </p:sp>
      <p:sp>
        <p:nvSpPr>
          <p:cNvPr id="3" name="Date Placeholder 2">
            <a:extLst>
              <a:ext uri="{FF2B5EF4-FFF2-40B4-BE49-F238E27FC236}">
                <a16:creationId xmlns:a16="http://schemas.microsoft.com/office/drawing/2014/main" id="{B9857D05-3B38-1245-894D-24581A24F27D}"/>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F3C7BA36-6C3C-C811-3047-B251D5B25444}"/>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6589F523-D9FC-8E93-1712-1B6E3DE742AF}"/>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7" name="Text Placeholder 6">
            <a:extLst>
              <a:ext uri="{FF2B5EF4-FFF2-40B4-BE49-F238E27FC236}">
                <a16:creationId xmlns:a16="http://schemas.microsoft.com/office/drawing/2014/main" id="{C9FD4878-448B-C559-6183-304914140DFB}"/>
              </a:ext>
            </a:extLst>
          </p:cNvPr>
          <p:cNvSpPr>
            <a:spLocks noGrp="1"/>
          </p:cNvSpPr>
          <p:nvPr>
            <p:ph type="body" sz="quarter" idx="13"/>
          </p:nvPr>
        </p:nvSpPr>
        <p:spPr>
          <a:xfrm>
            <a:off x="757238" y="1431925"/>
            <a:ext cx="10455275" cy="46577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7463633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756746" y="286604"/>
            <a:ext cx="9578516" cy="911576"/>
          </a:xfrm>
          <a:prstGeom prst="rect">
            <a:avLst/>
          </a:prstGeom>
        </p:spPr>
        <p:txBody>
          <a:bodyPr vert="horz" lIns="91440" tIns="45720" rIns="91440" bIns="45720" rtlCol="0" anchor="b">
            <a:normAutofit/>
          </a:bodyPr>
          <a:lstStyle/>
          <a:p>
            <a:r>
              <a:rPr lang="en-GB" dirty="0"/>
              <a:t>Click to edit Master title style</a:t>
            </a:r>
            <a:endParaRPr lang="en-US" dirty="0"/>
          </a:p>
        </p:txBody>
      </p:sp>
      <p:sp>
        <p:nvSpPr>
          <p:cNvPr id="3" name="Text Placeholder 2"/>
          <p:cNvSpPr>
            <a:spLocks noGrp="1"/>
          </p:cNvSpPr>
          <p:nvPr>
            <p:ph type="body" idx="1"/>
          </p:nvPr>
        </p:nvSpPr>
        <p:spPr>
          <a:xfrm>
            <a:off x="756745" y="1477880"/>
            <a:ext cx="10398935" cy="4681181"/>
          </a:xfrm>
          <a:prstGeom prst="rect">
            <a:avLst/>
          </a:prstGeom>
        </p:spPr>
        <p:txBody>
          <a:bodyPr vert="horz" lIns="0" tIns="45720" rIns="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1200">
                <a:solidFill>
                  <a:srgbClr val="FFFFFF"/>
                </a:solidFill>
              </a:defRPr>
            </a:lvl1pPr>
          </a:lstStyle>
          <a:p>
            <a:r>
              <a:rPr lang="en-US"/>
              <a:t>8 October 2024</a:t>
            </a:r>
            <a:endParaRPr lang="en-GB"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1000" cap="all" baseline="0">
                <a:solidFill>
                  <a:srgbClr val="FFFFFF"/>
                </a:solidFill>
              </a:defRPr>
            </a:lvl1pPr>
          </a:lstStyle>
          <a:p>
            <a:r>
              <a:rPr lang="en-GB"/>
              <a:t>Comparisons and Associations</a:t>
            </a:r>
            <a:endParaRPr lang="en-GB"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200">
                <a:solidFill>
                  <a:srgbClr val="FFFFFF"/>
                </a:solidFill>
              </a:defRPr>
            </a:lvl1pPr>
          </a:lstStyle>
          <a:p>
            <a:fld id="{9FAA51BB-2FC0-4DB8-B50E-F52D50E733B6}" type="slidenum">
              <a:rPr lang="en-GB" smtClean="0"/>
              <a:pPr/>
              <a:t>‹#›</a:t>
            </a:fld>
            <a:endParaRPr lang="en-GB" dirty="0"/>
          </a:p>
        </p:txBody>
      </p:sp>
    </p:spTree>
    <p:extLst>
      <p:ext uri="{BB962C8B-B14F-4D97-AF65-F5344CB8AC3E}">
        <p14:creationId xmlns:p14="http://schemas.microsoft.com/office/powerpoint/2010/main" val="3120243165"/>
      </p:ext>
    </p:extLst>
  </p:cSld>
  <p:clrMap bg1="lt1" tx1="dk1" bg2="lt2" tx2="dk2" accent1="accent1" accent2="accent2" accent3="accent3" accent4="accent4" accent5="accent5" accent6="accent6" hlink="hlink" folHlink="folHlink"/>
  <p:sldLayoutIdLst>
    <p:sldLayoutId id="2147483661" r:id="rId1"/>
    <p:sldLayoutId id="2147483672" r:id="rId2"/>
    <p:sldLayoutId id="2147483662" r:id="rId3"/>
    <p:sldLayoutId id="2147483663" r:id="rId4"/>
    <p:sldLayoutId id="2147483668" r:id="rId5"/>
    <p:sldLayoutId id="2147483669" r:id="rId6"/>
    <p:sldLayoutId id="2147483664" r:id="rId7"/>
    <p:sldLayoutId id="2147483665" r:id="rId8"/>
    <p:sldLayoutId id="2147483666" r:id="rId9"/>
    <p:sldLayoutId id="2147483667" r:id="rId10"/>
    <p:sldLayoutId id="2147483674" r:id="rId11"/>
    <p:sldLayoutId id="2147483676" r:id="rId12"/>
    <p:sldLayoutId id="2147483675" r:id="rId13"/>
    <p:sldLayoutId id="2147483670" r:id="rId14"/>
    <p:sldLayoutId id="2147483671" r:id="rId15"/>
    <p:sldLayoutId id="2147483673" r:id="rId16"/>
    <p:sldLayoutId id="2147483677" r:id="rId17"/>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defTabSz="914400" rtl="0" eaLnBrk="1" latinLnBrk="0" hangingPunct="1">
        <a:lnSpc>
          <a:spcPct val="100000"/>
        </a:lnSpc>
        <a:spcBef>
          <a:spcPct val="0"/>
        </a:spcBef>
        <a:buNone/>
        <a:defRPr sz="4000" b="1" kern="1200" spc="-50" baseline="0">
          <a:solidFill>
            <a:schemeClr val="accent1">
              <a:lumMod val="50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chart" Target="../charts/char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06133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4060982-6EE3-A8F1-75FE-C4BDB2FF3CBE}"/>
              </a:ext>
            </a:extLst>
          </p:cNvPr>
          <p:cNvSpPr>
            <a:spLocks noGrp="1"/>
          </p:cNvSpPr>
          <p:nvPr>
            <p:ph type="title"/>
          </p:nvPr>
        </p:nvSpPr>
        <p:spPr/>
        <p:txBody>
          <a:bodyPr/>
          <a:lstStyle/>
          <a:p>
            <a:r>
              <a:rPr lang="en-GB" sz="6000" b="1" dirty="0"/>
              <a:t>Week 3</a:t>
            </a:r>
          </a:p>
        </p:txBody>
      </p:sp>
      <p:sp>
        <p:nvSpPr>
          <p:cNvPr id="7" name="Text Placeholder 6">
            <a:extLst>
              <a:ext uri="{FF2B5EF4-FFF2-40B4-BE49-F238E27FC236}">
                <a16:creationId xmlns:a16="http://schemas.microsoft.com/office/drawing/2014/main" id="{E112B5B6-7C9E-9DE5-8D2C-13D42F1FBB68}"/>
              </a:ext>
            </a:extLst>
          </p:cNvPr>
          <p:cNvSpPr>
            <a:spLocks noGrp="1"/>
          </p:cNvSpPr>
          <p:nvPr>
            <p:ph type="body" sz="half" idx="2"/>
          </p:nvPr>
        </p:nvSpPr>
        <p:spPr/>
        <p:txBody>
          <a:bodyPr>
            <a:normAutofit/>
          </a:bodyPr>
          <a:lstStyle/>
          <a:p>
            <a:r>
              <a:rPr lang="en-GB" sz="3600" dirty="0"/>
              <a:t>Modelling continuous outcomes</a:t>
            </a:r>
          </a:p>
        </p:txBody>
      </p:sp>
      <p:sp>
        <p:nvSpPr>
          <p:cNvPr id="3" name="Date Placeholder 2">
            <a:extLst>
              <a:ext uri="{FF2B5EF4-FFF2-40B4-BE49-F238E27FC236}">
                <a16:creationId xmlns:a16="http://schemas.microsoft.com/office/drawing/2014/main" id="{746383FB-FAD5-ACBF-8362-99A44C5BACCD}"/>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EC4BC908-4805-889D-BE4F-455E3A449AA4}"/>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9E2F49CC-8A5A-2FB3-FD34-139202D1D593}"/>
              </a:ext>
            </a:extLst>
          </p:cNvPr>
          <p:cNvSpPr>
            <a:spLocks noGrp="1"/>
          </p:cNvSpPr>
          <p:nvPr>
            <p:ph type="sldNum" sz="quarter" idx="12"/>
          </p:nvPr>
        </p:nvSpPr>
        <p:spPr/>
        <p:txBody>
          <a:bodyPr/>
          <a:lstStyle/>
          <a:p>
            <a:fld id="{9FAA51BB-2FC0-4DB8-B50E-F52D50E733B6}" type="slidenum">
              <a:rPr lang="en-GB" smtClean="0"/>
              <a:t>2</a:t>
            </a:fld>
            <a:endParaRPr lang="en-GB"/>
          </a:p>
        </p:txBody>
      </p:sp>
    </p:spTree>
    <p:extLst>
      <p:ext uri="{BB962C8B-B14F-4D97-AF65-F5344CB8AC3E}">
        <p14:creationId xmlns:p14="http://schemas.microsoft.com/office/powerpoint/2010/main" val="3814459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3</a:t>
            </a:fld>
            <a:endParaRPr lang="en-GB"/>
          </a:p>
        </p:txBody>
      </p:sp>
      <p:sp>
        <p:nvSpPr>
          <p:cNvPr id="6" name="Step 1"/>
          <p:cNvSpPr/>
          <p:nvPr/>
        </p:nvSpPr>
        <p:spPr>
          <a:xfrm>
            <a:off x="758952" y="1463040"/>
            <a:ext cx="2144268" cy="210312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896112" y="1933671"/>
            <a:ext cx="1869948" cy="1161857"/>
          </a:xfrm>
          <a:prstGeom prst="rect">
            <a:avLst/>
          </a:prstGeom>
          <a:noFill/>
        </p:spPr>
        <p:txBody>
          <a:bodyPr wrap="square" lIns="0" tIns="0" rIns="0" bIns="0" anchor="ctr">
            <a:spAutoFit/>
          </a:bodyPr>
          <a:lstStyle/>
          <a:p>
            <a:pPr algn="l">
              <a:spcAft>
                <a:spcPts val="300"/>
              </a:spcAft>
            </a:pPr>
            <a:r>
              <a:rPr sz="2200" b="1" i="0" dirty="0">
                <a:solidFill>
                  <a:srgbClr val="1F394D"/>
                </a:solidFill>
              </a:rPr>
              <a:t>Association</a:t>
            </a:r>
          </a:p>
          <a:p>
            <a:pPr algn="l"/>
            <a:r>
              <a:rPr sz="1700" b="0" i="0" dirty="0">
                <a:solidFill>
                  <a:srgbClr val="55606B"/>
                </a:solidFill>
              </a:rPr>
              <a:t>Last week: inequality and trust, r = -0.66</a:t>
            </a:r>
            <a:endParaRPr lang="en-GB" sz="1700" b="0" i="0" dirty="0">
              <a:solidFill>
                <a:srgbClr val="55606B"/>
              </a:solidFill>
            </a:endParaRPr>
          </a:p>
          <a:p>
            <a:pPr algn="l"/>
            <a:endParaRPr sz="1700" b="0" i="0" dirty="0">
              <a:solidFill>
                <a:srgbClr val="55606B"/>
              </a:solidFill>
            </a:endParaRPr>
          </a:p>
        </p:txBody>
      </p:sp>
      <p:sp>
        <p:nvSpPr>
          <p:cNvPr id="8" name="Right Arrow 7"/>
          <p:cNvSpPr/>
          <p:nvPr/>
        </p:nvSpPr>
        <p:spPr>
          <a:xfrm>
            <a:off x="3012948" y="2350008"/>
            <a:ext cx="457200" cy="329184"/>
          </a:xfrm>
          <a:prstGeom prst="rightArrow">
            <a:avLst/>
          </a:prstGeom>
          <a:solidFill>
            <a:srgbClr val="3F739B"/>
          </a:solidFill>
          <a:ln>
            <a:noFill/>
          </a:ln>
        </p:spPr>
        <p:txBody>
          <a:bodyPr rtlCol="0" anchor="ctr"/>
          <a:lstStyle/>
          <a:p>
            <a:pPr algn="ctr"/>
            <a:endParaRPr/>
          </a:p>
        </p:txBody>
      </p:sp>
      <p:sp>
        <p:nvSpPr>
          <p:cNvPr id="9" name="Step 2"/>
          <p:cNvSpPr/>
          <p:nvPr/>
        </p:nvSpPr>
        <p:spPr>
          <a:xfrm>
            <a:off x="3579876" y="1463040"/>
            <a:ext cx="2144268" cy="210312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3717035" y="1933671"/>
            <a:ext cx="2116835" cy="1161857"/>
          </a:xfrm>
          <a:prstGeom prst="rect">
            <a:avLst/>
          </a:prstGeom>
          <a:noFill/>
        </p:spPr>
        <p:txBody>
          <a:bodyPr wrap="square" lIns="0" tIns="0" rIns="0" bIns="0" anchor="ctr">
            <a:spAutoFit/>
          </a:bodyPr>
          <a:lstStyle/>
          <a:p>
            <a:pPr algn="l">
              <a:spcAft>
                <a:spcPts val="300"/>
              </a:spcAft>
            </a:pPr>
            <a:r>
              <a:rPr lang="en-GB" sz="2200" b="1" i="0" dirty="0">
                <a:solidFill>
                  <a:srgbClr val="1F394D"/>
                </a:solidFill>
              </a:rPr>
              <a:t>Simple regression</a:t>
            </a:r>
            <a:endParaRPr sz="2200" b="1" i="0" dirty="0">
              <a:solidFill>
                <a:srgbClr val="1F394D"/>
              </a:solidFill>
            </a:endParaRPr>
          </a:p>
          <a:p>
            <a:pPr algn="l"/>
            <a:r>
              <a:rPr lang="en-GB" sz="1700" b="0" i="0" dirty="0">
                <a:solidFill>
                  <a:srgbClr val="55606B"/>
                </a:solidFill>
              </a:rPr>
              <a:t>Two variables</a:t>
            </a:r>
            <a:r>
              <a:rPr sz="1700" b="0" i="0" dirty="0">
                <a:solidFill>
                  <a:srgbClr val="55606B"/>
                </a:solidFill>
              </a:rPr>
              <a:t>: intercept, slope, residuals, </a:t>
            </a:r>
            <a:r>
              <a:rPr sz="1700" b="0" i="0" dirty="0" err="1">
                <a:solidFill>
                  <a:srgbClr val="55606B"/>
                </a:solidFill>
              </a:rPr>
              <a:t>R²</a:t>
            </a:r>
            <a:endParaRPr sz="1700" b="0" i="0" dirty="0">
              <a:solidFill>
                <a:srgbClr val="55606B"/>
              </a:solidFill>
            </a:endParaRPr>
          </a:p>
        </p:txBody>
      </p:sp>
      <p:sp>
        <p:nvSpPr>
          <p:cNvPr id="11" name="Right Arrow 10"/>
          <p:cNvSpPr/>
          <p:nvPr/>
        </p:nvSpPr>
        <p:spPr>
          <a:xfrm>
            <a:off x="5833872" y="2350008"/>
            <a:ext cx="457200" cy="329184"/>
          </a:xfrm>
          <a:prstGeom prst="rightArrow">
            <a:avLst/>
          </a:prstGeom>
          <a:solidFill>
            <a:srgbClr val="3F739B"/>
          </a:solidFill>
          <a:ln>
            <a:noFill/>
          </a:ln>
        </p:spPr>
        <p:txBody>
          <a:bodyPr rtlCol="0" anchor="ctr"/>
          <a:lstStyle/>
          <a:p>
            <a:pPr algn="ctr"/>
            <a:endParaRPr/>
          </a:p>
        </p:txBody>
      </p:sp>
      <p:sp>
        <p:nvSpPr>
          <p:cNvPr id="12" name="Step 3"/>
          <p:cNvSpPr/>
          <p:nvPr/>
        </p:nvSpPr>
        <p:spPr>
          <a:xfrm>
            <a:off x="6400800" y="1463040"/>
            <a:ext cx="2144268" cy="210312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6537959" y="1933671"/>
            <a:ext cx="2318174" cy="1161857"/>
          </a:xfrm>
          <a:prstGeom prst="rect">
            <a:avLst/>
          </a:prstGeom>
          <a:noFill/>
        </p:spPr>
        <p:txBody>
          <a:bodyPr wrap="square" lIns="0" tIns="0" rIns="0" bIns="0" anchor="ctr">
            <a:spAutoFit/>
          </a:bodyPr>
          <a:lstStyle/>
          <a:p>
            <a:pPr algn="l">
              <a:spcAft>
                <a:spcPts val="300"/>
              </a:spcAft>
            </a:pPr>
            <a:r>
              <a:rPr sz="2200" b="1" i="0" dirty="0">
                <a:solidFill>
                  <a:srgbClr val="1F394D"/>
                </a:solidFill>
              </a:rPr>
              <a:t>M</a:t>
            </a:r>
            <a:r>
              <a:rPr lang="en-GB" sz="2200" b="1" i="0" dirty="0" err="1">
                <a:solidFill>
                  <a:srgbClr val="1F394D"/>
                </a:solidFill>
              </a:rPr>
              <a:t>ultiple</a:t>
            </a:r>
            <a:r>
              <a:rPr lang="en-GB" sz="2200" b="1" i="0" dirty="0">
                <a:solidFill>
                  <a:srgbClr val="1F394D"/>
                </a:solidFill>
              </a:rPr>
              <a:t> regression</a:t>
            </a:r>
          </a:p>
          <a:p>
            <a:pPr algn="l">
              <a:spcAft>
                <a:spcPts val="300"/>
              </a:spcAft>
            </a:pPr>
            <a:r>
              <a:rPr sz="1700" b="0" i="0" dirty="0">
                <a:solidFill>
                  <a:srgbClr val="55606B"/>
                </a:solidFill>
              </a:rPr>
              <a:t>Multiple </a:t>
            </a:r>
            <a:r>
              <a:rPr lang="en-GB" sz="1700" b="0" i="0" dirty="0">
                <a:solidFill>
                  <a:srgbClr val="55606B"/>
                </a:solidFill>
              </a:rPr>
              <a:t>variables</a:t>
            </a:r>
            <a:r>
              <a:rPr sz="1700" b="0" i="0" dirty="0">
                <a:solidFill>
                  <a:srgbClr val="55606B"/>
                </a:solidFill>
              </a:rPr>
              <a:t>: “holding other things constant”</a:t>
            </a:r>
          </a:p>
        </p:txBody>
      </p:sp>
      <p:sp>
        <p:nvSpPr>
          <p:cNvPr id="14" name="Right Arrow 13"/>
          <p:cNvSpPr/>
          <p:nvPr/>
        </p:nvSpPr>
        <p:spPr>
          <a:xfrm>
            <a:off x="8654795" y="2350008"/>
            <a:ext cx="457200" cy="329184"/>
          </a:xfrm>
          <a:prstGeom prst="rightArrow">
            <a:avLst/>
          </a:prstGeom>
          <a:solidFill>
            <a:srgbClr val="3F739B"/>
          </a:solidFill>
          <a:ln>
            <a:noFill/>
          </a:ln>
        </p:spPr>
        <p:txBody>
          <a:bodyPr rtlCol="0" anchor="ctr"/>
          <a:lstStyle/>
          <a:p>
            <a:pPr algn="ctr"/>
            <a:endParaRPr/>
          </a:p>
        </p:txBody>
      </p:sp>
      <p:sp>
        <p:nvSpPr>
          <p:cNvPr id="15" name="Step 4"/>
          <p:cNvSpPr/>
          <p:nvPr/>
        </p:nvSpPr>
        <p:spPr>
          <a:xfrm>
            <a:off x="9221724" y="1463040"/>
            <a:ext cx="2144268" cy="2103120"/>
          </a:xfrm>
          <a:prstGeom prst="roundRect">
            <a:avLst>
              <a:gd name="adj" fmla="val 8000"/>
            </a:avLst>
          </a:prstGeom>
          <a:solidFill>
            <a:srgbClr val="1F394D"/>
          </a:solidFill>
          <a:ln>
            <a:noFill/>
          </a:ln>
        </p:spPr>
        <p:txBody>
          <a:bodyPr rtlCol="0" anchor="ctr"/>
          <a:lstStyle/>
          <a:p>
            <a:endParaRPr/>
          </a:p>
        </p:txBody>
      </p:sp>
      <p:sp>
        <p:nvSpPr>
          <p:cNvPr id="16" name="TextBox 15"/>
          <p:cNvSpPr txBox="1"/>
          <p:nvPr/>
        </p:nvSpPr>
        <p:spPr>
          <a:xfrm>
            <a:off x="9358884" y="1554480"/>
            <a:ext cx="1869948" cy="1920239"/>
          </a:xfrm>
          <a:prstGeom prst="rect">
            <a:avLst/>
          </a:prstGeom>
          <a:noFill/>
        </p:spPr>
        <p:txBody>
          <a:bodyPr wrap="square" lIns="0" tIns="0" rIns="0" bIns="0" anchor="ctr">
            <a:spAutoFit/>
          </a:bodyPr>
          <a:lstStyle/>
          <a:p>
            <a:pPr algn="l">
              <a:spcAft>
                <a:spcPts val="300"/>
              </a:spcAft>
            </a:pPr>
            <a:r>
              <a:rPr sz="2200" b="1" i="0" dirty="0">
                <a:solidFill>
                  <a:srgbClr val="FFFFFF"/>
                </a:solidFill>
              </a:rPr>
              <a:t>Categories</a:t>
            </a:r>
          </a:p>
          <a:p>
            <a:pPr algn="l"/>
            <a:r>
              <a:rPr sz="1700" b="0" i="0" dirty="0">
                <a:solidFill>
                  <a:srgbClr val="CCDDEA"/>
                </a:solidFill>
              </a:rPr>
              <a:t>Regions and religious traditions as predictors</a:t>
            </a:r>
          </a:p>
        </p:txBody>
      </p:sp>
      <p:sp>
        <p:nvSpPr>
          <p:cNvPr id="17" name="Rounded Rectangle 16"/>
          <p:cNvSpPr/>
          <p:nvPr/>
        </p:nvSpPr>
        <p:spPr>
          <a:xfrm>
            <a:off x="758952" y="3931920"/>
            <a:ext cx="10607040" cy="1737360"/>
          </a:xfrm>
          <a:prstGeom prst="roundRect">
            <a:avLst>
              <a:gd name="adj" fmla="val 8000"/>
            </a:avLst>
          </a:prstGeom>
          <a:solidFill>
            <a:srgbClr val="EEF3F7"/>
          </a:solidFill>
          <a:ln>
            <a:noFill/>
          </a:ln>
        </p:spPr>
        <p:txBody>
          <a:bodyPr rtlCol="0" anchor="ctr"/>
          <a:lstStyle/>
          <a:p>
            <a:endParaRPr/>
          </a:p>
        </p:txBody>
      </p:sp>
      <p:sp>
        <p:nvSpPr>
          <p:cNvPr id="18" name="TextBox 17"/>
          <p:cNvSpPr txBox="1"/>
          <p:nvPr/>
        </p:nvSpPr>
        <p:spPr>
          <a:xfrm>
            <a:off x="960120" y="4092854"/>
            <a:ext cx="10204704" cy="1415491"/>
          </a:xfrm>
          <a:prstGeom prst="rect">
            <a:avLst/>
          </a:prstGeom>
          <a:noFill/>
        </p:spPr>
        <p:txBody>
          <a:bodyPr wrap="square" lIns="0" tIns="0" rIns="0" bIns="0" anchor="t">
            <a:spAutoFit/>
          </a:bodyPr>
          <a:lstStyle/>
          <a:p>
            <a:pPr algn="l">
              <a:spcAft>
                <a:spcPts val="400"/>
              </a:spcAft>
            </a:pPr>
            <a:r>
              <a:rPr sz="2000" b="1" i="0">
                <a:solidFill>
                  <a:srgbClr val="1F394D"/>
                </a:solidFill>
              </a:rPr>
              <a:t>Two datasets from the workshop</a:t>
            </a:r>
          </a:p>
          <a:p>
            <a:pPr algn="l">
              <a:spcAft>
                <a:spcPts val="400"/>
              </a:spcAft>
            </a:pPr>
            <a:r>
              <a:rPr sz="1800" b="0" i="0">
                <a:solidFill>
                  <a:srgbClr val="1F2A33"/>
                </a:solidFill>
              </a:rPr>
              <a:t>The Spirit Level: inequality and trust in 23 rich countries (pickett2009).</a:t>
            </a:r>
          </a:p>
          <a:p>
            <a:pPr algn="l">
              <a:spcAft>
                <a:spcPts val="400"/>
              </a:spcAft>
            </a:pPr>
            <a:r>
              <a:rPr sz="1800" b="0" i="0">
                <a:solidFill>
                  <a:srgbClr val="1F2A33"/>
                </a:solidFill>
              </a:rPr>
              <a:t>Delhey &amp; Newton (2005): what predicts trust in 60 countries (delhey&amp;newton2005).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correlation to regression</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4</a:t>
            </a:fld>
            <a:endParaRPr lang="en-GB"/>
          </a:p>
        </p:txBody>
      </p:sp>
      <p:sp>
        <p:nvSpPr>
          <p:cNvPr id="6" name="Rounded Rectangle 5"/>
          <p:cNvSpPr/>
          <p:nvPr/>
        </p:nvSpPr>
        <p:spPr>
          <a:xfrm>
            <a:off x="758952" y="1417320"/>
            <a:ext cx="5212080" cy="237744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960120" y="1578254"/>
            <a:ext cx="4809744" cy="2055571"/>
          </a:xfrm>
          <a:prstGeom prst="rect">
            <a:avLst/>
          </a:prstGeom>
          <a:noFill/>
        </p:spPr>
        <p:txBody>
          <a:bodyPr wrap="square" lIns="0" tIns="0" rIns="0" bIns="0" anchor="t">
            <a:spAutoFit/>
          </a:bodyPr>
          <a:lstStyle/>
          <a:p>
            <a:pPr algn="l">
              <a:spcAft>
                <a:spcPts val="400"/>
              </a:spcAft>
            </a:pPr>
            <a:r>
              <a:rPr sz="2200" b="1" i="0">
                <a:solidFill>
                  <a:srgbClr val="1F394D"/>
                </a:solidFill>
              </a:rPr>
              <a:t>Correlation (r)</a:t>
            </a:r>
          </a:p>
          <a:p>
            <a:pPr algn="l">
              <a:spcAft>
                <a:spcPts val="400"/>
              </a:spcAft>
            </a:pPr>
            <a:r>
              <a:rPr sz="1700" b="0" i="0">
                <a:solidFill>
                  <a:srgbClr val="1F2A33"/>
                </a:solidFill>
              </a:rPr>
              <a:t>Strength and direction of a straight-line association.</a:t>
            </a:r>
          </a:p>
          <a:p>
            <a:pPr algn="l">
              <a:spcAft>
                <a:spcPts val="400"/>
              </a:spcAft>
            </a:pPr>
            <a:r>
              <a:rPr sz="1700" b="0" i="0">
                <a:solidFill>
                  <a:srgbClr val="1F2A33"/>
                </a:solidFill>
              </a:rPr>
              <a:t>Symmetric, no units, between −1 and +1.</a:t>
            </a:r>
          </a:p>
        </p:txBody>
      </p:sp>
      <p:sp>
        <p:nvSpPr>
          <p:cNvPr id="8" name="Rounded Rectangle 7"/>
          <p:cNvSpPr/>
          <p:nvPr/>
        </p:nvSpPr>
        <p:spPr>
          <a:xfrm>
            <a:off x="6153912" y="1417320"/>
            <a:ext cx="5212080" cy="237744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6355080" y="1578254"/>
            <a:ext cx="4809744" cy="2055571"/>
          </a:xfrm>
          <a:prstGeom prst="rect">
            <a:avLst/>
          </a:prstGeom>
          <a:noFill/>
        </p:spPr>
        <p:txBody>
          <a:bodyPr wrap="square" lIns="0" tIns="0" rIns="0" bIns="0" anchor="t">
            <a:spAutoFit/>
          </a:bodyPr>
          <a:lstStyle/>
          <a:p>
            <a:pPr algn="l">
              <a:spcAft>
                <a:spcPts val="400"/>
              </a:spcAft>
            </a:pPr>
            <a:r>
              <a:rPr sz="2200" b="1" i="0">
                <a:solidFill>
                  <a:srgbClr val="FFFFFF"/>
                </a:solidFill>
              </a:rPr>
              <a:t>Regression</a:t>
            </a:r>
          </a:p>
          <a:p>
            <a:pPr algn="l">
              <a:spcAft>
                <a:spcPts val="400"/>
              </a:spcAft>
            </a:pPr>
            <a:r>
              <a:rPr sz="1700" b="0" i="0">
                <a:solidFill>
                  <a:srgbClr val="CCDDEA"/>
                </a:solidFill>
              </a:rPr>
              <a:t>Describes the outcome as a line in the predictor.</a:t>
            </a:r>
          </a:p>
          <a:p>
            <a:pPr algn="l">
              <a:spcAft>
                <a:spcPts val="400"/>
              </a:spcAft>
            </a:pPr>
            <a:r>
              <a:rPr sz="1700" b="0" i="0">
                <a:solidFill>
                  <a:srgbClr val="CCDDEA"/>
                </a:solidFill>
              </a:rPr>
              <a:t>In real units; predicts; can add more predictors.</a:t>
            </a:r>
          </a:p>
        </p:txBody>
      </p:sp>
      <p:sp>
        <p:nvSpPr>
          <p:cNvPr id="10" name="Equation"/>
          <p:cNvSpPr/>
          <p:nvPr/>
        </p:nvSpPr>
        <p:spPr>
          <a:xfrm>
            <a:off x="758952" y="4069080"/>
            <a:ext cx="10607040" cy="169164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1033271" y="4160520"/>
            <a:ext cx="10058400" cy="1508760"/>
          </a:xfrm>
          <a:prstGeom prst="rect">
            <a:avLst/>
          </a:prstGeom>
          <a:noFill/>
        </p:spPr>
        <p:txBody>
          <a:bodyPr wrap="square" lIns="0" tIns="0" rIns="0" bIns="0" anchor="ctr">
            <a:spAutoFit/>
          </a:bodyPr>
          <a:lstStyle/>
          <a:p>
            <a:pPr algn="ctr">
              <a:spcAft>
                <a:spcPts val="800"/>
              </a:spcAft>
            </a:pPr>
            <a:r>
              <a:rPr sz="2600" b="1" i="0">
                <a:solidFill>
                  <a:srgbClr val="1F394D"/>
                </a:solidFill>
              </a:rPr>
              <a:t>predicted outcome  =  intercept  +  slope × predictor</a:t>
            </a:r>
          </a:p>
          <a:p>
            <a:pPr algn="ctr"/>
            <a:r>
              <a:rPr sz="2000" b="0" i="0">
                <a:solidFill>
                  <a:srgbClr val="55606B"/>
                </a:solidFill>
              </a:rPr>
              <a:t>Spirit Level:  </a:t>
            </a:r>
            <a:r>
              <a:rPr sz="2000" b="1" i="0">
                <a:solidFill>
                  <a:srgbClr val="7A5C00"/>
                </a:solidFill>
              </a:rPr>
              <a:t>predicted trust = 77.1 − 6.54 × income inequality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regression line does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5</a:t>
            </a:fld>
            <a:endParaRPr lang="en-GB"/>
          </a:p>
        </p:txBody>
      </p:sp>
      <p:cxnSp>
        <p:nvCxnSpPr>
          <p:cNvPr id="6" name="Connector 5"/>
          <p:cNvCxnSpPr/>
          <p:nvPr/>
        </p:nvCxnSpPr>
        <p:spPr>
          <a:xfrm>
            <a:off x="1490472" y="1600200"/>
            <a:ext cx="0" cy="3794760"/>
          </a:xfrm>
          <a:prstGeom prst="line">
            <a:avLst/>
          </a:prstGeom>
          <a:ln w="15875">
            <a:solidFill>
              <a:srgbClr val="BBC4CC"/>
            </a:solidFill>
          </a:ln>
        </p:spPr>
      </p:cxnSp>
      <p:cxnSp>
        <p:nvCxnSpPr>
          <p:cNvPr id="72" name="Connector 72"/>
          <p:cNvCxnSpPr/>
          <p:nvPr/>
        </p:nvCxnSpPr>
        <p:spPr>
          <a:xfrm>
            <a:off x="1490472" y="5394960"/>
            <a:ext cx="5669280" cy="0"/>
          </a:xfrm>
          <a:prstGeom prst="line">
            <a:avLst/>
          </a:prstGeom>
          <a:ln w="9525">
            <a:solidFill>
              <a:srgbClr val="DDE3E8"/>
            </a:solidFill>
          </a:ln>
        </p:spPr>
      </p:cxnSp>
      <p:sp>
        <p:nvSpPr>
          <p:cNvPr id="73" name="TextBox 73"/>
          <p:cNvSpPr txBox="1"/>
          <p:nvPr/>
        </p:nvSpPr>
        <p:spPr>
          <a:xfrm>
            <a:off x="804671" y="5257800"/>
            <a:ext cx="621792" cy="274320"/>
          </a:xfrm>
          <a:prstGeom prst="rect">
            <a:avLst/>
          </a:prstGeom>
          <a:noFill/>
        </p:spPr>
        <p:txBody>
          <a:bodyPr wrap="square" lIns="0" tIns="0" rIns="0" bIns="0" anchor="t">
            <a:spAutoFit/>
          </a:bodyPr>
          <a:lstStyle/>
          <a:p>
            <a:pPr algn="r"/>
            <a:r>
              <a:rPr sz="1300" b="0" i="0">
                <a:solidFill>
                  <a:srgbClr val="55606B"/>
                </a:solidFill>
              </a:rPr>
              <a:t>0</a:t>
            </a:r>
          </a:p>
        </p:txBody>
      </p:sp>
      <p:cxnSp>
        <p:nvCxnSpPr>
          <p:cNvPr id="74" name="Connector 74"/>
          <p:cNvCxnSpPr/>
          <p:nvPr/>
        </p:nvCxnSpPr>
        <p:spPr>
          <a:xfrm>
            <a:off x="1490472" y="4973320"/>
            <a:ext cx="5669280" cy="0"/>
          </a:xfrm>
          <a:prstGeom prst="line">
            <a:avLst/>
          </a:prstGeom>
          <a:ln w="9525">
            <a:solidFill>
              <a:srgbClr val="DDE3E8"/>
            </a:solidFill>
          </a:ln>
        </p:spPr>
      </p:cxnSp>
      <p:sp>
        <p:nvSpPr>
          <p:cNvPr id="75" name="TextBox 75"/>
          <p:cNvSpPr txBox="1"/>
          <p:nvPr/>
        </p:nvSpPr>
        <p:spPr>
          <a:xfrm>
            <a:off x="804671" y="4836160"/>
            <a:ext cx="621792" cy="274320"/>
          </a:xfrm>
          <a:prstGeom prst="rect">
            <a:avLst/>
          </a:prstGeom>
          <a:noFill/>
        </p:spPr>
        <p:txBody>
          <a:bodyPr wrap="square" lIns="0" tIns="0" rIns="0" bIns="0" anchor="t">
            <a:spAutoFit/>
          </a:bodyPr>
          <a:lstStyle/>
          <a:p>
            <a:pPr algn="r"/>
            <a:r>
              <a:rPr sz="1300" b="0" i="0">
                <a:solidFill>
                  <a:srgbClr val="55606B"/>
                </a:solidFill>
              </a:rPr>
              <a:t>1</a:t>
            </a:r>
          </a:p>
        </p:txBody>
      </p:sp>
      <p:cxnSp>
        <p:nvCxnSpPr>
          <p:cNvPr id="76" name="Connector 76"/>
          <p:cNvCxnSpPr/>
          <p:nvPr/>
        </p:nvCxnSpPr>
        <p:spPr>
          <a:xfrm>
            <a:off x="1490472" y="4551680"/>
            <a:ext cx="5669280" cy="0"/>
          </a:xfrm>
          <a:prstGeom prst="line">
            <a:avLst/>
          </a:prstGeom>
          <a:ln w="9525">
            <a:solidFill>
              <a:srgbClr val="DDE3E8"/>
            </a:solidFill>
          </a:ln>
        </p:spPr>
      </p:cxnSp>
      <p:sp>
        <p:nvSpPr>
          <p:cNvPr id="77" name="TextBox 77"/>
          <p:cNvSpPr txBox="1"/>
          <p:nvPr/>
        </p:nvSpPr>
        <p:spPr>
          <a:xfrm>
            <a:off x="804671" y="4414520"/>
            <a:ext cx="621792" cy="274320"/>
          </a:xfrm>
          <a:prstGeom prst="rect">
            <a:avLst/>
          </a:prstGeom>
          <a:noFill/>
        </p:spPr>
        <p:txBody>
          <a:bodyPr wrap="square" lIns="0" tIns="0" rIns="0" bIns="0" anchor="t">
            <a:spAutoFit/>
          </a:bodyPr>
          <a:lstStyle/>
          <a:p>
            <a:pPr algn="r"/>
            <a:r>
              <a:rPr sz="1300" b="0" i="0">
                <a:solidFill>
                  <a:srgbClr val="55606B"/>
                </a:solidFill>
              </a:rPr>
              <a:t>2</a:t>
            </a:r>
          </a:p>
        </p:txBody>
      </p:sp>
      <p:cxnSp>
        <p:nvCxnSpPr>
          <p:cNvPr id="78" name="Connector 78"/>
          <p:cNvCxnSpPr/>
          <p:nvPr/>
        </p:nvCxnSpPr>
        <p:spPr>
          <a:xfrm>
            <a:off x="1490472" y="4130040"/>
            <a:ext cx="5669280" cy="0"/>
          </a:xfrm>
          <a:prstGeom prst="line">
            <a:avLst/>
          </a:prstGeom>
          <a:ln w="9525">
            <a:solidFill>
              <a:srgbClr val="DDE3E8"/>
            </a:solidFill>
          </a:ln>
        </p:spPr>
      </p:cxnSp>
      <p:sp>
        <p:nvSpPr>
          <p:cNvPr id="79" name="TextBox 79"/>
          <p:cNvSpPr txBox="1"/>
          <p:nvPr/>
        </p:nvSpPr>
        <p:spPr>
          <a:xfrm>
            <a:off x="804671" y="3992880"/>
            <a:ext cx="621792" cy="274320"/>
          </a:xfrm>
          <a:prstGeom prst="rect">
            <a:avLst/>
          </a:prstGeom>
          <a:noFill/>
        </p:spPr>
        <p:txBody>
          <a:bodyPr wrap="square" lIns="0" tIns="0" rIns="0" bIns="0" anchor="t">
            <a:spAutoFit/>
          </a:bodyPr>
          <a:lstStyle/>
          <a:p>
            <a:pPr algn="r"/>
            <a:r>
              <a:rPr sz="1300" b="0" i="0">
                <a:solidFill>
                  <a:srgbClr val="55606B"/>
                </a:solidFill>
              </a:rPr>
              <a:t>3</a:t>
            </a:r>
          </a:p>
        </p:txBody>
      </p:sp>
      <p:cxnSp>
        <p:nvCxnSpPr>
          <p:cNvPr id="80" name="Connector 80"/>
          <p:cNvCxnSpPr/>
          <p:nvPr/>
        </p:nvCxnSpPr>
        <p:spPr>
          <a:xfrm>
            <a:off x="1490472" y="3708400"/>
            <a:ext cx="5669280" cy="0"/>
          </a:xfrm>
          <a:prstGeom prst="line">
            <a:avLst/>
          </a:prstGeom>
          <a:ln w="9525">
            <a:solidFill>
              <a:srgbClr val="DDE3E8"/>
            </a:solidFill>
          </a:ln>
        </p:spPr>
      </p:cxnSp>
      <p:sp>
        <p:nvSpPr>
          <p:cNvPr id="81" name="TextBox 81"/>
          <p:cNvSpPr txBox="1"/>
          <p:nvPr/>
        </p:nvSpPr>
        <p:spPr>
          <a:xfrm>
            <a:off x="804671" y="3571240"/>
            <a:ext cx="621792" cy="274320"/>
          </a:xfrm>
          <a:prstGeom prst="rect">
            <a:avLst/>
          </a:prstGeom>
          <a:noFill/>
        </p:spPr>
        <p:txBody>
          <a:bodyPr wrap="square" lIns="0" tIns="0" rIns="0" bIns="0" anchor="t">
            <a:spAutoFit/>
          </a:bodyPr>
          <a:lstStyle/>
          <a:p>
            <a:pPr algn="r"/>
            <a:r>
              <a:rPr sz="1300" b="0" i="0">
                <a:solidFill>
                  <a:srgbClr val="55606B"/>
                </a:solidFill>
              </a:rPr>
              <a:t>4</a:t>
            </a:r>
          </a:p>
        </p:txBody>
      </p:sp>
      <p:cxnSp>
        <p:nvCxnSpPr>
          <p:cNvPr id="82" name="Connector 82"/>
          <p:cNvCxnSpPr/>
          <p:nvPr/>
        </p:nvCxnSpPr>
        <p:spPr>
          <a:xfrm>
            <a:off x="1490472" y="3286760"/>
            <a:ext cx="5669280" cy="0"/>
          </a:xfrm>
          <a:prstGeom prst="line">
            <a:avLst/>
          </a:prstGeom>
          <a:ln w="9525">
            <a:solidFill>
              <a:srgbClr val="DDE3E8"/>
            </a:solidFill>
          </a:ln>
        </p:spPr>
      </p:cxnSp>
      <p:sp>
        <p:nvSpPr>
          <p:cNvPr id="83" name="TextBox 83"/>
          <p:cNvSpPr txBox="1"/>
          <p:nvPr/>
        </p:nvSpPr>
        <p:spPr>
          <a:xfrm>
            <a:off x="804671" y="3149600"/>
            <a:ext cx="621792" cy="274320"/>
          </a:xfrm>
          <a:prstGeom prst="rect">
            <a:avLst/>
          </a:prstGeom>
          <a:noFill/>
        </p:spPr>
        <p:txBody>
          <a:bodyPr wrap="square" lIns="0" tIns="0" rIns="0" bIns="0" anchor="t">
            <a:spAutoFit/>
          </a:bodyPr>
          <a:lstStyle/>
          <a:p>
            <a:pPr algn="r"/>
            <a:r>
              <a:rPr sz="1300" b="0" i="0">
                <a:solidFill>
                  <a:srgbClr val="55606B"/>
                </a:solidFill>
              </a:rPr>
              <a:t>5</a:t>
            </a:r>
          </a:p>
        </p:txBody>
      </p:sp>
      <p:cxnSp>
        <p:nvCxnSpPr>
          <p:cNvPr id="84" name="Connector 84"/>
          <p:cNvCxnSpPr/>
          <p:nvPr/>
        </p:nvCxnSpPr>
        <p:spPr>
          <a:xfrm>
            <a:off x="1490472" y="2865120"/>
            <a:ext cx="5669280" cy="0"/>
          </a:xfrm>
          <a:prstGeom prst="line">
            <a:avLst/>
          </a:prstGeom>
          <a:ln w="9525">
            <a:solidFill>
              <a:srgbClr val="DDE3E8"/>
            </a:solidFill>
          </a:ln>
        </p:spPr>
      </p:cxnSp>
      <p:sp>
        <p:nvSpPr>
          <p:cNvPr id="85" name="TextBox 85"/>
          <p:cNvSpPr txBox="1"/>
          <p:nvPr/>
        </p:nvSpPr>
        <p:spPr>
          <a:xfrm>
            <a:off x="804671" y="2727960"/>
            <a:ext cx="621792" cy="274320"/>
          </a:xfrm>
          <a:prstGeom prst="rect">
            <a:avLst/>
          </a:prstGeom>
          <a:noFill/>
        </p:spPr>
        <p:txBody>
          <a:bodyPr wrap="square" lIns="0" tIns="0" rIns="0" bIns="0" anchor="t">
            <a:spAutoFit/>
          </a:bodyPr>
          <a:lstStyle/>
          <a:p>
            <a:pPr algn="r"/>
            <a:r>
              <a:rPr sz="1300" b="0" i="0">
                <a:solidFill>
                  <a:srgbClr val="55606B"/>
                </a:solidFill>
              </a:rPr>
              <a:t>6</a:t>
            </a:r>
          </a:p>
        </p:txBody>
      </p:sp>
      <p:cxnSp>
        <p:nvCxnSpPr>
          <p:cNvPr id="86" name="Connector 86"/>
          <p:cNvCxnSpPr/>
          <p:nvPr/>
        </p:nvCxnSpPr>
        <p:spPr>
          <a:xfrm>
            <a:off x="1490472" y="2443480"/>
            <a:ext cx="5669280" cy="0"/>
          </a:xfrm>
          <a:prstGeom prst="line">
            <a:avLst/>
          </a:prstGeom>
          <a:ln w="9525">
            <a:solidFill>
              <a:srgbClr val="DDE3E8"/>
            </a:solidFill>
          </a:ln>
        </p:spPr>
      </p:cxnSp>
      <p:sp>
        <p:nvSpPr>
          <p:cNvPr id="87" name="TextBox 87"/>
          <p:cNvSpPr txBox="1"/>
          <p:nvPr/>
        </p:nvSpPr>
        <p:spPr>
          <a:xfrm>
            <a:off x="804671" y="2306320"/>
            <a:ext cx="621792" cy="274320"/>
          </a:xfrm>
          <a:prstGeom prst="rect">
            <a:avLst/>
          </a:prstGeom>
          <a:noFill/>
        </p:spPr>
        <p:txBody>
          <a:bodyPr wrap="square" lIns="0" tIns="0" rIns="0" bIns="0" anchor="t">
            <a:spAutoFit/>
          </a:bodyPr>
          <a:lstStyle/>
          <a:p>
            <a:pPr algn="r"/>
            <a:r>
              <a:rPr sz="1300" b="0" i="0">
                <a:solidFill>
                  <a:srgbClr val="55606B"/>
                </a:solidFill>
              </a:rPr>
              <a:t>7</a:t>
            </a:r>
          </a:p>
        </p:txBody>
      </p:sp>
      <p:cxnSp>
        <p:nvCxnSpPr>
          <p:cNvPr id="88" name="Connector 88"/>
          <p:cNvCxnSpPr/>
          <p:nvPr/>
        </p:nvCxnSpPr>
        <p:spPr>
          <a:xfrm>
            <a:off x="1490472" y="2021840"/>
            <a:ext cx="5669280" cy="0"/>
          </a:xfrm>
          <a:prstGeom prst="line">
            <a:avLst/>
          </a:prstGeom>
          <a:ln w="9525">
            <a:solidFill>
              <a:srgbClr val="DDE3E8"/>
            </a:solidFill>
          </a:ln>
        </p:spPr>
      </p:cxnSp>
      <p:sp>
        <p:nvSpPr>
          <p:cNvPr id="89" name="TextBox 89"/>
          <p:cNvSpPr txBox="1"/>
          <p:nvPr/>
        </p:nvSpPr>
        <p:spPr>
          <a:xfrm>
            <a:off x="804671" y="1884680"/>
            <a:ext cx="621792" cy="274320"/>
          </a:xfrm>
          <a:prstGeom prst="rect">
            <a:avLst/>
          </a:prstGeom>
          <a:noFill/>
        </p:spPr>
        <p:txBody>
          <a:bodyPr wrap="square" lIns="0" tIns="0" rIns="0" bIns="0" anchor="t">
            <a:spAutoFit/>
          </a:bodyPr>
          <a:lstStyle/>
          <a:p>
            <a:pPr algn="r"/>
            <a:r>
              <a:rPr sz="1300" b="0" i="0">
                <a:solidFill>
                  <a:srgbClr val="55606B"/>
                </a:solidFill>
              </a:rPr>
              <a:t>8</a:t>
            </a:r>
          </a:p>
        </p:txBody>
      </p:sp>
      <p:cxnSp>
        <p:nvCxnSpPr>
          <p:cNvPr id="90" name="Connector 90"/>
          <p:cNvCxnSpPr/>
          <p:nvPr/>
        </p:nvCxnSpPr>
        <p:spPr>
          <a:xfrm>
            <a:off x="1490472" y="1600200"/>
            <a:ext cx="5669280" cy="0"/>
          </a:xfrm>
          <a:prstGeom prst="line">
            <a:avLst/>
          </a:prstGeom>
          <a:ln w="9525">
            <a:solidFill>
              <a:srgbClr val="DDE3E8"/>
            </a:solidFill>
          </a:ln>
        </p:spPr>
      </p:cxnSp>
      <p:sp>
        <p:nvSpPr>
          <p:cNvPr id="91" name="TextBox 91"/>
          <p:cNvSpPr txBox="1"/>
          <p:nvPr/>
        </p:nvSpPr>
        <p:spPr>
          <a:xfrm>
            <a:off x="804671" y="1463040"/>
            <a:ext cx="621792" cy="274320"/>
          </a:xfrm>
          <a:prstGeom prst="rect">
            <a:avLst/>
          </a:prstGeom>
          <a:noFill/>
        </p:spPr>
        <p:txBody>
          <a:bodyPr wrap="square" lIns="0" tIns="0" rIns="0" bIns="0" anchor="t">
            <a:spAutoFit/>
          </a:bodyPr>
          <a:lstStyle/>
          <a:p>
            <a:pPr algn="r"/>
            <a:r>
              <a:rPr sz="1300" b="0" i="0">
                <a:solidFill>
                  <a:srgbClr val="55606B"/>
                </a:solidFill>
              </a:rPr>
              <a:t>9</a:t>
            </a:r>
          </a:p>
        </p:txBody>
      </p:sp>
      <p:cxnSp>
        <p:nvCxnSpPr>
          <p:cNvPr id="92" name="Connector 92"/>
          <p:cNvCxnSpPr/>
          <p:nvPr/>
        </p:nvCxnSpPr>
        <p:spPr>
          <a:xfrm>
            <a:off x="1490472" y="5394960"/>
            <a:ext cx="0" cy="64008"/>
          </a:xfrm>
          <a:prstGeom prst="line">
            <a:avLst/>
          </a:prstGeom>
          <a:ln w="15875">
            <a:solidFill>
              <a:srgbClr val="BBC4CC"/>
            </a:solidFill>
          </a:ln>
        </p:spPr>
      </p:cxnSp>
      <p:sp>
        <p:nvSpPr>
          <p:cNvPr id="93" name="TextBox 93"/>
          <p:cNvSpPr txBox="1"/>
          <p:nvPr/>
        </p:nvSpPr>
        <p:spPr>
          <a:xfrm>
            <a:off x="941831" y="5468112"/>
            <a:ext cx="1097280" cy="274320"/>
          </a:xfrm>
          <a:prstGeom prst="rect">
            <a:avLst/>
          </a:prstGeom>
          <a:noFill/>
        </p:spPr>
        <p:txBody>
          <a:bodyPr wrap="square" lIns="0" tIns="0" rIns="0" bIns="0" anchor="t">
            <a:spAutoFit/>
          </a:bodyPr>
          <a:lstStyle/>
          <a:p>
            <a:pPr algn="ctr"/>
            <a:r>
              <a:rPr sz="1300" b="0" i="0">
                <a:solidFill>
                  <a:srgbClr val="55606B"/>
                </a:solidFill>
              </a:rPr>
              <a:t>0</a:t>
            </a:r>
          </a:p>
        </p:txBody>
      </p:sp>
      <p:cxnSp>
        <p:nvCxnSpPr>
          <p:cNvPr id="94" name="Connector 94"/>
          <p:cNvCxnSpPr/>
          <p:nvPr/>
        </p:nvCxnSpPr>
        <p:spPr>
          <a:xfrm>
            <a:off x="2030403" y="5394960"/>
            <a:ext cx="0" cy="64008"/>
          </a:xfrm>
          <a:prstGeom prst="line">
            <a:avLst/>
          </a:prstGeom>
          <a:ln w="15875">
            <a:solidFill>
              <a:srgbClr val="BBC4CC"/>
            </a:solidFill>
          </a:ln>
        </p:spPr>
      </p:cxnSp>
      <p:sp>
        <p:nvSpPr>
          <p:cNvPr id="95" name="TextBox 95"/>
          <p:cNvSpPr txBox="1"/>
          <p:nvPr/>
        </p:nvSpPr>
        <p:spPr>
          <a:xfrm>
            <a:off x="1481762" y="5468112"/>
            <a:ext cx="1097280" cy="274320"/>
          </a:xfrm>
          <a:prstGeom prst="rect">
            <a:avLst/>
          </a:prstGeom>
          <a:noFill/>
        </p:spPr>
        <p:txBody>
          <a:bodyPr wrap="square" lIns="0" tIns="0" rIns="0" bIns="0" anchor="t">
            <a:spAutoFit/>
          </a:bodyPr>
          <a:lstStyle/>
          <a:p>
            <a:pPr algn="ctr"/>
            <a:r>
              <a:rPr sz="1300" b="0" i="0">
                <a:solidFill>
                  <a:srgbClr val="55606B"/>
                </a:solidFill>
              </a:rPr>
              <a:t>2</a:t>
            </a:r>
          </a:p>
        </p:txBody>
      </p:sp>
      <p:cxnSp>
        <p:nvCxnSpPr>
          <p:cNvPr id="96" name="Connector 96"/>
          <p:cNvCxnSpPr/>
          <p:nvPr/>
        </p:nvCxnSpPr>
        <p:spPr>
          <a:xfrm>
            <a:off x="2570335" y="5394960"/>
            <a:ext cx="0" cy="64008"/>
          </a:xfrm>
          <a:prstGeom prst="line">
            <a:avLst/>
          </a:prstGeom>
          <a:ln w="15875">
            <a:solidFill>
              <a:srgbClr val="BBC4CC"/>
            </a:solidFill>
          </a:ln>
        </p:spPr>
      </p:cxnSp>
      <p:sp>
        <p:nvSpPr>
          <p:cNvPr id="97" name="TextBox 97"/>
          <p:cNvSpPr txBox="1"/>
          <p:nvPr/>
        </p:nvSpPr>
        <p:spPr>
          <a:xfrm>
            <a:off x="2021694" y="5468112"/>
            <a:ext cx="1097280" cy="274320"/>
          </a:xfrm>
          <a:prstGeom prst="rect">
            <a:avLst/>
          </a:prstGeom>
          <a:noFill/>
        </p:spPr>
        <p:txBody>
          <a:bodyPr wrap="square" lIns="0" tIns="0" rIns="0" bIns="0" anchor="t">
            <a:spAutoFit/>
          </a:bodyPr>
          <a:lstStyle/>
          <a:p>
            <a:pPr algn="ctr"/>
            <a:r>
              <a:rPr sz="1300" b="0" i="0">
                <a:solidFill>
                  <a:srgbClr val="55606B"/>
                </a:solidFill>
              </a:rPr>
              <a:t>4</a:t>
            </a:r>
          </a:p>
        </p:txBody>
      </p:sp>
      <p:cxnSp>
        <p:nvCxnSpPr>
          <p:cNvPr id="98" name="Connector 98"/>
          <p:cNvCxnSpPr/>
          <p:nvPr/>
        </p:nvCxnSpPr>
        <p:spPr>
          <a:xfrm>
            <a:off x="3110266" y="5394960"/>
            <a:ext cx="0" cy="64008"/>
          </a:xfrm>
          <a:prstGeom prst="line">
            <a:avLst/>
          </a:prstGeom>
          <a:ln w="15875">
            <a:solidFill>
              <a:srgbClr val="BBC4CC"/>
            </a:solidFill>
          </a:ln>
        </p:spPr>
      </p:cxnSp>
      <p:sp>
        <p:nvSpPr>
          <p:cNvPr id="99" name="TextBox 99"/>
          <p:cNvSpPr txBox="1"/>
          <p:nvPr/>
        </p:nvSpPr>
        <p:spPr>
          <a:xfrm>
            <a:off x="2561625" y="5468112"/>
            <a:ext cx="1097280" cy="274320"/>
          </a:xfrm>
          <a:prstGeom prst="rect">
            <a:avLst/>
          </a:prstGeom>
          <a:noFill/>
        </p:spPr>
        <p:txBody>
          <a:bodyPr wrap="square" lIns="0" tIns="0" rIns="0" bIns="0" anchor="t">
            <a:spAutoFit/>
          </a:bodyPr>
          <a:lstStyle/>
          <a:p>
            <a:pPr algn="ctr"/>
            <a:r>
              <a:rPr sz="1300" b="0" i="0">
                <a:solidFill>
                  <a:srgbClr val="55606B"/>
                </a:solidFill>
              </a:rPr>
              <a:t>6</a:t>
            </a:r>
          </a:p>
        </p:txBody>
      </p:sp>
      <p:cxnSp>
        <p:nvCxnSpPr>
          <p:cNvPr id="100" name="Connector 100"/>
          <p:cNvCxnSpPr/>
          <p:nvPr/>
        </p:nvCxnSpPr>
        <p:spPr>
          <a:xfrm>
            <a:off x="3650198" y="5394960"/>
            <a:ext cx="0" cy="64008"/>
          </a:xfrm>
          <a:prstGeom prst="line">
            <a:avLst/>
          </a:prstGeom>
          <a:ln w="15875">
            <a:solidFill>
              <a:srgbClr val="BBC4CC"/>
            </a:solidFill>
          </a:ln>
        </p:spPr>
      </p:cxnSp>
      <p:sp>
        <p:nvSpPr>
          <p:cNvPr id="101" name="TextBox 101"/>
          <p:cNvSpPr txBox="1"/>
          <p:nvPr/>
        </p:nvSpPr>
        <p:spPr>
          <a:xfrm>
            <a:off x="3101557" y="5468112"/>
            <a:ext cx="1097280" cy="274320"/>
          </a:xfrm>
          <a:prstGeom prst="rect">
            <a:avLst/>
          </a:prstGeom>
          <a:noFill/>
        </p:spPr>
        <p:txBody>
          <a:bodyPr wrap="square" lIns="0" tIns="0" rIns="0" bIns="0" anchor="t">
            <a:spAutoFit/>
          </a:bodyPr>
          <a:lstStyle/>
          <a:p>
            <a:pPr algn="ctr"/>
            <a:r>
              <a:rPr sz="1300" b="0" i="0">
                <a:solidFill>
                  <a:srgbClr val="55606B"/>
                </a:solidFill>
              </a:rPr>
              <a:t>8</a:t>
            </a:r>
          </a:p>
        </p:txBody>
      </p:sp>
      <p:cxnSp>
        <p:nvCxnSpPr>
          <p:cNvPr id="102" name="Connector 102"/>
          <p:cNvCxnSpPr/>
          <p:nvPr/>
        </p:nvCxnSpPr>
        <p:spPr>
          <a:xfrm>
            <a:off x="4190129" y="5394960"/>
            <a:ext cx="0" cy="64008"/>
          </a:xfrm>
          <a:prstGeom prst="line">
            <a:avLst/>
          </a:prstGeom>
          <a:ln w="15875">
            <a:solidFill>
              <a:srgbClr val="BBC4CC"/>
            </a:solidFill>
          </a:ln>
        </p:spPr>
      </p:cxnSp>
      <p:sp>
        <p:nvSpPr>
          <p:cNvPr id="103" name="TextBox 103"/>
          <p:cNvSpPr txBox="1"/>
          <p:nvPr/>
        </p:nvSpPr>
        <p:spPr>
          <a:xfrm>
            <a:off x="3641488" y="5468112"/>
            <a:ext cx="1097280" cy="274320"/>
          </a:xfrm>
          <a:prstGeom prst="rect">
            <a:avLst/>
          </a:prstGeom>
          <a:noFill/>
        </p:spPr>
        <p:txBody>
          <a:bodyPr wrap="square" lIns="0" tIns="0" rIns="0" bIns="0" anchor="t">
            <a:spAutoFit/>
          </a:bodyPr>
          <a:lstStyle/>
          <a:p>
            <a:pPr algn="ctr"/>
            <a:r>
              <a:rPr sz="1300" b="0" i="0">
                <a:solidFill>
                  <a:srgbClr val="55606B"/>
                </a:solidFill>
              </a:rPr>
              <a:t>10</a:t>
            </a:r>
          </a:p>
        </p:txBody>
      </p:sp>
      <p:cxnSp>
        <p:nvCxnSpPr>
          <p:cNvPr id="104" name="Connector 104"/>
          <p:cNvCxnSpPr/>
          <p:nvPr/>
        </p:nvCxnSpPr>
        <p:spPr>
          <a:xfrm>
            <a:off x="4730061" y="5394960"/>
            <a:ext cx="0" cy="64008"/>
          </a:xfrm>
          <a:prstGeom prst="line">
            <a:avLst/>
          </a:prstGeom>
          <a:ln w="15875">
            <a:solidFill>
              <a:srgbClr val="BBC4CC"/>
            </a:solidFill>
          </a:ln>
        </p:spPr>
      </p:cxnSp>
      <p:sp>
        <p:nvSpPr>
          <p:cNvPr id="105" name="TextBox 105"/>
          <p:cNvSpPr txBox="1"/>
          <p:nvPr/>
        </p:nvSpPr>
        <p:spPr>
          <a:xfrm>
            <a:off x="4181420" y="5468112"/>
            <a:ext cx="1097280" cy="274320"/>
          </a:xfrm>
          <a:prstGeom prst="rect">
            <a:avLst/>
          </a:prstGeom>
          <a:noFill/>
        </p:spPr>
        <p:txBody>
          <a:bodyPr wrap="square" lIns="0" tIns="0" rIns="0" bIns="0" anchor="t">
            <a:spAutoFit/>
          </a:bodyPr>
          <a:lstStyle/>
          <a:p>
            <a:pPr algn="ctr"/>
            <a:r>
              <a:rPr sz="1300" b="0" i="0">
                <a:solidFill>
                  <a:srgbClr val="55606B"/>
                </a:solidFill>
              </a:rPr>
              <a:t>12</a:t>
            </a:r>
          </a:p>
        </p:txBody>
      </p:sp>
      <p:cxnSp>
        <p:nvCxnSpPr>
          <p:cNvPr id="106" name="Connector 106"/>
          <p:cNvCxnSpPr/>
          <p:nvPr/>
        </p:nvCxnSpPr>
        <p:spPr>
          <a:xfrm>
            <a:off x="5269992" y="5394960"/>
            <a:ext cx="0" cy="64008"/>
          </a:xfrm>
          <a:prstGeom prst="line">
            <a:avLst/>
          </a:prstGeom>
          <a:ln w="15875">
            <a:solidFill>
              <a:srgbClr val="BBC4CC"/>
            </a:solidFill>
          </a:ln>
        </p:spPr>
      </p:cxnSp>
      <p:sp>
        <p:nvSpPr>
          <p:cNvPr id="107" name="TextBox 107"/>
          <p:cNvSpPr txBox="1"/>
          <p:nvPr/>
        </p:nvSpPr>
        <p:spPr>
          <a:xfrm>
            <a:off x="4721351" y="5468112"/>
            <a:ext cx="1097280" cy="274320"/>
          </a:xfrm>
          <a:prstGeom prst="rect">
            <a:avLst/>
          </a:prstGeom>
          <a:noFill/>
        </p:spPr>
        <p:txBody>
          <a:bodyPr wrap="square" lIns="0" tIns="0" rIns="0" bIns="0" anchor="t">
            <a:spAutoFit/>
          </a:bodyPr>
          <a:lstStyle/>
          <a:p>
            <a:pPr algn="ctr"/>
            <a:r>
              <a:rPr sz="1300" b="0" i="0">
                <a:solidFill>
                  <a:srgbClr val="55606B"/>
                </a:solidFill>
              </a:rPr>
              <a:t>14</a:t>
            </a:r>
          </a:p>
        </p:txBody>
      </p:sp>
      <p:cxnSp>
        <p:nvCxnSpPr>
          <p:cNvPr id="108" name="Connector 108"/>
          <p:cNvCxnSpPr/>
          <p:nvPr/>
        </p:nvCxnSpPr>
        <p:spPr>
          <a:xfrm>
            <a:off x="5809923" y="5394960"/>
            <a:ext cx="0" cy="64008"/>
          </a:xfrm>
          <a:prstGeom prst="line">
            <a:avLst/>
          </a:prstGeom>
          <a:ln w="15875">
            <a:solidFill>
              <a:srgbClr val="BBC4CC"/>
            </a:solidFill>
          </a:ln>
        </p:spPr>
      </p:cxnSp>
      <p:sp>
        <p:nvSpPr>
          <p:cNvPr id="109" name="TextBox 109"/>
          <p:cNvSpPr txBox="1"/>
          <p:nvPr/>
        </p:nvSpPr>
        <p:spPr>
          <a:xfrm>
            <a:off x="5261282" y="5468112"/>
            <a:ext cx="1097280" cy="274320"/>
          </a:xfrm>
          <a:prstGeom prst="rect">
            <a:avLst/>
          </a:prstGeom>
          <a:noFill/>
        </p:spPr>
        <p:txBody>
          <a:bodyPr wrap="square" lIns="0" tIns="0" rIns="0" bIns="0" anchor="t">
            <a:spAutoFit/>
          </a:bodyPr>
          <a:lstStyle/>
          <a:p>
            <a:pPr algn="ctr"/>
            <a:r>
              <a:rPr sz="1300" b="0" i="0">
                <a:solidFill>
                  <a:srgbClr val="55606B"/>
                </a:solidFill>
              </a:rPr>
              <a:t>16</a:t>
            </a:r>
          </a:p>
        </p:txBody>
      </p:sp>
      <p:cxnSp>
        <p:nvCxnSpPr>
          <p:cNvPr id="110" name="Connector 110"/>
          <p:cNvCxnSpPr/>
          <p:nvPr/>
        </p:nvCxnSpPr>
        <p:spPr>
          <a:xfrm>
            <a:off x="6349855" y="5394960"/>
            <a:ext cx="0" cy="64008"/>
          </a:xfrm>
          <a:prstGeom prst="line">
            <a:avLst/>
          </a:prstGeom>
          <a:ln w="15875">
            <a:solidFill>
              <a:srgbClr val="BBC4CC"/>
            </a:solidFill>
          </a:ln>
        </p:spPr>
      </p:cxnSp>
      <p:sp>
        <p:nvSpPr>
          <p:cNvPr id="111" name="TextBox 111"/>
          <p:cNvSpPr txBox="1"/>
          <p:nvPr/>
        </p:nvSpPr>
        <p:spPr>
          <a:xfrm>
            <a:off x="5801214" y="5468112"/>
            <a:ext cx="1097280" cy="274320"/>
          </a:xfrm>
          <a:prstGeom prst="rect">
            <a:avLst/>
          </a:prstGeom>
          <a:noFill/>
        </p:spPr>
        <p:txBody>
          <a:bodyPr wrap="square" lIns="0" tIns="0" rIns="0" bIns="0" anchor="t">
            <a:spAutoFit/>
          </a:bodyPr>
          <a:lstStyle/>
          <a:p>
            <a:pPr algn="ctr"/>
            <a:r>
              <a:rPr sz="1300" b="0" i="0">
                <a:solidFill>
                  <a:srgbClr val="55606B"/>
                </a:solidFill>
              </a:rPr>
              <a:t>18</a:t>
            </a:r>
          </a:p>
        </p:txBody>
      </p:sp>
      <p:cxnSp>
        <p:nvCxnSpPr>
          <p:cNvPr id="112" name="Connector 112"/>
          <p:cNvCxnSpPr/>
          <p:nvPr/>
        </p:nvCxnSpPr>
        <p:spPr>
          <a:xfrm>
            <a:off x="6889786" y="5394960"/>
            <a:ext cx="0" cy="64008"/>
          </a:xfrm>
          <a:prstGeom prst="line">
            <a:avLst/>
          </a:prstGeom>
          <a:ln w="15875">
            <a:solidFill>
              <a:srgbClr val="BBC4CC"/>
            </a:solidFill>
          </a:ln>
        </p:spPr>
      </p:cxnSp>
      <p:sp>
        <p:nvSpPr>
          <p:cNvPr id="113" name="TextBox 113"/>
          <p:cNvSpPr txBox="1"/>
          <p:nvPr/>
        </p:nvSpPr>
        <p:spPr>
          <a:xfrm>
            <a:off x="6341145" y="5468112"/>
            <a:ext cx="1097280" cy="274320"/>
          </a:xfrm>
          <a:prstGeom prst="rect">
            <a:avLst/>
          </a:prstGeom>
          <a:noFill/>
        </p:spPr>
        <p:txBody>
          <a:bodyPr wrap="square" lIns="0" tIns="0" rIns="0" bIns="0" anchor="t">
            <a:spAutoFit/>
          </a:bodyPr>
          <a:lstStyle/>
          <a:p>
            <a:pPr algn="ctr"/>
            <a:r>
              <a:rPr sz="1300" b="0" i="0">
                <a:solidFill>
                  <a:srgbClr val="55606B"/>
                </a:solidFill>
              </a:rPr>
              <a:t>20</a:t>
            </a:r>
          </a:p>
        </p:txBody>
      </p:sp>
      <p:sp>
        <p:nvSpPr>
          <p:cNvPr id="23" name="TextBox 22"/>
          <p:cNvSpPr txBox="1"/>
          <p:nvPr/>
        </p:nvSpPr>
        <p:spPr>
          <a:xfrm>
            <a:off x="758952" y="5669280"/>
            <a:ext cx="3657600" cy="274320"/>
          </a:xfrm>
          <a:prstGeom prst="rect">
            <a:avLst/>
          </a:prstGeom>
          <a:noFill/>
        </p:spPr>
        <p:txBody>
          <a:bodyPr wrap="square" lIns="0" tIns="0" rIns="0" bIns="0" anchor="t">
            <a:spAutoFit/>
          </a:bodyPr>
          <a:lstStyle/>
          <a:p>
            <a:pPr algn="l"/>
            <a:r>
              <a:rPr sz="1300" b="0" i="0">
                <a:solidFill>
                  <a:srgbClr val="55606B"/>
                </a:solidFill>
              </a:rPr>
              <a:t>y-axis: trust (0 to 10)</a:t>
            </a:r>
          </a:p>
        </p:txBody>
      </p:sp>
      <p:cxnSp>
        <p:nvCxnSpPr>
          <p:cNvPr id="24" name="Connector 23"/>
          <p:cNvCxnSpPr/>
          <p:nvPr/>
        </p:nvCxnSpPr>
        <p:spPr>
          <a:xfrm>
            <a:off x="1490472" y="5394960"/>
            <a:ext cx="5669280" cy="0"/>
          </a:xfrm>
          <a:prstGeom prst="line">
            <a:avLst/>
          </a:prstGeom>
          <a:ln w="15875">
            <a:solidFill>
              <a:srgbClr val="BBC4CC"/>
            </a:solidFill>
          </a:ln>
        </p:spPr>
      </p:cxnSp>
      <p:sp>
        <p:nvSpPr>
          <p:cNvPr id="39" name="TextBox 38"/>
          <p:cNvSpPr txBox="1"/>
          <p:nvPr/>
        </p:nvSpPr>
        <p:spPr>
          <a:xfrm>
            <a:off x="1490472" y="5742432"/>
            <a:ext cx="5669280" cy="274320"/>
          </a:xfrm>
          <a:prstGeom prst="rect">
            <a:avLst/>
          </a:prstGeom>
          <a:noFill/>
        </p:spPr>
        <p:txBody>
          <a:bodyPr wrap="square" lIns="0" tIns="0" rIns="0" bIns="0" anchor="t">
            <a:spAutoFit/>
          </a:bodyPr>
          <a:lstStyle/>
          <a:p>
            <a:pPr algn="ctr"/>
            <a:r>
              <a:rPr sz="1300" b="0" i="0">
                <a:solidFill>
                  <a:srgbClr val="55606B"/>
                </a:solidFill>
              </a:rPr>
              <a:t>Years of education</a:t>
            </a:r>
          </a:p>
        </p:txBody>
      </p:sp>
      <p:cxnSp>
        <p:nvCxnSpPr>
          <p:cNvPr id="40" name="Connector 39"/>
          <p:cNvCxnSpPr/>
          <p:nvPr/>
        </p:nvCxnSpPr>
        <p:spPr>
          <a:xfrm flipV="1">
            <a:off x="3920163" y="2327177"/>
            <a:ext cx="2969623" cy="1366970"/>
          </a:xfrm>
          <a:prstGeom prst="line">
            <a:avLst/>
          </a:prstGeom>
          <a:ln w="38100">
            <a:solidFill>
              <a:srgbClr val="1F394D"/>
            </a:solidFill>
          </a:ln>
        </p:spPr>
      </p:cxnSp>
      <p:cxnSp>
        <p:nvCxnSpPr>
          <p:cNvPr id="114" name="Connector 114"/>
          <p:cNvCxnSpPr/>
          <p:nvPr/>
        </p:nvCxnSpPr>
        <p:spPr>
          <a:xfrm flipV="1">
            <a:off x="1490472" y="3694147"/>
            <a:ext cx="2429691" cy="1118429"/>
          </a:xfrm>
          <a:prstGeom prst="line">
            <a:avLst/>
          </a:prstGeom>
          <a:ln w="28575">
            <a:solidFill>
              <a:srgbClr val="1F394D"/>
            </a:solidFill>
            <a:prstDash val="dash"/>
          </a:ln>
        </p:spPr>
      </p:cxnSp>
      <p:cxnSp>
        <p:nvCxnSpPr>
          <p:cNvPr id="41" name="Connector 40"/>
          <p:cNvCxnSpPr/>
          <p:nvPr/>
        </p:nvCxnSpPr>
        <p:spPr>
          <a:xfrm flipV="1">
            <a:off x="3920163" y="3694064"/>
            <a:ext cx="0" cy="267320"/>
          </a:xfrm>
          <a:prstGeom prst="line">
            <a:avLst/>
          </a:prstGeom>
          <a:ln w="25400">
            <a:solidFill>
              <a:srgbClr val="B88C00"/>
            </a:solidFill>
          </a:ln>
        </p:spPr>
      </p:cxnSp>
      <p:cxnSp>
        <p:nvCxnSpPr>
          <p:cNvPr id="42" name="Connector 41"/>
          <p:cNvCxnSpPr/>
          <p:nvPr/>
        </p:nvCxnSpPr>
        <p:spPr>
          <a:xfrm>
            <a:off x="4190129" y="3455415"/>
            <a:ext cx="0" cy="114265"/>
          </a:xfrm>
          <a:prstGeom prst="line">
            <a:avLst/>
          </a:prstGeom>
          <a:ln w="25400">
            <a:solidFill>
              <a:srgbClr val="B88C00"/>
            </a:solidFill>
          </a:ln>
        </p:spPr>
      </p:cxnSp>
      <p:cxnSp>
        <p:nvCxnSpPr>
          <p:cNvPr id="43" name="Connector 42"/>
          <p:cNvCxnSpPr/>
          <p:nvPr/>
        </p:nvCxnSpPr>
        <p:spPr>
          <a:xfrm>
            <a:off x="4460095" y="3328924"/>
            <a:ext cx="0" cy="116794"/>
          </a:xfrm>
          <a:prstGeom prst="line">
            <a:avLst/>
          </a:prstGeom>
          <a:ln w="25400">
            <a:solidFill>
              <a:srgbClr val="B88C00"/>
            </a:solidFill>
          </a:ln>
        </p:spPr>
      </p:cxnSp>
      <p:cxnSp>
        <p:nvCxnSpPr>
          <p:cNvPr id="44" name="Connector 43"/>
          <p:cNvCxnSpPr/>
          <p:nvPr/>
        </p:nvCxnSpPr>
        <p:spPr>
          <a:xfrm flipV="1">
            <a:off x="4460095" y="3445718"/>
            <a:ext cx="0" cy="262681"/>
          </a:xfrm>
          <a:prstGeom prst="line">
            <a:avLst/>
          </a:prstGeom>
          <a:ln w="25400">
            <a:solidFill>
              <a:srgbClr val="B88C00"/>
            </a:solidFill>
          </a:ln>
        </p:spPr>
      </p:cxnSp>
      <p:cxnSp>
        <p:nvCxnSpPr>
          <p:cNvPr id="45" name="Connector 44"/>
          <p:cNvCxnSpPr/>
          <p:nvPr/>
        </p:nvCxnSpPr>
        <p:spPr>
          <a:xfrm>
            <a:off x="4730060" y="3033776"/>
            <a:ext cx="0" cy="287558"/>
          </a:xfrm>
          <a:prstGeom prst="line">
            <a:avLst/>
          </a:prstGeom>
          <a:ln w="25400">
            <a:solidFill>
              <a:srgbClr val="B88C00"/>
            </a:solidFill>
          </a:ln>
        </p:spPr>
      </p:cxnSp>
      <p:cxnSp>
        <p:nvCxnSpPr>
          <p:cNvPr id="46" name="Connector 45"/>
          <p:cNvCxnSpPr/>
          <p:nvPr/>
        </p:nvCxnSpPr>
        <p:spPr>
          <a:xfrm flipV="1">
            <a:off x="5000026" y="3196951"/>
            <a:ext cx="0" cy="5481"/>
          </a:xfrm>
          <a:prstGeom prst="line">
            <a:avLst/>
          </a:prstGeom>
          <a:ln w="25400">
            <a:solidFill>
              <a:srgbClr val="B88C00"/>
            </a:solidFill>
          </a:ln>
        </p:spPr>
      </p:cxnSp>
      <p:cxnSp>
        <p:nvCxnSpPr>
          <p:cNvPr id="47" name="Connector 46"/>
          <p:cNvCxnSpPr/>
          <p:nvPr/>
        </p:nvCxnSpPr>
        <p:spPr>
          <a:xfrm flipV="1">
            <a:off x="5269992" y="3072988"/>
            <a:ext cx="0" cy="171608"/>
          </a:xfrm>
          <a:prstGeom prst="line">
            <a:avLst/>
          </a:prstGeom>
          <a:ln w="25400">
            <a:solidFill>
              <a:srgbClr val="B88C00"/>
            </a:solidFill>
          </a:ln>
        </p:spPr>
      </p:cxnSp>
      <p:cxnSp>
        <p:nvCxnSpPr>
          <p:cNvPr id="48" name="Connector 47"/>
          <p:cNvCxnSpPr/>
          <p:nvPr/>
        </p:nvCxnSpPr>
        <p:spPr>
          <a:xfrm>
            <a:off x="5539958" y="2527807"/>
            <a:ext cx="0" cy="420798"/>
          </a:xfrm>
          <a:prstGeom prst="line">
            <a:avLst/>
          </a:prstGeom>
          <a:ln w="25400">
            <a:solidFill>
              <a:srgbClr val="B88C00"/>
            </a:solidFill>
          </a:ln>
        </p:spPr>
      </p:cxnSp>
      <p:cxnSp>
        <p:nvCxnSpPr>
          <p:cNvPr id="49" name="Connector 48"/>
          <p:cNvCxnSpPr/>
          <p:nvPr/>
        </p:nvCxnSpPr>
        <p:spPr>
          <a:xfrm>
            <a:off x="5809923" y="2738628"/>
            <a:ext cx="0" cy="85593"/>
          </a:xfrm>
          <a:prstGeom prst="line">
            <a:avLst/>
          </a:prstGeom>
          <a:ln w="25400">
            <a:solidFill>
              <a:srgbClr val="B88C00"/>
            </a:solidFill>
          </a:ln>
        </p:spPr>
      </p:cxnSp>
      <p:cxnSp>
        <p:nvCxnSpPr>
          <p:cNvPr id="50" name="Connector 49"/>
          <p:cNvCxnSpPr/>
          <p:nvPr/>
        </p:nvCxnSpPr>
        <p:spPr>
          <a:xfrm flipV="1">
            <a:off x="6079889" y="2699837"/>
            <a:ext cx="0" cy="333939"/>
          </a:xfrm>
          <a:prstGeom prst="line">
            <a:avLst/>
          </a:prstGeom>
          <a:ln w="25400">
            <a:solidFill>
              <a:srgbClr val="B88C00"/>
            </a:solidFill>
          </a:ln>
        </p:spPr>
      </p:cxnSp>
      <p:cxnSp>
        <p:nvCxnSpPr>
          <p:cNvPr id="51" name="Connector 50"/>
          <p:cNvCxnSpPr/>
          <p:nvPr/>
        </p:nvCxnSpPr>
        <p:spPr>
          <a:xfrm>
            <a:off x="6349854" y="2359152"/>
            <a:ext cx="0" cy="216723"/>
          </a:xfrm>
          <a:prstGeom prst="line">
            <a:avLst/>
          </a:prstGeom>
          <a:ln w="25400">
            <a:solidFill>
              <a:srgbClr val="B88C00"/>
            </a:solidFill>
          </a:ln>
        </p:spPr>
      </p:cxnSp>
      <p:cxnSp>
        <p:nvCxnSpPr>
          <p:cNvPr id="52" name="Connector 51"/>
          <p:cNvCxnSpPr/>
          <p:nvPr/>
        </p:nvCxnSpPr>
        <p:spPr>
          <a:xfrm flipV="1">
            <a:off x="6889786" y="2327107"/>
            <a:ext cx="0" cy="200700"/>
          </a:xfrm>
          <a:prstGeom prst="line">
            <a:avLst/>
          </a:prstGeom>
          <a:ln w="25400">
            <a:solidFill>
              <a:srgbClr val="B88C00"/>
            </a:solidFill>
          </a:ln>
        </p:spPr>
      </p:cxnSp>
      <p:sp>
        <p:nvSpPr>
          <p:cNvPr id="53" name="Oval 52"/>
          <p:cNvSpPr/>
          <p:nvPr/>
        </p:nvSpPr>
        <p:spPr>
          <a:xfrm>
            <a:off x="3847011" y="3888232"/>
            <a:ext cx="146304" cy="146304"/>
          </a:xfrm>
          <a:prstGeom prst="ellipse">
            <a:avLst/>
          </a:prstGeom>
          <a:solidFill>
            <a:srgbClr val="3F739B"/>
          </a:solidFill>
          <a:ln>
            <a:noFill/>
          </a:ln>
        </p:spPr>
        <p:txBody>
          <a:bodyPr rtlCol="0" anchor="ctr"/>
          <a:lstStyle/>
          <a:p>
            <a:pPr algn="ctr"/>
            <a:endParaRPr/>
          </a:p>
        </p:txBody>
      </p:sp>
      <p:sp>
        <p:nvSpPr>
          <p:cNvPr id="54" name="Oval 53"/>
          <p:cNvSpPr/>
          <p:nvPr/>
        </p:nvSpPr>
        <p:spPr>
          <a:xfrm>
            <a:off x="4116977" y="3382263"/>
            <a:ext cx="146304" cy="146304"/>
          </a:xfrm>
          <a:prstGeom prst="ellipse">
            <a:avLst/>
          </a:prstGeom>
          <a:solidFill>
            <a:srgbClr val="3F739B"/>
          </a:solidFill>
          <a:ln>
            <a:noFill/>
          </a:ln>
        </p:spPr>
        <p:txBody>
          <a:bodyPr rtlCol="0" anchor="ctr"/>
          <a:lstStyle/>
          <a:p>
            <a:pPr algn="ctr"/>
            <a:endParaRPr/>
          </a:p>
        </p:txBody>
      </p:sp>
      <p:sp>
        <p:nvSpPr>
          <p:cNvPr id="55" name="Oval 54"/>
          <p:cNvSpPr/>
          <p:nvPr/>
        </p:nvSpPr>
        <p:spPr>
          <a:xfrm>
            <a:off x="4386943" y="3255772"/>
            <a:ext cx="146304" cy="146304"/>
          </a:xfrm>
          <a:prstGeom prst="ellipse">
            <a:avLst/>
          </a:prstGeom>
          <a:solidFill>
            <a:srgbClr val="3F739B"/>
          </a:solidFill>
          <a:ln>
            <a:noFill/>
          </a:ln>
        </p:spPr>
        <p:txBody>
          <a:bodyPr rtlCol="0" anchor="ctr"/>
          <a:lstStyle/>
          <a:p>
            <a:pPr algn="ctr"/>
            <a:endParaRPr/>
          </a:p>
        </p:txBody>
      </p:sp>
      <p:sp>
        <p:nvSpPr>
          <p:cNvPr id="56" name="Oval 55"/>
          <p:cNvSpPr/>
          <p:nvPr/>
        </p:nvSpPr>
        <p:spPr>
          <a:xfrm>
            <a:off x="4386943" y="3635247"/>
            <a:ext cx="146304" cy="146304"/>
          </a:xfrm>
          <a:prstGeom prst="ellipse">
            <a:avLst/>
          </a:prstGeom>
          <a:solidFill>
            <a:srgbClr val="3F739B"/>
          </a:solidFill>
          <a:ln>
            <a:noFill/>
          </a:ln>
        </p:spPr>
        <p:txBody>
          <a:bodyPr rtlCol="0" anchor="ctr"/>
          <a:lstStyle/>
          <a:p>
            <a:pPr algn="ctr"/>
            <a:endParaRPr/>
          </a:p>
        </p:txBody>
      </p:sp>
      <p:sp>
        <p:nvSpPr>
          <p:cNvPr id="57" name="Oval 56"/>
          <p:cNvSpPr/>
          <p:nvPr/>
        </p:nvSpPr>
        <p:spPr>
          <a:xfrm>
            <a:off x="4656908" y="2960624"/>
            <a:ext cx="146304" cy="146304"/>
          </a:xfrm>
          <a:prstGeom prst="ellipse">
            <a:avLst/>
          </a:prstGeom>
          <a:solidFill>
            <a:srgbClr val="3F739B"/>
          </a:solidFill>
          <a:ln>
            <a:noFill/>
          </a:ln>
        </p:spPr>
        <p:txBody>
          <a:bodyPr rtlCol="0" anchor="ctr"/>
          <a:lstStyle/>
          <a:p>
            <a:pPr algn="ctr"/>
            <a:endParaRPr/>
          </a:p>
        </p:txBody>
      </p:sp>
      <p:sp>
        <p:nvSpPr>
          <p:cNvPr id="58" name="Oval 57"/>
          <p:cNvSpPr/>
          <p:nvPr/>
        </p:nvSpPr>
        <p:spPr>
          <a:xfrm>
            <a:off x="4926874" y="3129280"/>
            <a:ext cx="146304" cy="146304"/>
          </a:xfrm>
          <a:prstGeom prst="ellipse">
            <a:avLst/>
          </a:prstGeom>
          <a:solidFill>
            <a:srgbClr val="3F739B"/>
          </a:solidFill>
          <a:ln>
            <a:noFill/>
          </a:ln>
        </p:spPr>
        <p:txBody>
          <a:bodyPr rtlCol="0" anchor="ctr"/>
          <a:lstStyle/>
          <a:p>
            <a:pPr algn="ctr"/>
            <a:endParaRPr/>
          </a:p>
        </p:txBody>
      </p:sp>
      <p:sp>
        <p:nvSpPr>
          <p:cNvPr id="59" name="Oval 58"/>
          <p:cNvSpPr/>
          <p:nvPr/>
        </p:nvSpPr>
        <p:spPr>
          <a:xfrm>
            <a:off x="5196840" y="3171444"/>
            <a:ext cx="146304" cy="146304"/>
          </a:xfrm>
          <a:prstGeom prst="ellipse">
            <a:avLst/>
          </a:prstGeom>
          <a:solidFill>
            <a:srgbClr val="3F739B"/>
          </a:solidFill>
          <a:ln>
            <a:noFill/>
          </a:ln>
        </p:spPr>
        <p:txBody>
          <a:bodyPr rtlCol="0" anchor="ctr"/>
          <a:lstStyle/>
          <a:p>
            <a:pPr algn="ctr"/>
            <a:endParaRPr/>
          </a:p>
        </p:txBody>
      </p:sp>
      <p:sp>
        <p:nvSpPr>
          <p:cNvPr id="60" name="Oval 59"/>
          <p:cNvSpPr/>
          <p:nvPr/>
        </p:nvSpPr>
        <p:spPr>
          <a:xfrm>
            <a:off x="5466806" y="2454655"/>
            <a:ext cx="146304" cy="146304"/>
          </a:xfrm>
          <a:prstGeom prst="ellipse">
            <a:avLst/>
          </a:prstGeom>
          <a:solidFill>
            <a:srgbClr val="3F739B"/>
          </a:solidFill>
          <a:ln>
            <a:noFill/>
          </a:ln>
        </p:spPr>
        <p:txBody>
          <a:bodyPr rtlCol="0" anchor="ctr"/>
          <a:lstStyle/>
          <a:p>
            <a:pPr algn="ctr"/>
            <a:endParaRPr/>
          </a:p>
        </p:txBody>
      </p:sp>
      <p:sp>
        <p:nvSpPr>
          <p:cNvPr id="61" name="Oval 60"/>
          <p:cNvSpPr/>
          <p:nvPr/>
        </p:nvSpPr>
        <p:spPr>
          <a:xfrm>
            <a:off x="5736771" y="2665476"/>
            <a:ext cx="146304" cy="146304"/>
          </a:xfrm>
          <a:prstGeom prst="ellipse">
            <a:avLst/>
          </a:prstGeom>
          <a:solidFill>
            <a:srgbClr val="3F739B"/>
          </a:solidFill>
          <a:ln>
            <a:noFill/>
          </a:ln>
        </p:spPr>
        <p:txBody>
          <a:bodyPr rtlCol="0" anchor="ctr"/>
          <a:lstStyle/>
          <a:p>
            <a:pPr algn="ctr"/>
            <a:endParaRPr/>
          </a:p>
        </p:txBody>
      </p:sp>
      <p:sp>
        <p:nvSpPr>
          <p:cNvPr id="62" name="Oval 61"/>
          <p:cNvSpPr/>
          <p:nvPr/>
        </p:nvSpPr>
        <p:spPr>
          <a:xfrm>
            <a:off x="6006737" y="2960624"/>
            <a:ext cx="146304" cy="146304"/>
          </a:xfrm>
          <a:prstGeom prst="ellipse">
            <a:avLst/>
          </a:prstGeom>
          <a:solidFill>
            <a:srgbClr val="3F739B"/>
          </a:solidFill>
          <a:ln>
            <a:noFill/>
          </a:ln>
        </p:spPr>
        <p:txBody>
          <a:bodyPr rtlCol="0" anchor="ctr"/>
          <a:lstStyle/>
          <a:p>
            <a:pPr algn="ctr"/>
            <a:endParaRPr/>
          </a:p>
        </p:txBody>
      </p:sp>
      <p:sp>
        <p:nvSpPr>
          <p:cNvPr id="63" name="Oval 62"/>
          <p:cNvSpPr/>
          <p:nvPr/>
        </p:nvSpPr>
        <p:spPr>
          <a:xfrm>
            <a:off x="6276702" y="2286000"/>
            <a:ext cx="146304" cy="146304"/>
          </a:xfrm>
          <a:prstGeom prst="ellipse">
            <a:avLst/>
          </a:prstGeom>
          <a:solidFill>
            <a:srgbClr val="3F739B"/>
          </a:solidFill>
          <a:ln>
            <a:noFill/>
          </a:ln>
        </p:spPr>
        <p:txBody>
          <a:bodyPr rtlCol="0" anchor="ctr"/>
          <a:lstStyle/>
          <a:p>
            <a:pPr algn="ctr"/>
            <a:endParaRPr/>
          </a:p>
        </p:txBody>
      </p:sp>
      <p:sp>
        <p:nvSpPr>
          <p:cNvPr id="64" name="Oval 63"/>
          <p:cNvSpPr/>
          <p:nvPr/>
        </p:nvSpPr>
        <p:spPr>
          <a:xfrm>
            <a:off x="6816634" y="2454655"/>
            <a:ext cx="146304" cy="146304"/>
          </a:xfrm>
          <a:prstGeom prst="ellipse">
            <a:avLst/>
          </a:prstGeom>
          <a:solidFill>
            <a:srgbClr val="3F739B"/>
          </a:solidFill>
          <a:ln>
            <a:noFill/>
          </a:ln>
        </p:spPr>
        <p:txBody>
          <a:bodyPr rtlCol="0" anchor="ctr"/>
          <a:lstStyle/>
          <a:p>
            <a:pPr algn="ctr"/>
            <a:endParaRPr/>
          </a:p>
        </p:txBody>
      </p:sp>
      <p:sp>
        <p:nvSpPr>
          <p:cNvPr id="115" name="Intercept dot"/>
          <p:cNvSpPr/>
          <p:nvPr/>
        </p:nvSpPr>
        <p:spPr>
          <a:xfrm>
            <a:off x="1403604" y="4725708"/>
            <a:ext cx="173736" cy="173736"/>
          </a:xfrm>
          <a:prstGeom prst="ellipse">
            <a:avLst/>
          </a:prstGeom>
          <a:solidFill>
            <a:srgbClr val="3F739B"/>
          </a:solidFill>
          <a:ln w="12700">
            <a:solidFill>
              <a:srgbClr val="FFFFFF"/>
            </a:solidFill>
          </a:ln>
        </p:spPr>
        <p:txBody>
          <a:bodyPr rtlCol="0" anchor="ctr"/>
          <a:lstStyle/>
          <a:p>
            <a:pPr algn="ctr"/>
            <a:endParaRPr/>
          </a:p>
        </p:txBody>
      </p:sp>
      <p:sp>
        <p:nvSpPr>
          <p:cNvPr id="116" name="Label"/>
          <p:cNvSpPr txBox="1"/>
          <p:nvPr/>
        </p:nvSpPr>
        <p:spPr>
          <a:xfrm>
            <a:off x="1618488" y="4830864"/>
            <a:ext cx="1828800" cy="292608"/>
          </a:xfrm>
          <a:prstGeom prst="rect">
            <a:avLst/>
          </a:prstGeom>
          <a:noFill/>
        </p:spPr>
        <p:txBody>
          <a:bodyPr wrap="square" lIns="0" tIns="0" rIns="0" bIns="0" anchor="t">
            <a:spAutoFit/>
          </a:bodyPr>
          <a:lstStyle/>
          <a:p>
            <a:pPr algn="l"/>
            <a:r>
              <a:rPr sz="1300" b="1" i="0">
                <a:solidFill>
                  <a:srgbClr val="3F739B"/>
                </a:solidFill>
              </a:rPr>
              <a:t>1.38 (intercept)</a:t>
            </a:r>
          </a:p>
        </p:txBody>
      </p:sp>
      <p:sp>
        <p:nvSpPr>
          <p:cNvPr id="65" name="TextBox 64"/>
          <p:cNvSpPr txBox="1"/>
          <p:nvPr/>
        </p:nvSpPr>
        <p:spPr>
          <a:xfrm>
            <a:off x="4369526" y="2610151"/>
            <a:ext cx="1097280" cy="292608"/>
          </a:xfrm>
          <a:prstGeom prst="rect">
            <a:avLst/>
          </a:prstGeom>
          <a:noFill/>
        </p:spPr>
        <p:txBody>
          <a:bodyPr wrap="square" lIns="0" tIns="0" rIns="0" bIns="0" anchor="t">
            <a:spAutoFit/>
          </a:bodyPr>
          <a:lstStyle/>
          <a:p>
            <a:pPr algn="r"/>
            <a:r>
              <a:rPr sz="1400" b="1" i="0">
                <a:solidFill>
                  <a:srgbClr val="7A5C00"/>
                </a:solidFill>
              </a:rPr>
              <a:t>residual</a:t>
            </a:r>
          </a:p>
        </p:txBody>
      </p:sp>
      <p:sp>
        <p:nvSpPr>
          <p:cNvPr id="66" name="TextBox 65"/>
          <p:cNvSpPr txBox="1"/>
          <p:nvPr/>
        </p:nvSpPr>
        <p:spPr>
          <a:xfrm>
            <a:off x="7452360" y="1463040"/>
            <a:ext cx="3913632" cy="1280160"/>
          </a:xfrm>
          <a:prstGeom prst="rect">
            <a:avLst/>
          </a:prstGeom>
          <a:noFill/>
        </p:spPr>
        <p:txBody>
          <a:bodyPr wrap="square" lIns="0" tIns="0" rIns="0" bIns="0" anchor="t">
            <a:spAutoFit/>
          </a:bodyPr>
          <a:lstStyle/>
          <a:p>
            <a:pPr algn="l">
              <a:spcAft>
                <a:spcPts val="200"/>
              </a:spcAft>
            </a:pPr>
            <a:r>
              <a:rPr sz="2200" b="1" i="0">
                <a:solidFill>
                  <a:srgbClr val="1F394D"/>
                </a:solidFill>
              </a:rPr>
              <a:t>Slope = 0.29</a:t>
            </a:r>
          </a:p>
          <a:p>
            <a:pPr algn="l"/>
            <a:r>
              <a:rPr sz="1600" b="0" i="0">
                <a:solidFill>
                  <a:srgbClr val="1F2A33"/>
                </a:solidFill>
              </a:rPr>
              <a:t>Each extra year of education goes with 0.29 more points of trust.</a:t>
            </a:r>
          </a:p>
        </p:txBody>
      </p:sp>
      <p:sp>
        <p:nvSpPr>
          <p:cNvPr id="67" name="TextBox 66"/>
          <p:cNvSpPr txBox="1"/>
          <p:nvPr/>
        </p:nvSpPr>
        <p:spPr>
          <a:xfrm>
            <a:off x="7452360" y="2834640"/>
            <a:ext cx="3913632" cy="1280160"/>
          </a:xfrm>
          <a:prstGeom prst="rect">
            <a:avLst/>
          </a:prstGeom>
          <a:noFill/>
        </p:spPr>
        <p:txBody>
          <a:bodyPr wrap="square" lIns="0" tIns="0" rIns="0" bIns="0" anchor="t">
            <a:spAutoFit/>
          </a:bodyPr>
          <a:lstStyle/>
          <a:p>
            <a:pPr algn="l">
              <a:spcAft>
                <a:spcPts val="200"/>
              </a:spcAft>
            </a:pPr>
            <a:r>
              <a:rPr sz="2200" b="1" i="0">
                <a:solidFill>
                  <a:srgbClr val="3F739B"/>
                </a:solidFill>
              </a:rPr>
              <a:t>Intercept = 1.38</a:t>
            </a:r>
          </a:p>
          <a:p>
            <a:pPr algn="l"/>
            <a:r>
              <a:rPr sz="1600" b="0" i="0">
                <a:solidFill>
                  <a:srgbClr val="1F2A33"/>
                </a:solidFill>
              </a:rPr>
              <a:t>Predicted trust at 0 years of education: outside the data, so not meaningful here.</a:t>
            </a:r>
          </a:p>
        </p:txBody>
      </p:sp>
      <p:sp>
        <p:nvSpPr>
          <p:cNvPr id="68" name="TextBox 67"/>
          <p:cNvSpPr txBox="1"/>
          <p:nvPr/>
        </p:nvSpPr>
        <p:spPr>
          <a:xfrm>
            <a:off x="7452360" y="4206240"/>
            <a:ext cx="3913632" cy="1280160"/>
          </a:xfrm>
          <a:prstGeom prst="rect">
            <a:avLst/>
          </a:prstGeom>
          <a:noFill/>
        </p:spPr>
        <p:txBody>
          <a:bodyPr wrap="square" lIns="0" tIns="0" rIns="0" bIns="0" anchor="t">
            <a:spAutoFit/>
          </a:bodyPr>
          <a:lstStyle/>
          <a:p>
            <a:pPr algn="l">
              <a:spcAft>
                <a:spcPts val="200"/>
              </a:spcAft>
            </a:pPr>
            <a:r>
              <a:rPr sz="2200" b="1" i="0">
                <a:solidFill>
                  <a:srgbClr val="7A5C00"/>
                </a:solidFill>
              </a:rPr>
              <a:t>Residuals</a:t>
            </a:r>
          </a:p>
          <a:p>
            <a:pPr algn="l"/>
            <a:r>
              <a:rPr sz="1600" b="0" i="0">
                <a:solidFill>
                  <a:srgbClr val="1F2A33"/>
                </a:solidFill>
              </a:rPr>
              <a:t>Observed minus predicted: what the line gets wrong for each person.</a:t>
            </a:r>
          </a:p>
        </p:txBody>
      </p:sp>
      <p:sp>
        <p:nvSpPr>
          <p:cNvPr id="69" name="Rounded Rectangle 68"/>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70" name="TextBox 69"/>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71" name="TextBox 70"/>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W3b. 12 people, education and trust (0 to 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“best” line: least squares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6</a:t>
            </a:fld>
            <a:endParaRPr lang="en-GB"/>
          </a:p>
        </p:txBody>
      </p:sp>
      <p:sp>
        <p:nvSpPr>
          <p:cNvPr id="6" name="TextBox 5"/>
          <p:cNvSpPr txBox="1"/>
          <p:nvPr/>
        </p:nvSpPr>
        <p:spPr>
          <a:xfrm>
            <a:off x="758952" y="1325880"/>
            <a:ext cx="5212080" cy="365760"/>
          </a:xfrm>
          <a:prstGeom prst="rect">
            <a:avLst/>
          </a:prstGeom>
          <a:noFill/>
        </p:spPr>
        <p:txBody>
          <a:bodyPr wrap="square" lIns="0" tIns="0" rIns="0" bIns="0" anchor="t">
            <a:spAutoFit/>
          </a:bodyPr>
          <a:lstStyle/>
          <a:p>
            <a:pPr algn="l"/>
            <a:r>
              <a:rPr sz="1800" b="1" i="0">
                <a:solidFill>
                  <a:srgbClr val="1F394D"/>
                </a:solidFill>
              </a:rPr>
              <a:t>Ignore education: predict the mean</a:t>
            </a:r>
          </a:p>
        </p:txBody>
      </p:sp>
      <p:cxnSp>
        <p:nvCxnSpPr>
          <p:cNvPr id="7" name="Connector 6"/>
          <p:cNvCxnSpPr/>
          <p:nvPr/>
        </p:nvCxnSpPr>
        <p:spPr>
          <a:xfrm>
            <a:off x="1261872" y="1783080"/>
            <a:ext cx="0" cy="2926080"/>
          </a:xfrm>
          <a:prstGeom prst="line">
            <a:avLst/>
          </a:prstGeom>
          <a:ln w="15875">
            <a:solidFill>
              <a:srgbClr val="BBC4CC"/>
            </a:solidFill>
          </a:ln>
        </p:spPr>
      </p:cxnSp>
      <p:cxnSp>
        <p:nvCxnSpPr>
          <p:cNvPr id="101" name="Connector 101"/>
          <p:cNvCxnSpPr/>
          <p:nvPr/>
        </p:nvCxnSpPr>
        <p:spPr>
          <a:xfrm>
            <a:off x="1261872" y="4709160"/>
            <a:ext cx="4526280" cy="0"/>
          </a:xfrm>
          <a:prstGeom prst="line">
            <a:avLst/>
          </a:prstGeom>
          <a:ln w="9525">
            <a:solidFill>
              <a:srgbClr val="DDE3E8"/>
            </a:solidFill>
          </a:ln>
        </p:spPr>
      </p:cxnSp>
      <p:sp>
        <p:nvSpPr>
          <p:cNvPr id="102" name="TextBox 102"/>
          <p:cNvSpPr txBox="1"/>
          <p:nvPr/>
        </p:nvSpPr>
        <p:spPr>
          <a:xfrm>
            <a:off x="576071" y="45720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103" name="Connector 103"/>
          <p:cNvCxnSpPr/>
          <p:nvPr/>
        </p:nvCxnSpPr>
        <p:spPr>
          <a:xfrm>
            <a:off x="1261872" y="4058920"/>
            <a:ext cx="4526280" cy="0"/>
          </a:xfrm>
          <a:prstGeom prst="line">
            <a:avLst/>
          </a:prstGeom>
          <a:ln w="9525">
            <a:solidFill>
              <a:srgbClr val="DDE3E8"/>
            </a:solidFill>
          </a:ln>
        </p:spPr>
      </p:cxnSp>
      <p:sp>
        <p:nvSpPr>
          <p:cNvPr id="104" name="TextBox 104"/>
          <p:cNvSpPr txBox="1"/>
          <p:nvPr/>
        </p:nvSpPr>
        <p:spPr>
          <a:xfrm>
            <a:off x="576071" y="3921760"/>
            <a:ext cx="621792" cy="274320"/>
          </a:xfrm>
          <a:prstGeom prst="rect">
            <a:avLst/>
          </a:prstGeom>
          <a:noFill/>
        </p:spPr>
        <p:txBody>
          <a:bodyPr wrap="square" lIns="0" tIns="0" rIns="0" bIns="0" anchor="t">
            <a:spAutoFit/>
          </a:bodyPr>
          <a:lstStyle/>
          <a:p>
            <a:pPr algn="r"/>
            <a:r>
              <a:rPr sz="1200" b="0" i="0">
                <a:solidFill>
                  <a:srgbClr val="55606B"/>
                </a:solidFill>
              </a:rPr>
              <a:t>2</a:t>
            </a:r>
          </a:p>
        </p:txBody>
      </p:sp>
      <p:cxnSp>
        <p:nvCxnSpPr>
          <p:cNvPr id="105" name="Connector 105"/>
          <p:cNvCxnSpPr/>
          <p:nvPr/>
        </p:nvCxnSpPr>
        <p:spPr>
          <a:xfrm>
            <a:off x="1261872" y="3408680"/>
            <a:ext cx="4526280" cy="0"/>
          </a:xfrm>
          <a:prstGeom prst="line">
            <a:avLst/>
          </a:prstGeom>
          <a:ln w="9525">
            <a:solidFill>
              <a:srgbClr val="DDE3E8"/>
            </a:solidFill>
          </a:ln>
        </p:spPr>
      </p:cxnSp>
      <p:sp>
        <p:nvSpPr>
          <p:cNvPr id="106" name="TextBox 106"/>
          <p:cNvSpPr txBox="1"/>
          <p:nvPr/>
        </p:nvSpPr>
        <p:spPr>
          <a:xfrm>
            <a:off x="576071" y="3271520"/>
            <a:ext cx="621792" cy="274320"/>
          </a:xfrm>
          <a:prstGeom prst="rect">
            <a:avLst/>
          </a:prstGeom>
          <a:noFill/>
        </p:spPr>
        <p:txBody>
          <a:bodyPr wrap="square" lIns="0" tIns="0" rIns="0" bIns="0" anchor="t">
            <a:spAutoFit/>
          </a:bodyPr>
          <a:lstStyle/>
          <a:p>
            <a:pPr algn="r"/>
            <a:r>
              <a:rPr sz="1200" b="0" i="0">
                <a:solidFill>
                  <a:srgbClr val="55606B"/>
                </a:solidFill>
              </a:rPr>
              <a:t>4</a:t>
            </a:r>
          </a:p>
        </p:txBody>
      </p:sp>
      <p:cxnSp>
        <p:nvCxnSpPr>
          <p:cNvPr id="107" name="Connector 107"/>
          <p:cNvCxnSpPr/>
          <p:nvPr/>
        </p:nvCxnSpPr>
        <p:spPr>
          <a:xfrm>
            <a:off x="1261872" y="2758440"/>
            <a:ext cx="4526280" cy="0"/>
          </a:xfrm>
          <a:prstGeom prst="line">
            <a:avLst/>
          </a:prstGeom>
          <a:ln w="9525">
            <a:solidFill>
              <a:srgbClr val="DDE3E8"/>
            </a:solidFill>
          </a:ln>
        </p:spPr>
      </p:cxnSp>
      <p:sp>
        <p:nvSpPr>
          <p:cNvPr id="108" name="TextBox 108"/>
          <p:cNvSpPr txBox="1"/>
          <p:nvPr/>
        </p:nvSpPr>
        <p:spPr>
          <a:xfrm>
            <a:off x="576071" y="2621280"/>
            <a:ext cx="621792" cy="274320"/>
          </a:xfrm>
          <a:prstGeom prst="rect">
            <a:avLst/>
          </a:prstGeom>
          <a:noFill/>
        </p:spPr>
        <p:txBody>
          <a:bodyPr wrap="square" lIns="0" tIns="0" rIns="0" bIns="0" anchor="t">
            <a:spAutoFit/>
          </a:bodyPr>
          <a:lstStyle/>
          <a:p>
            <a:pPr algn="r"/>
            <a:r>
              <a:rPr sz="1200" b="0" i="0">
                <a:solidFill>
                  <a:srgbClr val="55606B"/>
                </a:solidFill>
              </a:rPr>
              <a:t>6</a:t>
            </a:r>
          </a:p>
        </p:txBody>
      </p:sp>
      <p:cxnSp>
        <p:nvCxnSpPr>
          <p:cNvPr id="109" name="Connector 109"/>
          <p:cNvCxnSpPr/>
          <p:nvPr/>
        </p:nvCxnSpPr>
        <p:spPr>
          <a:xfrm>
            <a:off x="1261872" y="2108200"/>
            <a:ext cx="4526280" cy="0"/>
          </a:xfrm>
          <a:prstGeom prst="line">
            <a:avLst/>
          </a:prstGeom>
          <a:ln w="9525">
            <a:solidFill>
              <a:srgbClr val="DDE3E8"/>
            </a:solidFill>
          </a:ln>
        </p:spPr>
      </p:cxnSp>
      <p:sp>
        <p:nvSpPr>
          <p:cNvPr id="110" name="TextBox 110"/>
          <p:cNvSpPr txBox="1"/>
          <p:nvPr/>
        </p:nvSpPr>
        <p:spPr>
          <a:xfrm>
            <a:off x="576071" y="1971040"/>
            <a:ext cx="621792" cy="274320"/>
          </a:xfrm>
          <a:prstGeom prst="rect">
            <a:avLst/>
          </a:prstGeom>
          <a:noFill/>
        </p:spPr>
        <p:txBody>
          <a:bodyPr wrap="square" lIns="0" tIns="0" rIns="0" bIns="0" anchor="t">
            <a:spAutoFit/>
          </a:bodyPr>
          <a:lstStyle/>
          <a:p>
            <a:pPr algn="r"/>
            <a:r>
              <a:rPr sz="1200" b="0" i="0">
                <a:solidFill>
                  <a:srgbClr val="55606B"/>
                </a:solidFill>
              </a:rPr>
              <a:t>8</a:t>
            </a:r>
          </a:p>
        </p:txBody>
      </p:sp>
      <p:cxnSp>
        <p:nvCxnSpPr>
          <p:cNvPr id="111" name="Connector 111"/>
          <p:cNvCxnSpPr/>
          <p:nvPr/>
        </p:nvCxnSpPr>
        <p:spPr>
          <a:xfrm>
            <a:off x="1261872" y="4709160"/>
            <a:ext cx="0" cy="64008"/>
          </a:xfrm>
          <a:prstGeom prst="line">
            <a:avLst/>
          </a:prstGeom>
          <a:ln w="15875">
            <a:solidFill>
              <a:srgbClr val="BBC4CC"/>
            </a:solidFill>
          </a:ln>
        </p:spPr>
      </p:cxnSp>
      <p:sp>
        <p:nvSpPr>
          <p:cNvPr id="112" name="TextBox 112"/>
          <p:cNvSpPr txBox="1"/>
          <p:nvPr/>
        </p:nvSpPr>
        <p:spPr>
          <a:xfrm>
            <a:off x="713231" y="47823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113" name="Connector 113"/>
          <p:cNvCxnSpPr/>
          <p:nvPr/>
        </p:nvCxnSpPr>
        <p:spPr>
          <a:xfrm>
            <a:off x="2124021" y="4709160"/>
            <a:ext cx="0" cy="64008"/>
          </a:xfrm>
          <a:prstGeom prst="line">
            <a:avLst/>
          </a:prstGeom>
          <a:ln w="15875">
            <a:solidFill>
              <a:srgbClr val="BBC4CC"/>
            </a:solidFill>
          </a:ln>
        </p:spPr>
      </p:cxnSp>
      <p:sp>
        <p:nvSpPr>
          <p:cNvPr id="114" name="TextBox 114"/>
          <p:cNvSpPr txBox="1"/>
          <p:nvPr/>
        </p:nvSpPr>
        <p:spPr>
          <a:xfrm>
            <a:off x="1575380" y="47823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115" name="Connector 115"/>
          <p:cNvCxnSpPr/>
          <p:nvPr/>
        </p:nvCxnSpPr>
        <p:spPr>
          <a:xfrm>
            <a:off x="2986169" y="4709160"/>
            <a:ext cx="0" cy="64008"/>
          </a:xfrm>
          <a:prstGeom prst="line">
            <a:avLst/>
          </a:prstGeom>
          <a:ln w="15875">
            <a:solidFill>
              <a:srgbClr val="BBC4CC"/>
            </a:solidFill>
          </a:ln>
        </p:spPr>
      </p:cxnSp>
      <p:sp>
        <p:nvSpPr>
          <p:cNvPr id="116" name="TextBox 116"/>
          <p:cNvSpPr txBox="1"/>
          <p:nvPr/>
        </p:nvSpPr>
        <p:spPr>
          <a:xfrm>
            <a:off x="2437528" y="47823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117" name="Connector 117"/>
          <p:cNvCxnSpPr/>
          <p:nvPr/>
        </p:nvCxnSpPr>
        <p:spPr>
          <a:xfrm>
            <a:off x="3848318" y="4709160"/>
            <a:ext cx="0" cy="64008"/>
          </a:xfrm>
          <a:prstGeom prst="line">
            <a:avLst/>
          </a:prstGeom>
          <a:ln w="15875">
            <a:solidFill>
              <a:srgbClr val="BBC4CC"/>
            </a:solidFill>
          </a:ln>
        </p:spPr>
      </p:cxnSp>
      <p:sp>
        <p:nvSpPr>
          <p:cNvPr id="118" name="TextBox 118"/>
          <p:cNvSpPr txBox="1"/>
          <p:nvPr/>
        </p:nvSpPr>
        <p:spPr>
          <a:xfrm>
            <a:off x="3299677" y="4782312"/>
            <a:ext cx="1097280" cy="274320"/>
          </a:xfrm>
          <a:prstGeom prst="rect">
            <a:avLst/>
          </a:prstGeom>
          <a:noFill/>
        </p:spPr>
        <p:txBody>
          <a:bodyPr wrap="square" lIns="0" tIns="0" rIns="0" bIns="0" anchor="t">
            <a:spAutoFit/>
          </a:bodyPr>
          <a:lstStyle/>
          <a:p>
            <a:pPr algn="ctr"/>
            <a:r>
              <a:rPr sz="1200" b="0" i="0">
                <a:solidFill>
                  <a:srgbClr val="55606B"/>
                </a:solidFill>
              </a:rPr>
              <a:t>12</a:t>
            </a:r>
          </a:p>
        </p:txBody>
      </p:sp>
      <p:cxnSp>
        <p:nvCxnSpPr>
          <p:cNvPr id="119" name="Connector 119"/>
          <p:cNvCxnSpPr/>
          <p:nvPr/>
        </p:nvCxnSpPr>
        <p:spPr>
          <a:xfrm>
            <a:off x="4710466" y="4709160"/>
            <a:ext cx="0" cy="64008"/>
          </a:xfrm>
          <a:prstGeom prst="line">
            <a:avLst/>
          </a:prstGeom>
          <a:ln w="15875">
            <a:solidFill>
              <a:srgbClr val="BBC4CC"/>
            </a:solidFill>
          </a:ln>
        </p:spPr>
      </p:cxnSp>
      <p:sp>
        <p:nvSpPr>
          <p:cNvPr id="120" name="TextBox 120"/>
          <p:cNvSpPr txBox="1"/>
          <p:nvPr/>
        </p:nvSpPr>
        <p:spPr>
          <a:xfrm>
            <a:off x="4161825" y="4782312"/>
            <a:ext cx="1097280" cy="274320"/>
          </a:xfrm>
          <a:prstGeom prst="rect">
            <a:avLst/>
          </a:prstGeom>
          <a:noFill/>
        </p:spPr>
        <p:txBody>
          <a:bodyPr wrap="square" lIns="0" tIns="0" rIns="0" bIns="0" anchor="t">
            <a:spAutoFit/>
          </a:bodyPr>
          <a:lstStyle/>
          <a:p>
            <a:pPr algn="ctr"/>
            <a:r>
              <a:rPr sz="1200" b="0" i="0">
                <a:solidFill>
                  <a:srgbClr val="55606B"/>
                </a:solidFill>
              </a:rPr>
              <a:t>16</a:t>
            </a:r>
          </a:p>
        </p:txBody>
      </p:sp>
      <p:cxnSp>
        <p:nvCxnSpPr>
          <p:cNvPr id="121" name="Connector 121"/>
          <p:cNvCxnSpPr/>
          <p:nvPr/>
        </p:nvCxnSpPr>
        <p:spPr>
          <a:xfrm>
            <a:off x="5572615" y="4709160"/>
            <a:ext cx="0" cy="64008"/>
          </a:xfrm>
          <a:prstGeom prst="line">
            <a:avLst/>
          </a:prstGeom>
          <a:ln w="15875">
            <a:solidFill>
              <a:srgbClr val="BBC4CC"/>
            </a:solidFill>
          </a:ln>
        </p:spPr>
      </p:cxnSp>
      <p:sp>
        <p:nvSpPr>
          <p:cNvPr id="122" name="TextBox 122"/>
          <p:cNvSpPr txBox="1"/>
          <p:nvPr/>
        </p:nvSpPr>
        <p:spPr>
          <a:xfrm>
            <a:off x="5023974" y="4782312"/>
            <a:ext cx="1097280" cy="274320"/>
          </a:xfrm>
          <a:prstGeom prst="rect">
            <a:avLst/>
          </a:prstGeom>
          <a:noFill/>
        </p:spPr>
        <p:txBody>
          <a:bodyPr wrap="square" lIns="0" tIns="0" rIns="0" bIns="0" anchor="t">
            <a:spAutoFit/>
          </a:bodyPr>
          <a:lstStyle/>
          <a:p>
            <a:pPr algn="ctr"/>
            <a:r>
              <a:rPr sz="1200" b="0" i="0">
                <a:solidFill>
                  <a:srgbClr val="55606B"/>
                </a:solidFill>
              </a:rPr>
              <a:t>20</a:t>
            </a:r>
          </a:p>
        </p:txBody>
      </p:sp>
      <p:cxnSp>
        <p:nvCxnSpPr>
          <p:cNvPr id="16" name="Connector 15"/>
          <p:cNvCxnSpPr/>
          <p:nvPr/>
        </p:nvCxnSpPr>
        <p:spPr>
          <a:xfrm>
            <a:off x="1261872" y="4709160"/>
            <a:ext cx="4526280" cy="0"/>
          </a:xfrm>
          <a:prstGeom prst="line">
            <a:avLst/>
          </a:prstGeom>
          <a:ln w="15875">
            <a:solidFill>
              <a:srgbClr val="BBC4CC"/>
            </a:solidFill>
          </a:ln>
        </p:spPr>
      </p:cxnSp>
      <p:cxnSp>
        <p:nvCxnSpPr>
          <p:cNvPr id="25" name="Connector 24"/>
          <p:cNvCxnSpPr/>
          <p:nvPr/>
        </p:nvCxnSpPr>
        <p:spPr>
          <a:xfrm>
            <a:off x="3201706" y="2934547"/>
            <a:ext cx="2370909" cy="0"/>
          </a:xfrm>
          <a:prstGeom prst="line">
            <a:avLst/>
          </a:prstGeom>
          <a:ln w="38100">
            <a:solidFill>
              <a:srgbClr val="9AA4AE"/>
            </a:solidFill>
          </a:ln>
        </p:spPr>
      </p:cxnSp>
      <p:cxnSp>
        <p:nvCxnSpPr>
          <p:cNvPr id="123" name="Connector 123"/>
          <p:cNvCxnSpPr/>
          <p:nvPr/>
        </p:nvCxnSpPr>
        <p:spPr>
          <a:xfrm>
            <a:off x="1261872" y="2934547"/>
            <a:ext cx="1939834" cy="0"/>
          </a:xfrm>
          <a:prstGeom prst="line">
            <a:avLst/>
          </a:prstGeom>
          <a:ln w="19050">
            <a:solidFill>
              <a:srgbClr val="9AA4AE"/>
            </a:solidFill>
            <a:prstDash val="dash"/>
          </a:ln>
        </p:spPr>
      </p:cxnSp>
      <p:cxnSp>
        <p:nvCxnSpPr>
          <p:cNvPr id="26" name="Connector 25"/>
          <p:cNvCxnSpPr/>
          <p:nvPr/>
        </p:nvCxnSpPr>
        <p:spPr>
          <a:xfrm flipV="1">
            <a:off x="3201706" y="2934547"/>
            <a:ext cx="0" cy="669205"/>
          </a:xfrm>
          <a:prstGeom prst="line">
            <a:avLst/>
          </a:prstGeom>
          <a:ln w="25400">
            <a:solidFill>
              <a:srgbClr val="B88C00"/>
            </a:solidFill>
          </a:ln>
        </p:spPr>
      </p:cxnSp>
      <p:sp>
        <p:nvSpPr>
          <p:cNvPr id="27" name="Oval 26"/>
          <p:cNvSpPr/>
          <p:nvPr/>
        </p:nvSpPr>
        <p:spPr>
          <a:xfrm>
            <a:off x="3137698" y="3539744"/>
            <a:ext cx="128016" cy="128016"/>
          </a:xfrm>
          <a:prstGeom prst="ellipse">
            <a:avLst/>
          </a:prstGeom>
          <a:solidFill>
            <a:srgbClr val="3F739B"/>
          </a:solidFill>
          <a:ln>
            <a:noFill/>
          </a:ln>
        </p:spPr>
        <p:txBody>
          <a:bodyPr rtlCol="0" anchor="ctr"/>
          <a:lstStyle/>
          <a:p>
            <a:pPr algn="ctr"/>
            <a:endParaRPr/>
          </a:p>
        </p:txBody>
      </p:sp>
      <p:cxnSp>
        <p:nvCxnSpPr>
          <p:cNvPr id="28" name="Connector 27"/>
          <p:cNvCxnSpPr/>
          <p:nvPr/>
        </p:nvCxnSpPr>
        <p:spPr>
          <a:xfrm flipV="1">
            <a:off x="3417243" y="2934547"/>
            <a:ext cx="0" cy="279061"/>
          </a:xfrm>
          <a:prstGeom prst="line">
            <a:avLst/>
          </a:prstGeom>
          <a:ln w="25400">
            <a:solidFill>
              <a:srgbClr val="B88C00"/>
            </a:solidFill>
          </a:ln>
        </p:spPr>
      </p:cxnSp>
      <p:sp>
        <p:nvSpPr>
          <p:cNvPr id="29" name="Oval 28"/>
          <p:cNvSpPr/>
          <p:nvPr/>
        </p:nvSpPr>
        <p:spPr>
          <a:xfrm>
            <a:off x="3353235" y="3149600"/>
            <a:ext cx="128016" cy="128016"/>
          </a:xfrm>
          <a:prstGeom prst="ellipse">
            <a:avLst/>
          </a:prstGeom>
          <a:solidFill>
            <a:srgbClr val="3F739B"/>
          </a:solidFill>
          <a:ln>
            <a:noFill/>
          </a:ln>
        </p:spPr>
        <p:txBody>
          <a:bodyPr rtlCol="0" anchor="ctr"/>
          <a:lstStyle/>
          <a:p>
            <a:pPr algn="ctr"/>
            <a:endParaRPr/>
          </a:p>
        </p:txBody>
      </p:sp>
      <p:cxnSp>
        <p:nvCxnSpPr>
          <p:cNvPr id="30" name="Connector 29"/>
          <p:cNvCxnSpPr/>
          <p:nvPr/>
        </p:nvCxnSpPr>
        <p:spPr>
          <a:xfrm flipV="1">
            <a:off x="3632780" y="2934547"/>
            <a:ext cx="0" cy="181524"/>
          </a:xfrm>
          <a:prstGeom prst="line">
            <a:avLst/>
          </a:prstGeom>
          <a:ln w="25400">
            <a:solidFill>
              <a:srgbClr val="B88C00"/>
            </a:solidFill>
          </a:ln>
        </p:spPr>
      </p:cxnSp>
      <p:sp>
        <p:nvSpPr>
          <p:cNvPr id="31" name="Oval 30"/>
          <p:cNvSpPr/>
          <p:nvPr/>
        </p:nvSpPr>
        <p:spPr>
          <a:xfrm>
            <a:off x="3568772" y="3052063"/>
            <a:ext cx="128016" cy="128016"/>
          </a:xfrm>
          <a:prstGeom prst="ellipse">
            <a:avLst/>
          </a:prstGeom>
          <a:solidFill>
            <a:srgbClr val="3F739B"/>
          </a:solidFill>
          <a:ln>
            <a:noFill/>
          </a:ln>
        </p:spPr>
        <p:txBody>
          <a:bodyPr rtlCol="0" anchor="ctr"/>
          <a:lstStyle/>
          <a:p>
            <a:pPr algn="ctr"/>
            <a:endParaRPr/>
          </a:p>
        </p:txBody>
      </p:sp>
      <p:cxnSp>
        <p:nvCxnSpPr>
          <p:cNvPr id="32" name="Connector 31"/>
          <p:cNvCxnSpPr/>
          <p:nvPr/>
        </p:nvCxnSpPr>
        <p:spPr>
          <a:xfrm flipV="1">
            <a:off x="3632780" y="2934547"/>
            <a:ext cx="0" cy="474133"/>
          </a:xfrm>
          <a:prstGeom prst="line">
            <a:avLst/>
          </a:prstGeom>
          <a:ln w="25400">
            <a:solidFill>
              <a:srgbClr val="B88C00"/>
            </a:solidFill>
          </a:ln>
        </p:spPr>
      </p:cxnSp>
      <p:sp>
        <p:nvSpPr>
          <p:cNvPr id="33" name="Oval 32"/>
          <p:cNvSpPr/>
          <p:nvPr/>
        </p:nvSpPr>
        <p:spPr>
          <a:xfrm>
            <a:off x="3568772" y="3344672"/>
            <a:ext cx="128016" cy="128016"/>
          </a:xfrm>
          <a:prstGeom prst="ellipse">
            <a:avLst/>
          </a:prstGeom>
          <a:solidFill>
            <a:srgbClr val="3F739B"/>
          </a:solidFill>
          <a:ln>
            <a:noFill/>
          </a:ln>
        </p:spPr>
        <p:txBody>
          <a:bodyPr rtlCol="0" anchor="ctr"/>
          <a:lstStyle/>
          <a:p>
            <a:pPr algn="ctr"/>
            <a:endParaRPr/>
          </a:p>
        </p:txBody>
      </p:sp>
      <p:cxnSp>
        <p:nvCxnSpPr>
          <p:cNvPr id="34" name="Connector 33"/>
          <p:cNvCxnSpPr/>
          <p:nvPr/>
        </p:nvCxnSpPr>
        <p:spPr>
          <a:xfrm>
            <a:off x="3848317" y="2888487"/>
            <a:ext cx="0" cy="46060"/>
          </a:xfrm>
          <a:prstGeom prst="line">
            <a:avLst/>
          </a:prstGeom>
          <a:ln w="25400">
            <a:solidFill>
              <a:srgbClr val="B88C00"/>
            </a:solidFill>
          </a:ln>
        </p:spPr>
      </p:cxnSp>
      <p:sp>
        <p:nvSpPr>
          <p:cNvPr id="35" name="Oval 34"/>
          <p:cNvSpPr/>
          <p:nvPr/>
        </p:nvSpPr>
        <p:spPr>
          <a:xfrm>
            <a:off x="3784309" y="2824479"/>
            <a:ext cx="128016" cy="128016"/>
          </a:xfrm>
          <a:prstGeom prst="ellipse">
            <a:avLst/>
          </a:prstGeom>
          <a:solidFill>
            <a:srgbClr val="3F739B"/>
          </a:solidFill>
          <a:ln>
            <a:noFill/>
          </a:ln>
        </p:spPr>
        <p:txBody>
          <a:bodyPr rtlCol="0" anchor="ctr"/>
          <a:lstStyle/>
          <a:p>
            <a:pPr algn="ctr"/>
            <a:endParaRPr/>
          </a:p>
        </p:txBody>
      </p:sp>
      <p:cxnSp>
        <p:nvCxnSpPr>
          <p:cNvPr id="36" name="Connector 35"/>
          <p:cNvCxnSpPr/>
          <p:nvPr/>
        </p:nvCxnSpPr>
        <p:spPr>
          <a:xfrm flipV="1">
            <a:off x="4063854" y="2934547"/>
            <a:ext cx="0" cy="83989"/>
          </a:xfrm>
          <a:prstGeom prst="line">
            <a:avLst/>
          </a:prstGeom>
          <a:ln w="25400">
            <a:solidFill>
              <a:srgbClr val="B88C00"/>
            </a:solidFill>
          </a:ln>
        </p:spPr>
      </p:cxnSp>
      <p:sp>
        <p:nvSpPr>
          <p:cNvPr id="37" name="Oval 36"/>
          <p:cNvSpPr/>
          <p:nvPr/>
        </p:nvSpPr>
        <p:spPr>
          <a:xfrm>
            <a:off x="3999846" y="2954528"/>
            <a:ext cx="128016" cy="128016"/>
          </a:xfrm>
          <a:prstGeom prst="ellipse">
            <a:avLst/>
          </a:prstGeom>
          <a:solidFill>
            <a:srgbClr val="3F739B"/>
          </a:solidFill>
          <a:ln>
            <a:noFill/>
          </a:ln>
        </p:spPr>
        <p:txBody>
          <a:bodyPr rtlCol="0" anchor="ctr"/>
          <a:lstStyle/>
          <a:p>
            <a:pPr algn="ctr"/>
            <a:endParaRPr/>
          </a:p>
        </p:txBody>
      </p:sp>
      <p:cxnSp>
        <p:nvCxnSpPr>
          <p:cNvPr id="38" name="Connector 37"/>
          <p:cNvCxnSpPr/>
          <p:nvPr/>
        </p:nvCxnSpPr>
        <p:spPr>
          <a:xfrm flipV="1">
            <a:off x="4279392" y="2934547"/>
            <a:ext cx="0" cy="116501"/>
          </a:xfrm>
          <a:prstGeom prst="line">
            <a:avLst/>
          </a:prstGeom>
          <a:ln w="25400">
            <a:solidFill>
              <a:srgbClr val="B88C00"/>
            </a:solidFill>
          </a:ln>
        </p:spPr>
      </p:cxnSp>
      <p:sp>
        <p:nvSpPr>
          <p:cNvPr id="39" name="Oval 38"/>
          <p:cNvSpPr/>
          <p:nvPr/>
        </p:nvSpPr>
        <p:spPr>
          <a:xfrm>
            <a:off x="4215384" y="2987040"/>
            <a:ext cx="128016" cy="128016"/>
          </a:xfrm>
          <a:prstGeom prst="ellipse">
            <a:avLst/>
          </a:prstGeom>
          <a:solidFill>
            <a:srgbClr val="3F739B"/>
          </a:solidFill>
          <a:ln>
            <a:noFill/>
          </a:ln>
        </p:spPr>
        <p:txBody>
          <a:bodyPr rtlCol="0" anchor="ctr"/>
          <a:lstStyle/>
          <a:p>
            <a:pPr algn="ctr"/>
            <a:endParaRPr/>
          </a:p>
        </p:txBody>
      </p:sp>
      <p:cxnSp>
        <p:nvCxnSpPr>
          <p:cNvPr id="40" name="Connector 39"/>
          <p:cNvCxnSpPr/>
          <p:nvPr/>
        </p:nvCxnSpPr>
        <p:spPr>
          <a:xfrm>
            <a:off x="4494929" y="2498344"/>
            <a:ext cx="0" cy="436203"/>
          </a:xfrm>
          <a:prstGeom prst="line">
            <a:avLst/>
          </a:prstGeom>
          <a:ln w="25400">
            <a:solidFill>
              <a:srgbClr val="B88C00"/>
            </a:solidFill>
          </a:ln>
        </p:spPr>
      </p:cxnSp>
      <p:sp>
        <p:nvSpPr>
          <p:cNvPr id="41" name="Oval 40"/>
          <p:cNvSpPr/>
          <p:nvPr/>
        </p:nvSpPr>
        <p:spPr>
          <a:xfrm>
            <a:off x="4430921" y="2434336"/>
            <a:ext cx="128016" cy="128016"/>
          </a:xfrm>
          <a:prstGeom prst="ellipse">
            <a:avLst/>
          </a:prstGeom>
          <a:solidFill>
            <a:srgbClr val="3F739B"/>
          </a:solidFill>
          <a:ln>
            <a:noFill/>
          </a:ln>
        </p:spPr>
        <p:txBody>
          <a:bodyPr rtlCol="0" anchor="ctr"/>
          <a:lstStyle/>
          <a:p>
            <a:pPr algn="ctr"/>
            <a:endParaRPr/>
          </a:p>
        </p:txBody>
      </p:sp>
      <p:cxnSp>
        <p:nvCxnSpPr>
          <p:cNvPr id="42" name="Connector 41"/>
          <p:cNvCxnSpPr/>
          <p:nvPr/>
        </p:nvCxnSpPr>
        <p:spPr>
          <a:xfrm>
            <a:off x="4710466" y="2660903"/>
            <a:ext cx="0" cy="273644"/>
          </a:xfrm>
          <a:prstGeom prst="line">
            <a:avLst/>
          </a:prstGeom>
          <a:ln w="25400">
            <a:solidFill>
              <a:srgbClr val="B88C00"/>
            </a:solidFill>
          </a:ln>
        </p:spPr>
      </p:cxnSp>
      <p:sp>
        <p:nvSpPr>
          <p:cNvPr id="43" name="Oval 42"/>
          <p:cNvSpPr/>
          <p:nvPr/>
        </p:nvSpPr>
        <p:spPr>
          <a:xfrm>
            <a:off x="4646458" y="2596895"/>
            <a:ext cx="128016" cy="128016"/>
          </a:xfrm>
          <a:prstGeom prst="ellipse">
            <a:avLst/>
          </a:prstGeom>
          <a:solidFill>
            <a:srgbClr val="3F739B"/>
          </a:solidFill>
          <a:ln>
            <a:noFill/>
          </a:ln>
        </p:spPr>
        <p:txBody>
          <a:bodyPr rtlCol="0" anchor="ctr"/>
          <a:lstStyle/>
          <a:p>
            <a:pPr algn="ctr"/>
            <a:endParaRPr/>
          </a:p>
        </p:txBody>
      </p:sp>
      <p:cxnSp>
        <p:nvCxnSpPr>
          <p:cNvPr id="44" name="Connector 43"/>
          <p:cNvCxnSpPr/>
          <p:nvPr/>
        </p:nvCxnSpPr>
        <p:spPr>
          <a:xfrm>
            <a:off x="4926003" y="2888487"/>
            <a:ext cx="0" cy="46060"/>
          </a:xfrm>
          <a:prstGeom prst="line">
            <a:avLst/>
          </a:prstGeom>
          <a:ln w="25400">
            <a:solidFill>
              <a:srgbClr val="B88C00"/>
            </a:solidFill>
          </a:ln>
        </p:spPr>
      </p:cxnSp>
      <p:sp>
        <p:nvSpPr>
          <p:cNvPr id="45" name="Oval 44"/>
          <p:cNvSpPr/>
          <p:nvPr/>
        </p:nvSpPr>
        <p:spPr>
          <a:xfrm>
            <a:off x="4861995" y="2824479"/>
            <a:ext cx="128016" cy="128016"/>
          </a:xfrm>
          <a:prstGeom prst="ellipse">
            <a:avLst/>
          </a:prstGeom>
          <a:solidFill>
            <a:srgbClr val="3F739B"/>
          </a:solidFill>
          <a:ln>
            <a:noFill/>
          </a:ln>
        </p:spPr>
        <p:txBody>
          <a:bodyPr rtlCol="0" anchor="ctr"/>
          <a:lstStyle/>
          <a:p>
            <a:pPr algn="ctr"/>
            <a:endParaRPr/>
          </a:p>
        </p:txBody>
      </p:sp>
      <p:cxnSp>
        <p:nvCxnSpPr>
          <p:cNvPr id="46" name="Connector 45"/>
          <p:cNvCxnSpPr/>
          <p:nvPr/>
        </p:nvCxnSpPr>
        <p:spPr>
          <a:xfrm>
            <a:off x="5141540" y="2368296"/>
            <a:ext cx="0" cy="566251"/>
          </a:xfrm>
          <a:prstGeom prst="line">
            <a:avLst/>
          </a:prstGeom>
          <a:ln w="25400">
            <a:solidFill>
              <a:srgbClr val="B88C00"/>
            </a:solidFill>
          </a:ln>
        </p:spPr>
      </p:cxnSp>
      <p:sp>
        <p:nvSpPr>
          <p:cNvPr id="47" name="Oval 46"/>
          <p:cNvSpPr/>
          <p:nvPr/>
        </p:nvSpPr>
        <p:spPr>
          <a:xfrm>
            <a:off x="5077532" y="2304288"/>
            <a:ext cx="128016" cy="128016"/>
          </a:xfrm>
          <a:prstGeom prst="ellipse">
            <a:avLst/>
          </a:prstGeom>
          <a:solidFill>
            <a:srgbClr val="3F739B"/>
          </a:solidFill>
          <a:ln>
            <a:noFill/>
          </a:ln>
        </p:spPr>
        <p:txBody>
          <a:bodyPr rtlCol="0" anchor="ctr"/>
          <a:lstStyle/>
          <a:p>
            <a:pPr algn="ctr"/>
            <a:endParaRPr/>
          </a:p>
        </p:txBody>
      </p:sp>
      <p:cxnSp>
        <p:nvCxnSpPr>
          <p:cNvPr id="48" name="Connector 47"/>
          <p:cNvCxnSpPr/>
          <p:nvPr/>
        </p:nvCxnSpPr>
        <p:spPr>
          <a:xfrm>
            <a:off x="5572614" y="2498344"/>
            <a:ext cx="0" cy="436203"/>
          </a:xfrm>
          <a:prstGeom prst="line">
            <a:avLst/>
          </a:prstGeom>
          <a:ln w="25400">
            <a:solidFill>
              <a:srgbClr val="B88C00"/>
            </a:solidFill>
          </a:ln>
        </p:spPr>
      </p:cxnSp>
      <p:sp>
        <p:nvSpPr>
          <p:cNvPr id="49" name="Oval 48"/>
          <p:cNvSpPr/>
          <p:nvPr/>
        </p:nvSpPr>
        <p:spPr>
          <a:xfrm>
            <a:off x="5508606" y="2434336"/>
            <a:ext cx="128016" cy="128016"/>
          </a:xfrm>
          <a:prstGeom prst="ellipse">
            <a:avLst/>
          </a:prstGeom>
          <a:solidFill>
            <a:srgbClr val="3F739B"/>
          </a:solidFill>
          <a:ln>
            <a:noFill/>
          </a:ln>
        </p:spPr>
        <p:txBody>
          <a:bodyPr rtlCol="0" anchor="ctr"/>
          <a:lstStyle/>
          <a:p>
            <a:pPr algn="ctr"/>
            <a:endParaRPr/>
          </a:p>
        </p:txBody>
      </p:sp>
      <p:sp>
        <p:nvSpPr>
          <p:cNvPr id="124" name="Intercept dot"/>
          <p:cNvSpPr/>
          <p:nvPr/>
        </p:nvSpPr>
        <p:spPr>
          <a:xfrm>
            <a:off x="1188720" y="2861395"/>
            <a:ext cx="146304" cy="146304"/>
          </a:xfrm>
          <a:prstGeom prst="ellipse">
            <a:avLst/>
          </a:prstGeom>
          <a:solidFill>
            <a:srgbClr val="9AA4AE"/>
          </a:solidFill>
          <a:ln w="12700">
            <a:solidFill>
              <a:srgbClr val="FFFFFF"/>
            </a:solidFill>
          </a:ln>
        </p:spPr>
        <p:txBody>
          <a:bodyPr rtlCol="0" anchor="ctr"/>
          <a:lstStyle/>
          <a:p>
            <a:pPr algn="ctr"/>
            <a:endParaRPr/>
          </a:p>
        </p:txBody>
      </p:sp>
      <p:sp>
        <p:nvSpPr>
          <p:cNvPr id="125" name="Label"/>
          <p:cNvSpPr txBox="1"/>
          <p:nvPr/>
        </p:nvSpPr>
        <p:spPr>
          <a:xfrm>
            <a:off x="1371600" y="2660227"/>
            <a:ext cx="1280160" cy="466344"/>
          </a:xfrm>
          <a:prstGeom prst="rect">
            <a:avLst/>
          </a:prstGeom>
          <a:noFill/>
        </p:spPr>
        <p:txBody>
          <a:bodyPr wrap="square" lIns="0" tIns="0" rIns="0" bIns="0" anchor="ctr">
            <a:spAutoFit/>
          </a:bodyPr>
          <a:lstStyle/>
          <a:p>
            <a:pPr algn="l"/>
            <a:r>
              <a:rPr sz="1200" b="1" i="0">
                <a:solidFill>
                  <a:srgbClr val="55606B"/>
                </a:solidFill>
              </a:rPr>
              <a:t>5.46</a:t>
            </a:r>
          </a:p>
        </p:txBody>
      </p:sp>
      <p:sp>
        <p:nvSpPr>
          <p:cNvPr id="50" name="Rounded Rectangle 49"/>
          <p:cNvSpPr/>
          <p:nvPr/>
        </p:nvSpPr>
        <p:spPr>
          <a:xfrm>
            <a:off x="758952" y="5166360"/>
            <a:ext cx="5212080" cy="685800"/>
          </a:xfrm>
          <a:prstGeom prst="roundRect">
            <a:avLst>
              <a:gd name="adj" fmla="val 8000"/>
            </a:avLst>
          </a:prstGeom>
          <a:solidFill>
            <a:srgbClr val="EEF3F7"/>
          </a:solidFill>
          <a:ln>
            <a:noFill/>
          </a:ln>
        </p:spPr>
        <p:txBody>
          <a:bodyPr rtlCol="0" anchor="ctr"/>
          <a:lstStyle/>
          <a:p>
            <a:endParaRPr/>
          </a:p>
        </p:txBody>
      </p:sp>
      <p:sp>
        <p:nvSpPr>
          <p:cNvPr id="51" name="TextBox 50"/>
          <p:cNvSpPr txBox="1"/>
          <p:nvPr/>
        </p:nvSpPr>
        <p:spPr>
          <a:xfrm>
            <a:off x="896112" y="5276088"/>
            <a:ext cx="4937760" cy="466344"/>
          </a:xfrm>
          <a:prstGeom prst="rect">
            <a:avLst/>
          </a:prstGeom>
          <a:noFill/>
        </p:spPr>
        <p:txBody>
          <a:bodyPr wrap="square" lIns="0" tIns="0" rIns="0" bIns="0" anchor="ctr">
            <a:spAutoFit/>
          </a:bodyPr>
          <a:lstStyle/>
          <a:p>
            <a:pPr algn="l"/>
            <a:r>
              <a:rPr sz="1800" b="0" i="0">
                <a:solidFill>
                  <a:srgbClr val="55606B"/>
                </a:solidFill>
              </a:rPr>
              <a:t>Sum of squared residuals: </a:t>
            </a:r>
            <a:r>
              <a:rPr sz="1800" b="1" i="0">
                <a:solidFill>
                  <a:srgbClr val="7A5C00"/>
                </a:solidFill>
              </a:rPr>
              <a:t>15.0</a:t>
            </a:r>
          </a:p>
        </p:txBody>
      </p:sp>
      <p:sp>
        <p:nvSpPr>
          <p:cNvPr id="52" name="TextBox 51"/>
          <p:cNvSpPr txBox="1"/>
          <p:nvPr/>
        </p:nvSpPr>
        <p:spPr>
          <a:xfrm>
            <a:off x="6153912" y="1325880"/>
            <a:ext cx="5212080" cy="365760"/>
          </a:xfrm>
          <a:prstGeom prst="rect">
            <a:avLst/>
          </a:prstGeom>
          <a:noFill/>
        </p:spPr>
        <p:txBody>
          <a:bodyPr wrap="square" lIns="0" tIns="0" rIns="0" bIns="0" anchor="t">
            <a:spAutoFit/>
          </a:bodyPr>
          <a:lstStyle/>
          <a:p>
            <a:pPr algn="l"/>
            <a:r>
              <a:rPr sz="1800" b="1" i="0">
                <a:solidFill>
                  <a:srgbClr val="1F394D"/>
                </a:solidFill>
              </a:rPr>
              <a:t>Use education: the regression line</a:t>
            </a:r>
          </a:p>
        </p:txBody>
      </p:sp>
      <p:cxnSp>
        <p:nvCxnSpPr>
          <p:cNvPr id="53" name="Connector 52"/>
          <p:cNvCxnSpPr/>
          <p:nvPr/>
        </p:nvCxnSpPr>
        <p:spPr>
          <a:xfrm>
            <a:off x="6656831" y="1783080"/>
            <a:ext cx="0" cy="2926080"/>
          </a:xfrm>
          <a:prstGeom prst="line">
            <a:avLst/>
          </a:prstGeom>
          <a:ln w="15875">
            <a:solidFill>
              <a:srgbClr val="BBC4CC"/>
            </a:solidFill>
          </a:ln>
        </p:spPr>
      </p:cxnSp>
      <p:cxnSp>
        <p:nvCxnSpPr>
          <p:cNvPr id="126" name="Connector 126"/>
          <p:cNvCxnSpPr/>
          <p:nvPr/>
        </p:nvCxnSpPr>
        <p:spPr>
          <a:xfrm>
            <a:off x="6656831" y="4709160"/>
            <a:ext cx="4526281" cy="0"/>
          </a:xfrm>
          <a:prstGeom prst="line">
            <a:avLst/>
          </a:prstGeom>
          <a:ln w="9525">
            <a:solidFill>
              <a:srgbClr val="DDE3E8"/>
            </a:solidFill>
          </a:ln>
        </p:spPr>
      </p:cxnSp>
      <p:sp>
        <p:nvSpPr>
          <p:cNvPr id="127" name="TextBox 127"/>
          <p:cNvSpPr txBox="1"/>
          <p:nvPr/>
        </p:nvSpPr>
        <p:spPr>
          <a:xfrm>
            <a:off x="5971031" y="45720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128" name="Connector 128"/>
          <p:cNvCxnSpPr/>
          <p:nvPr/>
        </p:nvCxnSpPr>
        <p:spPr>
          <a:xfrm>
            <a:off x="6656831" y="4058920"/>
            <a:ext cx="4526281" cy="0"/>
          </a:xfrm>
          <a:prstGeom prst="line">
            <a:avLst/>
          </a:prstGeom>
          <a:ln w="9525">
            <a:solidFill>
              <a:srgbClr val="DDE3E8"/>
            </a:solidFill>
          </a:ln>
        </p:spPr>
      </p:cxnSp>
      <p:sp>
        <p:nvSpPr>
          <p:cNvPr id="129" name="TextBox 129"/>
          <p:cNvSpPr txBox="1"/>
          <p:nvPr/>
        </p:nvSpPr>
        <p:spPr>
          <a:xfrm>
            <a:off x="5971031" y="3921760"/>
            <a:ext cx="621792" cy="274320"/>
          </a:xfrm>
          <a:prstGeom prst="rect">
            <a:avLst/>
          </a:prstGeom>
          <a:noFill/>
        </p:spPr>
        <p:txBody>
          <a:bodyPr wrap="square" lIns="0" tIns="0" rIns="0" bIns="0" anchor="t">
            <a:spAutoFit/>
          </a:bodyPr>
          <a:lstStyle/>
          <a:p>
            <a:pPr algn="r"/>
            <a:r>
              <a:rPr sz="1200" b="0" i="0">
                <a:solidFill>
                  <a:srgbClr val="55606B"/>
                </a:solidFill>
              </a:rPr>
              <a:t>2</a:t>
            </a:r>
          </a:p>
        </p:txBody>
      </p:sp>
      <p:cxnSp>
        <p:nvCxnSpPr>
          <p:cNvPr id="130" name="Connector 130"/>
          <p:cNvCxnSpPr/>
          <p:nvPr/>
        </p:nvCxnSpPr>
        <p:spPr>
          <a:xfrm>
            <a:off x="6656831" y="3408680"/>
            <a:ext cx="4526281" cy="0"/>
          </a:xfrm>
          <a:prstGeom prst="line">
            <a:avLst/>
          </a:prstGeom>
          <a:ln w="9525">
            <a:solidFill>
              <a:srgbClr val="DDE3E8"/>
            </a:solidFill>
          </a:ln>
        </p:spPr>
      </p:cxnSp>
      <p:sp>
        <p:nvSpPr>
          <p:cNvPr id="131" name="TextBox 131"/>
          <p:cNvSpPr txBox="1"/>
          <p:nvPr/>
        </p:nvSpPr>
        <p:spPr>
          <a:xfrm>
            <a:off x="5971031" y="3271520"/>
            <a:ext cx="621792" cy="274320"/>
          </a:xfrm>
          <a:prstGeom prst="rect">
            <a:avLst/>
          </a:prstGeom>
          <a:noFill/>
        </p:spPr>
        <p:txBody>
          <a:bodyPr wrap="square" lIns="0" tIns="0" rIns="0" bIns="0" anchor="t">
            <a:spAutoFit/>
          </a:bodyPr>
          <a:lstStyle/>
          <a:p>
            <a:pPr algn="r"/>
            <a:r>
              <a:rPr sz="1200" b="0" i="0">
                <a:solidFill>
                  <a:srgbClr val="55606B"/>
                </a:solidFill>
              </a:rPr>
              <a:t>4</a:t>
            </a:r>
          </a:p>
        </p:txBody>
      </p:sp>
      <p:cxnSp>
        <p:nvCxnSpPr>
          <p:cNvPr id="132" name="Connector 132"/>
          <p:cNvCxnSpPr/>
          <p:nvPr/>
        </p:nvCxnSpPr>
        <p:spPr>
          <a:xfrm>
            <a:off x="6656831" y="2758440"/>
            <a:ext cx="4526281" cy="0"/>
          </a:xfrm>
          <a:prstGeom prst="line">
            <a:avLst/>
          </a:prstGeom>
          <a:ln w="9525">
            <a:solidFill>
              <a:srgbClr val="DDE3E8"/>
            </a:solidFill>
          </a:ln>
        </p:spPr>
      </p:cxnSp>
      <p:sp>
        <p:nvSpPr>
          <p:cNvPr id="133" name="TextBox 133"/>
          <p:cNvSpPr txBox="1"/>
          <p:nvPr/>
        </p:nvSpPr>
        <p:spPr>
          <a:xfrm>
            <a:off x="5971031" y="2621280"/>
            <a:ext cx="621792" cy="274320"/>
          </a:xfrm>
          <a:prstGeom prst="rect">
            <a:avLst/>
          </a:prstGeom>
          <a:noFill/>
        </p:spPr>
        <p:txBody>
          <a:bodyPr wrap="square" lIns="0" tIns="0" rIns="0" bIns="0" anchor="t">
            <a:spAutoFit/>
          </a:bodyPr>
          <a:lstStyle/>
          <a:p>
            <a:pPr algn="r"/>
            <a:r>
              <a:rPr sz="1200" b="0" i="0">
                <a:solidFill>
                  <a:srgbClr val="55606B"/>
                </a:solidFill>
              </a:rPr>
              <a:t>6</a:t>
            </a:r>
          </a:p>
        </p:txBody>
      </p:sp>
      <p:cxnSp>
        <p:nvCxnSpPr>
          <p:cNvPr id="134" name="Connector 134"/>
          <p:cNvCxnSpPr/>
          <p:nvPr/>
        </p:nvCxnSpPr>
        <p:spPr>
          <a:xfrm>
            <a:off x="6656831" y="2108200"/>
            <a:ext cx="4526281" cy="0"/>
          </a:xfrm>
          <a:prstGeom prst="line">
            <a:avLst/>
          </a:prstGeom>
          <a:ln w="9525">
            <a:solidFill>
              <a:srgbClr val="DDE3E8"/>
            </a:solidFill>
          </a:ln>
        </p:spPr>
      </p:cxnSp>
      <p:sp>
        <p:nvSpPr>
          <p:cNvPr id="135" name="TextBox 135"/>
          <p:cNvSpPr txBox="1"/>
          <p:nvPr/>
        </p:nvSpPr>
        <p:spPr>
          <a:xfrm>
            <a:off x="5971031" y="1971040"/>
            <a:ext cx="621792" cy="274320"/>
          </a:xfrm>
          <a:prstGeom prst="rect">
            <a:avLst/>
          </a:prstGeom>
          <a:noFill/>
        </p:spPr>
        <p:txBody>
          <a:bodyPr wrap="square" lIns="0" tIns="0" rIns="0" bIns="0" anchor="t">
            <a:spAutoFit/>
          </a:bodyPr>
          <a:lstStyle/>
          <a:p>
            <a:pPr algn="r"/>
            <a:r>
              <a:rPr sz="1200" b="0" i="0">
                <a:solidFill>
                  <a:srgbClr val="55606B"/>
                </a:solidFill>
              </a:rPr>
              <a:t>8</a:t>
            </a:r>
          </a:p>
        </p:txBody>
      </p:sp>
      <p:cxnSp>
        <p:nvCxnSpPr>
          <p:cNvPr id="136" name="Connector 136"/>
          <p:cNvCxnSpPr/>
          <p:nvPr/>
        </p:nvCxnSpPr>
        <p:spPr>
          <a:xfrm>
            <a:off x="6656831" y="4709160"/>
            <a:ext cx="0" cy="64008"/>
          </a:xfrm>
          <a:prstGeom prst="line">
            <a:avLst/>
          </a:prstGeom>
          <a:ln w="15875">
            <a:solidFill>
              <a:srgbClr val="BBC4CC"/>
            </a:solidFill>
          </a:ln>
        </p:spPr>
      </p:cxnSp>
      <p:sp>
        <p:nvSpPr>
          <p:cNvPr id="137" name="TextBox 137"/>
          <p:cNvSpPr txBox="1"/>
          <p:nvPr/>
        </p:nvSpPr>
        <p:spPr>
          <a:xfrm>
            <a:off x="6108192" y="47823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138" name="Connector 138"/>
          <p:cNvCxnSpPr/>
          <p:nvPr/>
        </p:nvCxnSpPr>
        <p:spPr>
          <a:xfrm>
            <a:off x="7518980" y="4709160"/>
            <a:ext cx="0" cy="64008"/>
          </a:xfrm>
          <a:prstGeom prst="line">
            <a:avLst/>
          </a:prstGeom>
          <a:ln w="15875">
            <a:solidFill>
              <a:srgbClr val="BBC4CC"/>
            </a:solidFill>
          </a:ln>
        </p:spPr>
      </p:cxnSp>
      <p:sp>
        <p:nvSpPr>
          <p:cNvPr id="139" name="TextBox 139"/>
          <p:cNvSpPr txBox="1"/>
          <p:nvPr/>
        </p:nvSpPr>
        <p:spPr>
          <a:xfrm>
            <a:off x="6970341" y="47823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140" name="Connector 140"/>
          <p:cNvCxnSpPr/>
          <p:nvPr/>
        </p:nvCxnSpPr>
        <p:spPr>
          <a:xfrm>
            <a:off x="8381129" y="4709160"/>
            <a:ext cx="0" cy="64008"/>
          </a:xfrm>
          <a:prstGeom prst="line">
            <a:avLst/>
          </a:prstGeom>
          <a:ln w="15875">
            <a:solidFill>
              <a:srgbClr val="BBC4CC"/>
            </a:solidFill>
          </a:ln>
        </p:spPr>
      </p:cxnSp>
      <p:sp>
        <p:nvSpPr>
          <p:cNvPr id="141" name="TextBox 141"/>
          <p:cNvSpPr txBox="1"/>
          <p:nvPr/>
        </p:nvSpPr>
        <p:spPr>
          <a:xfrm>
            <a:off x="7832490" y="47823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142" name="Connector 142"/>
          <p:cNvCxnSpPr/>
          <p:nvPr/>
        </p:nvCxnSpPr>
        <p:spPr>
          <a:xfrm>
            <a:off x="9243277" y="4709160"/>
            <a:ext cx="0" cy="64008"/>
          </a:xfrm>
          <a:prstGeom prst="line">
            <a:avLst/>
          </a:prstGeom>
          <a:ln w="15875">
            <a:solidFill>
              <a:srgbClr val="BBC4CC"/>
            </a:solidFill>
          </a:ln>
        </p:spPr>
      </p:cxnSp>
      <p:sp>
        <p:nvSpPr>
          <p:cNvPr id="143" name="TextBox 143"/>
          <p:cNvSpPr txBox="1"/>
          <p:nvPr/>
        </p:nvSpPr>
        <p:spPr>
          <a:xfrm>
            <a:off x="8694638" y="4782312"/>
            <a:ext cx="1097280" cy="274320"/>
          </a:xfrm>
          <a:prstGeom prst="rect">
            <a:avLst/>
          </a:prstGeom>
          <a:noFill/>
        </p:spPr>
        <p:txBody>
          <a:bodyPr wrap="square" lIns="0" tIns="0" rIns="0" bIns="0" anchor="t">
            <a:spAutoFit/>
          </a:bodyPr>
          <a:lstStyle/>
          <a:p>
            <a:pPr algn="ctr"/>
            <a:r>
              <a:rPr sz="1200" b="0" i="0">
                <a:solidFill>
                  <a:srgbClr val="55606B"/>
                </a:solidFill>
              </a:rPr>
              <a:t>12</a:t>
            </a:r>
          </a:p>
        </p:txBody>
      </p:sp>
      <p:cxnSp>
        <p:nvCxnSpPr>
          <p:cNvPr id="144" name="Connector 144"/>
          <p:cNvCxnSpPr/>
          <p:nvPr/>
        </p:nvCxnSpPr>
        <p:spPr>
          <a:xfrm>
            <a:off x="10105426" y="4709160"/>
            <a:ext cx="0" cy="64008"/>
          </a:xfrm>
          <a:prstGeom prst="line">
            <a:avLst/>
          </a:prstGeom>
          <a:ln w="15875">
            <a:solidFill>
              <a:srgbClr val="BBC4CC"/>
            </a:solidFill>
          </a:ln>
        </p:spPr>
      </p:cxnSp>
      <p:sp>
        <p:nvSpPr>
          <p:cNvPr id="145" name="TextBox 145"/>
          <p:cNvSpPr txBox="1"/>
          <p:nvPr/>
        </p:nvSpPr>
        <p:spPr>
          <a:xfrm>
            <a:off x="9556787" y="4782312"/>
            <a:ext cx="1097280" cy="274320"/>
          </a:xfrm>
          <a:prstGeom prst="rect">
            <a:avLst/>
          </a:prstGeom>
          <a:noFill/>
        </p:spPr>
        <p:txBody>
          <a:bodyPr wrap="square" lIns="0" tIns="0" rIns="0" bIns="0" anchor="t">
            <a:spAutoFit/>
          </a:bodyPr>
          <a:lstStyle/>
          <a:p>
            <a:pPr algn="ctr"/>
            <a:r>
              <a:rPr sz="1200" b="0" i="0">
                <a:solidFill>
                  <a:srgbClr val="55606B"/>
                </a:solidFill>
              </a:rPr>
              <a:t>16</a:t>
            </a:r>
          </a:p>
        </p:txBody>
      </p:sp>
      <p:cxnSp>
        <p:nvCxnSpPr>
          <p:cNvPr id="146" name="Connector 146"/>
          <p:cNvCxnSpPr/>
          <p:nvPr/>
        </p:nvCxnSpPr>
        <p:spPr>
          <a:xfrm>
            <a:off x="10967575" y="4709160"/>
            <a:ext cx="0" cy="64008"/>
          </a:xfrm>
          <a:prstGeom prst="line">
            <a:avLst/>
          </a:prstGeom>
          <a:ln w="15875">
            <a:solidFill>
              <a:srgbClr val="BBC4CC"/>
            </a:solidFill>
          </a:ln>
        </p:spPr>
      </p:cxnSp>
      <p:sp>
        <p:nvSpPr>
          <p:cNvPr id="147" name="TextBox 147"/>
          <p:cNvSpPr txBox="1"/>
          <p:nvPr/>
        </p:nvSpPr>
        <p:spPr>
          <a:xfrm>
            <a:off x="10418936" y="4782312"/>
            <a:ext cx="1097280" cy="274320"/>
          </a:xfrm>
          <a:prstGeom prst="rect">
            <a:avLst/>
          </a:prstGeom>
          <a:noFill/>
        </p:spPr>
        <p:txBody>
          <a:bodyPr wrap="square" lIns="0" tIns="0" rIns="0" bIns="0" anchor="t">
            <a:spAutoFit/>
          </a:bodyPr>
          <a:lstStyle/>
          <a:p>
            <a:pPr algn="ctr"/>
            <a:r>
              <a:rPr sz="1200" b="0" i="0">
                <a:solidFill>
                  <a:srgbClr val="55606B"/>
                </a:solidFill>
              </a:rPr>
              <a:t>20</a:t>
            </a:r>
          </a:p>
        </p:txBody>
      </p:sp>
      <p:cxnSp>
        <p:nvCxnSpPr>
          <p:cNvPr id="62" name="Connector 61"/>
          <p:cNvCxnSpPr/>
          <p:nvPr/>
        </p:nvCxnSpPr>
        <p:spPr>
          <a:xfrm>
            <a:off x="6656831" y="4709160"/>
            <a:ext cx="4526281" cy="0"/>
          </a:xfrm>
          <a:prstGeom prst="line">
            <a:avLst/>
          </a:prstGeom>
          <a:ln w="15875">
            <a:solidFill>
              <a:srgbClr val="BBC4CC"/>
            </a:solidFill>
          </a:ln>
        </p:spPr>
      </p:cxnSp>
      <p:cxnSp>
        <p:nvCxnSpPr>
          <p:cNvPr id="71" name="Connector 70"/>
          <p:cNvCxnSpPr/>
          <p:nvPr/>
        </p:nvCxnSpPr>
        <p:spPr>
          <a:xfrm flipV="1">
            <a:off x="8596666" y="2343640"/>
            <a:ext cx="2370909" cy="1054049"/>
          </a:xfrm>
          <a:prstGeom prst="line">
            <a:avLst/>
          </a:prstGeom>
          <a:ln w="38100">
            <a:solidFill>
              <a:srgbClr val="1F394D"/>
            </a:solidFill>
          </a:ln>
        </p:spPr>
      </p:cxnSp>
      <p:cxnSp>
        <p:nvCxnSpPr>
          <p:cNvPr id="148" name="Connector 148"/>
          <p:cNvCxnSpPr/>
          <p:nvPr/>
        </p:nvCxnSpPr>
        <p:spPr>
          <a:xfrm flipV="1">
            <a:off x="6656831" y="3397689"/>
            <a:ext cx="1939835" cy="862404"/>
          </a:xfrm>
          <a:prstGeom prst="line">
            <a:avLst/>
          </a:prstGeom>
          <a:ln w="19050">
            <a:solidFill>
              <a:srgbClr val="1F394D"/>
            </a:solidFill>
            <a:prstDash val="dash"/>
          </a:ln>
        </p:spPr>
      </p:cxnSp>
      <p:cxnSp>
        <p:nvCxnSpPr>
          <p:cNvPr id="72" name="Connector 71"/>
          <p:cNvCxnSpPr/>
          <p:nvPr/>
        </p:nvCxnSpPr>
        <p:spPr>
          <a:xfrm flipV="1">
            <a:off x="8596666" y="3397625"/>
            <a:ext cx="0" cy="206127"/>
          </a:xfrm>
          <a:prstGeom prst="line">
            <a:avLst/>
          </a:prstGeom>
          <a:ln w="25400">
            <a:solidFill>
              <a:srgbClr val="B88C00"/>
            </a:solidFill>
          </a:ln>
        </p:spPr>
      </p:cxnSp>
      <p:sp>
        <p:nvSpPr>
          <p:cNvPr id="73" name="Oval 72"/>
          <p:cNvSpPr/>
          <p:nvPr/>
        </p:nvSpPr>
        <p:spPr>
          <a:xfrm>
            <a:off x="8532658" y="3539744"/>
            <a:ext cx="128016" cy="128016"/>
          </a:xfrm>
          <a:prstGeom prst="ellipse">
            <a:avLst/>
          </a:prstGeom>
          <a:solidFill>
            <a:srgbClr val="3F739B"/>
          </a:solidFill>
          <a:ln>
            <a:noFill/>
          </a:ln>
        </p:spPr>
        <p:txBody>
          <a:bodyPr rtlCol="0" anchor="ctr"/>
          <a:lstStyle/>
          <a:p>
            <a:pPr algn="ctr"/>
            <a:endParaRPr/>
          </a:p>
        </p:txBody>
      </p:sp>
      <p:cxnSp>
        <p:nvCxnSpPr>
          <p:cNvPr id="74" name="Connector 73"/>
          <p:cNvCxnSpPr/>
          <p:nvPr/>
        </p:nvCxnSpPr>
        <p:spPr>
          <a:xfrm>
            <a:off x="8812203" y="3213608"/>
            <a:ext cx="0" cy="88107"/>
          </a:xfrm>
          <a:prstGeom prst="line">
            <a:avLst/>
          </a:prstGeom>
          <a:ln w="25400">
            <a:solidFill>
              <a:srgbClr val="B88C00"/>
            </a:solidFill>
          </a:ln>
        </p:spPr>
      </p:cxnSp>
      <p:sp>
        <p:nvSpPr>
          <p:cNvPr id="75" name="Oval 74"/>
          <p:cNvSpPr/>
          <p:nvPr/>
        </p:nvSpPr>
        <p:spPr>
          <a:xfrm>
            <a:off x="8748195" y="3149600"/>
            <a:ext cx="128016" cy="128016"/>
          </a:xfrm>
          <a:prstGeom prst="ellipse">
            <a:avLst/>
          </a:prstGeom>
          <a:solidFill>
            <a:srgbClr val="3F739B"/>
          </a:solidFill>
          <a:ln>
            <a:noFill/>
          </a:ln>
        </p:spPr>
        <p:txBody>
          <a:bodyPr rtlCol="0" anchor="ctr"/>
          <a:lstStyle/>
          <a:p>
            <a:pPr algn="ctr"/>
            <a:endParaRPr/>
          </a:p>
        </p:txBody>
      </p:sp>
      <p:cxnSp>
        <p:nvCxnSpPr>
          <p:cNvPr id="76" name="Connector 75"/>
          <p:cNvCxnSpPr/>
          <p:nvPr/>
        </p:nvCxnSpPr>
        <p:spPr>
          <a:xfrm>
            <a:off x="9027740" y="3116071"/>
            <a:ext cx="0" cy="90059"/>
          </a:xfrm>
          <a:prstGeom prst="line">
            <a:avLst/>
          </a:prstGeom>
          <a:ln w="25400">
            <a:solidFill>
              <a:srgbClr val="B88C00"/>
            </a:solidFill>
          </a:ln>
        </p:spPr>
      </p:cxnSp>
      <p:sp>
        <p:nvSpPr>
          <p:cNvPr id="77" name="Oval 76"/>
          <p:cNvSpPr/>
          <p:nvPr/>
        </p:nvSpPr>
        <p:spPr>
          <a:xfrm>
            <a:off x="8963732" y="3052063"/>
            <a:ext cx="128016" cy="128016"/>
          </a:xfrm>
          <a:prstGeom prst="ellipse">
            <a:avLst/>
          </a:prstGeom>
          <a:solidFill>
            <a:srgbClr val="3F739B"/>
          </a:solidFill>
          <a:ln>
            <a:noFill/>
          </a:ln>
        </p:spPr>
        <p:txBody>
          <a:bodyPr rtlCol="0" anchor="ctr"/>
          <a:lstStyle/>
          <a:p>
            <a:pPr algn="ctr"/>
            <a:endParaRPr/>
          </a:p>
        </p:txBody>
      </p:sp>
      <p:cxnSp>
        <p:nvCxnSpPr>
          <p:cNvPr id="78" name="Connector 77"/>
          <p:cNvCxnSpPr/>
          <p:nvPr/>
        </p:nvCxnSpPr>
        <p:spPr>
          <a:xfrm flipV="1">
            <a:off x="9027740" y="3206130"/>
            <a:ext cx="0" cy="202550"/>
          </a:xfrm>
          <a:prstGeom prst="line">
            <a:avLst/>
          </a:prstGeom>
          <a:ln w="25400">
            <a:solidFill>
              <a:srgbClr val="B88C00"/>
            </a:solidFill>
          </a:ln>
        </p:spPr>
      </p:cxnSp>
      <p:sp>
        <p:nvSpPr>
          <p:cNvPr id="79" name="Oval 78"/>
          <p:cNvSpPr/>
          <p:nvPr/>
        </p:nvSpPr>
        <p:spPr>
          <a:xfrm>
            <a:off x="8963732" y="3344672"/>
            <a:ext cx="128016" cy="128016"/>
          </a:xfrm>
          <a:prstGeom prst="ellipse">
            <a:avLst/>
          </a:prstGeom>
          <a:solidFill>
            <a:srgbClr val="3F739B"/>
          </a:solidFill>
          <a:ln>
            <a:noFill/>
          </a:ln>
        </p:spPr>
        <p:txBody>
          <a:bodyPr rtlCol="0" anchor="ctr"/>
          <a:lstStyle/>
          <a:p>
            <a:pPr algn="ctr"/>
            <a:endParaRPr/>
          </a:p>
        </p:txBody>
      </p:sp>
      <p:cxnSp>
        <p:nvCxnSpPr>
          <p:cNvPr id="80" name="Connector 79"/>
          <p:cNvCxnSpPr/>
          <p:nvPr/>
        </p:nvCxnSpPr>
        <p:spPr>
          <a:xfrm>
            <a:off x="9243277" y="2888487"/>
            <a:ext cx="0" cy="221732"/>
          </a:xfrm>
          <a:prstGeom prst="line">
            <a:avLst/>
          </a:prstGeom>
          <a:ln w="25400">
            <a:solidFill>
              <a:srgbClr val="B88C00"/>
            </a:solidFill>
          </a:ln>
        </p:spPr>
      </p:cxnSp>
      <p:sp>
        <p:nvSpPr>
          <p:cNvPr id="81" name="Oval 80"/>
          <p:cNvSpPr/>
          <p:nvPr/>
        </p:nvSpPr>
        <p:spPr>
          <a:xfrm>
            <a:off x="9179269" y="2824479"/>
            <a:ext cx="128016" cy="128016"/>
          </a:xfrm>
          <a:prstGeom prst="ellipse">
            <a:avLst/>
          </a:prstGeom>
          <a:solidFill>
            <a:srgbClr val="3F739B"/>
          </a:solidFill>
          <a:ln>
            <a:noFill/>
          </a:ln>
        </p:spPr>
        <p:txBody>
          <a:bodyPr rtlCol="0" anchor="ctr"/>
          <a:lstStyle/>
          <a:p>
            <a:pPr algn="ctr"/>
            <a:endParaRPr/>
          </a:p>
        </p:txBody>
      </p:sp>
      <p:cxnSp>
        <p:nvCxnSpPr>
          <p:cNvPr id="82" name="Connector 81"/>
          <p:cNvCxnSpPr/>
          <p:nvPr/>
        </p:nvCxnSpPr>
        <p:spPr>
          <a:xfrm flipV="1">
            <a:off x="9458814" y="3014309"/>
            <a:ext cx="0" cy="4227"/>
          </a:xfrm>
          <a:prstGeom prst="line">
            <a:avLst/>
          </a:prstGeom>
          <a:ln w="25400">
            <a:solidFill>
              <a:srgbClr val="B88C00"/>
            </a:solidFill>
          </a:ln>
        </p:spPr>
      </p:cxnSp>
      <p:sp>
        <p:nvSpPr>
          <p:cNvPr id="83" name="Oval 82"/>
          <p:cNvSpPr/>
          <p:nvPr/>
        </p:nvSpPr>
        <p:spPr>
          <a:xfrm>
            <a:off x="9394806" y="2954528"/>
            <a:ext cx="128016" cy="128016"/>
          </a:xfrm>
          <a:prstGeom prst="ellipse">
            <a:avLst/>
          </a:prstGeom>
          <a:solidFill>
            <a:srgbClr val="3F739B"/>
          </a:solidFill>
          <a:ln>
            <a:noFill/>
          </a:ln>
        </p:spPr>
        <p:txBody>
          <a:bodyPr rtlCol="0" anchor="ctr"/>
          <a:lstStyle/>
          <a:p>
            <a:pPr algn="ctr"/>
            <a:endParaRPr/>
          </a:p>
        </p:txBody>
      </p:sp>
      <p:cxnSp>
        <p:nvCxnSpPr>
          <p:cNvPr id="84" name="Connector 83"/>
          <p:cNvCxnSpPr/>
          <p:nvPr/>
        </p:nvCxnSpPr>
        <p:spPr>
          <a:xfrm flipV="1">
            <a:off x="9674352" y="2918723"/>
            <a:ext cx="0" cy="132325"/>
          </a:xfrm>
          <a:prstGeom prst="line">
            <a:avLst/>
          </a:prstGeom>
          <a:ln w="25400">
            <a:solidFill>
              <a:srgbClr val="B88C00"/>
            </a:solidFill>
          </a:ln>
        </p:spPr>
      </p:cxnSp>
      <p:sp>
        <p:nvSpPr>
          <p:cNvPr id="85" name="Oval 84"/>
          <p:cNvSpPr/>
          <p:nvPr/>
        </p:nvSpPr>
        <p:spPr>
          <a:xfrm>
            <a:off x="9610344" y="2987040"/>
            <a:ext cx="128016" cy="128016"/>
          </a:xfrm>
          <a:prstGeom prst="ellipse">
            <a:avLst/>
          </a:prstGeom>
          <a:solidFill>
            <a:srgbClr val="3F739B"/>
          </a:solidFill>
          <a:ln>
            <a:noFill/>
          </a:ln>
        </p:spPr>
        <p:txBody>
          <a:bodyPr rtlCol="0" anchor="ctr"/>
          <a:lstStyle/>
          <a:p>
            <a:pPr algn="ctr"/>
            <a:endParaRPr/>
          </a:p>
        </p:txBody>
      </p:sp>
      <p:cxnSp>
        <p:nvCxnSpPr>
          <p:cNvPr id="86" name="Connector 85"/>
          <p:cNvCxnSpPr/>
          <p:nvPr/>
        </p:nvCxnSpPr>
        <p:spPr>
          <a:xfrm>
            <a:off x="9889889" y="2498344"/>
            <a:ext cx="0" cy="324469"/>
          </a:xfrm>
          <a:prstGeom prst="line">
            <a:avLst/>
          </a:prstGeom>
          <a:ln w="25400">
            <a:solidFill>
              <a:srgbClr val="B88C00"/>
            </a:solidFill>
          </a:ln>
        </p:spPr>
      </p:cxnSp>
      <p:sp>
        <p:nvSpPr>
          <p:cNvPr id="87" name="Oval 86"/>
          <p:cNvSpPr/>
          <p:nvPr/>
        </p:nvSpPr>
        <p:spPr>
          <a:xfrm>
            <a:off x="9825881" y="2434336"/>
            <a:ext cx="128016" cy="128016"/>
          </a:xfrm>
          <a:prstGeom prst="ellipse">
            <a:avLst/>
          </a:prstGeom>
          <a:solidFill>
            <a:srgbClr val="3F739B"/>
          </a:solidFill>
          <a:ln>
            <a:noFill/>
          </a:ln>
        </p:spPr>
        <p:txBody>
          <a:bodyPr rtlCol="0" anchor="ctr"/>
          <a:lstStyle/>
          <a:p>
            <a:pPr algn="ctr"/>
            <a:endParaRPr/>
          </a:p>
        </p:txBody>
      </p:sp>
      <p:cxnSp>
        <p:nvCxnSpPr>
          <p:cNvPr id="88" name="Connector 87"/>
          <p:cNvCxnSpPr/>
          <p:nvPr/>
        </p:nvCxnSpPr>
        <p:spPr>
          <a:xfrm>
            <a:off x="10105426" y="2660903"/>
            <a:ext cx="0" cy="66000"/>
          </a:xfrm>
          <a:prstGeom prst="line">
            <a:avLst/>
          </a:prstGeom>
          <a:ln w="25400">
            <a:solidFill>
              <a:srgbClr val="B88C00"/>
            </a:solidFill>
          </a:ln>
        </p:spPr>
      </p:cxnSp>
      <p:sp>
        <p:nvSpPr>
          <p:cNvPr id="89" name="Oval 88"/>
          <p:cNvSpPr/>
          <p:nvPr/>
        </p:nvSpPr>
        <p:spPr>
          <a:xfrm>
            <a:off x="10041418" y="2596895"/>
            <a:ext cx="128016" cy="128016"/>
          </a:xfrm>
          <a:prstGeom prst="ellipse">
            <a:avLst/>
          </a:prstGeom>
          <a:solidFill>
            <a:srgbClr val="3F739B"/>
          </a:solidFill>
          <a:ln>
            <a:noFill/>
          </a:ln>
        </p:spPr>
        <p:txBody>
          <a:bodyPr rtlCol="0" anchor="ctr"/>
          <a:lstStyle/>
          <a:p>
            <a:pPr algn="ctr"/>
            <a:endParaRPr/>
          </a:p>
        </p:txBody>
      </p:sp>
      <p:cxnSp>
        <p:nvCxnSpPr>
          <p:cNvPr id="90" name="Connector 89"/>
          <p:cNvCxnSpPr/>
          <p:nvPr/>
        </p:nvCxnSpPr>
        <p:spPr>
          <a:xfrm flipV="1">
            <a:off x="10320963" y="2630992"/>
            <a:ext cx="0" cy="257495"/>
          </a:xfrm>
          <a:prstGeom prst="line">
            <a:avLst/>
          </a:prstGeom>
          <a:ln w="25400">
            <a:solidFill>
              <a:srgbClr val="B88C00"/>
            </a:solidFill>
          </a:ln>
        </p:spPr>
      </p:cxnSp>
      <p:sp>
        <p:nvSpPr>
          <p:cNvPr id="91" name="Oval 90"/>
          <p:cNvSpPr/>
          <p:nvPr/>
        </p:nvSpPr>
        <p:spPr>
          <a:xfrm>
            <a:off x="10256955" y="2824479"/>
            <a:ext cx="128016" cy="128016"/>
          </a:xfrm>
          <a:prstGeom prst="ellipse">
            <a:avLst/>
          </a:prstGeom>
          <a:solidFill>
            <a:srgbClr val="3F739B"/>
          </a:solidFill>
          <a:ln>
            <a:noFill/>
          </a:ln>
        </p:spPr>
        <p:txBody>
          <a:bodyPr rtlCol="0" anchor="ctr"/>
          <a:lstStyle/>
          <a:p>
            <a:pPr algn="ctr"/>
            <a:endParaRPr/>
          </a:p>
        </p:txBody>
      </p:sp>
      <p:cxnSp>
        <p:nvCxnSpPr>
          <p:cNvPr id="92" name="Connector 91"/>
          <p:cNvCxnSpPr/>
          <p:nvPr/>
        </p:nvCxnSpPr>
        <p:spPr>
          <a:xfrm>
            <a:off x="10536500" y="2368296"/>
            <a:ext cx="0" cy="167111"/>
          </a:xfrm>
          <a:prstGeom prst="line">
            <a:avLst/>
          </a:prstGeom>
          <a:ln w="25400">
            <a:solidFill>
              <a:srgbClr val="B88C00"/>
            </a:solidFill>
          </a:ln>
        </p:spPr>
      </p:cxnSp>
      <p:sp>
        <p:nvSpPr>
          <p:cNvPr id="93" name="Oval 92"/>
          <p:cNvSpPr/>
          <p:nvPr/>
        </p:nvSpPr>
        <p:spPr>
          <a:xfrm>
            <a:off x="10472492" y="2304288"/>
            <a:ext cx="128016" cy="128016"/>
          </a:xfrm>
          <a:prstGeom prst="ellipse">
            <a:avLst/>
          </a:prstGeom>
          <a:solidFill>
            <a:srgbClr val="3F739B"/>
          </a:solidFill>
          <a:ln>
            <a:noFill/>
          </a:ln>
        </p:spPr>
        <p:txBody>
          <a:bodyPr rtlCol="0" anchor="ctr"/>
          <a:lstStyle/>
          <a:p>
            <a:pPr algn="ctr"/>
            <a:endParaRPr/>
          </a:p>
        </p:txBody>
      </p:sp>
      <p:cxnSp>
        <p:nvCxnSpPr>
          <p:cNvPr id="94" name="Connector 93"/>
          <p:cNvCxnSpPr/>
          <p:nvPr/>
        </p:nvCxnSpPr>
        <p:spPr>
          <a:xfrm flipV="1">
            <a:off x="10967574" y="2343586"/>
            <a:ext cx="0" cy="154758"/>
          </a:xfrm>
          <a:prstGeom prst="line">
            <a:avLst/>
          </a:prstGeom>
          <a:ln w="25400">
            <a:solidFill>
              <a:srgbClr val="B88C00"/>
            </a:solidFill>
          </a:ln>
        </p:spPr>
      </p:cxnSp>
      <p:sp>
        <p:nvSpPr>
          <p:cNvPr id="95" name="Oval 94"/>
          <p:cNvSpPr/>
          <p:nvPr/>
        </p:nvSpPr>
        <p:spPr>
          <a:xfrm>
            <a:off x="10903566" y="2434336"/>
            <a:ext cx="128016" cy="128016"/>
          </a:xfrm>
          <a:prstGeom prst="ellipse">
            <a:avLst/>
          </a:prstGeom>
          <a:solidFill>
            <a:srgbClr val="3F739B"/>
          </a:solidFill>
          <a:ln>
            <a:noFill/>
          </a:ln>
        </p:spPr>
        <p:txBody>
          <a:bodyPr rtlCol="0" anchor="ctr"/>
          <a:lstStyle/>
          <a:p>
            <a:pPr algn="ctr"/>
            <a:endParaRPr/>
          </a:p>
        </p:txBody>
      </p:sp>
      <p:sp>
        <p:nvSpPr>
          <p:cNvPr id="149" name="Intercept dot"/>
          <p:cNvSpPr/>
          <p:nvPr/>
        </p:nvSpPr>
        <p:spPr>
          <a:xfrm>
            <a:off x="6583679" y="4186941"/>
            <a:ext cx="146304" cy="146304"/>
          </a:xfrm>
          <a:prstGeom prst="ellipse">
            <a:avLst/>
          </a:prstGeom>
          <a:solidFill>
            <a:srgbClr val="1F394D"/>
          </a:solidFill>
          <a:ln w="12700">
            <a:solidFill>
              <a:srgbClr val="FFFFFF"/>
            </a:solidFill>
          </a:ln>
        </p:spPr>
        <p:txBody>
          <a:bodyPr rtlCol="0" anchor="ctr"/>
          <a:lstStyle/>
          <a:p>
            <a:pPr algn="ctr"/>
            <a:endParaRPr/>
          </a:p>
        </p:txBody>
      </p:sp>
      <p:sp>
        <p:nvSpPr>
          <p:cNvPr id="150" name="Label"/>
          <p:cNvSpPr txBox="1"/>
          <p:nvPr/>
        </p:nvSpPr>
        <p:spPr>
          <a:xfrm>
            <a:off x="6766559" y="4278381"/>
            <a:ext cx="1280160" cy="466344"/>
          </a:xfrm>
          <a:prstGeom prst="rect">
            <a:avLst/>
          </a:prstGeom>
          <a:noFill/>
        </p:spPr>
        <p:txBody>
          <a:bodyPr wrap="square" lIns="0" tIns="0" rIns="0" bIns="0" anchor="ctr">
            <a:spAutoFit/>
          </a:bodyPr>
          <a:lstStyle/>
          <a:p>
            <a:pPr algn="l"/>
            <a:r>
              <a:rPr sz="1200" b="1" i="0">
                <a:solidFill>
                  <a:srgbClr val="1F394D"/>
                </a:solidFill>
              </a:rPr>
              <a:t>1.38</a:t>
            </a:r>
          </a:p>
        </p:txBody>
      </p:sp>
      <p:sp>
        <p:nvSpPr>
          <p:cNvPr id="96" name="Rounded Rectangle 95"/>
          <p:cNvSpPr/>
          <p:nvPr/>
        </p:nvSpPr>
        <p:spPr>
          <a:xfrm>
            <a:off x="6153912" y="5166360"/>
            <a:ext cx="5212080" cy="685800"/>
          </a:xfrm>
          <a:prstGeom prst="roundRect">
            <a:avLst>
              <a:gd name="adj" fmla="val 8000"/>
            </a:avLst>
          </a:prstGeom>
          <a:solidFill>
            <a:srgbClr val="EEF3F7"/>
          </a:solidFill>
          <a:ln>
            <a:noFill/>
          </a:ln>
        </p:spPr>
        <p:txBody>
          <a:bodyPr rtlCol="0" anchor="ctr"/>
          <a:lstStyle/>
          <a:p>
            <a:endParaRPr/>
          </a:p>
        </p:txBody>
      </p:sp>
      <p:sp>
        <p:nvSpPr>
          <p:cNvPr id="97" name="TextBox 96"/>
          <p:cNvSpPr txBox="1"/>
          <p:nvPr/>
        </p:nvSpPr>
        <p:spPr>
          <a:xfrm>
            <a:off x="6291072" y="5276088"/>
            <a:ext cx="4937760" cy="466344"/>
          </a:xfrm>
          <a:prstGeom prst="rect">
            <a:avLst/>
          </a:prstGeom>
          <a:noFill/>
        </p:spPr>
        <p:txBody>
          <a:bodyPr wrap="square" lIns="0" tIns="0" rIns="0" bIns="0" anchor="ctr">
            <a:spAutoFit/>
          </a:bodyPr>
          <a:lstStyle/>
          <a:p>
            <a:pPr algn="l"/>
            <a:r>
              <a:rPr sz="1800" b="0" i="0">
                <a:solidFill>
                  <a:srgbClr val="55606B"/>
                </a:solidFill>
              </a:rPr>
              <a:t>Sum of squared residuals: </a:t>
            </a:r>
            <a:r>
              <a:rPr sz="1800" b="1" i="0">
                <a:solidFill>
                  <a:srgbClr val="1F394D"/>
                </a:solidFill>
              </a:rPr>
              <a:t>3.7</a:t>
            </a:r>
          </a:p>
        </p:txBody>
      </p:sp>
      <p:sp>
        <p:nvSpPr>
          <p:cNvPr id="98" name="Rounded Rectangle 97"/>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99" name="TextBox 98"/>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100" name="TextBox 99"/>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W3b. Same 12 people. R² = 1 − 3.7 ÷ 15.0 = 0.75.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Always plot first: Anscombe’s quartet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7</a:t>
            </a:fld>
            <a:endParaRPr lang="en-GB"/>
          </a:p>
        </p:txBody>
      </p:sp>
      <p:sp>
        <p:nvSpPr>
          <p:cNvPr id="6" name="TextBox 5"/>
          <p:cNvSpPr txBox="1"/>
          <p:nvPr/>
        </p:nvSpPr>
        <p:spPr>
          <a:xfrm>
            <a:off x="758952" y="1325880"/>
            <a:ext cx="2514600" cy="365760"/>
          </a:xfrm>
          <a:prstGeom prst="rect">
            <a:avLst/>
          </a:prstGeom>
          <a:noFill/>
        </p:spPr>
        <p:txBody>
          <a:bodyPr wrap="square" lIns="0" tIns="0" rIns="0" bIns="0" anchor="t">
            <a:spAutoFit/>
          </a:bodyPr>
          <a:lstStyle/>
          <a:p>
            <a:pPr algn="ctr"/>
            <a:r>
              <a:rPr sz="1700" b="1" i="0">
                <a:solidFill>
                  <a:srgbClr val="1F394D"/>
                </a:solidFill>
              </a:rPr>
              <a:t>Sensible</a:t>
            </a:r>
          </a:p>
        </p:txBody>
      </p:sp>
      <p:graphicFrame>
        <p:nvGraphicFramePr>
          <p:cNvPr id="7" name="Anscombe 1"/>
          <p:cNvGraphicFramePr>
            <a:graphicFrameLocks noGrp="1"/>
          </p:cNvGraphicFramePr>
          <p:nvPr/>
        </p:nvGraphicFramePr>
        <p:xfrm>
          <a:off x="758952" y="1737360"/>
          <a:ext cx="251460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3456432" y="1325880"/>
            <a:ext cx="2514600" cy="365760"/>
          </a:xfrm>
          <a:prstGeom prst="rect">
            <a:avLst/>
          </a:prstGeom>
          <a:noFill/>
        </p:spPr>
        <p:txBody>
          <a:bodyPr wrap="square" lIns="0" tIns="0" rIns="0" bIns="0" anchor="t">
            <a:spAutoFit/>
          </a:bodyPr>
          <a:lstStyle/>
          <a:p>
            <a:pPr algn="ctr"/>
            <a:r>
              <a:rPr sz="1700" b="1" i="0">
                <a:solidFill>
                  <a:srgbClr val="1F394D"/>
                </a:solidFill>
              </a:rPr>
              <a:t>Curved</a:t>
            </a:r>
          </a:p>
        </p:txBody>
      </p:sp>
      <p:graphicFrame>
        <p:nvGraphicFramePr>
          <p:cNvPr id="9" name="Anscombe 2"/>
          <p:cNvGraphicFramePr>
            <a:graphicFrameLocks noGrp="1"/>
          </p:cNvGraphicFramePr>
          <p:nvPr/>
        </p:nvGraphicFramePr>
        <p:xfrm>
          <a:off x="3456432" y="1737360"/>
          <a:ext cx="25146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6153912" y="1325880"/>
            <a:ext cx="2514600" cy="365760"/>
          </a:xfrm>
          <a:prstGeom prst="rect">
            <a:avLst/>
          </a:prstGeom>
          <a:noFill/>
        </p:spPr>
        <p:txBody>
          <a:bodyPr wrap="square" lIns="0" tIns="0" rIns="0" bIns="0" anchor="t">
            <a:spAutoFit/>
          </a:bodyPr>
          <a:lstStyle/>
          <a:p>
            <a:pPr algn="ctr"/>
            <a:r>
              <a:rPr sz="1700" b="1" i="0">
                <a:solidFill>
                  <a:srgbClr val="1F394D"/>
                </a:solidFill>
              </a:rPr>
              <a:t>One outlier</a:t>
            </a:r>
          </a:p>
        </p:txBody>
      </p:sp>
      <p:graphicFrame>
        <p:nvGraphicFramePr>
          <p:cNvPr id="11" name="Anscombe 3"/>
          <p:cNvGraphicFramePr>
            <a:graphicFrameLocks noGrp="1"/>
          </p:cNvGraphicFramePr>
          <p:nvPr/>
        </p:nvGraphicFramePr>
        <p:xfrm>
          <a:off x="6153912" y="1737360"/>
          <a:ext cx="251460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Box 11"/>
          <p:cNvSpPr txBox="1"/>
          <p:nvPr/>
        </p:nvSpPr>
        <p:spPr>
          <a:xfrm>
            <a:off x="8851392" y="1325880"/>
            <a:ext cx="2514600" cy="365760"/>
          </a:xfrm>
          <a:prstGeom prst="rect">
            <a:avLst/>
          </a:prstGeom>
          <a:noFill/>
        </p:spPr>
        <p:txBody>
          <a:bodyPr wrap="square" lIns="0" tIns="0" rIns="0" bIns="0" anchor="t">
            <a:spAutoFit/>
          </a:bodyPr>
          <a:lstStyle/>
          <a:p>
            <a:pPr algn="ctr"/>
            <a:r>
              <a:rPr sz="1700" b="1" i="0">
                <a:solidFill>
                  <a:srgbClr val="1F394D"/>
                </a:solidFill>
              </a:rPr>
              <a:t>One influential point</a:t>
            </a:r>
          </a:p>
        </p:txBody>
      </p:sp>
      <p:graphicFrame>
        <p:nvGraphicFramePr>
          <p:cNvPr id="13" name="Anscombe 4"/>
          <p:cNvGraphicFramePr>
            <a:graphicFrameLocks noGrp="1"/>
          </p:cNvGraphicFramePr>
          <p:nvPr/>
        </p:nvGraphicFramePr>
        <p:xfrm>
          <a:off x="8851392" y="1737360"/>
          <a:ext cx="2514600" cy="3017520"/>
        </p:xfrm>
        <a:graphic>
          <a:graphicData uri="http://schemas.openxmlformats.org/drawingml/2006/chart">
            <c:chart xmlns:c="http://schemas.openxmlformats.org/drawingml/2006/chart" xmlns:r="http://schemas.openxmlformats.org/officeDocument/2006/relationships" r:id="rId6"/>
          </a:graphicData>
        </a:graphic>
      </p:graphicFrame>
      <p:sp>
        <p:nvSpPr>
          <p:cNvPr id="14" name="Same stats"/>
          <p:cNvSpPr/>
          <p:nvPr/>
        </p:nvSpPr>
        <p:spPr>
          <a:xfrm>
            <a:off x="758952" y="4937760"/>
            <a:ext cx="10607040" cy="822960"/>
          </a:xfrm>
          <a:prstGeom prst="roundRect">
            <a:avLst>
              <a:gd name="adj" fmla="val 8000"/>
            </a:avLst>
          </a:prstGeom>
          <a:solidFill>
            <a:srgbClr val="1F394D"/>
          </a:solidFill>
          <a:ln>
            <a:noFill/>
          </a:ln>
        </p:spPr>
        <p:txBody>
          <a:bodyPr rtlCol="0" anchor="ctr"/>
          <a:lstStyle/>
          <a:p>
            <a:endParaRPr/>
          </a:p>
        </p:txBody>
      </p:sp>
      <p:sp>
        <p:nvSpPr>
          <p:cNvPr id="15" name="TextBox 14"/>
          <p:cNvSpPr txBox="1"/>
          <p:nvPr/>
        </p:nvSpPr>
        <p:spPr>
          <a:xfrm>
            <a:off x="941832" y="4937760"/>
            <a:ext cx="10241280" cy="822960"/>
          </a:xfrm>
          <a:prstGeom prst="rect">
            <a:avLst/>
          </a:prstGeom>
          <a:noFill/>
        </p:spPr>
        <p:txBody>
          <a:bodyPr wrap="square" lIns="0" tIns="0" rIns="0" bIns="0" anchor="ctr">
            <a:spAutoFit/>
          </a:bodyPr>
          <a:lstStyle/>
          <a:p>
            <a:pPr algn="ctr"/>
            <a:r>
              <a:rPr sz="2000" b="1" i="0">
                <a:solidFill>
                  <a:srgbClr val="FFFFFF"/>
                </a:solidFill>
              </a:rPr>
              <a:t>All four: the same line, y = 3 + 0.5x, and the same r = 0.82</a:t>
            </a:r>
          </a:p>
        </p:txBody>
      </p:sp>
      <p:sp>
        <p:nvSpPr>
          <p:cNvPr id="16" name="TextBox 15"/>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Anscombe, F. J. (1973) Graphs in statistical analysis, The American Statistician 27(1): 17-21. Real data built into R (datasets::anscombe); R code section W3a.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Inequality and trust:</a:t>
            </a:r>
          </a:p>
          <a:p>
            <a:r>
              <a:rPr sz="4000"/>
              <a:t>a simple regression</a:t>
            </a:r>
          </a:p>
        </p:txBody>
      </p:sp>
      <p:sp>
        <p:nvSpPr>
          <p:cNvPr id="3" name="Text Placeholder 2"/>
          <p:cNvSpPr>
            <a:spLocks noGrp="1"/>
          </p:cNvSpPr>
          <p:nvPr>
            <p:ph type="body" sz="half" idx="2"/>
          </p:nvPr>
        </p:nvSpPr>
        <p:spPr/>
        <p:txBody>
          <a:bodyPr/>
          <a:lstStyle/>
          <a:p>
            <a:r>
              <a:rPr sz="2400"/>
              <a:t>Worksheet 3, Exercise 3.1</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line through 23 countries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9</a:t>
            </a:fld>
            <a:endParaRPr lang="en-GB"/>
          </a:p>
        </p:txBody>
      </p:sp>
      <p:graphicFrame>
        <p:nvGraphicFramePr>
          <p:cNvPr id="6" name="Spirit line"/>
          <p:cNvGraphicFramePr>
            <a:graphicFrameLocks noGrp="1"/>
          </p:cNvGraphicFramePr>
          <p:nvPr/>
        </p:nvGraphicFramePr>
        <p:xfrm>
          <a:off x="758952" y="1280160"/>
          <a:ext cx="768096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686800" y="1417320"/>
            <a:ext cx="2679192" cy="23317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8887968" y="1578254"/>
            <a:ext cx="2276856" cy="2009851"/>
          </a:xfrm>
          <a:prstGeom prst="rect">
            <a:avLst/>
          </a:prstGeom>
          <a:noFill/>
        </p:spPr>
        <p:txBody>
          <a:bodyPr wrap="square" lIns="0" tIns="0" rIns="0" bIns="0" anchor="t">
            <a:spAutoFit/>
          </a:bodyPr>
          <a:lstStyle/>
          <a:p>
            <a:pPr algn="l">
              <a:spcAft>
                <a:spcPts val="400"/>
              </a:spcAft>
            </a:pPr>
            <a:r>
              <a:rPr sz="2000" b="1" i="0">
                <a:solidFill>
                  <a:srgbClr val="B88C00"/>
                </a:solidFill>
              </a:rPr>
              <a:t>77.1 − 6.54 × inequality</a:t>
            </a:r>
          </a:p>
          <a:p>
            <a:pPr algn="l">
              <a:spcAft>
                <a:spcPts val="400"/>
              </a:spcAft>
            </a:pPr>
            <a:r>
              <a:rPr sz="1600" b="0" i="0">
                <a:solidFill>
                  <a:srgbClr val="CCDDEA"/>
                </a:solidFill>
              </a:rPr>
              <a:t>predicted % trusting</a:t>
            </a:r>
          </a:p>
        </p:txBody>
      </p:sp>
      <p:sp>
        <p:nvSpPr>
          <p:cNvPr id="9" name="Rounded Rectangle 8"/>
          <p:cNvSpPr/>
          <p:nvPr/>
        </p:nvSpPr>
        <p:spPr>
          <a:xfrm>
            <a:off x="8686800" y="3931920"/>
            <a:ext cx="2679192" cy="18288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8887968" y="4092854"/>
            <a:ext cx="2276856" cy="1506931"/>
          </a:xfrm>
          <a:prstGeom prst="rect">
            <a:avLst/>
          </a:prstGeom>
          <a:noFill/>
        </p:spPr>
        <p:txBody>
          <a:bodyPr wrap="square" lIns="0" tIns="0" rIns="0" bIns="0" anchor="t">
            <a:spAutoFit/>
          </a:bodyPr>
          <a:lstStyle/>
          <a:p>
            <a:pPr algn="l">
              <a:spcAft>
                <a:spcPts val="400"/>
              </a:spcAft>
            </a:pPr>
            <a:r>
              <a:rPr sz="2200" b="1" i="0">
                <a:solidFill>
                  <a:srgbClr val="1F394D"/>
                </a:solidFill>
              </a:rPr>
              <a:t>R² = 0.44</a:t>
            </a:r>
          </a:p>
          <a:p>
            <a:pPr algn="l">
              <a:spcAft>
                <a:spcPts val="400"/>
              </a:spcAft>
            </a:pPr>
            <a:r>
              <a:rPr sz="1500" b="0" i="0">
                <a:solidFill>
                  <a:srgbClr val="1F2A33"/>
                </a:solidFill>
              </a:rPr>
              <a:t>Inequality accounts for 44% of the variation in trust.</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the JASP output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TextBox 5"/>
          <p:cNvSpPr txBox="1"/>
          <p:nvPr/>
        </p:nvSpPr>
        <p:spPr>
          <a:xfrm>
            <a:off x="758952" y="1261872"/>
            <a:ext cx="5303520" cy="274320"/>
          </a:xfrm>
          <a:prstGeom prst="rect">
            <a:avLst/>
          </a:prstGeom>
          <a:noFill/>
        </p:spPr>
        <p:txBody>
          <a:bodyPr wrap="square" lIns="0" rIns="0" tIns="0" bIns="0" anchor="t">
            <a:spAutoFit/>
          </a:bodyPr>
          <a:lstStyle/>
          <a:p>
            <a:pPr algn="l"/>
            <a:r>
              <a:rPr sz="1400" b="1" i="0">
                <a:solidFill>
                  <a:srgbClr val="222222"/>
                </a:solidFill>
              </a:rPr>
              <a:t>Model Summary – Trust</a:t>
            </a:r>
            <a:endParaRPr sz="1400"/>
          </a:p>
        </p:txBody>
      </p:sp>
      <p:graphicFrame>
        <p:nvGraphicFramePr>
          <p:cNvPr id="7" name="Table 6"/>
          <p:cNvGraphicFramePr>
            <a:graphicFrameLocks noGrp="1"/>
          </p:cNvGraphicFramePr>
          <p:nvPr/>
        </p:nvGraphicFramePr>
        <p:xfrm>
          <a:off x="758952" y="1563624"/>
          <a:ext cx="5303520" cy="877824"/>
        </p:xfrm>
        <a:graphic>
          <a:graphicData uri="http://schemas.openxmlformats.org/drawingml/2006/table">
            <a:tbl>
              <a:tblPr>
                <a:tableStyleId>{2D5ABB26-0587-4C30-8999-92F81FD0307C}</a:tableStyleId>
              </a:tblPr>
              <a:tblGrid>
                <a:gridCol w="914400"/>
                <a:gridCol w="1005840"/>
                <a:gridCol w="1005840"/>
                <a:gridCol w="1371600"/>
                <a:gridCol w="1005840"/>
              </a:tblGrid>
              <a:tr h="292608">
                <a:tc>
                  <a:txBody>
                    <a:bodyPr wrap="square"/>
                    <a:lstStyle/>
                    <a:p>
                      <a:pPr algn="l"/>
                      <a:r>
                        <a:rPr sz="1200" b="1" i="0">
                          <a:solidFill>
                            <a:srgbClr val="222222"/>
                          </a:solidFill>
                        </a:rPr>
                        <a:t>Model</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R²</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Adjusted R²</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RMSE</a:t>
                      </a:r>
                      <a:endParaRPr sz="1200"/>
                    </a:p>
                  </a:txBody>
                  <a:tcPr marL="73152" marR="73152" marT="27432" marB="27432" anchor="ctr">
                    <a:lnL w="0">
                      <a:noFill/>
                    </a:lnL>
                    <a:lnR w="0">
                      <a:noFill/>
                    </a:lnR>
                    <a:lnT w="12700">
                      <a:solidFill>
                        <a:srgbClr val="222222"/>
                      </a:solidFill>
                    </a:lnT>
                    <a:lnB w="9525">
                      <a:solidFill>
                        <a:srgbClr val="222222"/>
                      </a:solidFill>
                    </a:lnB>
                    <a:noFill/>
                  </a:tcPr>
                </a:tc>
              </a:tr>
              <a:tr h="292608">
                <a:tc>
                  <a:txBody>
                    <a:bodyPr wrap="square"/>
                    <a:lstStyle/>
                    <a:p>
                      <a:pPr algn="l"/>
                      <a:r>
                        <a:rPr sz="1200" b="0" i="0">
                          <a:solidFill>
                            <a:srgbClr val="222222"/>
                          </a:solidFill>
                        </a:rPr>
                        <a:t>M₀</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15.763</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M₁</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0.664</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0.441</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0.415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12.061</a:t>
                      </a:r>
                      <a:endParaRPr sz="1200"/>
                    </a:p>
                  </a:txBody>
                  <a:tcPr marL="73152" marR="73152" marT="27432" marB="27432" anchor="ctr">
                    <a:lnL w="0">
                      <a:noFill/>
                    </a:lnL>
                    <a:lnR w="0">
                      <a:noFill/>
                    </a:lnR>
                    <a:lnT w="0">
                      <a:noFill/>
                    </a:lnT>
                    <a:lnB w="12700">
                      <a:solidFill>
                        <a:srgbClr val="222222"/>
                      </a:solidFill>
                    </a:lnB>
                    <a:noFill/>
                  </a:tcPr>
                </a:tc>
              </a:tr>
            </a:tbl>
          </a:graphicData>
        </a:graphic>
      </p:graphicFrame>
      <p:sp>
        <p:nvSpPr>
          <p:cNvPr id="8" name="TextBox 7"/>
          <p:cNvSpPr txBox="1"/>
          <p:nvPr/>
        </p:nvSpPr>
        <p:spPr>
          <a:xfrm>
            <a:off x="758952" y="2478024"/>
            <a:ext cx="5303520" cy="237744"/>
          </a:xfrm>
          <a:prstGeom prst="rect">
            <a:avLst/>
          </a:prstGeom>
          <a:noFill/>
        </p:spPr>
        <p:txBody>
          <a:bodyPr wrap="square" lIns="0" rIns="0" tIns="0" bIns="0" anchor="t">
            <a:spAutoFit/>
          </a:bodyPr>
          <a:lstStyle/>
          <a:p>
            <a:pPr algn="l"/>
            <a:r>
              <a:rPr sz="1100" b="0" i="1">
                <a:solidFill>
                  <a:srgbClr val="222222"/>
                </a:solidFill>
              </a:rPr>
              <a:t>Note. </a:t>
            </a:r>
            <a:r>
              <a:rPr sz="1100" b="0" i="0">
                <a:solidFill>
                  <a:srgbClr val="222222"/>
                </a:solidFill>
              </a:rPr>
              <a:t>M₁ includes Income inequality</a:t>
            </a:r>
            <a:endParaRPr sz="1100"/>
          </a:p>
        </p:txBody>
      </p:sp>
      <p:sp>
        <p:nvSpPr>
          <p:cNvPr id="9" name="TextBox 8"/>
          <p:cNvSpPr txBox="1"/>
          <p:nvPr/>
        </p:nvSpPr>
        <p:spPr>
          <a:xfrm>
            <a:off x="758952" y="2852927"/>
            <a:ext cx="8686800" cy="274320"/>
          </a:xfrm>
          <a:prstGeom prst="rect">
            <a:avLst/>
          </a:prstGeom>
          <a:noFill/>
        </p:spPr>
        <p:txBody>
          <a:bodyPr wrap="square" lIns="0" rIns="0" tIns="0" bIns="0" anchor="t">
            <a:spAutoFit/>
          </a:bodyPr>
          <a:lstStyle/>
          <a:p>
            <a:pPr algn="l"/>
            <a:r>
              <a:rPr sz="1400" b="1" i="0">
                <a:solidFill>
                  <a:srgbClr val="222222"/>
                </a:solidFill>
              </a:rPr>
              <a:t>Coefficients</a:t>
            </a:r>
            <a:endParaRPr sz="1400"/>
          </a:p>
        </p:txBody>
      </p:sp>
      <p:graphicFrame>
        <p:nvGraphicFramePr>
          <p:cNvPr id="10" name="Table 9"/>
          <p:cNvGraphicFramePr>
            <a:graphicFrameLocks noGrp="1"/>
          </p:cNvGraphicFramePr>
          <p:nvPr/>
        </p:nvGraphicFramePr>
        <p:xfrm>
          <a:off x="758952" y="3154679"/>
          <a:ext cx="8686800" cy="1170432"/>
        </p:xfrm>
        <a:graphic>
          <a:graphicData uri="http://schemas.openxmlformats.org/drawingml/2006/table">
            <a:tbl>
              <a:tblPr>
                <a:tableStyleId>{2D5ABB26-0587-4C30-8999-92F81FD0307C}</a:tableStyleId>
              </a:tblPr>
              <a:tblGrid>
                <a:gridCol w="822960"/>
                <a:gridCol w="1828800"/>
                <a:gridCol w="1417320"/>
                <a:gridCol w="1463040"/>
                <a:gridCol w="1371600"/>
                <a:gridCol w="914400"/>
                <a:gridCol w="868680"/>
              </a:tblGrid>
              <a:tr h="292608">
                <a:tc>
                  <a:txBody>
                    <a:bodyPr wrap="square"/>
                    <a:lstStyle/>
                    <a:p>
                      <a:pPr algn="l"/>
                      <a:r>
                        <a:rPr sz="1200" b="1" i="0">
                          <a:solidFill>
                            <a:srgbClr val="222222"/>
                          </a:solidFill>
                        </a:rPr>
                        <a:t>Model</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Unstandardized</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Standard Error</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Standardized</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t</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p</a:t>
                      </a:r>
                      <a:endParaRPr sz="1200"/>
                    </a:p>
                  </a:txBody>
                  <a:tcPr marL="73152" marR="73152" marT="27432" marB="27432" anchor="ctr">
                    <a:lnL w="0">
                      <a:noFill/>
                    </a:lnL>
                    <a:lnR w="0">
                      <a:noFill/>
                    </a:lnR>
                    <a:lnT w="12700">
                      <a:solidFill>
                        <a:srgbClr val="222222"/>
                      </a:solidFill>
                    </a:lnT>
                    <a:lnB w="9525">
                      <a:solidFill>
                        <a:srgbClr val="222222"/>
                      </a:solidFill>
                    </a:lnB>
                    <a:noFill/>
                  </a:tcPr>
                </a:tc>
              </a:tr>
              <a:tr h="292608">
                <a:tc>
                  <a:txBody>
                    <a:bodyPr wrap="square"/>
                    <a:lstStyle/>
                    <a:p>
                      <a:pPr algn="l"/>
                      <a:r>
                        <a:rPr sz="1200" b="0" i="0">
                          <a:solidFill>
                            <a:srgbClr val="222222"/>
                          </a:solidFill>
                        </a:rPr>
                        <a:t>M₀</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(Intercept)</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38.830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3.287</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11.814</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M₁</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(Intercept)</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77.062</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9.721</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7.927</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Income inequality</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−6.535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1.605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−0.664</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−4.071</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12700">
                      <a:solidFill>
                        <a:srgbClr val="222222"/>
                      </a:solidFill>
                    </a:lnB>
                    <a:noFill/>
                  </a:tcPr>
                </a:tc>
              </a:tr>
            </a:tbl>
          </a:graphicData>
        </a:graphic>
      </p:graphicFrame>
      <p:sp>
        <p:nvSpPr>
          <p:cNvPr id="11" name="Oval 10"/>
          <p:cNvSpPr/>
          <p:nvPr/>
        </p:nvSpPr>
        <p:spPr>
          <a:xfrm>
            <a:off x="3035808" y="1261872"/>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1</a:t>
            </a:r>
            <a:endParaRPr sz="1200"/>
          </a:p>
        </p:txBody>
      </p:sp>
      <p:sp>
        <p:nvSpPr>
          <p:cNvPr id="12" name="Oval 11"/>
          <p:cNvSpPr/>
          <p:nvPr/>
        </p:nvSpPr>
        <p:spPr>
          <a:xfrm>
            <a:off x="5413248" y="1261872"/>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2</a:t>
            </a:r>
            <a:endParaRPr sz="1200"/>
          </a:p>
        </p:txBody>
      </p:sp>
      <p:sp>
        <p:nvSpPr>
          <p:cNvPr id="13" name="Oval 12"/>
          <p:cNvSpPr/>
          <p:nvPr/>
        </p:nvSpPr>
        <p:spPr>
          <a:xfrm>
            <a:off x="402335" y="344728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3</a:t>
            </a:r>
            <a:endParaRPr sz="1200"/>
          </a:p>
        </p:txBody>
      </p:sp>
      <p:sp>
        <p:nvSpPr>
          <p:cNvPr id="14" name="Oval 13"/>
          <p:cNvSpPr/>
          <p:nvPr/>
        </p:nvSpPr>
        <p:spPr>
          <a:xfrm>
            <a:off x="397306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4</a:t>
            </a:r>
            <a:endParaRPr sz="1200"/>
          </a:p>
        </p:txBody>
      </p:sp>
      <p:sp>
        <p:nvSpPr>
          <p:cNvPr id="15" name="Oval 14"/>
          <p:cNvSpPr/>
          <p:nvPr/>
        </p:nvSpPr>
        <p:spPr>
          <a:xfrm>
            <a:off x="683056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5</a:t>
            </a:r>
            <a:endParaRPr sz="1200"/>
          </a:p>
        </p:txBody>
      </p:sp>
      <p:sp>
        <p:nvSpPr>
          <p:cNvPr id="16" name="Oval 15"/>
          <p:cNvSpPr/>
          <p:nvPr/>
        </p:nvSpPr>
        <p:spPr>
          <a:xfrm>
            <a:off x="541324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6</a:t>
            </a:r>
            <a:endParaRPr sz="1200"/>
          </a:p>
        </p:txBody>
      </p:sp>
      <p:sp>
        <p:nvSpPr>
          <p:cNvPr id="17" name="Oval 16"/>
          <p:cNvSpPr/>
          <p:nvPr/>
        </p:nvSpPr>
        <p:spPr>
          <a:xfrm>
            <a:off x="758952"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1</a:t>
            </a:r>
            <a:endParaRPr sz="1200"/>
          </a:p>
        </p:txBody>
      </p:sp>
      <p:sp>
        <p:nvSpPr>
          <p:cNvPr id="18" name="TextBox 17"/>
          <p:cNvSpPr txBox="1"/>
          <p:nvPr/>
        </p:nvSpPr>
        <p:spPr>
          <a:xfrm>
            <a:off x="1143000" y="4553712"/>
            <a:ext cx="3108960" cy="457199"/>
          </a:xfrm>
          <a:prstGeom prst="rect">
            <a:avLst/>
          </a:prstGeom>
          <a:noFill/>
        </p:spPr>
        <p:txBody>
          <a:bodyPr wrap="square" lIns="0" rIns="0" tIns="0" bIns="0" anchor="ctr">
            <a:spAutoFit/>
          </a:bodyPr>
          <a:lstStyle/>
          <a:p>
            <a:pPr algn="l"/>
            <a:r>
              <a:rPr sz="1300" b="0" i="0">
                <a:solidFill>
                  <a:srgbClr val="1F2A33"/>
                </a:solidFill>
              </a:rPr>
              <a:t>R²: the share of the variation in trust that the line accounts for (44%)</a:t>
            </a:r>
            <a:endParaRPr sz="1300"/>
          </a:p>
        </p:txBody>
      </p:sp>
      <p:sp>
        <p:nvSpPr>
          <p:cNvPr id="19" name="Oval 18"/>
          <p:cNvSpPr/>
          <p:nvPr/>
        </p:nvSpPr>
        <p:spPr>
          <a:xfrm>
            <a:off x="4325112"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2</a:t>
            </a:r>
            <a:endParaRPr sz="1200"/>
          </a:p>
        </p:txBody>
      </p:sp>
      <p:sp>
        <p:nvSpPr>
          <p:cNvPr id="20" name="TextBox 19"/>
          <p:cNvSpPr txBox="1"/>
          <p:nvPr/>
        </p:nvSpPr>
        <p:spPr>
          <a:xfrm>
            <a:off x="4709159" y="4553712"/>
            <a:ext cx="3108960" cy="457199"/>
          </a:xfrm>
          <a:prstGeom prst="rect">
            <a:avLst/>
          </a:prstGeom>
          <a:noFill/>
        </p:spPr>
        <p:txBody>
          <a:bodyPr wrap="square" lIns="0" rIns="0" tIns="0" bIns="0" anchor="ctr">
            <a:spAutoFit/>
          </a:bodyPr>
          <a:lstStyle/>
          <a:p>
            <a:pPr algn="l"/>
            <a:r>
              <a:rPr sz="1300" b="0" i="0">
                <a:solidFill>
                  <a:srgbClr val="1F2A33"/>
                </a:solidFill>
              </a:rPr>
              <a:t>RMSE: the typical size of a prediction error, in percentage points (12)</a:t>
            </a:r>
            <a:endParaRPr sz="1300"/>
          </a:p>
        </p:txBody>
      </p:sp>
      <p:sp>
        <p:nvSpPr>
          <p:cNvPr id="21" name="Oval 20"/>
          <p:cNvSpPr/>
          <p:nvPr/>
        </p:nvSpPr>
        <p:spPr>
          <a:xfrm>
            <a:off x="7891271"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3</a:t>
            </a:r>
            <a:endParaRPr sz="1200"/>
          </a:p>
        </p:txBody>
      </p:sp>
      <p:sp>
        <p:nvSpPr>
          <p:cNvPr id="22" name="TextBox 21"/>
          <p:cNvSpPr txBox="1"/>
          <p:nvPr/>
        </p:nvSpPr>
        <p:spPr>
          <a:xfrm>
            <a:off x="8275319" y="4553712"/>
            <a:ext cx="3108960" cy="457199"/>
          </a:xfrm>
          <a:prstGeom prst="rect">
            <a:avLst/>
          </a:prstGeom>
          <a:noFill/>
        </p:spPr>
        <p:txBody>
          <a:bodyPr wrap="square" lIns="0" rIns="0" tIns="0" bIns="0" anchor="ctr">
            <a:spAutoFit/>
          </a:bodyPr>
          <a:lstStyle/>
          <a:p>
            <a:pPr algn="l"/>
            <a:r>
              <a:rPr sz="1300" b="0" i="0">
                <a:solidFill>
                  <a:srgbClr val="1F2A33"/>
                </a:solidFill>
              </a:rPr>
              <a:t>M₀: the null model, whose intercept is the mean trust (38.8%)</a:t>
            </a:r>
            <a:endParaRPr sz="1300"/>
          </a:p>
        </p:txBody>
      </p:sp>
      <p:sp>
        <p:nvSpPr>
          <p:cNvPr id="23" name="Oval 22"/>
          <p:cNvSpPr/>
          <p:nvPr/>
        </p:nvSpPr>
        <p:spPr>
          <a:xfrm>
            <a:off x="758952"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4</a:t>
            </a:r>
            <a:endParaRPr sz="1200"/>
          </a:p>
        </p:txBody>
      </p:sp>
      <p:sp>
        <p:nvSpPr>
          <p:cNvPr id="24" name="TextBox 23"/>
          <p:cNvSpPr txBox="1"/>
          <p:nvPr/>
        </p:nvSpPr>
        <p:spPr>
          <a:xfrm>
            <a:off x="1143000" y="5084064"/>
            <a:ext cx="3108960" cy="457199"/>
          </a:xfrm>
          <a:prstGeom prst="rect">
            <a:avLst/>
          </a:prstGeom>
          <a:noFill/>
        </p:spPr>
        <p:txBody>
          <a:bodyPr wrap="square" lIns="0" rIns="0" tIns="0" bIns="0" anchor="ctr">
            <a:spAutoFit/>
          </a:bodyPr>
          <a:lstStyle/>
          <a:p>
            <a:pPr algn="l"/>
            <a:r>
              <a:rPr sz="1300" b="0" i="0">
                <a:solidFill>
                  <a:srgbClr val="1F2A33"/>
                </a:solidFill>
              </a:rPr>
              <a:t>Unstandardized: the intercept and the slope, in the units of the variables</a:t>
            </a:r>
            <a:endParaRPr sz="1300"/>
          </a:p>
        </p:txBody>
      </p:sp>
      <p:sp>
        <p:nvSpPr>
          <p:cNvPr id="25" name="Oval 24"/>
          <p:cNvSpPr/>
          <p:nvPr/>
        </p:nvSpPr>
        <p:spPr>
          <a:xfrm>
            <a:off x="4325112"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5</a:t>
            </a:r>
            <a:endParaRPr sz="1200"/>
          </a:p>
        </p:txBody>
      </p:sp>
      <p:sp>
        <p:nvSpPr>
          <p:cNvPr id="26" name="TextBox 25"/>
          <p:cNvSpPr txBox="1"/>
          <p:nvPr/>
        </p:nvSpPr>
        <p:spPr>
          <a:xfrm>
            <a:off x="4709159" y="5084064"/>
            <a:ext cx="3108960" cy="457199"/>
          </a:xfrm>
          <a:prstGeom prst="rect">
            <a:avLst/>
          </a:prstGeom>
          <a:noFill/>
        </p:spPr>
        <p:txBody>
          <a:bodyPr wrap="square" lIns="0" rIns="0" tIns="0" bIns="0" anchor="ctr">
            <a:spAutoFit/>
          </a:bodyPr>
          <a:lstStyle/>
          <a:p>
            <a:pPr algn="l"/>
            <a:r>
              <a:rPr sz="1300" b="0" i="0">
                <a:solidFill>
                  <a:srgbClr val="1F2A33"/>
                </a:solidFill>
              </a:rPr>
              <a:t>Standardized: the slope in standard deviations, equal to r with one predictor</a:t>
            </a:r>
            <a:endParaRPr sz="1300"/>
          </a:p>
        </p:txBody>
      </p:sp>
      <p:sp>
        <p:nvSpPr>
          <p:cNvPr id="27" name="Oval 26"/>
          <p:cNvSpPr/>
          <p:nvPr/>
        </p:nvSpPr>
        <p:spPr>
          <a:xfrm>
            <a:off x="7891271"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6</a:t>
            </a:r>
            <a:endParaRPr sz="1200"/>
          </a:p>
        </p:txBody>
      </p:sp>
      <p:sp>
        <p:nvSpPr>
          <p:cNvPr id="28" name="TextBox 27"/>
          <p:cNvSpPr txBox="1"/>
          <p:nvPr/>
        </p:nvSpPr>
        <p:spPr>
          <a:xfrm>
            <a:off x="8275319" y="5084064"/>
            <a:ext cx="3108960" cy="457199"/>
          </a:xfrm>
          <a:prstGeom prst="rect">
            <a:avLst/>
          </a:prstGeom>
          <a:noFill/>
        </p:spPr>
        <p:txBody>
          <a:bodyPr wrap="square" lIns="0" rIns="0" tIns="0" bIns="0" anchor="ctr">
            <a:spAutoFit/>
          </a:bodyPr>
          <a:lstStyle/>
          <a:p>
            <a:pPr algn="l"/>
            <a:r>
              <a:rPr sz="1300" b="0" i="0">
                <a:solidFill>
                  <a:srgbClr val="1F2A33"/>
                </a:solidFill>
              </a:rPr>
              <a:t>Standard Error, t and p, and the ANOVA table: uncertainty (Week 5)</a:t>
            </a:r>
            <a:endParaRPr sz="1300"/>
          </a:p>
        </p:txBody>
      </p:sp>
      <p:sp>
        <p:nvSpPr>
          <p:cNvPr id="29" name="TextBox 28"/>
          <p:cNvSpPr txBox="1"/>
          <p:nvPr/>
        </p:nvSpPr>
        <p:spPr>
          <a:xfrm>
            <a:off x="758952" y="5943600"/>
            <a:ext cx="10607040" cy="292608"/>
          </a:xfrm>
          <a:prstGeom prst="rect">
            <a:avLst/>
          </a:prstGeom>
          <a:noFill/>
        </p:spPr>
        <p:txBody>
          <a:bodyPr wrap="square" lIns="0" rIns="0" tIns="0" bIns="0" anchor="ctr">
            <a:spAutoFit/>
          </a:bodyPr>
          <a:lstStyle/>
          <a:p>
            <a:pPr algn="l"/>
            <a:r>
              <a:rPr sz="1200" b="0" i="0">
                <a:solidFill>
                  <a:srgbClr val="55606B"/>
                </a:solidFill>
              </a:rPr>
              <a:t>Data: pickett2009.csv (Wilkinson &amp; Pickett 2009), 23 countries. JASP: Regression › Linear Regression; Trust as Dependent Variable, Income inequality as Covariate.</a:t>
            </a:r>
            <a:endParaRPr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Predictions and residuals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11</a:t>
            </a:fld>
            <a:endParaRPr lang="en-GB"/>
          </a:p>
        </p:txBody>
      </p:sp>
      <p:graphicFrame>
        <p:nvGraphicFramePr>
          <p:cNvPr id="6" name="Table 5"/>
          <p:cNvGraphicFramePr>
            <a:graphicFrameLocks noGrp="1"/>
          </p:cNvGraphicFramePr>
          <p:nvPr/>
        </p:nvGraphicFramePr>
        <p:xfrm>
          <a:off x="758952" y="1417320"/>
          <a:ext cx="5760720" cy="2743200"/>
        </p:xfrm>
        <a:graphic>
          <a:graphicData uri="http://schemas.openxmlformats.org/drawingml/2006/table">
            <a:tbl>
              <a:tblPr first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548640">
                <a:tc>
                  <a:txBody>
                    <a:bodyPr/>
                    <a:lstStyle/>
                    <a:p>
                      <a:pPr algn="l"/>
                      <a:r>
                        <a:rPr sz="1600" b="1">
                          <a:solidFill>
                            <a:srgbClr val="FFFFFF"/>
                          </a:solidFill>
                        </a:rPr>
                        <a:t>Country</a:t>
                      </a:r>
                    </a:p>
                  </a:txBody>
                  <a:tcPr marT="27432" marB="27432" anchor="ctr">
                    <a:solidFill>
                      <a:srgbClr val="1F394D"/>
                    </a:solidFill>
                  </a:tcPr>
                </a:tc>
                <a:tc>
                  <a:txBody>
                    <a:bodyPr/>
                    <a:lstStyle/>
                    <a:p>
                      <a:pPr algn="r"/>
                      <a:r>
                        <a:rPr sz="1600" b="1">
                          <a:solidFill>
                            <a:srgbClr val="FFFFFF"/>
                          </a:solidFill>
                        </a:rPr>
                        <a:t>Inequality</a:t>
                      </a:r>
                    </a:p>
                  </a:txBody>
                  <a:tcPr marT="27432" marB="27432" anchor="ctr">
                    <a:solidFill>
                      <a:srgbClr val="1F394D"/>
                    </a:solidFill>
                  </a:tcPr>
                </a:tc>
                <a:tc>
                  <a:txBody>
                    <a:bodyPr/>
                    <a:lstStyle/>
                    <a:p>
                      <a:pPr algn="r"/>
                      <a:r>
                        <a:rPr sz="1600" b="1">
                          <a:solidFill>
                            <a:srgbClr val="FFFFFF"/>
                          </a:solidFill>
                        </a:rPr>
                        <a:t>Predicted</a:t>
                      </a:r>
                    </a:p>
                  </a:txBody>
                  <a:tcPr marT="27432" marB="27432" anchor="ctr">
                    <a:solidFill>
                      <a:srgbClr val="1F394D"/>
                    </a:solidFill>
                  </a:tcPr>
                </a:tc>
                <a:tc>
                  <a:txBody>
                    <a:bodyPr/>
                    <a:lstStyle/>
                    <a:p>
                      <a:pPr algn="r"/>
                      <a:r>
                        <a:rPr sz="1600" b="1">
                          <a:solidFill>
                            <a:srgbClr val="FFFFFF"/>
                          </a:solidFill>
                        </a:rPr>
                        <a:t>Observed</a:t>
                      </a:r>
                    </a:p>
                  </a:txBody>
                  <a:tcPr marT="27432" marB="27432" anchor="ctr">
                    <a:solidFill>
                      <a:srgbClr val="1F394D"/>
                    </a:solidFill>
                  </a:tcPr>
                </a:tc>
                <a:tc>
                  <a:txBody>
                    <a:bodyPr/>
                    <a:lstStyle/>
                    <a:p>
                      <a:pPr algn="r"/>
                      <a:r>
                        <a:rPr sz="1600" b="1">
                          <a:solidFill>
                            <a:srgbClr val="FFFFFF"/>
                          </a:solidFill>
                        </a:rPr>
                        <a:t>Residual</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600" b="1">
                          <a:solidFill>
                            <a:srgbClr val="1F2A33"/>
                          </a:solidFill>
                        </a:rPr>
                        <a:t>Denmark</a:t>
                      </a:r>
                    </a:p>
                  </a:txBody>
                  <a:tcPr marT="27432" marB="27432" anchor="ctr">
                    <a:solidFill>
                      <a:srgbClr val="FFFFFF"/>
                    </a:solidFill>
                  </a:tcPr>
                </a:tc>
                <a:tc>
                  <a:txBody>
                    <a:bodyPr/>
                    <a:lstStyle/>
                    <a:p>
                      <a:pPr algn="r"/>
                      <a:r>
                        <a:rPr sz="1600" b="0">
                          <a:solidFill>
                            <a:srgbClr val="1F2A33"/>
                          </a:solidFill>
                        </a:rPr>
                        <a:t>4.30</a:t>
                      </a:r>
                    </a:p>
                  </a:txBody>
                  <a:tcPr marT="27432" marB="27432" anchor="ctr">
                    <a:solidFill>
                      <a:srgbClr val="FFFFFF"/>
                    </a:solidFill>
                  </a:tcPr>
                </a:tc>
                <a:tc>
                  <a:txBody>
                    <a:bodyPr/>
                    <a:lstStyle/>
                    <a:p>
                      <a:pPr algn="r"/>
                      <a:r>
                        <a:rPr sz="1600" b="0">
                          <a:solidFill>
                            <a:srgbClr val="1F2A33"/>
                          </a:solidFill>
                        </a:rPr>
                        <a:t>49.0</a:t>
                      </a:r>
                    </a:p>
                  </a:txBody>
                  <a:tcPr marT="27432" marB="27432" anchor="ctr">
                    <a:solidFill>
                      <a:srgbClr val="FFFFFF"/>
                    </a:solidFill>
                  </a:tcPr>
                </a:tc>
                <a:tc>
                  <a:txBody>
                    <a:bodyPr/>
                    <a:lstStyle/>
                    <a:p>
                      <a:pPr algn="r"/>
                      <a:r>
                        <a:rPr sz="1600" b="0">
                          <a:solidFill>
                            <a:srgbClr val="1F2A33"/>
                          </a:solidFill>
                        </a:rPr>
                        <a:t>66.5</a:t>
                      </a:r>
                    </a:p>
                  </a:txBody>
                  <a:tcPr marT="27432" marB="27432" anchor="ctr">
                    <a:solidFill>
                      <a:srgbClr val="FFFFFF"/>
                    </a:solidFill>
                  </a:tcPr>
                </a:tc>
                <a:tc>
                  <a:txBody>
                    <a:bodyPr/>
                    <a:lstStyle/>
                    <a:p>
                      <a:pPr algn="r"/>
                      <a:r>
                        <a:rPr sz="1600" b="0">
                          <a:solidFill>
                            <a:srgbClr val="1F2A33"/>
                          </a:solidFill>
                        </a:rPr>
                        <a:t>+17.5</a:t>
                      </a:r>
                    </a:p>
                  </a:txBody>
                  <a:tcPr marT="27432" marB="27432" anchor="ctr">
                    <a:solidFill>
                      <a:srgbClr val="FFFFFF"/>
                    </a:solidFill>
                  </a:tcPr>
                </a:tc>
                <a:extLst>
                  <a:ext uri="{0D108BD9-81ED-4DB2-BD59-A6C34878D82A}">
                    <a16:rowId xmlns:a16="http://schemas.microsoft.com/office/drawing/2014/main" val="10001"/>
                  </a:ext>
                </a:extLst>
              </a:tr>
              <a:tr h="548640">
                <a:tc>
                  <a:txBody>
                    <a:bodyPr/>
                    <a:lstStyle/>
                    <a:p>
                      <a:pPr algn="l"/>
                      <a:r>
                        <a:rPr sz="1600" b="1">
                          <a:solidFill>
                            <a:srgbClr val="1F2A33"/>
                          </a:solidFill>
                        </a:rPr>
                        <a:t>France</a:t>
                      </a:r>
                    </a:p>
                  </a:txBody>
                  <a:tcPr marT="27432" marB="27432" anchor="ctr">
                    <a:solidFill>
                      <a:srgbClr val="EEF3F7"/>
                    </a:solidFill>
                  </a:tcPr>
                </a:tc>
                <a:tc>
                  <a:txBody>
                    <a:bodyPr/>
                    <a:lstStyle/>
                    <a:p>
                      <a:pPr algn="r"/>
                      <a:r>
                        <a:rPr sz="1600" b="0">
                          <a:solidFill>
                            <a:srgbClr val="1F2A33"/>
                          </a:solidFill>
                        </a:rPr>
                        <a:t>5.60</a:t>
                      </a:r>
                    </a:p>
                  </a:txBody>
                  <a:tcPr marT="27432" marB="27432" anchor="ctr">
                    <a:solidFill>
                      <a:srgbClr val="EEF3F7"/>
                    </a:solidFill>
                  </a:tcPr>
                </a:tc>
                <a:tc>
                  <a:txBody>
                    <a:bodyPr/>
                    <a:lstStyle/>
                    <a:p>
                      <a:pPr algn="r"/>
                      <a:r>
                        <a:rPr sz="1600" b="0">
                          <a:solidFill>
                            <a:srgbClr val="1F2A33"/>
                          </a:solidFill>
                        </a:rPr>
                        <a:t>40.5</a:t>
                      </a:r>
                    </a:p>
                  </a:txBody>
                  <a:tcPr marT="27432" marB="27432" anchor="ctr">
                    <a:solidFill>
                      <a:srgbClr val="EEF3F7"/>
                    </a:solidFill>
                  </a:tcPr>
                </a:tc>
                <a:tc>
                  <a:txBody>
                    <a:bodyPr/>
                    <a:lstStyle/>
                    <a:p>
                      <a:pPr algn="r"/>
                      <a:r>
                        <a:rPr sz="1600" b="0">
                          <a:solidFill>
                            <a:srgbClr val="1F2A33"/>
                          </a:solidFill>
                        </a:rPr>
                        <a:t>22.2</a:t>
                      </a:r>
                    </a:p>
                  </a:txBody>
                  <a:tcPr marT="27432" marB="27432" anchor="ctr">
                    <a:solidFill>
                      <a:srgbClr val="EEF3F7"/>
                    </a:solidFill>
                  </a:tcPr>
                </a:tc>
                <a:tc>
                  <a:txBody>
                    <a:bodyPr/>
                    <a:lstStyle/>
                    <a:p>
                      <a:pPr algn="r"/>
                      <a:r>
                        <a:rPr sz="1600" b="0">
                          <a:solidFill>
                            <a:srgbClr val="1F2A33"/>
                          </a:solidFill>
                        </a:rPr>
                        <a:t>−18.3</a:t>
                      </a:r>
                    </a:p>
                  </a:txBody>
                  <a:tcPr marT="27432" marB="27432" anchor="ctr">
                    <a:solidFill>
                      <a:srgbClr val="EEF3F7"/>
                    </a:solidFill>
                  </a:tcPr>
                </a:tc>
                <a:extLst>
                  <a:ext uri="{0D108BD9-81ED-4DB2-BD59-A6C34878D82A}">
                    <a16:rowId xmlns:a16="http://schemas.microsoft.com/office/drawing/2014/main" val="10002"/>
                  </a:ext>
                </a:extLst>
              </a:tr>
              <a:tr h="548640">
                <a:tc>
                  <a:txBody>
                    <a:bodyPr/>
                    <a:lstStyle/>
                    <a:p>
                      <a:pPr algn="l"/>
                      <a:r>
                        <a:rPr sz="1600" b="1">
                          <a:solidFill>
                            <a:srgbClr val="1F2A33"/>
                          </a:solidFill>
                        </a:rPr>
                        <a:t>Australia</a:t>
                      </a:r>
                    </a:p>
                  </a:txBody>
                  <a:tcPr marT="27432" marB="27432" anchor="ctr">
                    <a:solidFill>
                      <a:srgbClr val="FFFFFF"/>
                    </a:solidFill>
                  </a:tcPr>
                </a:tc>
                <a:tc>
                  <a:txBody>
                    <a:bodyPr/>
                    <a:lstStyle/>
                    <a:p>
                      <a:pPr algn="r"/>
                      <a:r>
                        <a:rPr sz="1600" b="0">
                          <a:solidFill>
                            <a:srgbClr val="1F2A33"/>
                          </a:solidFill>
                        </a:rPr>
                        <a:t>7.00</a:t>
                      </a:r>
                    </a:p>
                  </a:txBody>
                  <a:tcPr marT="27432" marB="27432" anchor="ctr">
                    <a:solidFill>
                      <a:srgbClr val="FFFFFF"/>
                    </a:solidFill>
                  </a:tcPr>
                </a:tc>
                <a:tc>
                  <a:txBody>
                    <a:bodyPr/>
                    <a:lstStyle/>
                    <a:p>
                      <a:pPr algn="r"/>
                      <a:r>
                        <a:rPr sz="1600" b="0">
                          <a:solidFill>
                            <a:srgbClr val="1F2A33"/>
                          </a:solidFill>
                        </a:rPr>
                        <a:t>31.3</a:t>
                      </a:r>
                    </a:p>
                  </a:txBody>
                  <a:tcPr marT="27432" marB="27432" anchor="ctr">
                    <a:solidFill>
                      <a:srgbClr val="FFFFFF"/>
                    </a:solidFill>
                  </a:tcPr>
                </a:tc>
                <a:tc>
                  <a:txBody>
                    <a:bodyPr/>
                    <a:lstStyle/>
                    <a:p>
                      <a:pPr algn="r"/>
                      <a:r>
                        <a:rPr sz="1600" b="0">
                          <a:solidFill>
                            <a:srgbClr val="1F2A33"/>
                          </a:solidFill>
                        </a:rPr>
                        <a:t>39.9</a:t>
                      </a:r>
                    </a:p>
                  </a:txBody>
                  <a:tcPr marT="27432" marB="27432" anchor="ctr">
                    <a:solidFill>
                      <a:srgbClr val="FFFFFF"/>
                    </a:solidFill>
                  </a:tcPr>
                </a:tc>
                <a:tc>
                  <a:txBody>
                    <a:bodyPr/>
                    <a:lstStyle/>
                    <a:p>
                      <a:pPr algn="r"/>
                      <a:r>
                        <a:rPr sz="1600" b="0">
                          <a:solidFill>
                            <a:srgbClr val="1F2A33"/>
                          </a:solidFill>
                        </a:rPr>
                        <a:t>+8.6</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600" b="1">
                          <a:solidFill>
                            <a:srgbClr val="1F2A33"/>
                          </a:solidFill>
                        </a:rPr>
                        <a:t>Portugal</a:t>
                      </a:r>
                    </a:p>
                  </a:txBody>
                  <a:tcPr marT="27432" marB="27432" anchor="ctr">
                    <a:solidFill>
                      <a:srgbClr val="EEF3F7"/>
                    </a:solidFill>
                  </a:tcPr>
                </a:tc>
                <a:tc>
                  <a:txBody>
                    <a:bodyPr/>
                    <a:lstStyle/>
                    <a:p>
                      <a:pPr algn="r"/>
                      <a:r>
                        <a:rPr sz="1600" b="0">
                          <a:solidFill>
                            <a:srgbClr val="1F2A33"/>
                          </a:solidFill>
                        </a:rPr>
                        <a:t>8.00</a:t>
                      </a:r>
                    </a:p>
                  </a:txBody>
                  <a:tcPr marT="27432" marB="27432" anchor="ctr">
                    <a:solidFill>
                      <a:srgbClr val="EEF3F7"/>
                    </a:solidFill>
                  </a:tcPr>
                </a:tc>
                <a:tc>
                  <a:txBody>
                    <a:bodyPr/>
                    <a:lstStyle/>
                    <a:p>
                      <a:pPr algn="r"/>
                      <a:r>
                        <a:rPr sz="1600" b="0">
                          <a:solidFill>
                            <a:srgbClr val="1F2A33"/>
                          </a:solidFill>
                        </a:rPr>
                        <a:t>24.8</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tc>
                  <a:txBody>
                    <a:bodyPr/>
                    <a:lstStyle/>
                    <a:p>
                      <a:pPr algn="r"/>
                      <a:r>
                        <a:rPr sz="1600" b="0">
                          <a:solidFill>
                            <a:srgbClr val="1F2A33"/>
                          </a:solidFill>
                        </a:rPr>
                        <a:t>−14.8</a:t>
                      </a:r>
                    </a:p>
                  </a:txBody>
                  <a:tcPr marT="27432" marB="27432" anchor="ctr">
                    <a:solidFill>
                      <a:srgbClr val="EEF3F7"/>
                    </a:solidFill>
                  </a:tcPr>
                </a:tc>
                <a:extLst>
                  <a:ext uri="{0D108BD9-81ED-4DB2-BD59-A6C34878D82A}">
                    <a16:rowId xmlns:a16="http://schemas.microsoft.com/office/drawing/2014/main" val="10004"/>
                  </a:ext>
                </a:extLst>
              </a:tr>
            </a:tbl>
          </a:graphicData>
        </a:graphic>
      </p:graphicFrame>
      <p:sp>
        <p:nvSpPr>
          <p:cNvPr id="7" name="Worked"/>
          <p:cNvSpPr/>
          <p:nvPr/>
        </p:nvSpPr>
        <p:spPr>
          <a:xfrm>
            <a:off x="758952" y="4343400"/>
            <a:ext cx="5760720" cy="14173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987552" y="4389120"/>
            <a:ext cx="5303520" cy="1325880"/>
          </a:xfrm>
          <a:prstGeom prst="rect">
            <a:avLst/>
          </a:prstGeom>
          <a:noFill/>
        </p:spPr>
        <p:txBody>
          <a:bodyPr wrap="square" lIns="0" tIns="0" rIns="0" bIns="0" anchor="t">
            <a:spAutoFit/>
          </a:bodyPr>
          <a:lstStyle/>
          <a:p>
            <a:pPr algn="l"/>
            <a:r>
              <a:rPr sz="1700" b="1" i="0">
                <a:solidFill>
                  <a:srgbClr val="B88C00"/>
                </a:solidFill>
              </a:rPr>
              <a:t>Portugal</a:t>
            </a:r>
          </a:p>
          <a:p>
            <a:pPr algn="l"/>
            <a:r>
              <a:rPr sz="1700" b="0" i="0">
                <a:solidFill>
                  <a:srgbClr val="FFFFFF"/>
                </a:solidFill>
              </a:rPr>
              <a:t>77.06 − 6.535 × 8 = 24.8% predicted</a:t>
            </a:r>
          </a:p>
          <a:p>
            <a:pPr algn="l"/>
            <a:r>
              <a:rPr sz="1700" b="0" i="0">
                <a:solidFill>
                  <a:srgbClr val="CCDDEA"/>
                </a:solidFill>
              </a:rPr>
              <a:t>observed 10%  →  residual −14.8 points</a:t>
            </a:r>
          </a:p>
        </p:txBody>
      </p:sp>
      <p:cxnSp>
        <p:nvCxnSpPr>
          <p:cNvPr id="9" name="Connector 8"/>
          <p:cNvCxnSpPr/>
          <p:nvPr/>
        </p:nvCxnSpPr>
        <p:spPr>
          <a:xfrm>
            <a:off x="7315200" y="1463040"/>
            <a:ext cx="0" cy="3931920"/>
          </a:xfrm>
          <a:prstGeom prst="line">
            <a:avLst/>
          </a:prstGeom>
          <a:ln w="15875">
            <a:solidFill>
              <a:srgbClr val="BBC4CC"/>
            </a:solidFill>
          </a:ln>
        </p:spPr>
      </p:cxnSp>
      <p:cxnSp>
        <p:nvCxnSpPr>
          <p:cNvPr id="60" name="Connector 60"/>
          <p:cNvCxnSpPr/>
          <p:nvPr/>
        </p:nvCxnSpPr>
        <p:spPr>
          <a:xfrm>
            <a:off x="7315200" y="5394960"/>
            <a:ext cx="3931920" cy="0"/>
          </a:xfrm>
          <a:prstGeom prst="line">
            <a:avLst/>
          </a:prstGeom>
          <a:ln w="9525">
            <a:solidFill>
              <a:srgbClr val="DDE3E8"/>
            </a:solidFill>
          </a:ln>
        </p:spPr>
      </p:cxnSp>
      <p:sp>
        <p:nvSpPr>
          <p:cNvPr id="61" name="TextBox 61"/>
          <p:cNvSpPr txBox="1"/>
          <p:nvPr/>
        </p:nvSpPr>
        <p:spPr>
          <a:xfrm>
            <a:off x="6629400" y="52578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62" name="Connector 62"/>
          <p:cNvCxnSpPr/>
          <p:nvPr/>
        </p:nvCxnSpPr>
        <p:spPr>
          <a:xfrm>
            <a:off x="7315200" y="4608576"/>
            <a:ext cx="3931920" cy="0"/>
          </a:xfrm>
          <a:prstGeom prst="line">
            <a:avLst/>
          </a:prstGeom>
          <a:ln w="9525">
            <a:solidFill>
              <a:srgbClr val="DDE3E8"/>
            </a:solidFill>
          </a:ln>
        </p:spPr>
      </p:cxnSp>
      <p:sp>
        <p:nvSpPr>
          <p:cNvPr id="63" name="TextBox 63"/>
          <p:cNvSpPr txBox="1"/>
          <p:nvPr/>
        </p:nvSpPr>
        <p:spPr>
          <a:xfrm>
            <a:off x="6629400" y="4471416"/>
            <a:ext cx="621792" cy="274320"/>
          </a:xfrm>
          <a:prstGeom prst="rect">
            <a:avLst/>
          </a:prstGeom>
          <a:noFill/>
        </p:spPr>
        <p:txBody>
          <a:bodyPr wrap="square" lIns="0" tIns="0" rIns="0" bIns="0" anchor="t">
            <a:spAutoFit/>
          </a:bodyPr>
          <a:lstStyle/>
          <a:p>
            <a:pPr algn="r"/>
            <a:r>
              <a:rPr sz="1200" b="0" i="0">
                <a:solidFill>
                  <a:srgbClr val="55606B"/>
                </a:solidFill>
              </a:rPr>
              <a:t>20</a:t>
            </a:r>
          </a:p>
        </p:txBody>
      </p:sp>
      <p:cxnSp>
        <p:nvCxnSpPr>
          <p:cNvPr id="64" name="Connector 64"/>
          <p:cNvCxnSpPr/>
          <p:nvPr/>
        </p:nvCxnSpPr>
        <p:spPr>
          <a:xfrm>
            <a:off x="7315200" y="3822192"/>
            <a:ext cx="3931920" cy="0"/>
          </a:xfrm>
          <a:prstGeom prst="line">
            <a:avLst/>
          </a:prstGeom>
          <a:ln w="9525">
            <a:solidFill>
              <a:srgbClr val="DDE3E8"/>
            </a:solidFill>
          </a:ln>
        </p:spPr>
      </p:cxnSp>
      <p:sp>
        <p:nvSpPr>
          <p:cNvPr id="65" name="TextBox 65"/>
          <p:cNvSpPr txBox="1"/>
          <p:nvPr/>
        </p:nvSpPr>
        <p:spPr>
          <a:xfrm>
            <a:off x="6629400" y="3685032"/>
            <a:ext cx="621792" cy="274320"/>
          </a:xfrm>
          <a:prstGeom prst="rect">
            <a:avLst/>
          </a:prstGeom>
          <a:noFill/>
        </p:spPr>
        <p:txBody>
          <a:bodyPr wrap="square" lIns="0" tIns="0" rIns="0" bIns="0" anchor="t">
            <a:spAutoFit/>
          </a:bodyPr>
          <a:lstStyle/>
          <a:p>
            <a:pPr algn="r"/>
            <a:r>
              <a:rPr sz="1200" b="0" i="0">
                <a:solidFill>
                  <a:srgbClr val="55606B"/>
                </a:solidFill>
              </a:rPr>
              <a:t>40</a:t>
            </a:r>
          </a:p>
        </p:txBody>
      </p:sp>
      <p:cxnSp>
        <p:nvCxnSpPr>
          <p:cNvPr id="66" name="Connector 66"/>
          <p:cNvCxnSpPr/>
          <p:nvPr/>
        </p:nvCxnSpPr>
        <p:spPr>
          <a:xfrm>
            <a:off x="7315200" y="3035808"/>
            <a:ext cx="3931920" cy="0"/>
          </a:xfrm>
          <a:prstGeom prst="line">
            <a:avLst/>
          </a:prstGeom>
          <a:ln w="9525">
            <a:solidFill>
              <a:srgbClr val="DDE3E8"/>
            </a:solidFill>
          </a:ln>
        </p:spPr>
      </p:cxnSp>
      <p:sp>
        <p:nvSpPr>
          <p:cNvPr id="67" name="TextBox 67"/>
          <p:cNvSpPr txBox="1"/>
          <p:nvPr/>
        </p:nvSpPr>
        <p:spPr>
          <a:xfrm>
            <a:off x="6629400" y="2898648"/>
            <a:ext cx="621792" cy="274320"/>
          </a:xfrm>
          <a:prstGeom prst="rect">
            <a:avLst/>
          </a:prstGeom>
          <a:noFill/>
        </p:spPr>
        <p:txBody>
          <a:bodyPr wrap="square" lIns="0" tIns="0" rIns="0" bIns="0" anchor="t">
            <a:spAutoFit/>
          </a:bodyPr>
          <a:lstStyle/>
          <a:p>
            <a:pPr algn="r"/>
            <a:r>
              <a:rPr sz="1200" b="0" i="0">
                <a:solidFill>
                  <a:srgbClr val="55606B"/>
                </a:solidFill>
              </a:rPr>
              <a:t>60</a:t>
            </a:r>
          </a:p>
        </p:txBody>
      </p:sp>
      <p:cxnSp>
        <p:nvCxnSpPr>
          <p:cNvPr id="68" name="Connector 68"/>
          <p:cNvCxnSpPr/>
          <p:nvPr/>
        </p:nvCxnSpPr>
        <p:spPr>
          <a:xfrm>
            <a:off x="7315200" y="2249424"/>
            <a:ext cx="3931920" cy="0"/>
          </a:xfrm>
          <a:prstGeom prst="line">
            <a:avLst/>
          </a:prstGeom>
          <a:ln w="9525">
            <a:solidFill>
              <a:srgbClr val="DDE3E8"/>
            </a:solidFill>
          </a:ln>
        </p:spPr>
      </p:cxnSp>
      <p:sp>
        <p:nvSpPr>
          <p:cNvPr id="69" name="TextBox 69"/>
          <p:cNvSpPr txBox="1"/>
          <p:nvPr/>
        </p:nvSpPr>
        <p:spPr>
          <a:xfrm>
            <a:off x="6629400" y="2112264"/>
            <a:ext cx="621792" cy="274320"/>
          </a:xfrm>
          <a:prstGeom prst="rect">
            <a:avLst/>
          </a:prstGeom>
          <a:noFill/>
        </p:spPr>
        <p:txBody>
          <a:bodyPr wrap="square" lIns="0" tIns="0" rIns="0" bIns="0" anchor="t">
            <a:spAutoFit/>
          </a:bodyPr>
          <a:lstStyle/>
          <a:p>
            <a:pPr algn="r"/>
            <a:r>
              <a:rPr sz="1200" b="0" i="0">
                <a:solidFill>
                  <a:srgbClr val="55606B"/>
                </a:solidFill>
              </a:rPr>
              <a:t>80</a:t>
            </a:r>
          </a:p>
        </p:txBody>
      </p:sp>
      <p:cxnSp>
        <p:nvCxnSpPr>
          <p:cNvPr id="70" name="Connector 70"/>
          <p:cNvCxnSpPr/>
          <p:nvPr/>
        </p:nvCxnSpPr>
        <p:spPr>
          <a:xfrm>
            <a:off x="7315200" y="1463040"/>
            <a:ext cx="3931920" cy="0"/>
          </a:xfrm>
          <a:prstGeom prst="line">
            <a:avLst/>
          </a:prstGeom>
          <a:ln w="9525">
            <a:solidFill>
              <a:srgbClr val="DDE3E8"/>
            </a:solidFill>
          </a:ln>
        </p:spPr>
      </p:cxnSp>
      <p:sp>
        <p:nvSpPr>
          <p:cNvPr id="71" name="TextBox 71"/>
          <p:cNvSpPr txBox="1"/>
          <p:nvPr/>
        </p:nvSpPr>
        <p:spPr>
          <a:xfrm>
            <a:off x="6629400" y="1325880"/>
            <a:ext cx="621792" cy="274320"/>
          </a:xfrm>
          <a:prstGeom prst="rect">
            <a:avLst/>
          </a:prstGeom>
          <a:noFill/>
        </p:spPr>
        <p:txBody>
          <a:bodyPr wrap="square" lIns="0" tIns="0" rIns="0" bIns="0" anchor="t">
            <a:spAutoFit/>
          </a:bodyPr>
          <a:lstStyle/>
          <a:p>
            <a:pPr algn="r"/>
            <a:r>
              <a:rPr sz="1200" b="0" i="0">
                <a:solidFill>
                  <a:srgbClr val="55606B"/>
                </a:solidFill>
              </a:rPr>
              <a:t>100</a:t>
            </a:r>
          </a:p>
        </p:txBody>
      </p:sp>
      <p:cxnSp>
        <p:nvCxnSpPr>
          <p:cNvPr id="72" name="Connector 72"/>
          <p:cNvCxnSpPr/>
          <p:nvPr/>
        </p:nvCxnSpPr>
        <p:spPr>
          <a:xfrm>
            <a:off x="7315200" y="5394960"/>
            <a:ext cx="0" cy="64008"/>
          </a:xfrm>
          <a:prstGeom prst="line">
            <a:avLst/>
          </a:prstGeom>
          <a:ln w="15875">
            <a:solidFill>
              <a:srgbClr val="BBC4CC"/>
            </a:solidFill>
          </a:ln>
        </p:spPr>
      </p:cxnSp>
      <p:sp>
        <p:nvSpPr>
          <p:cNvPr id="73" name="TextBox 73"/>
          <p:cNvSpPr txBox="1"/>
          <p:nvPr/>
        </p:nvSpPr>
        <p:spPr>
          <a:xfrm>
            <a:off x="6766560" y="54681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74" name="Connector 74"/>
          <p:cNvCxnSpPr/>
          <p:nvPr/>
        </p:nvCxnSpPr>
        <p:spPr>
          <a:xfrm>
            <a:off x="8101584" y="5394960"/>
            <a:ext cx="0" cy="64008"/>
          </a:xfrm>
          <a:prstGeom prst="line">
            <a:avLst/>
          </a:prstGeom>
          <a:ln w="15875">
            <a:solidFill>
              <a:srgbClr val="BBC4CC"/>
            </a:solidFill>
          </a:ln>
        </p:spPr>
      </p:cxnSp>
      <p:sp>
        <p:nvSpPr>
          <p:cNvPr id="75" name="TextBox 75"/>
          <p:cNvSpPr txBox="1"/>
          <p:nvPr/>
        </p:nvSpPr>
        <p:spPr>
          <a:xfrm>
            <a:off x="7552944" y="5468112"/>
            <a:ext cx="1097280" cy="274320"/>
          </a:xfrm>
          <a:prstGeom prst="rect">
            <a:avLst/>
          </a:prstGeom>
          <a:noFill/>
        </p:spPr>
        <p:txBody>
          <a:bodyPr wrap="square" lIns="0" tIns="0" rIns="0" bIns="0" anchor="t">
            <a:spAutoFit/>
          </a:bodyPr>
          <a:lstStyle/>
          <a:p>
            <a:pPr algn="ctr"/>
            <a:r>
              <a:rPr sz="1200" b="0" i="0">
                <a:solidFill>
                  <a:srgbClr val="55606B"/>
                </a:solidFill>
              </a:rPr>
              <a:t>2</a:t>
            </a:r>
          </a:p>
        </p:txBody>
      </p:sp>
      <p:cxnSp>
        <p:nvCxnSpPr>
          <p:cNvPr id="76" name="Connector 76"/>
          <p:cNvCxnSpPr/>
          <p:nvPr/>
        </p:nvCxnSpPr>
        <p:spPr>
          <a:xfrm>
            <a:off x="8887968" y="5394960"/>
            <a:ext cx="0" cy="64008"/>
          </a:xfrm>
          <a:prstGeom prst="line">
            <a:avLst/>
          </a:prstGeom>
          <a:ln w="15875">
            <a:solidFill>
              <a:srgbClr val="BBC4CC"/>
            </a:solidFill>
          </a:ln>
        </p:spPr>
      </p:cxnSp>
      <p:sp>
        <p:nvSpPr>
          <p:cNvPr id="77" name="TextBox 77"/>
          <p:cNvSpPr txBox="1"/>
          <p:nvPr/>
        </p:nvSpPr>
        <p:spPr>
          <a:xfrm>
            <a:off x="8339328" y="54681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78" name="Connector 78"/>
          <p:cNvCxnSpPr/>
          <p:nvPr/>
        </p:nvCxnSpPr>
        <p:spPr>
          <a:xfrm>
            <a:off x="9674352" y="5394960"/>
            <a:ext cx="0" cy="64008"/>
          </a:xfrm>
          <a:prstGeom prst="line">
            <a:avLst/>
          </a:prstGeom>
          <a:ln w="15875">
            <a:solidFill>
              <a:srgbClr val="BBC4CC"/>
            </a:solidFill>
          </a:ln>
        </p:spPr>
      </p:cxnSp>
      <p:sp>
        <p:nvSpPr>
          <p:cNvPr id="79" name="TextBox 79"/>
          <p:cNvSpPr txBox="1"/>
          <p:nvPr/>
        </p:nvSpPr>
        <p:spPr>
          <a:xfrm>
            <a:off x="9125712" y="5468112"/>
            <a:ext cx="1097280" cy="274320"/>
          </a:xfrm>
          <a:prstGeom prst="rect">
            <a:avLst/>
          </a:prstGeom>
          <a:noFill/>
        </p:spPr>
        <p:txBody>
          <a:bodyPr wrap="square" lIns="0" tIns="0" rIns="0" bIns="0" anchor="t">
            <a:spAutoFit/>
          </a:bodyPr>
          <a:lstStyle/>
          <a:p>
            <a:pPr algn="ctr"/>
            <a:r>
              <a:rPr sz="1200" b="0" i="0">
                <a:solidFill>
                  <a:srgbClr val="55606B"/>
                </a:solidFill>
              </a:rPr>
              <a:t>6</a:t>
            </a:r>
          </a:p>
        </p:txBody>
      </p:sp>
      <p:cxnSp>
        <p:nvCxnSpPr>
          <p:cNvPr id="80" name="Connector 80"/>
          <p:cNvCxnSpPr/>
          <p:nvPr/>
        </p:nvCxnSpPr>
        <p:spPr>
          <a:xfrm>
            <a:off x="10460736" y="5394960"/>
            <a:ext cx="0" cy="64008"/>
          </a:xfrm>
          <a:prstGeom prst="line">
            <a:avLst/>
          </a:prstGeom>
          <a:ln w="15875">
            <a:solidFill>
              <a:srgbClr val="BBC4CC"/>
            </a:solidFill>
          </a:ln>
        </p:spPr>
      </p:cxnSp>
      <p:sp>
        <p:nvSpPr>
          <p:cNvPr id="81" name="TextBox 81"/>
          <p:cNvSpPr txBox="1"/>
          <p:nvPr/>
        </p:nvSpPr>
        <p:spPr>
          <a:xfrm>
            <a:off x="9912096" y="54681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82" name="Connector 82"/>
          <p:cNvCxnSpPr/>
          <p:nvPr/>
        </p:nvCxnSpPr>
        <p:spPr>
          <a:xfrm>
            <a:off x="11247120" y="5394960"/>
            <a:ext cx="0" cy="64008"/>
          </a:xfrm>
          <a:prstGeom prst="line">
            <a:avLst/>
          </a:prstGeom>
          <a:ln w="15875">
            <a:solidFill>
              <a:srgbClr val="BBC4CC"/>
            </a:solidFill>
          </a:ln>
        </p:spPr>
      </p:cxnSp>
      <p:sp>
        <p:nvSpPr>
          <p:cNvPr id="83" name="TextBox 83"/>
          <p:cNvSpPr txBox="1"/>
          <p:nvPr/>
        </p:nvSpPr>
        <p:spPr>
          <a:xfrm>
            <a:off x="10698480" y="5468112"/>
            <a:ext cx="1097280" cy="274320"/>
          </a:xfrm>
          <a:prstGeom prst="rect">
            <a:avLst/>
          </a:prstGeom>
          <a:noFill/>
        </p:spPr>
        <p:txBody>
          <a:bodyPr wrap="square" lIns="0" tIns="0" rIns="0" bIns="0" anchor="t">
            <a:spAutoFit/>
          </a:bodyPr>
          <a:lstStyle/>
          <a:p>
            <a:pPr algn="ctr"/>
            <a:r>
              <a:rPr sz="1200" b="0" i="0">
                <a:solidFill>
                  <a:srgbClr val="55606B"/>
                </a:solidFill>
              </a:rPr>
              <a:t>10</a:t>
            </a:r>
          </a:p>
        </p:txBody>
      </p:sp>
      <p:cxnSp>
        <p:nvCxnSpPr>
          <p:cNvPr id="18" name="Connector 17"/>
          <p:cNvCxnSpPr/>
          <p:nvPr/>
        </p:nvCxnSpPr>
        <p:spPr>
          <a:xfrm>
            <a:off x="7315200" y="5394960"/>
            <a:ext cx="3931920" cy="0"/>
          </a:xfrm>
          <a:prstGeom prst="line">
            <a:avLst/>
          </a:prstGeom>
          <a:ln w="15875">
            <a:solidFill>
              <a:srgbClr val="BBC4CC"/>
            </a:solidFill>
          </a:ln>
        </p:spPr>
      </p:cxnSp>
      <p:cxnSp>
        <p:nvCxnSpPr>
          <p:cNvPr id="27" name="Connector 26"/>
          <p:cNvCxnSpPr/>
          <p:nvPr/>
        </p:nvCxnSpPr>
        <p:spPr>
          <a:xfrm>
            <a:off x="8652053" y="3238613"/>
            <a:ext cx="2477109" cy="1618882"/>
          </a:xfrm>
          <a:prstGeom prst="line">
            <a:avLst/>
          </a:prstGeom>
          <a:ln w="31750">
            <a:solidFill>
              <a:srgbClr val="B88C00"/>
            </a:solidFill>
          </a:ln>
        </p:spPr>
      </p:cxnSp>
      <p:cxnSp>
        <p:nvCxnSpPr>
          <p:cNvPr id="84" name="Connector 84"/>
          <p:cNvCxnSpPr/>
          <p:nvPr/>
        </p:nvCxnSpPr>
        <p:spPr>
          <a:xfrm>
            <a:off x="7315200" y="2364931"/>
            <a:ext cx="1336853" cy="873682"/>
          </a:xfrm>
          <a:prstGeom prst="line">
            <a:avLst/>
          </a:prstGeom>
          <a:ln w="28575">
            <a:solidFill>
              <a:srgbClr val="B88C00"/>
            </a:solidFill>
            <a:prstDash val="dash"/>
          </a:ln>
        </p:spPr>
      </p:cxnSp>
      <p:cxnSp>
        <p:nvCxnSpPr>
          <p:cNvPr id="28" name="Connector 27"/>
          <p:cNvCxnSpPr/>
          <p:nvPr/>
        </p:nvCxnSpPr>
        <p:spPr>
          <a:xfrm>
            <a:off x="10067544" y="3826124"/>
            <a:ext cx="0" cy="337564"/>
          </a:xfrm>
          <a:prstGeom prst="line">
            <a:avLst/>
          </a:prstGeom>
          <a:ln w="25400">
            <a:solidFill>
              <a:srgbClr val="865640"/>
            </a:solidFill>
          </a:ln>
        </p:spPr>
      </p:cxnSp>
      <p:sp>
        <p:nvSpPr>
          <p:cNvPr id="29" name="Oval 28"/>
          <p:cNvSpPr/>
          <p:nvPr/>
        </p:nvSpPr>
        <p:spPr>
          <a:xfrm>
            <a:off x="9998964" y="3757544"/>
            <a:ext cx="137160" cy="137160"/>
          </a:xfrm>
          <a:prstGeom prst="ellipse">
            <a:avLst/>
          </a:prstGeom>
          <a:solidFill>
            <a:srgbClr val="1F394D"/>
          </a:solidFill>
          <a:ln>
            <a:noFill/>
          </a:ln>
        </p:spPr>
        <p:txBody>
          <a:bodyPr rtlCol="0" anchor="ctr"/>
          <a:lstStyle/>
          <a:p>
            <a:pPr algn="ctr"/>
            <a:endParaRPr/>
          </a:p>
        </p:txBody>
      </p:sp>
      <p:sp>
        <p:nvSpPr>
          <p:cNvPr id="30" name="Oval 29"/>
          <p:cNvSpPr/>
          <p:nvPr/>
        </p:nvSpPr>
        <p:spPr>
          <a:xfrm>
            <a:off x="9166631" y="4016319"/>
            <a:ext cx="91440" cy="91440"/>
          </a:xfrm>
          <a:prstGeom prst="ellipse">
            <a:avLst/>
          </a:prstGeom>
          <a:solidFill>
            <a:srgbClr val="9AA4AE"/>
          </a:solidFill>
          <a:ln>
            <a:noFill/>
          </a:ln>
        </p:spPr>
        <p:txBody>
          <a:bodyPr rtlCol="0" anchor="ctr"/>
          <a:lstStyle/>
          <a:p>
            <a:pPr algn="ctr"/>
            <a:endParaRPr/>
          </a:p>
        </p:txBody>
      </p:sp>
      <p:sp>
        <p:nvSpPr>
          <p:cNvPr id="31" name="Oval 30"/>
          <p:cNvSpPr/>
          <p:nvPr/>
        </p:nvSpPr>
        <p:spPr>
          <a:xfrm>
            <a:off x="9078163" y="4142140"/>
            <a:ext cx="91440" cy="91440"/>
          </a:xfrm>
          <a:prstGeom prst="ellipse">
            <a:avLst/>
          </a:prstGeom>
          <a:solidFill>
            <a:srgbClr val="9AA4AE"/>
          </a:solidFill>
          <a:ln>
            <a:noFill/>
          </a:ln>
        </p:spPr>
        <p:txBody>
          <a:bodyPr rtlCol="0" anchor="ctr"/>
          <a:lstStyle/>
          <a:p>
            <a:pPr algn="ctr"/>
            <a:endParaRPr/>
          </a:p>
        </p:txBody>
      </p:sp>
      <p:sp>
        <p:nvSpPr>
          <p:cNvPr id="32" name="Oval 31"/>
          <p:cNvSpPr/>
          <p:nvPr/>
        </p:nvSpPr>
        <p:spPr>
          <a:xfrm>
            <a:off x="9481185" y="3823654"/>
            <a:ext cx="91440" cy="91440"/>
          </a:xfrm>
          <a:prstGeom prst="ellipse">
            <a:avLst/>
          </a:prstGeom>
          <a:solidFill>
            <a:srgbClr val="9AA4AE"/>
          </a:solidFill>
          <a:ln>
            <a:noFill/>
          </a:ln>
        </p:spPr>
        <p:txBody>
          <a:bodyPr rtlCol="0" anchor="ctr"/>
          <a:lstStyle/>
          <a:p>
            <a:pPr algn="ctr"/>
            <a:endParaRPr/>
          </a:p>
        </p:txBody>
      </p:sp>
      <p:cxnSp>
        <p:nvCxnSpPr>
          <p:cNvPr id="33" name="Connector 32"/>
          <p:cNvCxnSpPr/>
          <p:nvPr/>
        </p:nvCxnSpPr>
        <p:spPr>
          <a:xfrm>
            <a:off x="9005925" y="2780233"/>
            <a:ext cx="0" cy="689649"/>
          </a:xfrm>
          <a:prstGeom prst="line">
            <a:avLst/>
          </a:prstGeom>
          <a:ln w="25400">
            <a:solidFill>
              <a:srgbClr val="865640"/>
            </a:solidFill>
          </a:ln>
        </p:spPr>
      </p:cxnSp>
      <p:sp>
        <p:nvSpPr>
          <p:cNvPr id="34" name="Oval 33"/>
          <p:cNvSpPr/>
          <p:nvPr/>
        </p:nvSpPr>
        <p:spPr>
          <a:xfrm>
            <a:off x="8937345" y="2711653"/>
            <a:ext cx="137160" cy="137160"/>
          </a:xfrm>
          <a:prstGeom prst="ellipse">
            <a:avLst/>
          </a:prstGeom>
          <a:solidFill>
            <a:srgbClr val="1F394D"/>
          </a:solidFill>
          <a:ln>
            <a:noFill/>
          </a:ln>
        </p:spPr>
        <p:txBody>
          <a:bodyPr rtlCol="0" anchor="ctr"/>
          <a:lstStyle/>
          <a:p>
            <a:pPr algn="ctr"/>
            <a:endParaRPr/>
          </a:p>
        </p:txBody>
      </p:sp>
      <p:sp>
        <p:nvSpPr>
          <p:cNvPr id="35" name="Oval 34"/>
          <p:cNvSpPr/>
          <p:nvPr/>
        </p:nvSpPr>
        <p:spPr>
          <a:xfrm>
            <a:off x="8734120" y="3068726"/>
            <a:ext cx="91440" cy="91440"/>
          </a:xfrm>
          <a:prstGeom prst="ellipse">
            <a:avLst/>
          </a:prstGeom>
          <a:solidFill>
            <a:srgbClr val="9AA4AE"/>
          </a:solidFill>
          <a:ln>
            <a:noFill/>
          </a:ln>
        </p:spPr>
        <p:txBody>
          <a:bodyPr rtlCol="0" anchor="ctr"/>
          <a:lstStyle/>
          <a:p>
            <a:pPr algn="ctr"/>
            <a:endParaRPr/>
          </a:p>
        </p:txBody>
      </p:sp>
      <p:cxnSp>
        <p:nvCxnSpPr>
          <p:cNvPr id="36" name="Connector 35"/>
          <p:cNvCxnSpPr/>
          <p:nvPr/>
        </p:nvCxnSpPr>
        <p:spPr>
          <a:xfrm flipV="1">
            <a:off x="9517075" y="3803936"/>
            <a:ext cx="0" cy="718137"/>
          </a:xfrm>
          <a:prstGeom prst="line">
            <a:avLst/>
          </a:prstGeom>
          <a:ln w="25400">
            <a:solidFill>
              <a:srgbClr val="865640"/>
            </a:solidFill>
          </a:ln>
        </p:spPr>
      </p:cxnSp>
      <p:sp>
        <p:nvSpPr>
          <p:cNvPr id="37" name="Oval 36"/>
          <p:cNvSpPr/>
          <p:nvPr/>
        </p:nvSpPr>
        <p:spPr>
          <a:xfrm>
            <a:off x="9448495" y="4453493"/>
            <a:ext cx="137160" cy="137160"/>
          </a:xfrm>
          <a:prstGeom prst="ellipse">
            <a:avLst/>
          </a:prstGeom>
          <a:solidFill>
            <a:srgbClr val="1F394D"/>
          </a:solidFill>
          <a:ln>
            <a:noFill/>
          </a:ln>
        </p:spPr>
        <p:txBody>
          <a:bodyPr rtlCol="0" anchor="ctr"/>
          <a:lstStyle/>
          <a:p>
            <a:pPr algn="ctr"/>
            <a:endParaRPr/>
          </a:p>
        </p:txBody>
      </p:sp>
      <p:sp>
        <p:nvSpPr>
          <p:cNvPr id="38" name="Oval 37"/>
          <p:cNvSpPr/>
          <p:nvPr/>
        </p:nvSpPr>
        <p:spPr>
          <a:xfrm>
            <a:off x="9314078" y="3980932"/>
            <a:ext cx="91440" cy="91440"/>
          </a:xfrm>
          <a:prstGeom prst="ellipse">
            <a:avLst/>
          </a:prstGeom>
          <a:solidFill>
            <a:srgbClr val="9AA4AE"/>
          </a:solidFill>
          <a:ln>
            <a:noFill/>
          </a:ln>
        </p:spPr>
        <p:txBody>
          <a:bodyPr rtlCol="0" anchor="ctr"/>
          <a:lstStyle/>
          <a:p>
            <a:pPr algn="ctr"/>
            <a:endParaRPr/>
          </a:p>
        </p:txBody>
      </p:sp>
      <p:sp>
        <p:nvSpPr>
          <p:cNvPr id="39" name="Oval 38"/>
          <p:cNvSpPr/>
          <p:nvPr/>
        </p:nvSpPr>
        <p:spPr>
          <a:xfrm>
            <a:off x="9707270" y="4417375"/>
            <a:ext cx="91440" cy="91440"/>
          </a:xfrm>
          <a:prstGeom prst="ellipse">
            <a:avLst/>
          </a:prstGeom>
          <a:solidFill>
            <a:srgbClr val="9AA4AE"/>
          </a:solidFill>
          <a:ln>
            <a:noFill/>
          </a:ln>
        </p:spPr>
        <p:txBody>
          <a:bodyPr rtlCol="0" anchor="ctr"/>
          <a:lstStyle/>
          <a:p>
            <a:pPr algn="ctr"/>
            <a:endParaRPr/>
          </a:p>
        </p:txBody>
      </p:sp>
      <p:sp>
        <p:nvSpPr>
          <p:cNvPr id="40" name="Oval 39"/>
          <p:cNvSpPr/>
          <p:nvPr/>
        </p:nvSpPr>
        <p:spPr>
          <a:xfrm>
            <a:off x="9648291" y="3965203"/>
            <a:ext cx="91440" cy="91440"/>
          </a:xfrm>
          <a:prstGeom prst="ellipse">
            <a:avLst/>
          </a:prstGeom>
          <a:solidFill>
            <a:srgbClr val="9AA4AE"/>
          </a:solidFill>
          <a:ln>
            <a:noFill/>
          </a:ln>
        </p:spPr>
        <p:txBody>
          <a:bodyPr rtlCol="0" anchor="ctr"/>
          <a:lstStyle/>
          <a:p>
            <a:pPr algn="ctr"/>
            <a:endParaRPr/>
          </a:p>
        </p:txBody>
      </p:sp>
      <p:sp>
        <p:nvSpPr>
          <p:cNvPr id="41" name="Oval 40"/>
          <p:cNvSpPr/>
          <p:nvPr/>
        </p:nvSpPr>
        <p:spPr>
          <a:xfrm>
            <a:off x="9933356" y="4425239"/>
            <a:ext cx="91440" cy="91440"/>
          </a:xfrm>
          <a:prstGeom prst="ellipse">
            <a:avLst/>
          </a:prstGeom>
          <a:solidFill>
            <a:srgbClr val="9AA4AE"/>
          </a:solidFill>
          <a:ln>
            <a:noFill/>
          </a:ln>
        </p:spPr>
        <p:txBody>
          <a:bodyPr rtlCol="0" anchor="ctr"/>
          <a:lstStyle/>
          <a:p>
            <a:pPr algn="ctr"/>
            <a:endParaRPr/>
          </a:p>
        </p:txBody>
      </p:sp>
      <p:sp>
        <p:nvSpPr>
          <p:cNvPr id="42" name="Oval 41"/>
          <p:cNvSpPr/>
          <p:nvPr/>
        </p:nvSpPr>
        <p:spPr>
          <a:xfrm>
            <a:off x="9884206" y="4067434"/>
            <a:ext cx="91440" cy="91440"/>
          </a:xfrm>
          <a:prstGeom prst="ellipse">
            <a:avLst/>
          </a:prstGeom>
          <a:solidFill>
            <a:srgbClr val="9AA4AE"/>
          </a:solidFill>
          <a:ln>
            <a:noFill/>
          </a:ln>
        </p:spPr>
        <p:txBody>
          <a:bodyPr rtlCol="0" anchor="ctr"/>
          <a:lstStyle/>
          <a:p>
            <a:pPr algn="ctr"/>
            <a:endParaRPr/>
          </a:p>
        </p:txBody>
      </p:sp>
      <p:sp>
        <p:nvSpPr>
          <p:cNvPr id="43" name="Oval 42"/>
          <p:cNvSpPr/>
          <p:nvPr/>
        </p:nvSpPr>
        <p:spPr>
          <a:xfrm>
            <a:off x="8606333" y="3654582"/>
            <a:ext cx="91440" cy="91440"/>
          </a:xfrm>
          <a:prstGeom prst="ellipse">
            <a:avLst/>
          </a:prstGeom>
          <a:solidFill>
            <a:srgbClr val="9AA4AE"/>
          </a:solidFill>
          <a:ln>
            <a:noFill/>
          </a:ln>
        </p:spPr>
        <p:txBody>
          <a:bodyPr rtlCol="0" anchor="ctr"/>
          <a:lstStyle/>
          <a:p>
            <a:pPr algn="ctr"/>
            <a:endParaRPr/>
          </a:p>
        </p:txBody>
      </p:sp>
      <p:sp>
        <p:nvSpPr>
          <p:cNvPr id="44" name="Oval 43"/>
          <p:cNvSpPr/>
          <p:nvPr/>
        </p:nvSpPr>
        <p:spPr>
          <a:xfrm>
            <a:off x="9353397" y="2997951"/>
            <a:ext cx="91440" cy="91440"/>
          </a:xfrm>
          <a:prstGeom prst="ellipse">
            <a:avLst/>
          </a:prstGeom>
          <a:solidFill>
            <a:srgbClr val="9AA4AE"/>
          </a:solidFill>
          <a:ln>
            <a:noFill/>
          </a:ln>
        </p:spPr>
        <p:txBody>
          <a:bodyPr rtlCol="0" anchor="ctr"/>
          <a:lstStyle/>
          <a:p>
            <a:pPr algn="ctr"/>
            <a:endParaRPr/>
          </a:p>
        </p:txBody>
      </p:sp>
      <p:sp>
        <p:nvSpPr>
          <p:cNvPr id="45" name="Oval 44"/>
          <p:cNvSpPr/>
          <p:nvPr/>
        </p:nvSpPr>
        <p:spPr>
          <a:xfrm>
            <a:off x="9943185" y="3418667"/>
            <a:ext cx="91440" cy="91440"/>
          </a:xfrm>
          <a:prstGeom prst="ellipse">
            <a:avLst/>
          </a:prstGeom>
          <a:solidFill>
            <a:srgbClr val="9AA4AE"/>
          </a:solidFill>
          <a:ln>
            <a:noFill/>
          </a:ln>
        </p:spPr>
        <p:txBody>
          <a:bodyPr rtlCol="0" anchor="ctr"/>
          <a:lstStyle/>
          <a:p>
            <a:pPr algn="ctr"/>
            <a:endParaRPr/>
          </a:p>
        </p:txBody>
      </p:sp>
      <p:sp>
        <p:nvSpPr>
          <p:cNvPr id="46" name="Oval 45"/>
          <p:cNvSpPr/>
          <p:nvPr/>
        </p:nvSpPr>
        <p:spPr>
          <a:xfrm>
            <a:off x="8783269" y="2781696"/>
            <a:ext cx="91440" cy="91440"/>
          </a:xfrm>
          <a:prstGeom prst="ellipse">
            <a:avLst/>
          </a:prstGeom>
          <a:solidFill>
            <a:srgbClr val="9AA4AE"/>
          </a:solidFill>
          <a:ln>
            <a:noFill/>
          </a:ln>
        </p:spPr>
        <p:txBody>
          <a:bodyPr rtlCol="0" anchor="ctr"/>
          <a:lstStyle/>
          <a:p>
            <a:pPr algn="ctr"/>
            <a:endParaRPr/>
          </a:p>
        </p:txBody>
      </p:sp>
      <p:cxnSp>
        <p:nvCxnSpPr>
          <p:cNvPr id="47" name="Connector 46"/>
          <p:cNvCxnSpPr/>
          <p:nvPr/>
        </p:nvCxnSpPr>
        <p:spPr>
          <a:xfrm flipV="1">
            <a:off x="10460736" y="4420654"/>
            <a:ext cx="0" cy="581114"/>
          </a:xfrm>
          <a:prstGeom prst="line">
            <a:avLst/>
          </a:prstGeom>
          <a:ln w="25400">
            <a:solidFill>
              <a:srgbClr val="865640"/>
            </a:solidFill>
          </a:ln>
        </p:spPr>
      </p:cxnSp>
      <p:sp>
        <p:nvSpPr>
          <p:cNvPr id="48" name="Oval 47"/>
          <p:cNvSpPr/>
          <p:nvPr/>
        </p:nvSpPr>
        <p:spPr>
          <a:xfrm>
            <a:off x="10392156" y="4933188"/>
            <a:ext cx="137160" cy="137160"/>
          </a:xfrm>
          <a:prstGeom prst="ellipse">
            <a:avLst/>
          </a:prstGeom>
          <a:solidFill>
            <a:srgbClr val="1F394D"/>
          </a:solidFill>
          <a:ln>
            <a:noFill/>
          </a:ln>
        </p:spPr>
        <p:txBody>
          <a:bodyPr rtlCol="0" anchor="ctr"/>
          <a:lstStyle/>
          <a:p>
            <a:pPr algn="ctr"/>
            <a:endParaRPr/>
          </a:p>
        </p:txBody>
      </p:sp>
      <p:sp>
        <p:nvSpPr>
          <p:cNvPr id="49" name="Oval 48"/>
          <p:cNvSpPr/>
          <p:nvPr/>
        </p:nvSpPr>
        <p:spPr>
          <a:xfrm>
            <a:off x="11083442" y="4684745"/>
            <a:ext cx="91440" cy="91440"/>
          </a:xfrm>
          <a:prstGeom prst="ellipse">
            <a:avLst/>
          </a:prstGeom>
          <a:solidFill>
            <a:srgbClr val="9AA4AE"/>
          </a:solidFill>
          <a:ln>
            <a:noFill/>
          </a:ln>
        </p:spPr>
        <p:txBody>
          <a:bodyPr rtlCol="0" anchor="ctr"/>
          <a:lstStyle/>
          <a:p>
            <a:pPr algn="ctr"/>
            <a:endParaRPr/>
          </a:p>
        </p:txBody>
      </p:sp>
      <p:sp>
        <p:nvSpPr>
          <p:cNvPr id="50" name="Oval 49"/>
          <p:cNvSpPr/>
          <p:nvPr/>
        </p:nvSpPr>
        <p:spPr>
          <a:xfrm>
            <a:off x="9451695" y="3925884"/>
            <a:ext cx="91440" cy="91440"/>
          </a:xfrm>
          <a:prstGeom prst="ellipse">
            <a:avLst/>
          </a:prstGeom>
          <a:solidFill>
            <a:srgbClr val="9AA4AE"/>
          </a:solidFill>
          <a:ln>
            <a:noFill/>
          </a:ln>
        </p:spPr>
        <p:txBody>
          <a:bodyPr rtlCol="0" anchor="ctr"/>
          <a:lstStyle/>
          <a:p>
            <a:pPr algn="ctr"/>
            <a:endParaRPr/>
          </a:p>
        </p:txBody>
      </p:sp>
      <p:sp>
        <p:nvSpPr>
          <p:cNvPr id="51" name="Oval 50"/>
          <p:cNvSpPr/>
          <p:nvPr/>
        </p:nvSpPr>
        <p:spPr>
          <a:xfrm>
            <a:off x="8822588" y="2742376"/>
            <a:ext cx="91440" cy="91440"/>
          </a:xfrm>
          <a:prstGeom prst="ellipse">
            <a:avLst/>
          </a:prstGeom>
          <a:solidFill>
            <a:srgbClr val="9AA4AE"/>
          </a:solidFill>
          <a:ln>
            <a:noFill/>
          </a:ln>
        </p:spPr>
        <p:txBody>
          <a:bodyPr rtlCol="0" anchor="ctr"/>
          <a:lstStyle/>
          <a:p>
            <a:pPr algn="ctr"/>
            <a:endParaRPr/>
          </a:p>
        </p:txBody>
      </p:sp>
      <p:sp>
        <p:nvSpPr>
          <p:cNvPr id="52" name="Oval 51"/>
          <p:cNvSpPr/>
          <p:nvPr/>
        </p:nvSpPr>
        <p:spPr>
          <a:xfrm>
            <a:off x="9520504" y="3737153"/>
            <a:ext cx="91440" cy="91440"/>
          </a:xfrm>
          <a:prstGeom prst="ellipse">
            <a:avLst/>
          </a:prstGeom>
          <a:solidFill>
            <a:srgbClr val="9AA4AE"/>
          </a:solidFill>
          <a:ln>
            <a:noFill/>
          </a:ln>
        </p:spPr>
        <p:txBody>
          <a:bodyPr rtlCol="0" anchor="ctr"/>
          <a:lstStyle/>
          <a:p>
            <a:pPr algn="ctr"/>
            <a:endParaRPr/>
          </a:p>
        </p:txBody>
      </p:sp>
      <p:sp>
        <p:nvSpPr>
          <p:cNvPr id="53" name="Oval 52"/>
          <p:cNvSpPr/>
          <p:nvPr/>
        </p:nvSpPr>
        <p:spPr>
          <a:xfrm>
            <a:off x="10090632" y="4177528"/>
            <a:ext cx="91440" cy="91440"/>
          </a:xfrm>
          <a:prstGeom prst="ellipse">
            <a:avLst/>
          </a:prstGeom>
          <a:solidFill>
            <a:srgbClr val="9AA4AE"/>
          </a:solidFill>
          <a:ln>
            <a:noFill/>
          </a:ln>
        </p:spPr>
        <p:txBody>
          <a:bodyPr rtlCol="0" anchor="ctr"/>
          <a:lstStyle/>
          <a:p>
            <a:pPr algn="ctr"/>
            <a:endParaRPr/>
          </a:p>
        </p:txBody>
      </p:sp>
      <p:sp>
        <p:nvSpPr>
          <p:cNvPr id="54" name="Oval 53"/>
          <p:cNvSpPr/>
          <p:nvPr/>
        </p:nvSpPr>
        <p:spPr>
          <a:xfrm>
            <a:off x="10631271" y="3941612"/>
            <a:ext cx="91440" cy="91440"/>
          </a:xfrm>
          <a:prstGeom prst="ellipse">
            <a:avLst/>
          </a:prstGeom>
          <a:solidFill>
            <a:srgbClr val="9AA4AE"/>
          </a:solidFill>
          <a:ln>
            <a:noFill/>
          </a:ln>
        </p:spPr>
        <p:txBody>
          <a:bodyPr rtlCol="0" anchor="ctr"/>
          <a:lstStyle/>
          <a:p>
            <a:pPr algn="ctr"/>
            <a:endParaRPr/>
          </a:p>
        </p:txBody>
      </p:sp>
      <p:sp>
        <p:nvSpPr>
          <p:cNvPr id="85" name="Intercept dot"/>
          <p:cNvSpPr/>
          <p:nvPr/>
        </p:nvSpPr>
        <p:spPr>
          <a:xfrm>
            <a:off x="7237476" y="2287207"/>
            <a:ext cx="155448" cy="155448"/>
          </a:xfrm>
          <a:prstGeom prst="ellipse">
            <a:avLst/>
          </a:prstGeom>
          <a:solidFill>
            <a:srgbClr val="B88C00"/>
          </a:solidFill>
          <a:ln w="12700">
            <a:solidFill>
              <a:srgbClr val="FFFFFF"/>
            </a:solidFill>
          </a:ln>
        </p:spPr>
        <p:txBody>
          <a:bodyPr rtlCol="0" anchor="ctr"/>
          <a:lstStyle/>
          <a:p>
            <a:pPr algn="ctr"/>
            <a:endParaRPr/>
          </a:p>
        </p:txBody>
      </p:sp>
      <p:sp>
        <p:nvSpPr>
          <p:cNvPr id="86" name="Label"/>
          <p:cNvSpPr txBox="1"/>
          <p:nvPr/>
        </p:nvSpPr>
        <p:spPr>
          <a:xfrm>
            <a:off x="7424928" y="2182051"/>
            <a:ext cx="1645920" cy="292608"/>
          </a:xfrm>
          <a:prstGeom prst="rect">
            <a:avLst/>
          </a:prstGeom>
          <a:noFill/>
        </p:spPr>
        <p:txBody>
          <a:bodyPr wrap="square" lIns="0" tIns="0" rIns="0" bIns="0" anchor="t">
            <a:spAutoFit/>
          </a:bodyPr>
          <a:lstStyle/>
          <a:p>
            <a:pPr algn="l"/>
            <a:r>
              <a:rPr sz="1200" b="1" i="0">
                <a:solidFill>
                  <a:srgbClr val="7A5C00"/>
                </a:solidFill>
              </a:rPr>
              <a:t>77.1 (intercept)</a:t>
            </a:r>
          </a:p>
        </p:txBody>
      </p:sp>
      <p:sp>
        <p:nvSpPr>
          <p:cNvPr id="55" name="TextBox 54"/>
          <p:cNvSpPr txBox="1"/>
          <p:nvPr/>
        </p:nvSpPr>
        <p:spPr>
          <a:xfrm>
            <a:off x="9097365" y="2633929"/>
            <a:ext cx="1188720" cy="292608"/>
          </a:xfrm>
          <a:prstGeom prst="rect">
            <a:avLst/>
          </a:prstGeom>
          <a:noFill/>
        </p:spPr>
        <p:txBody>
          <a:bodyPr wrap="square" lIns="0" tIns="0" rIns="0" bIns="0" anchor="t">
            <a:spAutoFit/>
          </a:bodyPr>
          <a:lstStyle/>
          <a:p>
            <a:pPr algn="l"/>
            <a:r>
              <a:rPr sz="1200" b="1" i="0">
                <a:solidFill>
                  <a:srgbClr val="1F394D"/>
                </a:solidFill>
              </a:rPr>
              <a:t>Denmark</a:t>
            </a:r>
          </a:p>
        </p:txBody>
      </p:sp>
      <p:sp>
        <p:nvSpPr>
          <p:cNvPr id="56" name="TextBox 55"/>
          <p:cNvSpPr txBox="1"/>
          <p:nvPr/>
        </p:nvSpPr>
        <p:spPr>
          <a:xfrm>
            <a:off x="8218627" y="4375769"/>
            <a:ext cx="1188720" cy="292608"/>
          </a:xfrm>
          <a:prstGeom prst="rect">
            <a:avLst/>
          </a:prstGeom>
          <a:noFill/>
        </p:spPr>
        <p:txBody>
          <a:bodyPr wrap="square" lIns="0" tIns="0" rIns="0" bIns="0" anchor="t">
            <a:spAutoFit/>
          </a:bodyPr>
          <a:lstStyle/>
          <a:p>
            <a:pPr algn="r"/>
            <a:r>
              <a:rPr sz="1200" b="1" i="0">
                <a:solidFill>
                  <a:srgbClr val="1F394D"/>
                </a:solidFill>
              </a:rPr>
              <a:t>France</a:t>
            </a:r>
          </a:p>
        </p:txBody>
      </p:sp>
      <p:sp>
        <p:nvSpPr>
          <p:cNvPr id="57" name="TextBox 56"/>
          <p:cNvSpPr txBox="1"/>
          <p:nvPr/>
        </p:nvSpPr>
        <p:spPr>
          <a:xfrm>
            <a:off x="10158984" y="3679819"/>
            <a:ext cx="1188720" cy="292608"/>
          </a:xfrm>
          <a:prstGeom prst="rect">
            <a:avLst/>
          </a:prstGeom>
          <a:noFill/>
        </p:spPr>
        <p:txBody>
          <a:bodyPr wrap="square" lIns="0" tIns="0" rIns="0" bIns="0" anchor="t">
            <a:spAutoFit/>
          </a:bodyPr>
          <a:lstStyle/>
          <a:p>
            <a:pPr algn="l"/>
            <a:r>
              <a:rPr sz="1200" b="1" i="0">
                <a:solidFill>
                  <a:srgbClr val="1F394D"/>
                </a:solidFill>
              </a:rPr>
              <a:t>Australia</a:t>
            </a:r>
          </a:p>
        </p:txBody>
      </p:sp>
      <p:sp>
        <p:nvSpPr>
          <p:cNvPr id="58" name="TextBox 57"/>
          <p:cNvSpPr txBox="1"/>
          <p:nvPr/>
        </p:nvSpPr>
        <p:spPr>
          <a:xfrm>
            <a:off x="10552176" y="4855464"/>
            <a:ext cx="1188720" cy="292608"/>
          </a:xfrm>
          <a:prstGeom prst="rect">
            <a:avLst/>
          </a:prstGeom>
          <a:noFill/>
        </p:spPr>
        <p:txBody>
          <a:bodyPr wrap="square" lIns="0" tIns="0" rIns="0" bIns="0" anchor="t">
            <a:spAutoFit/>
          </a:bodyPr>
          <a:lstStyle/>
          <a:p>
            <a:pPr algn="l"/>
            <a:r>
              <a:rPr sz="1200" b="1" i="0">
                <a:solidFill>
                  <a:srgbClr val="1F394D"/>
                </a:solidFill>
              </a:rPr>
              <a:t>Portugal</a:t>
            </a:r>
          </a:p>
        </p:txBody>
      </p:sp>
      <p:sp>
        <p:nvSpPr>
          <p:cNvPr id="59" name="TextBox 58"/>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Activity: predict it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12</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Norway’s inequality ratio is 3.85. What trust does the line predict?</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Norway’s observed trust is 65.3%. What is its residual?</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The USA (ratio 8.55) has trust of 35.8%. Above or below the line?</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Would you use the line to predict trust in a country with a ratio of 20?</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predicted trust = 77.06 − 6.535 × inequality       residual = observed − predicted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 it: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13</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Norway’s inequality ratio is 3.85. What trust does the line predict?</a:t>
            </a:r>
          </a:p>
          <a:p>
            <a:pPr algn="l">
              <a:spcBef>
                <a:spcPts val="400"/>
              </a:spcBef>
            </a:pPr>
            <a:r>
              <a:rPr sz="1800" b="1" i="0">
                <a:solidFill>
                  <a:srgbClr val="2E6B45"/>
                </a:solidFill>
              </a:rPr>
              <a:t>77.06 − 6.535 × 3.85 = 51.9%</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Norway’s observed trust is 65.3%. What is its residual?</a:t>
            </a:r>
          </a:p>
          <a:p>
            <a:pPr algn="l">
              <a:spcBef>
                <a:spcPts val="400"/>
              </a:spcBef>
            </a:pPr>
            <a:r>
              <a:rPr sz="1800" b="1" i="0">
                <a:solidFill>
                  <a:srgbClr val="2E6B45"/>
                </a:solidFill>
              </a:rPr>
              <a:t>65.3 − 51.9 = +13.4 points</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The USA (ratio 8.55) has trust of 35.8%. Above or below the line?</a:t>
            </a:r>
          </a:p>
          <a:p>
            <a:pPr algn="l">
              <a:spcBef>
                <a:spcPts val="400"/>
              </a:spcBef>
            </a:pPr>
            <a:r>
              <a:rPr sz="1800" b="1" i="0">
                <a:solidFill>
                  <a:srgbClr val="2E6B45"/>
                </a:solidFill>
              </a:rPr>
              <a:t>Above: predicted 21.2%, residual +14.6</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Would you use the line to predict trust in a country with a ratio of 20?</a:t>
            </a:r>
          </a:p>
          <a:p>
            <a:pPr algn="l">
              <a:spcBef>
                <a:spcPts val="400"/>
              </a:spcBef>
            </a:pPr>
            <a:r>
              <a:rPr sz="1800" b="1" i="0">
                <a:solidFill>
                  <a:srgbClr val="2E6B45"/>
                </a:solidFill>
              </a:rPr>
              <a:t>No: the data run from 3.4 to 9.7, so that would be extrapolation</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predicted trust = 77.06 − 6.535 × inequality       residual = observed − predicted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R²: how much of the variation the line explains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14</a:t>
            </a:fld>
            <a:endParaRPr lang="en-GB"/>
          </a:p>
        </p:txBody>
      </p:sp>
      <p:graphicFrame>
        <p:nvGraphicFramePr>
          <p:cNvPr id="6" name="R2 bars"/>
          <p:cNvGraphicFramePr>
            <a:graphicFrameLocks noGrp="1"/>
          </p:cNvGraphicFramePr>
          <p:nvPr/>
        </p:nvGraphicFramePr>
        <p:xfrm>
          <a:off x="758952" y="1325880"/>
          <a:ext cx="603504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086600" y="1417320"/>
            <a:ext cx="4279392" cy="201168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7287768" y="1578254"/>
            <a:ext cx="3877055" cy="1689811"/>
          </a:xfrm>
          <a:prstGeom prst="rect">
            <a:avLst/>
          </a:prstGeom>
          <a:noFill/>
        </p:spPr>
        <p:txBody>
          <a:bodyPr wrap="square" lIns="0" tIns="0" rIns="0" bIns="0" anchor="t">
            <a:spAutoFit/>
          </a:bodyPr>
          <a:lstStyle/>
          <a:p>
            <a:pPr algn="l">
              <a:spcAft>
                <a:spcPts val="400"/>
              </a:spcAft>
            </a:pPr>
            <a:r>
              <a:rPr sz="2100" b="1" i="0">
                <a:solidFill>
                  <a:srgbClr val="B88C00"/>
                </a:solidFill>
              </a:rPr>
              <a:t>R² = 1 − 3,055 ÷ 5,467 = 0.44</a:t>
            </a:r>
          </a:p>
          <a:p>
            <a:pPr algn="l">
              <a:spcAft>
                <a:spcPts val="400"/>
              </a:spcAft>
            </a:pPr>
            <a:r>
              <a:rPr sz="1600" b="0" i="0">
                <a:solidFill>
                  <a:srgbClr val="CCDDEA"/>
                </a:solidFill>
              </a:rPr>
              <a:t>the share of variation in trust that goes with inequality</a:t>
            </a:r>
          </a:p>
        </p:txBody>
      </p:sp>
      <p:sp>
        <p:nvSpPr>
          <p:cNvPr id="9" name="Rounded Rectangle 8"/>
          <p:cNvSpPr/>
          <p:nvPr/>
        </p:nvSpPr>
        <p:spPr>
          <a:xfrm>
            <a:off x="7086600" y="3611880"/>
            <a:ext cx="4279392" cy="214884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7287768" y="3772814"/>
            <a:ext cx="3877055" cy="1826971"/>
          </a:xfrm>
          <a:prstGeom prst="rect">
            <a:avLst/>
          </a:prstGeom>
          <a:noFill/>
        </p:spPr>
        <p:txBody>
          <a:bodyPr wrap="square" lIns="0" tIns="0" rIns="0" bIns="0" anchor="t">
            <a:spAutoFit/>
          </a:bodyPr>
          <a:lstStyle/>
          <a:p>
            <a:pPr algn="l">
              <a:spcAft>
                <a:spcPts val="400"/>
              </a:spcAft>
            </a:pPr>
            <a:r>
              <a:rPr sz="2100" b="1" i="0">
                <a:solidFill>
                  <a:srgbClr val="1F394D"/>
                </a:solidFill>
              </a:rPr>
              <a:t>R² = r²</a:t>
            </a:r>
          </a:p>
          <a:p>
            <a:pPr algn="l">
              <a:spcAft>
                <a:spcPts val="400"/>
              </a:spcAft>
            </a:pPr>
            <a:r>
              <a:rPr sz="1600" b="0" i="0">
                <a:solidFill>
                  <a:srgbClr val="1F2A33"/>
                </a:solidFill>
              </a:rPr>
              <a:t>With one predictor: (−0.664)² = 0.441. The other 56% goes with other things.</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Units matter: unstandardized and standardized</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15</a:t>
            </a:fld>
            <a:endParaRPr lang="en-GB"/>
          </a:p>
        </p:txBody>
      </p:sp>
      <p:sp>
        <p:nvSpPr>
          <p:cNvPr id="6" name="Unstandardized"/>
          <p:cNvSpPr/>
          <p:nvPr/>
        </p:nvSpPr>
        <p:spPr>
          <a:xfrm>
            <a:off x="758952" y="1417320"/>
            <a:ext cx="5212080" cy="310896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1033271" y="1554480"/>
            <a:ext cx="4663440" cy="2834640"/>
          </a:xfrm>
          <a:prstGeom prst="rect">
            <a:avLst/>
          </a:prstGeom>
          <a:noFill/>
        </p:spPr>
        <p:txBody>
          <a:bodyPr wrap="square" lIns="0" tIns="0" rIns="0" bIns="0" anchor="t">
            <a:spAutoFit/>
          </a:bodyPr>
          <a:lstStyle/>
          <a:p>
            <a:pPr algn="l">
              <a:spcAft>
                <a:spcPts val="600"/>
              </a:spcAft>
            </a:pPr>
            <a:r>
              <a:rPr sz="2200" b="1" i="0">
                <a:solidFill>
                  <a:srgbClr val="1F394D"/>
                </a:solidFill>
              </a:rPr>
              <a:t>Unstandardized</a:t>
            </a:r>
          </a:p>
          <a:p>
            <a:pPr algn="l">
              <a:spcAft>
                <a:spcPts val="800"/>
              </a:spcAft>
            </a:pPr>
            <a:r>
              <a:rPr sz="4000" b="1" i="0">
                <a:solidFill>
                  <a:srgbClr val="1F394D"/>
                </a:solidFill>
              </a:rPr>
              <a:t>−6.54 points</a:t>
            </a:r>
          </a:p>
          <a:p>
            <a:pPr algn="l"/>
            <a:r>
              <a:rPr sz="1700" b="0" i="0">
                <a:solidFill>
                  <a:srgbClr val="1F2A33"/>
                </a:solidFill>
              </a:rPr>
              <a:t>One more “times” of inequality (e.g. 7 → 8) goes with 6.5 percentage points less trust.</a:t>
            </a:r>
          </a:p>
        </p:txBody>
      </p:sp>
      <p:sp>
        <p:nvSpPr>
          <p:cNvPr id="8" name="Standardized"/>
          <p:cNvSpPr/>
          <p:nvPr/>
        </p:nvSpPr>
        <p:spPr>
          <a:xfrm>
            <a:off x="6153912" y="1417320"/>
            <a:ext cx="5212080" cy="310896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6428231" y="1554480"/>
            <a:ext cx="4663440" cy="2834640"/>
          </a:xfrm>
          <a:prstGeom prst="rect">
            <a:avLst/>
          </a:prstGeom>
          <a:noFill/>
        </p:spPr>
        <p:txBody>
          <a:bodyPr wrap="square" lIns="0" tIns="0" rIns="0" bIns="0" anchor="t">
            <a:spAutoFit/>
          </a:bodyPr>
          <a:lstStyle/>
          <a:p>
            <a:pPr algn="l">
              <a:spcAft>
                <a:spcPts val="600"/>
              </a:spcAft>
            </a:pPr>
            <a:r>
              <a:rPr sz="2200" b="1" i="0">
                <a:solidFill>
                  <a:srgbClr val="FFFFFF"/>
                </a:solidFill>
              </a:rPr>
              <a:t>Standardized</a:t>
            </a:r>
          </a:p>
          <a:p>
            <a:pPr algn="l">
              <a:spcAft>
                <a:spcPts val="800"/>
              </a:spcAft>
            </a:pPr>
            <a:r>
              <a:rPr sz="4000" b="1" i="0">
                <a:solidFill>
                  <a:srgbClr val="B88C00"/>
                </a:solidFill>
              </a:rPr>
              <a:t>−0.66 SD</a:t>
            </a:r>
          </a:p>
          <a:p>
            <a:pPr algn="l"/>
            <a:r>
              <a:rPr sz="1700" b="0" i="0">
                <a:solidFill>
                  <a:srgbClr val="CCDDEA"/>
                </a:solidFill>
              </a:rPr>
              <a:t>A country 1 SD more unequal (1.6 units) is 0.66 SD (10.5 points) lower in trust.</a:t>
            </a:r>
          </a:p>
        </p:txBody>
      </p:sp>
      <p:graphicFrame>
        <p:nvGraphicFramePr>
          <p:cNvPr id="10" name="Table 9"/>
          <p:cNvGraphicFramePr>
            <a:graphicFrameLocks noGrp="1"/>
          </p:cNvGraphicFramePr>
          <p:nvPr/>
        </p:nvGraphicFramePr>
        <p:xfrm>
          <a:off x="758952" y="4709160"/>
          <a:ext cx="6858000" cy="1097280"/>
        </p:xfrm>
        <a:graphic>
          <a:graphicData uri="http://schemas.openxmlformats.org/drawingml/2006/table">
            <a:tbl>
              <a:tblPr firstRow="1">
                <a:tableStyleId>{5C22544A-7EE6-4342-B048-85BDC9FD1C3A}</a:tableStyleId>
              </a:tblPr>
              <a:tblGrid>
                <a:gridCol w="32004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65760">
                <a:tc>
                  <a:txBody>
                    <a:bodyPr/>
                    <a:lstStyle/>
                    <a:p>
                      <a:pPr algn="l"/>
                      <a:endParaRPr/>
                    </a:p>
                  </a:txBody>
                  <a:tcPr marT="27432" marB="27432" anchor="ctr">
                    <a:solidFill>
                      <a:srgbClr val="1F394D"/>
                    </a:solidFill>
                  </a:tcPr>
                </a:tc>
                <a:tc>
                  <a:txBody>
                    <a:bodyPr/>
                    <a:lstStyle/>
                    <a:p>
                      <a:pPr algn="r"/>
                      <a:r>
                        <a:rPr sz="1500" b="1">
                          <a:solidFill>
                            <a:srgbClr val="FFFFFF"/>
                          </a:solidFill>
                        </a:rPr>
                        <a:t>Mean</a:t>
                      </a:r>
                    </a:p>
                  </a:txBody>
                  <a:tcPr marT="27432" marB="27432" anchor="ctr">
                    <a:solidFill>
                      <a:srgbClr val="1F394D"/>
                    </a:solidFill>
                  </a:tcPr>
                </a:tc>
                <a:tc>
                  <a:txBody>
                    <a:bodyPr/>
                    <a:lstStyle/>
                    <a:p>
                      <a:pPr algn="r"/>
                      <a:r>
                        <a:rPr sz="1500" b="1">
                          <a:solidFill>
                            <a:srgbClr val="FFFFFF"/>
                          </a:solidFill>
                        </a:rPr>
                        <a:t>Standard deviation</a:t>
                      </a:r>
                    </a:p>
                  </a:txBody>
                  <a:tcPr marT="27432" marB="27432" anchor="ctr">
                    <a:solidFill>
                      <a:srgbClr val="1F394D"/>
                    </a:solidFill>
                  </a:tcPr>
                </a:tc>
                <a:extLst>
                  <a:ext uri="{0D108BD9-81ED-4DB2-BD59-A6C34878D82A}">
                    <a16:rowId xmlns:a16="http://schemas.microsoft.com/office/drawing/2014/main" val="10000"/>
                  </a:ext>
                </a:extLst>
              </a:tr>
              <a:tr h="365760">
                <a:tc>
                  <a:txBody>
                    <a:bodyPr/>
                    <a:lstStyle/>
                    <a:p>
                      <a:pPr algn="l"/>
                      <a:r>
                        <a:rPr sz="1500" b="1">
                          <a:solidFill>
                            <a:srgbClr val="1F2A33"/>
                          </a:solidFill>
                        </a:rPr>
                        <a:t>Trust (%)</a:t>
                      </a:r>
                    </a:p>
                  </a:txBody>
                  <a:tcPr marT="27432" marB="27432" anchor="ctr">
                    <a:solidFill>
                      <a:srgbClr val="FFFFFF"/>
                    </a:solidFill>
                  </a:tcPr>
                </a:tc>
                <a:tc>
                  <a:txBody>
                    <a:bodyPr/>
                    <a:lstStyle/>
                    <a:p>
                      <a:pPr algn="r"/>
                      <a:r>
                        <a:rPr sz="1500" b="0">
                          <a:solidFill>
                            <a:srgbClr val="1F2A33"/>
                          </a:solidFill>
                        </a:rPr>
                        <a:t>38.8</a:t>
                      </a:r>
                    </a:p>
                  </a:txBody>
                  <a:tcPr marT="27432" marB="27432" anchor="ctr">
                    <a:solidFill>
                      <a:srgbClr val="FFFFFF"/>
                    </a:solidFill>
                  </a:tcPr>
                </a:tc>
                <a:tc>
                  <a:txBody>
                    <a:bodyPr/>
                    <a:lstStyle/>
                    <a:p>
                      <a:pPr algn="r"/>
                      <a:r>
                        <a:rPr sz="1500" b="0">
                          <a:solidFill>
                            <a:srgbClr val="1F2A33"/>
                          </a:solidFill>
                        </a:rPr>
                        <a:t>15.76</a:t>
                      </a:r>
                    </a:p>
                  </a:txBody>
                  <a:tcPr marT="27432" marB="27432" anchor="ctr">
                    <a:solidFill>
                      <a:srgbClr val="FFFFFF"/>
                    </a:solidFill>
                  </a:tcPr>
                </a:tc>
                <a:extLst>
                  <a:ext uri="{0D108BD9-81ED-4DB2-BD59-A6C34878D82A}">
                    <a16:rowId xmlns:a16="http://schemas.microsoft.com/office/drawing/2014/main" val="10001"/>
                  </a:ext>
                </a:extLst>
              </a:tr>
              <a:tr h="365760">
                <a:tc>
                  <a:txBody>
                    <a:bodyPr/>
                    <a:lstStyle/>
                    <a:p>
                      <a:pPr algn="l"/>
                      <a:r>
                        <a:rPr sz="1500" b="1">
                          <a:solidFill>
                            <a:srgbClr val="1F2A33"/>
                          </a:solidFill>
                        </a:rPr>
                        <a:t>Income inequality (ratio)</a:t>
                      </a:r>
                    </a:p>
                  </a:txBody>
                  <a:tcPr marT="27432" marB="27432" anchor="ctr">
                    <a:solidFill>
                      <a:srgbClr val="EEF3F7"/>
                    </a:solidFill>
                  </a:tcPr>
                </a:tc>
                <a:tc>
                  <a:txBody>
                    <a:bodyPr/>
                    <a:lstStyle/>
                    <a:p>
                      <a:pPr algn="r"/>
                      <a:r>
                        <a:rPr sz="1500" b="0">
                          <a:solidFill>
                            <a:srgbClr val="1F2A33"/>
                          </a:solidFill>
                        </a:rPr>
                        <a:t>5.85</a:t>
                      </a:r>
                    </a:p>
                  </a:txBody>
                  <a:tcPr marT="27432" marB="27432" anchor="ctr">
                    <a:solidFill>
                      <a:srgbClr val="EEF3F7"/>
                    </a:solidFill>
                  </a:tcPr>
                </a:tc>
                <a:tc>
                  <a:txBody>
                    <a:bodyPr/>
                    <a:lstStyle/>
                    <a:p>
                      <a:pPr algn="r"/>
                      <a:r>
                        <a:rPr sz="1500" b="0">
                          <a:solidFill>
                            <a:srgbClr val="1F2A33"/>
                          </a:solidFill>
                        </a:rPr>
                        <a:t>1.60</a:t>
                      </a:r>
                    </a:p>
                  </a:txBody>
                  <a:tcPr marT="27432" marB="27432" anchor="ctr">
                    <a:solidFill>
                      <a:srgbClr val="EEF3F7"/>
                    </a:solidFill>
                  </a:tcPr>
                </a:tc>
                <a:extLst>
                  <a:ext uri="{0D108BD9-81ED-4DB2-BD59-A6C34878D82A}">
                    <a16:rowId xmlns:a16="http://schemas.microsoft.com/office/drawing/2014/main" val="10002"/>
                  </a:ext>
                </a:extLst>
              </a:tr>
            </a:tbl>
          </a:graphicData>
        </a:graphic>
      </p:graphicFrame>
      <p:sp>
        <p:nvSpPr>
          <p:cNvPr id="11" name="Rounded Rectangle 10"/>
          <p:cNvSpPr/>
          <p:nvPr/>
        </p:nvSpPr>
        <p:spPr>
          <a:xfrm>
            <a:off x="7863840" y="4709160"/>
            <a:ext cx="3502152" cy="1097280"/>
          </a:xfrm>
          <a:prstGeom prst="roundRect">
            <a:avLst>
              <a:gd name="adj" fmla="val 8000"/>
            </a:avLst>
          </a:prstGeom>
          <a:solidFill>
            <a:srgbClr val="EEF3F7"/>
          </a:solidFill>
          <a:ln>
            <a:noFill/>
          </a:ln>
        </p:spPr>
        <p:txBody>
          <a:bodyPr rtlCol="0" anchor="ctr"/>
          <a:lstStyle/>
          <a:p>
            <a:endParaRPr/>
          </a:p>
        </p:txBody>
      </p:sp>
      <p:sp>
        <p:nvSpPr>
          <p:cNvPr id="12" name="TextBox 11"/>
          <p:cNvSpPr txBox="1"/>
          <p:nvPr/>
        </p:nvSpPr>
        <p:spPr>
          <a:xfrm>
            <a:off x="8001000" y="4818888"/>
            <a:ext cx="3227832" cy="877824"/>
          </a:xfrm>
          <a:prstGeom prst="rect">
            <a:avLst/>
          </a:prstGeom>
          <a:noFill/>
        </p:spPr>
        <p:txBody>
          <a:bodyPr wrap="square" lIns="0" tIns="0" rIns="0" bIns="0" anchor="t">
            <a:spAutoFit/>
          </a:bodyPr>
          <a:lstStyle/>
          <a:p>
            <a:pPr algn="l">
              <a:spcAft>
                <a:spcPts val="400"/>
              </a:spcAft>
            </a:pPr>
            <a:r>
              <a:rPr sz="1800" b="1" i="0">
                <a:solidFill>
                  <a:srgbClr val="1F394D"/>
                </a:solidFill>
              </a:rPr>
              <a:t>z = (x − mean) ÷ SD</a:t>
            </a:r>
          </a:p>
          <a:p>
            <a:pPr algn="l">
              <a:spcAft>
                <a:spcPts val="400"/>
              </a:spcAft>
            </a:pPr>
            <a:r>
              <a:rPr sz="1400" b="0" i="0">
                <a:solidFill>
                  <a:srgbClr val="1F2A33"/>
                </a:solidFill>
              </a:rPr>
              <a:t>JASP: zScores() in a computed column</a:t>
            </a:r>
          </a:p>
        </p:txBody>
      </p:sp>
      <p:sp>
        <p:nvSpPr>
          <p:cNvPr id="13" name="TextBox 12"/>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Adding predictors:</a:t>
            </a:r>
          </a:p>
          <a:p>
            <a:r>
              <a:rPr sz="4000"/>
              <a:t>multiple regression</a:t>
            </a:r>
          </a:p>
        </p:txBody>
      </p:sp>
      <p:sp>
        <p:nvSpPr>
          <p:cNvPr id="3" name="Text Placeholder 2"/>
          <p:cNvSpPr>
            <a:spLocks noGrp="1"/>
          </p:cNvSpPr>
          <p:nvPr>
            <p:ph type="body" sz="half" idx="2"/>
          </p:nvPr>
        </p:nvSpPr>
        <p:spPr/>
        <p:txBody>
          <a:bodyPr/>
          <a:lstStyle/>
          <a:p>
            <a:r>
              <a:rPr sz="2400"/>
              <a:t>Worksheet 3, Exercise 3.2</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16</a:t>
            </a:fld>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add another predictor?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17</a:t>
            </a:fld>
            <a:endParaRPr lang="en-GB"/>
          </a:p>
        </p:txBody>
      </p:sp>
      <p:sp>
        <p:nvSpPr>
          <p:cNvPr id="6" name="Rounded Rectangle 5"/>
          <p:cNvSpPr/>
          <p:nvPr/>
        </p:nvSpPr>
        <p:spPr>
          <a:xfrm>
            <a:off x="941832" y="1645920"/>
            <a:ext cx="2926080" cy="822960"/>
          </a:xfrm>
          <a:prstGeom prst="roundRect">
            <a:avLst>
              <a:gd name="adj" fmla="val 50000"/>
            </a:avLst>
          </a:prstGeom>
          <a:solidFill>
            <a:srgbClr val="1F394D"/>
          </a:solidFill>
          <a:ln>
            <a:noFill/>
          </a:ln>
        </p:spPr>
        <p:txBody>
          <a:bodyPr rtlCol="0" anchor="ctr"/>
          <a:lstStyle/>
          <a:p>
            <a:endParaRPr/>
          </a:p>
        </p:txBody>
      </p:sp>
      <p:sp>
        <p:nvSpPr>
          <p:cNvPr id="7" name="TextBox 6"/>
          <p:cNvSpPr txBox="1"/>
          <p:nvPr/>
        </p:nvSpPr>
        <p:spPr>
          <a:xfrm>
            <a:off x="941832" y="1645920"/>
            <a:ext cx="2926080" cy="822960"/>
          </a:xfrm>
          <a:prstGeom prst="rect">
            <a:avLst/>
          </a:prstGeom>
          <a:noFill/>
        </p:spPr>
        <p:txBody>
          <a:bodyPr wrap="square" lIns="0" tIns="0" rIns="0" bIns="0" anchor="ctr">
            <a:spAutoFit/>
          </a:bodyPr>
          <a:lstStyle/>
          <a:p>
            <a:pPr algn="ctr"/>
            <a:r>
              <a:rPr sz="1800" b="1" i="0">
                <a:solidFill>
                  <a:srgbClr val="FFFFFF"/>
                </a:solidFill>
              </a:rPr>
              <a:t>Income inequality</a:t>
            </a:r>
          </a:p>
        </p:txBody>
      </p:sp>
      <p:sp>
        <p:nvSpPr>
          <p:cNvPr id="8" name="Rounded Rectangle 7"/>
          <p:cNvSpPr/>
          <p:nvPr/>
        </p:nvSpPr>
        <p:spPr>
          <a:xfrm>
            <a:off x="941832" y="4206240"/>
            <a:ext cx="2926080" cy="822960"/>
          </a:xfrm>
          <a:prstGeom prst="roundRect">
            <a:avLst>
              <a:gd name="adj" fmla="val 50000"/>
            </a:avLst>
          </a:prstGeom>
          <a:solidFill>
            <a:srgbClr val="B88C00"/>
          </a:solidFill>
          <a:ln>
            <a:noFill/>
          </a:ln>
        </p:spPr>
        <p:txBody>
          <a:bodyPr rtlCol="0" anchor="ctr"/>
          <a:lstStyle/>
          <a:p>
            <a:endParaRPr/>
          </a:p>
        </p:txBody>
      </p:sp>
      <p:sp>
        <p:nvSpPr>
          <p:cNvPr id="9" name="TextBox 8"/>
          <p:cNvSpPr txBox="1"/>
          <p:nvPr/>
        </p:nvSpPr>
        <p:spPr>
          <a:xfrm>
            <a:off x="941832" y="4206240"/>
            <a:ext cx="2926080" cy="822960"/>
          </a:xfrm>
          <a:prstGeom prst="rect">
            <a:avLst/>
          </a:prstGeom>
          <a:noFill/>
        </p:spPr>
        <p:txBody>
          <a:bodyPr wrap="square" lIns="0" tIns="0" rIns="0" bIns="0" anchor="ctr">
            <a:spAutoFit/>
          </a:bodyPr>
          <a:lstStyle/>
          <a:p>
            <a:pPr algn="ctr"/>
            <a:r>
              <a:rPr sz="1800" b="1" i="0">
                <a:solidFill>
                  <a:srgbClr val="1F2A33"/>
                </a:solidFill>
              </a:rPr>
              <a:t>Homicide rate</a:t>
            </a:r>
          </a:p>
        </p:txBody>
      </p:sp>
      <p:sp>
        <p:nvSpPr>
          <p:cNvPr id="10" name="Rounded Rectangle 9"/>
          <p:cNvSpPr/>
          <p:nvPr/>
        </p:nvSpPr>
        <p:spPr>
          <a:xfrm>
            <a:off x="5943600" y="2926080"/>
            <a:ext cx="2560320" cy="822960"/>
          </a:xfrm>
          <a:prstGeom prst="roundRect">
            <a:avLst>
              <a:gd name="adj" fmla="val 50000"/>
            </a:avLst>
          </a:prstGeom>
          <a:solidFill>
            <a:srgbClr val="3F739B"/>
          </a:solidFill>
          <a:ln>
            <a:noFill/>
          </a:ln>
        </p:spPr>
        <p:txBody>
          <a:bodyPr rtlCol="0" anchor="ctr"/>
          <a:lstStyle/>
          <a:p>
            <a:endParaRPr/>
          </a:p>
        </p:txBody>
      </p:sp>
      <p:sp>
        <p:nvSpPr>
          <p:cNvPr id="11" name="TextBox 10"/>
          <p:cNvSpPr txBox="1"/>
          <p:nvPr/>
        </p:nvSpPr>
        <p:spPr>
          <a:xfrm>
            <a:off x="5943600" y="2926080"/>
            <a:ext cx="2560320" cy="822960"/>
          </a:xfrm>
          <a:prstGeom prst="rect">
            <a:avLst/>
          </a:prstGeom>
          <a:noFill/>
        </p:spPr>
        <p:txBody>
          <a:bodyPr wrap="square" lIns="0" tIns="0" rIns="0" bIns="0" anchor="ctr">
            <a:spAutoFit/>
          </a:bodyPr>
          <a:lstStyle/>
          <a:p>
            <a:pPr algn="ctr"/>
            <a:r>
              <a:rPr sz="1800" b="1" i="0">
                <a:solidFill>
                  <a:srgbClr val="FFFFFF"/>
                </a:solidFill>
              </a:rPr>
              <a:t>Trust</a:t>
            </a:r>
          </a:p>
        </p:txBody>
      </p:sp>
      <p:cxnSp>
        <p:nvCxnSpPr>
          <p:cNvPr id="12" name="Connector 11"/>
          <p:cNvCxnSpPr/>
          <p:nvPr/>
        </p:nvCxnSpPr>
        <p:spPr>
          <a:xfrm>
            <a:off x="3867911" y="2057400"/>
            <a:ext cx="2075689" cy="1188720"/>
          </a:xfrm>
          <a:prstGeom prst="line">
            <a:avLst/>
          </a:prstGeom>
          <a:ln w="38100">
            <a:solidFill>
              <a:srgbClr val="1F394D"/>
            </a:solidFill>
          </a:ln>
        </p:spPr>
      </p:cxnSp>
      <p:cxnSp>
        <p:nvCxnSpPr>
          <p:cNvPr id="13" name="Connector 12"/>
          <p:cNvCxnSpPr/>
          <p:nvPr/>
        </p:nvCxnSpPr>
        <p:spPr>
          <a:xfrm flipV="1">
            <a:off x="3867911" y="3520440"/>
            <a:ext cx="2075689" cy="1097280"/>
          </a:xfrm>
          <a:prstGeom prst="line">
            <a:avLst/>
          </a:prstGeom>
          <a:ln w="38100">
            <a:solidFill>
              <a:srgbClr val="7A5C00"/>
            </a:solidFill>
            <a:prstDash val="dash"/>
          </a:ln>
        </p:spPr>
      </p:cxnSp>
      <p:cxnSp>
        <p:nvCxnSpPr>
          <p:cNvPr id="14" name="Connector 13"/>
          <p:cNvCxnSpPr/>
          <p:nvPr/>
        </p:nvCxnSpPr>
        <p:spPr>
          <a:xfrm>
            <a:off x="2404872" y="2468880"/>
            <a:ext cx="0" cy="1737360"/>
          </a:xfrm>
          <a:prstGeom prst="line">
            <a:avLst/>
          </a:prstGeom>
          <a:ln w="25400">
            <a:solidFill>
              <a:srgbClr val="55606B"/>
            </a:solidFill>
            <a:prstDash val="sysDot"/>
          </a:ln>
        </p:spPr>
      </p:cxnSp>
      <p:sp>
        <p:nvSpPr>
          <p:cNvPr id="15" name="TextBox 14"/>
          <p:cNvSpPr txBox="1"/>
          <p:nvPr/>
        </p:nvSpPr>
        <p:spPr>
          <a:xfrm>
            <a:off x="2542032" y="3063240"/>
            <a:ext cx="2011680" cy="548640"/>
          </a:xfrm>
          <a:prstGeom prst="rect">
            <a:avLst/>
          </a:prstGeom>
          <a:noFill/>
        </p:spPr>
        <p:txBody>
          <a:bodyPr wrap="square" lIns="0" tIns="0" rIns="0" bIns="0" anchor="t">
            <a:spAutoFit/>
          </a:bodyPr>
          <a:lstStyle/>
          <a:p>
            <a:pPr algn="l"/>
            <a:r>
              <a:rPr sz="1600" b="1" i="0">
                <a:solidFill>
                  <a:srgbClr val="55606B"/>
                </a:solidFill>
              </a:rPr>
              <a:t>r = 0.47</a:t>
            </a:r>
          </a:p>
        </p:txBody>
      </p:sp>
      <p:sp>
        <p:nvSpPr>
          <p:cNvPr id="16" name="TextBox 15"/>
          <p:cNvSpPr txBox="1"/>
          <p:nvPr/>
        </p:nvSpPr>
        <p:spPr>
          <a:xfrm>
            <a:off x="4206240" y="2148840"/>
            <a:ext cx="2011680" cy="457200"/>
          </a:xfrm>
          <a:prstGeom prst="rect">
            <a:avLst/>
          </a:prstGeom>
          <a:noFill/>
        </p:spPr>
        <p:txBody>
          <a:bodyPr wrap="square" lIns="0" tIns="0" rIns="0" bIns="0" anchor="t">
            <a:spAutoFit/>
          </a:bodyPr>
          <a:lstStyle/>
          <a:p>
            <a:pPr algn="l"/>
            <a:r>
              <a:rPr sz="2200" b="1" i="0">
                <a:solidFill>
                  <a:srgbClr val="1F394D"/>
                </a:solidFill>
              </a:rPr>
              <a:t>?</a:t>
            </a:r>
          </a:p>
        </p:txBody>
      </p:sp>
      <p:sp>
        <p:nvSpPr>
          <p:cNvPr id="17" name="TextBox 16"/>
          <p:cNvSpPr txBox="1"/>
          <p:nvPr/>
        </p:nvSpPr>
        <p:spPr>
          <a:xfrm>
            <a:off x="4206240" y="4069080"/>
            <a:ext cx="2011680" cy="457200"/>
          </a:xfrm>
          <a:prstGeom prst="rect">
            <a:avLst/>
          </a:prstGeom>
          <a:noFill/>
        </p:spPr>
        <p:txBody>
          <a:bodyPr wrap="square" lIns="0" tIns="0" rIns="0" bIns="0" anchor="t">
            <a:spAutoFit/>
          </a:bodyPr>
          <a:lstStyle/>
          <a:p>
            <a:pPr algn="l"/>
            <a:r>
              <a:rPr sz="2200" b="1" i="0">
                <a:solidFill>
                  <a:srgbClr val="7A5C00"/>
                </a:solidFill>
              </a:rPr>
              <a:t>?</a:t>
            </a:r>
          </a:p>
        </p:txBody>
      </p:sp>
      <p:sp>
        <p:nvSpPr>
          <p:cNvPr id="18" name="Rounded Rectangle 17"/>
          <p:cNvSpPr/>
          <p:nvPr/>
        </p:nvSpPr>
        <p:spPr>
          <a:xfrm>
            <a:off x="8778240" y="1508760"/>
            <a:ext cx="2587752" cy="4206240"/>
          </a:xfrm>
          <a:prstGeom prst="roundRect">
            <a:avLst>
              <a:gd name="adj" fmla="val 8000"/>
            </a:avLst>
          </a:prstGeom>
          <a:solidFill>
            <a:srgbClr val="EEF3F7"/>
          </a:solidFill>
          <a:ln>
            <a:noFill/>
          </a:ln>
        </p:spPr>
        <p:txBody>
          <a:bodyPr rtlCol="0" anchor="ctr"/>
          <a:lstStyle/>
          <a:p>
            <a:endParaRPr/>
          </a:p>
        </p:txBody>
      </p:sp>
      <p:sp>
        <p:nvSpPr>
          <p:cNvPr id="19" name="TextBox 18"/>
          <p:cNvSpPr txBox="1"/>
          <p:nvPr/>
        </p:nvSpPr>
        <p:spPr>
          <a:xfrm>
            <a:off x="8979408" y="1669694"/>
            <a:ext cx="2185416" cy="3884371"/>
          </a:xfrm>
          <a:prstGeom prst="rect">
            <a:avLst/>
          </a:prstGeom>
          <a:noFill/>
        </p:spPr>
        <p:txBody>
          <a:bodyPr wrap="square" lIns="0" tIns="0" rIns="0" bIns="0" anchor="t">
            <a:spAutoFit/>
          </a:bodyPr>
          <a:lstStyle/>
          <a:p>
            <a:pPr algn="l">
              <a:spcAft>
                <a:spcPts val="400"/>
              </a:spcAft>
            </a:pPr>
            <a:r>
              <a:rPr sz="1900" b="1" i="0">
                <a:solidFill>
                  <a:srgbClr val="1F394D"/>
                </a:solidFill>
              </a:rPr>
              <a:t>The question</a:t>
            </a:r>
          </a:p>
          <a:p>
            <a:pPr algn="l">
              <a:spcAft>
                <a:spcPts val="400"/>
              </a:spcAft>
            </a:pPr>
            <a:r>
              <a:rPr sz="1600" b="0" i="0">
                <a:solidFill>
                  <a:srgbClr val="1F2A33"/>
                </a:solidFill>
              </a:rPr>
              <a:t>Is inequality still associated with trust once we take homicide rates into account?</a:t>
            </a:r>
          </a:p>
          <a:p>
            <a:pPr algn="l">
              <a:spcAft>
                <a:spcPts val="400"/>
              </a:spcAft>
            </a:pPr>
            <a:r>
              <a:rPr sz="1600" b="0" i="0">
                <a:solidFill>
                  <a:srgbClr val="1F2A33"/>
                </a:solidFill>
              </a:rPr>
              <a:t>Homicides are measured per million people.</a:t>
            </a:r>
          </a:p>
        </p:txBody>
      </p:sp>
      <p:sp>
        <p:nvSpPr>
          <p:cNvPr id="20" name="TextBox 19"/>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Inequality and homicides, alone and together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18</a:t>
            </a:fld>
            <a:endParaRPr lang="en-GB"/>
          </a:p>
        </p:txBody>
      </p:sp>
      <p:graphicFrame>
        <p:nvGraphicFramePr>
          <p:cNvPr id="6" name="Table 5"/>
          <p:cNvGraphicFramePr>
            <a:graphicFrameLocks noGrp="1"/>
          </p:cNvGraphicFramePr>
          <p:nvPr/>
        </p:nvGraphicFramePr>
        <p:xfrm>
          <a:off x="758952" y="1417320"/>
          <a:ext cx="10607040" cy="2743200"/>
        </p:xfrm>
        <a:graphic>
          <a:graphicData uri="http://schemas.openxmlformats.org/drawingml/2006/table">
            <a:tbl>
              <a:tblPr firstRow="1">
                <a:tableStyleId>{5C22544A-7EE6-4342-B048-85BDC9FD1C3A}</a:tableStyleId>
              </a:tblPr>
              <a:tblGrid>
                <a:gridCol w="32918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48640">
                <a:tc>
                  <a:txBody>
                    <a:bodyPr/>
                    <a:lstStyle/>
                    <a:p>
                      <a:pPr algn="l"/>
                      <a:r>
                        <a:rPr sz="1700" b="1">
                          <a:solidFill>
                            <a:srgbClr val="FFFFFF"/>
                          </a:solidFill>
                        </a:rPr>
                        <a:t>Unstandardized coefficients</a:t>
                      </a:r>
                    </a:p>
                  </a:txBody>
                  <a:tcPr marT="27432" marB="27432" anchor="ctr">
                    <a:solidFill>
                      <a:srgbClr val="1F394D"/>
                    </a:solidFill>
                  </a:tcPr>
                </a:tc>
                <a:tc>
                  <a:txBody>
                    <a:bodyPr/>
                    <a:lstStyle/>
                    <a:p>
                      <a:pPr algn="r"/>
                      <a:r>
                        <a:rPr sz="1700" b="1">
                          <a:solidFill>
                            <a:srgbClr val="FFFFFF"/>
                          </a:solidFill>
                        </a:rPr>
                        <a:t>M₁: inequality</a:t>
                      </a:r>
                    </a:p>
                  </a:txBody>
                  <a:tcPr marT="27432" marB="27432" anchor="ctr">
                    <a:solidFill>
                      <a:srgbClr val="1F394D"/>
                    </a:solidFill>
                  </a:tcPr>
                </a:tc>
                <a:tc>
                  <a:txBody>
                    <a:bodyPr/>
                    <a:lstStyle/>
                    <a:p>
                      <a:pPr algn="r"/>
                      <a:r>
                        <a:rPr sz="1700" b="1">
                          <a:solidFill>
                            <a:srgbClr val="FFFFFF"/>
                          </a:solidFill>
                        </a:rPr>
                        <a:t>M₂: homicides</a:t>
                      </a:r>
                    </a:p>
                  </a:txBody>
                  <a:tcPr marT="27432" marB="27432" anchor="ctr">
                    <a:solidFill>
                      <a:srgbClr val="1F394D"/>
                    </a:solidFill>
                  </a:tcPr>
                </a:tc>
                <a:tc>
                  <a:txBody>
                    <a:bodyPr/>
                    <a:lstStyle/>
                    <a:p>
                      <a:pPr algn="r"/>
                      <a:r>
                        <a:rPr sz="1700" b="1">
                          <a:solidFill>
                            <a:srgbClr val="FFFFFF"/>
                          </a:solidFill>
                        </a:rPr>
                        <a:t>M₃: both</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700" b="1">
                          <a:solidFill>
                            <a:srgbClr val="1F2A33"/>
                          </a:solidFill>
                        </a:rPr>
                        <a:t>(Intercept)</a:t>
                      </a:r>
                    </a:p>
                  </a:txBody>
                  <a:tcPr marT="27432" marB="27432" anchor="ctr">
                    <a:solidFill>
                      <a:srgbClr val="FFFFFF"/>
                    </a:solidFill>
                  </a:tcPr>
                </a:tc>
                <a:tc>
                  <a:txBody>
                    <a:bodyPr/>
                    <a:lstStyle/>
                    <a:p>
                      <a:pPr algn="r"/>
                      <a:r>
                        <a:rPr sz="1700" b="0">
                          <a:solidFill>
                            <a:srgbClr val="1F2A33"/>
                          </a:solidFill>
                        </a:rPr>
                        <a:t>77.06</a:t>
                      </a:r>
                    </a:p>
                  </a:txBody>
                  <a:tcPr marT="27432" marB="27432" anchor="ctr">
                    <a:solidFill>
                      <a:srgbClr val="FFFFFF"/>
                    </a:solidFill>
                  </a:tcPr>
                </a:tc>
                <a:tc>
                  <a:txBody>
                    <a:bodyPr/>
                    <a:lstStyle/>
                    <a:p>
                      <a:pPr algn="r"/>
                      <a:r>
                        <a:rPr sz="1700" b="0">
                          <a:solidFill>
                            <a:srgbClr val="1F2A33"/>
                          </a:solidFill>
                        </a:rPr>
                        <a:t>43.64</a:t>
                      </a:r>
                    </a:p>
                  </a:txBody>
                  <a:tcPr marT="27432" marB="27432" anchor="ctr">
                    <a:solidFill>
                      <a:srgbClr val="FFFFFF"/>
                    </a:solidFill>
                  </a:tcPr>
                </a:tc>
                <a:tc>
                  <a:txBody>
                    <a:bodyPr/>
                    <a:lstStyle/>
                    <a:p>
                      <a:pPr algn="r"/>
                      <a:r>
                        <a:rPr sz="1700" b="0">
                          <a:solidFill>
                            <a:srgbClr val="1F2A33"/>
                          </a:solidFill>
                        </a:rPr>
                        <a:t>77.51</a:t>
                      </a:r>
                    </a:p>
                  </a:txBody>
                  <a:tcPr marT="27432" marB="27432" anchor="ctr">
                    <a:solidFill>
                      <a:srgbClr val="FFFFFF"/>
                    </a:solidFill>
                  </a:tcPr>
                </a:tc>
                <a:extLst>
                  <a:ext uri="{0D108BD9-81ED-4DB2-BD59-A6C34878D82A}">
                    <a16:rowId xmlns:a16="http://schemas.microsoft.com/office/drawing/2014/main" val="10001"/>
                  </a:ext>
                </a:extLst>
              </a:tr>
              <a:tr h="548640">
                <a:tc>
                  <a:txBody>
                    <a:bodyPr/>
                    <a:lstStyle/>
                    <a:p>
                      <a:pPr algn="l"/>
                      <a:r>
                        <a:rPr sz="1700" b="1">
                          <a:solidFill>
                            <a:srgbClr val="1F2A33"/>
                          </a:solidFill>
                        </a:rPr>
                        <a:t>Income inequality</a:t>
                      </a:r>
                    </a:p>
                  </a:txBody>
                  <a:tcPr marT="27432" marB="27432" anchor="ctr">
                    <a:solidFill>
                      <a:srgbClr val="F6E7B8"/>
                    </a:solidFill>
                  </a:tcPr>
                </a:tc>
                <a:tc>
                  <a:txBody>
                    <a:bodyPr/>
                    <a:lstStyle/>
                    <a:p>
                      <a:pPr algn="r"/>
                      <a:r>
                        <a:rPr sz="1700" b="0">
                          <a:solidFill>
                            <a:srgbClr val="1F2A33"/>
                          </a:solidFill>
                        </a:rPr>
                        <a:t>−6.54</a:t>
                      </a:r>
                    </a:p>
                  </a:txBody>
                  <a:tcPr marT="27432" marB="27432" anchor="ctr">
                    <a:solidFill>
                      <a:srgbClr val="F6E7B8"/>
                    </a:solidFill>
                  </a:tcPr>
                </a:tc>
                <a:tc>
                  <a:txBody>
                    <a:bodyPr/>
                    <a:lstStyle/>
                    <a:p>
                      <a:pPr algn="r"/>
                      <a:endParaRPr/>
                    </a:p>
                  </a:txBody>
                  <a:tcPr marT="27432" marB="27432" anchor="ctr">
                    <a:solidFill>
                      <a:srgbClr val="F6E7B8"/>
                    </a:solidFill>
                  </a:tcPr>
                </a:tc>
                <a:tc>
                  <a:txBody>
                    <a:bodyPr/>
                    <a:lstStyle/>
                    <a:p>
                      <a:pPr algn="r"/>
                      <a:r>
                        <a:rPr sz="1700" b="0">
                          <a:solidFill>
                            <a:srgbClr val="1F2A33"/>
                          </a:solidFill>
                        </a:rPr>
                        <a:t>−7.15</a:t>
                      </a:r>
                    </a:p>
                  </a:txBody>
                  <a:tcPr marT="27432" marB="27432" anchor="ctr">
                    <a:solidFill>
                      <a:srgbClr val="F6E7B8"/>
                    </a:solidFill>
                  </a:tcPr>
                </a:tc>
                <a:extLst>
                  <a:ext uri="{0D108BD9-81ED-4DB2-BD59-A6C34878D82A}">
                    <a16:rowId xmlns:a16="http://schemas.microsoft.com/office/drawing/2014/main" val="10002"/>
                  </a:ext>
                </a:extLst>
              </a:tr>
              <a:tr h="548640">
                <a:tc>
                  <a:txBody>
                    <a:bodyPr/>
                    <a:lstStyle/>
                    <a:p>
                      <a:pPr algn="l"/>
                      <a:r>
                        <a:rPr sz="1700" b="1">
                          <a:solidFill>
                            <a:srgbClr val="1F2A33"/>
                          </a:solidFill>
                        </a:rPr>
                        <a:t>Homicides (per million)</a:t>
                      </a:r>
                    </a:p>
                  </a:txBody>
                  <a:tcPr marT="27432" marB="27432" anchor="ctr">
                    <a:solidFill>
                      <a:srgbClr val="FFFFFF"/>
                    </a:solidFill>
                  </a:tcPr>
                </a:tc>
                <a:tc>
                  <a:txBody>
                    <a:bodyPr/>
                    <a:lstStyle/>
                    <a:p>
                      <a:pPr algn="r"/>
                      <a:endParaRPr/>
                    </a:p>
                  </a:txBody>
                  <a:tcPr marT="27432" marB="27432" anchor="ctr">
                    <a:solidFill>
                      <a:srgbClr val="FFFFFF"/>
                    </a:solidFill>
                  </a:tcPr>
                </a:tc>
                <a:tc>
                  <a:txBody>
                    <a:bodyPr/>
                    <a:lstStyle/>
                    <a:p>
                      <a:pPr algn="r"/>
                      <a:r>
                        <a:rPr sz="1700" b="0">
                          <a:solidFill>
                            <a:srgbClr val="1F2A33"/>
                          </a:solidFill>
                        </a:rPr>
                        <a:t>−0.268</a:t>
                      </a:r>
                    </a:p>
                  </a:txBody>
                  <a:tcPr marT="27432" marB="27432" anchor="ctr">
                    <a:solidFill>
                      <a:srgbClr val="FFFFFF"/>
                    </a:solidFill>
                  </a:tcPr>
                </a:tc>
                <a:tc>
                  <a:txBody>
                    <a:bodyPr/>
                    <a:lstStyle/>
                    <a:p>
                      <a:pPr algn="r"/>
                      <a:r>
                        <a:rPr sz="1700" b="0">
                          <a:solidFill>
                            <a:srgbClr val="1F2A33"/>
                          </a:solidFill>
                        </a:rPr>
                        <a:t>+0.174</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700" b="1">
                          <a:solidFill>
                            <a:srgbClr val="1F2A33"/>
                          </a:solidFill>
                        </a:rPr>
                        <a:t>R²</a:t>
                      </a:r>
                    </a:p>
                  </a:txBody>
                  <a:tcPr marT="27432" marB="27432" anchor="ctr">
                    <a:solidFill>
                      <a:srgbClr val="EEF3F7"/>
                    </a:solidFill>
                  </a:tcPr>
                </a:tc>
                <a:tc>
                  <a:txBody>
                    <a:bodyPr/>
                    <a:lstStyle/>
                    <a:p>
                      <a:pPr algn="r"/>
                      <a:r>
                        <a:rPr sz="1700" b="0">
                          <a:solidFill>
                            <a:srgbClr val="1F2A33"/>
                          </a:solidFill>
                        </a:rPr>
                        <a:t>0.441</a:t>
                      </a:r>
                    </a:p>
                  </a:txBody>
                  <a:tcPr marT="27432" marB="27432" anchor="ctr">
                    <a:solidFill>
                      <a:srgbClr val="EEF3F7"/>
                    </a:solidFill>
                  </a:tcPr>
                </a:tc>
                <a:tc>
                  <a:txBody>
                    <a:bodyPr/>
                    <a:lstStyle/>
                    <a:p>
                      <a:pPr algn="r"/>
                      <a:r>
                        <a:rPr sz="1700" b="0">
                          <a:solidFill>
                            <a:srgbClr val="1F2A33"/>
                          </a:solidFill>
                        </a:rPr>
                        <a:t>0.042</a:t>
                      </a:r>
                    </a:p>
                  </a:txBody>
                  <a:tcPr marT="27432" marB="27432" anchor="ctr">
                    <a:solidFill>
                      <a:srgbClr val="EEF3F7"/>
                    </a:solidFill>
                  </a:tcPr>
                </a:tc>
                <a:tc>
                  <a:txBody>
                    <a:bodyPr/>
                    <a:lstStyle/>
                    <a:p>
                      <a:pPr algn="r"/>
                      <a:r>
                        <a:rPr sz="1700" b="0">
                          <a:solidFill>
                            <a:srgbClr val="1F2A33"/>
                          </a:solidFill>
                        </a:rPr>
                        <a:t>0.455</a:t>
                      </a:r>
                    </a:p>
                  </a:txBody>
                  <a:tcPr marT="27432" marB="27432" anchor="ctr">
                    <a:solidFill>
                      <a:srgbClr val="EEF3F7"/>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758952" y="4389120"/>
            <a:ext cx="3429000" cy="137160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923544" y="4520793"/>
            <a:ext cx="3099816" cy="1108252"/>
          </a:xfrm>
          <a:prstGeom prst="rect">
            <a:avLst/>
          </a:prstGeom>
          <a:noFill/>
        </p:spPr>
        <p:txBody>
          <a:bodyPr wrap="square" lIns="0" tIns="0" rIns="0" bIns="0" anchor="t">
            <a:spAutoFit/>
          </a:bodyPr>
          <a:lstStyle/>
          <a:p>
            <a:pPr algn="l">
              <a:spcAft>
                <a:spcPts val="400"/>
              </a:spcAft>
            </a:pPr>
            <a:r>
              <a:rPr sz="1800" b="1" i="0">
                <a:solidFill>
                  <a:srgbClr val="B88C00"/>
                </a:solidFill>
              </a:rPr>
              <a:t>Inequality holds up</a:t>
            </a:r>
          </a:p>
          <a:p>
            <a:pPr algn="l">
              <a:spcAft>
                <a:spcPts val="400"/>
              </a:spcAft>
            </a:pPr>
            <a:r>
              <a:rPr sz="1500" b="0" i="0">
                <a:solidFill>
                  <a:srgbClr val="CCDDEA"/>
                </a:solidFill>
              </a:rPr>
              <a:t>−6.54 alone, −7.15 adjusting for homicides.</a:t>
            </a:r>
          </a:p>
        </p:txBody>
      </p:sp>
      <p:sp>
        <p:nvSpPr>
          <p:cNvPr id="9" name="Rounded Rectangle 8"/>
          <p:cNvSpPr/>
          <p:nvPr/>
        </p:nvSpPr>
        <p:spPr>
          <a:xfrm>
            <a:off x="4370832" y="4389120"/>
            <a:ext cx="3429000" cy="13716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4535424" y="4520793"/>
            <a:ext cx="3099816" cy="1108252"/>
          </a:xfrm>
          <a:prstGeom prst="rect">
            <a:avLst/>
          </a:prstGeom>
          <a:noFill/>
        </p:spPr>
        <p:txBody>
          <a:bodyPr wrap="square" lIns="0" tIns="0" rIns="0" bIns="0" anchor="t">
            <a:spAutoFit/>
          </a:bodyPr>
          <a:lstStyle/>
          <a:p>
            <a:pPr algn="l">
              <a:spcAft>
                <a:spcPts val="400"/>
              </a:spcAft>
            </a:pPr>
            <a:r>
              <a:rPr sz="1800" b="1" i="0">
                <a:solidFill>
                  <a:srgbClr val="1F394D"/>
                </a:solidFill>
              </a:rPr>
              <a:t>Homicides add little</a:t>
            </a:r>
          </a:p>
          <a:p>
            <a:pPr algn="l">
              <a:spcAft>
                <a:spcPts val="400"/>
              </a:spcAft>
            </a:pPr>
            <a:r>
              <a:rPr sz="1500" b="0" i="0">
                <a:solidFill>
                  <a:srgbClr val="1F2A33"/>
                </a:solidFill>
              </a:rPr>
              <a:t>The sign flips and R² rises by only 0.014.</a:t>
            </a:r>
          </a:p>
        </p:txBody>
      </p:sp>
      <p:sp>
        <p:nvSpPr>
          <p:cNvPr id="11" name="Rounded Rectangle 10"/>
          <p:cNvSpPr/>
          <p:nvPr/>
        </p:nvSpPr>
        <p:spPr>
          <a:xfrm>
            <a:off x="7982712" y="4389120"/>
            <a:ext cx="3429000" cy="1371600"/>
          </a:xfrm>
          <a:prstGeom prst="roundRect">
            <a:avLst>
              <a:gd name="adj" fmla="val 8000"/>
            </a:avLst>
          </a:prstGeom>
          <a:solidFill>
            <a:srgbClr val="EEF3F7"/>
          </a:solidFill>
          <a:ln>
            <a:noFill/>
          </a:ln>
        </p:spPr>
        <p:txBody>
          <a:bodyPr rtlCol="0" anchor="ctr"/>
          <a:lstStyle/>
          <a:p>
            <a:endParaRPr/>
          </a:p>
        </p:txBody>
      </p:sp>
      <p:sp>
        <p:nvSpPr>
          <p:cNvPr id="12" name="TextBox 11"/>
          <p:cNvSpPr txBox="1"/>
          <p:nvPr/>
        </p:nvSpPr>
        <p:spPr>
          <a:xfrm>
            <a:off x="8147304" y="4520793"/>
            <a:ext cx="3099816" cy="1108252"/>
          </a:xfrm>
          <a:prstGeom prst="rect">
            <a:avLst/>
          </a:prstGeom>
          <a:noFill/>
        </p:spPr>
        <p:txBody>
          <a:bodyPr wrap="square" lIns="0" tIns="0" rIns="0" bIns="0" anchor="t">
            <a:spAutoFit/>
          </a:bodyPr>
          <a:lstStyle/>
          <a:p>
            <a:pPr algn="l">
              <a:spcAft>
                <a:spcPts val="400"/>
              </a:spcAft>
            </a:pPr>
            <a:r>
              <a:rPr sz="1800" b="1" i="0">
                <a:solidFill>
                  <a:srgbClr val="1F394D"/>
                </a:solidFill>
              </a:rPr>
              <a:t>No collinearity problem</a:t>
            </a:r>
          </a:p>
          <a:p>
            <a:pPr algn="l">
              <a:spcAft>
                <a:spcPts val="400"/>
              </a:spcAft>
            </a:pPr>
            <a:r>
              <a:rPr sz="1500" b="0" i="0">
                <a:solidFill>
                  <a:srgbClr val="1F2A33"/>
                </a:solidFill>
              </a:rPr>
              <a:t>r = 0.47 between the predictors; VIF = 1.28.</a:t>
            </a:r>
          </a:p>
        </p:txBody>
      </p:sp>
      <p:sp>
        <p:nvSpPr>
          <p:cNvPr id="13" name="TextBox 12"/>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“holding constant” means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19</a:t>
            </a:fld>
            <a:endParaRPr lang="en-GB"/>
          </a:p>
        </p:txBody>
      </p:sp>
      <p:graphicFrame>
        <p:nvGraphicFramePr>
          <p:cNvPr id="6" name="Holding constant"/>
          <p:cNvGraphicFramePr>
            <a:graphicFrameLocks noGrp="1"/>
          </p:cNvGraphicFramePr>
          <p:nvPr/>
        </p:nvGraphicFramePr>
        <p:xfrm>
          <a:off x="758952" y="1280160"/>
          <a:ext cx="73152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275320" y="1417320"/>
            <a:ext cx="3090672" cy="201168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8476488" y="1578254"/>
            <a:ext cx="2688336" cy="1689811"/>
          </a:xfrm>
          <a:prstGeom prst="rect">
            <a:avLst/>
          </a:prstGeom>
          <a:noFill/>
        </p:spPr>
        <p:txBody>
          <a:bodyPr wrap="square" lIns="0" tIns="0" rIns="0" bIns="0" anchor="t">
            <a:spAutoFit/>
          </a:bodyPr>
          <a:lstStyle/>
          <a:p>
            <a:pPr algn="l">
              <a:spcAft>
                <a:spcPts val="400"/>
              </a:spcAft>
            </a:pPr>
            <a:r>
              <a:rPr sz="2200" b="1" i="0">
                <a:solidFill>
                  <a:srgbClr val="1F394D"/>
                </a:solidFill>
              </a:rPr>
              <a:t>Simple: −6.6</a:t>
            </a:r>
          </a:p>
          <a:p>
            <a:pPr algn="l">
              <a:spcAft>
                <a:spcPts val="400"/>
              </a:spcAft>
            </a:pPr>
            <a:r>
              <a:rPr sz="1500" b="0" i="0">
                <a:solidFill>
                  <a:srgbClr val="1F2A33"/>
                </a:solidFill>
              </a:rPr>
              <a:t>mixes the gap between regions with the pattern within them</a:t>
            </a:r>
          </a:p>
        </p:txBody>
      </p:sp>
      <p:sp>
        <p:nvSpPr>
          <p:cNvPr id="9" name="Rounded Rectangle 8"/>
          <p:cNvSpPr/>
          <p:nvPr/>
        </p:nvSpPr>
        <p:spPr>
          <a:xfrm>
            <a:off x="8275320" y="3611880"/>
            <a:ext cx="3090672" cy="2148840"/>
          </a:xfrm>
          <a:prstGeom prst="roundRect">
            <a:avLst>
              <a:gd name="adj" fmla="val 8000"/>
            </a:avLst>
          </a:prstGeom>
          <a:solidFill>
            <a:srgbClr val="1F394D"/>
          </a:solidFill>
          <a:ln>
            <a:noFill/>
          </a:ln>
        </p:spPr>
        <p:txBody>
          <a:bodyPr rtlCol="0" anchor="ctr"/>
          <a:lstStyle/>
          <a:p>
            <a:endParaRPr/>
          </a:p>
        </p:txBody>
      </p:sp>
      <p:sp>
        <p:nvSpPr>
          <p:cNvPr id="10" name="TextBox 9"/>
          <p:cNvSpPr txBox="1"/>
          <p:nvPr/>
        </p:nvSpPr>
        <p:spPr>
          <a:xfrm>
            <a:off x="8476488" y="3772814"/>
            <a:ext cx="2688336" cy="1826971"/>
          </a:xfrm>
          <a:prstGeom prst="rect">
            <a:avLst/>
          </a:prstGeom>
          <a:noFill/>
        </p:spPr>
        <p:txBody>
          <a:bodyPr wrap="square" lIns="0" tIns="0" rIns="0" bIns="0" anchor="t">
            <a:spAutoFit/>
          </a:bodyPr>
          <a:lstStyle/>
          <a:p>
            <a:pPr algn="l">
              <a:spcAft>
                <a:spcPts val="400"/>
              </a:spcAft>
            </a:pPr>
            <a:r>
              <a:rPr sz="2200" b="1" i="0">
                <a:solidFill>
                  <a:srgbClr val="B88C00"/>
                </a:solidFill>
              </a:rPr>
              <a:t>Adjusted: −2.4</a:t>
            </a:r>
          </a:p>
          <a:p>
            <a:pPr algn="l">
              <a:spcAft>
                <a:spcPts val="400"/>
              </a:spcAft>
            </a:pPr>
            <a:r>
              <a:rPr sz="1500" b="0" i="0">
                <a:solidFill>
                  <a:srgbClr val="CCDDEA"/>
                </a:solidFill>
              </a:rPr>
              <a:t>compares countries within the same region</a:t>
            </a:r>
          </a:p>
        </p:txBody>
      </p:sp>
      <p:sp>
        <p:nvSpPr>
          <p:cNvPr id="11" name="Rounded Rectangle 10"/>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2" name="TextBox 11"/>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13" name="TextBox 12"/>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W3c. 60 countries in two regions.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Activity: true or false?</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20</a:t>
            </a:fld>
            <a:endParaRPr lang="en-GB"/>
          </a:p>
        </p:txBody>
      </p:sp>
      <p:sp>
        <p:nvSpPr>
          <p:cNvPr id="6" name="TextBox 5"/>
          <p:cNvSpPr txBox="1"/>
          <p:nvPr/>
        </p:nvSpPr>
        <p:spPr>
          <a:xfrm>
            <a:off x="758952" y="1216152"/>
            <a:ext cx="10607040" cy="457200"/>
          </a:xfrm>
          <a:prstGeom prst="rect">
            <a:avLst/>
          </a:prstGeom>
          <a:noFill/>
        </p:spPr>
        <p:txBody>
          <a:bodyPr wrap="square" lIns="0" tIns="0" rIns="0" bIns="0" anchor="t">
            <a:spAutoFit/>
          </a:bodyPr>
          <a:lstStyle/>
          <a:p>
            <a:pPr algn="l"/>
            <a:r>
              <a:rPr sz="2000" b="0" i="0">
                <a:solidFill>
                  <a:srgbClr val="55606B"/>
                </a:solidFill>
              </a:rPr>
              <a:t>Model M₃: trust regressed on income inequality and homicide rates, 23 countries</a:t>
            </a:r>
          </a:p>
        </p:txBody>
      </p:sp>
      <p:sp>
        <p:nvSpPr>
          <p:cNvPr id="7" name="Statement 1"/>
          <p:cNvSpPr/>
          <p:nvPr/>
        </p:nvSpPr>
        <p:spPr>
          <a:xfrm>
            <a:off x="758952" y="1783080"/>
            <a:ext cx="10607040" cy="896112"/>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14400" y="1956816"/>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A</a:t>
            </a:r>
          </a:p>
        </p:txBody>
      </p:sp>
      <p:sp>
        <p:nvSpPr>
          <p:cNvPr id="9" name="TextBox 8"/>
          <p:cNvSpPr txBox="1"/>
          <p:nvPr/>
        </p:nvSpPr>
        <p:spPr>
          <a:xfrm>
            <a:off x="1645919" y="1783080"/>
            <a:ext cx="9509760" cy="896112"/>
          </a:xfrm>
          <a:prstGeom prst="rect">
            <a:avLst/>
          </a:prstGeom>
          <a:noFill/>
        </p:spPr>
        <p:txBody>
          <a:bodyPr wrap="square" lIns="0" tIns="0" rIns="0" bIns="0" anchor="ctr">
            <a:spAutoFit/>
          </a:bodyPr>
          <a:lstStyle/>
          <a:p>
            <a:pPr algn="l"/>
            <a:r>
              <a:rPr sz="1900" b="0" i="0">
                <a:solidFill>
                  <a:srgbClr val="1F2A33"/>
                </a:solidFill>
              </a:rPr>
              <a:t>Adjusting for homicides, a one-unit higher inequality ratio goes with about 7.1 points lower trust.</a:t>
            </a:r>
          </a:p>
        </p:txBody>
      </p:sp>
      <p:sp>
        <p:nvSpPr>
          <p:cNvPr id="10" name="Statement 2"/>
          <p:cNvSpPr/>
          <p:nvPr/>
        </p:nvSpPr>
        <p:spPr>
          <a:xfrm>
            <a:off x="758952" y="2807208"/>
            <a:ext cx="10607040" cy="896112"/>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914400" y="2980944"/>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B</a:t>
            </a:r>
          </a:p>
        </p:txBody>
      </p:sp>
      <p:sp>
        <p:nvSpPr>
          <p:cNvPr id="12" name="TextBox 11"/>
          <p:cNvSpPr txBox="1"/>
          <p:nvPr/>
        </p:nvSpPr>
        <p:spPr>
          <a:xfrm>
            <a:off x="1645919" y="2807208"/>
            <a:ext cx="9509760" cy="896112"/>
          </a:xfrm>
          <a:prstGeom prst="rect">
            <a:avLst/>
          </a:prstGeom>
          <a:noFill/>
        </p:spPr>
        <p:txBody>
          <a:bodyPr wrap="square" lIns="0" tIns="0" rIns="0" bIns="0" anchor="ctr">
            <a:spAutoFit/>
          </a:bodyPr>
          <a:lstStyle/>
          <a:p>
            <a:pPr algn="l"/>
            <a:r>
              <a:rPr sz="1900" b="0" i="0">
                <a:solidFill>
                  <a:srgbClr val="1F2A33"/>
                </a:solidFill>
              </a:rPr>
              <a:t>Reducing inequality by one unit would raise trust by 7 points.</a:t>
            </a:r>
          </a:p>
        </p:txBody>
      </p:sp>
      <p:sp>
        <p:nvSpPr>
          <p:cNvPr id="13" name="Statement 3"/>
          <p:cNvSpPr/>
          <p:nvPr/>
        </p:nvSpPr>
        <p:spPr>
          <a:xfrm>
            <a:off x="758952" y="3831336"/>
            <a:ext cx="10607040" cy="896112"/>
          </a:xfrm>
          <a:prstGeom prst="roundRect">
            <a:avLst>
              <a:gd name="adj" fmla="val 8000"/>
            </a:avLst>
          </a:prstGeom>
          <a:solidFill>
            <a:srgbClr val="EEF3F7"/>
          </a:solidFill>
          <a:ln>
            <a:noFill/>
          </a:ln>
        </p:spPr>
        <p:txBody>
          <a:bodyPr rtlCol="0" anchor="ctr"/>
          <a:lstStyle/>
          <a:p>
            <a:endParaRPr/>
          </a:p>
        </p:txBody>
      </p:sp>
      <p:sp>
        <p:nvSpPr>
          <p:cNvPr id="14" name="Oval 13"/>
          <p:cNvSpPr/>
          <p:nvPr/>
        </p:nvSpPr>
        <p:spPr>
          <a:xfrm>
            <a:off x="914400" y="4005072"/>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C</a:t>
            </a:r>
          </a:p>
        </p:txBody>
      </p:sp>
      <p:sp>
        <p:nvSpPr>
          <p:cNvPr id="15" name="TextBox 14"/>
          <p:cNvSpPr txBox="1"/>
          <p:nvPr/>
        </p:nvSpPr>
        <p:spPr>
          <a:xfrm>
            <a:off x="1645919" y="3831336"/>
            <a:ext cx="9509760" cy="896112"/>
          </a:xfrm>
          <a:prstGeom prst="rect">
            <a:avLst/>
          </a:prstGeom>
          <a:noFill/>
        </p:spPr>
        <p:txBody>
          <a:bodyPr wrap="square" lIns="0" tIns="0" rIns="0" bIns="0" anchor="ctr">
            <a:spAutoFit/>
          </a:bodyPr>
          <a:lstStyle/>
          <a:p>
            <a:pPr algn="l"/>
            <a:r>
              <a:rPr sz="1900" b="0" i="0">
                <a:solidFill>
                  <a:srgbClr val="1F2A33"/>
                </a:solidFill>
              </a:rPr>
              <a:t>Inequality is a stronger predictor than homicides because −7.15 is bigger than 0.17.</a:t>
            </a:r>
          </a:p>
        </p:txBody>
      </p:sp>
      <p:sp>
        <p:nvSpPr>
          <p:cNvPr id="16" name="Statement 4"/>
          <p:cNvSpPr/>
          <p:nvPr/>
        </p:nvSpPr>
        <p:spPr>
          <a:xfrm>
            <a:off x="758952" y="4855464"/>
            <a:ext cx="10607040" cy="896112"/>
          </a:xfrm>
          <a:prstGeom prst="roundRect">
            <a:avLst>
              <a:gd name="adj" fmla="val 8000"/>
            </a:avLst>
          </a:prstGeom>
          <a:solidFill>
            <a:srgbClr val="EEF3F7"/>
          </a:solidFill>
          <a:ln>
            <a:noFill/>
          </a:ln>
        </p:spPr>
        <p:txBody>
          <a:bodyPr rtlCol="0" anchor="ctr"/>
          <a:lstStyle/>
          <a:p>
            <a:endParaRPr/>
          </a:p>
        </p:txBody>
      </p:sp>
      <p:sp>
        <p:nvSpPr>
          <p:cNvPr id="17" name="Oval 16"/>
          <p:cNvSpPr/>
          <p:nvPr/>
        </p:nvSpPr>
        <p:spPr>
          <a:xfrm>
            <a:off x="914400" y="5029200"/>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D</a:t>
            </a:r>
          </a:p>
        </p:txBody>
      </p:sp>
      <p:sp>
        <p:nvSpPr>
          <p:cNvPr id="18" name="TextBox 17"/>
          <p:cNvSpPr txBox="1"/>
          <p:nvPr/>
        </p:nvSpPr>
        <p:spPr>
          <a:xfrm>
            <a:off x="1645919" y="4855464"/>
            <a:ext cx="9509760" cy="896112"/>
          </a:xfrm>
          <a:prstGeom prst="rect">
            <a:avLst/>
          </a:prstGeom>
          <a:noFill/>
        </p:spPr>
        <p:txBody>
          <a:bodyPr wrap="square" lIns="0" tIns="0" rIns="0" bIns="0" anchor="ctr">
            <a:spAutoFit/>
          </a:bodyPr>
          <a:lstStyle/>
          <a:p>
            <a:pPr algn="l"/>
            <a:r>
              <a:rPr sz="1900" b="0" i="0">
                <a:solidFill>
                  <a:srgbClr val="1F2A33"/>
                </a:solidFill>
              </a:rPr>
              <a:t>Together the two predictors account for about 46% of the variation in 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True or false: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21</a:t>
            </a:fld>
            <a:endParaRPr lang="en-GB"/>
          </a:p>
        </p:txBody>
      </p:sp>
      <p:sp>
        <p:nvSpPr>
          <p:cNvPr id="6" name="TextBox 5"/>
          <p:cNvSpPr txBox="1"/>
          <p:nvPr/>
        </p:nvSpPr>
        <p:spPr>
          <a:xfrm>
            <a:off x="758952" y="1216152"/>
            <a:ext cx="10607040" cy="457200"/>
          </a:xfrm>
          <a:prstGeom prst="rect">
            <a:avLst/>
          </a:prstGeom>
          <a:noFill/>
        </p:spPr>
        <p:txBody>
          <a:bodyPr wrap="square" lIns="0" tIns="0" rIns="0" bIns="0" anchor="t">
            <a:spAutoFit/>
          </a:bodyPr>
          <a:lstStyle/>
          <a:p>
            <a:pPr algn="l"/>
            <a:r>
              <a:rPr sz="2000" b="0" i="0">
                <a:solidFill>
                  <a:srgbClr val="55606B"/>
                </a:solidFill>
              </a:rPr>
              <a:t>Model M₃: trust regressed on income inequality and homicide rates, 23 countries</a:t>
            </a:r>
          </a:p>
        </p:txBody>
      </p:sp>
      <p:sp>
        <p:nvSpPr>
          <p:cNvPr id="7" name="Statement 1"/>
          <p:cNvSpPr/>
          <p:nvPr/>
        </p:nvSpPr>
        <p:spPr>
          <a:xfrm>
            <a:off x="758952" y="1783080"/>
            <a:ext cx="10607040" cy="896112"/>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14400" y="1956816"/>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A</a:t>
            </a:r>
          </a:p>
        </p:txBody>
      </p:sp>
      <p:sp>
        <p:nvSpPr>
          <p:cNvPr id="9" name="TextBox 8"/>
          <p:cNvSpPr txBox="1"/>
          <p:nvPr/>
        </p:nvSpPr>
        <p:spPr>
          <a:xfrm>
            <a:off x="1645919" y="1828800"/>
            <a:ext cx="6949440" cy="804672"/>
          </a:xfrm>
          <a:prstGeom prst="rect">
            <a:avLst/>
          </a:prstGeom>
          <a:noFill/>
        </p:spPr>
        <p:txBody>
          <a:bodyPr wrap="square" lIns="0" tIns="0" rIns="0" bIns="0" anchor="ctr">
            <a:spAutoFit/>
          </a:bodyPr>
          <a:lstStyle/>
          <a:p>
            <a:pPr algn="l"/>
            <a:r>
              <a:rPr sz="1700" b="0" i="0">
                <a:solidFill>
                  <a:srgbClr val="1F2A33"/>
                </a:solidFill>
              </a:rPr>
              <a:t>Adjusting for homicides, a one-unit higher inequality ratio goes with about 7.1 points lower trust.</a:t>
            </a:r>
          </a:p>
          <a:p>
            <a:pPr algn="l"/>
            <a:r>
              <a:rPr sz="1400" b="0" i="0">
                <a:solidFill>
                  <a:srgbClr val="55606B"/>
                </a:solidFill>
              </a:rPr>
              <a:t>That is the M₃ coefficient, read with “adjusting for”.</a:t>
            </a:r>
          </a:p>
        </p:txBody>
      </p:sp>
      <p:sp>
        <p:nvSpPr>
          <p:cNvPr id="10" name="Verdict 1"/>
          <p:cNvSpPr/>
          <p:nvPr/>
        </p:nvSpPr>
        <p:spPr>
          <a:xfrm>
            <a:off x="8823960" y="1965960"/>
            <a:ext cx="2377440" cy="530352"/>
          </a:xfrm>
          <a:prstGeom prst="roundRect">
            <a:avLst>
              <a:gd name="adj" fmla="val 8000"/>
            </a:avLst>
          </a:prstGeom>
          <a:solidFill>
            <a:srgbClr val="2E6B45"/>
          </a:solidFill>
          <a:ln>
            <a:noFill/>
          </a:ln>
        </p:spPr>
        <p:txBody>
          <a:bodyPr rtlCol="0" anchor="ctr"/>
          <a:lstStyle/>
          <a:p>
            <a:endParaRPr/>
          </a:p>
        </p:txBody>
      </p:sp>
      <p:sp>
        <p:nvSpPr>
          <p:cNvPr id="11" name="TextBox 10"/>
          <p:cNvSpPr txBox="1"/>
          <p:nvPr/>
        </p:nvSpPr>
        <p:spPr>
          <a:xfrm>
            <a:off x="8823960" y="1965960"/>
            <a:ext cx="2377440" cy="530352"/>
          </a:xfrm>
          <a:prstGeom prst="rect">
            <a:avLst/>
          </a:prstGeom>
          <a:noFill/>
        </p:spPr>
        <p:txBody>
          <a:bodyPr wrap="square" lIns="0" tIns="0" rIns="0" bIns="0" anchor="ctr">
            <a:spAutoFit/>
          </a:bodyPr>
          <a:lstStyle/>
          <a:p>
            <a:pPr algn="ctr"/>
            <a:r>
              <a:rPr sz="1800" b="1" i="0">
                <a:solidFill>
                  <a:srgbClr val="FFFFFF"/>
                </a:solidFill>
              </a:rPr>
              <a:t>Right</a:t>
            </a:r>
          </a:p>
        </p:txBody>
      </p:sp>
      <p:sp>
        <p:nvSpPr>
          <p:cNvPr id="12" name="Statement 2"/>
          <p:cNvSpPr/>
          <p:nvPr/>
        </p:nvSpPr>
        <p:spPr>
          <a:xfrm>
            <a:off x="758952" y="2807208"/>
            <a:ext cx="10607040" cy="896112"/>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14400" y="2980944"/>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B</a:t>
            </a:r>
          </a:p>
        </p:txBody>
      </p:sp>
      <p:sp>
        <p:nvSpPr>
          <p:cNvPr id="14" name="TextBox 13"/>
          <p:cNvSpPr txBox="1"/>
          <p:nvPr/>
        </p:nvSpPr>
        <p:spPr>
          <a:xfrm>
            <a:off x="1645919" y="2852928"/>
            <a:ext cx="6949440" cy="804672"/>
          </a:xfrm>
          <a:prstGeom prst="rect">
            <a:avLst/>
          </a:prstGeom>
          <a:noFill/>
        </p:spPr>
        <p:txBody>
          <a:bodyPr wrap="square" lIns="0" tIns="0" rIns="0" bIns="0" anchor="ctr">
            <a:spAutoFit/>
          </a:bodyPr>
          <a:lstStyle/>
          <a:p>
            <a:pPr algn="l"/>
            <a:r>
              <a:rPr sz="1700" b="0" i="0">
                <a:solidFill>
                  <a:srgbClr val="1F2A33"/>
                </a:solidFill>
              </a:rPr>
              <a:t>Reducing inequality by one unit would raise trust by 7 points.</a:t>
            </a:r>
          </a:p>
          <a:p>
            <a:pPr algn="l"/>
            <a:r>
              <a:rPr sz="1400" b="0" i="0">
                <a:solidFill>
                  <a:srgbClr val="55606B"/>
                </a:solidFill>
              </a:rPr>
              <a:t>Survey data show associations; “would raise” is a causal claim.</a:t>
            </a:r>
          </a:p>
        </p:txBody>
      </p:sp>
      <p:sp>
        <p:nvSpPr>
          <p:cNvPr id="15" name="Verdict 2"/>
          <p:cNvSpPr/>
          <p:nvPr/>
        </p:nvSpPr>
        <p:spPr>
          <a:xfrm>
            <a:off x="8823960" y="2990088"/>
            <a:ext cx="2377440" cy="530352"/>
          </a:xfrm>
          <a:prstGeom prst="roundRect">
            <a:avLst>
              <a:gd name="adj" fmla="val 8000"/>
            </a:avLst>
          </a:prstGeom>
          <a:solidFill>
            <a:srgbClr val="FFFFFF"/>
          </a:solidFill>
          <a:ln w="15875">
            <a:solidFill>
              <a:srgbClr val="865640"/>
            </a:solidFill>
          </a:ln>
        </p:spPr>
        <p:txBody>
          <a:bodyPr rtlCol="0" anchor="ctr"/>
          <a:lstStyle/>
          <a:p>
            <a:endParaRPr/>
          </a:p>
        </p:txBody>
      </p:sp>
      <p:sp>
        <p:nvSpPr>
          <p:cNvPr id="16" name="TextBox 15"/>
          <p:cNvSpPr txBox="1"/>
          <p:nvPr/>
        </p:nvSpPr>
        <p:spPr>
          <a:xfrm>
            <a:off x="8823960" y="2990088"/>
            <a:ext cx="2377440" cy="530352"/>
          </a:xfrm>
          <a:prstGeom prst="rect">
            <a:avLst/>
          </a:prstGeom>
          <a:noFill/>
        </p:spPr>
        <p:txBody>
          <a:bodyPr wrap="square" lIns="0" tIns="0" rIns="0" bIns="0" anchor="ctr">
            <a:spAutoFit/>
          </a:bodyPr>
          <a:lstStyle/>
          <a:p>
            <a:pPr algn="ctr"/>
            <a:r>
              <a:rPr sz="1800" b="1" i="0">
                <a:solidFill>
                  <a:srgbClr val="865640"/>
                </a:solidFill>
              </a:rPr>
              <a:t>Not quite</a:t>
            </a:r>
          </a:p>
        </p:txBody>
      </p:sp>
      <p:sp>
        <p:nvSpPr>
          <p:cNvPr id="17" name="Statement 3"/>
          <p:cNvSpPr/>
          <p:nvPr/>
        </p:nvSpPr>
        <p:spPr>
          <a:xfrm>
            <a:off x="758952" y="3831336"/>
            <a:ext cx="10607040" cy="896112"/>
          </a:xfrm>
          <a:prstGeom prst="roundRect">
            <a:avLst>
              <a:gd name="adj" fmla="val 8000"/>
            </a:avLst>
          </a:prstGeom>
          <a:solidFill>
            <a:srgbClr val="EEF3F7"/>
          </a:solidFill>
          <a:ln>
            <a:noFill/>
          </a:ln>
        </p:spPr>
        <p:txBody>
          <a:bodyPr rtlCol="0" anchor="ctr"/>
          <a:lstStyle/>
          <a:p>
            <a:endParaRPr/>
          </a:p>
        </p:txBody>
      </p:sp>
      <p:sp>
        <p:nvSpPr>
          <p:cNvPr id="18" name="Oval 17"/>
          <p:cNvSpPr/>
          <p:nvPr/>
        </p:nvSpPr>
        <p:spPr>
          <a:xfrm>
            <a:off x="914400" y="4005072"/>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C</a:t>
            </a:r>
          </a:p>
        </p:txBody>
      </p:sp>
      <p:sp>
        <p:nvSpPr>
          <p:cNvPr id="19" name="TextBox 18"/>
          <p:cNvSpPr txBox="1"/>
          <p:nvPr/>
        </p:nvSpPr>
        <p:spPr>
          <a:xfrm>
            <a:off x="1645919" y="3877056"/>
            <a:ext cx="6949440" cy="804672"/>
          </a:xfrm>
          <a:prstGeom prst="rect">
            <a:avLst/>
          </a:prstGeom>
          <a:noFill/>
        </p:spPr>
        <p:txBody>
          <a:bodyPr wrap="square" lIns="0" tIns="0" rIns="0" bIns="0" anchor="ctr">
            <a:spAutoFit/>
          </a:bodyPr>
          <a:lstStyle/>
          <a:p>
            <a:pPr algn="l"/>
            <a:r>
              <a:rPr sz="1700" b="0" i="0">
                <a:solidFill>
                  <a:srgbClr val="1F2A33"/>
                </a:solidFill>
              </a:rPr>
              <a:t>Inequality is a stronger predictor than homicides because −7.15 is bigger than 0.17.</a:t>
            </a:r>
          </a:p>
          <a:p>
            <a:pPr algn="l"/>
            <a:r>
              <a:rPr sz="1400" b="0" i="0">
                <a:solidFill>
                  <a:srgbClr val="55606B"/>
                </a:solidFill>
              </a:rPr>
              <a:t>Different units: compare standardized coefficients instead.</a:t>
            </a:r>
          </a:p>
        </p:txBody>
      </p:sp>
      <p:sp>
        <p:nvSpPr>
          <p:cNvPr id="20" name="Verdict 3"/>
          <p:cNvSpPr/>
          <p:nvPr/>
        </p:nvSpPr>
        <p:spPr>
          <a:xfrm>
            <a:off x="8823960" y="4014216"/>
            <a:ext cx="2377440" cy="530352"/>
          </a:xfrm>
          <a:prstGeom prst="roundRect">
            <a:avLst>
              <a:gd name="adj" fmla="val 8000"/>
            </a:avLst>
          </a:prstGeom>
          <a:solidFill>
            <a:srgbClr val="FFFFFF"/>
          </a:solidFill>
          <a:ln w="15875">
            <a:solidFill>
              <a:srgbClr val="865640"/>
            </a:solidFill>
          </a:ln>
        </p:spPr>
        <p:txBody>
          <a:bodyPr rtlCol="0" anchor="ctr"/>
          <a:lstStyle/>
          <a:p>
            <a:endParaRPr/>
          </a:p>
        </p:txBody>
      </p:sp>
      <p:sp>
        <p:nvSpPr>
          <p:cNvPr id="21" name="TextBox 20"/>
          <p:cNvSpPr txBox="1"/>
          <p:nvPr/>
        </p:nvSpPr>
        <p:spPr>
          <a:xfrm>
            <a:off x="8823960" y="4014216"/>
            <a:ext cx="2377440" cy="530352"/>
          </a:xfrm>
          <a:prstGeom prst="rect">
            <a:avLst/>
          </a:prstGeom>
          <a:noFill/>
        </p:spPr>
        <p:txBody>
          <a:bodyPr wrap="square" lIns="0" tIns="0" rIns="0" bIns="0" anchor="ctr">
            <a:spAutoFit/>
          </a:bodyPr>
          <a:lstStyle/>
          <a:p>
            <a:pPr algn="ctr"/>
            <a:r>
              <a:rPr sz="1800" b="1" i="0">
                <a:solidFill>
                  <a:srgbClr val="865640"/>
                </a:solidFill>
              </a:rPr>
              <a:t>Not quite</a:t>
            </a:r>
          </a:p>
        </p:txBody>
      </p:sp>
      <p:sp>
        <p:nvSpPr>
          <p:cNvPr id="22" name="Statement 4"/>
          <p:cNvSpPr/>
          <p:nvPr/>
        </p:nvSpPr>
        <p:spPr>
          <a:xfrm>
            <a:off x="758952" y="4855464"/>
            <a:ext cx="10607040" cy="896112"/>
          </a:xfrm>
          <a:prstGeom prst="roundRect">
            <a:avLst>
              <a:gd name="adj" fmla="val 8000"/>
            </a:avLst>
          </a:prstGeom>
          <a:solidFill>
            <a:srgbClr val="EEF3F7"/>
          </a:solidFill>
          <a:ln>
            <a:noFill/>
          </a:ln>
        </p:spPr>
        <p:txBody>
          <a:bodyPr rtlCol="0" anchor="ctr"/>
          <a:lstStyle/>
          <a:p>
            <a:endParaRPr/>
          </a:p>
        </p:txBody>
      </p:sp>
      <p:sp>
        <p:nvSpPr>
          <p:cNvPr id="23" name="Oval 22"/>
          <p:cNvSpPr/>
          <p:nvPr/>
        </p:nvSpPr>
        <p:spPr>
          <a:xfrm>
            <a:off x="914400" y="5029200"/>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D</a:t>
            </a:r>
          </a:p>
        </p:txBody>
      </p:sp>
      <p:sp>
        <p:nvSpPr>
          <p:cNvPr id="24" name="TextBox 23"/>
          <p:cNvSpPr txBox="1"/>
          <p:nvPr/>
        </p:nvSpPr>
        <p:spPr>
          <a:xfrm>
            <a:off x="1645919" y="4901184"/>
            <a:ext cx="6949440" cy="804672"/>
          </a:xfrm>
          <a:prstGeom prst="rect">
            <a:avLst/>
          </a:prstGeom>
          <a:noFill/>
        </p:spPr>
        <p:txBody>
          <a:bodyPr wrap="square" lIns="0" tIns="0" rIns="0" bIns="0" anchor="ctr">
            <a:spAutoFit/>
          </a:bodyPr>
          <a:lstStyle/>
          <a:p>
            <a:pPr algn="l"/>
            <a:r>
              <a:rPr sz="1700" b="0" i="0">
                <a:solidFill>
                  <a:srgbClr val="1F2A33"/>
                </a:solidFill>
              </a:rPr>
              <a:t>Together the two predictors account for about 46% of the variation in trust.</a:t>
            </a:r>
          </a:p>
          <a:p>
            <a:pPr algn="l"/>
            <a:r>
              <a:rPr sz="1400" b="0" i="0">
                <a:solidFill>
                  <a:srgbClr val="55606B"/>
                </a:solidFill>
              </a:rPr>
              <a:t>R² = 0.455.</a:t>
            </a:r>
          </a:p>
        </p:txBody>
      </p:sp>
      <p:sp>
        <p:nvSpPr>
          <p:cNvPr id="25" name="Verdict 4"/>
          <p:cNvSpPr/>
          <p:nvPr/>
        </p:nvSpPr>
        <p:spPr>
          <a:xfrm>
            <a:off x="8823960" y="5038344"/>
            <a:ext cx="2377440" cy="530352"/>
          </a:xfrm>
          <a:prstGeom prst="roundRect">
            <a:avLst>
              <a:gd name="adj" fmla="val 8000"/>
            </a:avLst>
          </a:prstGeom>
          <a:solidFill>
            <a:srgbClr val="2E6B45"/>
          </a:solidFill>
          <a:ln>
            <a:noFill/>
          </a:ln>
        </p:spPr>
        <p:txBody>
          <a:bodyPr rtlCol="0" anchor="ctr"/>
          <a:lstStyle/>
          <a:p>
            <a:endParaRPr/>
          </a:p>
        </p:txBody>
      </p:sp>
      <p:sp>
        <p:nvSpPr>
          <p:cNvPr id="26" name="TextBox 25"/>
          <p:cNvSpPr txBox="1"/>
          <p:nvPr/>
        </p:nvSpPr>
        <p:spPr>
          <a:xfrm>
            <a:off x="8823960" y="5038344"/>
            <a:ext cx="2377440" cy="530352"/>
          </a:xfrm>
          <a:prstGeom prst="rect">
            <a:avLst/>
          </a:prstGeom>
          <a:noFill/>
        </p:spPr>
        <p:txBody>
          <a:bodyPr wrap="square" lIns="0" tIns="0" rIns="0" bIns="0" anchor="ctr">
            <a:spAutoFit/>
          </a:bodyPr>
          <a:lstStyle/>
          <a:p>
            <a:pPr algn="ctr"/>
            <a:r>
              <a:rPr sz="1800" b="1" i="0">
                <a:solidFill>
                  <a:srgbClr val="FFFFFF"/>
                </a:solidFill>
              </a:rPr>
              <a:t>Right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Categorical</a:t>
            </a:r>
          </a:p>
          <a:p>
            <a:r>
              <a:rPr sz="4000"/>
              <a:t>predictors</a:t>
            </a:r>
          </a:p>
        </p:txBody>
      </p:sp>
      <p:sp>
        <p:nvSpPr>
          <p:cNvPr id="3" name="Text Placeholder 2"/>
          <p:cNvSpPr>
            <a:spLocks noGrp="1"/>
          </p:cNvSpPr>
          <p:nvPr>
            <p:ph type="body" sz="half" idx="2"/>
          </p:nvPr>
        </p:nvSpPr>
        <p:spPr/>
        <p:txBody>
          <a:bodyPr/>
          <a:lstStyle/>
          <a:p>
            <a:r>
              <a:rPr sz="2400"/>
              <a:t>Worksheet 3, Exercise 3.3</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22</a:t>
            </a:fld>
            <a:endParaRPr lang="en-GB"/>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Trust across world regions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23</a:t>
            </a:fld>
            <a:endParaRPr lang="en-GB"/>
          </a:p>
        </p:txBody>
      </p:sp>
      <p:graphicFrame>
        <p:nvGraphicFramePr>
          <p:cNvPr id="6" name="Region means"/>
          <p:cNvGraphicFramePr>
            <a:graphicFrameLocks noGrp="1"/>
          </p:cNvGraphicFramePr>
          <p:nvPr/>
        </p:nvGraphicFramePr>
        <p:xfrm>
          <a:off x="758952" y="1325880"/>
          <a:ext cx="75895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595360" y="1417320"/>
            <a:ext cx="2770632" cy="214884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8796528" y="1578254"/>
            <a:ext cx="2368296" cy="1826971"/>
          </a:xfrm>
          <a:prstGeom prst="rect">
            <a:avLst/>
          </a:prstGeom>
          <a:noFill/>
        </p:spPr>
        <p:txBody>
          <a:bodyPr wrap="square" lIns="0" tIns="0" rIns="0" bIns="0" anchor="t">
            <a:spAutoFit/>
          </a:bodyPr>
          <a:lstStyle/>
          <a:p>
            <a:pPr algn="l">
              <a:spcAft>
                <a:spcPts val="400"/>
              </a:spcAft>
            </a:pPr>
            <a:r>
              <a:rPr sz="2000" b="1" i="0">
                <a:solidFill>
                  <a:srgbClr val="1F394D"/>
                </a:solidFill>
              </a:rPr>
              <a:t>Grand mean</a:t>
            </a:r>
          </a:p>
          <a:p>
            <a:pPr algn="l">
              <a:spcAft>
                <a:spcPts val="400"/>
              </a:spcAft>
            </a:pPr>
            <a:r>
              <a:rPr sz="1600" b="0" i="0">
                <a:solidFill>
                  <a:srgbClr val="1F2A33"/>
                </a:solidFill>
              </a:rPr>
              <a:t>28.3% across all 60 countries</a:t>
            </a:r>
          </a:p>
        </p:txBody>
      </p:sp>
      <p:sp>
        <p:nvSpPr>
          <p:cNvPr id="9" name="Rounded Rectangle 8"/>
          <p:cNvSpPr/>
          <p:nvPr/>
        </p:nvSpPr>
        <p:spPr>
          <a:xfrm>
            <a:off x="8595360" y="3749039"/>
            <a:ext cx="2770632" cy="2011680"/>
          </a:xfrm>
          <a:prstGeom prst="roundRect">
            <a:avLst>
              <a:gd name="adj" fmla="val 8000"/>
            </a:avLst>
          </a:prstGeom>
          <a:solidFill>
            <a:srgbClr val="FFFFFF"/>
          </a:solidFill>
          <a:ln w="15875">
            <a:solidFill>
              <a:srgbClr val="B88C00"/>
            </a:solidFill>
          </a:ln>
        </p:spPr>
        <p:txBody>
          <a:bodyPr rtlCol="0" anchor="ctr"/>
          <a:lstStyle/>
          <a:p>
            <a:endParaRPr/>
          </a:p>
        </p:txBody>
      </p:sp>
      <p:sp>
        <p:nvSpPr>
          <p:cNvPr id="10" name="TextBox 9"/>
          <p:cNvSpPr txBox="1"/>
          <p:nvPr/>
        </p:nvSpPr>
        <p:spPr>
          <a:xfrm>
            <a:off x="8796528" y="3909974"/>
            <a:ext cx="2368296" cy="1689811"/>
          </a:xfrm>
          <a:prstGeom prst="rect">
            <a:avLst/>
          </a:prstGeom>
          <a:noFill/>
        </p:spPr>
        <p:txBody>
          <a:bodyPr wrap="square" lIns="0" tIns="0" rIns="0" bIns="0" anchor="t">
            <a:spAutoFit/>
          </a:bodyPr>
          <a:lstStyle/>
          <a:p>
            <a:pPr algn="l">
              <a:spcAft>
                <a:spcPts val="400"/>
              </a:spcAft>
            </a:pPr>
            <a:r>
              <a:rPr sz="1900" b="1" i="0">
                <a:solidFill>
                  <a:srgbClr val="1F394D"/>
                </a:solidFill>
              </a:rPr>
              <a:t>Watch the n</a:t>
            </a:r>
          </a:p>
          <a:p>
            <a:pPr algn="l">
              <a:spcAft>
                <a:spcPts val="400"/>
              </a:spcAft>
            </a:pPr>
            <a:r>
              <a:rPr sz="1600" b="0" i="0">
                <a:solidFill>
                  <a:srgbClr val="1F2A33"/>
                </a:solidFill>
              </a:rPr>
              <a:t>Africa and Oceania: two countries each.</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How regression handles categories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24</a:t>
            </a:fld>
            <a:endParaRPr lang="en-GB"/>
          </a:p>
        </p:txBody>
      </p:sp>
      <p:graphicFrame>
        <p:nvGraphicFramePr>
          <p:cNvPr id="6" name="Table 5"/>
          <p:cNvGraphicFramePr>
            <a:graphicFrameLocks noGrp="1"/>
          </p:cNvGraphicFramePr>
          <p:nvPr/>
        </p:nvGraphicFramePr>
        <p:xfrm>
          <a:off x="758952" y="1417320"/>
          <a:ext cx="6949440" cy="3840480"/>
        </p:xfrm>
        <a:graphic>
          <a:graphicData uri="http://schemas.openxmlformats.org/drawingml/2006/table">
            <a:tbl>
              <a:tblPr firstRow="1">
                <a:tableStyleId>{5C22544A-7EE6-4342-B048-85BDC9FD1C3A}</a:tableStyleId>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48640">
                <a:tc>
                  <a:txBody>
                    <a:bodyPr/>
                    <a:lstStyle/>
                    <a:p>
                      <a:pPr algn="l"/>
                      <a:r>
                        <a:rPr sz="1600" b="1">
                          <a:solidFill>
                            <a:srgbClr val="FFFFFF"/>
                          </a:solidFill>
                        </a:rPr>
                        <a:t>Coefficient (reference: Western Europe)</a:t>
                      </a:r>
                    </a:p>
                  </a:txBody>
                  <a:tcPr marT="27432" marB="27432" anchor="ctr">
                    <a:solidFill>
                      <a:srgbClr val="1F394D"/>
                    </a:solidFill>
                  </a:tcPr>
                </a:tc>
                <a:tc>
                  <a:txBody>
                    <a:bodyPr/>
                    <a:lstStyle/>
                    <a:p>
                      <a:pPr algn="r"/>
                      <a:r>
                        <a:rPr sz="1600" b="1">
                          <a:solidFill>
                            <a:srgbClr val="FFFFFF"/>
                          </a:solidFill>
                        </a:rPr>
                        <a:t>Estimate</a:t>
                      </a:r>
                    </a:p>
                  </a:txBody>
                  <a:tcPr marT="27432" marB="27432" anchor="ctr">
                    <a:solidFill>
                      <a:srgbClr val="1F394D"/>
                    </a:solidFill>
                  </a:tcPr>
                </a:tc>
                <a:tc>
                  <a:txBody>
                    <a:bodyPr/>
                    <a:lstStyle/>
                    <a:p>
                      <a:pPr algn="r"/>
                      <a:r>
                        <a:rPr sz="1600" b="1">
                          <a:solidFill>
                            <a:srgbClr val="FFFFFF"/>
                          </a:solidFill>
                        </a:rPr>
                        <a:t>= region mean − 40.661</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600" b="1">
                          <a:solidFill>
                            <a:srgbClr val="1F2A33"/>
                          </a:solidFill>
                        </a:rPr>
                        <a:t>(Intercept) = Western Europe mean</a:t>
                      </a:r>
                    </a:p>
                  </a:txBody>
                  <a:tcPr marT="27432" marB="27432" anchor="ctr">
                    <a:solidFill>
                      <a:srgbClr val="F6E7B8"/>
                    </a:solidFill>
                  </a:tcPr>
                </a:tc>
                <a:tc>
                  <a:txBody>
                    <a:bodyPr/>
                    <a:lstStyle/>
                    <a:p>
                      <a:pPr algn="r"/>
                      <a:r>
                        <a:rPr sz="1600" b="0">
                          <a:solidFill>
                            <a:srgbClr val="1F2A33"/>
                          </a:solidFill>
                        </a:rPr>
                        <a:t>40.66</a:t>
                      </a:r>
                    </a:p>
                  </a:txBody>
                  <a:tcPr marT="27432" marB="27432" anchor="ctr">
                    <a:solidFill>
                      <a:srgbClr val="F6E7B8"/>
                    </a:solidFill>
                  </a:tcPr>
                </a:tc>
                <a:tc>
                  <a:txBody>
                    <a:bodyPr/>
                    <a:lstStyle/>
                    <a:p>
                      <a:pPr algn="r"/>
                      <a:endParaRPr/>
                    </a:p>
                  </a:txBody>
                  <a:tcPr marT="27432" marB="27432" anchor="ctr">
                    <a:solidFill>
                      <a:srgbClr val="F6E7B8"/>
                    </a:solidFill>
                  </a:tcPr>
                </a:tc>
                <a:extLst>
                  <a:ext uri="{0D108BD9-81ED-4DB2-BD59-A6C34878D82A}">
                    <a16:rowId xmlns:a16="http://schemas.microsoft.com/office/drawing/2014/main" val="10001"/>
                  </a:ext>
                </a:extLst>
              </a:tr>
              <a:tr h="548640">
                <a:tc>
                  <a:txBody>
                    <a:bodyPr/>
                    <a:lstStyle/>
                    <a:p>
                      <a:pPr algn="l"/>
                      <a:r>
                        <a:rPr sz="1600" b="1">
                          <a:solidFill>
                            <a:srgbClr val="1F2A33"/>
                          </a:solidFill>
                        </a:rPr>
                        <a:t>Region (Oceania)</a:t>
                      </a:r>
                    </a:p>
                  </a:txBody>
                  <a:tcPr marT="27432" marB="27432" anchor="ctr">
                    <a:solidFill>
                      <a:srgbClr val="EEF3F7"/>
                    </a:solidFill>
                  </a:tcPr>
                </a:tc>
                <a:tc>
                  <a:txBody>
                    <a:bodyPr/>
                    <a:lstStyle/>
                    <a:p>
                      <a:pPr algn="r"/>
                      <a:r>
                        <a:rPr sz="1600" b="0">
                          <a:solidFill>
                            <a:srgbClr val="1F2A33"/>
                          </a:solidFill>
                        </a:rPr>
                        <a:t>+3.89</a:t>
                      </a:r>
                    </a:p>
                  </a:txBody>
                  <a:tcPr marT="27432" marB="27432" anchor="ctr">
                    <a:solidFill>
                      <a:srgbClr val="EEF3F7"/>
                    </a:solidFill>
                  </a:tcPr>
                </a:tc>
                <a:tc>
                  <a:txBody>
                    <a:bodyPr/>
                    <a:lstStyle/>
                    <a:p>
                      <a:pPr algn="r"/>
                      <a:r>
                        <a:rPr sz="1600" b="0">
                          <a:solidFill>
                            <a:srgbClr val="1F2A33"/>
                          </a:solidFill>
                        </a:rPr>
                        <a:t>44.550 − 40.661</a:t>
                      </a:r>
                    </a:p>
                  </a:txBody>
                  <a:tcPr marT="27432" marB="27432" anchor="ctr">
                    <a:solidFill>
                      <a:srgbClr val="EEF3F7"/>
                    </a:solidFill>
                  </a:tcPr>
                </a:tc>
                <a:extLst>
                  <a:ext uri="{0D108BD9-81ED-4DB2-BD59-A6C34878D82A}">
                    <a16:rowId xmlns:a16="http://schemas.microsoft.com/office/drawing/2014/main" val="10002"/>
                  </a:ext>
                </a:extLst>
              </a:tr>
              <a:tr h="548640">
                <a:tc>
                  <a:txBody>
                    <a:bodyPr/>
                    <a:lstStyle/>
                    <a:p>
                      <a:pPr algn="l"/>
                      <a:r>
                        <a:rPr sz="1600" b="1">
                          <a:solidFill>
                            <a:srgbClr val="1F2A33"/>
                          </a:solidFill>
                        </a:rPr>
                        <a:t>Region (Asia)</a:t>
                      </a:r>
                    </a:p>
                  </a:txBody>
                  <a:tcPr marT="27432" marB="27432" anchor="ctr">
                    <a:solidFill>
                      <a:srgbClr val="FFFFFF"/>
                    </a:solidFill>
                  </a:tcPr>
                </a:tc>
                <a:tc>
                  <a:txBody>
                    <a:bodyPr/>
                    <a:lstStyle/>
                    <a:p>
                      <a:pPr algn="r"/>
                      <a:r>
                        <a:rPr sz="1600" b="0">
                          <a:solidFill>
                            <a:srgbClr val="1F2A33"/>
                          </a:solidFill>
                        </a:rPr>
                        <a:t>−13.96</a:t>
                      </a:r>
                    </a:p>
                  </a:txBody>
                  <a:tcPr marT="27432" marB="27432" anchor="ctr">
                    <a:solidFill>
                      <a:srgbClr val="FFFFFF"/>
                    </a:solidFill>
                  </a:tcPr>
                </a:tc>
                <a:tc>
                  <a:txBody>
                    <a:bodyPr/>
                    <a:lstStyle/>
                    <a:p>
                      <a:pPr algn="r"/>
                      <a:r>
                        <a:rPr sz="1600" b="0">
                          <a:solidFill>
                            <a:srgbClr val="1F2A33"/>
                          </a:solidFill>
                        </a:rPr>
                        <a:t>26.701 − 40.661</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600" b="1">
                          <a:solidFill>
                            <a:srgbClr val="1F2A33"/>
                          </a:solidFill>
                        </a:rPr>
                        <a:t>Region (Eastern Europe)</a:t>
                      </a:r>
                    </a:p>
                  </a:txBody>
                  <a:tcPr marT="27432" marB="27432" anchor="ctr">
                    <a:solidFill>
                      <a:srgbClr val="EEF3F7"/>
                    </a:solidFill>
                  </a:tcPr>
                </a:tc>
                <a:tc>
                  <a:txBody>
                    <a:bodyPr/>
                    <a:lstStyle/>
                    <a:p>
                      <a:pPr algn="r"/>
                      <a:r>
                        <a:rPr sz="1600" b="0">
                          <a:solidFill>
                            <a:srgbClr val="1F2A33"/>
                          </a:solidFill>
                        </a:rPr>
                        <a:t>−17.97</a:t>
                      </a:r>
                    </a:p>
                  </a:txBody>
                  <a:tcPr marT="27432" marB="27432" anchor="ctr">
                    <a:solidFill>
                      <a:srgbClr val="EEF3F7"/>
                    </a:solidFill>
                  </a:tcPr>
                </a:tc>
                <a:tc>
                  <a:txBody>
                    <a:bodyPr/>
                    <a:lstStyle/>
                    <a:p>
                      <a:pPr algn="r"/>
                      <a:r>
                        <a:rPr sz="1600" b="0">
                          <a:solidFill>
                            <a:srgbClr val="1F2A33"/>
                          </a:solidFill>
                        </a:rPr>
                        <a:t>22.688 − 40.661</a:t>
                      </a:r>
                    </a:p>
                  </a:txBody>
                  <a:tcPr marT="27432" marB="27432" anchor="ctr">
                    <a:solidFill>
                      <a:srgbClr val="EEF3F7"/>
                    </a:solidFill>
                  </a:tcPr>
                </a:tc>
                <a:extLst>
                  <a:ext uri="{0D108BD9-81ED-4DB2-BD59-A6C34878D82A}">
                    <a16:rowId xmlns:a16="http://schemas.microsoft.com/office/drawing/2014/main" val="10004"/>
                  </a:ext>
                </a:extLst>
              </a:tr>
              <a:tr h="548640">
                <a:tc>
                  <a:txBody>
                    <a:bodyPr/>
                    <a:lstStyle/>
                    <a:p>
                      <a:pPr algn="l"/>
                      <a:r>
                        <a:rPr sz="1600" b="1">
                          <a:solidFill>
                            <a:srgbClr val="1F2A33"/>
                          </a:solidFill>
                        </a:rPr>
                        <a:t>Region (Americas)</a:t>
                      </a:r>
                    </a:p>
                  </a:txBody>
                  <a:tcPr marT="27432" marB="27432" anchor="ctr">
                    <a:solidFill>
                      <a:srgbClr val="FFFFFF"/>
                    </a:solidFill>
                  </a:tcPr>
                </a:tc>
                <a:tc>
                  <a:txBody>
                    <a:bodyPr/>
                    <a:lstStyle/>
                    <a:p>
                      <a:pPr algn="r"/>
                      <a:r>
                        <a:rPr sz="1600" b="0">
                          <a:solidFill>
                            <a:srgbClr val="1F2A33"/>
                          </a:solidFill>
                        </a:rPr>
                        <a:t>−19.16</a:t>
                      </a:r>
                    </a:p>
                  </a:txBody>
                  <a:tcPr marT="27432" marB="27432" anchor="ctr">
                    <a:solidFill>
                      <a:srgbClr val="FFFFFF"/>
                    </a:solidFill>
                  </a:tcPr>
                </a:tc>
                <a:tc>
                  <a:txBody>
                    <a:bodyPr/>
                    <a:lstStyle/>
                    <a:p>
                      <a:pPr algn="r"/>
                      <a:r>
                        <a:rPr sz="1600" b="0">
                          <a:solidFill>
                            <a:srgbClr val="1F2A33"/>
                          </a:solidFill>
                        </a:rPr>
                        <a:t>21.505 − 40.661</a:t>
                      </a:r>
                    </a:p>
                  </a:txBody>
                  <a:tcPr marT="27432" marB="27432" anchor="ctr">
                    <a:solidFill>
                      <a:srgbClr val="FFFFFF"/>
                    </a:solidFill>
                  </a:tcPr>
                </a:tc>
                <a:extLst>
                  <a:ext uri="{0D108BD9-81ED-4DB2-BD59-A6C34878D82A}">
                    <a16:rowId xmlns:a16="http://schemas.microsoft.com/office/drawing/2014/main" val="10005"/>
                  </a:ext>
                </a:extLst>
              </a:tr>
              <a:tr h="548640">
                <a:tc>
                  <a:txBody>
                    <a:bodyPr/>
                    <a:lstStyle/>
                    <a:p>
                      <a:pPr algn="l"/>
                      <a:r>
                        <a:rPr sz="1600" b="1">
                          <a:solidFill>
                            <a:srgbClr val="1F2A33"/>
                          </a:solidFill>
                        </a:rPr>
                        <a:t>Region (Africa)</a:t>
                      </a:r>
                    </a:p>
                  </a:txBody>
                  <a:tcPr marT="27432" marB="27432" anchor="ctr">
                    <a:solidFill>
                      <a:srgbClr val="EEF3F7"/>
                    </a:solidFill>
                  </a:tcPr>
                </a:tc>
                <a:tc>
                  <a:txBody>
                    <a:bodyPr/>
                    <a:lstStyle/>
                    <a:p>
                      <a:pPr algn="r"/>
                      <a:r>
                        <a:rPr sz="1600" b="0">
                          <a:solidFill>
                            <a:srgbClr val="1F2A33"/>
                          </a:solidFill>
                        </a:rPr>
                        <a:t>−24.09</a:t>
                      </a:r>
                    </a:p>
                  </a:txBody>
                  <a:tcPr marT="27432" marB="27432" anchor="ctr">
                    <a:solidFill>
                      <a:srgbClr val="EEF3F7"/>
                    </a:solidFill>
                  </a:tcPr>
                </a:tc>
                <a:tc>
                  <a:txBody>
                    <a:bodyPr/>
                    <a:lstStyle/>
                    <a:p>
                      <a:pPr algn="r"/>
                      <a:r>
                        <a:rPr sz="1600" b="0">
                          <a:solidFill>
                            <a:srgbClr val="1F2A33"/>
                          </a:solidFill>
                        </a:rPr>
                        <a:t>16.570 − 40.661</a:t>
                      </a:r>
                    </a:p>
                  </a:txBody>
                  <a:tcPr marT="27432" marB="27432" anchor="ctr">
                    <a:solidFill>
                      <a:srgbClr val="EEF3F7"/>
                    </a:solidFill>
                  </a:tcPr>
                </a:tc>
                <a:extLst>
                  <a:ext uri="{0D108BD9-81ED-4DB2-BD59-A6C34878D82A}">
                    <a16:rowId xmlns:a16="http://schemas.microsoft.com/office/drawing/2014/main" val="10006"/>
                  </a:ext>
                </a:extLst>
              </a:tr>
            </a:tbl>
          </a:graphicData>
        </a:graphic>
      </p:graphicFrame>
      <p:sp>
        <p:nvSpPr>
          <p:cNvPr id="7" name="Rounded Rectangle 6"/>
          <p:cNvSpPr/>
          <p:nvPr/>
        </p:nvSpPr>
        <p:spPr>
          <a:xfrm>
            <a:off x="7955279" y="1417320"/>
            <a:ext cx="3410712" cy="21031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8156448" y="1578254"/>
            <a:ext cx="3008376" cy="1781251"/>
          </a:xfrm>
          <a:prstGeom prst="rect">
            <a:avLst/>
          </a:prstGeom>
          <a:noFill/>
        </p:spPr>
        <p:txBody>
          <a:bodyPr wrap="square" lIns="0" tIns="0" rIns="0" bIns="0" anchor="t">
            <a:spAutoFit/>
          </a:bodyPr>
          <a:lstStyle/>
          <a:p>
            <a:pPr algn="l">
              <a:spcAft>
                <a:spcPts val="400"/>
              </a:spcAft>
            </a:pPr>
            <a:r>
              <a:rPr sz="1900" b="1" i="0">
                <a:solidFill>
                  <a:srgbClr val="FFFFFF"/>
                </a:solidFill>
              </a:rPr>
              <a:t>Each coefficient is a gap</a:t>
            </a:r>
          </a:p>
          <a:p>
            <a:pPr algn="l">
              <a:spcAft>
                <a:spcPts val="400"/>
              </a:spcAft>
            </a:pPr>
            <a:r>
              <a:rPr sz="1600" b="0" i="0">
                <a:solidFill>
                  <a:srgbClr val="CCDDEA"/>
                </a:solidFill>
              </a:rPr>
              <a:t>from the reference category, holding any other predictors constant.</a:t>
            </a:r>
          </a:p>
        </p:txBody>
      </p:sp>
      <p:sp>
        <p:nvSpPr>
          <p:cNvPr id="9" name="Rounded Rectangle 8"/>
          <p:cNvSpPr/>
          <p:nvPr/>
        </p:nvSpPr>
        <p:spPr>
          <a:xfrm>
            <a:off x="7955279" y="3703320"/>
            <a:ext cx="3410712" cy="20574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8156448" y="3864254"/>
            <a:ext cx="3008376" cy="1735531"/>
          </a:xfrm>
          <a:prstGeom prst="rect">
            <a:avLst/>
          </a:prstGeom>
          <a:noFill/>
        </p:spPr>
        <p:txBody>
          <a:bodyPr wrap="square" lIns="0" tIns="0" rIns="0" bIns="0" anchor="t">
            <a:spAutoFit/>
          </a:bodyPr>
          <a:lstStyle/>
          <a:p>
            <a:pPr algn="l">
              <a:spcAft>
                <a:spcPts val="400"/>
              </a:spcAft>
            </a:pPr>
            <a:r>
              <a:rPr sz="1900" b="1" i="0">
                <a:solidFill>
                  <a:srgbClr val="1F394D"/>
                </a:solidFill>
              </a:rPr>
              <a:t>Choose the reference</a:t>
            </a:r>
          </a:p>
          <a:p>
            <a:pPr algn="l">
              <a:spcAft>
                <a:spcPts val="400"/>
              </a:spcAft>
            </a:pPr>
            <a:r>
              <a:rPr sz="1600" b="0" i="0">
                <a:solidFill>
                  <a:srgbClr val="1F2A33"/>
                </a:solidFill>
              </a:rPr>
              <a:t>Pick a large, meaningful group. JASP uses the first category.</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 R² = 0.38.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 two-category predictor: Protestant tradition</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25</a:t>
            </a:fld>
            <a:endParaRPr lang="en-GB"/>
          </a:p>
        </p:txBody>
      </p:sp>
      <p:graphicFrame>
        <p:nvGraphicFramePr>
          <p:cNvPr id="6" name="Protestant means"/>
          <p:cNvGraphicFramePr>
            <a:graphicFrameLocks noGrp="1"/>
          </p:cNvGraphicFramePr>
          <p:nvPr/>
        </p:nvGraphicFramePr>
        <p:xfrm>
          <a:off x="758952" y="1325880"/>
          <a:ext cx="4389120" cy="4480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able 6"/>
          <p:cNvGraphicFramePr>
            <a:graphicFrameLocks noGrp="1"/>
          </p:cNvGraphicFramePr>
          <p:nvPr/>
        </p:nvGraphicFramePr>
        <p:xfrm>
          <a:off x="5394960" y="1417320"/>
          <a:ext cx="5971032" cy="2852928"/>
        </p:xfrm>
        <a:graphic>
          <a:graphicData uri="http://schemas.openxmlformats.org/drawingml/2006/table">
            <a:tbl>
              <a:tblPr first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475488">
                <a:tc>
                  <a:txBody>
                    <a:bodyPr/>
                    <a:lstStyle/>
                    <a:p>
                      <a:pPr algn="l"/>
                      <a:r>
                        <a:rPr sz="1500" b="1">
                          <a:solidFill>
                            <a:srgbClr val="FFFFFF"/>
                          </a:solidFill>
                        </a:rPr>
                        <a:t>Predictor</a:t>
                      </a:r>
                    </a:p>
                  </a:txBody>
                  <a:tcPr marT="27432" marB="27432" anchor="ctr">
                    <a:solidFill>
                      <a:srgbClr val="1F394D"/>
                    </a:solidFill>
                  </a:tcPr>
                </a:tc>
                <a:tc>
                  <a:txBody>
                    <a:bodyPr/>
                    <a:lstStyle/>
                    <a:p>
                      <a:pPr algn="r"/>
                      <a:r>
                        <a:rPr sz="1500" b="1">
                          <a:solidFill>
                            <a:srgbClr val="FFFFFF"/>
                          </a:solidFill>
                        </a:rPr>
                        <a:t>Model A</a:t>
                      </a:r>
                    </a:p>
                  </a:txBody>
                  <a:tcPr marT="27432" marB="27432" anchor="ctr">
                    <a:solidFill>
                      <a:srgbClr val="1F394D"/>
                    </a:solidFill>
                  </a:tcPr>
                </a:tc>
                <a:tc>
                  <a:txBody>
                    <a:bodyPr/>
                    <a:lstStyle/>
                    <a:p>
                      <a:pPr algn="r"/>
                      <a:r>
                        <a:rPr sz="1500" b="1">
                          <a:solidFill>
                            <a:srgbClr val="FFFFFF"/>
                          </a:solidFill>
                        </a:rPr>
                        <a:t>Model B</a:t>
                      </a:r>
                    </a:p>
                  </a:txBody>
                  <a:tcPr marT="27432" marB="27432" anchor="ctr">
                    <a:solidFill>
                      <a:srgbClr val="1F394D"/>
                    </a:solidFill>
                  </a:tcPr>
                </a:tc>
                <a:extLst>
                  <a:ext uri="{0D108BD9-81ED-4DB2-BD59-A6C34878D82A}">
                    <a16:rowId xmlns:a16="http://schemas.microsoft.com/office/drawing/2014/main" val="10000"/>
                  </a:ext>
                </a:extLst>
              </a:tr>
              <a:tr h="475488">
                <a:tc>
                  <a:txBody>
                    <a:bodyPr/>
                    <a:lstStyle/>
                    <a:p>
                      <a:pPr algn="l"/>
                      <a:r>
                        <a:rPr sz="1500" b="1">
                          <a:solidFill>
                            <a:srgbClr val="1F2A33"/>
                          </a:solidFill>
                        </a:rPr>
                        <a:t>(Intercept)</a:t>
                      </a:r>
                    </a:p>
                  </a:txBody>
                  <a:tcPr marT="27432" marB="27432" anchor="ctr">
                    <a:solidFill>
                      <a:srgbClr val="FFFFFF"/>
                    </a:solidFill>
                  </a:tcPr>
                </a:tc>
                <a:tc>
                  <a:txBody>
                    <a:bodyPr/>
                    <a:lstStyle/>
                    <a:p>
                      <a:pPr algn="r"/>
                      <a:r>
                        <a:rPr sz="1500" b="0">
                          <a:solidFill>
                            <a:srgbClr val="1F2A33"/>
                          </a:solidFill>
                        </a:rPr>
                        <a:t>24.81</a:t>
                      </a:r>
                    </a:p>
                  </a:txBody>
                  <a:tcPr marT="27432" marB="27432" anchor="ctr">
                    <a:solidFill>
                      <a:srgbClr val="FFFFFF"/>
                    </a:solidFill>
                  </a:tcPr>
                </a:tc>
                <a:tc>
                  <a:txBody>
                    <a:bodyPr/>
                    <a:lstStyle/>
                    <a:p>
                      <a:pPr algn="r"/>
                      <a:r>
                        <a:rPr sz="1500" b="0">
                          <a:solidFill>
                            <a:srgbClr val="1F2A33"/>
                          </a:solidFill>
                        </a:rPr>
                        <a:t>44.32</a:t>
                      </a:r>
                    </a:p>
                  </a:txBody>
                  <a:tcPr marT="27432" marB="27432" anchor="ctr">
                    <a:solidFill>
                      <a:srgbClr val="FFFFFF"/>
                    </a:solidFill>
                  </a:tcPr>
                </a:tc>
                <a:extLst>
                  <a:ext uri="{0D108BD9-81ED-4DB2-BD59-A6C34878D82A}">
                    <a16:rowId xmlns:a16="http://schemas.microsoft.com/office/drawing/2014/main" val="10001"/>
                  </a:ext>
                </a:extLst>
              </a:tr>
              <a:tr h="475488">
                <a:tc>
                  <a:txBody>
                    <a:bodyPr/>
                    <a:lstStyle/>
                    <a:p>
                      <a:pPr algn="l"/>
                      <a:r>
                        <a:rPr sz="1500" b="1">
                          <a:solidFill>
                            <a:srgbClr val="1F2A33"/>
                          </a:solidFill>
                        </a:rPr>
                        <a:t>Protestantism (1 = yes)</a:t>
                      </a:r>
                    </a:p>
                  </a:txBody>
                  <a:tcPr marT="27432" marB="27432" anchor="ctr">
                    <a:solidFill>
                      <a:srgbClr val="F6E7B8"/>
                    </a:solidFill>
                  </a:tcPr>
                </a:tc>
                <a:tc>
                  <a:txBody>
                    <a:bodyPr/>
                    <a:lstStyle/>
                    <a:p>
                      <a:pPr algn="r"/>
                      <a:r>
                        <a:rPr sz="1500" b="0">
                          <a:solidFill>
                            <a:srgbClr val="1F2A33"/>
                          </a:solidFill>
                        </a:rPr>
                        <a:t>23.45</a:t>
                      </a:r>
                    </a:p>
                  </a:txBody>
                  <a:tcPr marT="27432" marB="27432" anchor="ctr">
                    <a:solidFill>
                      <a:srgbClr val="F6E7B8"/>
                    </a:solidFill>
                  </a:tcPr>
                </a:tc>
                <a:tc>
                  <a:txBody>
                    <a:bodyPr/>
                    <a:lstStyle/>
                    <a:p>
                      <a:pPr algn="r"/>
                      <a:r>
                        <a:rPr sz="1500" b="0">
                          <a:solidFill>
                            <a:srgbClr val="1F2A33"/>
                          </a:solidFill>
                        </a:rPr>
                        <a:t>19.11</a:t>
                      </a:r>
                    </a:p>
                  </a:txBody>
                  <a:tcPr marT="27432" marB="27432" anchor="ctr">
                    <a:solidFill>
                      <a:srgbClr val="F6E7B8"/>
                    </a:solidFill>
                  </a:tcPr>
                </a:tc>
                <a:extLst>
                  <a:ext uri="{0D108BD9-81ED-4DB2-BD59-A6C34878D82A}">
                    <a16:rowId xmlns:a16="http://schemas.microsoft.com/office/drawing/2014/main" val="10002"/>
                  </a:ext>
                </a:extLst>
              </a:tr>
              <a:tr h="475488">
                <a:tc>
                  <a:txBody>
                    <a:bodyPr/>
                    <a:lstStyle/>
                    <a:p>
                      <a:pPr algn="l"/>
                      <a:r>
                        <a:rPr sz="1500" b="1">
                          <a:solidFill>
                            <a:srgbClr val="1F2A33"/>
                          </a:solidFill>
                        </a:rPr>
                        <a:t>Income inequality (Gini, 0 to 100)</a:t>
                      </a:r>
                    </a:p>
                  </a:txBody>
                  <a:tcPr marT="27432" marB="27432" anchor="ctr">
                    <a:solidFill>
                      <a:srgbClr val="FFFFFF"/>
                    </a:solidFill>
                  </a:tcPr>
                </a:tc>
                <a:tc>
                  <a:txBody>
                    <a:bodyPr/>
                    <a:lstStyle/>
                    <a:p>
                      <a:pPr algn="r"/>
                      <a:endParaRPr/>
                    </a:p>
                  </a:txBody>
                  <a:tcPr marT="27432" marB="27432" anchor="ctr">
                    <a:solidFill>
                      <a:srgbClr val="FFFFFF"/>
                    </a:solidFill>
                  </a:tcPr>
                </a:tc>
                <a:tc>
                  <a:txBody>
                    <a:bodyPr/>
                    <a:lstStyle/>
                    <a:p>
                      <a:pPr algn="r"/>
                      <a:r>
                        <a:rPr sz="1500" b="0">
                          <a:solidFill>
                            <a:srgbClr val="1F2A33"/>
                          </a:solidFill>
                        </a:rPr>
                        <a:t>−0.53</a:t>
                      </a:r>
                    </a:p>
                  </a:txBody>
                  <a:tcPr marT="27432" marB="27432" anchor="ctr">
                    <a:solidFill>
                      <a:srgbClr val="FFFFFF"/>
                    </a:solidFill>
                  </a:tcPr>
                </a:tc>
                <a:extLst>
                  <a:ext uri="{0D108BD9-81ED-4DB2-BD59-A6C34878D82A}">
                    <a16:rowId xmlns:a16="http://schemas.microsoft.com/office/drawing/2014/main" val="10003"/>
                  </a:ext>
                </a:extLst>
              </a:tr>
              <a:tr h="475488">
                <a:tc>
                  <a:txBody>
                    <a:bodyPr/>
                    <a:lstStyle/>
                    <a:p>
                      <a:pPr algn="l"/>
                      <a:r>
                        <a:rPr sz="1500" b="1">
                          <a:solidFill>
                            <a:srgbClr val="1F2A33"/>
                          </a:solidFill>
                        </a:rPr>
                        <a:t>R²</a:t>
                      </a:r>
                    </a:p>
                  </a:txBody>
                  <a:tcPr marT="27432" marB="27432" anchor="ctr">
                    <a:solidFill>
                      <a:srgbClr val="EEF3F7"/>
                    </a:solidFill>
                  </a:tcPr>
                </a:tc>
                <a:tc>
                  <a:txBody>
                    <a:bodyPr/>
                    <a:lstStyle/>
                    <a:p>
                      <a:pPr algn="r"/>
                      <a:r>
                        <a:rPr sz="1500" b="0">
                          <a:solidFill>
                            <a:srgbClr val="1F2A33"/>
                          </a:solidFill>
                        </a:rPr>
                        <a:t>0.357</a:t>
                      </a:r>
                    </a:p>
                  </a:txBody>
                  <a:tcPr marT="27432" marB="27432" anchor="ctr">
                    <a:solidFill>
                      <a:srgbClr val="EEF3F7"/>
                    </a:solidFill>
                  </a:tcPr>
                </a:tc>
                <a:tc>
                  <a:txBody>
                    <a:bodyPr/>
                    <a:lstStyle/>
                    <a:p>
                      <a:pPr algn="r"/>
                      <a:r>
                        <a:rPr sz="1500" b="0">
                          <a:solidFill>
                            <a:srgbClr val="1F2A33"/>
                          </a:solidFill>
                        </a:rPr>
                        <a:t>0.462</a:t>
                      </a:r>
                    </a:p>
                  </a:txBody>
                  <a:tcPr marT="27432" marB="27432" anchor="ctr">
                    <a:solidFill>
                      <a:srgbClr val="EEF3F7"/>
                    </a:solidFill>
                  </a:tcPr>
                </a:tc>
                <a:extLst>
                  <a:ext uri="{0D108BD9-81ED-4DB2-BD59-A6C34878D82A}">
                    <a16:rowId xmlns:a16="http://schemas.microsoft.com/office/drawing/2014/main" val="10004"/>
                  </a:ext>
                </a:extLst>
              </a:tr>
              <a:tr h="475488">
                <a:tc>
                  <a:txBody>
                    <a:bodyPr/>
                    <a:lstStyle/>
                    <a:p>
                      <a:pPr algn="l"/>
                      <a:r>
                        <a:rPr sz="1500" b="1">
                          <a:solidFill>
                            <a:srgbClr val="1F2A33"/>
                          </a:solidFill>
                        </a:rPr>
                        <a:t>n</a:t>
                      </a:r>
                    </a:p>
                  </a:txBody>
                  <a:tcPr marT="27432" marB="27432" anchor="ctr">
                    <a:solidFill>
                      <a:srgbClr val="FFFFFF"/>
                    </a:solidFill>
                  </a:tcPr>
                </a:tc>
                <a:tc>
                  <a:txBody>
                    <a:bodyPr/>
                    <a:lstStyle/>
                    <a:p>
                      <a:pPr algn="r"/>
                      <a:r>
                        <a:rPr sz="1500" b="0">
                          <a:solidFill>
                            <a:srgbClr val="1F2A33"/>
                          </a:solidFill>
                        </a:rPr>
                        <a:t>60</a:t>
                      </a:r>
                    </a:p>
                  </a:txBody>
                  <a:tcPr marT="27432" marB="27432" anchor="ctr">
                    <a:solidFill>
                      <a:srgbClr val="FFFFFF"/>
                    </a:solidFill>
                  </a:tcPr>
                </a:tc>
                <a:tc>
                  <a:txBody>
                    <a:bodyPr/>
                    <a:lstStyle/>
                    <a:p>
                      <a:pPr algn="r"/>
                      <a:r>
                        <a:rPr sz="1500" b="0">
                          <a:solidFill>
                            <a:srgbClr val="1F2A33"/>
                          </a:solidFill>
                        </a:rPr>
                        <a:t>60</a:t>
                      </a:r>
                    </a:p>
                  </a:txBody>
                  <a:tcPr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394960" y="4434840"/>
            <a:ext cx="5971032" cy="132588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5577840" y="4581144"/>
            <a:ext cx="5605272" cy="1033271"/>
          </a:xfrm>
          <a:prstGeom prst="rect">
            <a:avLst/>
          </a:prstGeom>
          <a:noFill/>
        </p:spPr>
        <p:txBody>
          <a:bodyPr wrap="square" lIns="0" tIns="0" rIns="0" bIns="0" anchor="ctr">
            <a:spAutoFit/>
          </a:bodyPr>
          <a:lstStyle/>
          <a:p>
            <a:pPr algn="l"/>
            <a:r>
              <a:rPr sz="1600" b="1" i="0">
                <a:solidFill>
                  <a:srgbClr val="1F394D"/>
                </a:solidFill>
              </a:rPr>
              <a:t>Protestant countries: 23.4 points higher on average; 19.1 points among countries with the same Gini.</a:t>
            </a:r>
          </a:p>
        </p:txBody>
      </p:sp>
      <p:sp>
        <p:nvSpPr>
          <p:cNvPr id="10" name="TextBox 9"/>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Activity: use the region coefficients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26</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What trust does the model predict for a country in Asia?</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How much higher is predicted trust in Asia than in Eastern Europe?</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If Africa were the reference, what would Western Europe’s coefficient be?</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Why is the Africa coefficient unreliable?</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Intercept 40.66    Asia −13.96    Eastern Europe −17.97    Africa −24.09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Region coefficients: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27</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What trust does the model predict for a country in Asia?</a:t>
            </a:r>
          </a:p>
          <a:p>
            <a:pPr algn="l">
              <a:spcBef>
                <a:spcPts val="400"/>
              </a:spcBef>
            </a:pPr>
            <a:r>
              <a:rPr sz="1800" b="1" i="0">
                <a:solidFill>
                  <a:srgbClr val="2E6B45"/>
                </a:solidFill>
              </a:rPr>
              <a:t>40.66 − 13.96 = 26.70%</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How much higher is predicted trust in Asia than in Eastern Europe?</a:t>
            </a:r>
          </a:p>
          <a:p>
            <a:pPr algn="l">
              <a:spcBef>
                <a:spcPts val="400"/>
              </a:spcBef>
            </a:pPr>
            <a:r>
              <a:rPr sz="1800" b="1" i="0">
                <a:solidFill>
                  <a:srgbClr val="2E6B45"/>
                </a:solidFill>
              </a:rPr>
              <a:t>−13.96 − (−17.97) = 4.01 points</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If Africa were the reference, what would Western Europe’s coefficient be?</a:t>
            </a:r>
          </a:p>
          <a:p>
            <a:pPr algn="l">
              <a:spcBef>
                <a:spcPts val="400"/>
              </a:spcBef>
            </a:pPr>
            <a:r>
              <a:rPr sz="1800" b="1" i="0">
                <a:solidFill>
                  <a:srgbClr val="2E6B45"/>
                </a:solidFill>
              </a:rPr>
              <a:t>+24.09</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Why is the Africa coefficient unreliable?</a:t>
            </a:r>
          </a:p>
          <a:p>
            <a:pPr algn="l">
              <a:spcBef>
                <a:spcPts val="400"/>
              </a:spcBef>
            </a:pPr>
            <a:r>
              <a:rPr sz="1800" b="1" i="0">
                <a:solidFill>
                  <a:srgbClr val="2E6B45"/>
                </a:solidFill>
              </a:rPr>
              <a:t>It rests on two countries</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Intercept 40.66    Asia −13.96    Eastern Europe −17.97    Africa −24.09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Before you trust a regression line</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Card 1"/>
          <p:cNvSpPr/>
          <p:nvPr/>
        </p:nvSpPr>
        <p:spPr>
          <a:xfrm>
            <a:off x="758952" y="1417320"/>
            <a:ext cx="5212080" cy="210312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8755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1</a:t>
            </a:r>
          </a:p>
        </p:txBody>
      </p:sp>
      <p:sp>
        <p:nvSpPr>
          <p:cNvPr id="8" name="TextBox 7"/>
          <p:cNvSpPr txBox="1"/>
          <p:nvPr/>
        </p:nvSpPr>
        <p:spPr>
          <a:xfrm>
            <a:off x="1719072" y="1618488"/>
            <a:ext cx="4023360" cy="640080"/>
          </a:xfrm>
          <a:prstGeom prst="rect">
            <a:avLst/>
          </a:prstGeom>
          <a:noFill/>
        </p:spPr>
        <p:txBody>
          <a:bodyPr wrap="square" lIns="0" tIns="0" rIns="0" bIns="0" anchor="ctr">
            <a:spAutoFit/>
          </a:bodyPr>
          <a:lstStyle/>
          <a:p>
            <a:pPr algn="l"/>
            <a:r>
              <a:rPr sz="2000" b="1" i="0">
                <a:solidFill>
                  <a:srgbClr val="1F394D"/>
                </a:solidFill>
              </a:rPr>
              <a:t>Is it linear?</a:t>
            </a:r>
          </a:p>
        </p:txBody>
      </p:sp>
      <p:sp>
        <p:nvSpPr>
          <p:cNvPr id="9" name="TextBox 8"/>
          <p:cNvSpPr txBox="1"/>
          <p:nvPr/>
        </p:nvSpPr>
        <p:spPr>
          <a:xfrm>
            <a:off x="1719072" y="2313432"/>
            <a:ext cx="4023360" cy="1097279"/>
          </a:xfrm>
          <a:prstGeom prst="rect">
            <a:avLst/>
          </a:prstGeom>
          <a:noFill/>
        </p:spPr>
        <p:txBody>
          <a:bodyPr wrap="square" lIns="0" tIns="0" rIns="0" bIns="0" anchor="t">
            <a:spAutoFit/>
          </a:bodyPr>
          <a:lstStyle/>
          <a:p>
            <a:pPr algn="l"/>
            <a:r>
              <a:rPr sz="1700" b="0" i="0">
                <a:solidFill>
                  <a:srgbClr val="1F2A33"/>
                </a:solidFill>
              </a:rPr>
              <a:t>Plot first: Anscombe’s quartet all share one line.</a:t>
            </a:r>
          </a:p>
        </p:txBody>
      </p:sp>
      <p:sp>
        <p:nvSpPr>
          <p:cNvPr id="10" name="Card 2"/>
          <p:cNvSpPr/>
          <p:nvPr/>
        </p:nvSpPr>
        <p:spPr>
          <a:xfrm>
            <a:off x="6153912" y="1417320"/>
            <a:ext cx="5212080" cy="21031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8251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2</a:t>
            </a:r>
          </a:p>
        </p:txBody>
      </p:sp>
      <p:sp>
        <p:nvSpPr>
          <p:cNvPr id="12" name="TextBox 11"/>
          <p:cNvSpPr txBox="1"/>
          <p:nvPr/>
        </p:nvSpPr>
        <p:spPr>
          <a:xfrm>
            <a:off x="7114032" y="1618488"/>
            <a:ext cx="4023360" cy="640080"/>
          </a:xfrm>
          <a:prstGeom prst="rect">
            <a:avLst/>
          </a:prstGeom>
          <a:noFill/>
        </p:spPr>
        <p:txBody>
          <a:bodyPr wrap="square" lIns="0" tIns="0" rIns="0" bIns="0" anchor="ctr">
            <a:spAutoFit/>
          </a:bodyPr>
          <a:lstStyle/>
          <a:p>
            <a:pPr algn="l"/>
            <a:r>
              <a:rPr sz="2000" b="1" i="0">
                <a:solidFill>
                  <a:srgbClr val="1F394D"/>
                </a:solidFill>
              </a:rPr>
              <a:t>Any influential cases?</a:t>
            </a:r>
          </a:p>
        </p:txBody>
      </p:sp>
      <p:sp>
        <p:nvSpPr>
          <p:cNvPr id="13" name="TextBox 12"/>
          <p:cNvSpPr txBox="1"/>
          <p:nvPr/>
        </p:nvSpPr>
        <p:spPr>
          <a:xfrm>
            <a:off x="7114032" y="2313432"/>
            <a:ext cx="4023360" cy="1097279"/>
          </a:xfrm>
          <a:prstGeom prst="rect">
            <a:avLst/>
          </a:prstGeom>
          <a:noFill/>
        </p:spPr>
        <p:txBody>
          <a:bodyPr wrap="square" lIns="0" tIns="0" rIns="0" bIns="0" anchor="t">
            <a:spAutoFit/>
          </a:bodyPr>
          <a:lstStyle/>
          <a:p>
            <a:pPr algn="l"/>
            <a:r>
              <a:rPr sz="1700" b="0" i="0">
                <a:solidFill>
                  <a:srgbClr val="1F2A33"/>
                </a:solidFill>
              </a:rPr>
              <a:t>One extreme country can tilt the line (Week 2: China).</a:t>
            </a:r>
          </a:p>
        </p:txBody>
      </p:sp>
      <p:sp>
        <p:nvSpPr>
          <p:cNvPr id="14" name="Card 3"/>
          <p:cNvSpPr/>
          <p:nvPr/>
        </p:nvSpPr>
        <p:spPr>
          <a:xfrm>
            <a:off x="758952" y="3749039"/>
            <a:ext cx="5212080" cy="2103120"/>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98755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3</a:t>
            </a:r>
          </a:p>
        </p:txBody>
      </p:sp>
      <p:sp>
        <p:nvSpPr>
          <p:cNvPr id="16" name="TextBox 15"/>
          <p:cNvSpPr txBox="1"/>
          <p:nvPr/>
        </p:nvSpPr>
        <p:spPr>
          <a:xfrm>
            <a:off x="1719072" y="3950207"/>
            <a:ext cx="4023360" cy="640080"/>
          </a:xfrm>
          <a:prstGeom prst="rect">
            <a:avLst/>
          </a:prstGeom>
          <a:noFill/>
        </p:spPr>
        <p:txBody>
          <a:bodyPr wrap="square" lIns="0" tIns="0" rIns="0" bIns="0" anchor="ctr">
            <a:spAutoFit/>
          </a:bodyPr>
          <a:lstStyle/>
          <a:p>
            <a:pPr algn="l"/>
            <a:r>
              <a:rPr sz="2000" b="1" i="0">
                <a:solidFill>
                  <a:srgbClr val="1F394D"/>
                </a:solidFill>
              </a:rPr>
              <a:t>Are predictors too alike?</a:t>
            </a:r>
          </a:p>
        </p:txBody>
      </p:sp>
      <p:sp>
        <p:nvSpPr>
          <p:cNvPr id="17" name="TextBox 16"/>
          <p:cNvSpPr txBox="1"/>
          <p:nvPr/>
        </p:nvSpPr>
        <p:spPr>
          <a:xfrm>
            <a:off x="1719072" y="4645152"/>
            <a:ext cx="4023360" cy="1097279"/>
          </a:xfrm>
          <a:prstGeom prst="rect">
            <a:avLst/>
          </a:prstGeom>
          <a:noFill/>
        </p:spPr>
        <p:txBody>
          <a:bodyPr wrap="square" lIns="0" tIns="0" rIns="0" bIns="0" anchor="t">
            <a:spAutoFit/>
          </a:bodyPr>
          <a:lstStyle/>
          <a:p>
            <a:pPr algn="l"/>
            <a:r>
              <a:rPr sz="1700" b="0" i="0">
                <a:solidFill>
                  <a:srgbClr val="1F2A33"/>
                </a:solidFill>
              </a:rPr>
              <a:t>Check Tolerance and VIF. Inequality and homicides: VIF = 1.28, fine.</a:t>
            </a:r>
          </a:p>
        </p:txBody>
      </p:sp>
      <p:sp>
        <p:nvSpPr>
          <p:cNvPr id="18" name="Card 4"/>
          <p:cNvSpPr/>
          <p:nvPr/>
        </p:nvSpPr>
        <p:spPr>
          <a:xfrm>
            <a:off x="6153912" y="3749039"/>
            <a:ext cx="5212080" cy="2103120"/>
          </a:xfrm>
          <a:prstGeom prst="roundRect">
            <a:avLst>
              <a:gd name="adj" fmla="val 8000"/>
            </a:avLst>
          </a:prstGeom>
          <a:solidFill>
            <a:srgbClr val="EEF3F7"/>
          </a:solidFill>
          <a:ln>
            <a:noFill/>
          </a:ln>
        </p:spPr>
        <p:txBody>
          <a:bodyPr rtlCol="0" anchor="ctr"/>
          <a:lstStyle/>
          <a:p>
            <a:endParaRPr/>
          </a:p>
        </p:txBody>
      </p:sp>
      <p:sp>
        <p:nvSpPr>
          <p:cNvPr id="19" name="Oval 18"/>
          <p:cNvSpPr/>
          <p:nvPr/>
        </p:nvSpPr>
        <p:spPr>
          <a:xfrm>
            <a:off x="638251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4</a:t>
            </a:r>
          </a:p>
        </p:txBody>
      </p:sp>
      <p:sp>
        <p:nvSpPr>
          <p:cNvPr id="20" name="TextBox 19"/>
          <p:cNvSpPr txBox="1"/>
          <p:nvPr/>
        </p:nvSpPr>
        <p:spPr>
          <a:xfrm>
            <a:off x="7114032" y="3950207"/>
            <a:ext cx="4023360" cy="640080"/>
          </a:xfrm>
          <a:prstGeom prst="rect">
            <a:avLst/>
          </a:prstGeom>
          <a:noFill/>
        </p:spPr>
        <p:txBody>
          <a:bodyPr wrap="square" lIns="0" tIns="0" rIns="0" bIns="0" anchor="ctr">
            <a:spAutoFit/>
          </a:bodyPr>
          <a:lstStyle/>
          <a:p>
            <a:pPr algn="l"/>
            <a:r>
              <a:rPr sz="2000" b="1" i="0">
                <a:solidFill>
                  <a:srgbClr val="1F394D"/>
                </a:solidFill>
              </a:rPr>
              <a:t>Inside the data?</a:t>
            </a:r>
          </a:p>
        </p:txBody>
      </p:sp>
      <p:sp>
        <p:nvSpPr>
          <p:cNvPr id="21" name="TextBox 20"/>
          <p:cNvSpPr txBox="1"/>
          <p:nvPr/>
        </p:nvSpPr>
        <p:spPr>
          <a:xfrm>
            <a:off x="7114032" y="4645152"/>
            <a:ext cx="4023360" cy="1097279"/>
          </a:xfrm>
          <a:prstGeom prst="rect">
            <a:avLst/>
          </a:prstGeom>
          <a:noFill/>
        </p:spPr>
        <p:txBody>
          <a:bodyPr wrap="square" lIns="0" tIns="0" rIns="0" bIns="0" anchor="t">
            <a:spAutoFit/>
          </a:bodyPr>
          <a:lstStyle/>
          <a:p>
            <a:pPr algn="l"/>
            <a:r>
              <a:rPr sz="1700" b="0" i="0">
                <a:solidFill>
                  <a:srgbClr val="1F2A33"/>
                </a:solidFill>
              </a:rPr>
              <a:t>The data run from 3.4 to 9.7: don’t predict outside.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the results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Rounded Rectangle 5"/>
          <p:cNvSpPr/>
          <p:nvPr/>
        </p:nvSpPr>
        <p:spPr>
          <a:xfrm>
            <a:off x="758952" y="1371600"/>
            <a:ext cx="6675120" cy="4434840"/>
          </a:xfrm>
          <a:prstGeom prst="roundRect">
            <a:avLst>
              <a:gd name="adj" fmla="val 8000"/>
            </a:avLst>
          </a:prstGeom>
          <a:solidFill>
            <a:srgbClr val="EEF3F7"/>
          </a:solidFill>
          <a:ln>
            <a:noFill/>
          </a:ln>
        </p:spPr>
        <p:txBody>
          <a:bodyPr rtlCol="0" anchor="ctr"/>
          <a:lstStyle/>
          <a:p>
            <a:pPr algn="ctr"/>
          </a:p>
        </p:txBody>
      </p:sp>
      <p:sp>
        <p:nvSpPr>
          <p:cNvPr id="7" name="TextBox 6"/>
          <p:cNvSpPr txBox="1"/>
          <p:nvPr/>
        </p:nvSpPr>
        <p:spPr>
          <a:xfrm>
            <a:off x="987552" y="1508760"/>
            <a:ext cx="6263640" cy="4160520"/>
          </a:xfrm>
          <a:prstGeom prst="rect">
            <a:avLst/>
          </a:prstGeom>
          <a:noFill/>
        </p:spPr>
        <p:txBody>
          <a:bodyPr wrap="square" lIns="0" rIns="0" tIns="0" bIns="0" anchor="t">
            <a:spAutoFit/>
          </a:bodyPr>
          <a:lstStyle/>
          <a:p>
            <a:pPr algn="l">
              <a:spcAft>
                <a:spcPts val="600"/>
              </a:spcAft>
            </a:pPr>
            <a:r>
              <a:rPr sz="1500" b="1" i="0">
                <a:solidFill>
                  <a:srgbClr val="3F739B"/>
                </a:solidFill>
              </a:rPr>
              <a:t>Example paragraph</a:t>
            </a:r>
            <a:endParaRPr sz="1500"/>
          </a:p>
          <a:p>
            <a:pPr algn="l">
              <a:lnSpc>
                <a:spcPct val="106000"/>
              </a:lnSpc>
            </a:pPr>
            <a:r>
              <a:rPr sz="1700" b="0" i="0">
                <a:solidFill>
                  <a:srgbClr val="1F2A33"/>
                </a:solidFill>
              </a:rPr>
              <a:t>Using data on 23 rich countries (Wilkinson and Pickett 2009), we regressed the percentage of people who say that most people can be trusted on income inequality (the ratio between the incomes of the richest and the poorest fifths) and on homicide rates. In a simple regression, countries with a one-unit higher inequality ratio had, on average, 6.5 percentage points lower trust. Holding homicide rates constant, the difference was 7.1 points, while homicide rates themselves added almost nothing (0.17 points per extra homicide per million). Together the two predictors accounted for 46% of the variation in trust between countries (R² = 0.46). The data describe countries rather than individuals, and the association alone cannot show which way the influence runs.</a:t>
            </a:r>
            <a:endParaRPr sz="1700"/>
          </a:p>
        </p:txBody>
      </p:sp>
      <p:sp>
        <p:nvSpPr>
          <p:cNvPr id="8" name="Rounded Rectangle 7"/>
          <p:cNvSpPr/>
          <p:nvPr/>
        </p:nvSpPr>
        <p:spPr>
          <a:xfrm>
            <a:off x="7635240" y="1371600"/>
            <a:ext cx="3730752" cy="4434840"/>
          </a:xfrm>
          <a:prstGeom prst="roundRect">
            <a:avLst>
              <a:gd name="adj" fmla="val 8000"/>
            </a:avLst>
          </a:prstGeom>
          <a:solidFill>
            <a:srgbClr val="1F394D"/>
          </a:solidFill>
          <a:ln>
            <a:noFill/>
          </a:ln>
        </p:spPr>
        <p:txBody>
          <a:bodyPr rtlCol="0" anchor="ctr"/>
          <a:lstStyle/>
          <a:p>
            <a:pPr algn="ctr"/>
          </a:p>
        </p:txBody>
      </p:sp>
      <p:sp>
        <p:nvSpPr>
          <p:cNvPr id="9" name="TextBox 8"/>
          <p:cNvSpPr txBox="1"/>
          <p:nvPr/>
        </p:nvSpPr>
        <p:spPr>
          <a:xfrm>
            <a:off x="7863840" y="1508760"/>
            <a:ext cx="3337560" cy="365760"/>
          </a:xfrm>
          <a:prstGeom prst="rect">
            <a:avLst/>
          </a:prstGeom>
          <a:noFill/>
        </p:spPr>
        <p:txBody>
          <a:bodyPr wrap="square" lIns="0" rIns="0" tIns="0" bIns="0" anchor="t">
            <a:spAutoFit/>
          </a:bodyPr>
          <a:lstStyle/>
          <a:p>
            <a:pPr algn="l"/>
            <a:r>
              <a:rPr sz="1600" b="1" i="0">
                <a:solidFill>
                  <a:srgbClr val="B88C00"/>
                </a:solidFill>
              </a:rPr>
              <a:t>Checklist</a:t>
            </a:r>
            <a:endParaRPr sz="1600"/>
          </a:p>
        </p:txBody>
      </p:sp>
      <p:sp>
        <p:nvSpPr>
          <p:cNvPr id="10" name="Oval 9"/>
          <p:cNvSpPr/>
          <p:nvPr/>
        </p:nvSpPr>
        <p:spPr>
          <a:xfrm>
            <a:off x="7882128" y="2057400"/>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1</a:t>
            </a:r>
            <a:endParaRPr sz="1400"/>
          </a:p>
        </p:txBody>
      </p:sp>
      <p:sp>
        <p:nvSpPr>
          <p:cNvPr id="11" name="TextBox 10"/>
          <p:cNvSpPr txBox="1"/>
          <p:nvPr/>
        </p:nvSpPr>
        <p:spPr>
          <a:xfrm>
            <a:off x="8385048" y="2057400"/>
            <a:ext cx="2880360" cy="384048"/>
          </a:xfrm>
          <a:prstGeom prst="rect">
            <a:avLst/>
          </a:prstGeom>
          <a:noFill/>
        </p:spPr>
        <p:txBody>
          <a:bodyPr wrap="square" lIns="0" rIns="0" tIns="0" bIns="0" anchor="ctr">
            <a:spAutoFit/>
          </a:bodyPr>
          <a:lstStyle/>
          <a:p>
            <a:pPr algn="l"/>
            <a:r>
              <a:rPr sz="1500" b="0" i="0">
                <a:solidFill>
                  <a:srgbClr val="FFFFFF"/>
                </a:solidFill>
              </a:rPr>
              <a:t>Outcome and predictors, with units</a:t>
            </a:r>
            <a:endParaRPr sz="1500"/>
          </a:p>
        </p:txBody>
      </p:sp>
      <p:sp>
        <p:nvSpPr>
          <p:cNvPr id="12" name="Oval 11"/>
          <p:cNvSpPr/>
          <p:nvPr/>
        </p:nvSpPr>
        <p:spPr>
          <a:xfrm>
            <a:off x="7882128" y="2660904"/>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2</a:t>
            </a:r>
            <a:endParaRPr sz="1400"/>
          </a:p>
        </p:txBody>
      </p:sp>
      <p:sp>
        <p:nvSpPr>
          <p:cNvPr id="13" name="TextBox 12"/>
          <p:cNvSpPr txBox="1"/>
          <p:nvPr/>
        </p:nvSpPr>
        <p:spPr>
          <a:xfrm>
            <a:off x="8385048" y="2660904"/>
            <a:ext cx="2880360" cy="384048"/>
          </a:xfrm>
          <a:prstGeom prst="rect">
            <a:avLst/>
          </a:prstGeom>
          <a:noFill/>
        </p:spPr>
        <p:txBody>
          <a:bodyPr wrap="square" lIns="0" rIns="0" tIns="0" bIns="0" anchor="ctr">
            <a:spAutoFit/>
          </a:bodyPr>
          <a:lstStyle/>
          <a:p>
            <a:pPr algn="l"/>
            <a:r>
              <a:rPr sz="1500" b="0" i="0">
                <a:solidFill>
                  <a:srgbClr val="FFFFFF"/>
                </a:solidFill>
              </a:rPr>
              <a:t>The slope in words, in the outcome’s units</a:t>
            </a:r>
            <a:endParaRPr sz="1500"/>
          </a:p>
        </p:txBody>
      </p:sp>
      <p:sp>
        <p:nvSpPr>
          <p:cNvPr id="14" name="Oval 13"/>
          <p:cNvSpPr/>
          <p:nvPr/>
        </p:nvSpPr>
        <p:spPr>
          <a:xfrm>
            <a:off x="7882128" y="3264408"/>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3</a:t>
            </a:r>
            <a:endParaRPr sz="1400"/>
          </a:p>
        </p:txBody>
      </p:sp>
      <p:sp>
        <p:nvSpPr>
          <p:cNvPr id="15" name="TextBox 14"/>
          <p:cNvSpPr txBox="1"/>
          <p:nvPr/>
        </p:nvSpPr>
        <p:spPr>
          <a:xfrm>
            <a:off x="8385048" y="3264408"/>
            <a:ext cx="2880360" cy="384048"/>
          </a:xfrm>
          <a:prstGeom prst="rect">
            <a:avLst/>
          </a:prstGeom>
          <a:noFill/>
        </p:spPr>
        <p:txBody>
          <a:bodyPr wrap="square" lIns="0" rIns="0" tIns="0" bIns="0" anchor="ctr">
            <a:spAutoFit/>
          </a:bodyPr>
          <a:lstStyle/>
          <a:p>
            <a:pPr algn="l"/>
            <a:r>
              <a:rPr sz="1500" b="0" i="0">
                <a:solidFill>
                  <a:srgbClr val="FFFFFF"/>
                </a:solidFill>
              </a:rPr>
              <a:t>What is held constant</a:t>
            </a:r>
            <a:endParaRPr sz="1500"/>
          </a:p>
        </p:txBody>
      </p:sp>
      <p:sp>
        <p:nvSpPr>
          <p:cNvPr id="16" name="Oval 15"/>
          <p:cNvSpPr/>
          <p:nvPr/>
        </p:nvSpPr>
        <p:spPr>
          <a:xfrm>
            <a:off x="7882128" y="3867912"/>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4</a:t>
            </a:r>
            <a:endParaRPr sz="1400"/>
          </a:p>
        </p:txBody>
      </p:sp>
      <p:sp>
        <p:nvSpPr>
          <p:cNvPr id="17" name="TextBox 16"/>
          <p:cNvSpPr txBox="1"/>
          <p:nvPr/>
        </p:nvSpPr>
        <p:spPr>
          <a:xfrm>
            <a:off x="8385048" y="3867912"/>
            <a:ext cx="2880360" cy="384048"/>
          </a:xfrm>
          <a:prstGeom prst="rect">
            <a:avLst/>
          </a:prstGeom>
          <a:noFill/>
        </p:spPr>
        <p:txBody>
          <a:bodyPr wrap="square" lIns="0" rIns="0" tIns="0" bIns="0" anchor="ctr">
            <a:spAutoFit/>
          </a:bodyPr>
          <a:lstStyle/>
          <a:p>
            <a:pPr algn="l"/>
            <a:r>
              <a:rPr sz="1500" b="0" i="0">
                <a:solidFill>
                  <a:srgbClr val="FFFFFF"/>
                </a:solidFill>
              </a:rPr>
              <a:t>R²: the share of variation explained</a:t>
            </a:r>
            <a:endParaRPr sz="1500"/>
          </a:p>
        </p:txBody>
      </p:sp>
      <p:sp>
        <p:nvSpPr>
          <p:cNvPr id="18" name="Oval 17"/>
          <p:cNvSpPr/>
          <p:nvPr/>
        </p:nvSpPr>
        <p:spPr>
          <a:xfrm>
            <a:off x="7882128" y="4471416"/>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5</a:t>
            </a:r>
            <a:endParaRPr sz="1400"/>
          </a:p>
        </p:txBody>
      </p:sp>
      <p:sp>
        <p:nvSpPr>
          <p:cNvPr id="19" name="TextBox 18"/>
          <p:cNvSpPr txBox="1"/>
          <p:nvPr/>
        </p:nvSpPr>
        <p:spPr>
          <a:xfrm>
            <a:off x="8385048" y="4471416"/>
            <a:ext cx="2880360" cy="384048"/>
          </a:xfrm>
          <a:prstGeom prst="rect">
            <a:avLst/>
          </a:prstGeom>
          <a:noFill/>
        </p:spPr>
        <p:txBody>
          <a:bodyPr wrap="square" lIns="0" rIns="0" tIns="0" bIns="0" anchor="ctr">
            <a:spAutoFit/>
          </a:bodyPr>
          <a:lstStyle/>
          <a:p>
            <a:pPr algn="l"/>
            <a:r>
              <a:rPr sz="1500" b="0" i="0">
                <a:solidFill>
                  <a:srgbClr val="FFFFFF"/>
                </a:solidFill>
              </a:rPr>
              <a:t>The cases and the range of the data</a:t>
            </a:r>
            <a:endParaRPr sz="1500"/>
          </a:p>
        </p:txBody>
      </p:sp>
      <p:sp>
        <p:nvSpPr>
          <p:cNvPr id="20" name="Oval 19"/>
          <p:cNvSpPr/>
          <p:nvPr/>
        </p:nvSpPr>
        <p:spPr>
          <a:xfrm>
            <a:off x="7882128" y="5074920"/>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6</a:t>
            </a:r>
            <a:endParaRPr sz="1400"/>
          </a:p>
        </p:txBody>
      </p:sp>
      <p:sp>
        <p:nvSpPr>
          <p:cNvPr id="21" name="TextBox 20"/>
          <p:cNvSpPr txBox="1"/>
          <p:nvPr/>
        </p:nvSpPr>
        <p:spPr>
          <a:xfrm>
            <a:off x="8385048" y="5074920"/>
            <a:ext cx="2880360" cy="384048"/>
          </a:xfrm>
          <a:prstGeom prst="rect">
            <a:avLst/>
          </a:prstGeom>
          <a:noFill/>
        </p:spPr>
        <p:txBody>
          <a:bodyPr wrap="square" lIns="0" rIns="0" tIns="0" bIns="0" anchor="ctr">
            <a:spAutoFit/>
          </a:bodyPr>
          <a:lstStyle/>
          <a:p>
            <a:pPr algn="l"/>
            <a:r>
              <a:rPr sz="1500" b="0" i="0">
                <a:solidFill>
                  <a:srgbClr val="FFFFFF"/>
                </a:solidFill>
              </a:rPr>
              <a:t>Association, not cause</a:t>
            </a:r>
            <a:endParaRPr sz="1500"/>
          </a:p>
        </p:txBody>
      </p:sp>
      <p:sp>
        <p:nvSpPr>
          <p:cNvPr id="22" name="TextBox 21"/>
          <p:cNvSpPr txBox="1"/>
          <p:nvPr/>
        </p:nvSpPr>
        <p:spPr>
          <a:xfrm>
            <a:off x="758952" y="5943600"/>
            <a:ext cx="10607040" cy="292608"/>
          </a:xfrm>
          <a:prstGeom prst="rect">
            <a:avLst/>
          </a:prstGeom>
          <a:noFill/>
        </p:spPr>
        <p:txBody>
          <a:bodyPr wrap="square" lIns="0" rIns="0" tIns="0" bIns="0" anchor="ctr">
            <a:spAutoFit/>
          </a:bodyPr>
          <a:lstStyle/>
          <a:p>
            <a:pPr algn="l"/>
            <a:r>
              <a:rPr sz="1200" b="0" i="0">
                <a:solidFill>
                  <a:srgbClr val="55606B"/>
                </a:solidFill>
              </a:rPr>
              <a:t>Data: pickett2009.csv (Wilkinson &amp; Pickett 2009), 23 countries; models with income inequality alone and with homicide rates.</a:t>
            </a:r>
            <a:endParaRPr sz="12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Interactive explorer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pic>
        <p:nvPicPr>
          <p:cNvPr id="6" name="Picture 5" descr="qr_w3.png"/>
          <p:cNvPicPr>
            <a:picLocks noChangeAspect="1"/>
          </p:cNvPicPr>
          <p:nvPr/>
        </p:nvPicPr>
        <p:blipFill>
          <a:blip r:embed="rId2"/>
          <a:stretch>
            <a:fillRect/>
          </a:stretch>
        </p:blipFill>
        <p:spPr>
          <a:xfrm>
            <a:off x="1051560" y="1463040"/>
            <a:ext cx="2834640" cy="2834640"/>
          </a:xfrm>
          <a:prstGeom prst="rect">
            <a:avLst/>
          </a:prstGeom>
        </p:spPr>
      </p:pic>
      <p:sp>
        <p:nvSpPr>
          <p:cNvPr id="7" name="TextBox 6"/>
          <p:cNvSpPr txBox="1"/>
          <p:nvPr/>
        </p:nvSpPr>
        <p:spPr>
          <a:xfrm>
            <a:off x="758952" y="4434840"/>
            <a:ext cx="3429000" cy="1097280"/>
          </a:xfrm>
          <a:prstGeom prst="rect">
            <a:avLst/>
          </a:prstGeom>
          <a:noFill/>
        </p:spPr>
        <p:txBody>
          <a:bodyPr wrap="square" lIns="0" rIns="0" tIns="0" bIns="0" anchor="t">
            <a:spAutoFit/>
          </a:bodyPr>
          <a:lstStyle/>
          <a:p>
            <a:pPr algn="ctr">
              <a:spcAft>
                <a:spcPts val="400"/>
              </a:spcAft>
            </a:pPr>
            <a:r>
              <a:rPr sz="1400" b="1" i="0">
                <a:solidFill>
                  <a:srgbClr val="1F394D"/>
                </a:solidFill>
              </a:rPr>
              <a:t>Course site › [W3] Interactive Explorer</a:t>
            </a:r>
            <a:endParaRPr sz="1400"/>
          </a:p>
          <a:p>
            <a:pPr algn="ctr"/>
            <a:r>
              <a:rPr sz="1200" b="0" i="0">
                <a:solidFill>
                  <a:srgbClr val="55606B"/>
                </a:solidFill>
              </a:rPr>
              <a:t>cgmoreh.github.io/SOC2069-QUANT-26</a:t>
            </a:r>
            <a:endParaRPr sz="1200"/>
          </a:p>
        </p:txBody>
      </p:sp>
      <p:sp>
        <p:nvSpPr>
          <p:cNvPr id="8" name="Rounded Rectangle 7"/>
          <p:cNvSpPr/>
          <p:nvPr/>
        </p:nvSpPr>
        <p:spPr>
          <a:xfrm>
            <a:off x="4526280" y="1417320"/>
            <a:ext cx="6839712" cy="1097280"/>
          </a:xfrm>
          <a:prstGeom prst="roundRect">
            <a:avLst>
              <a:gd name="adj" fmla="val 8000"/>
            </a:avLst>
          </a:prstGeom>
          <a:solidFill>
            <a:srgbClr val="EEF3F7"/>
          </a:solidFill>
          <a:ln>
            <a:noFill/>
          </a:ln>
        </p:spPr>
        <p:txBody>
          <a:bodyPr rtlCol="0" anchor="ctr"/>
          <a:lstStyle/>
          <a:p>
            <a:pPr algn="ctr"/>
          </a:p>
        </p:txBody>
      </p:sp>
      <p:sp>
        <p:nvSpPr>
          <p:cNvPr id="9" name="Oval 8"/>
          <p:cNvSpPr/>
          <p:nvPr/>
        </p:nvSpPr>
        <p:spPr>
          <a:xfrm>
            <a:off x="4732020" y="171450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1</a:t>
            </a:r>
            <a:endParaRPr sz="1800"/>
          </a:p>
        </p:txBody>
      </p:sp>
      <p:sp>
        <p:nvSpPr>
          <p:cNvPr id="10" name="TextBox 9"/>
          <p:cNvSpPr txBox="1"/>
          <p:nvPr/>
        </p:nvSpPr>
        <p:spPr>
          <a:xfrm>
            <a:off x="5440680" y="152704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Fit the line yourself</a:t>
            </a:r>
            <a:endParaRPr sz="1800"/>
          </a:p>
          <a:p>
            <a:pPr algn="l"/>
            <a:r>
              <a:rPr sz="1500" b="0" i="0">
                <a:solidFill>
                  <a:srgbClr val="1F2A33"/>
                </a:solidFill>
              </a:rPr>
              <a:t>Move the intercept and slope to make the squared residuals as small as you can, then compare with the least-squares line.</a:t>
            </a:r>
            <a:endParaRPr sz="1500"/>
          </a:p>
        </p:txBody>
      </p:sp>
      <p:sp>
        <p:nvSpPr>
          <p:cNvPr id="11" name="Rounded Rectangle 10"/>
          <p:cNvSpPr/>
          <p:nvPr/>
        </p:nvSpPr>
        <p:spPr>
          <a:xfrm>
            <a:off x="4526280" y="2651760"/>
            <a:ext cx="6839712" cy="1097280"/>
          </a:xfrm>
          <a:prstGeom prst="roundRect">
            <a:avLst>
              <a:gd name="adj" fmla="val 8000"/>
            </a:avLst>
          </a:prstGeom>
          <a:solidFill>
            <a:srgbClr val="EEF3F7"/>
          </a:solidFill>
          <a:ln>
            <a:noFill/>
          </a:ln>
        </p:spPr>
        <p:txBody>
          <a:bodyPr rtlCol="0" anchor="ctr"/>
          <a:lstStyle/>
          <a:p>
            <a:pPr algn="ctr"/>
          </a:p>
        </p:txBody>
      </p:sp>
      <p:sp>
        <p:nvSpPr>
          <p:cNvPr id="12" name="Oval 11"/>
          <p:cNvSpPr/>
          <p:nvPr/>
        </p:nvSpPr>
        <p:spPr>
          <a:xfrm>
            <a:off x="4732020" y="294894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2</a:t>
            </a:r>
            <a:endParaRPr sz="1800"/>
          </a:p>
        </p:txBody>
      </p:sp>
      <p:sp>
        <p:nvSpPr>
          <p:cNvPr id="13" name="TextBox 12"/>
          <p:cNvSpPr txBox="1"/>
          <p:nvPr/>
        </p:nvSpPr>
        <p:spPr>
          <a:xfrm>
            <a:off x="5440680" y="276148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Add a country</a:t>
            </a:r>
            <a:endParaRPr sz="1800"/>
          </a:p>
          <a:p>
            <a:pPr algn="l"/>
            <a:r>
              <a:rPr sz="1500" b="0" i="0">
                <a:solidFill>
                  <a:srgbClr val="1F2A33"/>
                </a:solidFill>
              </a:rPr>
              <a:t>Place an extra country anywhere and watch how far one point can pull the line and change R².</a:t>
            </a:r>
            <a:endParaRPr sz="1500"/>
          </a:p>
        </p:txBody>
      </p:sp>
      <p:sp>
        <p:nvSpPr>
          <p:cNvPr id="14" name="Rounded Rectangle 13"/>
          <p:cNvSpPr/>
          <p:nvPr/>
        </p:nvSpPr>
        <p:spPr>
          <a:xfrm>
            <a:off x="4526280" y="3886200"/>
            <a:ext cx="6839712" cy="1097280"/>
          </a:xfrm>
          <a:prstGeom prst="roundRect">
            <a:avLst>
              <a:gd name="adj" fmla="val 8000"/>
            </a:avLst>
          </a:prstGeom>
          <a:solidFill>
            <a:srgbClr val="EEF3F7"/>
          </a:solidFill>
          <a:ln>
            <a:noFill/>
          </a:ln>
        </p:spPr>
        <p:txBody>
          <a:bodyPr rtlCol="0" anchor="ctr"/>
          <a:lstStyle/>
          <a:p>
            <a:pPr algn="ctr"/>
          </a:p>
        </p:txBody>
      </p:sp>
      <p:sp>
        <p:nvSpPr>
          <p:cNvPr id="15" name="Oval 14"/>
          <p:cNvSpPr/>
          <p:nvPr/>
        </p:nvSpPr>
        <p:spPr>
          <a:xfrm>
            <a:off x="4732020" y="4183379"/>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3</a:t>
            </a:r>
            <a:endParaRPr sz="1800"/>
          </a:p>
        </p:txBody>
      </p:sp>
      <p:sp>
        <p:nvSpPr>
          <p:cNvPr id="16" name="TextBox 15"/>
          <p:cNvSpPr txBox="1"/>
          <p:nvPr/>
        </p:nvSpPr>
        <p:spPr>
          <a:xfrm>
            <a:off x="5440680" y="399592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Predictions and residuals</a:t>
            </a:r>
            <a:endParaRPr sz="1800"/>
          </a:p>
          <a:p>
            <a:pPr algn="l"/>
            <a:r>
              <a:rPr sz="1500" b="0" i="0">
                <a:solidFill>
                  <a:srgbClr val="1F2A33"/>
                </a:solidFill>
              </a:rPr>
              <a:t>Pick a country and compare its predicted and observed trust.</a:t>
            </a:r>
            <a:endParaRPr sz="1500"/>
          </a:p>
        </p:txBody>
      </p:sp>
      <p:sp>
        <p:nvSpPr>
          <p:cNvPr id="17" name="Rounded Rectangle 16"/>
          <p:cNvSpPr/>
          <p:nvPr/>
        </p:nvSpPr>
        <p:spPr>
          <a:xfrm>
            <a:off x="4526280" y="5120640"/>
            <a:ext cx="6839712" cy="731520"/>
          </a:xfrm>
          <a:prstGeom prst="roundRect">
            <a:avLst>
              <a:gd name="adj" fmla="val 8000"/>
            </a:avLst>
          </a:prstGeom>
          <a:solidFill>
            <a:srgbClr val="1F394D"/>
          </a:solidFill>
          <a:ln>
            <a:noFill/>
          </a:ln>
        </p:spPr>
        <p:txBody>
          <a:bodyPr rtlCol="0" anchor="ctr"/>
          <a:lstStyle/>
          <a:p>
            <a:pPr algn="ctr"/>
          </a:p>
        </p:txBody>
      </p:sp>
      <p:sp>
        <p:nvSpPr>
          <p:cNvPr id="18" name="TextBox 17"/>
          <p:cNvSpPr txBox="1"/>
          <p:nvPr/>
        </p:nvSpPr>
        <p:spPr>
          <a:xfrm>
            <a:off x="4754880" y="5120640"/>
            <a:ext cx="6400800" cy="731520"/>
          </a:xfrm>
          <a:prstGeom prst="rect">
            <a:avLst/>
          </a:prstGeom>
          <a:noFill/>
        </p:spPr>
        <p:txBody>
          <a:bodyPr wrap="square" lIns="0" rIns="0" tIns="0" bIns="0" anchor="ctr">
            <a:spAutoFit/>
          </a:bodyPr>
          <a:lstStyle/>
          <a:p>
            <a:pPr algn="l"/>
            <a:r>
              <a:rPr sz="1500" b="1" i="0">
                <a:solidFill>
                  <a:srgbClr val="B88C00"/>
                </a:solidFill>
              </a:rPr>
              <a:t>Also on the page: </a:t>
            </a:r>
            <a:r>
              <a:rPr sz="1500" b="0" i="0">
                <a:solidFill>
                  <a:srgbClr val="FFFFFF"/>
                </a:solidFill>
              </a:rPr>
              <a:t>the Spirit Level data from the lecture and Worksheet 3, with the axes starting at 0</a:t>
            </a:r>
            <a:endParaRPr sz="15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29</a:t>
            </a:fld>
            <a:endParaRPr lang="en-GB"/>
          </a:p>
        </p:txBody>
      </p:sp>
      <p:sp>
        <p:nvSpPr>
          <p:cNvPr id="6" name="Card 1"/>
          <p:cNvSpPr/>
          <p:nvPr/>
        </p:nvSpPr>
        <p:spPr>
          <a:xfrm>
            <a:off x="758952" y="1417320"/>
            <a:ext cx="5212080" cy="210312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8755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1</a:t>
            </a:r>
          </a:p>
        </p:txBody>
      </p:sp>
      <p:sp>
        <p:nvSpPr>
          <p:cNvPr id="8" name="TextBox 7"/>
          <p:cNvSpPr txBox="1"/>
          <p:nvPr/>
        </p:nvSpPr>
        <p:spPr>
          <a:xfrm>
            <a:off x="1719072" y="1618488"/>
            <a:ext cx="4023360" cy="640080"/>
          </a:xfrm>
          <a:prstGeom prst="rect">
            <a:avLst/>
          </a:prstGeom>
          <a:noFill/>
        </p:spPr>
        <p:txBody>
          <a:bodyPr wrap="square" lIns="0" tIns="0" rIns="0" bIns="0" anchor="ctr">
            <a:spAutoFit/>
          </a:bodyPr>
          <a:lstStyle/>
          <a:p>
            <a:pPr algn="l"/>
            <a:r>
              <a:rPr sz="2000" b="1" i="0">
                <a:solidFill>
                  <a:srgbClr val="1F394D"/>
                </a:solidFill>
              </a:rPr>
              <a:t>A line in real units</a:t>
            </a:r>
          </a:p>
        </p:txBody>
      </p:sp>
      <p:sp>
        <p:nvSpPr>
          <p:cNvPr id="9" name="TextBox 8"/>
          <p:cNvSpPr txBox="1"/>
          <p:nvPr/>
        </p:nvSpPr>
        <p:spPr>
          <a:xfrm>
            <a:off x="1719072" y="2313432"/>
            <a:ext cx="4023360" cy="1097279"/>
          </a:xfrm>
          <a:prstGeom prst="rect">
            <a:avLst/>
          </a:prstGeom>
          <a:noFill/>
        </p:spPr>
        <p:txBody>
          <a:bodyPr wrap="square" lIns="0" tIns="0" rIns="0" bIns="0" anchor="t">
            <a:spAutoFit/>
          </a:bodyPr>
          <a:lstStyle/>
          <a:p>
            <a:pPr algn="l"/>
            <a:r>
              <a:rPr sz="1700" b="0" i="0">
                <a:solidFill>
                  <a:srgbClr val="1F2A33"/>
                </a:solidFill>
              </a:rPr>
              <a:t>Slope = change in the outcome per one-unit change in the predictor.</a:t>
            </a:r>
          </a:p>
        </p:txBody>
      </p:sp>
      <p:sp>
        <p:nvSpPr>
          <p:cNvPr id="10" name="Card 2"/>
          <p:cNvSpPr/>
          <p:nvPr/>
        </p:nvSpPr>
        <p:spPr>
          <a:xfrm>
            <a:off x="6153912" y="1417320"/>
            <a:ext cx="5212080" cy="21031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8251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2</a:t>
            </a:r>
          </a:p>
        </p:txBody>
      </p:sp>
      <p:sp>
        <p:nvSpPr>
          <p:cNvPr id="12" name="TextBox 11"/>
          <p:cNvSpPr txBox="1"/>
          <p:nvPr/>
        </p:nvSpPr>
        <p:spPr>
          <a:xfrm>
            <a:off x="7114032" y="1618488"/>
            <a:ext cx="4023360" cy="640080"/>
          </a:xfrm>
          <a:prstGeom prst="rect">
            <a:avLst/>
          </a:prstGeom>
          <a:noFill/>
        </p:spPr>
        <p:txBody>
          <a:bodyPr wrap="square" lIns="0" tIns="0" rIns="0" bIns="0" anchor="ctr">
            <a:spAutoFit/>
          </a:bodyPr>
          <a:lstStyle/>
          <a:p>
            <a:pPr algn="l"/>
            <a:r>
              <a:rPr sz="2000" b="1" i="0">
                <a:solidFill>
                  <a:srgbClr val="1F394D"/>
                </a:solidFill>
              </a:rPr>
              <a:t>Residuals and R²</a:t>
            </a:r>
          </a:p>
        </p:txBody>
      </p:sp>
      <p:sp>
        <p:nvSpPr>
          <p:cNvPr id="13" name="TextBox 12"/>
          <p:cNvSpPr txBox="1"/>
          <p:nvPr/>
        </p:nvSpPr>
        <p:spPr>
          <a:xfrm>
            <a:off x="7114032" y="2313432"/>
            <a:ext cx="4023360" cy="1097279"/>
          </a:xfrm>
          <a:prstGeom prst="rect">
            <a:avLst/>
          </a:prstGeom>
          <a:noFill/>
        </p:spPr>
        <p:txBody>
          <a:bodyPr wrap="square" lIns="0" tIns="0" rIns="0" bIns="0" anchor="t">
            <a:spAutoFit/>
          </a:bodyPr>
          <a:lstStyle/>
          <a:p>
            <a:pPr algn="l"/>
            <a:r>
              <a:rPr sz="1700" b="0" i="0">
                <a:solidFill>
                  <a:srgbClr val="1F2A33"/>
                </a:solidFill>
              </a:rPr>
              <a:t>What the line gets wrong, and the share of variation it explains.</a:t>
            </a:r>
          </a:p>
        </p:txBody>
      </p:sp>
      <p:sp>
        <p:nvSpPr>
          <p:cNvPr id="14" name="Card 3"/>
          <p:cNvSpPr/>
          <p:nvPr/>
        </p:nvSpPr>
        <p:spPr>
          <a:xfrm>
            <a:off x="758952" y="3749039"/>
            <a:ext cx="5212080" cy="2103120"/>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98755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3</a:t>
            </a:r>
          </a:p>
        </p:txBody>
      </p:sp>
      <p:sp>
        <p:nvSpPr>
          <p:cNvPr id="16" name="TextBox 15"/>
          <p:cNvSpPr txBox="1"/>
          <p:nvPr/>
        </p:nvSpPr>
        <p:spPr>
          <a:xfrm>
            <a:off x="1719072" y="3950207"/>
            <a:ext cx="4023360" cy="640080"/>
          </a:xfrm>
          <a:prstGeom prst="rect">
            <a:avLst/>
          </a:prstGeom>
          <a:noFill/>
        </p:spPr>
        <p:txBody>
          <a:bodyPr wrap="square" lIns="0" tIns="0" rIns="0" bIns="0" anchor="ctr">
            <a:spAutoFit/>
          </a:bodyPr>
          <a:lstStyle/>
          <a:p>
            <a:pPr algn="l"/>
            <a:r>
              <a:rPr sz="2000" b="1" i="0">
                <a:solidFill>
                  <a:srgbClr val="1F394D"/>
                </a:solidFill>
              </a:rPr>
              <a:t>Adjusting, not controlling</a:t>
            </a:r>
          </a:p>
        </p:txBody>
      </p:sp>
      <p:sp>
        <p:nvSpPr>
          <p:cNvPr id="17" name="TextBox 16"/>
          <p:cNvSpPr txBox="1"/>
          <p:nvPr/>
        </p:nvSpPr>
        <p:spPr>
          <a:xfrm>
            <a:off x="1719072" y="4645152"/>
            <a:ext cx="4023360" cy="1097279"/>
          </a:xfrm>
          <a:prstGeom prst="rect">
            <a:avLst/>
          </a:prstGeom>
          <a:noFill/>
        </p:spPr>
        <p:txBody>
          <a:bodyPr wrap="square" lIns="0" tIns="0" rIns="0" bIns="0" anchor="t">
            <a:spAutoFit/>
          </a:bodyPr>
          <a:lstStyle/>
          <a:p>
            <a:pPr algn="l"/>
            <a:r>
              <a:rPr sz="1700" b="0" i="0">
                <a:solidFill>
                  <a:srgbClr val="1F2A33"/>
                </a:solidFill>
              </a:rPr>
              <a:t>Multiple regression compares like with like statistically, not experimentally.</a:t>
            </a:r>
          </a:p>
        </p:txBody>
      </p:sp>
      <p:sp>
        <p:nvSpPr>
          <p:cNvPr id="18" name="Card 4"/>
          <p:cNvSpPr/>
          <p:nvPr/>
        </p:nvSpPr>
        <p:spPr>
          <a:xfrm>
            <a:off x="6153912" y="3749039"/>
            <a:ext cx="5212080" cy="2103120"/>
          </a:xfrm>
          <a:prstGeom prst="roundRect">
            <a:avLst>
              <a:gd name="adj" fmla="val 8000"/>
            </a:avLst>
          </a:prstGeom>
          <a:solidFill>
            <a:srgbClr val="EEF3F7"/>
          </a:solidFill>
          <a:ln>
            <a:noFill/>
          </a:ln>
        </p:spPr>
        <p:txBody>
          <a:bodyPr rtlCol="0" anchor="ctr"/>
          <a:lstStyle/>
          <a:p>
            <a:endParaRPr/>
          </a:p>
        </p:txBody>
      </p:sp>
      <p:sp>
        <p:nvSpPr>
          <p:cNvPr id="19" name="Oval 18"/>
          <p:cNvSpPr/>
          <p:nvPr/>
        </p:nvSpPr>
        <p:spPr>
          <a:xfrm>
            <a:off x="638251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4</a:t>
            </a:r>
          </a:p>
        </p:txBody>
      </p:sp>
      <p:sp>
        <p:nvSpPr>
          <p:cNvPr id="20" name="TextBox 19"/>
          <p:cNvSpPr txBox="1"/>
          <p:nvPr/>
        </p:nvSpPr>
        <p:spPr>
          <a:xfrm>
            <a:off x="7114032" y="3950207"/>
            <a:ext cx="4023360" cy="640080"/>
          </a:xfrm>
          <a:prstGeom prst="rect">
            <a:avLst/>
          </a:prstGeom>
          <a:noFill/>
        </p:spPr>
        <p:txBody>
          <a:bodyPr wrap="square" lIns="0" tIns="0" rIns="0" bIns="0" anchor="ctr">
            <a:spAutoFit/>
          </a:bodyPr>
          <a:lstStyle/>
          <a:p>
            <a:pPr algn="l"/>
            <a:r>
              <a:rPr sz="2000" b="1" i="0">
                <a:solidFill>
                  <a:srgbClr val="1F394D"/>
                </a:solidFill>
              </a:rPr>
              <a:t>Categories are gaps</a:t>
            </a:r>
          </a:p>
        </p:txBody>
      </p:sp>
      <p:sp>
        <p:nvSpPr>
          <p:cNvPr id="21" name="TextBox 20"/>
          <p:cNvSpPr txBox="1"/>
          <p:nvPr/>
        </p:nvSpPr>
        <p:spPr>
          <a:xfrm>
            <a:off x="7114032" y="4645152"/>
            <a:ext cx="4023360" cy="1097279"/>
          </a:xfrm>
          <a:prstGeom prst="rect">
            <a:avLst/>
          </a:prstGeom>
          <a:noFill/>
        </p:spPr>
        <p:txBody>
          <a:bodyPr wrap="square" lIns="0" tIns="0" rIns="0" bIns="0" anchor="t">
            <a:spAutoFit/>
          </a:bodyPr>
          <a:lstStyle/>
          <a:p>
            <a:pPr algn="l"/>
            <a:r>
              <a:rPr sz="1700" b="0" i="0">
                <a:solidFill>
                  <a:srgbClr val="1F2A33"/>
                </a:solidFill>
              </a:rPr>
              <a:t>Each category’s coefficient is its difference from the reference group.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2CBA3A-E59C-1E5C-37CA-CD0F1E185ED5}"/>
              </a:ext>
            </a:extLst>
          </p:cNvPr>
          <p:cNvSpPr>
            <a:spLocks noGrp="1"/>
          </p:cNvSpPr>
          <p:nvPr>
            <p:ph type="title"/>
          </p:nvPr>
        </p:nvSpPr>
        <p:spPr/>
        <p:txBody>
          <a:bodyPr/>
          <a:lstStyle/>
          <a:p>
            <a:r>
              <a:rPr lang="en-GB" dirty="0"/>
              <a:t>Workshop</a:t>
            </a:r>
          </a:p>
        </p:txBody>
      </p:sp>
      <p:sp>
        <p:nvSpPr>
          <p:cNvPr id="8" name="Text Placeholder 7">
            <a:extLst>
              <a:ext uri="{FF2B5EF4-FFF2-40B4-BE49-F238E27FC236}">
                <a16:creationId xmlns:a16="http://schemas.microsoft.com/office/drawing/2014/main" id="{636F7FD2-53FA-4A51-9681-6FC5C8960063}"/>
              </a:ext>
            </a:extLst>
          </p:cNvPr>
          <p:cNvSpPr>
            <a:spLocks noGrp="1"/>
          </p:cNvSpPr>
          <p:nvPr>
            <p:ph type="body" sz="half" idx="2"/>
          </p:nvPr>
        </p:nvSpPr>
        <p:spPr/>
        <p:txBody>
          <a:bodyPr/>
          <a:lstStyle/>
          <a:p>
            <a:r>
              <a:rPr lang="en-GB" dirty="0"/>
              <a:t>3-</a:t>
            </a:r>
            <a:r>
              <a:rPr lang="en-GB" dirty="0" err="1"/>
              <a:t>5pm</a:t>
            </a:r>
            <a:endParaRPr lang="en-GB" dirty="0"/>
          </a:p>
        </p:txBody>
      </p:sp>
      <p:sp>
        <p:nvSpPr>
          <p:cNvPr id="4" name="Date Placeholder 3">
            <a:extLst>
              <a:ext uri="{FF2B5EF4-FFF2-40B4-BE49-F238E27FC236}">
                <a16:creationId xmlns:a16="http://schemas.microsoft.com/office/drawing/2014/main" id="{7452334B-2A42-251C-845C-1CED233665F2}"/>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5" name="Footer Placeholder 4">
            <a:extLst>
              <a:ext uri="{FF2B5EF4-FFF2-40B4-BE49-F238E27FC236}">
                <a16:creationId xmlns:a16="http://schemas.microsoft.com/office/drawing/2014/main" id="{E7848055-4F62-3048-C4D2-554FF0041ADC}"/>
              </a:ext>
            </a:extLst>
          </p:cNvPr>
          <p:cNvSpPr>
            <a:spLocks noGrp="1"/>
          </p:cNvSpPr>
          <p:nvPr>
            <p:ph type="ftr" sz="quarter" idx="11"/>
          </p:nvPr>
        </p:nvSpPr>
        <p:spPr/>
        <p:txBody>
          <a:bodyPr/>
          <a:lstStyle/>
          <a:p>
            <a:r>
              <a:rPr lang="en-GB"/>
              <a:t>Modelling continuous outcomes</a:t>
            </a:r>
            <a:endParaRPr lang="en-GB" dirty="0"/>
          </a:p>
        </p:txBody>
      </p:sp>
      <p:sp>
        <p:nvSpPr>
          <p:cNvPr id="6" name="Slide Number Placeholder 5">
            <a:extLst>
              <a:ext uri="{FF2B5EF4-FFF2-40B4-BE49-F238E27FC236}">
                <a16:creationId xmlns:a16="http://schemas.microsoft.com/office/drawing/2014/main" id="{70535960-24E1-CFDC-22DF-A828C2B2C10E}"/>
              </a:ext>
            </a:extLst>
          </p:cNvPr>
          <p:cNvSpPr>
            <a:spLocks noGrp="1"/>
          </p:cNvSpPr>
          <p:nvPr>
            <p:ph type="sldNum" sz="quarter" idx="12"/>
          </p:nvPr>
        </p:nvSpPr>
        <p:spPr/>
        <p:txBody>
          <a:bodyPr/>
          <a:lstStyle/>
          <a:p>
            <a:fld id="{9FAA51BB-2FC0-4DB8-B50E-F52D50E733B6}" type="slidenum">
              <a:rPr lang="en-GB" smtClean="0"/>
              <a:pPr/>
              <a:t>30</a:t>
            </a:fld>
            <a:endParaRPr lang="en-GB" dirty="0"/>
          </a:p>
        </p:txBody>
      </p:sp>
    </p:spTree>
    <p:extLst>
      <p:ext uri="{BB962C8B-B14F-4D97-AF65-F5344CB8AC3E}">
        <p14:creationId xmlns:p14="http://schemas.microsoft.com/office/powerpoint/2010/main" val="2531294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AE4DB1-6B08-6AEB-B597-8064268FD9C5}"/>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3" name="Footer Placeholder 2">
            <a:extLst>
              <a:ext uri="{FF2B5EF4-FFF2-40B4-BE49-F238E27FC236}">
                <a16:creationId xmlns:a16="http://schemas.microsoft.com/office/drawing/2014/main" id="{D6F2723A-2C1C-2AB6-3420-9BD762F766DF}"/>
              </a:ext>
            </a:extLst>
          </p:cNvPr>
          <p:cNvSpPr>
            <a:spLocks noGrp="1"/>
          </p:cNvSpPr>
          <p:nvPr>
            <p:ph type="ftr" sz="quarter" idx="11"/>
          </p:nvPr>
        </p:nvSpPr>
        <p:spPr/>
        <p:txBody>
          <a:bodyPr/>
          <a:lstStyle/>
          <a:p>
            <a:r>
              <a:rPr lang="en-GB"/>
              <a:t>Modelling continuous outcomes</a:t>
            </a:r>
          </a:p>
        </p:txBody>
      </p:sp>
      <p:sp>
        <p:nvSpPr>
          <p:cNvPr id="4" name="Slide Number Placeholder 3">
            <a:extLst>
              <a:ext uri="{FF2B5EF4-FFF2-40B4-BE49-F238E27FC236}">
                <a16:creationId xmlns:a16="http://schemas.microsoft.com/office/drawing/2014/main" id="{E9AFD3A0-9074-636F-30B6-C6C650C3F58D}"/>
              </a:ext>
            </a:extLst>
          </p:cNvPr>
          <p:cNvSpPr>
            <a:spLocks noGrp="1"/>
          </p:cNvSpPr>
          <p:nvPr>
            <p:ph type="sldNum" sz="quarter" idx="12"/>
          </p:nvPr>
        </p:nvSpPr>
        <p:spPr>
          <a:xfrm>
            <a:off x="9900458" y="6459785"/>
            <a:ext cx="1312025" cy="365125"/>
          </a:xfrm>
        </p:spPr>
        <p:txBody>
          <a:bodyPr/>
          <a:lstStyle/>
          <a:p>
            <a:fld id="{9FAA51BB-2FC0-4DB8-B50E-F52D50E733B6}" type="slidenum">
              <a:rPr lang="en-GB" smtClean="0"/>
              <a:t>31</a:t>
            </a:fld>
            <a:endParaRPr lang="en-GB"/>
          </a:p>
        </p:txBody>
      </p:sp>
    </p:spTree>
    <p:extLst>
      <p:ext uri="{BB962C8B-B14F-4D97-AF65-F5344CB8AC3E}">
        <p14:creationId xmlns:p14="http://schemas.microsoft.com/office/powerpoint/2010/main" val="28580937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Retrospect">
  <a:themeElements>
    <a:clrScheme name="Moreh">
      <a:dk1>
        <a:srgbClr val="000000"/>
      </a:dk1>
      <a:lt1>
        <a:sysClr val="window" lastClr="FFFFFF"/>
      </a:lt1>
      <a:dk2>
        <a:srgbClr val="637052"/>
      </a:dk2>
      <a:lt2>
        <a:srgbClr val="CCDDEA"/>
      </a:lt2>
      <a:accent1>
        <a:srgbClr val="3F739B"/>
      </a:accent1>
      <a:accent2>
        <a:srgbClr val="1F394D"/>
      </a:accent2>
      <a:accent3>
        <a:srgbClr val="865640"/>
      </a:accent3>
      <a:accent4>
        <a:srgbClr val="9B8357"/>
      </a:accent4>
      <a:accent5>
        <a:srgbClr val="C2BC80"/>
      </a:accent5>
      <a:accent6>
        <a:srgbClr val="94A088"/>
      </a:accent6>
      <a:hlink>
        <a:srgbClr val="B88C00"/>
      </a:hlink>
      <a:folHlink>
        <a:srgbClr val="B88C0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Moreh template.pptx" id="{976FE89A-DE24-46CA-AC0C-F592F46D6A11}" vid="{6FA3B6B4-ED01-4468-97EF-FE3176612C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24.07.16-Osaka</Template>
  <TotalTime>3668</TotalTime>
  <Words>3343</Words>
  <Application>Microsoft Office PowerPoint</Application>
  <PresentationFormat>Widescreen</PresentationFormat>
  <Paragraphs>534</Paragraphs>
  <Slides>31</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Aptos</vt:lpstr>
      <vt:lpstr>Arial Narrow</vt:lpstr>
      <vt:lpstr>Arial Nova Cond Light</vt:lpstr>
      <vt:lpstr>Calibri</vt:lpstr>
      <vt:lpstr>Calibri Light</vt:lpstr>
      <vt:lpstr>Courier New</vt:lpstr>
      <vt:lpstr>Wingdings</vt:lpstr>
      <vt:lpstr>Retrospect</vt:lpstr>
      <vt:lpstr>PowerPoint Presentation</vt:lpstr>
      <vt:lpstr>Week 3</vt:lpstr>
      <vt:lpstr>Today</vt:lpstr>
      <vt:lpstr>From correlation to regression</vt:lpstr>
      <vt:lpstr>What a regression line does</vt:lpstr>
      <vt:lpstr>The “best” line: least squares</vt:lpstr>
      <vt:lpstr>Always plot first: Anscombe’s quartet</vt:lpstr>
      <vt:lpstr>Inequality and trust: a simple regression</vt:lpstr>
      <vt:lpstr>The line through 23 countries</vt:lpstr>
      <vt:lpstr>Reading the JASP output</vt:lpstr>
      <vt:lpstr>Predictions and residuals</vt:lpstr>
      <vt:lpstr>Activity: predict it</vt:lpstr>
      <vt:lpstr>Predict it: answers</vt:lpstr>
      <vt:lpstr>R²: how much of the variation the line explains</vt:lpstr>
      <vt:lpstr>Units matter: unstandardized and standardized</vt:lpstr>
      <vt:lpstr>Adding predictors: multiple regression</vt:lpstr>
      <vt:lpstr>Why add another predictor?</vt:lpstr>
      <vt:lpstr>Inequality and homicides, alone and together</vt:lpstr>
      <vt:lpstr>What “holding constant” means</vt:lpstr>
      <vt:lpstr>Activity: true or false?</vt:lpstr>
      <vt:lpstr>True or false: answers</vt:lpstr>
      <vt:lpstr>Categorical predictors</vt:lpstr>
      <vt:lpstr>Trust across world regions</vt:lpstr>
      <vt:lpstr>How regression handles categories</vt:lpstr>
      <vt:lpstr>A two-category predictor: Protestant tradition</vt:lpstr>
      <vt:lpstr>Activity: use the region coefficients</vt:lpstr>
      <vt:lpstr>Region coefficients: answers</vt:lpstr>
      <vt:lpstr>Before you trust a regression line</vt:lpstr>
      <vt:lpstr>Key takeaways</vt:lpstr>
      <vt:lpstr>Workshop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Moreh</dc:creator>
  <cp:lastModifiedBy>Chris Moreh</cp:lastModifiedBy>
  <cp:revision>7</cp:revision>
  <dcterms:created xsi:type="dcterms:W3CDTF">2024-07-11T13:35:49Z</dcterms:created>
  <dcterms:modified xsi:type="dcterms:W3CDTF">2026-10-13T11:53:57Z</dcterms:modified>
</cp:coreProperties>
</file>