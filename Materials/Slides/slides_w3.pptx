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7.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8.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9.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60" r:id="rId1"/>
  </p:sldMasterIdLst>
  <p:notesMasterIdLst>
    <p:notesMasterId r:id="rId33"/>
  </p:notesMasterIdLst>
  <p:handoutMasterIdLst>
    <p:handoutMasterId r:id="rId34"/>
  </p:handoutMasterIdLst>
  <p:sldIdLst>
    <p:sldId id="256" r:id="rId2"/>
    <p:sldId id="307" r:id="rId3"/>
    <p:sldId id="565" r:id="rId4"/>
    <p:sldId id="566" r:id="rId5"/>
    <p:sldId id="567" r:id="rId6"/>
    <p:sldId id="568" r:id="rId7"/>
    <p:sldId id="569" r:id="rId8"/>
    <p:sldId id="570" r:id="rId9"/>
    <p:sldId id="571" r:id="rId10"/>
    <p:sldId id="572" r:id="rId11"/>
    <p:sldId id="573" r:id="rId12"/>
    <p:sldId id="574" r:id="rId13"/>
    <p:sldId id="575" r:id="rId14"/>
    <p:sldId id="576" r:id="rId15"/>
    <p:sldId id="577" r:id="rId16"/>
    <p:sldId id="578" r:id="rId17"/>
    <p:sldId id="579" r:id="rId18"/>
    <p:sldId id="580" r:id="rId19"/>
    <p:sldId id="581" r:id="rId20"/>
    <p:sldId id="582" r:id="rId21"/>
    <p:sldId id="583" r:id="rId22"/>
    <p:sldId id="584" r:id="rId23"/>
    <p:sldId id="585" r:id="rId24"/>
    <p:sldId id="586" r:id="rId25"/>
    <p:sldId id="587" r:id="rId26"/>
    <p:sldId id="588" r:id="rId27"/>
    <p:sldId id="589" r:id="rId28"/>
    <p:sldId id="590" r:id="rId29"/>
    <p:sldId id="591" r:id="rId30"/>
    <p:sldId id="354" r:id="rId31"/>
    <p:sldId id="26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0000"/>
    <a:srgbClr val="3F739B"/>
    <a:srgbClr val="174CF7"/>
    <a:srgbClr val="E4C8C8"/>
    <a:srgbClr val="EEBE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6D3A32-358D-49FC-8B3F-D94A730CE098}" v="1" dt="2025-11-24T11:03:53.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2648" autoAdjust="0"/>
  </p:normalViewPr>
  <p:slideViewPr>
    <p:cSldViewPr snapToGrid="0">
      <p:cViewPr varScale="1">
        <p:scale>
          <a:sx n="58" d="100"/>
          <a:sy n="58" d="100"/>
        </p:scale>
        <p:origin x="432" y="6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1676"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Moreh" userId="17b81281-9f29-44e0-9273-6dadbf6896a2" providerId="ADAL" clId="{BCF66164-2C9C-4B48-AFF3-6B0B0038345A}"/>
    <pc:docChg chg="undo custSel addSld delSld modSld sldOrd">
      <pc:chgData name="Chris Moreh" userId="17b81281-9f29-44e0-9273-6dadbf6896a2" providerId="ADAL" clId="{BCF66164-2C9C-4B48-AFF3-6B0B0038345A}" dt="2025-11-24T11:03:53.903" v="61"/>
      <pc:docMkLst>
        <pc:docMk/>
      </pc:docMkLst>
      <pc:sldChg chg="add">
        <pc:chgData name="Chris Moreh" userId="17b81281-9f29-44e0-9273-6dadbf6896a2" providerId="ADAL" clId="{BCF66164-2C9C-4B48-AFF3-6B0B0038345A}" dt="2025-11-24T11:03:53.903" v="61"/>
        <pc:sldMkLst>
          <pc:docMk/>
          <pc:sldMk cId="0" sldId="259"/>
        </pc:sldMkLst>
      </pc:sldChg>
      <pc:sldChg chg="ord">
        <pc:chgData name="Chris Moreh" userId="17b81281-9f29-44e0-9273-6dadbf6896a2" providerId="ADAL" clId="{BCF66164-2C9C-4B48-AFF3-6B0B0038345A}" dt="2025-11-24T10:59:13.431" v="58"/>
        <pc:sldMkLst>
          <pc:docMk/>
          <pc:sldMk cId="782263443" sldId="297"/>
        </pc:sldMkLst>
      </pc:sldChg>
      <pc:sldChg chg="modSp mod">
        <pc:chgData name="Chris Moreh" userId="17b81281-9f29-44e0-9273-6dadbf6896a2" providerId="ADAL" clId="{BCF66164-2C9C-4B48-AFF3-6B0B0038345A}" dt="2025-11-24T09:41:18.727" v="1" actId="20577"/>
        <pc:sldMkLst>
          <pc:docMk/>
          <pc:sldMk cId="3814459198" sldId="307"/>
        </pc:sldMkLst>
        <pc:spChg chg="mod">
          <ac:chgData name="Chris Moreh" userId="17b81281-9f29-44e0-9273-6dadbf6896a2" providerId="ADAL" clId="{BCF66164-2C9C-4B48-AFF3-6B0B0038345A}" dt="2025-11-24T09:41:18.727" v="1" actId="20577"/>
          <ac:spMkLst>
            <pc:docMk/>
            <pc:sldMk cId="3814459198" sldId="307"/>
            <ac:spMk id="6" creationId="{24060982-6EE3-A8F1-75FE-C4BDB2FF3CBE}"/>
          </ac:spMkLst>
        </pc:spChg>
      </pc:sldChg>
      <pc:sldChg chg="add">
        <pc:chgData name="Chris Moreh" userId="17b81281-9f29-44e0-9273-6dadbf6896a2" providerId="ADAL" clId="{BCF66164-2C9C-4B48-AFF3-6B0B0038345A}" dt="2025-11-24T11:03:53.903" v="61"/>
        <pc:sldMkLst>
          <pc:docMk/>
          <pc:sldMk cId="0" sldId="310"/>
        </pc:sldMkLst>
      </pc:sldChg>
      <pc:sldChg chg="ord">
        <pc:chgData name="Chris Moreh" userId="17b81281-9f29-44e0-9273-6dadbf6896a2" providerId="ADAL" clId="{BCF66164-2C9C-4B48-AFF3-6B0B0038345A}" dt="2025-11-24T10:58:31.525" v="54"/>
        <pc:sldMkLst>
          <pc:docMk/>
          <pc:sldMk cId="404413708" sldId="357"/>
        </pc:sldMkLst>
      </pc:sldChg>
      <pc:sldChg chg="modSp mod">
        <pc:chgData name="Chris Moreh" userId="17b81281-9f29-44e0-9273-6dadbf6896a2" providerId="ADAL" clId="{BCF66164-2C9C-4B48-AFF3-6B0B0038345A}" dt="2025-11-24T09:42:45.650" v="48" actId="114"/>
        <pc:sldMkLst>
          <pc:docMk/>
          <pc:sldMk cId="3523596212" sldId="518"/>
        </pc:sldMkLst>
        <pc:spChg chg="mod">
          <ac:chgData name="Chris Moreh" userId="17b81281-9f29-44e0-9273-6dadbf6896a2" providerId="ADAL" clId="{BCF66164-2C9C-4B48-AFF3-6B0B0038345A}" dt="2025-11-24T09:42:45.650" v="48" actId="114"/>
          <ac:spMkLst>
            <pc:docMk/>
            <pc:sldMk cId="3523596212" sldId="518"/>
            <ac:spMk id="13" creationId="{2C10D394-C9B2-B03C-4136-7B6EEA8FFA9D}"/>
          </ac:spMkLst>
        </pc:spChg>
      </pc:sldChg>
      <pc:sldChg chg="del">
        <pc:chgData name="Chris Moreh" userId="17b81281-9f29-44e0-9273-6dadbf6896a2" providerId="ADAL" clId="{BCF66164-2C9C-4B48-AFF3-6B0B0038345A}" dt="2025-11-24T10:59:56.307" v="60" actId="47"/>
        <pc:sldMkLst>
          <pc:docMk/>
          <pc:sldMk cId="1301853266" sldId="523"/>
        </pc:sldMkLst>
      </pc:sldChg>
      <pc:sldChg chg="del">
        <pc:chgData name="Chris Moreh" userId="17b81281-9f29-44e0-9273-6dadbf6896a2" providerId="ADAL" clId="{BCF66164-2C9C-4B48-AFF3-6B0B0038345A}" dt="2025-11-24T10:57:34.746" v="50" actId="47"/>
        <pc:sldMkLst>
          <pc:docMk/>
          <pc:sldMk cId="2121120123" sldId="542"/>
        </pc:sldMkLst>
      </pc:sldChg>
      <pc:sldChg chg="del">
        <pc:chgData name="Chris Moreh" userId="17b81281-9f29-44e0-9273-6dadbf6896a2" providerId="ADAL" clId="{BCF66164-2C9C-4B48-AFF3-6B0B0038345A}" dt="2025-11-24T10:57:27.312" v="49" actId="47"/>
        <pc:sldMkLst>
          <pc:docMk/>
          <pc:sldMk cId="2617544839" sldId="549"/>
        </pc:sldMkLst>
      </pc:sldChg>
      <pc:sldChg chg="del">
        <pc:chgData name="Chris Moreh" userId="17b81281-9f29-44e0-9273-6dadbf6896a2" providerId="ADAL" clId="{BCF66164-2C9C-4B48-AFF3-6B0B0038345A}" dt="2025-11-24T10:57:41.291" v="52" actId="47"/>
        <pc:sldMkLst>
          <pc:docMk/>
          <pc:sldMk cId="1896707103" sldId="551"/>
        </pc:sldMkLst>
      </pc:sldChg>
      <pc:sldChg chg="del">
        <pc:chgData name="Chris Moreh" userId="17b81281-9f29-44e0-9273-6dadbf6896a2" providerId="ADAL" clId="{BCF66164-2C9C-4B48-AFF3-6B0B0038345A}" dt="2025-11-24T10:57:38.706" v="51" actId="47"/>
        <pc:sldMkLst>
          <pc:docMk/>
          <pc:sldMk cId="324367232" sldId="560"/>
        </pc:sldMkLst>
      </pc:sldChg>
      <pc:sldChg chg="del">
        <pc:chgData name="Chris Moreh" userId="17b81281-9f29-44e0-9273-6dadbf6896a2" providerId="ADAL" clId="{BCF66164-2C9C-4B48-AFF3-6B0B0038345A}" dt="2025-11-24T10:59:45.059" v="59" actId="47"/>
        <pc:sldMkLst>
          <pc:docMk/>
          <pc:sldMk cId="3329067806" sldId="56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points</c:v>
                </c:pt>
              </c:strCache>
            </c:strRef>
          </c:tx>
          <c:spPr>
            <a:ln w="47625">
              <a:noFill/>
            </a:ln>
          </c:spPr>
          <c:marker>
            <c:symbol val="circle"/>
            <c:size val="7"/>
            <c:spPr>
              <a:solidFill>
                <a:srgbClr val="1F394D"/>
              </a:solidFill>
              <a:ln>
                <a:solidFill>
                  <a:srgbClr val="FFFFFF"/>
                </a:solidFill>
              </a:ln>
            </c:spPr>
          </c:marker>
          <c:xVal>
            <c:numRef>
              <c:f>Sheet1!$A$2:$A$12</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Sheet1!$B$2:$B$12</c:f>
              <c:numCache>
                <c:formatCode>General</c:formatCode>
                <c:ptCount val="11"/>
                <c:pt idx="0">
                  <c:v>8.0399999999999991</c:v>
                </c:pt>
                <c:pt idx="1">
                  <c:v>6.95</c:v>
                </c:pt>
                <c:pt idx="2">
                  <c:v>7.58</c:v>
                </c:pt>
                <c:pt idx="3">
                  <c:v>8.81</c:v>
                </c:pt>
                <c:pt idx="4">
                  <c:v>8.33</c:v>
                </c:pt>
                <c:pt idx="5">
                  <c:v>9.9600000000000009</c:v>
                </c:pt>
                <c:pt idx="6">
                  <c:v>7.24</c:v>
                </c:pt>
                <c:pt idx="7">
                  <c:v>4.26</c:v>
                </c:pt>
                <c:pt idx="8">
                  <c:v>10.84</c:v>
                </c:pt>
                <c:pt idx="9">
                  <c:v>4.82</c:v>
                </c:pt>
                <c:pt idx="10">
                  <c:v>5.68</c:v>
                </c:pt>
              </c:numCache>
            </c:numRef>
          </c:yVal>
          <c:smooth val="0"/>
          <c:extLst>
            <c:ext xmlns:c16="http://schemas.microsoft.com/office/drawing/2014/chart" uri="{C3380CC4-5D6E-409C-BE32-E72D297353CC}">
              <c16:uniqueId val="{00000000-F64B-4748-BC13-6CE91852CF70}"/>
            </c:ext>
          </c:extLst>
        </c:ser>
        <c:ser>
          <c:idx val="1"/>
          <c:order val="1"/>
          <c:tx>
            <c:strRef>
              <c:f>Sheet1!$B$14</c:f>
              <c:strCache>
                <c:ptCount val="1"/>
                <c:pt idx="0">
                  <c:v>line</c:v>
                </c:pt>
              </c:strCache>
            </c:strRef>
          </c:tx>
          <c:spPr>
            <a:ln w="25400">
              <a:solidFill>
                <a:srgbClr val="B88C00"/>
              </a:solidFill>
            </a:ln>
          </c:spPr>
          <c:marker>
            <c:symbol val="none"/>
          </c:marker>
          <c:xVal>
            <c:numRef>
              <c:f>Sheet1!$A$15:$A$16</c:f>
              <c:numCache>
                <c:formatCode>General</c:formatCode>
                <c:ptCount val="2"/>
                <c:pt idx="0">
                  <c:v>4</c:v>
                </c:pt>
                <c:pt idx="1">
                  <c:v>14</c:v>
                </c:pt>
              </c:numCache>
            </c:numRef>
          </c:xVal>
          <c:yVal>
            <c:numRef>
              <c:f>Sheet1!$B$15:$B$16</c:f>
              <c:numCache>
                <c:formatCode>General</c:formatCode>
                <c:ptCount val="2"/>
                <c:pt idx="0">
                  <c:v>5.0004545450000002</c:v>
                </c:pt>
                <c:pt idx="1">
                  <c:v>10.001363639999999</c:v>
                </c:pt>
              </c:numCache>
            </c:numRef>
          </c:yVal>
          <c:smooth val="0"/>
          <c:extLst>
            <c:ext xmlns:c16="http://schemas.microsoft.com/office/drawing/2014/chart" uri="{C3380CC4-5D6E-409C-BE32-E72D297353CC}">
              <c16:uniqueId val="{00000001-F64B-4748-BC13-6CE91852CF70}"/>
            </c:ext>
          </c:extLst>
        </c:ser>
        <c:ser>
          <c:idx val="2"/>
          <c:order val="2"/>
          <c:tx>
            <c:strRef>
              <c:f>Sheet1!$B$18</c:f>
              <c:strCache>
                <c:ptCount val="1"/>
                <c:pt idx="0">
                  <c:v>Line beyond the data</c:v>
                </c:pt>
              </c:strCache>
            </c:strRef>
          </c:tx>
          <c:spPr>
            <a:ln w="19050" cap="rnd">
              <a:solidFill>
                <a:srgbClr val="B88C00"/>
              </a:solidFill>
              <a:prstDash val="dash"/>
              <a:round/>
            </a:ln>
          </c:spPr>
          <c:marker>
            <c:symbol val="none"/>
          </c:marker>
          <c:xVal>
            <c:numRef>
              <c:f>Sheet1!$A$19:$A$20</c:f>
              <c:numCache>
                <c:formatCode>General</c:formatCode>
                <c:ptCount val="2"/>
                <c:pt idx="0">
                  <c:v>0</c:v>
                </c:pt>
                <c:pt idx="1">
                  <c:v>4</c:v>
                </c:pt>
              </c:numCache>
            </c:numRef>
          </c:xVal>
          <c:yVal>
            <c:numRef>
              <c:f>Sheet1!$B$19:$B$20</c:f>
              <c:numCache>
                <c:formatCode>General</c:formatCode>
                <c:ptCount val="2"/>
                <c:pt idx="0">
                  <c:v>3.0000909089999999</c:v>
                </c:pt>
                <c:pt idx="1">
                  <c:v>5.0004545450000002</c:v>
                </c:pt>
              </c:numCache>
            </c:numRef>
          </c:yVal>
          <c:smooth val="0"/>
          <c:extLst>
            <c:ext xmlns:c16="http://schemas.microsoft.com/office/drawing/2014/chart" uri="{C3380CC4-5D6E-409C-BE32-E72D297353CC}">
              <c16:uniqueId val="{00000000-A011-4E0E-B363-278A4227A0D6}"/>
            </c:ext>
          </c:extLst>
        </c:ser>
        <c:ser>
          <c:idx val="3"/>
          <c:order val="3"/>
          <c:tx>
            <c:strRef>
              <c:f>Sheet1!$B$22</c:f>
              <c:strCache>
                <c:ptCount val="1"/>
                <c:pt idx="0">
                  <c:v>Intercept</c:v>
                </c:pt>
              </c:strCache>
            </c:strRef>
          </c:tx>
          <c:spPr>
            <a:ln w="47625">
              <a:noFill/>
            </a:ln>
          </c:spPr>
          <c:marker>
            <c:symbol val="circle"/>
            <c:size val="7"/>
            <c:spPr>
              <a:solidFill>
                <a:srgbClr val="B88C00"/>
              </a:solidFill>
              <a:ln w="15875">
                <a:solidFill>
                  <a:srgbClr val="FFFFFF"/>
                </a:solidFill>
              </a:ln>
            </c:spPr>
          </c:marker>
          <c:xVal>
            <c:numRef>
              <c:f>Sheet1!$A$23:$A$23</c:f>
              <c:numCache>
                <c:formatCode>General</c:formatCode>
                <c:ptCount val="1"/>
                <c:pt idx="0">
                  <c:v>0</c:v>
                </c:pt>
              </c:numCache>
            </c:numRef>
          </c:xVal>
          <c:yVal>
            <c:numRef>
              <c:f>Sheet1!$B$23:$B$23</c:f>
              <c:numCache>
                <c:formatCode>General</c:formatCode>
                <c:ptCount val="1"/>
                <c:pt idx="0">
                  <c:v>3.0000909089999999</c:v>
                </c:pt>
              </c:numCache>
            </c:numRef>
          </c:yVal>
          <c:smooth val="0"/>
          <c:extLst>
            <c:ext xmlns:c16="http://schemas.microsoft.com/office/drawing/2014/chart" uri="{C3380CC4-5D6E-409C-BE32-E72D297353CC}">
              <c16:uniqueId val="{00000001-A011-4E0E-B363-278A4227A0D6}"/>
            </c:ext>
          </c:extLst>
        </c:ser>
        <c:dLbls>
          <c:showLegendKey val="0"/>
          <c:showVal val="0"/>
          <c:showCatName val="0"/>
          <c:showSerName val="0"/>
          <c:showPercent val="0"/>
          <c:showBubbleSize val="0"/>
        </c:dLbls>
        <c:axId val="-2128940872"/>
        <c:axId val="-2129643912"/>
      </c:scatterChart>
      <c:valAx>
        <c:axId val="-2128940872"/>
        <c:scaling>
          <c:orientation val="minMax"/>
          <c:max val="20"/>
          <c:min val="0"/>
        </c:scaling>
        <c:delete val="0"/>
        <c:axPos val="b"/>
        <c:numFmt formatCode="General" sourceLinked="1"/>
        <c:majorTickMark val="out"/>
        <c:minorTickMark val="none"/>
        <c:tickLblPos val="nextTo"/>
        <c:spPr>
          <a:ln>
            <a:solidFill>
              <a:srgbClr val="BBC4CC"/>
            </a:solidFill>
          </a:ln>
        </c:spPr>
        <c:txPr>
          <a:bodyPr/>
          <a:lstStyle/>
          <a:p>
            <a:pPr>
              <a:defRPr sz="1100">
                <a:solidFill>
                  <a:srgbClr val="55606B"/>
                </a:solidFill>
              </a:defRPr>
            </a:pPr>
            <a:endParaRPr lang="en-US"/>
          </a:p>
        </c:txPr>
        <c:crossAx val="-2129643912"/>
        <c:crosses val="autoZero"/>
        <c:crossBetween val="midCat"/>
        <c:majorUnit val="5"/>
      </c:valAx>
      <c:valAx>
        <c:axId val="-2129643912"/>
        <c:scaling>
          <c:orientation val="minMax"/>
          <c:max val="14"/>
          <c:min val="2"/>
        </c:scaling>
        <c:delete val="0"/>
        <c:axPos val="l"/>
        <c:majorGridlines>
          <c:spPr>
            <a:ln>
              <a:solidFill>
                <a:srgbClr val="DDE3E8"/>
              </a:solidFill>
            </a:ln>
          </c:spPr>
        </c:majorGridlines>
        <c:numFmt formatCode="General" sourceLinked="1"/>
        <c:majorTickMark val="out"/>
        <c:minorTickMark val="none"/>
        <c:tickLblPos val="nextTo"/>
        <c:spPr>
          <a:ln>
            <a:solidFill>
              <a:srgbClr val="BBC4CC"/>
            </a:solidFill>
          </a:ln>
        </c:spPr>
        <c:txPr>
          <a:bodyPr/>
          <a:lstStyle/>
          <a:p>
            <a:pPr>
              <a:defRPr sz="1100">
                <a:solidFill>
                  <a:srgbClr val="55606B"/>
                </a:solidFill>
              </a:defRPr>
            </a:pPr>
            <a:endParaRPr lang="en-US"/>
          </a:p>
        </c:txPr>
        <c:crossAx val="-2128940872"/>
        <c:crosses val="autoZero"/>
        <c:crossBetween val="midCat"/>
        <c:majorUnit val="4"/>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points</c:v>
                </c:pt>
              </c:strCache>
            </c:strRef>
          </c:tx>
          <c:spPr>
            <a:ln w="47625">
              <a:noFill/>
            </a:ln>
          </c:spPr>
          <c:marker>
            <c:symbol val="circle"/>
            <c:size val="7"/>
            <c:spPr>
              <a:solidFill>
                <a:srgbClr val="1F394D"/>
              </a:solidFill>
              <a:ln>
                <a:solidFill>
                  <a:srgbClr val="FFFFFF"/>
                </a:solidFill>
              </a:ln>
            </c:spPr>
          </c:marker>
          <c:xVal>
            <c:numRef>
              <c:f>Sheet1!$A$2:$A$12</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Sheet1!$B$2:$B$12</c:f>
              <c:numCache>
                <c:formatCode>General</c:formatCode>
                <c:ptCount val="11"/>
                <c:pt idx="0">
                  <c:v>9.14</c:v>
                </c:pt>
                <c:pt idx="1">
                  <c:v>8.14</c:v>
                </c:pt>
                <c:pt idx="2">
                  <c:v>8.74</c:v>
                </c:pt>
                <c:pt idx="3">
                  <c:v>8.77</c:v>
                </c:pt>
                <c:pt idx="4">
                  <c:v>9.26</c:v>
                </c:pt>
                <c:pt idx="5">
                  <c:v>8.1</c:v>
                </c:pt>
                <c:pt idx="6">
                  <c:v>6.13</c:v>
                </c:pt>
                <c:pt idx="7">
                  <c:v>3.1</c:v>
                </c:pt>
                <c:pt idx="8">
                  <c:v>9.1300000000000008</c:v>
                </c:pt>
                <c:pt idx="9">
                  <c:v>7.26</c:v>
                </c:pt>
                <c:pt idx="10">
                  <c:v>4.74</c:v>
                </c:pt>
              </c:numCache>
            </c:numRef>
          </c:yVal>
          <c:smooth val="0"/>
          <c:extLst>
            <c:ext xmlns:c16="http://schemas.microsoft.com/office/drawing/2014/chart" uri="{C3380CC4-5D6E-409C-BE32-E72D297353CC}">
              <c16:uniqueId val="{00000000-6936-4A29-B554-4F62D489FADA}"/>
            </c:ext>
          </c:extLst>
        </c:ser>
        <c:ser>
          <c:idx val="1"/>
          <c:order val="1"/>
          <c:tx>
            <c:strRef>
              <c:f>Sheet1!$B$14</c:f>
              <c:strCache>
                <c:ptCount val="1"/>
                <c:pt idx="0">
                  <c:v>line</c:v>
                </c:pt>
              </c:strCache>
            </c:strRef>
          </c:tx>
          <c:spPr>
            <a:ln w="25400">
              <a:solidFill>
                <a:srgbClr val="B88C00"/>
              </a:solidFill>
            </a:ln>
          </c:spPr>
          <c:marker>
            <c:symbol val="none"/>
          </c:marker>
          <c:xVal>
            <c:numRef>
              <c:f>Sheet1!$A$15:$A$16</c:f>
              <c:numCache>
                <c:formatCode>General</c:formatCode>
                <c:ptCount val="2"/>
                <c:pt idx="0">
                  <c:v>4</c:v>
                </c:pt>
                <c:pt idx="1">
                  <c:v>14</c:v>
                </c:pt>
              </c:numCache>
            </c:numRef>
          </c:xVal>
          <c:yVal>
            <c:numRef>
              <c:f>Sheet1!$B$15:$B$16</c:f>
              <c:numCache>
                <c:formatCode>General</c:formatCode>
                <c:ptCount val="2"/>
                <c:pt idx="0">
                  <c:v>5.0009090909999996</c:v>
                </c:pt>
                <c:pt idx="1">
                  <c:v>10.00090909</c:v>
                </c:pt>
              </c:numCache>
            </c:numRef>
          </c:yVal>
          <c:smooth val="0"/>
          <c:extLst>
            <c:ext xmlns:c16="http://schemas.microsoft.com/office/drawing/2014/chart" uri="{C3380CC4-5D6E-409C-BE32-E72D297353CC}">
              <c16:uniqueId val="{00000001-6936-4A29-B554-4F62D489FADA}"/>
            </c:ext>
          </c:extLst>
        </c:ser>
        <c:ser>
          <c:idx val="2"/>
          <c:order val="2"/>
          <c:tx>
            <c:strRef>
              <c:f>Sheet1!$B$18</c:f>
              <c:strCache>
                <c:ptCount val="1"/>
                <c:pt idx="0">
                  <c:v>Line beyond the data</c:v>
                </c:pt>
              </c:strCache>
            </c:strRef>
          </c:tx>
          <c:spPr>
            <a:ln w="19050" cap="rnd">
              <a:solidFill>
                <a:srgbClr val="B88C00"/>
              </a:solidFill>
              <a:prstDash val="dash"/>
              <a:round/>
            </a:ln>
          </c:spPr>
          <c:marker>
            <c:symbol val="none"/>
          </c:marker>
          <c:xVal>
            <c:numRef>
              <c:f>Sheet1!$A$19:$A$20</c:f>
              <c:numCache>
                <c:formatCode>General</c:formatCode>
                <c:ptCount val="2"/>
                <c:pt idx="0">
                  <c:v>0</c:v>
                </c:pt>
                <c:pt idx="1">
                  <c:v>4</c:v>
                </c:pt>
              </c:numCache>
            </c:numRef>
          </c:xVal>
          <c:yVal>
            <c:numRef>
              <c:f>Sheet1!$B$19:$B$20</c:f>
              <c:numCache>
                <c:formatCode>General</c:formatCode>
                <c:ptCount val="2"/>
                <c:pt idx="0">
                  <c:v>3.000909091</c:v>
                </c:pt>
                <c:pt idx="1">
                  <c:v>5.0009090909999996</c:v>
                </c:pt>
              </c:numCache>
            </c:numRef>
          </c:yVal>
          <c:smooth val="0"/>
          <c:extLst>
            <c:ext xmlns:c16="http://schemas.microsoft.com/office/drawing/2014/chart" uri="{C3380CC4-5D6E-409C-BE32-E72D297353CC}">
              <c16:uniqueId val="{00000000-4BBC-4B45-878F-F690FEE7E18C}"/>
            </c:ext>
          </c:extLst>
        </c:ser>
        <c:ser>
          <c:idx val="3"/>
          <c:order val="3"/>
          <c:tx>
            <c:strRef>
              <c:f>Sheet1!$B$22</c:f>
              <c:strCache>
                <c:ptCount val="1"/>
                <c:pt idx="0">
                  <c:v>Intercept</c:v>
                </c:pt>
              </c:strCache>
            </c:strRef>
          </c:tx>
          <c:spPr>
            <a:ln w="47625">
              <a:noFill/>
            </a:ln>
          </c:spPr>
          <c:marker>
            <c:symbol val="circle"/>
            <c:size val="7"/>
            <c:spPr>
              <a:solidFill>
                <a:srgbClr val="B88C00"/>
              </a:solidFill>
              <a:ln w="15875">
                <a:solidFill>
                  <a:srgbClr val="FFFFFF"/>
                </a:solidFill>
              </a:ln>
            </c:spPr>
          </c:marker>
          <c:xVal>
            <c:numRef>
              <c:f>Sheet1!$A$23:$A$23</c:f>
              <c:numCache>
                <c:formatCode>General</c:formatCode>
                <c:ptCount val="1"/>
                <c:pt idx="0">
                  <c:v>0</c:v>
                </c:pt>
              </c:numCache>
            </c:numRef>
          </c:xVal>
          <c:yVal>
            <c:numRef>
              <c:f>Sheet1!$B$23:$B$23</c:f>
              <c:numCache>
                <c:formatCode>General</c:formatCode>
                <c:ptCount val="1"/>
                <c:pt idx="0">
                  <c:v>3.000909091</c:v>
                </c:pt>
              </c:numCache>
            </c:numRef>
          </c:yVal>
          <c:smooth val="0"/>
          <c:extLst>
            <c:ext xmlns:c16="http://schemas.microsoft.com/office/drawing/2014/chart" uri="{C3380CC4-5D6E-409C-BE32-E72D297353CC}">
              <c16:uniqueId val="{00000001-4BBC-4B45-878F-F690FEE7E18C}"/>
            </c:ext>
          </c:extLst>
        </c:ser>
        <c:dLbls>
          <c:showLegendKey val="0"/>
          <c:showVal val="0"/>
          <c:showCatName val="0"/>
          <c:showSerName val="0"/>
          <c:showPercent val="0"/>
          <c:showBubbleSize val="0"/>
        </c:dLbls>
        <c:axId val="-2128940872"/>
        <c:axId val="-2129643912"/>
      </c:scatterChart>
      <c:valAx>
        <c:axId val="-2128940872"/>
        <c:scaling>
          <c:orientation val="minMax"/>
          <c:max val="20"/>
          <c:min val="0"/>
        </c:scaling>
        <c:delete val="0"/>
        <c:axPos val="b"/>
        <c:numFmt formatCode="General" sourceLinked="1"/>
        <c:majorTickMark val="out"/>
        <c:minorTickMark val="none"/>
        <c:tickLblPos val="nextTo"/>
        <c:spPr>
          <a:ln>
            <a:solidFill>
              <a:srgbClr val="BBC4CC"/>
            </a:solidFill>
          </a:ln>
        </c:spPr>
        <c:txPr>
          <a:bodyPr/>
          <a:lstStyle/>
          <a:p>
            <a:pPr>
              <a:defRPr sz="1100">
                <a:solidFill>
                  <a:srgbClr val="55606B"/>
                </a:solidFill>
              </a:defRPr>
            </a:pPr>
            <a:endParaRPr lang="en-US"/>
          </a:p>
        </c:txPr>
        <c:crossAx val="-2129643912"/>
        <c:crosses val="autoZero"/>
        <c:crossBetween val="midCat"/>
        <c:majorUnit val="5"/>
      </c:valAx>
      <c:valAx>
        <c:axId val="-2129643912"/>
        <c:scaling>
          <c:orientation val="minMax"/>
          <c:max val="14"/>
          <c:min val="2"/>
        </c:scaling>
        <c:delete val="0"/>
        <c:axPos val="l"/>
        <c:majorGridlines>
          <c:spPr>
            <a:ln>
              <a:solidFill>
                <a:srgbClr val="DDE3E8"/>
              </a:solidFill>
            </a:ln>
          </c:spPr>
        </c:majorGridlines>
        <c:numFmt formatCode="General" sourceLinked="1"/>
        <c:majorTickMark val="out"/>
        <c:minorTickMark val="none"/>
        <c:tickLblPos val="nextTo"/>
        <c:spPr>
          <a:ln>
            <a:solidFill>
              <a:srgbClr val="BBC4CC"/>
            </a:solidFill>
          </a:ln>
        </c:spPr>
        <c:txPr>
          <a:bodyPr/>
          <a:lstStyle/>
          <a:p>
            <a:pPr>
              <a:defRPr sz="1100">
                <a:solidFill>
                  <a:srgbClr val="55606B"/>
                </a:solidFill>
              </a:defRPr>
            </a:pPr>
            <a:endParaRPr lang="en-US"/>
          </a:p>
        </c:txPr>
        <c:crossAx val="-2128940872"/>
        <c:crosses val="autoZero"/>
        <c:crossBetween val="midCat"/>
        <c:majorUnit val="4"/>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points</c:v>
                </c:pt>
              </c:strCache>
            </c:strRef>
          </c:tx>
          <c:spPr>
            <a:ln w="47625">
              <a:noFill/>
            </a:ln>
          </c:spPr>
          <c:marker>
            <c:symbol val="circle"/>
            <c:size val="7"/>
            <c:spPr>
              <a:solidFill>
                <a:srgbClr val="1F394D"/>
              </a:solidFill>
              <a:ln>
                <a:solidFill>
                  <a:srgbClr val="FFFFFF"/>
                </a:solidFill>
              </a:ln>
            </c:spPr>
          </c:marker>
          <c:xVal>
            <c:numRef>
              <c:f>Sheet1!$A$2:$A$12</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Sheet1!$B$2:$B$12</c:f>
              <c:numCache>
                <c:formatCode>General</c:formatCode>
                <c:ptCount val="11"/>
                <c:pt idx="0">
                  <c:v>7.46</c:v>
                </c:pt>
                <c:pt idx="1">
                  <c:v>6.77</c:v>
                </c:pt>
                <c:pt idx="2">
                  <c:v>12.74</c:v>
                </c:pt>
                <c:pt idx="3">
                  <c:v>7.11</c:v>
                </c:pt>
                <c:pt idx="4">
                  <c:v>7.81</c:v>
                </c:pt>
                <c:pt idx="5">
                  <c:v>8.84</c:v>
                </c:pt>
                <c:pt idx="6">
                  <c:v>6.08</c:v>
                </c:pt>
                <c:pt idx="7">
                  <c:v>5.39</c:v>
                </c:pt>
                <c:pt idx="8">
                  <c:v>8.15</c:v>
                </c:pt>
                <c:pt idx="9">
                  <c:v>6.42</c:v>
                </c:pt>
                <c:pt idx="10">
                  <c:v>5.73</c:v>
                </c:pt>
              </c:numCache>
            </c:numRef>
          </c:yVal>
          <c:smooth val="0"/>
          <c:extLst>
            <c:ext xmlns:c16="http://schemas.microsoft.com/office/drawing/2014/chart" uri="{C3380CC4-5D6E-409C-BE32-E72D297353CC}">
              <c16:uniqueId val="{00000000-E1B8-431D-8986-0013AED0E26A}"/>
            </c:ext>
          </c:extLst>
        </c:ser>
        <c:ser>
          <c:idx val="1"/>
          <c:order val="1"/>
          <c:tx>
            <c:strRef>
              <c:f>Sheet1!$B$14</c:f>
              <c:strCache>
                <c:ptCount val="1"/>
                <c:pt idx="0">
                  <c:v>line</c:v>
                </c:pt>
              </c:strCache>
            </c:strRef>
          </c:tx>
          <c:spPr>
            <a:ln w="25400">
              <a:solidFill>
                <a:srgbClr val="B88C00"/>
              </a:solidFill>
            </a:ln>
          </c:spPr>
          <c:marker>
            <c:symbol val="none"/>
          </c:marker>
          <c:xVal>
            <c:numRef>
              <c:f>Sheet1!$A$15:$A$16</c:f>
              <c:numCache>
                <c:formatCode>General</c:formatCode>
                <c:ptCount val="2"/>
                <c:pt idx="0">
                  <c:v>4</c:v>
                </c:pt>
                <c:pt idx="1">
                  <c:v>14</c:v>
                </c:pt>
              </c:numCache>
            </c:numRef>
          </c:xVal>
          <c:yVal>
            <c:numRef>
              <c:f>Sheet1!$B$15:$B$16</c:f>
              <c:numCache>
                <c:formatCode>General</c:formatCode>
                <c:ptCount val="2"/>
                <c:pt idx="0">
                  <c:v>5.0013636359999998</c:v>
                </c:pt>
                <c:pt idx="1">
                  <c:v>9.9986363639999993</c:v>
                </c:pt>
              </c:numCache>
            </c:numRef>
          </c:yVal>
          <c:smooth val="0"/>
          <c:extLst>
            <c:ext xmlns:c16="http://schemas.microsoft.com/office/drawing/2014/chart" uri="{C3380CC4-5D6E-409C-BE32-E72D297353CC}">
              <c16:uniqueId val="{00000001-E1B8-431D-8986-0013AED0E26A}"/>
            </c:ext>
          </c:extLst>
        </c:ser>
        <c:ser>
          <c:idx val="2"/>
          <c:order val="2"/>
          <c:tx>
            <c:strRef>
              <c:f>Sheet1!$B$18</c:f>
              <c:strCache>
                <c:ptCount val="1"/>
                <c:pt idx="0">
                  <c:v>Line beyond the data</c:v>
                </c:pt>
              </c:strCache>
            </c:strRef>
          </c:tx>
          <c:spPr>
            <a:ln w="19050" cap="rnd">
              <a:solidFill>
                <a:srgbClr val="B88C00"/>
              </a:solidFill>
              <a:prstDash val="dash"/>
              <a:round/>
            </a:ln>
          </c:spPr>
          <c:marker>
            <c:symbol val="none"/>
          </c:marker>
          <c:xVal>
            <c:numRef>
              <c:f>Sheet1!$A$19:$A$20</c:f>
              <c:numCache>
                <c:formatCode>General</c:formatCode>
                <c:ptCount val="2"/>
                <c:pt idx="0">
                  <c:v>0</c:v>
                </c:pt>
                <c:pt idx="1">
                  <c:v>4</c:v>
                </c:pt>
              </c:numCache>
            </c:numRef>
          </c:xVal>
          <c:yVal>
            <c:numRef>
              <c:f>Sheet1!$B$19:$B$20</c:f>
              <c:numCache>
                <c:formatCode>General</c:formatCode>
                <c:ptCount val="2"/>
                <c:pt idx="0">
                  <c:v>3.002454545</c:v>
                </c:pt>
                <c:pt idx="1">
                  <c:v>5.0013636359999998</c:v>
                </c:pt>
              </c:numCache>
            </c:numRef>
          </c:yVal>
          <c:smooth val="0"/>
          <c:extLst>
            <c:ext xmlns:c16="http://schemas.microsoft.com/office/drawing/2014/chart" uri="{C3380CC4-5D6E-409C-BE32-E72D297353CC}">
              <c16:uniqueId val="{00000000-F7F4-466E-A957-825D0430B074}"/>
            </c:ext>
          </c:extLst>
        </c:ser>
        <c:ser>
          <c:idx val="3"/>
          <c:order val="3"/>
          <c:tx>
            <c:strRef>
              <c:f>Sheet1!$B$22</c:f>
              <c:strCache>
                <c:ptCount val="1"/>
                <c:pt idx="0">
                  <c:v>Intercept</c:v>
                </c:pt>
              </c:strCache>
            </c:strRef>
          </c:tx>
          <c:spPr>
            <a:ln w="47625">
              <a:noFill/>
            </a:ln>
          </c:spPr>
          <c:marker>
            <c:symbol val="circle"/>
            <c:size val="7"/>
            <c:spPr>
              <a:solidFill>
                <a:srgbClr val="B88C00"/>
              </a:solidFill>
              <a:ln w="15875">
                <a:solidFill>
                  <a:srgbClr val="FFFFFF"/>
                </a:solidFill>
              </a:ln>
            </c:spPr>
          </c:marker>
          <c:xVal>
            <c:numRef>
              <c:f>Sheet1!$A$23:$A$23</c:f>
              <c:numCache>
                <c:formatCode>General</c:formatCode>
                <c:ptCount val="1"/>
                <c:pt idx="0">
                  <c:v>0</c:v>
                </c:pt>
              </c:numCache>
            </c:numRef>
          </c:xVal>
          <c:yVal>
            <c:numRef>
              <c:f>Sheet1!$B$23:$B$23</c:f>
              <c:numCache>
                <c:formatCode>General</c:formatCode>
                <c:ptCount val="1"/>
                <c:pt idx="0">
                  <c:v>3.002454545</c:v>
                </c:pt>
              </c:numCache>
            </c:numRef>
          </c:yVal>
          <c:smooth val="0"/>
          <c:extLst>
            <c:ext xmlns:c16="http://schemas.microsoft.com/office/drawing/2014/chart" uri="{C3380CC4-5D6E-409C-BE32-E72D297353CC}">
              <c16:uniqueId val="{00000001-F7F4-466E-A957-825D0430B074}"/>
            </c:ext>
          </c:extLst>
        </c:ser>
        <c:dLbls>
          <c:showLegendKey val="0"/>
          <c:showVal val="0"/>
          <c:showCatName val="0"/>
          <c:showSerName val="0"/>
          <c:showPercent val="0"/>
          <c:showBubbleSize val="0"/>
        </c:dLbls>
        <c:axId val="-2128940872"/>
        <c:axId val="-2129643912"/>
      </c:scatterChart>
      <c:valAx>
        <c:axId val="-2128940872"/>
        <c:scaling>
          <c:orientation val="minMax"/>
          <c:max val="20"/>
          <c:min val="0"/>
        </c:scaling>
        <c:delete val="0"/>
        <c:axPos val="b"/>
        <c:numFmt formatCode="General" sourceLinked="1"/>
        <c:majorTickMark val="out"/>
        <c:minorTickMark val="none"/>
        <c:tickLblPos val="nextTo"/>
        <c:spPr>
          <a:ln>
            <a:solidFill>
              <a:srgbClr val="BBC4CC"/>
            </a:solidFill>
          </a:ln>
        </c:spPr>
        <c:txPr>
          <a:bodyPr/>
          <a:lstStyle/>
          <a:p>
            <a:pPr>
              <a:defRPr sz="1100">
                <a:solidFill>
                  <a:srgbClr val="55606B"/>
                </a:solidFill>
              </a:defRPr>
            </a:pPr>
            <a:endParaRPr lang="en-US"/>
          </a:p>
        </c:txPr>
        <c:crossAx val="-2129643912"/>
        <c:crosses val="autoZero"/>
        <c:crossBetween val="midCat"/>
        <c:majorUnit val="5"/>
      </c:valAx>
      <c:valAx>
        <c:axId val="-2129643912"/>
        <c:scaling>
          <c:orientation val="minMax"/>
          <c:max val="14"/>
          <c:min val="2"/>
        </c:scaling>
        <c:delete val="0"/>
        <c:axPos val="l"/>
        <c:majorGridlines>
          <c:spPr>
            <a:ln>
              <a:solidFill>
                <a:srgbClr val="DDE3E8"/>
              </a:solidFill>
            </a:ln>
          </c:spPr>
        </c:majorGridlines>
        <c:numFmt formatCode="General" sourceLinked="1"/>
        <c:majorTickMark val="out"/>
        <c:minorTickMark val="none"/>
        <c:tickLblPos val="nextTo"/>
        <c:spPr>
          <a:ln>
            <a:solidFill>
              <a:srgbClr val="BBC4CC"/>
            </a:solidFill>
          </a:ln>
        </c:spPr>
        <c:txPr>
          <a:bodyPr/>
          <a:lstStyle/>
          <a:p>
            <a:pPr>
              <a:defRPr sz="1100">
                <a:solidFill>
                  <a:srgbClr val="55606B"/>
                </a:solidFill>
              </a:defRPr>
            </a:pPr>
            <a:endParaRPr lang="en-US"/>
          </a:p>
        </c:txPr>
        <c:crossAx val="-2128940872"/>
        <c:crosses val="autoZero"/>
        <c:crossBetween val="midCat"/>
        <c:majorUnit val="4"/>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points</c:v>
                </c:pt>
              </c:strCache>
            </c:strRef>
          </c:tx>
          <c:spPr>
            <a:ln w="47625">
              <a:noFill/>
            </a:ln>
          </c:spPr>
          <c:marker>
            <c:symbol val="circle"/>
            <c:size val="7"/>
            <c:spPr>
              <a:solidFill>
                <a:srgbClr val="1F394D"/>
              </a:solidFill>
              <a:ln>
                <a:solidFill>
                  <a:srgbClr val="FFFFFF"/>
                </a:solidFill>
              </a:ln>
            </c:spPr>
          </c:marker>
          <c:xVal>
            <c:numRef>
              <c:f>Sheet1!$A$2:$A$12</c:f>
              <c:numCache>
                <c:formatCode>General</c:formatCode>
                <c:ptCount val="11"/>
                <c:pt idx="0">
                  <c:v>8</c:v>
                </c:pt>
                <c:pt idx="1">
                  <c:v>8</c:v>
                </c:pt>
                <c:pt idx="2">
                  <c:v>8</c:v>
                </c:pt>
                <c:pt idx="3">
                  <c:v>8</c:v>
                </c:pt>
                <c:pt idx="4">
                  <c:v>8</c:v>
                </c:pt>
                <c:pt idx="5">
                  <c:v>8</c:v>
                </c:pt>
                <c:pt idx="6">
                  <c:v>8</c:v>
                </c:pt>
                <c:pt idx="7">
                  <c:v>19</c:v>
                </c:pt>
                <c:pt idx="8">
                  <c:v>8</c:v>
                </c:pt>
                <c:pt idx="9">
                  <c:v>8</c:v>
                </c:pt>
                <c:pt idx="10">
                  <c:v>8</c:v>
                </c:pt>
              </c:numCache>
            </c:numRef>
          </c:xVal>
          <c:yVal>
            <c:numRef>
              <c:f>Sheet1!$B$2:$B$12</c:f>
              <c:numCache>
                <c:formatCode>General</c:formatCode>
                <c:ptCount val="11"/>
                <c:pt idx="0">
                  <c:v>6.58</c:v>
                </c:pt>
                <c:pt idx="1">
                  <c:v>5.76</c:v>
                </c:pt>
                <c:pt idx="2">
                  <c:v>7.71</c:v>
                </c:pt>
                <c:pt idx="3">
                  <c:v>8.84</c:v>
                </c:pt>
                <c:pt idx="4">
                  <c:v>8.4700000000000006</c:v>
                </c:pt>
                <c:pt idx="5">
                  <c:v>7.04</c:v>
                </c:pt>
                <c:pt idx="6">
                  <c:v>5.25</c:v>
                </c:pt>
                <c:pt idx="7">
                  <c:v>12.5</c:v>
                </c:pt>
                <c:pt idx="8">
                  <c:v>5.56</c:v>
                </c:pt>
                <c:pt idx="9">
                  <c:v>7.91</c:v>
                </c:pt>
                <c:pt idx="10">
                  <c:v>6.89</c:v>
                </c:pt>
              </c:numCache>
            </c:numRef>
          </c:yVal>
          <c:smooth val="0"/>
          <c:extLst>
            <c:ext xmlns:c16="http://schemas.microsoft.com/office/drawing/2014/chart" uri="{C3380CC4-5D6E-409C-BE32-E72D297353CC}">
              <c16:uniqueId val="{00000000-8555-41E3-B81C-24AD18502701}"/>
            </c:ext>
          </c:extLst>
        </c:ser>
        <c:ser>
          <c:idx val="1"/>
          <c:order val="1"/>
          <c:tx>
            <c:strRef>
              <c:f>Sheet1!$B$14</c:f>
              <c:strCache>
                <c:ptCount val="1"/>
                <c:pt idx="0">
                  <c:v>line</c:v>
                </c:pt>
              </c:strCache>
            </c:strRef>
          </c:tx>
          <c:spPr>
            <a:ln w="25400">
              <a:solidFill>
                <a:srgbClr val="B88C00"/>
              </a:solidFill>
            </a:ln>
          </c:spPr>
          <c:marker>
            <c:symbol val="none"/>
          </c:marker>
          <c:xVal>
            <c:numRef>
              <c:f>Sheet1!$A$15:$A$16</c:f>
              <c:numCache>
                <c:formatCode>General</c:formatCode>
                <c:ptCount val="2"/>
                <c:pt idx="0">
                  <c:v>8</c:v>
                </c:pt>
                <c:pt idx="1">
                  <c:v>19</c:v>
                </c:pt>
              </c:numCache>
            </c:numRef>
          </c:xVal>
          <c:yVal>
            <c:numRef>
              <c:f>Sheet1!$B$15:$B$16</c:f>
              <c:numCache>
                <c:formatCode>General</c:formatCode>
                <c:ptCount val="2"/>
                <c:pt idx="0">
                  <c:v>7.0010000000000003</c:v>
                </c:pt>
                <c:pt idx="1">
                  <c:v>12.5</c:v>
                </c:pt>
              </c:numCache>
            </c:numRef>
          </c:yVal>
          <c:smooth val="0"/>
          <c:extLst>
            <c:ext xmlns:c16="http://schemas.microsoft.com/office/drawing/2014/chart" uri="{C3380CC4-5D6E-409C-BE32-E72D297353CC}">
              <c16:uniqueId val="{00000001-8555-41E3-B81C-24AD18502701}"/>
            </c:ext>
          </c:extLst>
        </c:ser>
        <c:ser>
          <c:idx val="2"/>
          <c:order val="2"/>
          <c:tx>
            <c:strRef>
              <c:f>Sheet1!$B$18</c:f>
              <c:strCache>
                <c:ptCount val="1"/>
                <c:pt idx="0">
                  <c:v>Line beyond the data</c:v>
                </c:pt>
              </c:strCache>
            </c:strRef>
          </c:tx>
          <c:spPr>
            <a:ln w="19050" cap="rnd">
              <a:solidFill>
                <a:srgbClr val="B88C00"/>
              </a:solidFill>
              <a:prstDash val="dash"/>
              <a:round/>
            </a:ln>
          </c:spPr>
          <c:marker>
            <c:symbol val="none"/>
          </c:marker>
          <c:xVal>
            <c:numRef>
              <c:f>Sheet1!$A$19:$A$20</c:f>
              <c:numCache>
                <c:formatCode>General</c:formatCode>
                <c:ptCount val="2"/>
                <c:pt idx="0">
                  <c:v>0</c:v>
                </c:pt>
                <c:pt idx="1">
                  <c:v>8</c:v>
                </c:pt>
              </c:numCache>
            </c:numRef>
          </c:xVal>
          <c:yVal>
            <c:numRef>
              <c:f>Sheet1!$B$19:$B$20</c:f>
              <c:numCache>
                <c:formatCode>General</c:formatCode>
                <c:ptCount val="2"/>
                <c:pt idx="0">
                  <c:v>3.0017272730000002</c:v>
                </c:pt>
                <c:pt idx="1">
                  <c:v>7.0010000000000003</c:v>
                </c:pt>
              </c:numCache>
            </c:numRef>
          </c:yVal>
          <c:smooth val="0"/>
          <c:extLst>
            <c:ext xmlns:c16="http://schemas.microsoft.com/office/drawing/2014/chart" uri="{C3380CC4-5D6E-409C-BE32-E72D297353CC}">
              <c16:uniqueId val="{00000000-6E2D-42A3-863D-AD9FE236E4CB}"/>
            </c:ext>
          </c:extLst>
        </c:ser>
        <c:ser>
          <c:idx val="3"/>
          <c:order val="3"/>
          <c:tx>
            <c:strRef>
              <c:f>Sheet1!$B$22</c:f>
              <c:strCache>
                <c:ptCount val="1"/>
                <c:pt idx="0">
                  <c:v>Intercept</c:v>
                </c:pt>
              </c:strCache>
            </c:strRef>
          </c:tx>
          <c:spPr>
            <a:ln w="47625">
              <a:noFill/>
            </a:ln>
          </c:spPr>
          <c:marker>
            <c:symbol val="circle"/>
            <c:size val="7"/>
            <c:spPr>
              <a:solidFill>
                <a:srgbClr val="B88C00"/>
              </a:solidFill>
              <a:ln w="15875">
                <a:solidFill>
                  <a:srgbClr val="FFFFFF"/>
                </a:solidFill>
              </a:ln>
            </c:spPr>
          </c:marker>
          <c:xVal>
            <c:numRef>
              <c:f>Sheet1!$A$23:$A$23</c:f>
              <c:numCache>
                <c:formatCode>General</c:formatCode>
                <c:ptCount val="1"/>
                <c:pt idx="0">
                  <c:v>0</c:v>
                </c:pt>
              </c:numCache>
            </c:numRef>
          </c:xVal>
          <c:yVal>
            <c:numRef>
              <c:f>Sheet1!$B$23:$B$23</c:f>
              <c:numCache>
                <c:formatCode>General</c:formatCode>
                <c:ptCount val="1"/>
                <c:pt idx="0">
                  <c:v>3.0017272730000002</c:v>
                </c:pt>
              </c:numCache>
            </c:numRef>
          </c:yVal>
          <c:smooth val="0"/>
          <c:extLst>
            <c:ext xmlns:c16="http://schemas.microsoft.com/office/drawing/2014/chart" uri="{C3380CC4-5D6E-409C-BE32-E72D297353CC}">
              <c16:uniqueId val="{00000001-6E2D-42A3-863D-AD9FE236E4CB}"/>
            </c:ext>
          </c:extLst>
        </c:ser>
        <c:dLbls>
          <c:showLegendKey val="0"/>
          <c:showVal val="0"/>
          <c:showCatName val="0"/>
          <c:showSerName val="0"/>
          <c:showPercent val="0"/>
          <c:showBubbleSize val="0"/>
        </c:dLbls>
        <c:axId val="-2128940872"/>
        <c:axId val="-2129643912"/>
      </c:scatterChart>
      <c:valAx>
        <c:axId val="-2128940872"/>
        <c:scaling>
          <c:orientation val="minMax"/>
          <c:max val="20"/>
          <c:min val="0"/>
        </c:scaling>
        <c:delete val="0"/>
        <c:axPos val="b"/>
        <c:numFmt formatCode="General" sourceLinked="1"/>
        <c:majorTickMark val="out"/>
        <c:minorTickMark val="none"/>
        <c:tickLblPos val="nextTo"/>
        <c:spPr>
          <a:ln>
            <a:solidFill>
              <a:srgbClr val="BBC4CC"/>
            </a:solidFill>
          </a:ln>
        </c:spPr>
        <c:txPr>
          <a:bodyPr/>
          <a:lstStyle/>
          <a:p>
            <a:pPr>
              <a:defRPr sz="1100">
                <a:solidFill>
                  <a:srgbClr val="55606B"/>
                </a:solidFill>
              </a:defRPr>
            </a:pPr>
            <a:endParaRPr lang="en-US"/>
          </a:p>
        </c:txPr>
        <c:crossAx val="-2129643912"/>
        <c:crosses val="autoZero"/>
        <c:crossBetween val="midCat"/>
        <c:majorUnit val="5"/>
      </c:valAx>
      <c:valAx>
        <c:axId val="-2129643912"/>
        <c:scaling>
          <c:orientation val="minMax"/>
          <c:max val="14"/>
          <c:min val="2"/>
        </c:scaling>
        <c:delete val="0"/>
        <c:axPos val="l"/>
        <c:majorGridlines>
          <c:spPr>
            <a:ln>
              <a:solidFill>
                <a:srgbClr val="DDE3E8"/>
              </a:solidFill>
            </a:ln>
          </c:spPr>
        </c:majorGridlines>
        <c:numFmt formatCode="General" sourceLinked="1"/>
        <c:majorTickMark val="out"/>
        <c:minorTickMark val="none"/>
        <c:tickLblPos val="nextTo"/>
        <c:spPr>
          <a:ln>
            <a:solidFill>
              <a:srgbClr val="BBC4CC"/>
            </a:solidFill>
          </a:ln>
        </c:spPr>
        <c:txPr>
          <a:bodyPr/>
          <a:lstStyle/>
          <a:p>
            <a:pPr>
              <a:defRPr sz="1100">
                <a:solidFill>
                  <a:srgbClr val="55606B"/>
                </a:solidFill>
              </a:defRPr>
            </a:pPr>
            <a:endParaRPr lang="en-US"/>
          </a:p>
        </c:txPr>
        <c:crossAx val="-2128940872"/>
        <c:crosses val="autoZero"/>
        <c:crossBetween val="midCat"/>
        <c:majorUnit val="4"/>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Countries</c:v>
                </c:pt>
              </c:strCache>
            </c:strRef>
          </c:tx>
          <c:spPr>
            <a:ln w="47625">
              <a:noFill/>
            </a:ln>
          </c:spPr>
          <c:marker>
            <c:symbol val="circle"/>
            <c:size val="9"/>
            <c:spPr>
              <a:solidFill>
                <a:srgbClr val="1F394D"/>
              </a:solidFill>
              <a:ln>
                <a:solidFill>
                  <a:srgbClr val="FFFFFF"/>
                </a:solidFill>
              </a:ln>
            </c:spPr>
          </c:marker>
          <c:dLbls>
            <c:dLbl>
              <c:idx val="4"/>
              <c:tx>
                <c:rich>
                  <a:bodyPr/>
                  <a:lstStyle/>
                  <a:p>
                    <a:r>
                      <a:rPr lang="en-US" sz="1200">
                        <a:solidFill>
                          <a:srgbClr val="55606B"/>
                        </a:solidFill>
                      </a:rPr>
                      <a:t>Denmark</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AA32-497F-9E2B-0EBAAC7328BC}"/>
                </c:ext>
              </c:extLst>
            </c:dLbl>
            <c:dLbl>
              <c:idx val="6"/>
              <c:tx>
                <c:rich>
                  <a:bodyPr/>
                  <a:lstStyle/>
                  <a:p>
                    <a:r>
                      <a:rPr lang="en-US" sz="1200">
                        <a:solidFill>
                          <a:srgbClr val="55606B"/>
                        </a:solidFill>
                      </a:rPr>
                      <a:t>France</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A32-497F-9E2B-0EBAAC7328BC}"/>
                </c:ext>
              </c:extLst>
            </c:dLbl>
            <c:dLbl>
              <c:idx val="12"/>
              <c:tx>
                <c:rich>
                  <a:bodyPr/>
                  <a:lstStyle/>
                  <a:p>
                    <a:r>
                      <a:rPr lang="en-US" sz="1200">
                        <a:solidFill>
                          <a:srgbClr val="55606B"/>
                        </a:solidFill>
                      </a:rPr>
                      <a:t>Japan</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AA32-497F-9E2B-0EBAAC7328BC}"/>
                </c:ext>
              </c:extLst>
            </c:dLbl>
            <c:dLbl>
              <c:idx val="13"/>
              <c:tx>
                <c:rich>
                  <a:bodyPr/>
                  <a:lstStyle/>
                  <a:p>
                    <a:r>
                      <a:rPr lang="en-US" sz="1200">
                        <a:solidFill>
                          <a:srgbClr val="55606B"/>
                        </a:solidFill>
                      </a:rPr>
                      <a:t>Netherlands</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A32-497F-9E2B-0EBAAC7328BC}"/>
                </c:ext>
              </c:extLst>
            </c:dLbl>
            <c:dLbl>
              <c:idx val="16"/>
              <c:tx>
                <c:rich>
                  <a:bodyPr/>
                  <a:lstStyle/>
                  <a:p>
                    <a:r>
                      <a:rPr lang="en-US" sz="1200">
                        <a:solidFill>
                          <a:srgbClr val="55606B"/>
                        </a:solidFill>
                      </a:rPr>
                      <a:t>Portugal</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AA32-497F-9E2B-0EBAAC7328BC}"/>
                </c:ext>
              </c:extLst>
            </c:dLbl>
            <c:dLbl>
              <c:idx val="17"/>
              <c:tx>
                <c:rich>
                  <a:bodyPr/>
                  <a:lstStyle/>
                  <a:p>
                    <a:r>
                      <a:rPr lang="en-US" sz="1200">
                        <a:solidFill>
                          <a:srgbClr val="55606B"/>
                        </a:solidFill>
                      </a:rPr>
                      <a:t>Singapore</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AA32-497F-9E2B-0EBAAC7328BC}"/>
                </c:ext>
              </c:extLst>
            </c:dLbl>
            <c:dLbl>
              <c:idx val="21"/>
              <c:tx>
                <c:rich>
                  <a:bodyPr/>
                  <a:lstStyle/>
                  <a:p>
                    <a:r>
                      <a:rPr lang="en-US" sz="1200">
                        <a:solidFill>
                          <a:srgbClr val="55606B"/>
                        </a:solidFill>
                      </a:rPr>
                      <a:t>UK</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AA32-497F-9E2B-0EBAAC7328BC}"/>
                </c:ext>
              </c:extLst>
            </c:dLbl>
            <c:dLbl>
              <c:idx val="22"/>
              <c:tx>
                <c:rich>
                  <a:bodyPr/>
                  <a:lstStyle/>
                  <a:p>
                    <a:r>
                      <a:rPr lang="en-US" sz="1200">
                        <a:solidFill>
                          <a:srgbClr val="55606B"/>
                        </a:solidFill>
                      </a:rPr>
                      <a:t>USA</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AA32-497F-9E2B-0EBAAC7328B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Sheet1!$A$2:$A$24</c:f>
              <c:numCache>
                <c:formatCode>General</c:formatCode>
                <c:ptCount val="23"/>
                <c:pt idx="0">
                  <c:v>7</c:v>
                </c:pt>
                <c:pt idx="1">
                  <c:v>4.8249998092651367</c:v>
                </c:pt>
                <c:pt idx="2">
                  <c:v>4.5999999046325684</c:v>
                </c:pt>
                <c:pt idx="3">
                  <c:v>5.625</c:v>
                </c:pt>
                <c:pt idx="4">
                  <c:v>4.3000001907348633</c:v>
                </c:pt>
                <c:pt idx="5">
                  <c:v>3.7249999046325679</c:v>
                </c:pt>
                <c:pt idx="6">
                  <c:v>5.5999999046325684</c:v>
                </c:pt>
                <c:pt idx="7">
                  <c:v>5.2000002861022949</c:v>
                </c:pt>
                <c:pt idx="8">
                  <c:v>6.1999998092651367</c:v>
                </c:pt>
                <c:pt idx="9">
                  <c:v>6.0500001907348633</c:v>
                </c:pt>
                <c:pt idx="10">
                  <c:v>6.7750000953674316</c:v>
                </c:pt>
                <c:pt idx="11">
                  <c:v>6.6500000953674316</c:v>
                </c:pt>
                <c:pt idx="12">
                  <c:v>3.4000000953674321</c:v>
                </c:pt>
                <c:pt idx="13">
                  <c:v>5.3000001907348633</c:v>
                </c:pt>
                <c:pt idx="14">
                  <c:v>6.8000001907348633</c:v>
                </c:pt>
                <c:pt idx="15">
                  <c:v>3.8500001430511479</c:v>
                </c:pt>
                <c:pt idx="16">
                  <c:v>8</c:v>
                </c:pt>
                <c:pt idx="17">
                  <c:v>9.6999998092651367</c:v>
                </c:pt>
                <c:pt idx="18">
                  <c:v>5.5500001907348633</c:v>
                </c:pt>
                <c:pt idx="19">
                  <c:v>3.9500000476837158</c:v>
                </c:pt>
                <c:pt idx="20">
                  <c:v>5.7250003814697266</c:v>
                </c:pt>
                <c:pt idx="21">
                  <c:v>7.1749997138977051</c:v>
                </c:pt>
                <c:pt idx="22">
                  <c:v>8.5499992370605469</c:v>
                </c:pt>
              </c:numCache>
            </c:numRef>
          </c:xVal>
          <c:yVal>
            <c:numRef>
              <c:f>Sheet1!$B$2:$B$24</c:f>
              <c:numCache>
                <c:formatCode>General</c:formatCode>
                <c:ptCount val="23"/>
                <c:pt idx="0">
                  <c:v>39.900001525878906</c:v>
                </c:pt>
                <c:pt idx="1">
                  <c:v>33.900001525878906</c:v>
                </c:pt>
                <c:pt idx="2">
                  <c:v>30.700000762939453</c:v>
                </c:pt>
                <c:pt idx="3">
                  <c:v>38.799999237060547</c:v>
                </c:pt>
                <c:pt idx="4">
                  <c:v>66.5</c:v>
                </c:pt>
                <c:pt idx="5">
                  <c:v>58</c:v>
                </c:pt>
                <c:pt idx="6">
                  <c:v>22.200000762939453</c:v>
                </c:pt>
                <c:pt idx="7">
                  <c:v>34.799999237060547</c:v>
                </c:pt>
                <c:pt idx="8">
                  <c:v>23.700000762939453</c:v>
                </c:pt>
                <c:pt idx="9">
                  <c:v>35.200000762939453</c:v>
                </c:pt>
                <c:pt idx="10">
                  <c:v>23.5</c:v>
                </c:pt>
                <c:pt idx="11">
                  <c:v>32.599998474121094</c:v>
                </c:pt>
                <c:pt idx="12">
                  <c:v>43.099998474121087</c:v>
                </c:pt>
                <c:pt idx="13">
                  <c:v>59.799999237060547</c:v>
                </c:pt>
                <c:pt idx="14">
                  <c:v>49.099998474121087</c:v>
                </c:pt>
                <c:pt idx="15">
                  <c:v>65.300003051757813</c:v>
                </c:pt>
                <c:pt idx="16">
                  <c:v>10</c:v>
                </c:pt>
                <c:pt idx="17">
                  <c:v>16.899999618530273</c:v>
                </c:pt>
                <c:pt idx="18">
                  <c:v>36.200000762939453</c:v>
                </c:pt>
                <c:pt idx="19">
                  <c:v>66.300003051757813</c:v>
                </c:pt>
                <c:pt idx="20">
                  <c:v>41</c:v>
                </c:pt>
                <c:pt idx="21">
                  <c:v>29.799999237060547</c:v>
                </c:pt>
                <c:pt idx="22">
                  <c:v>35.799999237060547</c:v>
                </c:pt>
              </c:numCache>
            </c:numRef>
          </c:yVal>
          <c:smooth val="0"/>
          <c:extLst>
            <c:ext xmlns:c16="http://schemas.microsoft.com/office/drawing/2014/chart" uri="{C3380CC4-5D6E-409C-BE32-E72D297353CC}">
              <c16:uniqueId val="{00000008-AA32-497F-9E2B-0EBAAC7328BC}"/>
            </c:ext>
          </c:extLst>
        </c:ser>
        <c:ser>
          <c:idx val="1"/>
          <c:order val="1"/>
          <c:tx>
            <c:strRef>
              <c:f>Sheet1!$B$26</c:f>
              <c:strCache>
                <c:ptCount val="1"/>
                <c:pt idx="0">
                  <c:v>Regression line</c:v>
                </c:pt>
              </c:strCache>
            </c:strRef>
          </c:tx>
          <c:spPr>
            <a:ln w="38100">
              <a:solidFill>
                <a:srgbClr val="B88C00"/>
              </a:solidFill>
            </a:ln>
          </c:spPr>
          <c:marker>
            <c:symbol val="none"/>
          </c:marker>
          <c:xVal>
            <c:numRef>
              <c:f>Sheet1!$A$27:$A$28</c:f>
              <c:numCache>
                <c:formatCode>General</c:formatCode>
                <c:ptCount val="2"/>
                <c:pt idx="0">
                  <c:v>3.4000000950000002</c:v>
                </c:pt>
                <c:pt idx="1">
                  <c:v>9.6999998089999995</c:v>
                </c:pt>
              </c:numCache>
            </c:numRef>
          </c:xVal>
          <c:yVal>
            <c:numRef>
              <c:f>Sheet1!$B$27:$B$28</c:f>
              <c:numCache>
                <c:formatCode>General</c:formatCode>
                <c:ptCount val="2"/>
                <c:pt idx="0">
                  <c:v>54.842085529999999</c:v>
                </c:pt>
                <c:pt idx="1">
                  <c:v>13.6692702</c:v>
                </c:pt>
              </c:numCache>
            </c:numRef>
          </c:yVal>
          <c:smooth val="0"/>
          <c:extLst>
            <c:ext xmlns:c16="http://schemas.microsoft.com/office/drawing/2014/chart" uri="{C3380CC4-5D6E-409C-BE32-E72D297353CC}">
              <c16:uniqueId val="{00000009-AA32-497F-9E2B-0EBAAC7328BC}"/>
            </c:ext>
          </c:extLst>
        </c:ser>
        <c:ser>
          <c:idx val="2"/>
          <c:order val="2"/>
          <c:tx>
            <c:strRef>
              <c:f>Sheet1!$B$30</c:f>
              <c:strCache>
                <c:ptCount val="1"/>
                <c:pt idx="0">
                  <c:v>Line beyond the data</c:v>
                </c:pt>
              </c:strCache>
            </c:strRef>
          </c:tx>
          <c:spPr>
            <a:ln w="28575" cap="rnd">
              <a:solidFill>
                <a:srgbClr val="B88C00"/>
              </a:solidFill>
              <a:prstDash val="dash"/>
              <a:round/>
            </a:ln>
          </c:spPr>
          <c:marker>
            <c:symbol val="none"/>
          </c:marker>
          <c:xVal>
            <c:numRef>
              <c:f>Sheet1!$A$31:$A$32</c:f>
              <c:numCache>
                <c:formatCode>General</c:formatCode>
                <c:ptCount val="2"/>
                <c:pt idx="0">
                  <c:v>0</c:v>
                </c:pt>
                <c:pt idx="1">
                  <c:v>3.4000000950000002</c:v>
                </c:pt>
              </c:numCache>
            </c:numRef>
          </c:xVal>
          <c:yVal>
            <c:numRef>
              <c:f>Sheet1!$B$31:$B$32</c:f>
              <c:numCache>
                <c:formatCode>General</c:formatCode>
                <c:ptCount val="2"/>
                <c:pt idx="0">
                  <c:v>77.062336700000003</c:v>
                </c:pt>
                <c:pt idx="1">
                  <c:v>54.842085529999999</c:v>
                </c:pt>
              </c:numCache>
            </c:numRef>
          </c:yVal>
          <c:smooth val="0"/>
          <c:extLst>
            <c:ext xmlns:c16="http://schemas.microsoft.com/office/drawing/2014/chart" uri="{C3380CC4-5D6E-409C-BE32-E72D297353CC}">
              <c16:uniqueId val="{00000000-CB20-44B0-95E7-BE197E41C6E6}"/>
            </c:ext>
          </c:extLst>
        </c:ser>
        <c:ser>
          <c:idx val="3"/>
          <c:order val="3"/>
          <c:tx>
            <c:strRef>
              <c:f>Sheet1!$B$34</c:f>
              <c:strCache>
                <c:ptCount val="1"/>
                <c:pt idx="0">
                  <c:v>Slope: run</c:v>
                </c:pt>
              </c:strCache>
            </c:strRef>
          </c:tx>
          <c:spPr>
            <a:ln w="15875" cap="rnd">
              <a:solidFill>
                <a:srgbClr val="1F394D"/>
              </a:solidFill>
              <a:prstDash val="sysDash"/>
              <a:round/>
            </a:ln>
          </c:spPr>
          <c:marker>
            <c:symbol val="none"/>
          </c:marker>
          <c:dLbls>
            <c:dLbl>
              <c:idx val="1"/>
              <c:tx>
                <c:rich>
                  <a:bodyPr/>
                  <a:lstStyle/>
                  <a:p>
                    <a:r>
                      <a:rPr lang="en-US" sz="1300" b="1">
                        <a:solidFill>
                          <a:srgbClr val="1F394D"/>
                        </a:solidFill>
                      </a:rPr>
                      <a:t>+1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B20-44B0-95E7-BE197E41C6E6}"/>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Sheet1!$A$35:$A$37</c:f>
              <c:numCache>
                <c:formatCode>General</c:formatCode>
                <c:ptCount val="3"/>
                <c:pt idx="0">
                  <c:v>0</c:v>
                </c:pt>
                <c:pt idx="1">
                  <c:v>0.5</c:v>
                </c:pt>
                <c:pt idx="2">
                  <c:v>1</c:v>
                </c:pt>
              </c:numCache>
            </c:numRef>
          </c:xVal>
          <c:yVal>
            <c:numRef>
              <c:f>Sheet1!$B$35:$B$37</c:f>
              <c:numCache>
                <c:formatCode>General</c:formatCode>
                <c:ptCount val="3"/>
                <c:pt idx="0">
                  <c:v>77.062336700000003</c:v>
                </c:pt>
                <c:pt idx="1">
                  <c:v>77.062336700000003</c:v>
                </c:pt>
                <c:pt idx="2">
                  <c:v>77.062336700000003</c:v>
                </c:pt>
              </c:numCache>
            </c:numRef>
          </c:yVal>
          <c:smooth val="0"/>
          <c:extLst>
            <c:ext xmlns:c16="http://schemas.microsoft.com/office/drawing/2014/chart" uri="{C3380CC4-5D6E-409C-BE32-E72D297353CC}">
              <c16:uniqueId val="{00000002-CB20-44B0-95E7-BE197E41C6E6}"/>
            </c:ext>
          </c:extLst>
        </c:ser>
        <c:ser>
          <c:idx val="4"/>
          <c:order val="4"/>
          <c:tx>
            <c:strRef>
              <c:f>Sheet1!$B$39</c:f>
              <c:strCache>
                <c:ptCount val="1"/>
                <c:pt idx="0">
                  <c:v>Slope: rise</c:v>
                </c:pt>
              </c:strCache>
            </c:strRef>
          </c:tx>
          <c:spPr>
            <a:ln w="15875" cap="rnd">
              <a:solidFill>
                <a:srgbClr val="1F394D"/>
              </a:solidFill>
              <a:prstDash val="sysDash"/>
              <a:round/>
            </a:ln>
          </c:spPr>
          <c:marker>
            <c:symbol val="none"/>
          </c:marker>
          <c:dLbls>
            <c:dLbl>
              <c:idx val="1"/>
              <c:tx>
                <c:rich>
                  <a:bodyPr/>
                  <a:lstStyle/>
                  <a:p>
                    <a:r>
                      <a:rPr lang="en-US" sz="1300" b="1">
                        <a:solidFill>
                          <a:srgbClr val="1F394D"/>
                        </a:solidFill>
                      </a:rPr>
                      <a:t>−6.54 (slope)</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B20-44B0-95E7-BE197E41C6E6}"/>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Sheet1!$A$40:$A$42</c:f>
              <c:numCache>
                <c:formatCode>General</c:formatCode>
                <c:ptCount val="3"/>
                <c:pt idx="0">
                  <c:v>1</c:v>
                </c:pt>
                <c:pt idx="1">
                  <c:v>1</c:v>
                </c:pt>
                <c:pt idx="2">
                  <c:v>1</c:v>
                </c:pt>
              </c:numCache>
            </c:numRef>
          </c:xVal>
          <c:yVal>
            <c:numRef>
              <c:f>Sheet1!$B$40:$B$42</c:f>
              <c:numCache>
                <c:formatCode>General</c:formatCode>
                <c:ptCount val="3"/>
                <c:pt idx="0">
                  <c:v>77.062336700000003</c:v>
                </c:pt>
                <c:pt idx="1">
                  <c:v>73.794652799999994</c:v>
                </c:pt>
                <c:pt idx="2">
                  <c:v>70.526968890000006</c:v>
                </c:pt>
              </c:numCache>
            </c:numRef>
          </c:yVal>
          <c:smooth val="0"/>
          <c:extLst>
            <c:ext xmlns:c16="http://schemas.microsoft.com/office/drawing/2014/chart" uri="{C3380CC4-5D6E-409C-BE32-E72D297353CC}">
              <c16:uniqueId val="{00000004-CB20-44B0-95E7-BE197E41C6E6}"/>
            </c:ext>
          </c:extLst>
        </c:ser>
        <c:ser>
          <c:idx val="5"/>
          <c:order val="5"/>
          <c:tx>
            <c:strRef>
              <c:f>Sheet1!$B$44</c:f>
              <c:strCache>
                <c:ptCount val="1"/>
                <c:pt idx="0">
                  <c:v>Intercept</c:v>
                </c:pt>
              </c:strCache>
            </c:strRef>
          </c:tx>
          <c:spPr>
            <a:ln w="47625">
              <a:noFill/>
            </a:ln>
          </c:spPr>
          <c:marker>
            <c:symbol val="circle"/>
            <c:size val="11"/>
            <c:spPr>
              <a:solidFill>
                <a:srgbClr val="B88C00"/>
              </a:solidFill>
              <a:ln w="15875">
                <a:solidFill>
                  <a:srgbClr val="FFFFFF"/>
                </a:solidFill>
              </a:ln>
            </c:spPr>
          </c:marker>
          <c:xVal>
            <c:numRef>
              <c:f>Sheet1!$A$45:$A$45</c:f>
              <c:numCache>
                <c:formatCode>General</c:formatCode>
                <c:ptCount val="1"/>
                <c:pt idx="0">
                  <c:v>0</c:v>
                </c:pt>
              </c:numCache>
            </c:numRef>
          </c:xVal>
          <c:yVal>
            <c:numRef>
              <c:f>Sheet1!$B$45:$B$45</c:f>
              <c:numCache>
                <c:formatCode>General</c:formatCode>
                <c:ptCount val="1"/>
                <c:pt idx="0">
                  <c:v>77.062336700000003</c:v>
                </c:pt>
              </c:numCache>
            </c:numRef>
          </c:yVal>
          <c:smooth val="0"/>
          <c:extLst>
            <c:ext xmlns:c16="http://schemas.microsoft.com/office/drawing/2014/chart" uri="{C3380CC4-5D6E-409C-BE32-E72D297353CC}">
              <c16:uniqueId val="{00000005-CB20-44B0-95E7-BE197E41C6E6}"/>
            </c:ext>
          </c:extLst>
        </c:ser>
        <c:ser>
          <c:idx val="6"/>
          <c:order val="6"/>
          <c:tx>
            <c:strRef>
              <c:f>Sheet1!$B$47</c:f>
              <c:strCache>
                <c:ptCount val="1"/>
                <c:pt idx="0">
                  <c:v>Intercept label</c:v>
                </c:pt>
              </c:strCache>
            </c:strRef>
          </c:tx>
          <c:spPr>
            <a:ln w="47625">
              <a:noFill/>
            </a:ln>
          </c:spPr>
          <c:marker>
            <c:symbol val="none"/>
          </c:marker>
          <c:dLbls>
            <c:dLbl>
              <c:idx val="0"/>
              <c:tx>
                <c:rich>
                  <a:bodyPr/>
                  <a:lstStyle/>
                  <a:p>
                    <a:r>
                      <a:rPr lang="en-US" sz="1300" b="1">
                        <a:solidFill>
                          <a:srgbClr val="7A5C00"/>
                        </a:solidFill>
                      </a:rPr>
                      <a:t>77.1 (intercept)</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CB20-44B0-95E7-BE197E41C6E6}"/>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Sheet1!$A$48:$A$48</c:f>
              <c:numCache>
                <c:formatCode>General</c:formatCode>
                <c:ptCount val="1"/>
                <c:pt idx="0">
                  <c:v>0</c:v>
                </c:pt>
              </c:numCache>
            </c:numRef>
          </c:xVal>
          <c:yVal>
            <c:numRef>
              <c:f>Sheet1!$B$48:$B$48</c:f>
              <c:numCache>
                <c:formatCode>General</c:formatCode>
                <c:ptCount val="1"/>
                <c:pt idx="0">
                  <c:v>90.062336700000003</c:v>
                </c:pt>
              </c:numCache>
            </c:numRef>
          </c:yVal>
          <c:smooth val="0"/>
          <c:extLst>
            <c:ext xmlns:c16="http://schemas.microsoft.com/office/drawing/2014/chart" uri="{C3380CC4-5D6E-409C-BE32-E72D297353CC}">
              <c16:uniqueId val="{00000007-CB20-44B0-95E7-BE197E41C6E6}"/>
            </c:ext>
          </c:extLst>
        </c:ser>
        <c:dLbls>
          <c:showLegendKey val="0"/>
          <c:showVal val="0"/>
          <c:showCatName val="0"/>
          <c:showSerName val="0"/>
          <c:showPercent val="0"/>
          <c:showBubbleSize val="0"/>
        </c:dLbls>
        <c:axId val="-2128940872"/>
        <c:axId val="-2129643912"/>
      </c:scatterChart>
      <c:valAx>
        <c:axId val="-2128940872"/>
        <c:scaling>
          <c:orientation val="minMax"/>
          <c:max val="10"/>
          <c:min val="0"/>
        </c:scaling>
        <c:delete val="0"/>
        <c:axPos val="b"/>
        <c:title>
          <c:tx>
            <c:rich>
              <a:bodyPr/>
              <a:lstStyle/>
              <a:p>
                <a:r>
                  <a:rPr lang="en-GB" sz="1300" b="0">
                    <a:solidFill>
                      <a:srgbClr val="55606B"/>
                    </a:solidFill>
                  </a:rPr>
                  <a:t>Income inequality (richest fifth’s income ÷ poorest fifth’s)</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9643912"/>
        <c:crosses val="autoZero"/>
        <c:crossBetween val="midCat"/>
        <c:majorUnit val="1"/>
      </c:valAx>
      <c:valAx>
        <c:axId val="-2129643912"/>
        <c:scaling>
          <c:orientation val="minMax"/>
          <c:max val="100"/>
          <c:min val="0"/>
        </c:scaling>
        <c:delete val="0"/>
        <c:axPos val="l"/>
        <c:majorGridlines>
          <c:spPr>
            <a:ln>
              <a:solidFill>
                <a:srgbClr val="DDE3E8"/>
              </a:solidFill>
            </a:ln>
          </c:spPr>
        </c:majorGridlines>
        <c:title>
          <c:tx>
            <c:rich>
              <a:bodyPr/>
              <a:lstStyle/>
              <a:p>
                <a:r>
                  <a:rPr lang="en-GB" sz="1300" b="0">
                    <a:solidFill>
                      <a:srgbClr val="55606B"/>
                    </a:solidFill>
                  </a:rPr>
                  <a:t>% who say most people can be trusted</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8940872"/>
        <c:crosses val="autoZero"/>
        <c:crossBetween val="midCat"/>
        <c:majorUnit val="10"/>
      </c:valAx>
    </c:plotArea>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Sum of squares</c:v>
                </c:pt>
              </c:strCache>
            </c:strRef>
          </c:tx>
          <c:spPr>
            <a:solidFill>
              <a:srgbClr val="1F394D"/>
            </a:solidFill>
          </c:spPr>
          <c:invertIfNegative val="1"/>
          <c:dPt>
            <c:idx val="0"/>
            <c:invertIfNegative val="1"/>
            <c:bubble3D val="0"/>
            <c:spPr>
              <a:solidFill>
                <a:srgbClr val="9AA4AE"/>
              </a:solidFill>
            </c:spPr>
            <c:extLst>
              <c:ext xmlns:c16="http://schemas.microsoft.com/office/drawing/2014/chart" uri="{C3380CC4-5D6E-409C-BE32-E72D297353CC}">
                <c16:uniqueId val="{00000001-3E0A-48C8-8234-837F782774A4}"/>
              </c:ext>
            </c:extLst>
          </c:dPt>
          <c:dPt>
            <c:idx val="1"/>
            <c:invertIfNegative val="1"/>
            <c:bubble3D val="0"/>
            <c:extLst>
              <c:ext xmlns:c16="http://schemas.microsoft.com/office/drawing/2014/chart" uri="{C3380CC4-5D6E-409C-BE32-E72D297353CC}">
                <c16:uniqueId val="{00000003-3E0A-48C8-8234-837F782774A4}"/>
              </c:ext>
            </c:extLst>
          </c:dPt>
          <c:dLbls>
            <c:numFmt formatCode="#,##0" sourceLinked="0"/>
            <c:spPr>
              <a:noFill/>
              <a:ln>
                <a:noFill/>
              </a:ln>
              <a:effectLst/>
            </c:spPr>
            <c:txPr>
              <a:bodyPr/>
              <a:lstStyle/>
              <a:p>
                <a:pPr>
                  <a:defRPr sz="1600" b="1">
                    <a:solidFill>
                      <a:srgbClr val="1F2A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Total variation around the mean</c:v>
                </c:pt>
                <c:pt idx="1">
                  <c:v>Left over around the line</c:v>
                </c:pt>
              </c:strCache>
            </c:strRef>
          </c:cat>
          <c:val>
            <c:numRef>
              <c:f>Sheet1!$B$2:$B$3</c:f>
              <c:numCache>
                <c:formatCode>General</c:formatCode>
                <c:ptCount val="2"/>
                <c:pt idx="0">
                  <c:v>5467</c:v>
                </c:pt>
                <c:pt idx="1">
                  <c:v>3055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3E0A-48C8-8234-837F782774A4}"/>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BC4CC"/>
            </a:solidFill>
          </a:ln>
        </c:spPr>
        <c:txPr>
          <a:bodyPr/>
          <a:lstStyle/>
          <a:p>
            <a:pPr>
              <a:defRPr sz="1500">
                <a:solidFill>
                  <a:srgbClr val="55606B"/>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55606B"/>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Region A</c:v>
                </c:pt>
              </c:strCache>
            </c:strRef>
          </c:tx>
          <c:spPr>
            <a:ln w="47625">
              <a:noFill/>
            </a:ln>
          </c:spPr>
          <c:marker>
            <c:symbol val="circle"/>
            <c:size val="7"/>
            <c:spPr>
              <a:solidFill>
                <a:srgbClr val="3F739B"/>
              </a:solidFill>
              <a:ln>
                <a:solidFill>
                  <a:srgbClr val="FFFFFF"/>
                </a:solidFill>
              </a:ln>
            </c:spPr>
          </c:marker>
          <c:xVal>
            <c:numRef>
              <c:f>Sheet1!$A$2:$A$31</c:f>
              <c:numCache>
                <c:formatCode>General</c:formatCode>
                <c:ptCount val="30"/>
                <c:pt idx="0">
                  <c:v>3.5270000000000001</c:v>
                </c:pt>
                <c:pt idx="1">
                  <c:v>4.0209999999999999</c:v>
                </c:pt>
                <c:pt idx="2">
                  <c:v>2.7869999999999999</c:v>
                </c:pt>
                <c:pt idx="3">
                  <c:v>2.91</c:v>
                </c:pt>
                <c:pt idx="4">
                  <c:v>4.9429999999999996</c:v>
                </c:pt>
                <c:pt idx="5">
                  <c:v>3.2530000000000001</c:v>
                </c:pt>
                <c:pt idx="6">
                  <c:v>5.0590000000000002</c:v>
                </c:pt>
                <c:pt idx="7">
                  <c:v>4.5</c:v>
                </c:pt>
                <c:pt idx="8">
                  <c:v>3.9630000000000001</c:v>
                </c:pt>
                <c:pt idx="9">
                  <c:v>3.1970000000000001</c:v>
                </c:pt>
                <c:pt idx="10">
                  <c:v>3.3370000000000002</c:v>
                </c:pt>
                <c:pt idx="11">
                  <c:v>3.7210000000000001</c:v>
                </c:pt>
                <c:pt idx="12">
                  <c:v>2.7690000000000001</c:v>
                </c:pt>
                <c:pt idx="13">
                  <c:v>3.7959999999999998</c:v>
                </c:pt>
                <c:pt idx="14">
                  <c:v>3.08</c:v>
                </c:pt>
                <c:pt idx="15">
                  <c:v>4.01</c:v>
                </c:pt>
                <c:pt idx="16">
                  <c:v>3.8220000000000001</c:v>
                </c:pt>
                <c:pt idx="17">
                  <c:v>4.71</c:v>
                </c:pt>
                <c:pt idx="18">
                  <c:v>3.5259999999999998</c:v>
                </c:pt>
                <c:pt idx="19">
                  <c:v>3.4750000000000001</c:v>
                </c:pt>
                <c:pt idx="20">
                  <c:v>3.4540000000000002</c:v>
                </c:pt>
                <c:pt idx="21">
                  <c:v>3.9870000000000001</c:v>
                </c:pt>
                <c:pt idx="22">
                  <c:v>3.6459999999999999</c:v>
                </c:pt>
                <c:pt idx="23">
                  <c:v>4.282</c:v>
                </c:pt>
                <c:pt idx="24">
                  <c:v>4.0590000000000002</c:v>
                </c:pt>
                <c:pt idx="25">
                  <c:v>4.0060000000000002</c:v>
                </c:pt>
                <c:pt idx="26">
                  <c:v>3.85</c:v>
                </c:pt>
                <c:pt idx="27">
                  <c:v>3.387</c:v>
                </c:pt>
                <c:pt idx="28">
                  <c:v>3.823</c:v>
                </c:pt>
                <c:pt idx="29">
                  <c:v>3.2130000000000001</c:v>
                </c:pt>
              </c:numCache>
            </c:numRef>
          </c:xVal>
          <c:yVal>
            <c:numRef>
              <c:f>Sheet1!$B$2:$B$31</c:f>
              <c:numCache>
                <c:formatCode>General</c:formatCode>
                <c:ptCount val="30"/>
                <c:pt idx="0">
                  <c:v>60.332999999999998</c:v>
                </c:pt>
                <c:pt idx="1">
                  <c:v>50.036999999999999</c:v>
                </c:pt>
                <c:pt idx="2">
                  <c:v>58.061</c:v>
                </c:pt>
                <c:pt idx="3">
                  <c:v>56.314</c:v>
                </c:pt>
                <c:pt idx="4">
                  <c:v>49.506999999999998</c:v>
                </c:pt>
                <c:pt idx="5">
                  <c:v>57.728000000000002</c:v>
                </c:pt>
                <c:pt idx="6">
                  <c:v>53.749000000000002</c:v>
                </c:pt>
                <c:pt idx="7">
                  <c:v>52.756999999999998</c:v>
                </c:pt>
                <c:pt idx="8">
                  <c:v>55.91</c:v>
                </c:pt>
                <c:pt idx="9">
                  <c:v>50.984999999999999</c:v>
                </c:pt>
                <c:pt idx="10">
                  <c:v>52.91</c:v>
                </c:pt>
                <c:pt idx="11">
                  <c:v>48.972000000000001</c:v>
                </c:pt>
                <c:pt idx="12">
                  <c:v>55.448999999999998</c:v>
                </c:pt>
                <c:pt idx="13">
                  <c:v>49.161999999999999</c:v>
                </c:pt>
                <c:pt idx="14">
                  <c:v>52.287999999999997</c:v>
                </c:pt>
                <c:pt idx="15">
                  <c:v>51.746000000000002</c:v>
                </c:pt>
                <c:pt idx="16">
                  <c:v>51.308999999999997</c:v>
                </c:pt>
                <c:pt idx="17">
                  <c:v>43.805</c:v>
                </c:pt>
                <c:pt idx="18">
                  <c:v>52.088000000000001</c:v>
                </c:pt>
                <c:pt idx="19">
                  <c:v>53.890999999999998</c:v>
                </c:pt>
                <c:pt idx="20">
                  <c:v>48.423999999999999</c:v>
                </c:pt>
                <c:pt idx="21">
                  <c:v>53.658000000000001</c:v>
                </c:pt>
                <c:pt idx="22">
                  <c:v>48.093000000000004</c:v>
                </c:pt>
                <c:pt idx="23">
                  <c:v>50.558999999999997</c:v>
                </c:pt>
                <c:pt idx="24">
                  <c:v>51.548999999999999</c:v>
                </c:pt>
                <c:pt idx="25">
                  <c:v>52.764000000000003</c:v>
                </c:pt>
                <c:pt idx="26">
                  <c:v>53.466999999999999</c:v>
                </c:pt>
                <c:pt idx="27">
                  <c:v>59.271999999999998</c:v>
                </c:pt>
                <c:pt idx="28">
                  <c:v>51.383000000000003</c:v>
                </c:pt>
                <c:pt idx="29">
                  <c:v>54.71</c:v>
                </c:pt>
              </c:numCache>
            </c:numRef>
          </c:yVal>
          <c:smooth val="0"/>
          <c:extLst>
            <c:ext xmlns:c16="http://schemas.microsoft.com/office/drawing/2014/chart" uri="{C3380CC4-5D6E-409C-BE32-E72D297353CC}">
              <c16:uniqueId val="{00000000-1AA5-446C-B5F0-4F6ED63FBCD2}"/>
            </c:ext>
          </c:extLst>
        </c:ser>
        <c:ser>
          <c:idx val="1"/>
          <c:order val="1"/>
          <c:tx>
            <c:strRef>
              <c:f>Sheet1!$B$33</c:f>
              <c:strCache>
                <c:ptCount val="1"/>
                <c:pt idx="0">
                  <c:v>Region B</c:v>
                </c:pt>
              </c:strCache>
            </c:strRef>
          </c:tx>
          <c:spPr>
            <a:ln w="47625">
              <a:noFill/>
            </a:ln>
          </c:spPr>
          <c:marker>
            <c:symbol val="circle"/>
            <c:size val="7"/>
            <c:spPr>
              <a:solidFill>
                <a:srgbClr val="B88C00"/>
              </a:solidFill>
              <a:ln>
                <a:solidFill>
                  <a:srgbClr val="FFFFFF"/>
                </a:solidFill>
              </a:ln>
            </c:spPr>
          </c:marker>
          <c:xVal>
            <c:numRef>
              <c:f>Sheet1!$A$34:$A$63</c:f>
              <c:numCache>
                <c:formatCode>General</c:formatCode>
                <c:ptCount val="30"/>
                <c:pt idx="0">
                  <c:v>7.9619999999999997</c:v>
                </c:pt>
                <c:pt idx="1">
                  <c:v>6.1779999999999999</c:v>
                </c:pt>
                <c:pt idx="2">
                  <c:v>7.7510000000000003</c:v>
                </c:pt>
                <c:pt idx="3">
                  <c:v>6.5650000000000004</c:v>
                </c:pt>
                <c:pt idx="4">
                  <c:v>7.41</c:v>
                </c:pt>
                <c:pt idx="5">
                  <c:v>6.718</c:v>
                </c:pt>
                <c:pt idx="6">
                  <c:v>8.0609999999999999</c:v>
                </c:pt>
                <c:pt idx="7">
                  <c:v>6.0880000000000001</c:v>
                </c:pt>
                <c:pt idx="8">
                  <c:v>8.1300000000000008</c:v>
                </c:pt>
                <c:pt idx="9">
                  <c:v>6.5179999999999998</c:v>
                </c:pt>
                <c:pt idx="10">
                  <c:v>6.6470000000000002</c:v>
                </c:pt>
                <c:pt idx="11">
                  <c:v>7.1950000000000003</c:v>
                </c:pt>
                <c:pt idx="12">
                  <c:v>7.4770000000000003</c:v>
                </c:pt>
                <c:pt idx="13">
                  <c:v>6.9039999999999999</c:v>
                </c:pt>
                <c:pt idx="14">
                  <c:v>5.3440000000000003</c:v>
                </c:pt>
                <c:pt idx="15">
                  <c:v>7.4690000000000003</c:v>
                </c:pt>
                <c:pt idx="16">
                  <c:v>7.3920000000000003</c:v>
                </c:pt>
                <c:pt idx="17">
                  <c:v>6.1950000000000003</c:v>
                </c:pt>
                <c:pt idx="18">
                  <c:v>8.016</c:v>
                </c:pt>
                <c:pt idx="19">
                  <c:v>7.899</c:v>
                </c:pt>
                <c:pt idx="20">
                  <c:v>7.6740000000000004</c:v>
                </c:pt>
                <c:pt idx="21">
                  <c:v>8.2959999999999994</c:v>
                </c:pt>
                <c:pt idx="22">
                  <c:v>7.3579999999999997</c:v>
                </c:pt>
                <c:pt idx="23">
                  <c:v>5.1609999999999996</c:v>
                </c:pt>
                <c:pt idx="24">
                  <c:v>6.9370000000000003</c:v>
                </c:pt>
                <c:pt idx="25">
                  <c:v>6.5819999999999999</c:v>
                </c:pt>
                <c:pt idx="26">
                  <c:v>6.6660000000000004</c:v>
                </c:pt>
                <c:pt idx="27">
                  <c:v>7.2439999999999998</c:v>
                </c:pt>
                <c:pt idx="28">
                  <c:v>6.9749999999999996</c:v>
                </c:pt>
                <c:pt idx="29">
                  <c:v>7.0839999999999996</c:v>
                </c:pt>
              </c:numCache>
            </c:numRef>
          </c:xVal>
          <c:yVal>
            <c:numRef>
              <c:f>Sheet1!$B$34:$B$63</c:f>
              <c:numCache>
                <c:formatCode>General</c:formatCode>
                <c:ptCount val="30"/>
                <c:pt idx="0">
                  <c:v>21.289000000000001</c:v>
                </c:pt>
                <c:pt idx="1">
                  <c:v>31.658000000000001</c:v>
                </c:pt>
                <c:pt idx="2">
                  <c:v>27.776</c:v>
                </c:pt>
                <c:pt idx="3">
                  <c:v>30.937999999999999</c:v>
                </c:pt>
                <c:pt idx="4">
                  <c:v>24.207000000000001</c:v>
                </c:pt>
                <c:pt idx="5">
                  <c:v>31.088999999999999</c:v>
                </c:pt>
                <c:pt idx="6">
                  <c:v>30.97</c:v>
                </c:pt>
                <c:pt idx="7">
                  <c:v>34.582999999999998</c:v>
                </c:pt>
                <c:pt idx="8">
                  <c:v>23.44</c:v>
                </c:pt>
                <c:pt idx="9">
                  <c:v>28.117999999999999</c:v>
                </c:pt>
                <c:pt idx="10">
                  <c:v>28.725000000000001</c:v>
                </c:pt>
                <c:pt idx="11">
                  <c:v>25.911999999999999</c:v>
                </c:pt>
                <c:pt idx="12">
                  <c:v>28.800999999999998</c:v>
                </c:pt>
                <c:pt idx="13">
                  <c:v>28.512</c:v>
                </c:pt>
                <c:pt idx="14">
                  <c:v>27.387</c:v>
                </c:pt>
                <c:pt idx="15">
                  <c:v>26.77</c:v>
                </c:pt>
                <c:pt idx="16">
                  <c:v>22.960999999999999</c:v>
                </c:pt>
                <c:pt idx="17">
                  <c:v>28.852</c:v>
                </c:pt>
                <c:pt idx="18">
                  <c:v>26.062000000000001</c:v>
                </c:pt>
                <c:pt idx="19">
                  <c:v>26.097000000000001</c:v>
                </c:pt>
                <c:pt idx="20">
                  <c:v>28.199000000000002</c:v>
                </c:pt>
                <c:pt idx="21">
                  <c:v>26.404</c:v>
                </c:pt>
                <c:pt idx="22">
                  <c:v>30.113</c:v>
                </c:pt>
                <c:pt idx="23">
                  <c:v>32.613</c:v>
                </c:pt>
                <c:pt idx="24">
                  <c:v>24.858000000000001</c:v>
                </c:pt>
                <c:pt idx="25">
                  <c:v>32.024000000000001</c:v>
                </c:pt>
                <c:pt idx="26">
                  <c:v>25.696000000000002</c:v>
                </c:pt>
                <c:pt idx="27">
                  <c:v>30.960999999999999</c:v>
                </c:pt>
                <c:pt idx="28">
                  <c:v>30.696000000000002</c:v>
                </c:pt>
                <c:pt idx="29">
                  <c:v>31.318000000000001</c:v>
                </c:pt>
              </c:numCache>
            </c:numRef>
          </c:yVal>
          <c:smooth val="0"/>
          <c:extLst>
            <c:ext xmlns:c16="http://schemas.microsoft.com/office/drawing/2014/chart" uri="{C3380CC4-5D6E-409C-BE32-E72D297353CC}">
              <c16:uniqueId val="{00000001-1AA5-446C-B5F0-4F6ED63FBCD2}"/>
            </c:ext>
          </c:extLst>
        </c:ser>
        <c:ser>
          <c:idx val="2"/>
          <c:order val="2"/>
          <c:tx>
            <c:strRef>
              <c:f>Sheet1!$B$65</c:f>
              <c:strCache>
                <c:ptCount val="1"/>
                <c:pt idx="0">
                  <c:v>Simple slope (−6.6)</c:v>
                </c:pt>
              </c:strCache>
            </c:strRef>
          </c:tx>
          <c:spPr>
            <a:ln w="31750">
              <a:solidFill>
                <a:srgbClr val="55606B"/>
              </a:solidFill>
              <a:prstDash val="dash"/>
            </a:ln>
          </c:spPr>
          <c:marker>
            <c:symbol val="none"/>
          </c:marker>
          <c:xVal>
            <c:numRef>
              <c:f>Sheet1!$A$66:$A$67</c:f>
              <c:numCache>
                <c:formatCode>General</c:formatCode>
                <c:ptCount val="2"/>
                <c:pt idx="0">
                  <c:v>0</c:v>
                </c:pt>
                <c:pt idx="1">
                  <c:v>9</c:v>
                </c:pt>
              </c:numCache>
            </c:numRef>
          </c:xVal>
          <c:yVal>
            <c:numRef>
              <c:f>Sheet1!$B$66:$B$67</c:f>
              <c:numCache>
                <c:formatCode>General</c:formatCode>
                <c:ptCount val="2"/>
                <c:pt idx="0">
                  <c:v>76.33296</c:v>
                </c:pt>
                <c:pt idx="1">
                  <c:v>16.554932999999998</c:v>
                </c:pt>
              </c:numCache>
            </c:numRef>
          </c:yVal>
          <c:smooth val="0"/>
          <c:extLst>
            <c:ext xmlns:c16="http://schemas.microsoft.com/office/drawing/2014/chart" uri="{C3380CC4-5D6E-409C-BE32-E72D297353CC}">
              <c16:uniqueId val="{00000002-1AA5-446C-B5F0-4F6ED63FBCD2}"/>
            </c:ext>
          </c:extLst>
        </c:ser>
        <c:ser>
          <c:idx val="3"/>
          <c:order val="3"/>
          <c:tx>
            <c:strRef>
              <c:f>Sheet1!$B$69</c:f>
              <c:strCache>
                <c:ptCount val="1"/>
                <c:pt idx="0">
                  <c:v>Within region A (−2.4)</c:v>
                </c:pt>
              </c:strCache>
            </c:strRef>
          </c:tx>
          <c:spPr>
            <a:ln w="38100">
              <a:solidFill>
                <a:srgbClr val="3F739B"/>
              </a:solidFill>
            </a:ln>
          </c:spPr>
          <c:marker>
            <c:symbol val="none"/>
          </c:marker>
          <c:xVal>
            <c:numRef>
              <c:f>Sheet1!$A$70:$A$71</c:f>
              <c:numCache>
                <c:formatCode>General</c:formatCode>
                <c:ptCount val="2"/>
                <c:pt idx="0">
                  <c:v>2.7690000000000001</c:v>
                </c:pt>
                <c:pt idx="1">
                  <c:v>5.0590000000000002</c:v>
                </c:pt>
              </c:numCache>
            </c:numRef>
          </c:xVal>
          <c:yVal>
            <c:numRef>
              <c:f>Sheet1!$B$70:$B$71</c:f>
              <c:numCache>
                <c:formatCode>General</c:formatCode>
                <c:ptCount val="2"/>
                <c:pt idx="0">
                  <c:v>55.000282970000001</c:v>
                </c:pt>
                <c:pt idx="1">
                  <c:v>49.549597489999996</c:v>
                </c:pt>
              </c:numCache>
            </c:numRef>
          </c:yVal>
          <c:smooth val="0"/>
          <c:extLst>
            <c:ext xmlns:c16="http://schemas.microsoft.com/office/drawing/2014/chart" uri="{C3380CC4-5D6E-409C-BE32-E72D297353CC}">
              <c16:uniqueId val="{00000003-1AA5-446C-B5F0-4F6ED63FBCD2}"/>
            </c:ext>
          </c:extLst>
        </c:ser>
        <c:ser>
          <c:idx val="4"/>
          <c:order val="4"/>
          <c:tx>
            <c:strRef>
              <c:f>Sheet1!$B$73</c:f>
              <c:strCache>
                <c:ptCount val="1"/>
                <c:pt idx="0">
                  <c:v>Within region B (−2.4)</c:v>
                </c:pt>
              </c:strCache>
            </c:strRef>
          </c:tx>
          <c:spPr>
            <a:ln w="38100">
              <a:solidFill>
                <a:srgbClr val="7A5C00"/>
              </a:solidFill>
            </a:ln>
          </c:spPr>
          <c:marker>
            <c:symbol val="none"/>
          </c:marker>
          <c:xVal>
            <c:numRef>
              <c:f>Sheet1!$A$74:$A$75</c:f>
              <c:numCache>
                <c:formatCode>General</c:formatCode>
                <c:ptCount val="2"/>
                <c:pt idx="0">
                  <c:v>5.1609999999999996</c:v>
                </c:pt>
                <c:pt idx="1">
                  <c:v>8.2959999999999994</c:v>
                </c:pt>
              </c:numCache>
            </c:numRef>
          </c:xVal>
          <c:yVal>
            <c:numRef>
              <c:f>Sheet1!$B$74:$B$75</c:f>
              <c:numCache>
                <c:formatCode>General</c:formatCode>
                <c:ptCount val="2"/>
                <c:pt idx="0">
                  <c:v>32.761935870000002</c:v>
                </c:pt>
                <c:pt idx="1">
                  <c:v>25.299971249999999</c:v>
                </c:pt>
              </c:numCache>
            </c:numRef>
          </c:yVal>
          <c:smooth val="0"/>
          <c:extLst>
            <c:ext xmlns:c16="http://schemas.microsoft.com/office/drawing/2014/chart" uri="{C3380CC4-5D6E-409C-BE32-E72D297353CC}">
              <c16:uniqueId val="{00000004-1AA5-446C-B5F0-4F6ED63FBCD2}"/>
            </c:ext>
          </c:extLst>
        </c:ser>
        <c:ser>
          <c:idx val="5"/>
          <c:order val="5"/>
          <c:tx>
            <c:strRef>
              <c:f>Sheet1!$B$77</c:f>
              <c:strCache>
                <c:ptCount val="1"/>
                <c:pt idx="0">
                  <c:v>Beyond the data</c:v>
                </c:pt>
              </c:strCache>
            </c:strRef>
          </c:tx>
          <c:spPr>
            <a:ln w="28575" cap="rnd">
              <a:solidFill>
                <a:srgbClr val="3F739B"/>
              </a:solidFill>
              <a:prstDash val="dash"/>
              <a:round/>
            </a:ln>
          </c:spPr>
          <c:marker>
            <c:symbol val="none"/>
          </c:marker>
          <c:xVal>
            <c:numRef>
              <c:f>Sheet1!$A$78:$A$79</c:f>
              <c:numCache>
                <c:formatCode>General</c:formatCode>
                <c:ptCount val="2"/>
                <c:pt idx="0">
                  <c:v>0</c:v>
                </c:pt>
                <c:pt idx="1">
                  <c:v>2.7690000000000001</c:v>
                </c:pt>
              </c:numCache>
            </c:numRef>
          </c:xVal>
          <c:yVal>
            <c:numRef>
              <c:f>Sheet1!$B$78:$B$79</c:f>
              <c:numCache>
                <c:formatCode>General</c:formatCode>
                <c:ptCount val="2"/>
                <c:pt idx="0">
                  <c:v>61.591090000000001</c:v>
                </c:pt>
                <c:pt idx="1">
                  <c:v>55.000282970000001</c:v>
                </c:pt>
              </c:numCache>
            </c:numRef>
          </c:yVal>
          <c:smooth val="0"/>
          <c:extLst>
            <c:ext xmlns:c16="http://schemas.microsoft.com/office/drawing/2014/chart" uri="{C3380CC4-5D6E-409C-BE32-E72D297353CC}">
              <c16:uniqueId val="{00000000-D7E0-4BF0-BD33-468FF1E194FF}"/>
            </c:ext>
          </c:extLst>
        </c:ser>
        <c:ser>
          <c:idx val="6"/>
          <c:order val="6"/>
          <c:tx>
            <c:strRef>
              <c:f>Sheet1!$B$81</c:f>
              <c:strCache>
                <c:ptCount val="1"/>
                <c:pt idx="0">
                  <c:v>Beyond the data</c:v>
                </c:pt>
              </c:strCache>
            </c:strRef>
          </c:tx>
          <c:spPr>
            <a:ln w="28575" cap="rnd">
              <a:solidFill>
                <a:srgbClr val="7A5C00"/>
              </a:solidFill>
              <a:prstDash val="dash"/>
              <a:round/>
            </a:ln>
          </c:spPr>
          <c:marker>
            <c:symbol val="none"/>
          </c:marker>
          <c:xVal>
            <c:numRef>
              <c:f>Sheet1!$A$82:$A$83</c:f>
              <c:numCache>
                <c:formatCode>General</c:formatCode>
                <c:ptCount val="2"/>
                <c:pt idx="0">
                  <c:v>0</c:v>
                </c:pt>
                <c:pt idx="1">
                  <c:v>5.1609999999999996</c:v>
                </c:pt>
              </c:numCache>
            </c:numRef>
          </c:xVal>
          <c:yVal>
            <c:numRef>
              <c:f>Sheet1!$B$82:$B$83</c:f>
              <c:numCache>
                <c:formatCode>General</c:formatCode>
                <c:ptCount val="2"/>
                <c:pt idx="0">
                  <c:v>45.046210000000002</c:v>
                </c:pt>
                <c:pt idx="1">
                  <c:v>32.761935870000002</c:v>
                </c:pt>
              </c:numCache>
            </c:numRef>
          </c:yVal>
          <c:smooth val="0"/>
          <c:extLst>
            <c:ext xmlns:c16="http://schemas.microsoft.com/office/drawing/2014/chart" uri="{C3380CC4-5D6E-409C-BE32-E72D297353CC}">
              <c16:uniqueId val="{00000001-D7E0-4BF0-BD33-468FF1E194FF}"/>
            </c:ext>
          </c:extLst>
        </c:ser>
        <c:ser>
          <c:idx val="7"/>
          <c:order val="7"/>
          <c:tx>
            <c:strRef>
              <c:f>Sheet1!$B$85</c:f>
              <c:strCache>
                <c:ptCount val="1"/>
                <c:pt idx="0">
                  <c:v>Intercept</c:v>
                </c:pt>
              </c:strCache>
            </c:strRef>
          </c:tx>
          <c:spPr>
            <a:ln w="47625">
              <a:noFill/>
            </a:ln>
          </c:spPr>
          <c:marker>
            <c:symbol val="circle"/>
            <c:size val="9"/>
            <c:spPr>
              <a:solidFill>
                <a:srgbClr val="55606B"/>
              </a:solidFill>
              <a:ln w="15875">
                <a:solidFill>
                  <a:srgbClr val="FFFFFF"/>
                </a:solidFill>
              </a:ln>
            </c:spPr>
          </c:marker>
          <c:xVal>
            <c:numRef>
              <c:f>Sheet1!$A$86:$A$86</c:f>
              <c:numCache>
                <c:formatCode>General</c:formatCode>
                <c:ptCount val="1"/>
                <c:pt idx="0">
                  <c:v>0</c:v>
                </c:pt>
              </c:numCache>
            </c:numRef>
          </c:xVal>
          <c:yVal>
            <c:numRef>
              <c:f>Sheet1!$B$86:$B$86</c:f>
              <c:numCache>
                <c:formatCode>General</c:formatCode>
                <c:ptCount val="1"/>
                <c:pt idx="0">
                  <c:v>76.33296</c:v>
                </c:pt>
              </c:numCache>
            </c:numRef>
          </c:yVal>
          <c:smooth val="0"/>
          <c:extLst>
            <c:ext xmlns:c16="http://schemas.microsoft.com/office/drawing/2014/chart" uri="{C3380CC4-5D6E-409C-BE32-E72D297353CC}">
              <c16:uniqueId val="{00000002-D7E0-4BF0-BD33-468FF1E194FF}"/>
            </c:ext>
          </c:extLst>
        </c:ser>
        <c:ser>
          <c:idx val="8"/>
          <c:order val="8"/>
          <c:tx>
            <c:strRef>
              <c:f>Sheet1!$B$88</c:f>
              <c:strCache>
                <c:ptCount val="1"/>
                <c:pt idx="0">
                  <c:v>Intercept label</c:v>
                </c:pt>
              </c:strCache>
            </c:strRef>
          </c:tx>
          <c:spPr>
            <a:ln w="47625">
              <a:noFill/>
            </a:ln>
          </c:spPr>
          <c:marker>
            <c:symbol val="none"/>
          </c:marker>
          <c:dLbls>
            <c:dLbl>
              <c:idx val="0"/>
              <c:tx>
                <c:rich>
                  <a:bodyPr/>
                  <a:lstStyle/>
                  <a:p>
                    <a:r>
                      <a:rPr lang="en-GB" sz="1200" b="1">
                        <a:solidFill>
                          <a:srgbClr val="55606B"/>
                        </a:solidFill>
                      </a:rPr>
                      <a:t>76.3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7E0-4BF0-BD33-468FF1E194F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Sheet1!$A$89:$A$89</c:f>
              <c:numCache>
                <c:formatCode>General</c:formatCode>
                <c:ptCount val="1"/>
                <c:pt idx="0">
                  <c:v>0</c:v>
                </c:pt>
              </c:numCache>
            </c:numRef>
          </c:xVal>
          <c:yVal>
            <c:numRef>
              <c:f>Sheet1!$B$89:$B$89</c:f>
              <c:numCache>
                <c:formatCode>General</c:formatCode>
                <c:ptCount val="1"/>
                <c:pt idx="0">
                  <c:v>79.532960000000003</c:v>
                </c:pt>
              </c:numCache>
            </c:numRef>
          </c:yVal>
          <c:smooth val="0"/>
          <c:extLst>
            <c:ext xmlns:c16="http://schemas.microsoft.com/office/drawing/2014/chart" uri="{C3380CC4-5D6E-409C-BE32-E72D297353CC}">
              <c16:uniqueId val="{00000004-D7E0-4BF0-BD33-468FF1E194FF}"/>
            </c:ext>
          </c:extLst>
        </c:ser>
        <c:ser>
          <c:idx val="9"/>
          <c:order val="9"/>
          <c:tx>
            <c:strRef>
              <c:f>Sheet1!$B$91</c:f>
              <c:strCache>
                <c:ptCount val="1"/>
                <c:pt idx="0">
                  <c:v>Intercept</c:v>
                </c:pt>
              </c:strCache>
            </c:strRef>
          </c:tx>
          <c:spPr>
            <a:ln w="47625">
              <a:noFill/>
            </a:ln>
          </c:spPr>
          <c:marker>
            <c:symbol val="circle"/>
            <c:size val="9"/>
            <c:spPr>
              <a:solidFill>
                <a:srgbClr val="3F739B"/>
              </a:solidFill>
              <a:ln w="15875">
                <a:solidFill>
                  <a:srgbClr val="FFFFFF"/>
                </a:solidFill>
              </a:ln>
            </c:spPr>
          </c:marker>
          <c:xVal>
            <c:numRef>
              <c:f>Sheet1!$A$92:$A$92</c:f>
              <c:numCache>
                <c:formatCode>General</c:formatCode>
                <c:ptCount val="1"/>
                <c:pt idx="0">
                  <c:v>0</c:v>
                </c:pt>
              </c:numCache>
            </c:numRef>
          </c:xVal>
          <c:yVal>
            <c:numRef>
              <c:f>Sheet1!$B$92:$B$92</c:f>
              <c:numCache>
                <c:formatCode>General</c:formatCode>
                <c:ptCount val="1"/>
                <c:pt idx="0">
                  <c:v>61.591090000000001</c:v>
                </c:pt>
              </c:numCache>
            </c:numRef>
          </c:yVal>
          <c:smooth val="0"/>
          <c:extLst>
            <c:ext xmlns:c16="http://schemas.microsoft.com/office/drawing/2014/chart" uri="{C3380CC4-5D6E-409C-BE32-E72D297353CC}">
              <c16:uniqueId val="{00000005-D7E0-4BF0-BD33-468FF1E194FF}"/>
            </c:ext>
          </c:extLst>
        </c:ser>
        <c:ser>
          <c:idx val="10"/>
          <c:order val="10"/>
          <c:tx>
            <c:strRef>
              <c:f>Sheet1!$B$94</c:f>
              <c:strCache>
                <c:ptCount val="1"/>
                <c:pt idx="0">
                  <c:v>Intercept label</c:v>
                </c:pt>
              </c:strCache>
            </c:strRef>
          </c:tx>
          <c:spPr>
            <a:ln w="47625">
              <a:noFill/>
            </a:ln>
          </c:spPr>
          <c:marker>
            <c:symbol val="none"/>
          </c:marker>
          <c:dLbls>
            <c:dLbl>
              <c:idx val="0"/>
              <c:tx>
                <c:rich>
                  <a:bodyPr/>
                  <a:lstStyle/>
                  <a:p>
                    <a:r>
                      <a:rPr lang="en-GB" sz="1200" b="1">
                        <a:solidFill>
                          <a:srgbClr val="3F739B"/>
                        </a:solidFill>
                      </a:rPr>
                      <a:t>61.6</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D7E0-4BF0-BD33-468FF1E194F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Sheet1!$A$95:$A$95</c:f>
              <c:numCache>
                <c:formatCode>General</c:formatCode>
                <c:ptCount val="1"/>
                <c:pt idx="0">
                  <c:v>0</c:v>
                </c:pt>
              </c:numCache>
            </c:numRef>
          </c:xVal>
          <c:yVal>
            <c:numRef>
              <c:f>Sheet1!$B$95:$B$95</c:f>
              <c:numCache>
                <c:formatCode>General</c:formatCode>
                <c:ptCount val="1"/>
                <c:pt idx="0">
                  <c:v>65.591089999999994</c:v>
                </c:pt>
              </c:numCache>
            </c:numRef>
          </c:yVal>
          <c:smooth val="0"/>
          <c:extLst>
            <c:ext xmlns:c16="http://schemas.microsoft.com/office/drawing/2014/chart" uri="{C3380CC4-5D6E-409C-BE32-E72D297353CC}">
              <c16:uniqueId val="{00000007-D7E0-4BF0-BD33-468FF1E194FF}"/>
            </c:ext>
          </c:extLst>
        </c:ser>
        <c:ser>
          <c:idx val="11"/>
          <c:order val="11"/>
          <c:tx>
            <c:strRef>
              <c:f>Sheet1!$B$97</c:f>
              <c:strCache>
                <c:ptCount val="1"/>
                <c:pt idx="0">
                  <c:v>Intercept</c:v>
                </c:pt>
              </c:strCache>
            </c:strRef>
          </c:tx>
          <c:spPr>
            <a:ln w="47625">
              <a:noFill/>
            </a:ln>
          </c:spPr>
          <c:marker>
            <c:symbol val="circle"/>
            <c:size val="9"/>
            <c:spPr>
              <a:solidFill>
                <a:srgbClr val="7A5C00"/>
              </a:solidFill>
              <a:ln w="15875">
                <a:solidFill>
                  <a:srgbClr val="FFFFFF"/>
                </a:solidFill>
              </a:ln>
            </c:spPr>
          </c:marker>
          <c:xVal>
            <c:numRef>
              <c:f>Sheet1!$A$98:$A$98</c:f>
              <c:numCache>
                <c:formatCode>General</c:formatCode>
                <c:ptCount val="1"/>
                <c:pt idx="0">
                  <c:v>0</c:v>
                </c:pt>
              </c:numCache>
            </c:numRef>
          </c:xVal>
          <c:yVal>
            <c:numRef>
              <c:f>Sheet1!$B$98:$B$98</c:f>
              <c:numCache>
                <c:formatCode>General</c:formatCode>
                <c:ptCount val="1"/>
                <c:pt idx="0">
                  <c:v>45.046210000000002</c:v>
                </c:pt>
              </c:numCache>
            </c:numRef>
          </c:yVal>
          <c:smooth val="0"/>
          <c:extLst>
            <c:ext xmlns:c16="http://schemas.microsoft.com/office/drawing/2014/chart" uri="{C3380CC4-5D6E-409C-BE32-E72D297353CC}">
              <c16:uniqueId val="{00000008-D7E0-4BF0-BD33-468FF1E194FF}"/>
            </c:ext>
          </c:extLst>
        </c:ser>
        <c:ser>
          <c:idx val="12"/>
          <c:order val="12"/>
          <c:tx>
            <c:strRef>
              <c:f>Sheet1!$B$100</c:f>
              <c:strCache>
                <c:ptCount val="1"/>
                <c:pt idx="0">
                  <c:v>Intercept label</c:v>
                </c:pt>
              </c:strCache>
            </c:strRef>
          </c:tx>
          <c:spPr>
            <a:ln w="47625">
              <a:noFill/>
            </a:ln>
          </c:spPr>
          <c:marker>
            <c:symbol val="none"/>
          </c:marker>
          <c:dLbls>
            <c:dLbl>
              <c:idx val="0"/>
              <c:tx>
                <c:rich>
                  <a:bodyPr/>
                  <a:lstStyle/>
                  <a:p>
                    <a:r>
                      <a:rPr lang="en-GB" sz="1200" b="1">
                        <a:solidFill>
                          <a:srgbClr val="7A5C00"/>
                        </a:solidFill>
                      </a:rPr>
                      <a:t>45.0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D7E0-4BF0-BD33-468FF1E194F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Sheet1!$A$101:$A$101</c:f>
              <c:numCache>
                <c:formatCode>General</c:formatCode>
                <c:ptCount val="1"/>
                <c:pt idx="0">
                  <c:v>0</c:v>
                </c:pt>
              </c:numCache>
            </c:numRef>
          </c:xVal>
          <c:yVal>
            <c:numRef>
              <c:f>Sheet1!$B$101:$B$101</c:f>
              <c:numCache>
                <c:formatCode>General</c:formatCode>
                <c:ptCount val="1"/>
                <c:pt idx="0">
                  <c:v>49.046210000000002</c:v>
                </c:pt>
              </c:numCache>
            </c:numRef>
          </c:yVal>
          <c:smooth val="0"/>
          <c:extLst>
            <c:ext xmlns:c16="http://schemas.microsoft.com/office/drawing/2014/chart" uri="{C3380CC4-5D6E-409C-BE32-E72D297353CC}">
              <c16:uniqueId val="{0000000A-D7E0-4BF0-BD33-468FF1E194FF}"/>
            </c:ext>
          </c:extLst>
        </c:ser>
        <c:dLbls>
          <c:showLegendKey val="0"/>
          <c:showVal val="0"/>
          <c:showCatName val="0"/>
          <c:showSerName val="0"/>
          <c:showPercent val="0"/>
          <c:showBubbleSize val="0"/>
        </c:dLbls>
        <c:axId val="-2128940872"/>
        <c:axId val="-2129643912"/>
      </c:scatterChart>
      <c:valAx>
        <c:axId val="-2128940872"/>
        <c:scaling>
          <c:orientation val="minMax"/>
          <c:max val="9"/>
          <c:min val="0"/>
        </c:scaling>
        <c:delete val="0"/>
        <c:axPos val="b"/>
        <c:title>
          <c:tx>
            <c:rich>
              <a:bodyPr/>
              <a:lstStyle/>
              <a:p>
                <a:r>
                  <a:rPr lang="en-GB" sz="1300" b="0">
                    <a:solidFill>
                      <a:srgbClr val="55606B"/>
                    </a:solidFill>
                  </a:rPr>
                  <a:t>Predictor X</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9643912"/>
        <c:crosses val="autoZero"/>
        <c:crossBetween val="midCat"/>
        <c:majorUnit val="1"/>
      </c:valAx>
      <c:valAx>
        <c:axId val="-2129643912"/>
        <c:scaling>
          <c:orientation val="minMax"/>
          <c:max val="80"/>
          <c:min val="0"/>
        </c:scaling>
        <c:delete val="0"/>
        <c:axPos val="l"/>
        <c:majorGridlines>
          <c:spPr>
            <a:ln>
              <a:solidFill>
                <a:srgbClr val="DDE3E8"/>
              </a:solidFill>
            </a:ln>
          </c:spPr>
        </c:majorGridlines>
        <c:title>
          <c:tx>
            <c:rich>
              <a:bodyPr/>
              <a:lstStyle/>
              <a:p>
                <a:r>
                  <a:rPr lang="en-GB" sz="1300" b="0">
                    <a:solidFill>
                      <a:srgbClr val="55606B"/>
                    </a:solidFill>
                  </a:rPr>
                  <a:t>Outcome Y</a:t>
                </a:r>
              </a:p>
            </c:rich>
          </c:tx>
          <c:overlay val="0"/>
        </c:title>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128940872"/>
        <c:crosses val="autoZero"/>
        <c:crossBetween val="midCat"/>
        <c:majorUnit val="10"/>
      </c:valAx>
    </c:plotArea>
    <c:legend>
      <c:legendPos val="b"/>
      <c:legendEntry>
        <c:idx val="5"/>
        <c:delete val="1"/>
      </c:legendEntry>
      <c:legendEntry>
        <c:idx val="6"/>
        <c:delete val="1"/>
      </c:legendEntry>
      <c:legendEntry>
        <c:idx val="7"/>
        <c:delete val="1"/>
      </c:legendEntry>
      <c:legendEntry>
        <c:idx val="8"/>
        <c:delete val="1"/>
      </c:legendEntry>
      <c:legendEntry>
        <c:idx val="9"/>
        <c:delete val="1"/>
      </c:legendEntry>
      <c:legendEntry>
        <c:idx val="10"/>
        <c:delete val="1"/>
      </c:legendEntry>
      <c:legendEntry>
        <c:idx val="11"/>
        <c:delete val="1"/>
      </c:legendEntry>
      <c:legendEntry>
        <c:idx val="12"/>
        <c:delete val="1"/>
      </c:legendEntry>
      <c:overlay val="0"/>
      <c:txPr>
        <a:bodyPr/>
        <a:lstStyle/>
        <a:p>
          <a:pPr>
            <a:defRPr sz="1400"/>
          </a:pPr>
          <a:endParaRPr lang="en-US"/>
        </a:p>
      </c:txPr>
    </c:legend>
    <c:plotVisOnly val="1"/>
    <c:dispBlanksAs val="gap"/>
    <c:showDLblsOverMax val="0"/>
  </c:chart>
  <c:txPr>
    <a:bodyPr/>
    <a:lstStyle/>
    <a:p>
      <a:pPr>
        <a:defRPr sz="1300">
          <a:solidFill>
            <a:srgbClr val="55606B"/>
          </a:solidFil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Mean trust (%)</c:v>
                </c:pt>
              </c:strCache>
            </c:strRef>
          </c:tx>
          <c:spPr>
            <a:solidFill>
              <a:srgbClr val="1F394D"/>
            </a:solidFill>
          </c:spPr>
          <c:invertIfNegative val="1"/>
          <c:dPt>
            <c:idx val="0"/>
            <c:invertIfNegative val="1"/>
            <c:bubble3D val="0"/>
            <c:spPr>
              <a:solidFill>
                <a:srgbClr val="3F739B"/>
              </a:solidFill>
            </c:spPr>
            <c:extLst>
              <c:ext xmlns:c16="http://schemas.microsoft.com/office/drawing/2014/chart" uri="{C3380CC4-5D6E-409C-BE32-E72D297353CC}">
                <c16:uniqueId val="{00000001-D61A-48D5-80C9-79F90145EB69}"/>
              </c:ext>
            </c:extLst>
          </c:dPt>
          <c:dPt>
            <c:idx val="1"/>
            <c:invertIfNegative val="1"/>
            <c:bubble3D val="0"/>
            <c:spPr>
              <a:solidFill>
                <a:srgbClr val="3F739B"/>
              </a:solidFill>
            </c:spPr>
            <c:extLst>
              <c:ext xmlns:c16="http://schemas.microsoft.com/office/drawing/2014/chart" uri="{C3380CC4-5D6E-409C-BE32-E72D297353CC}">
                <c16:uniqueId val="{00000003-D61A-48D5-80C9-79F90145EB69}"/>
              </c:ext>
            </c:extLst>
          </c:dPt>
          <c:dPt>
            <c:idx val="2"/>
            <c:invertIfNegative val="1"/>
            <c:bubble3D val="0"/>
            <c:spPr>
              <a:solidFill>
                <a:srgbClr val="3F739B"/>
              </a:solidFill>
            </c:spPr>
            <c:extLst>
              <c:ext xmlns:c16="http://schemas.microsoft.com/office/drawing/2014/chart" uri="{C3380CC4-5D6E-409C-BE32-E72D297353CC}">
                <c16:uniqueId val="{00000005-D61A-48D5-80C9-79F90145EB69}"/>
              </c:ext>
            </c:extLst>
          </c:dPt>
          <c:dPt>
            <c:idx val="3"/>
            <c:invertIfNegative val="1"/>
            <c:bubble3D val="0"/>
            <c:spPr>
              <a:solidFill>
                <a:srgbClr val="3F739B"/>
              </a:solidFill>
            </c:spPr>
            <c:extLst>
              <c:ext xmlns:c16="http://schemas.microsoft.com/office/drawing/2014/chart" uri="{C3380CC4-5D6E-409C-BE32-E72D297353CC}">
                <c16:uniqueId val="{00000007-D61A-48D5-80C9-79F90145EB69}"/>
              </c:ext>
            </c:extLst>
          </c:dPt>
          <c:dPt>
            <c:idx val="4"/>
            <c:invertIfNegative val="1"/>
            <c:bubble3D val="0"/>
            <c:spPr>
              <a:solidFill>
                <a:srgbClr val="B88C00"/>
              </a:solidFill>
            </c:spPr>
            <c:extLst>
              <c:ext xmlns:c16="http://schemas.microsoft.com/office/drawing/2014/chart" uri="{C3380CC4-5D6E-409C-BE32-E72D297353CC}">
                <c16:uniqueId val="{00000009-D61A-48D5-80C9-79F90145EB69}"/>
              </c:ext>
            </c:extLst>
          </c:dPt>
          <c:dPt>
            <c:idx val="5"/>
            <c:invertIfNegative val="1"/>
            <c:bubble3D val="0"/>
            <c:spPr>
              <a:solidFill>
                <a:srgbClr val="3F739B"/>
              </a:solidFill>
            </c:spPr>
            <c:extLst>
              <c:ext xmlns:c16="http://schemas.microsoft.com/office/drawing/2014/chart" uri="{C3380CC4-5D6E-409C-BE32-E72D297353CC}">
                <c16:uniqueId val="{0000000B-D61A-48D5-80C9-79F90145EB69}"/>
              </c:ext>
            </c:extLst>
          </c:dPt>
          <c:dLbls>
            <c:numFmt formatCode="0.0" sourceLinked="0"/>
            <c:spPr>
              <a:noFill/>
              <a:ln>
                <a:noFill/>
              </a:ln>
              <a:effectLst/>
            </c:spPr>
            <c:txPr>
              <a:bodyPr/>
              <a:lstStyle/>
              <a:p>
                <a:pPr>
                  <a:defRPr sz="1300" b="1">
                    <a:solidFill>
                      <a:srgbClr val="1F2A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Africa
(n = 2)</c:v>
                </c:pt>
                <c:pt idx="1">
                  <c:v>Americas
(n = 11)</c:v>
                </c:pt>
                <c:pt idx="2">
                  <c:v>Eastern Europe
(n = 21)</c:v>
                </c:pt>
                <c:pt idx="3">
                  <c:v>Asia
(n = 8)</c:v>
                </c:pt>
                <c:pt idx="4">
                  <c:v>Western Europe
(n = 16)</c:v>
                </c:pt>
                <c:pt idx="5">
                  <c:v>Oceania
(n = 2)</c:v>
                </c:pt>
              </c:strCache>
            </c:strRef>
          </c:cat>
          <c:val>
            <c:numRef>
              <c:f>Sheet1!$B$2:$B$7</c:f>
              <c:numCache>
                <c:formatCode>General</c:formatCode>
                <c:ptCount val="6"/>
                <c:pt idx="0">
                  <c:v>16.600000000000001</c:v>
                </c:pt>
                <c:pt idx="1">
                  <c:v>21.5</c:v>
                </c:pt>
                <c:pt idx="2">
                  <c:v>22.7</c:v>
                </c:pt>
                <c:pt idx="3">
                  <c:v>26.7</c:v>
                </c:pt>
                <c:pt idx="4">
                  <c:v>40.700000000000003</c:v>
                </c:pt>
                <c:pt idx="5">
                  <c:v>44.6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D61A-48D5-80C9-79F90145EB69}"/>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BC4CC"/>
            </a:solidFill>
          </a:ln>
        </c:spPr>
        <c:txPr>
          <a:bodyPr/>
          <a:lstStyle/>
          <a:p>
            <a:pPr>
              <a:defRPr sz="1300">
                <a:solidFill>
                  <a:srgbClr val="55606B"/>
                </a:solidFill>
              </a:defRPr>
            </a:pPr>
            <a:endParaRPr lang="en-US"/>
          </a:p>
        </c:txPr>
        <c:crossAx val="-2113994440"/>
        <c:crosses val="autoZero"/>
        <c:auto val="1"/>
        <c:lblAlgn val="ctr"/>
        <c:lblOffset val="100"/>
        <c:noMultiLvlLbl val="0"/>
      </c:catAx>
      <c:valAx>
        <c:axId val="-2113994440"/>
        <c:scaling>
          <c:orientation val="minMax"/>
          <c:max val="50"/>
          <c:min val="0"/>
        </c:scaling>
        <c:delete val="0"/>
        <c:axPos val="l"/>
        <c:majorGridlines>
          <c:spPr>
            <a:ln>
              <a:solidFill>
                <a:srgbClr val="DDE3E8"/>
              </a:solidFill>
            </a:ln>
          </c:spPr>
        </c:majorGridlines>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068027336"/>
        <c:crosses val="autoZero"/>
        <c:crossBetween val="between"/>
        <c:majorUnit val="10"/>
      </c:valAx>
    </c:plotArea>
    <c:plotVisOnly val="1"/>
    <c:dispBlanksAs val="gap"/>
    <c:showDLblsOverMax val="1"/>
  </c:chart>
  <c:txPr>
    <a:bodyPr/>
    <a:lstStyle/>
    <a:p>
      <a:pPr>
        <a:defRPr sz="1300">
          <a:solidFill>
            <a:srgbClr val="55606B"/>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Mean trust (%)</c:v>
                </c:pt>
              </c:strCache>
            </c:strRef>
          </c:tx>
          <c:spPr>
            <a:solidFill>
              <a:srgbClr val="1F394D"/>
            </a:solidFill>
          </c:spPr>
          <c:invertIfNegative val="1"/>
          <c:dPt>
            <c:idx val="0"/>
            <c:invertIfNegative val="1"/>
            <c:bubble3D val="0"/>
            <c:spPr>
              <a:solidFill>
                <a:srgbClr val="3F739B"/>
              </a:solidFill>
            </c:spPr>
            <c:extLst>
              <c:ext xmlns:c16="http://schemas.microsoft.com/office/drawing/2014/chart" uri="{C3380CC4-5D6E-409C-BE32-E72D297353CC}">
                <c16:uniqueId val="{00000001-4457-45F0-AFDD-F159C120145D}"/>
              </c:ext>
            </c:extLst>
          </c:dPt>
          <c:dPt>
            <c:idx val="1"/>
            <c:invertIfNegative val="1"/>
            <c:bubble3D val="0"/>
            <c:extLst>
              <c:ext xmlns:c16="http://schemas.microsoft.com/office/drawing/2014/chart" uri="{C3380CC4-5D6E-409C-BE32-E72D297353CC}">
                <c16:uniqueId val="{00000003-4457-45F0-AFDD-F159C120145D}"/>
              </c:ext>
            </c:extLst>
          </c:dPt>
          <c:dLbls>
            <c:numFmt formatCode="0.0" sourceLinked="0"/>
            <c:spPr>
              <a:noFill/>
              <a:ln>
                <a:noFill/>
              </a:ln>
              <a:effectLst/>
            </c:spPr>
            <c:txPr>
              <a:bodyPr/>
              <a:lstStyle/>
              <a:p>
                <a:pPr>
                  <a:defRPr sz="1300" b="1">
                    <a:solidFill>
                      <a:srgbClr val="1F2A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Not Protestant</c:v>
                </c:pt>
                <c:pt idx="1">
                  <c:v>Protestant</c:v>
                </c:pt>
              </c:strCache>
            </c:strRef>
          </c:cat>
          <c:val>
            <c:numRef>
              <c:f>Sheet1!$B$2:$B$3</c:f>
              <c:numCache>
                <c:formatCode>General</c:formatCode>
                <c:ptCount val="2"/>
                <c:pt idx="0">
                  <c:v>24.8</c:v>
                </c:pt>
                <c:pt idx="1">
                  <c:v>48.3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4457-45F0-AFDD-F159C120145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BC4CC"/>
            </a:solidFill>
          </a:ln>
        </c:spPr>
        <c:txPr>
          <a:bodyPr/>
          <a:lstStyle/>
          <a:p>
            <a:pPr>
              <a:defRPr sz="1500">
                <a:solidFill>
                  <a:srgbClr val="55606B"/>
                </a:solidFill>
              </a:defRPr>
            </a:pPr>
            <a:endParaRPr lang="en-US"/>
          </a:p>
        </c:txPr>
        <c:crossAx val="-2113994440"/>
        <c:crosses val="autoZero"/>
        <c:auto val="1"/>
        <c:lblAlgn val="ctr"/>
        <c:lblOffset val="100"/>
        <c:noMultiLvlLbl val="0"/>
      </c:catAx>
      <c:valAx>
        <c:axId val="-2113994440"/>
        <c:scaling>
          <c:orientation val="minMax"/>
          <c:max val="60"/>
          <c:min val="0"/>
        </c:scaling>
        <c:delete val="0"/>
        <c:axPos val="l"/>
        <c:majorGridlines>
          <c:spPr>
            <a:ln>
              <a:solidFill>
                <a:srgbClr val="DDE3E8"/>
              </a:solidFill>
            </a:ln>
          </c:spPr>
        </c:majorGridlines>
        <c:numFmt formatCode="General" sourceLinked="1"/>
        <c:majorTickMark val="out"/>
        <c:minorTickMark val="none"/>
        <c:tickLblPos val="nextTo"/>
        <c:spPr>
          <a:ln>
            <a:solidFill>
              <a:srgbClr val="BBC4CC"/>
            </a:solidFill>
          </a:ln>
        </c:spPr>
        <c:txPr>
          <a:bodyPr/>
          <a:lstStyle/>
          <a:p>
            <a:pPr>
              <a:defRPr sz="1300">
                <a:solidFill>
                  <a:srgbClr val="55606B"/>
                </a:solidFill>
              </a:defRPr>
            </a:pPr>
            <a:endParaRPr lang="en-US"/>
          </a:p>
        </c:txPr>
        <c:crossAx val="-2068027336"/>
        <c:crosses val="autoZero"/>
        <c:crossBetween val="between"/>
        <c:majorUnit val="10"/>
      </c:valAx>
    </c:plotArea>
    <c:plotVisOnly val="1"/>
    <c:dispBlanksAs val="gap"/>
    <c:showDLblsOverMax val="1"/>
  </c:chart>
  <c:txPr>
    <a:bodyPr/>
    <a:lstStyle/>
    <a:p>
      <a:pPr>
        <a:defRPr sz="1300">
          <a:solidFill>
            <a:srgbClr val="55606B"/>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FBD195-041F-A9A0-1644-740C91990A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7D01E07-BD6F-76A0-E2F3-6F9E834A0E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3203E3-7C81-41A5-A697-954FF252F964}" type="datetimeFigureOut">
              <a:rPr lang="en-GB" smtClean="0"/>
              <a:t>13/10/2026</a:t>
            </a:fld>
            <a:endParaRPr lang="en-GB"/>
          </a:p>
        </p:txBody>
      </p:sp>
      <p:sp>
        <p:nvSpPr>
          <p:cNvPr id="4" name="Footer Placeholder 3">
            <a:extLst>
              <a:ext uri="{FF2B5EF4-FFF2-40B4-BE49-F238E27FC236}">
                <a16:creationId xmlns:a16="http://schemas.microsoft.com/office/drawing/2014/main" id="{DDFBD701-2DB0-B4B2-C5BD-0490DCBA57E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4251DA51-44A7-C88C-C39E-6DA6922B2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0050DA-C3C8-4D4F-9A52-26049FB521EA}" type="slidenum">
              <a:rPr lang="en-GB" smtClean="0"/>
              <a:t>‹#›</a:t>
            </a:fld>
            <a:endParaRPr lang="en-GB"/>
          </a:p>
        </p:txBody>
      </p:sp>
    </p:spTree>
    <p:extLst>
      <p:ext uri="{BB962C8B-B14F-4D97-AF65-F5344CB8AC3E}">
        <p14:creationId xmlns:p14="http://schemas.microsoft.com/office/powerpoint/2010/main" val="336818098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54BCB-1937-48CE-9F00-49B381FEB4E9}" type="datetimeFigureOut">
              <a:rPr lang="en-GB" smtClean="0"/>
              <a:t>13/10/2026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A333E-A95D-42FE-9CF0-D7FBE7CB01EA}" type="slidenum">
              <a:rPr lang="en-GB" smtClean="0"/>
              <a:t>‹#›</a:t>
            </a:fld>
            <a:endParaRPr lang="en-GB"/>
          </a:p>
        </p:txBody>
      </p:sp>
    </p:spTree>
    <p:extLst>
      <p:ext uri="{BB962C8B-B14F-4D97-AF65-F5344CB8AC3E}">
        <p14:creationId xmlns:p14="http://schemas.microsoft.com/office/powerpoint/2010/main" val="61144826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67504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59490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Correlation summarises how tightly two variables move together, in no particular direction and without units. Regression chooses an outcome, describes the line in the outcome's own units, and lets us predict and add more predictors.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Synthetic example: twelve people, years of education and trust (0-10). The line is the best straight-line summary. Each vertical gap between a point and the line is a residual: what the line gets wrong for that person. Slope: one more year of education goes with about 0.3 points more trust, on average.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Synthetic example, same twelve people. If we ignore education, the best prediction for everyone is the mean: the flat line on the left. Its squared residuals add up to 15.0. The regression line (right) cuts that to 3.7. Least squares picks the line with the smallest possible sum. The share removed, 1 - 3.7/15.0 = 0.75, is R-squared.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small datasets published by F. J. Anscombe (1973). All four have the same regression line (y = 3 + 0.5x) and the same r (0.82), but only the first is a sensible use of a straight line. Number 2 is curved, number 3 has one outlier tilting the line, number 4 is a single influential point. The numbers are identical; the pictures are not.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scatter plot as last week, now with the least-squares line. The equation is what JASP's Coefficients table reports in the Unstandardized column.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Coefficients table from Worksheet 3, Exercise 3.1, Task 2 (model M1). The Unstandardized column is the line. The Standardized coefficient equals the correlation r in a one-predictor model. We leave SE, t and p for Week 5, but notice them now.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Plug a country's inequality into the equation to get its predicted trust. The residual is observed minus predicted. Portugal and France trust much less than their inequality predicts; Denmark and the USA much more. Big residuals tell us inequality is far from the whole story, which motivates adding more predictors.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Calculators out: 3 minutes. Answers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 up the squared distances of each country's trust from the overall mean: that is the total variation (about 5,467). Add up the squared residuals around the regression line: about 3,055 is left unexplained. The rest, 44%, is what the line accounts for. R-squared is comparable across models with the same outcome; individual coefficients are not, unless their units match.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Unstandardized: in the variables' own units. Standardized: both variables converted to z-scores (SDs from the mean), which makes coefficients comparable across predictors measured in different units. In a one-predictor model the standardized slope equals 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Suppose more unequal countries also have more homicides, and fear of crime erodes trust. Then part of the inequality-trust association might really be about homicides. In these data inequality and homicides correlate at r = 0.47. Multiple regression estimates the inequality slope while adjusting for homicides.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M1 and M2 are simple regressions; M3 includes both predictors. The inequality slope barely moves (it becomes slightly steeper). Homicides were weakly negative on their own but turn slightly positive, with a large standard error, once inequality is in the model: homicides add almost nothing (R-squared from 0.441 to 0.455). Note the multicollinearity check: VIF = 1/(1 - r^2) = 1.28, nothing to worry about.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Synthetic example: 60 countries in two regions. Region B has both higher X and lower Y. The simple slope (dashed) mixes the difference between regions with the relationship within them: about -6.6. Adding region to the model compares countries within the same region: the slope is about -2.4, the same in both regions (the two parallel lines). That is what 'adjusting for' or 'holding constant' means in a regression.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M3 from the previous slides. Show of hands. Answers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Delhey &amp; Newton's 60 countries. Western Europe and Oceania are high; the Americas, Eastern Europe and Africa low. Note the group sizes: Africa and Oceania have only two countries each, so their means are very fragile.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JASP turns a factor into indicator (dummy) variables, one per category except the reference. With Western Europe as the reference, the intercept is the Western European mean and each coefficient is a region's difference from it. JASP uses the first category as the reference: in Worksheet 3 you reorder the labels so that Western Europe comes first instead of Africa, which has only two countries.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Protestantism is coded 1 for countries with a significant Protestant population (Delhey &amp; Newton's definition), 0 otherwise. The coefficient is simply the difference in means: 48.26 - 24.81 = 23.45 points. Adding the Gini coefficient, the Protestant gap shrinks to 19.1: part of it went with Protestant countries being more equal. A 0/1 variable can go in Covariates (Scale) or Factors: the coefficient is the same.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coefficient table (reference: Western Europe, intercept 40.66). 3 minutes. Answers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short checklist for the assignment. Linearity: look at the scatter plot. Influential cases: countries with large residuals or extreme values. Multicollinearity: highly correlated predictors make coefficients unstable (check VIF). Extrapolation: the line only describes the range of the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5810384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s://github.com/CGMoreh" TargetMode="External"/><Relationship Id="rId13" Type="http://schemas.openxmlformats.org/officeDocument/2006/relationships/image" Target="../media/image6.png"/><Relationship Id="rId3" Type="http://schemas.openxmlformats.org/officeDocument/2006/relationships/hyperlink" Target="https://www.ncl.ac.uk/gps/staff/profile/chrismoreh.html" TargetMode="External"/><Relationship Id="rId7" Type="http://schemas.openxmlformats.org/officeDocument/2006/relationships/hyperlink" Target="https://www.chrismoreh.com/" TargetMode="External"/><Relationship Id="rId12"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mailto:chris.moreh@ncl.ac.uk" TargetMode="External"/><Relationship Id="rId11" Type="http://schemas.openxmlformats.org/officeDocument/2006/relationships/image" Target="../media/image4.png"/><Relationship Id="rId5" Type="http://schemas.openxmlformats.org/officeDocument/2006/relationships/image" Target="../media/image3.svg"/><Relationship Id="rId15" Type="http://schemas.openxmlformats.org/officeDocument/2006/relationships/image" Target="../media/image8.png"/><Relationship Id="rId10" Type="http://schemas.openxmlformats.org/officeDocument/2006/relationships/hyperlink" Target="https://www.linkedin.com/in/cgm-phd/" TargetMode="External"/><Relationship Id="rId4" Type="http://schemas.openxmlformats.org/officeDocument/2006/relationships/image" Target="../media/image2.png"/><Relationship Id="rId9" Type="http://schemas.openxmlformats.org/officeDocument/2006/relationships/hyperlink" Target="https://twitter.com/cgmoreh" TargetMode="External"/><Relationship Id="rId1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svg"/><Relationship Id="rId18" Type="http://schemas.openxmlformats.org/officeDocument/2006/relationships/image" Target="../media/image26.svg"/><Relationship Id="rId3" Type="http://schemas.openxmlformats.org/officeDocument/2006/relationships/image" Target="../media/image11.svg"/><Relationship Id="rId21" Type="http://schemas.openxmlformats.org/officeDocument/2006/relationships/image" Target="../media/image29.svg"/><Relationship Id="rId7" Type="http://schemas.openxmlformats.org/officeDocument/2006/relationships/image" Target="../media/image15.svg"/><Relationship Id="rId12" Type="http://schemas.openxmlformats.org/officeDocument/2006/relationships/image" Target="../media/image20.svg"/><Relationship Id="rId17" Type="http://schemas.openxmlformats.org/officeDocument/2006/relationships/image" Target="../media/image25.svg"/><Relationship Id="rId2" Type="http://schemas.openxmlformats.org/officeDocument/2006/relationships/image" Target="../media/image10.svg"/><Relationship Id="rId16" Type="http://schemas.openxmlformats.org/officeDocument/2006/relationships/image" Target="../media/image24.svg"/><Relationship Id="rId20" Type="http://schemas.openxmlformats.org/officeDocument/2006/relationships/image" Target="../media/image28.svg"/><Relationship Id="rId1" Type="http://schemas.openxmlformats.org/officeDocument/2006/relationships/slideMaster" Target="../slideMasters/slideMaster1.xml"/><Relationship Id="rId6" Type="http://schemas.openxmlformats.org/officeDocument/2006/relationships/image" Target="../media/image14.svg"/><Relationship Id="rId11" Type="http://schemas.openxmlformats.org/officeDocument/2006/relationships/image" Target="../media/image19.svg"/><Relationship Id="rId5" Type="http://schemas.openxmlformats.org/officeDocument/2006/relationships/image" Target="../media/image13.svg"/><Relationship Id="rId15" Type="http://schemas.openxmlformats.org/officeDocument/2006/relationships/image" Target="../media/image23.svg"/><Relationship Id="rId10" Type="http://schemas.openxmlformats.org/officeDocument/2006/relationships/image" Target="../media/image18.svg"/><Relationship Id="rId19" Type="http://schemas.openxmlformats.org/officeDocument/2006/relationships/image" Target="../media/image27.svg"/><Relationship Id="rId4" Type="http://schemas.openxmlformats.org/officeDocument/2006/relationships/image" Target="../media/image12.svg"/><Relationship Id="rId9" Type="http://schemas.openxmlformats.org/officeDocument/2006/relationships/image" Target="../media/image17.svg"/><Relationship Id="rId14" Type="http://schemas.openxmlformats.org/officeDocument/2006/relationships/image" Target="../media/image2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svg"/><Relationship Id="rId1" Type="http://schemas.openxmlformats.org/officeDocument/2006/relationships/slideMaster" Target="../slideMasters/slideMaster1.xml"/><Relationship Id="rId5" Type="http://schemas.openxmlformats.org/officeDocument/2006/relationships/image" Target="../media/image14.svg"/><Relationship Id="rId4" Type="http://schemas.openxmlformats.org/officeDocument/2006/relationships/image" Target="../media/image13.sv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6.svg"/><Relationship Id="rId7" Type="http://schemas.openxmlformats.org/officeDocument/2006/relationships/image" Target="../media/image18.svg"/><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image" Target="../media/image13.svg"/><Relationship Id="rId11" Type="http://schemas.openxmlformats.org/officeDocument/2006/relationships/image" Target="../media/image11.svg"/><Relationship Id="rId5" Type="http://schemas.openxmlformats.org/officeDocument/2006/relationships/image" Target="../media/image17.svg"/><Relationship Id="rId10" Type="http://schemas.openxmlformats.org/officeDocument/2006/relationships/image" Target="../media/image15.svg"/><Relationship Id="rId4" Type="http://schemas.openxmlformats.org/officeDocument/2006/relationships/image" Target="../media/image12.svg"/><Relationship Id="rId9" Type="http://schemas.openxmlformats.org/officeDocument/2006/relationships/image" Target="../media/image1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hyperlink" Target="https://www.chrismoreh.com/" TargetMode="External"/><Relationship Id="rId13" Type="http://schemas.openxmlformats.org/officeDocument/2006/relationships/image" Target="../media/image5.png"/><Relationship Id="rId3" Type="http://schemas.openxmlformats.org/officeDocument/2006/relationships/image" Target="../media/image30.png"/><Relationship Id="rId7" Type="http://schemas.openxmlformats.org/officeDocument/2006/relationships/hyperlink" Target="mailto:chris.moreh@ncl.ac.uk" TargetMode="External"/><Relationship Id="rId12" Type="http://schemas.openxmlformats.org/officeDocument/2006/relationships/image" Target="../media/image4.png"/><Relationship Id="rId17" Type="http://schemas.openxmlformats.org/officeDocument/2006/relationships/image" Target="../media/image32.png"/><Relationship Id="rId2" Type="http://schemas.openxmlformats.org/officeDocument/2006/relationships/image" Target="../media/image2.png"/><Relationship Id="rId16"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3.svg"/><Relationship Id="rId11" Type="http://schemas.openxmlformats.org/officeDocument/2006/relationships/hyperlink" Target="https://www.linkedin.com/in/cgm-phd/" TargetMode="External"/><Relationship Id="rId5" Type="http://schemas.openxmlformats.org/officeDocument/2006/relationships/image" Target="../media/image31.svg"/><Relationship Id="rId15" Type="http://schemas.openxmlformats.org/officeDocument/2006/relationships/image" Target="../media/image7.png"/><Relationship Id="rId10" Type="http://schemas.openxmlformats.org/officeDocument/2006/relationships/hyperlink" Target="https://twitter.com/cgmoreh" TargetMode="External"/><Relationship Id="rId4" Type="http://schemas.microsoft.com/office/2007/relationships/hdphoto" Target="../media/hdphoto1.wdp"/><Relationship Id="rId9" Type="http://schemas.openxmlformats.org/officeDocument/2006/relationships/hyperlink" Target="https://github.com/CGMoreh" TargetMode="External"/><Relationship Id="rId1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alphaModFix amt="80000"/>
            <a:lum/>
          </a:blip>
          <a:srcRect/>
          <a:stretch>
            <a:fillRect l="2000" r="2000" b="27000"/>
          </a:stretch>
        </a:blip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Date Placeholder 3"/>
          <p:cNvSpPr>
            <a:spLocks noGrp="1"/>
          </p:cNvSpPr>
          <p:nvPr>
            <p:ph type="dt" sz="half" idx="10"/>
          </p:nvPr>
        </p:nvSpPr>
        <p:spPr/>
        <p:txBody>
          <a:bodyPr/>
          <a:lstStyle/>
          <a:p>
            <a:r>
              <a:rPr lang="en-US"/>
              <a:t>8 October 2024</a:t>
            </a:r>
            <a:endParaRPr lang="en-GB"/>
          </a:p>
        </p:txBody>
      </p:sp>
      <p:sp>
        <p:nvSpPr>
          <p:cNvPr id="5" name="Footer Placeholder 4"/>
          <p:cNvSpPr>
            <a:spLocks noGrp="1"/>
          </p:cNvSpPr>
          <p:nvPr>
            <p:ph type="ftr" sz="quarter" idx="11"/>
          </p:nvPr>
        </p:nvSpPr>
        <p:spPr/>
        <p:txBody>
          <a:bodyPr/>
          <a:lstStyle/>
          <a:p>
            <a:r>
              <a:rPr lang="en-GB"/>
              <a:t>Comparisons and Associations</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cxnSp>
        <p:nvCxnSpPr>
          <p:cNvPr id="9" name="Straight Connector 8"/>
          <p:cNvCxnSpPr/>
          <p:nvPr/>
        </p:nvCxnSpPr>
        <p:spPr>
          <a:xfrm>
            <a:off x="1207658" y="4598116"/>
            <a:ext cx="987552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64B1F7A-19A6-1CF3-BEAB-784AD8D53EB1}"/>
              </a:ext>
            </a:extLst>
          </p:cNvPr>
          <p:cNvSpPr txBox="1"/>
          <p:nvPr userDrawn="1"/>
        </p:nvSpPr>
        <p:spPr>
          <a:xfrm>
            <a:off x="1076962" y="4981037"/>
            <a:ext cx="3298623" cy="892552"/>
          </a:xfrm>
          <a:prstGeom prst="rect">
            <a:avLst/>
          </a:prstGeom>
          <a:noFill/>
        </p:spPr>
        <p:txBody>
          <a:bodyPr wrap="square" rtlCol="0">
            <a:spAutoFit/>
          </a:bodyPr>
          <a:lstStyle/>
          <a:p>
            <a:pPr algn="ctr"/>
            <a:r>
              <a:rPr lang="en-GB" sz="2400" b="1" dirty="0">
                <a:hlinkClick r:id="rId3"/>
              </a:rPr>
              <a:t>Dr Chris Moreh</a:t>
            </a:r>
            <a:endParaRPr lang="en-GB" sz="2400" b="1" dirty="0"/>
          </a:p>
          <a:p>
            <a:pPr algn="ctr"/>
            <a:r>
              <a:rPr lang="en-GB" sz="1400" b="1" dirty="0">
                <a:solidFill>
                  <a:schemeClr val="tx1">
                    <a:lumMod val="50000"/>
                    <a:lumOff val="50000"/>
                  </a:schemeClr>
                </a:solidFill>
              </a:rPr>
              <a:t>Lecturer (Assistant Professor) in Sociology</a:t>
            </a:r>
          </a:p>
          <a:p>
            <a:pPr algn="ctr"/>
            <a:r>
              <a:rPr lang="en-GB" sz="1400" b="1" dirty="0">
                <a:solidFill>
                  <a:schemeClr val="tx1">
                    <a:lumMod val="50000"/>
                    <a:lumOff val="50000"/>
                  </a:schemeClr>
                </a:solidFill>
              </a:rPr>
              <a:t>Newcastle University (UK)</a:t>
            </a:r>
          </a:p>
        </p:txBody>
      </p:sp>
      <p:pic>
        <p:nvPicPr>
          <p:cNvPr id="17" name="Picture 12" descr="Partners; Sustaining Creative Economies ...">
            <a:extLst>
              <a:ext uri="{FF2B5EF4-FFF2-40B4-BE49-F238E27FC236}">
                <a16:creationId xmlns:a16="http://schemas.microsoft.com/office/drawing/2014/main" id="{5E3F19EF-7B80-6D97-E3A7-968224B76271}"/>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9288455" y="5559906"/>
            <a:ext cx="879898" cy="492743"/>
          </a:xfrm>
          <a:prstGeom prst="rect">
            <a:avLst/>
          </a:prstGeom>
          <a:noFill/>
          <a:extLst>
            <a:ext uri="{909E8E84-426E-40DD-AFC4-6F175D3DCCD1}">
              <a14:hiddenFill xmlns:a14="http://schemas.microsoft.com/office/drawing/2010/main">
                <a:solidFill>
                  <a:srgbClr val="FFFFFF"/>
                </a:solidFill>
              </a14:hiddenFill>
            </a:ext>
          </a:extLst>
        </p:spPr>
      </p:pic>
      <p:pic>
        <p:nvPicPr>
          <p:cNvPr id="18" name="Graphic 17">
            <a:extLst>
              <a:ext uri="{FF2B5EF4-FFF2-40B4-BE49-F238E27FC236}">
                <a16:creationId xmlns:a16="http://schemas.microsoft.com/office/drawing/2014/main" id="{D47E78DF-0172-CCB2-A101-66933B09714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055271" y="4969095"/>
            <a:ext cx="2466369" cy="811928"/>
          </a:xfrm>
          <a:prstGeom prst="rect">
            <a:avLst/>
          </a:prstGeom>
        </p:spPr>
      </p:pic>
      <p:sp>
        <p:nvSpPr>
          <p:cNvPr id="19" name="TextBox 18">
            <a:extLst>
              <a:ext uri="{FF2B5EF4-FFF2-40B4-BE49-F238E27FC236}">
                <a16:creationId xmlns:a16="http://schemas.microsoft.com/office/drawing/2014/main" id="{D366C7AD-815A-A77E-DFE5-343F532EBF9A}"/>
              </a:ext>
            </a:extLst>
          </p:cNvPr>
          <p:cNvSpPr txBox="1"/>
          <p:nvPr userDrawn="1"/>
        </p:nvSpPr>
        <p:spPr>
          <a:xfrm>
            <a:off x="5214979" y="4804497"/>
            <a:ext cx="2582537" cy="1323439"/>
          </a:xfrm>
          <a:prstGeom prst="rect">
            <a:avLst/>
          </a:prstGeom>
          <a:noFill/>
        </p:spPr>
        <p:txBody>
          <a:bodyPr wrap="square" rtlCol="0">
            <a:spAutoFit/>
          </a:bodyPr>
          <a:lstStyle/>
          <a:p>
            <a:pPr marL="180000">
              <a:spcBef>
                <a:spcPts val="0"/>
              </a:spcBef>
            </a:pPr>
            <a:r>
              <a:rPr lang="en-GB" sz="1600" b="0" dirty="0">
                <a:latin typeface="Arial Nova Cond Light" panose="020B0306020202020204" pitchFamily="34" charset="0"/>
                <a:cs typeface="Courier New" panose="02070309020205020404" pitchFamily="49" charset="0"/>
                <a:hlinkClick r:id="rId6"/>
              </a:rPr>
              <a:t>chris.moreh@ncl.ac.uk</a:t>
            </a:r>
            <a:endParaRPr lang="en-GB" sz="1600" b="0" dirty="0">
              <a:latin typeface="Arial Nova Cond Light" panose="020B0306020202020204" pitchFamily="34" charset="0"/>
              <a:cs typeface="Courier New" panose="02070309020205020404" pitchFamily="49" charset="0"/>
              <a:hlinkClick r:id="rId7"/>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7"/>
              </a:rPr>
              <a:t>chrismoreh.com</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8"/>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9"/>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0"/>
              </a:rPr>
              <a:t>Chris Moreh</a:t>
            </a:r>
            <a:endParaRPr lang="en-GB" sz="1600" b="0" dirty="0">
              <a:latin typeface="Arial Nova Cond Light" panose="020B0306020202020204" pitchFamily="34" charset="0"/>
              <a:cs typeface="Courier New" panose="02070309020205020404" pitchFamily="49" charset="0"/>
            </a:endParaRPr>
          </a:p>
        </p:txBody>
      </p:sp>
      <p:pic>
        <p:nvPicPr>
          <p:cNvPr id="20" name="Picture 19">
            <a:extLst>
              <a:ext uri="{FF2B5EF4-FFF2-40B4-BE49-F238E27FC236}">
                <a16:creationId xmlns:a16="http://schemas.microsoft.com/office/drawing/2014/main" id="{7149FC35-C474-B9EE-00BD-BC74BCEB8E9B}"/>
              </a:ext>
            </a:extLst>
          </p:cNvPr>
          <p:cNvPicPr>
            <a:picLocks noChangeAspect="1"/>
          </p:cNvPicPr>
          <p:nvPr userDrawn="1"/>
        </p:nvPicPr>
        <p:blipFill>
          <a:blip r:embed="rId11"/>
          <a:stretch>
            <a:fillRect/>
          </a:stretch>
        </p:blipFill>
        <p:spPr>
          <a:xfrm flipH="1">
            <a:off x="5230888" y="5140634"/>
            <a:ext cx="174474" cy="180000"/>
          </a:xfrm>
          <a:prstGeom prst="rect">
            <a:avLst/>
          </a:prstGeom>
        </p:spPr>
      </p:pic>
      <p:pic>
        <p:nvPicPr>
          <p:cNvPr id="21" name="Picture 4">
            <a:extLst>
              <a:ext uri="{FF2B5EF4-FFF2-40B4-BE49-F238E27FC236}">
                <a16:creationId xmlns:a16="http://schemas.microsoft.com/office/drawing/2014/main" id="{F9EC77A0-6416-6CCB-C929-DDC0F09623B6}"/>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5200359" y="5607125"/>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a:extLst>
              <a:ext uri="{FF2B5EF4-FFF2-40B4-BE49-F238E27FC236}">
                <a16:creationId xmlns:a16="http://schemas.microsoft.com/office/drawing/2014/main" id="{F971661E-6DFA-370A-89DD-D2BC0DED9D79}"/>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5225362" y="5875809"/>
            <a:ext cx="19125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
            <a:extLst>
              <a:ext uri="{FF2B5EF4-FFF2-40B4-BE49-F238E27FC236}">
                <a16:creationId xmlns:a16="http://schemas.microsoft.com/office/drawing/2014/main" id="{210423AF-0922-B2C9-F283-0DAD228B1889}"/>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5194877" y="5353572"/>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Email Icon Clip Art , Royalty PNG Transparent Background, Free Download  #130 - FreeIconsPNG">
            <a:extLst>
              <a:ext uri="{FF2B5EF4-FFF2-40B4-BE49-F238E27FC236}">
                <a16:creationId xmlns:a16="http://schemas.microsoft.com/office/drawing/2014/main" id="{A29CD3B3-0963-AF7B-DAAC-629686F339AC}"/>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5225888" y="4898445"/>
            <a:ext cx="176400" cy="1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3529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E3F75-4629-998C-D4E2-8B503E840A60}"/>
              </a:ext>
            </a:extLst>
          </p:cNvPr>
          <p:cNvSpPr>
            <a:spLocks noGrp="1"/>
          </p:cNvSpPr>
          <p:nvPr>
            <p:ph type="title"/>
          </p:nvPr>
        </p:nvSpPr>
        <p:spPr>
          <a:xfrm>
            <a:off x="756746" y="286604"/>
            <a:ext cx="9578516" cy="911576"/>
          </a:xfrm>
        </p:spPr>
        <p:txBody>
          <a:bodyPr/>
          <a:lstStyle>
            <a:lvl1pPr>
              <a:defRPr b="1"/>
            </a:lvl1pPr>
          </a:lstStyle>
          <a:p>
            <a:r>
              <a:rPr lang="en-GB" dirty="0"/>
              <a:t>Click to edit Master title style</a:t>
            </a:r>
          </a:p>
        </p:txBody>
      </p:sp>
      <p:sp>
        <p:nvSpPr>
          <p:cNvPr id="3" name="Date Placeholder 2">
            <a:extLst>
              <a:ext uri="{FF2B5EF4-FFF2-40B4-BE49-F238E27FC236}">
                <a16:creationId xmlns:a16="http://schemas.microsoft.com/office/drawing/2014/main" id="{57160149-4935-39AC-F9A6-3A67DF92E54A}"/>
              </a:ext>
            </a:extLst>
          </p:cNvPr>
          <p:cNvSpPr>
            <a:spLocks noGrp="1"/>
          </p:cNvSpPr>
          <p:nvPr>
            <p:ph type="dt" sz="half" idx="10"/>
          </p:nvPr>
        </p:nvSpPr>
        <p:spPr/>
        <p:txBody>
          <a:bodyPr/>
          <a:lstStyle/>
          <a:p>
            <a:r>
              <a:rPr lang="en-US"/>
              <a:t>8 October 2024</a:t>
            </a:r>
            <a:endParaRPr lang="en-GB"/>
          </a:p>
        </p:txBody>
      </p:sp>
      <p:sp>
        <p:nvSpPr>
          <p:cNvPr id="4" name="Footer Placeholder 3">
            <a:extLst>
              <a:ext uri="{FF2B5EF4-FFF2-40B4-BE49-F238E27FC236}">
                <a16:creationId xmlns:a16="http://schemas.microsoft.com/office/drawing/2014/main" id="{8DAF1058-E5AB-75EB-3440-399DB9E1D9B9}"/>
              </a:ext>
            </a:extLst>
          </p:cNvPr>
          <p:cNvSpPr>
            <a:spLocks noGrp="1"/>
          </p:cNvSpPr>
          <p:nvPr>
            <p:ph type="ftr" sz="quarter" idx="11"/>
          </p:nvPr>
        </p:nvSpPr>
        <p:spPr/>
        <p:txBody>
          <a:bodyPr/>
          <a:lstStyle/>
          <a:p>
            <a:r>
              <a:rPr lang="en-GB"/>
              <a:t>Comparisons and Associations</a:t>
            </a:r>
          </a:p>
        </p:txBody>
      </p:sp>
      <p:sp>
        <p:nvSpPr>
          <p:cNvPr id="5" name="Slide Number Placeholder 4">
            <a:extLst>
              <a:ext uri="{FF2B5EF4-FFF2-40B4-BE49-F238E27FC236}">
                <a16:creationId xmlns:a16="http://schemas.microsoft.com/office/drawing/2014/main" id="{0A3AAE89-1CB8-B1D2-4FC2-01A5F9359E58}"/>
              </a:ext>
            </a:extLst>
          </p:cNvPr>
          <p:cNvSpPr>
            <a:spLocks noGrp="1"/>
          </p:cNvSpPr>
          <p:nvPr>
            <p:ph type="sldNum" sz="quarter" idx="12"/>
          </p:nvPr>
        </p:nvSpPr>
        <p:spPr/>
        <p:txBody>
          <a:bodyPr/>
          <a:lstStyle/>
          <a:p>
            <a:fld id="{9FAA51BB-2FC0-4DB8-B50E-F52D50E733B6}" type="slidenum">
              <a:rPr lang="en-GB" smtClean="0"/>
              <a:t>‹#›</a:t>
            </a:fld>
            <a:endParaRPr lang="en-GB"/>
          </a:p>
        </p:txBody>
      </p:sp>
      <p:pic>
        <p:nvPicPr>
          <p:cNvPr id="6" name="Picture 5" descr="A black background with text and colorful dots&#10;&#10;Description automatically generated">
            <a:extLst>
              <a:ext uri="{FF2B5EF4-FFF2-40B4-BE49-F238E27FC236}">
                <a16:creationId xmlns:a16="http://schemas.microsoft.com/office/drawing/2014/main" id="{064384DD-349E-96E1-9F2A-86B3CB91ED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5261" y="286604"/>
            <a:ext cx="1640837" cy="911576"/>
          </a:xfrm>
          <a:prstGeom prst="rect">
            <a:avLst/>
          </a:prstGeom>
        </p:spPr>
      </p:pic>
    </p:spTree>
    <p:extLst>
      <p:ext uri="{BB962C8B-B14F-4D97-AF65-F5344CB8AC3E}">
        <p14:creationId xmlns:p14="http://schemas.microsoft.com/office/powerpoint/2010/main" val="29002772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745" y="286604"/>
            <a:ext cx="9448800" cy="911576"/>
          </a:xfrm>
        </p:spPr>
        <p:txBody>
          <a:bodyPr/>
          <a:lstStyle>
            <a:lvl1pPr marL="0">
              <a:defRPr b="1"/>
            </a:lvl1pPr>
          </a:lstStyle>
          <a:p>
            <a:r>
              <a:rPr lang="en-GB" dirty="0"/>
              <a:t>Click to edit Master title style</a:t>
            </a:r>
            <a:endParaRPr lang="en-US" dirty="0"/>
          </a:p>
        </p:txBody>
      </p:sp>
      <p:sp>
        <p:nvSpPr>
          <p:cNvPr id="3" name="Content Placeholder 2"/>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Date Placeholder 3"/>
          <p:cNvSpPr>
            <a:spLocks noGrp="1"/>
          </p:cNvSpPr>
          <p:nvPr>
            <p:ph type="dt" sz="half" idx="10"/>
          </p:nvPr>
        </p:nvSpPr>
        <p:spPr/>
        <p:txBody>
          <a:bodyPr/>
          <a:lstStyle>
            <a:lvl1pPr>
              <a:defRPr sz="1200"/>
            </a:lvl1pPr>
          </a:lstStyle>
          <a:p>
            <a:r>
              <a:rPr lang="en-US"/>
              <a:t>8 October 2024</a:t>
            </a:r>
            <a:endParaRPr lang="en-GB"/>
          </a:p>
        </p:txBody>
      </p:sp>
      <p:sp>
        <p:nvSpPr>
          <p:cNvPr id="5" name="Footer Placeholder 4"/>
          <p:cNvSpPr>
            <a:spLocks noGrp="1"/>
          </p:cNvSpPr>
          <p:nvPr>
            <p:ph type="ftr" sz="quarter" idx="11"/>
          </p:nvPr>
        </p:nvSpPr>
        <p:spPr/>
        <p:txBody>
          <a:bodyPr/>
          <a:lstStyle/>
          <a:p>
            <a:r>
              <a:rPr lang="en-GB"/>
              <a:t>Comparisons and Associations</a:t>
            </a:r>
            <a:endParaRPr lang="en-GB" dirty="0"/>
          </a:p>
        </p:txBody>
      </p:sp>
      <p:sp>
        <p:nvSpPr>
          <p:cNvPr id="6" name="Slide Number Placeholder 5"/>
          <p:cNvSpPr>
            <a:spLocks noGrp="1"/>
          </p:cNvSpPr>
          <p:nvPr>
            <p:ph type="sldNum" sz="quarter" idx="12"/>
          </p:nvPr>
        </p:nvSpPr>
        <p:spPr/>
        <p:txBody>
          <a:bodyPr/>
          <a:lstStyle>
            <a:lvl1pPr>
              <a:defRPr sz="1200"/>
            </a:lvl1pPr>
          </a:lstStyle>
          <a:p>
            <a:fld id="{9FAA51BB-2FC0-4DB8-B50E-F52D50E733B6}" type="slidenum">
              <a:rPr lang="en-GB" smtClean="0"/>
              <a:pPr/>
              <a:t>‹#›</a:t>
            </a:fld>
            <a:endParaRPr lang="en-GB" dirty="0"/>
          </a:p>
        </p:txBody>
      </p:sp>
      <p:pic>
        <p:nvPicPr>
          <p:cNvPr id="8" name="Picture 7" descr="A black background with text and colorful dots&#10;&#10;Description automatically generated">
            <a:extLst>
              <a:ext uri="{FF2B5EF4-FFF2-40B4-BE49-F238E27FC236}">
                <a16:creationId xmlns:a16="http://schemas.microsoft.com/office/drawing/2014/main" id="{77856388-EE09-056A-2FE4-8DA8669CE6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5261" y="286604"/>
            <a:ext cx="1640837" cy="911576"/>
          </a:xfrm>
          <a:prstGeom prst="rect">
            <a:avLst/>
          </a:prstGeom>
        </p:spPr>
      </p:pic>
    </p:spTree>
    <p:extLst>
      <p:ext uri="{BB962C8B-B14F-4D97-AF65-F5344CB8AC3E}">
        <p14:creationId xmlns:p14="http://schemas.microsoft.com/office/powerpoint/2010/main" val="25952513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8 October 2024</a:t>
            </a:r>
            <a:endParaRPr lang="en-GB"/>
          </a:p>
        </p:txBody>
      </p:sp>
      <p:sp>
        <p:nvSpPr>
          <p:cNvPr id="5" name="Footer Placeholder 4"/>
          <p:cNvSpPr>
            <a:spLocks noGrp="1"/>
          </p:cNvSpPr>
          <p:nvPr>
            <p:ph type="ftr" sz="quarter" idx="11"/>
          </p:nvPr>
        </p:nvSpPr>
        <p:spPr/>
        <p:txBody>
          <a:bodyPr/>
          <a:lstStyle/>
          <a:p>
            <a:r>
              <a:rPr lang="en-GB"/>
              <a:t>Comparisons and Associations</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6910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1">
                <a:solidFill>
                  <a:srgbClr val="FFFFFF"/>
                </a:solidFill>
              </a:defRPr>
            </a:lvl1pPr>
          </a:lstStyle>
          <a:p>
            <a:r>
              <a:rPr lang="en-GB" dirty="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8 October 2024</a:t>
            </a:r>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GB"/>
              <a:t>Comparisons and Associations</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FAA51BB-2FC0-4DB8-B50E-F52D50E733B6}" type="slidenum">
              <a:rPr lang="en-GB" smtClean="0"/>
              <a:t>‹#›</a:t>
            </a:fld>
            <a:endParaRPr lang="en-GB"/>
          </a:p>
        </p:txBody>
      </p:sp>
    </p:spTree>
    <p:extLst>
      <p:ext uri="{BB962C8B-B14F-4D97-AF65-F5344CB8AC3E}">
        <p14:creationId xmlns:p14="http://schemas.microsoft.com/office/powerpoint/2010/main" val="5297533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bg>
      <p:bgPr>
        <a:blipFill dpi="0" rotWithShape="1">
          <a:blip r:embed="rId2">
            <a:lum/>
          </a:blip>
          <a:srcRect/>
          <a:stretch>
            <a:fillRect l="-1000" r="-1000" b="6000"/>
          </a:stretch>
        </a:blipFill>
        <a:effectLst/>
      </p:bgPr>
    </p:bg>
    <p:spTree>
      <p:nvGrpSpPr>
        <p:cNvPr id="1" name=""/>
        <p:cNvGrpSpPr/>
        <p:nvPr/>
      </p:nvGrpSpPr>
      <p:grpSpPr>
        <a:xfrm>
          <a:off x="0" y="0"/>
          <a:ext cx="0" cy="0"/>
          <a:chOff x="0" y="0"/>
          <a:chExt cx="0" cy="0"/>
        </a:xfrm>
      </p:grpSpPr>
      <p:sp>
        <p:nvSpPr>
          <p:cNvPr id="8" name="Rectangle 7"/>
          <p:cNvSpPr/>
          <p:nvPr/>
        </p:nvSpPr>
        <p:spPr>
          <a:xfrm>
            <a:off x="5539630" y="1128947"/>
            <a:ext cx="6468395" cy="31162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5664452" y="1340856"/>
            <a:ext cx="6218753" cy="1475916"/>
          </a:xfrm>
        </p:spPr>
        <p:txBody>
          <a:bodyPr lIns="91440" tIns="0" rIns="91440" bIns="0" anchor="b">
            <a:noAutofit/>
          </a:bodyPr>
          <a:lstStyle>
            <a:lvl1pPr>
              <a:defRPr sz="5400" b="1">
                <a:solidFill>
                  <a:srgbClr val="FFFFFF"/>
                </a:solidFill>
              </a:defRPr>
            </a:lvl1pPr>
          </a:lstStyle>
          <a:p>
            <a:r>
              <a:rPr lang="en-GB" dirty="0"/>
              <a:t>Click to edit Master title style</a:t>
            </a:r>
            <a:endParaRPr lang="en-US" dirty="0"/>
          </a:p>
        </p:txBody>
      </p:sp>
      <p:sp>
        <p:nvSpPr>
          <p:cNvPr id="4" name="Text Placeholder 3"/>
          <p:cNvSpPr>
            <a:spLocks noGrp="1"/>
          </p:cNvSpPr>
          <p:nvPr>
            <p:ph type="body" sz="half" idx="2"/>
          </p:nvPr>
        </p:nvSpPr>
        <p:spPr>
          <a:xfrm>
            <a:off x="5664452" y="3094377"/>
            <a:ext cx="6218753" cy="972284"/>
          </a:xfrm>
        </p:spPr>
        <p:txBody>
          <a:bodyPr lIns="91440" tIns="0" rIns="91440" bIns="0">
            <a:normAutofit/>
          </a:bodyPr>
          <a:lstStyle>
            <a:lvl1pPr marL="0" indent="0">
              <a:spcBef>
                <a:spcPts val="0"/>
              </a:spcBef>
              <a:spcAft>
                <a:spcPts val="600"/>
              </a:spcAft>
              <a:buNone/>
              <a:defRPr sz="32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dirty="0"/>
              <a:t>Click to edit Master text styles</a:t>
            </a:r>
          </a:p>
        </p:txBody>
      </p:sp>
      <p:sp>
        <p:nvSpPr>
          <p:cNvPr id="5" name="Date Placeholder 4"/>
          <p:cNvSpPr>
            <a:spLocks noGrp="1"/>
          </p:cNvSpPr>
          <p:nvPr>
            <p:ph type="dt" sz="half" idx="10"/>
          </p:nvPr>
        </p:nvSpPr>
        <p:spPr/>
        <p:txBody>
          <a:bodyPr/>
          <a:lstStyle/>
          <a:p>
            <a:r>
              <a:rPr lang="en-US"/>
              <a:t>8 October 2024</a:t>
            </a:r>
            <a:endParaRPr lang="en-GB"/>
          </a:p>
        </p:txBody>
      </p:sp>
      <p:sp>
        <p:nvSpPr>
          <p:cNvPr id="6" name="Footer Placeholder 5"/>
          <p:cNvSpPr>
            <a:spLocks noGrp="1"/>
          </p:cNvSpPr>
          <p:nvPr>
            <p:ph type="ftr" sz="quarter" idx="11"/>
          </p:nvPr>
        </p:nvSpPr>
        <p:spPr/>
        <p:txBody>
          <a:bodyPr/>
          <a:lstStyle/>
          <a:p>
            <a:r>
              <a:rPr lang="en-GB"/>
              <a:t>Comparisons and Associations</a:t>
            </a:r>
          </a:p>
        </p:txBody>
      </p:sp>
      <p:sp>
        <p:nvSpPr>
          <p:cNvPr id="7" name="Slide Number Placeholder 6"/>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2013173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lvl1pPr>
              <a:defRPr b="1"/>
            </a:lvl1pPr>
          </a:lstStyle>
          <a:p>
            <a:r>
              <a:rPr lang="en-GB" dirty="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r>
              <a:rPr lang="en-US"/>
              <a:t>8 October 2024</a:t>
            </a:r>
            <a:endParaRPr lang="en-GB"/>
          </a:p>
        </p:txBody>
      </p:sp>
      <p:sp>
        <p:nvSpPr>
          <p:cNvPr id="6" name="Footer Placeholder 5"/>
          <p:cNvSpPr>
            <a:spLocks noGrp="1"/>
          </p:cNvSpPr>
          <p:nvPr>
            <p:ph type="ftr" sz="quarter" idx="11"/>
          </p:nvPr>
        </p:nvSpPr>
        <p:spPr/>
        <p:txBody>
          <a:bodyPr/>
          <a:lstStyle/>
          <a:p>
            <a:r>
              <a:rPr lang="en-GB"/>
              <a:t>Comparisons and Associations</a:t>
            </a:r>
          </a:p>
        </p:txBody>
      </p:sp>
      <p:sp>
        <p:nvSpPr>
          <p:cNvPr id="7" name="Slide Number Placeholder 6"/>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20003629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lvl1pPr>
              <a:defRPr b="1"/>
            </a:lvl1pPr>
          </a:lstStyle>
          <a:p>
            <a:r>
              <a:rPr lang="en-GB" dirty="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r>
              <a:rPr lang="en-US"/>
              <a:t>8 October 2024</a:t>
            </a:r>
            <a:endParaRPr lang="en-GB"/>
          </a:p>
        </p:txBody>
      </p:sp>
      <p:sp>
        <p:nvSpPr>
          <p:cNvPr id="8" name="Footer Placeholder 7"/>
          <p:cNvSpPr>
            <a:spLocks noGrp="1"/>
          </p:cNvSpPr>
          <p:nvPr>
            <p:ph type="ftr" sz="quarter" idx="11"/>
          </p:nvPr>
        </p:nvSpPr>
        <p:spPr/>
        <p:txBody>
          <a:bodyPr/>
          <a:lstStyle/>
          <a:p>
            <a:r>
              <a:rPr lang="en-GB"/>
              <a:t>Comparisons and Associations</a:t>
            </a:r>
          </a:p>
        </p:txBody>
      </p:sp>
      <p:sp>
        <p:nvSpPr>
          <p:cNvPr id="9" name="Slide Number Placeholder 8"/>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0485576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GB" dirty="0"/>
              <a:t>Click to edit Master title style</a:t>
            </a:r>
            <a:endParaRPr lang="en-US" dirty="0"/>
          </a:p>
        </p:txBody>
      </p:sp>
      <p:sp>
        <p:nvSpPr>
          <p:cNvPr id="3" name="Date Placeholder 2"/>
          <p:cNvSpPr>
            <a:spLocks noGrp="1"/>
          </p:cNvSpPr>
          <p:nvPr>
            <p:ph type="dt" sz="half" idx="10"/>
          </p:nvPr>
        </p:nvSpPr>
        <p:spPr/>
        <p:txBody>
          <a:bodyPr/>
          <a:lstStyle/>
          <a:p>
            <a:r>
              <a:rPr lang="en-US"/>
              <a:t>8 October 2024</a:t>
            </a:r>
            <a:endParaRPr lang="en-GB"/>
          </a:p>
        </p:txBody>
      </p:sp>
      <p:sp>
        <p:nvSpPr>
          <p:cNvPr id="4" name="Footer Placeholder 3"/>
          <p:cNvSpPr>
            <a:spLocks noGrp="1"/>
          </p:cNvSpPr>
          <p:nvPr>
            <p:ph type="ftr" sz="quarter" idx="11"/>
          </p:nvPr>
        </p:nvSpPr>
        <p:spPr/>
        <p:txBody>
          <a:bodyPr/>
          <a:lstStyle/>
          <a:p>
            <a:r>
              <a:rPr lang="en-GB"/>
              <a:t>Comparisons and Associations</a:t>
            </a:r>
          </a:p>
        </p:txBody>
      </p:sp>
      <p:sp>
        <p:nvSpPr>
          <p:cNvPr id="5" name="Slide Number Placeholder 4"/>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12901765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r>
              <a:rPr lang="en-US"/>
              <a:t>8 October 2024</a:t>
            </a:r>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GB"/>
              <a:t>Comparisons and Associations</a:t>
            </a:r>
          </a:p>
        </p:txBody>
      </p:sp>
      <p:sp>
        <p:nvSpPr>
          <p:cNvPr id="9" name="Slide Number Placeholder 8"/>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32694645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5E28854-50C7-416D-09D3-A8563C8533DC}"/>
              </a:ext>
            </a:extLst>
          </p:cNvPr>
          <p:cNvSpPr>
            <a:spLocks noGrp="1"/>
          </p:cNvSpPr>
          <p:nvPr>
            <p:ph type="dt" sz="half" idx="10"/>
          </p:nvPr>
        </p:nvSpPr>
        <p:spPr/>
        <p:txBody>
          <a:bodyPr/>
          <a:lstStyle/>
          <a:p>
            <a:r>
              <a:rPr lang="en-US"/>
              <a:t>8 October 2024</a:t>
            </a:r>
            <a:endParaRPr lang="en-GB" dirty="0"/>
          </a:p>
        </p:txBody>
      </p:sp>
      <p:sp>
        <p:nvSpPr>
          <p:cNvPr id="4" name="Footer Placeholder 3">
            <a:extLst>
              <a:ext uri="{FF2B5EF4-FFF2-40B4-BE49-F238E27FC236}">
                <a16:creationId xmlns:a16="http://schemas.microsoft.com/office/drawing/2014/main" id="{85343B67-CE49-0A0C-7F9C-757FF38AD817}"/>
              </a:ext>
            </a:extLst>
          </p:cNvPr>
          <p:cNvSpPr>
            <a:spLocks noGrp="1"/>
          </p:cNvSpPr>
          <p:nvPr>
            <p:ph type="ftr" sz="quarter" idx="11"/>
          </p:nvPr>
        </p:nvSpPr>
        <p:spPr/>
        <p:txBody>
          <a:bodyPr/>
          <a:lstStyle>
            <a:lvl1pPr>
              <a:defRPr/>
            </a:lvl1pPr>
          </a:lstStyle>
          <a:p>
            <a:r>
              <a:rPr lang="en-GB"/>
              <a:t>Comparisons and Associations</a:t>
            </a:r>
            <a:endParaRPr lang="en-GB" dirty="0"/>
          </a:p>
        </p:txBody>
      </p:sp>
      <p:sp>
        <p:nvSpPr>
          <p:cNvPr id="5" name="Slide Number Placeholder 4">
            <a:extLst>
              <a:ext uri="{FF2B5EF4-FFF2-40B4-BE49-F238E27FC236}">
                <a16:creationId xmlns:a16="http://schemas.microsoft.com/office/drawing/2014/main" id="{28470A5F-B5E2-79CD-FCA0-21992A61F920}"/>
              </a:ext>
            </a:extLst>
          </p:cNvPr>
          <p:cNvSpPr>
            <a:spLocks noGrp="1"/>
          </p:cNvSpPr>
          <p:nvPr>
            <p:ph type="sldNum" sz="quarter" idx="12"/>
          </p:nvPr>
        </p:nvSpPr>
        <p:spPr/>
        <p:txBody>
          <a:bodyPr/>
          <a:lstStyle/>
          <a:p>
            <a:fld id="{9FAA51BB-2FC0-4DB8-B50E-F52D50E733B6}" type="slidenum">
              <a:rPr lang="en-GB" smtClean="0"/>
              <a:pPr/>
              <a:t>‹#›</a:t>
            </a:fld>
            <a:endParaRPr lang="en-GB" dirty="0"/>
          </a:p>
        </p:txBody>
      </p:sp>
      <p:sp>
        <p:nvSpPr>
          <p:cNvPr id="6" name="Title 1">
            <a:extLst>
              <a:ext uri="{FF2B5EF4-FFF2-40B4-BE49-F238E27FC236}">
                <a16:creationId xmlns:a16="http://schemas.microsoft.com/office/drawing/2014/main" id="{904975CB-2B2F-AABC-1BEA-AC019045F8B6}"/>
              </a:ext>
            </a:extLst>
          </p:cNvPr>
          <p:cNvSpPr>
            <a:spLocks noGrp="1"/>
          </p:cNvSpPr>
          <p:nvPr>
            <p:ph type="title" hasCustomPrompt="1"/>
          </p:nvPr>
        </p:nvSpPr>
        <p:spPr>
          <a:xfrm>
            <a:off x="756745" y="286604"/>
            <a:ext cx="10398935" cy="911576"/>
          </a:xfrm>
        </p:spPr>
        <p:txBody>
          <a:bodyPr/>
          <a:lstStyle>
            <a:lvl1pPr>
              <a:defRPr/>
            </a:lvl1pPr>
          </a:lstStyle>
          <a:p>
            <a:r>
              <a:rPr lang="en-GB" b="1" dirty="0"/>
              <a:t>Numbered bullets</a:t>
            </a:r>
          </a:p>
        </p:txBody>
      </p:sp>
      <p:pic>
        <p:nvPicPr>
          <p:cNvPr id="7" name="Graphic 6" descr="Badge 1 with solid fill">
            <a:extLst>
              <a:ext uri="{FF2B5EF4-FFF2-40B4-BE49-F238E27FC236}">
                <a16:creationId xmlns:a16="http://schemas.microsoft.com/office/drawing/2014/main" id="{EEDCACCF-0446-119C-CB06-6CC1142E7E5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99836" y="1872658"/>
            <a:ext cx="468000" cy="468000"/>
          </a:xfrm>
          <a:prstGeom prst="rect">
            <a:avLst/>
          </a:prstGeom>
        </p:spPr>
      </p:pic>
      <p:pic>
        <p:nvPicPr>
          <p:cNvPr id="8" name="Graphic 7" descr="Badge 10 with solid fill">
            <a:extLst>
              <a:ext uri="{FF2B5EF4-FFF2-40B4-BE49-F238E27FC236}">
                <a16:creationId xmlns:a16="http://schemas.microsoft.com/office/drawing/2014/main" id="{7F8BE7BD-9E19-44BB-2FE3-12ED9FDF94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468331" y="1876667"/>
            <a:ext cx="468000" cy="468000"/>
          </a:xfrm>
          <a:prstGeom prst="rect">
            <a:avLst/>
          </a:prstGeom>
        </p:spPr>
      </p:pic>
      <p:pic>
        <p:nvPicPr>
          <p:cNvPr id="9" name="Graphic 8" descr="Badge with solid fill">
            <a:extLst>
              <a:ext uri="{FF2B5EF4-FFF2-40B4-BE49-F238E27FC236}">
                <a16:creationId xmlns:a16="http://schemas.microsoft.com/office/drawing/2014/main" id="{F9F887CA-CB36-8ED8-6315-DC7D01B4907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870601" y="1878489"/>
            <a:ext cx="468000" cy="468000"/>
          </a:xfrm>
          <a:prstGeom prst="rect">
            <a:avLst/>
          </a:prstGeom>
        </p:spPr>
      </p:pic>
      <p:pic>
        <p:nvPicPr>
          <p:cNvPr id="10" name="Graphic 9" descr="Badge 3 with solid fill">
            <a:extLst>
              <a:ext uri="{FF2B5EF4-FFF2-40B4-BE49-F238E27FC236}">
                <a16:creationId xmlns:a16="http://schemas.microsoft.com/office/drawing/2014/main" id="{825A6F75-9C1C-A95D-D6DA-109E9EBA520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37342" y="1872658"/>
            <a:ext cx="468000" cy="468000"/>
          </a:xfrm>
          <a:prstGeom prst="rect">
            <a:avLst/>
          </a:prstGeom>
        </p:spPr>
      </p:pic>
      <p:pic>
        <p:nvPicPr>
          <p:cNvPr id="11" name="Graphic 10" descr="Badge 4 with solid fill">
            <a:extLst>
              <a:ext uri="{FF2B5EF4-FFF2-40B4-BE49-F238E27FC236}">
                <a16:creationId xmlns:a16="http://schemas.microsoft.com/office/drawing/2014/main" id="{60351B4A-6BB3-B9DA-023E-187EE4E1634A}"/>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794542" y="1881516"/>
            <a:ext cx="468000" cy="468000"/>
          </a:xfrm>
          <a:prstGeom prst="rect">
            <a:avLst/>
          </a:prstGeom>
        </p:spPr>
      </p:pic>
      <p:pic>
        <p:nvPicPr>
          <p:cNvPr id="12" name="Graphic 11" descr="Badge 5 with solid fill">
            <a:extLst>
              <a:ext uri="{FF2B5EF4-FFF2-40B4-BE49-F238E27FC236}">
                <a16:creationId xmlns:a16="http://schemas.microsoft.com/office/drawing/2014/main" id="{1A300893-C177-035B-A219-FC6049E2DC7F}"/>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3250483" y="1880076"/>
            <a:ext cx="468000" cy="468000"/>
          </a:xfrm>
          <a:prstGeom prst="rect">
            <a:avLst/>
          </a:prstGeom>
        </p:spPr>
      </p:pic>
      <p:pic>
        <p:nvPicPr>
          <p:cNvPr id="13" name="Graphic 12" descr="Badge 6 with solid fill">
            <a:extLst>
              <a:ext uri="{FF2B5EF4-FFF2-40B4-BE49-F238E27FC236}">
                <a16:creationId xmlns:a16="http://schemas.microsoft.com/office/drawing/2014/main" id="{063091E7-A963-EF50-B2F2-C6CCFD335CF3}"/>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721248" y="1882631"/>
            <a:ext cx="468000" cy="468000"/>
          </a:xfrm>
          <a:prstGeom prst="rect">
            <a:avLst/>
          </a:prstGeom>
        </p:spPr>
      </p:pic>
      <p:pic>
        <p:nvPicPr>
          <p:cNvPr id="14" name="Graphic 13" descr="Badge 7 with solid fill">
            <a:extLst>
              <a:ext uri="{FF2B5EF4-FFF2-40B4-BE49-F238E27FC236}">
                <a16:creationId xmlns:a16="http://schemas.microsoft.com/office/drawing/2014/main" id="{7412FF20-691E-38CC-D8B3-456AF73DB554}"/>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63624" y="1884307"/>
            <a:ext cx="468000" cy="468000"/>
          </a:xfrm>
          <a:prstGeom prst="rect">
            <a:avLst/>
          </a:prstGeom>
        </p:spPr>
      </p:pic>
      <p:pic>
        <p:nvPicPr>
          <p:cNvPr id="15" name="Graphic 14" descr="Badge 8 with solid fill">
            <a:extLst>
              <a:ext uri="{FF2B5EF4-FFF2-40B4-BE49-F238E27FC236}">
                <a16:creationId xmlns:a16="http://schemas.microsoft.com/office/drawing/2014/main" id="{F71DD924-767F-6F93-1AF3-D96571DEC0C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606000" y="1883485"/>
            <a:ext cx="468000" cy="468000"/>
          </a:xfrm>
          <a:prstGeom prst="rect">
            <a:avLst/>
          </a:prstGeom>
        </p:spPr>
      </p:pic>
      <p:pic>
        <p:nvPicPr>
          <p:cNvPr id="16" name="Graphic 15" descr="Badge 9 with solid fill">
            <a:extLst>
              <a:ext uri="{FF2B5EF4-FFF2-40B4-BE49-F238E27FC236}">
                <a16:creationId xmlns:a16="http://schemas.microsoft.com/office/drawing/2014/main" id="{05746AA2-07AD-BB3D-8AC7-7E01AE9FFD64}"/>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5064706" y="1880076"/>
            <a:ext cx="468000" cy="468000"/>
          </a:xfrm>
          <a:prstGeom prst="rect">
            <a:avLst/>
          </a:prstGeom>
        </p:spPr>
      </p:pic>
      <p:pic>
        <p:nvPicPr>
          <p:cNvPr id="28" name="Graphic 27" descr="Badge 1 outline">
            <a:extLst>
              <a:ext uri="{FF2B5EF4-FFF2-40B4-BE49-F238E27FC236}">
                <a16:creationId xmlns:a16="http://schemas.microsoft.com/office/drawing/2014/main" id="{377A0617-1C4D-93A7-0816-74355CD2748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100935" y="2382047"/>
            <a:ext cx="914400" cy="914400"/>
          </a:xfrm>
          <a:prstGeom prst="rect">
            <a:avLst/>
          </a:prstGeom>
        </p:spPr>
      </p:pic>
      <p:pic>
        <p:nvPicPr>
          <p:cNvPr id="32" name="Graphic 31" descr="Badge outline">
            <a:extLst>
              <a:ext uri="{FF2B5EF4-FFF2-40B4-BE49-F238E27FC236}">
                <a16:creationId xmlns:a16="http://schemas.microsoft.com/office/drawing/2014/main" id="{328E83A1-A5CF-14CE-994B-9FC912A453D5}"/>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917798" y="2368814"/>
            <a:ext cx="914400" cy="914400"/>
          </a:xfrm>
          <a:prstGeom prst="rect">
            <a:avLst/>
          </a:prstGeom>
        </p:spPr>
      </p:pic>
      <p:pic>
        <p:nvPicPr>
          <p:cNvPr id="34" name="Graphic 33" descr="Badge 3 outline">
            <a:extLst>
              <a:ext uri="{FF2B5EF4-FFF2-40B4-BE49-F238E27FC236}">
                <a16:creationId xmlns:a16="http://schemas.microsoft.com/office/drawing/2014/main" id="{B8DB6A5A-BA59-B575-8EAE-1F62375C4821}"/>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2822942" y="2360054"/>
            <a:ext cx="914400" cy="914400"/>
          </a:xfrm>
          <a:prstGeom prst="rect">
            <a:avLst/>
          </a:prstGeom>
        </p:spPr>
      </p:pic>
      <p:pic>
        <p:nvPicPr>
          <p:cNvPr id="36" name="Graphic 35" descr="Badge 4 outline">
            <a:extLst>
              <a:ext uri="{FF2B5EF4-FFF2-40B4-BE49-F238E27FC236}">
                <a16:creationId xmlns:a16="http://schemas.microsoft.com/office/drawing/2014/main" id="{7D7894F2-405D-D537-E8CD-FFC2FD562CEA}"/>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3653533" y="2382047"/>
            <a:ext cx="914400" cy="914400"/>
          </a:xfrm>
          <a:prstGeom prst="rect">
            <a:avLst/>
          </a:prstGeom>
        </p:spPr>
      </p:pic>
      <p:pic>
        <p:nvPicPr>
          <p:cNvPr id="38" name="Graphic 37" descr="Badge 5 outline">
            <a:extLst>
              <a:ext uri="{FF2B5EF4-FFF2-40B4-BE49-F238E27FC236}">
                <a16:creationId xmlns:a16="http://schemas.microsoft.com/office/drawing/2014/main" id="{CCB95B5E-BCD4-CD6A-8DA0-49EF454DFC6B}"/>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4470396" y="2382047"/>
            <a:ext cx="914400" cy="914400"/>
          </a:xfrm>
          <a:prstGeom prst="rect">
            <a:avLst/>
          </a:prstGeom>
        </p:spPr>
      </p:pic>
      <p:pic>
        <p:nvPicPr>
          <p:cNvPr id="40" name="Graphic 39" descr="Badge 6 outline">
            <a:extLst>
              <a:ext uri="{FF2B5EF4-FFF2-40B4-BE49-F238E27FC236}">
                <a16:creationId xmlns:a16="http://schemas.microsoft.com/office/drawing/2014/main" id="{B2E42FE5-E882-BB0B-DF27-634BED68E17D}"/>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5287259" y="2360054"/>
            <a:ext cx="914400" cy="914400"/>
          </a:xfrm>
          <a:prstGeom prst="rect">
            <a:avLst/>
          </a:prstGeom>
        </p:spPr>
      </p:pic>
      <p:pic>
        <p:nvPicPr>
          <p:cNvPr id="42" name="Graphic 41" descr="Badge 7 outline">
            <a:extLst>
              <a:ext uri="{FF2B5EF4-FFF2-40B4-BE49-F238E27FC236}">
                <a16:creationId xmlns:a16="http://schemas.microsoft.com/office/drawing/2014/main" id="{4F474E09-0F6B-A545-A2FB-528D8342017C}"/>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6104122" y="2382047"/>
            <a:ext cx="914400" cy="914400"/>
          </a:xfrm>
          <a:prstGeom prst="rect">
            <a:avLst/>
          </a:prstGeom>
        </p:spPr>
      </p:pic>
      <p:pic>
        <p:nvPicPr>
          <p:cNvPr id="44" name="Graphic 43" descr="Badge 8 outline">
            <a:extLst>
              <a:ext uri="{FF2B5EF4-FFF2-40B4-BE49-F238E27FC236}">
                <a16:creationId xmlns:a16="http://schemas.microsoft.com/office/drawing/2014/main" id="{E3982124-D3D3-AC60-CDFE-68CC967AC2ED}"/>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6880662" y="2368814"/>
            <a:ext cx="914400" cy="914400"/>
          </a:xfrm>
          <a:prstGeom prst="rect">
            <a:avLst/>
          </a:prstGeom>
        </p:spPr>
      </p:pic>
      <p:pic>
        <p:nvPicPr>
          <p:cNvPr id="46" name="Graphic 45" descr="Badge 9 outline">
            <a:extLst>
              <a:ext uri="{FF2B5EF4-FFF2-40B4-BE49-F238E27FC236}">
                <a16:creationId xmlns:a16="http://schemas.microsoft.com/office/drawing/2014/main" id="{D98F73D0-5CF6-543B-2C7E-39B53C836163}"/>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7686300" y="2368814"/>
            <a:ext cx="914400" cy="914400"/>
          </a:xfrm>
          <a:prstGeom prst="rect">
            <a:avLst/>
          </a:prstGeom>
        </p:spPr>
      </p:pic>
      <p:pic>
        <p:nvPicPr>
          <p:cNvPr id="48" name="Graphic 47" descr="Badge 10 outline">
            <a:extLst>
              <a:ext uri="{FF2B5EF4-FFF2-40B4-BE49-F238E27FC236}">
                <a16:creationId xmlns:a16="http://schemas.microsoft.com/office/drawing/2014/main" id="{9596ECA7-08AD-60AD-126A-2D32F85555E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8474065" y="2363081"/>
            <a:ext cx="914400" cy="914400"/>
          </a:xfrm>
          <a:prstGeom prst="rect">
            <a:avLst/>
          </a:prstGeom>
        </p:spPr>
      </p:pic>
    </p:spTree>
    <p:extLst>
      <p:ext uri="{BB962C8B-B14F-4D97-AF65-F5344CB8AC3E}">
        <p14:creationId xmlns:p14="http://schemas.microsoft.com/office/powerpoint/2010/main" val="14778459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FB93-0A54-F0A3-44FD-9D6D98D41620}"/>
              </a:ext>
            </a:extLst>
          </p:cNvPr>
          <p:cNvSpPr>
            <a:spLocks noGrp="1"/>
          </p:cNvSpPr>
          <p:nvPr>
            <p:ph type="title" hasCustomPrompt="1"/>
          </p:nvPr>
        </p:nvSpPr>
        <p:spPr>
          <a:xfrm>
            <a:off x="1210283" y="606093"/>
            <a:ext cx="9876849" cy="911576"/>
          </a:xfrm>
        </p:spPr>
        <p:txBody>
          <a:bodyPr>
            <a:noAutofit/>
          </a:bodyPr>
          <a:lstStyle>
            <a:lvl1pPr algn="ctr">
              <a:defRPr sz="7200" b="1">
                <a:latin typeface="+mn-lt"/>
              </a:defRPr>
            </a:lvl1pPr>
          </a:lstStyle>
          <a:p>
            <a:r>
              <a:rPr lang="en-GB" dirty="0"/>
              <a:t>Add Outline title</a:t>
            </a:r>
          </a:p>
        </p:txBody>
      </p:sp>
      <p:sp>
        <p:nvSpPr>
          <p:cNvPr id="3" name="Date Placeholder 2">
            <a:extLst>
              <a:ext uri="{FF2B5EF4-FFF2-40B4-BE49-F238E27FC236}">
                <a16:creationId xmlns:a16="http://schemas.microsoft.com/office/drawing/2014/main" id="{9DFD10C5-6787-77AE-977F-D7E7083D0218}"/>
              </a:ext>
            </a:extLst>
          </p:cNvPr>
          <p:cNvSpPr>
            <a:spLocks noGrp="1"/>
          </p:cNvSpPr>
          <p:nvPr>
            <p:ph type="dt" sz="half" idx="10"/>
          </p:nvPr>
        </p:nvSpPr>
        <p:spPr/>
        <p:txBody>
          <a:bodyPr/>
          <a:lstStyle/>
          <a:p>
            <a:r>
              <a:rPr lang="en-US"/>
              <a:t>8 October 2024</a:t>
            </a:r>
            <a:endParaRPr lang="en-GB" dirty="0"/>
          </a:p>
        </p:txBody>
      </p:sp>
      <p:sp>
        <p:nvSpPr>
          <p:cNvPr id="4" name="Footer Placeholder 3">
            <a:extLst>
              <a:ext uri="{FF2B5EF4-FFF2-40B4-BE49-F238E27FC236}">
                <a16:creationId xmlns:a16="http://schemas.microsoft.com/office/drawing/2014/main" id="{10E36E4D-BDDF-D97C-2EC6-0E974709B129}"/>
              </a:ext>
            </a:extLst>
          </p:cNvPr>
          <p:cNvSpPr>
            <a:spLocks noGrp="1"/>
          </p:cNvSpPr>
          <p:nvPr>
            <p:ph type="ftr" sz="quarter" idx="11"/>
          </p:nvPr>
        </p:nvSpPr>
        <p:spPr/>
        <p:txBody>
          <a:bodyPr/>
          <a:lstStyle/>
          <a:p>
            <a:r>
              <a:rPr lang="en-GB"/>
              <a:t>Comparisons and Associations</a:t>
            </a:r>
            <a:endParaRPr lang="en-GB" dirty="0"/>
          </a:p>
        </p:txBody>
      </p:sp>
      <p:sp>
        <p:nvSpPr>
          <p:cNvPr id="5" name="Slide Number Placeholder 4">
            <a:extLst>
              <a:ext uri="{FF2B5EF4-FFF2-40B4-BE49-F238E27FC236}">
                <a16:creationId xmlns:a16="http://schemas.microsoft.com/office/drawing/2014/main" id="{FFD1CEC6-7F83-2BE7-95A9-5DF472D2439E}"/>
              </a:ext>
            </a:extLst>
          </p:cNvPr>
          <p:cNvSpPr>
            <a:spLocks noGrp="1"/>
          </p:cNvSpPr>
          <p:nvPr>
            <p:ph type="sldNum" sz="quarter" idx="12"/>
          </p:nvPr>
        </p:nvSpPr>
        <p:spPr/>
        <p:txBody>
          <a:bodyPr/>
          <a:lstStyle/>
          <a:p>
            <a:fld id="{9FAA51BB-2FC0-4DB8-B50E-F52D50E733B6}" type="slidenum">
              <a:rPr lang="en-GB" smtClean="0"/>
              <a:pPr/>
              <a:t>‹#›</a:t>
            </a:fld>
            <a:endParaRPr lang="en-GB" dirty="0"/>
          </a:p>
        </p:txBody>
      </p:sp>
      <p:graphicFrame>
        <p:nvGraphicFramePr>
          <p:cNvPr id="6" name="Table 5">
            <a:extLst>
              <a:ext uri="{FF2B5EF4-FFF2-40B4-BE49-F238E27FC236}">
                <a16:creationId xmlns:a16="http://schemas.microsoft.com/office/drawing/2014/main" id="{A549E6D0-17C2-32B5-650D-F84097C07BFD}"/>
              </a:ext>
            </a:extLst>
          </p:cNvPr>
          <p:cNvGraphicFramePr>
            <a:graphicFrameLocks noGrp="1"/>
          </p:cNvGraphicFramePr>
          <p:nvPr userDrawn="1">
            <p:extLst>
              <p:ext uri="{D42A27DB-BD31-4B8C-83A1-F6EECF244321}">
                <p14:modId xmlns:p14="http://schemas.microsoft.com/office/powerpoint/2010/main" val="38952401"/>
              </p:ext>
            </p:extLst>
          </p:nvPr>
        </p:nvGraphicFramePr>
        <p:xfrm>
          <a:off x="1335634" y="1993748"/>
          <a:ext cx="9626149" cy="2571920"/>
        </p:xfrm>
        <a:graphic>
          <a:graphicData uri="http://schemas.openxmlformats.org/drawingml/2006/table">
            <a:tbl>
              <a:tblPr>
                <a:tableStyleId>{5C22544A-7EE6-4342-B048-85BDC9FD1C3A}</a:tableStyleId>
              </a:tblPr>
              <a:tblGrid>
                <a:gridCol w="540000">
                  <a:extLst>
                    <a:ext uri="{9D8B030D-6E8A-4147-A177-3AD203B41FA5}">
                      <a16:colId xmlns:a16="http://schemas.microsoft.com/office/drawing/2014/main" val="547184884"/>
                    </a:ext>
                  </a:extLst>
                </a:gridCol>
                <a:gridCol w="9086149">
                  <a:extLst>
                    <a:ext uri="{9D8B030D-6E8A-4147-A177-3AD203B41FA5}">
                      <a16:colId xmlns:a16="http://schemas.microsoft.com/office/drawing/2014/main" val="4258649048"/>
                    </a:ext>
                  </a:extLst>
                </a:gridCol>
              </a:tblGrid>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2"/>
                          </a:ext>
                        </a:extLst>
                      </a:blip>
                      <a:stretch>
                        <a:fillRect/>
                      </a:stretch>
                    </a:blipFill>
                  </a:tcPr>
                </a:tc>
                <a:tc rowSpan="2">
                  <a:txBody>
                    <a:bodyPr/>
                    <a:lstStyle/>
                    <a:p>
                      <a:r>
                        <a:rPr lang="en-GB" sz="2200" dirty="0"/>
                        <a:t>one</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083708"/>
                  </a:ext>
                </a:extLst>
              </a:tr>
              <a:tr h="0">
                <a:tc>
                  <a:txBody>
                    <a:bodyPr/>
                    <a:lstStyle/>
                    <a:p>
                      <a:endParaRPr lang="en-GB" sz="100" dirty="0"/>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3582230"/>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3"/>
                          </a:ext>
                        </a:extLst>
                      </a:blip>
                      <a:stretch>
                        <a:fillRect/>
                      </a:stretch>
                    </a:blipFill>
                  </a:tcPr>
                </a:tc>
                <a:tc rowSpan="2">
                  <a:txBody>
                    <a:bodyPr/>
                    <a:lstStyle/>
                    <a:p>
                      <a:r>
                        <a:rPr lang="en-GB" sz="2200" dirty="0"/>
                        <a:t>two</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9763730"/>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440128"/>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4"/>
                          </a:ext>
                        </a:extLst>
                      </a:blip>
                      <a:stretch>
                        <a:fillRect/>
                      </a:stretch>
                    </a:blipFill>
                  </a:tcPr>
                </a:tc>
                <a:tc rowSpan="2">
                  <a:txBody>
                    <a:bodyPr/>
                    <a:lstStyle/>
                    <a:p>
                      <a:r>
                        <a:rPr lang="en-GB" sz="2200" dirty="0"/>
                        <a:t>three</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106067"/>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7221841"/>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5"/>
                          </a:ext>
                        </a:extLst>
                      </a:blip>
                      <a:stretch>
                        <a:fillRect/>
                      </a:stretch>
                    </a:blipFill>
                  </a:tcPr>
                </a:tc>
                <a:tc rowSpan="2">
                  <a:txBody>
                    <a:bodyPr/>
                    <a:lstStyle/>
                    <a:p>
                      <a:r>
                        <a:rPr lang="en-GB" sz="2200" dirty="0"/>
                        <a:t>four</a:t>
                      </a:r>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1621608"/>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6066417"/>
                  </a:ext>
                </a:extLst>
              </a:tr>
            </a:tbl>
          </a:graphicData>
        </a:graphic>
      </p:graphicFrame>
    </p:spTree>
    <p:extLst>
      <p:ext uri="{BB962C8B-B14F-4D97-AF65-F5344CB8AC3E}">
        <p14:creationId xmlns:p14="http://schemas.microsoft.com/office/powerpoint/2010/main" val="12704940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3FB93-0A54-F0A3-44FD-9D6D98D41620}"/>
              </a:ext>
            </a:extLst>
          </p:cNvPr>
          <p:cNvSpPr>
            <a:spLocks noGrp="1"/>
          </p:cNvSpPr>
          <p:nvPr>
            <p:ph type="title" hasCustomPrompt="1"/>
          </p:nvPr>
        </p:nvSpPr>
        <p:spPr>
          <a:xfrm>
            <a:off x="1038399" y="689938"/>
            <a:ext cx="10115202" cy="911576"/>
          </a:xfrm>
        </p:spPr>
        <p:txBody>
          <a:bodyPr>
            <a:noAutofit/>
          </a:bodyPr>
          <a:lstStyle>
            <a:lvl1pPr algn="ctr">
              <a:defRPr sz="7200" b="1">
                <a:latin typeface="+mn-lt"/>
              </a:defRPr>
            </a:lvl1pPr>
          </a:lstStyle>
          <a:p>
            <a:r>
              <a:rPr lang="en-GB" dirty="0"/>
              <a:t>Add Outline title</a:t>
            </a:r>
          </a:p>
        </p:txBody>
      </p:sp>
      <p:sp>
        <p:nvSpPr>
          <p:cNvPr id="3" name="Date Placeholder 2">
            <a:extLst>
              <a:ext uri="{FF2B5EF4-FFF2-40B4-BE49-F238E27FC236}">
                <a16:creationId xmlns:a16="http://schemas.microsoft.com/office/drawing/2014/main" id="{9DFD10C5-6787-77AE-977F-D7E7083D0218}"/>
              </a:ext>
            </a:extLst>
          </p:cNvPr>
          <p:cNvSpPr>
            <a:spLocks noGrp="1"/>
          </p:cNvSpPr>
          <p:nvPr>
            <p:ph type="dt" sz="half" idx="10"/>
          </p:nvPr>
        </p:nvSpPr>
        <p:spPr/>
        <p:txBody>
          <a:bodyPr/>
          <a:lstStyle/>
          <a:p>
            <a:r>
              <a:rPr lang="en-US"/>
              <a:t>8 October 2024</a:t>
            </a:r>
            <a:endParaRPr lang="en-GB" dirty="0"/>
          </a:p>
        </p:txBody>
      </p:sp>
      <p:sp>
        <p:nvSpPr>
          <p:cNvPr id="4" name="Footer Placeholder 3">
            <a:extLst>
              <a:ext uri="{FF2B5EF4-FFF2-40B4-BE49-F238E27FC236}">
                <a16:creationId xmlns:a16="http://schemas.microsoft.com/office/drawing/2014/main" id="{10E36E4D-BDDF-D97C-2EC6-0E974709B129}"/>
              </a:ext>
            </a:extLst>
          </p:cNvPr>
          <p:cNvSpPr>
            <a:spLocks noGrp="1"/>
          </p:cNvSpPr>
          <p:nvPr>
            <p:ph type="ftr" sz="quarter" idx="11"/>
          </p:nvPr>
        </p:nvSpPr>
        <p:spPr/>
        <p:txBody>
          <a:bodyPr/>
          <a:lstStyle/>
          <a:p>
            <a:r>
              <a:rPr lang="en-GB"/>
              <a:t>Comparisons and Associations</a:t>
            </a:r>
            <a:endParaRPr lang="en-GB" dirty="0"/>
          </a:p>
        </p:txBody>
      </p:sp>
      <p:sp>
        <p:nvSpPr>
          <p:cNvPr id="5" name="Slide Number Placeholder 4">
            <a:extLst>
              <a:ext uri="{FF2B5EF4-FFF2-40B4-BE49-F238E27FC236}">
                <a16:creationId xmlns:a16="http://schemas.microsoft.com/office/drawing/2014/main" id="{FFD1CEC6-7F83-2BE7-95A9-5DF472D2439E}"/>
              </a:ext>
            </a:extLst>
          </p:cNvPr>
          <p:cNvSpPr>
            <a:spLocks noGrp="1"/>
          </p:cNvSpPr>
          <p:nvPr>
            <p:ph type="sldNum" sz="quarter" idx="12"/>
          </p:nvPr>
        </p:nvSpPr>
        <p:spPr/>
        <p:txBody>
          <a:bodyPr/>
          <a:lstStyle/>
          <a:p>
            <a:fld id="{9FAA51BB-2FC0-4DB8-B50E-F52D50E733B6}" type="slidenum">
              <a:rPr lang="en-GB" smtClean="0"/>
              <a:pPr/>
              <a:t>‹#›</a:t>
            </a:fld>
            <a:endParaRPr lang="en-GB" dirty="0"/>
          </a:p>
        </p:txBody>
      </p:sp>
      <p:graphicFrame>
        <p:nvGraphicFramePr>
          <p:cNvPr id="6" name="Table 5">
            <a:extLst>
              <a:ext uri="{FF2B5EF4-FFF2-40B4-BE49-F238E27FC236}">
                <a16:creationId xmlns:a16="http://schemas.microsoft.com/office/drawing/2014/main" id="{A549E6D0-17C2-32B5-650D-F84097C07BFD}"/>
              </a:ext>
            </a:extLst>
          </p:cNvPr>
          <p:cNvGraphicFramePr>
            <a:graphicFrameLocks noGrp="1"/>
          </p:cNvGraphicFramePr>
          <p:nvPr userDrawn="1">
            <p:extLst>
              <p:ext uri="{D42A27DB-BD31-4B8C-83A1-F6EECF244321}">
                <p14:modId xmlns:p14="http://schemas.microsoft.com/office/powerpoint/2010/main" val="2996315249"/>
              </p:ext>
            </p:extLst>
          </p:nvPr>
        </p:nvGraphicFramePr>
        <p:xfrm>
          <a:off x="726954" y="1971714"/>
          <a:ext cx="10440000" cy="3284200"/>
        </p:xfrm>
        <a:graphic>
          <a:graphicData uri="http://schemas.openxmlformats.org/drawingml/2006/table">
            <a:tbl>
              <a:tblPr>
                <a:tableStyleId>{5C22544A-7EE6-4342-B048-85BDC9FD1C3A}</a:tableStyleId>
              </a:tblPr>
              <a:tblGrid>
                <a:gridCol w="540000">
                  <a:extLst>
                    <a:ext uri="{9D8B030D-6E8A-4147-A177-3AD203B41FA5}">
                      <a16:colId xmlns:a16="http://schemas.microsoft.com/office/drawing/2014/main" val="547184884"/>
                    </a:ext>
                  </a:extLst>
                </a:gridCol>
                <a:gridCol w="4680000">
                  <a:extLst>
                    <a:ext uri="{9D8B030D-6E8A-4147-A177-3AD203B41FA5}">
                      <a16:colId xmlns:a16="http://schemas.microsoft.com/office/drawing/2014/main" val="4258649048"/>
                    </a:ext>
                  </a:extLst>
                </a:gridCol>
                <a:gridCol w="540000">
                  <a:extLst>
                    <a:ext uri="{9D8B030D-6E8A-4147-A177-3AD203B41FA5}">
                      <a16:colId xmlns:a16="http://schemas.microsoft.com/office/drawing/2014/main" val="2861192458"/>
                    </a:ext>
                  </a:extLst>
                </a:gridCol>
                <a:gridCol w="4680000">
                  <a:extLst>
                    <a:ext uri="{9D8B030D-6E8A-4147-A177-3AD203B41FA5}">
                      <a16:colId xmlns:a16="http://schemas.microsoft.com/office/drawing/2014/main" val="1996446775"/>
                    </a:ext>
                  </a:extLst>
                </a:gridCol>
              </a:tblGrid>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2"/>
                          </a:ext>
                        </a:extLst>
                      </a:blip>
                      <a:stretch>
                        <a:fillRect/>
                      </a:stretch>
                    </a:blip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200" dirty="0"/>
                        <a:t>Edit in Master slide view</a:t>
                      </a:r>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dpi="0" rotWithShape="0">
                      <a:blip>
                        <a:extLst>
                          <a:ext uri="{96DAC541-7B7A-43D3-8B79-37D633B846F1}">
                            <asvg:svgBlip xmlns:asvg="http://schemas.microsoft.com/office/drawing/2016/SVG/main" r:embed="rId3"/>
                          </a:ext>
                        </a:extLst>
                      </a:blip>
                      <a:srcRect/>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083708"/>
                  </a:ext>
                </a:extLst>
              </a:tr>
              <a:tr h="0">
                <a:tc>
                  <a:txBody>
                    <a:bodyPr/>
                    <a:lstStyle/>
                    <a:p>
                      <a:endParaRPr lang="en-GB" sz="100" dirty="0"/>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3582230"/>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4"/>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5"/>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9763730"/>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440128"/>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6"/>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7"/>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106067"/>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7221841"/>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8"/>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9"/>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1621608"/>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6066417"/>
                  </a:ext>
                </a:extLst>
              </a:tr>
              <a:tr h="540000">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10"/>
                          </a:ext>
                        </a:extLst>
                      </a:blip>
                      <a:stretch>
                        <a:fillRect/>
                      </a:stretch>
                    </a:blipFill>
                  </a:tcPr>
                </a:tc>
                <a:tc rowSpan="2">
                  <a:txBody>
                    <a:bodyPr/>
                    <a:lstStyle/>
                    <a:p>
                      <a:endParaRPr lang="en-GB" sz="2200" dirty="0"/>
                    </a:p>
                  </a:txBody>
                  <a:tcPr marL="108000" marR="72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a:extLst>
                          <a:ext uri="{96DAC541-7B7A-43D3-8B79-37D633B846F1}">
                            <asvg:svgBlip xmlns:asvg="http://schemas.microsoft.com/office/drawing/2016/SVG/main" r:embed="rId11"/>
                          </a:ext>
                        </a:extLst>
                      </a:blip>
                      <a:stretch>
                        <a:fillRect/>
                      </a:stretch>
                    </a:blipFill>
                  </a:tcPr>
                </a:tc>
                <a:tc rowSpan="2">
                  <a:txBody>
                    <a:bodyPr/>
                    <a:lstStyle/>
                    <a:p>
                      <a:endParaRPr lang="en-GB" sz="2200" dirty="0"/>
                    </a:p>
                  </a:txBody>
                  <a:tcPr marL="108000" marR="3600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105705"/>
                  </a:ext>
                </a:extLst>
              </a:tr>
              <a:tr h="0">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5673635"/>
                  </a:ext>
                </a:extLst>
              </a:tr>
            </a:tbl>
          </a:graphicData>
        </a:graphic>
      </p:graphicFrame>
    </p:spTree>
    <p:extLst>
      <p:ext uri="{BB962C8B-B14F-4D97-AF65-F5344CB8AC3E}">
        <p14:creationId xmlns:p14="http://schemas.microsoft.com/office/powerpoint/2010/main" val="37248952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GB" dirty="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8 October 2024</a:t>
            </a:r>
            <a:endParaRPr lang="en-GB"/>
          </a:p>
        </p:txBody>
      </p:sp>
      <p:sp>
        <p:nvSpPr>
          <p:cNvPr id="5" name="Footer Placeholder 4"/>
          <p:cNvSpPr>
            <a:spLocks noGrp="1"/>
          </p:cNvSpPr>
          <p:nvPr>
            <p:ph type="ftr" sz="quarter" idx="11"/>
          </p:nvPr>
        </p:nvSpPr>
        <p:spPr/>
        <p:txBody>
          <a:bodyPr/>
          <a:lstStyle/>
          <a:p>
            <a:r>
              <a:rPr lang="en-GB"/>
              <a:t>Comparisons and Associations</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40344790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8 October 2024</a:t>
            </a:r>
            <a:endParaRPr lang="en-GB"/>
          </a:p>
        </p:txBody>
      </p:sp>
      <p:sp>
        <p:nvSpPr>
          <p:cNvPr id="5" name="Footer Placeholder 4"/>
          <p:cNvSpPr>
            <a:spLocks noGrp="1"/>
          </p:cNvSpPr>
          <p:nvPr>
            <p:ph type="ftr" sz="quarter" idx="11"/>
          </p:nvPr>
        </p:nvSpPr>
        <p:spPr/>
        <p:txBody>
          <a:bodyPr/>
          <a:lstStyle/>
          <a:p>
            <a:r>
              <a:rPr lang="en-GB"/>
              <a:t>Comparisons and Associations</a:t>
            </a:r>
          </a:p>
        </p:txBody>
      </p:sp>
      <p:sp>
        <p:nvSpPr>
          <p:cNvPr id="6" name="Slide Number Placeholder 5"/>
          <p:cNvSpPr>
            <a:spLocks noGrp="1"/>
          </p:cNvSpPr>
          <p:nvPr>
            <p:ph type="sldNum" sz="quarter" idx="12"/>
          </p:nvPr>
        </p:nvSpPr>
        <p:spPr/>
        <p:txBody>
          <a:bodyPr/>
          <a:lstStyle/>
          <a:p>
            <a:fld id="{9FAA51BB-2FC0-4DB8-B50E-F52D50E733B6}" type="slidenum">
              <a:rPr lang="en-GB" smtClean="0"/>
              <a:t>‹#›</a:t>
            </a:fld>
            <a:endParaRPr lang="en-GB"/>
          </a:p>
        </p:txBody>
      </p:sp>
    </p:spTree>
    <p:extLst>
      <p:ext uri="{BB962C8B-B14F-4D97-AF65-F5344CB8AC3E}">
        <p14:creationId xmlns:p14="http://schemas.microsoft.com/office/powerpoint/2010/main" val="40602672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4" name="Picture 12" descr="Partners; Sustaining Creative Economies ...">
            <a:extLst>
              <a:ext uri="{FF2B5EF4-FFF2-40B4-BE49-F238E27FC236}">
                <a16:creationId xmlns:a16="http://schemas.microsoft.com/office/drawing/2014/main" id="{C213A523-D735-8490-152A-23415FF25430}"/>
              </a:ext>
            </a:extLst>
          </p:cNvPr>
          <p:cNvPicPr>
            <a:picLocks noChangeAspect="1" noChangeArrowheads="1"/>
          </p:cNvPicPr>
          <p:nvPr userDrawn="1"/>
        </p:nvPicPr>
        <p:blipFill>
          <a:blip r:embed="rId2">
            <a:alphaModFix/>
            <a:extLst>
              <a:ext uri="{28A0092B-C50C-407E-A947-70E740481C1C}">
                <a14:useLocalDpi xmlns:a14="http://schemas.microsoft.com/office/drawing/2010/main" val="0"/>
              </a:ext>
            </a:extLst>
          </a:blip>
          <a:srcRect/>
          <a:stretch>
            <a:fillRect/>
          </a:stretch>
        </p:blipFill>
        <p:spPr bwMode="auto">
          <a:xfrm>
            <a:off x="9888991" y="5440123"/>
            <a:ext cx="1342114" cy="751584"/>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6139AE9B-1271-7638-B347-A5F464D2BE3C}"/>
              </a:ext>
            </a:extLst>
          </p:cNvPr>
          <p:cNvSpPr>
            <a:spLocks noGrp="1"/>
          </p:cNvSpPr>
          <p:nvPr>
            <p:ph type="dt" sz="half" idx="10"/>
          </p:nvPr>
        </p:nvSpPr>
        <p:spPr/>
        <p:txBody>
          <a:bodyPr/>
          <a:lstStyle/>
          <a:p>
            <a:r>
              <a:rPr lang="en-US"/>
              <a:t>8 October 2024</a:t>
            </a:r>
            <a:endParaRPr lang="en-GB"/>
          </a:p>
        </p:txBody>
      </p:sp>
      <p:sp>
        <p:nvSpPr>
          <p:cNvPr id="4" name="Footer Placeholder 3">
            <a:extLst>
              <a:ext uri="{FF2B5EF4-FFF2-40B4-BE49-F238E27FC236}">
                <a16:creationId xmlns:a16="http://schemas.microsoft.com/office/drawing/2014/main" id="{23A3BAF4-52A6-7AC7-8C6F-183586D9D88D}"/>
              </a:ext>
            </a:extLst>
          </p:cNvPr>
          <p:cNvSpPr>
            <a:spLocks noGrp="1"/>
          </p:cNvSpPr>
          <p:nvPr>
            <p:ph type="ftr" sz="quarter" idx="11"/>
          </p:nvPr>
        </p:nvSpPr>
        <p:spPr/>
        <p:txBody>
          <a:bodyPr/>
          <a:lstStyle/>
          <a:p>
            <a:r>
              <a:rPr lang="en-GB"/>
              <a:t>Comparisons and Associations</a:t>
            </a:r>
          </a:p>
        </p:txBody>
      </p:sp>
      <p:sp>
        <p:nvSpPr>
          <p:cNvPr id="5" name="Slide Number Placeholder 4">
            <a:extLst>
              <a:ext uri="{FF2B5EF4-FFF2-40B4-BE49-F238E27FC236}">
                <a16:creationId xmlns:a16="http://schemas.microsoft.com/office/drawing/2014/main" id="{F193AA3C-DFA6-2BE6-3BD0-0D6E60101593}"/>
              </a:ext>
            </a:extLst>
          </p:cNvPr>
          <p:cNvSpPr>
            <a:spLocks noGrp="1"/>
          </p:cNvSpPr>
          <p:nvPr>
            <p:ph type="sldNum" sz="quarter" idx="12"/>
          </p:nvPr>
        </p:nvSpPr>
        <p:spPr/>
        <p:txBody>
          <a:bodyPr/>
          <a:lstStyle/>
          <a:p>
            <a:fld id="{9FAA51BB-2FC0-4DB8-B50E-F52D50E733B6}" type="slidenum">
              <a:rPr lang="en-GB" smtClean="0"/>
              <a:t>‹#›</a:t>
            </a:fld>
            <a:endParaRPr lang="en-GB"/>
          </a:p>
        </p:txBody>
      </p:sp>
      <p:pic>
        <p:nvPicPr>
          <p:cNvPr id="6" name="Picture 10">
            <a:extLst>
              <a:ext uri="{FF2B5EF4-FFF2-40B4-BE49-F238E27FC236}">
                <a16:creationId xmlns:a16="http://schemas.microsoft.com/office/drawing/2014/main" id="{2A7E09F9-D2AF-737B-7EF3-D1714380AC3D}"/>
              </a:ext>
            </a:extLst>
          </p:cNvPr>
          <p:cNvPicPr>
            <a:picLocks noChangeAspect="1" noChangeArrowheads="1"/>
          </p:cNvPicPr>
          <p:nvPr userDrawn="1"/>
        </p:nvPicPr>
        <p:blipFill rotWithShape="1">
          <a:blip r:embed="rId3">
            <a:alphaModFix amt="35000"/>
            <a:extLst>
              <a:ext uri="{BEBA8EAE-BF5A-486C-A8C5-ECC9F3942E4B}">
                <a14:imgProps xmlns:a14="http://schemas.microsoft.com/office/drawing/2010/main">
                  <a14:imgLayer r:embed="rId4">
                    <a14:imgEffect>
                      <a14:backgroundRemoval t="7944" b="94860" l="9780" r="89976">
                        <a14:foregroundMark x1="25672" y1="20093" x2="32152" y2="70327"/>
                        <a14:foregroundMark x1="32152" y1="70327" x2="79829" y2="87383"/>
                        <a14:foregroundMark x1="79829" y1="87383" x2="79095" y2="36682"/>
                        <a14:foregroundMark x1="79095" y1="36682" x2="64914" y2="14720"/>
                        <a14:foregroundMark x1="64914" y1="14720" x2="48533" y2="7944"/>
                        <a14:foregroundMark x1="48533" y1="7944" x2="30196" y2="13084"/>
                        <a14:foregroundMark x1="30196" y1="13084" x2="25306" y2="20561"/>
                        <a14:foregroundMark x1="21760" y1="39486" x2="25061" y2="78505"/>
                        <a14:foregroundMark x1="25061" y1="78505" x2="64670" y2="92056"/>
                        <a14:foregroundMark x1="64670" y1="92056" x2="78851" y2="91822"/>
                        <a14:foregroundMark x1="82641" y1="15187" x2="86675" y2="62850"/>
                        <a14:foregroundMark x1="86675" y1="62850" x2="80196" y2="94626"/>
                        <a14:foregroundMark x1="80196" y1="94626" x2="78117" y2="94860"/>
                      </a14:backgroundRemoval>
                    </a14:imgEffect>
                  </a14:imgLayer>
                </a14:imgProps>
              </a:ext>
              <a:ext uri="{28A0092B-C50C-407E-A947-70E740481C1C}">
                <a14:useLocalDpi xmlns:a14="http://schemas.microsoft.com/office/drawing/2010/main" val="0"/>
              </a:ext>
            </a:extLst>
          </a:blip>
          <a:srcRect l="17245" t="2011" r="13041"/>
          <a:stretch/>
        </p:blipFill>
        <p:spPr bwMode="auto">
          <a:xfrm>
            <a:off x="3480620" y="-23164"/>
            <a:ext cx="8635320" cy="6350686"/>
          </a:xfrm>
          <a:prstGeom prst="rect">
            <a:avLst/>
          </a:prstGeom>
          <a:noFill/>
          <a:extLst>
            <a:ext uri="{909E8E84-426E-40DD-AFC4-6F175D3DCCD1}">
              <a14:hiddenFill xmlns:a14="http://schemas.microsoft.com/office/drawing/2010/main">
                <a:solidFill>
                  <a:srgbClr val="FFFFFF"/>
                </a:solidFill>
              </a14:hiddenFill>
            </a:ext>
          </a:extLst>
        </p:spPr>
      </p:pic>
      <p:pic>
        <p:nvPicPr>
          <p:cNvPr id="10" name="Graphic 9" descr="Advertising outline">
            <a:extLst>
              <a:ext uri="{FF2B5EF4-FFF2-40B4-BE49-F238E27FC236}">
                <a16:creationId xmlns:a16="http://schemas.microsoft.com/office/drawing/2014/main" id="{1EDC15B8-2173-9DC7-DB3B-645E07D8406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071" y="208195"/>
            <a:ext cx="7304134" cy="6756079"/>
          </a:xfrm>
          <a:prstGeom prst="rect">
            <a:avLst/>
          </a:prstGeom>
        </p:spPr>
      </p:pic>
      <p:pic>
        <p:nvPicPr>
          <p:cNvPr id="15" name="Graphic 14">
            <a:extLst>
              <a:ext uri="{FF2B5EF4-FFF2-40B4-BE49-F238E27FC236}">
                <a16:creationId xmlns:a16="http://schemas.microsoft.com/office/drawing/2014/main" id="{CD1C29E7-0246-1CD7-8A1F-30707B7E1852}"/>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394192" y="4729773"/>
            <a:ext cx="2851533" cy="938724"/>
          </a:xfrm>
          <a:prstGeom prst="rect">
            <a:avLst/>
          </a:prstGeom>
        </p:spPr>
      </p:pic>
      <p:sp>
        <p:nvSpPr>
          <p:cNvPr id="16" name="TextBox 15">
            <a:extLst>
              <a:ext uri="{FF2B5EF4-FFF2-40B4-BE49-F238E27FC236}">
                <a16:creationId xmlns:a16="http://schemas.microsoft.com/office/drawing/2014/main" id="{2B8C7C2A-22F2-9C49-D70E-5C8A22C35019}"/>
              </a:ext>
            </a:extLst>
          </p:cNvPr>
          <p:cNvSpPr txBox="1"/>
          <p:nvPr userDrawn="1"/>
        </p:nvSpPr>
        <p:spPr>
          <a:xfrm>
            <a:off x="2189351" y="4909434"/>
            <a:ext cx="2582537" cy="1323439"/>
          </a:xfrm>
          <a:prstGeom prst="rect">
            <a:avLst/>
          </a:prstGeom>
          <a:noFill/>
        </p:spPr>
        <p:txBody>
          <a:bodyPr wrap="square" rtlCol="0">
            <a:spAutoFit/>
          </a:bodyPr>
          <a:lstStyle/>
          <a:p>
            <a:pPr marL="180000">
              <a:spcBef>
                <a:spcPts val="0"/>
              </a:spcBef>
            </a:pPr>
            <a:r>
              <a:rPr lang="en-GB" sz="1600" b="0" dirty="0">
                <a:latin typeface="Arial Nova Cond Light" panose="020B0306020202020204" pitchFamily="34" charset="0"/>
                <a:cs typeface="Courier New" panose="02070309020205020404" pitchFamily="49" charset="0"/>
                <a:hlinkClick r:id="rId7"/>
              </a:rPr>
              <a:t>chris.moreh@ncl.ac.uk</a:t>
            </a:r>
            <a:endParaRPr lang="en-GB" sz="1600" b="0" dirty="0">
              <a:latin typeface="Arial Nova Cond Light" panose="020B0306020202020204" pitchFamily="34" charset="0"/>
              <a:cs typeface="Courier New" panose="02070309020205020404" pitchFamily="49" charset="0"/>
              <a:hlinkClick r:id="rId8"/>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8"/>
              </a:rPr>
              <a:t>chrismoreh.com</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9"/>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0"/>
              </a:rPr>
              <a:t>@CGMoreh</a:t>
            </a:r>
            <a:endParaRPr lang="en-GB" sz="1600" b="0" dirty="0">
              <a:latin typeface="Arial Nova Cond Light" panose="020B0306020202020204" pitchFamily="34" charset="0"/>
              <a:cs typeface="Courier New" panose="02070309020205020404" pitchFamily="49" charset="0"/>
            </a:endParaRPr>
          </a:p>
          <a:p>
            <a:pPr marL="180000">
              <a:spcBef>
                <a:spcPts val="0"/>
              </a:spcBef>
            </a:pPr>
            <a:r>
              <a:rPr lang="en-GB" sz="1600" b="0" dirty="0">
                <a:latin typeface="Arial Nova Cond Light" panose="020B0306020202020204" pitchFamily="34" charset="0"/>
                <a:cs typeface="Courier New" panose="02070309020205020404" pitchFamily="49" charset="0"/>
                <a:hlinkClick r:id="rId11"/>
              </a:rPr>
              <a:t>Chris Moreh</a:t>
            </a:r>
            <a:endParaRPr lang="en-GB" sz="1600" b="0" dirty="0">
              <a:latin typeface="Arial Nova Cond Light" panose="020B0306020202020204" pitchFamily="34" charset="0"/>
              <a:cs typeface="Courier New" panose="02070309020205020404" pitchFamily="49" charset="0"/>
            </a:endParaRPr>
          </a:p>
        </p:txBody>
      </p:sp>
      <p:pic>
        <p:nvPicPr>
          <p:cNvPr id="17" name="Picture 16">
            <a:extLst>
              <a:ext uri="{FF2B5EF4-FFF2-40B4-BE49-F238E27FC236}">
                <a16:creationId xmlns:a16="http://schemas.microsoft.com/office/drawing/2014/main" id="{DD7CACF7-D679-73AB-9142-786DA076C3A7}"/>
              </a:ext>
            </a:extLst>
          </p:cNvPr>
          <p:cNvPicPr>
            <a:picLocks noChangeAspect="1"/>
          </p:cNvPicPr>
          <p:nvPr userDrawn="1"/>
        </p:nvPicPr>
        <p:blipFill>
          <a:blip r:embed="rId12"/>
          <a:stretch>
            <a:fillRect/>
          </a:stretch>
        </p:blipFill>
        <p:spPr>
          <a:xfrm flipH="1">
            <a:off x="2205260" y="5245571"/>
            <a:ext cx="174474" cy="180000"/>
          </a:xfrm>
          <a:prstGeom prst="rect">
            <a:avLst/>
          </a:prstGeom>
        </p:spPr>
      </p:pic>
      <p:pic>
        <p:nvPicPr>
          <p:cNvPr id="18" name="Picture 4">
            <a:extLst>
              <a:ext uri="{FF2B5EF4-FFF2-40B4-BE49-F238E27FC236}">
                <a16:creationId xmlns:a16="http://schemas.microsoft.com/office/drawing/2014/main" id="{F5D755EC-05C2-0884-2C2F-74A7297B707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174731" y="5712062"/>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40A42823-F60C-D577-74D9-FE8C3E3A623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199734" y="5980746"/>
            <a:ext cx="19125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
            <a:extLst>
              <a:ext uri="{FF2B5EF4-FFF2-40B4-BE49-F238E27FC236}">
                <a16:creationId xmlns:a16="http://schemas.microsoft.com/office/drawing/2014/main" id="{ECDBB212-ABA5-CE0D-7F0C-C37D656E0D6B}"/>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2169249" y="5458509"/>
            <a:ext cx="238421" cy="23842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Email Icon Clip Art , Royalty PNG Transparent Background, Free Download  #130 - FreeIconsPNG">
            <a:extLst>
              <a:ext uri="{FF2B5EF4-FFF2-40B4-BE49-F238E27FC236}">
                <a16:creationId xmlns:a16="http://schemas.microsoft.com/office/drawing/2014/main" id="{9AD65224-3024-068D-2B15-9BC765970543}"/>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210092" y="5003382"/>
            <a:ext cx="17640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D63504B0-8CB3-256C-EF50-E93FEF75ACFC}"/>
              </a:ext>
            </a:extLst>
          </p:cNvPr>
          <p:cNvPicPr>
            <a:picLocks noChangeAspect="1"/>
          </p:cNvPicPr>
          <p:nvPr userDrawn="1"/>
        </p:nvPicPr>
        <p:blipFill rotWithShape="1">
          <a:blip r:embed="rId17"/>
          <a:srcRect l="14262" t="5451" r="9231" b="22240"/>
          <a:stretch/>
        </p:blipFill>
        <p:spPr>
          <a:xfrm>
            <a:off x="851647" y="1470212"/>
            <a:ext cx="5629836" cy="2671482"/>
          </a:xfrm>
          <a:prstGeom prst="rect">
            <a:avLst/>
          </a:prstGeom>
        </p:spPr>
      </p:pic>
    </p:spTree>
    <p:extLst>
      <p:ext uri="{BB962C8B-B14F-4D97-AF65-F5344CB8AC3E}">
        <p14:creationId xmlns:p14="http://schemas.microsoft.com/office/powerpoint/2010/main" val="6913247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ECC6-7BD6-D9D0-DD8F-30FCF10DE4E6}"/>
              </a:ext>
            </a:extLst>
          </p:cNvPr>
          <p:cNvSpPr>
            <a:spLocks noGrp="1"/>
          </p:cNvSpPr>
          <p:nvPr>
            <p:ph type="title" hasCustomPrompt="1"/>
          </p:nvPr>
        </p:nvSpPr>
        <p:spPr/>
        <p:txBody>
          <a:bodyPr/>
          <a:lstStyle>
            <a:lvl1pPr>
              <a:defRPr/>
            </a:lvl1pPr>
          </a:lstStyle>
          <a:p>
            <a:r>
              <a:rPr lang="en-GB" dirty="0"/>
              <a:t>References</a:t>
            </a:r>
          </a:p>
        </p:txBody>
      </p:sp>
      <p:sp>
        <p:nvSpPr>
          <p:cNvPr id="3" name="Date Placeholder 2">
            <a:extLst>
              <a:ext uri="{FF2B5EF4-FFF2-40B4-BE49-F238E27FC236}">
                <a16:creationId xmlns:a16="http://schemas.microsoft.com/office/drawing/2014/main" id="{B9857D05-3B38-1245-894D-24581A24F27D}"/>
              </a:ext>
            </a:extLst>
          </p:cNvPr>
          <p:cNvSpPr>
            <a:spLocks noGrp="1"/>
          </p:cNvSpPr>
          <p:nvPr>
            <p:ph type="dt" sz="half" idx="10"/>
          </p:nvPr>
        </p:nvSpPr>
        <p:spPr/>
        <p:txBody>
          <a:bodyPr/>
          <a:lstStyle/>
          <a:p>
            <a:r>
              <a:rPr lang="en-US"/>
              <a:t>8 October 2024</a:t>
            </a:r>
            <a:endParaRPr lang="en-GB" dirty="0"/>
          </a:p>
        </p:txBody>
      </p:sp>
      <p:sp>
        <p:nvSpPr>
          <p:cNvPr id="4" name="Footer Placeholder 3">
            <a:extLst>
              <a:ext uri="{FF2B5EF4-FFF2-40B4-BE49-F238E27FC236}">
                <a16:creationId xmlns:a16="http://schemas.microsoft.com/office/drawing/2014/main" id="{F3C7BA36-6C3C-C811-3047-B251D5B25444}"/>
              </a:ext>
            </a:extLst>
          </p:cNvPr>
          <p:cNvSpPr>
            <a:spLocks noGrp="1"/>
          </p:cNvSpPr>
          <p:nvPr>
            <p:ph type="ftr" sz="quarter" idx="11"/>
          </p:nvPr>
        </p:nvSpPr>
        <p:spPr/>
        <p:txBody>
          <a:bodyPr/>
          <a:lstStyle/>
          <a:p>
            <a:r>
              <a:rPr lang="en-GB"/>
              <a:t>Comparisons and Associations</a:t>
            </a:r>
            <a:endParaRPr lang="en-GB" dirty="0"/>
          </a:p>
        </p:txBody>
      </p:sp>
      <p:sp>
        <p:nvSpPr>
          <p:cNvPr id="5" name="Slide Number Placeholder 4">
            <a:extLst>
              <a:ext uri="{FF2B5EF4-FFF2-40B4-BE49-F238E27FC236}">
                <a16:creationId xmlns:a16="http://schemas.microsoft.com/office/drawing/2014/main" id="{6589F523-D9FC-8E93-1712-1B6E3DE742AF}"/>
              </a:ext>
            </a:extLst>
          </p:cNvPr>
          <p:cNvSpPr>
            <a:spLocks noGrp="1"/>
          </p:cNvSpPr>
          <p:nvPr>
            <p:ph type="sldNum" sz="quarter" idx="12"/>
          </p:nvPr>
        </p:nvSpPr>
        <p:spPr/>
        <p:txBody>
          <a:bodyPr/>
          <a:lstStyle/>
          <a:p>
            <a:fld id="{9FAA51BB-2FC0-4DB8-B50E-F52D50E733B6}" type="slidenum">
              <a:rPr lang="en-GB" smtClean="0"/>
              <a:pPr/>
              <a:t>‹#›</a:t>
            </a:fld>
            <a:endParaRPr lang="en-GB" dirty="0"/>
          </a:p>
        </p:txBody>
      </p:sp>
      <p:sp>
        <p:nvSpPr>
          <p:cNvPr id="7" name="Text Placeholder 6">
            <a:extLst>
              <a:ext uri="{FF2B5EF4-FFF2-40B4-BE49-F238E27FC236}">
                <a16:creationId xmlns:a16="http://schemas.microsoft.com/office/drawing/2014/main" id="{C9FD4878-448B-C559-6183-304914140DFB}"/>
              </a:ext>
            </a:extLst>
          </p:cNvPr>
          <p:cNvSpPr>
            <a:spLocks noGrp="1"/>
          </p:cNvSpPr>
          <p:nvPr>
            <p:ph type="body" sz="quarter" idx="13"/>
          </p:nvPr>
        </p:nvSpPr>
        <p:spPr>
          <a:xfrm>
            <a:off x="757238" y="1431925"/>
            <a:ext cx="10455275" cy="46577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7463633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756746" y="286604"/>
            <a:ext cx="9578516" cy="911576"/>
          </a:xfrm>
          <a:prstGeom prst="rect">
            <a:avLst/>
          </a:prstGeom>
        </p:spPr>
        <p:txBody>
          <a:bodyPr vert="horz" lIns="91440" tIns="45720" rIns="91440" bIns="45720" rtlCol="0" anchor="b">
            <a:normAutofit/>
          </a:bodyPr>
          <a:lstStyle/>
          <a:p>
            <a:r>
              <a:rPr lang="en-GB" dirty="0"/>
              <a:t>Click to edit Master title style</a:t>
            </a:r>
            <a:endParaRPr lang="en-US" dirty="0"/>
          </a:p>
        </p:txBody>
      </p:sp>
      <p:sp>
        <p:nvSpPr>
          <p:cNvPr id="3" name="Text Placeholder 2"/>
          <p:cNvSpPr>
            <a:spLocks noGrp="1"/>
          </p:cNvSpPr>
          <p:nvPr>
            <p:ph type="body" idx="1"/>
          </p:nvPr>
        </p:nvSpPr>
        <p:spPr>
          <a:xfrm>
            <a:off x="756745" y="1477880"/>
            <a:ext cx="10398935" cy="4681181"/>
          </a:xfrm>
          <a:prstGeom prst="rect">
            <a:avLst/>
          </a:prstGeom>
        </p:spPr>
        <p:txBody>
          <a:bodyPr vert="horz" lIns="0" tIns="45720" rIns="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1200">
                <a:solidFill>
                  <a:srgbClr val="FFFFFF"/>
                </a:solidFill>
              </a:defRPr>
            </a:lvl1pPr>
          </a:lstStyle>
          <a:p>
            <a:r>
              <a:rPr lang="en-US"/>
              <a:t>8 October 2024</a:t>
            </a:r>
            <a:endParaRPr lang="en-GB"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1000" cap="all" baseline="0">
                <a:solidFill>
                  <a:srgbClr val="FFFFFF"/>
                </a:solidFill>
              </a:defRPr>
            </a:lvl1pPr>
          </a:lstStyle>
          <a:p>
            <a:r>
              <a:rPr lang="en-GB"/>
              <a:t>Comparisons and Associations</a:t>
            </a:r>
            <a:endParaRPr lang="en-GB"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200">
                <a:solidFill>
                  <a:srgbClr val="FFFFFF"/>
                </a:solidFill>
              </a:defRPr>
            </a:lvl1pPr>
          </a:lstStyle>
          <a:p>
            <a:fld id="{9FAA51BB-2FC0-4DB8-B50E-F52D50E733B6}" type="slidenum">
              <a:rPr lang="en-GB" smtClean="0"/>
              <a:pPr/>
              <a:t>‹#›</a:t>
            </a:fld>
            <a:endParaRPr lang="en-GB" dirty="0"/>
          </a:p>
        </p:txBody>
      </p:sp>
    </p:spTree>
    <p:extLst>
      <p:ext uri="{BB962C8B-B14F-4D97-AF65-F5344CB8AC3E}">
        <p14:creationId xmlns:p14="http://schemas.microsoft.com/office/powerpoint/2010/main" val="3120243165"/>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3" r:id="rId4"/>
    <p:sldLayoutId id="2147483668" r:id="rId5"/>
    <p:sldLayoutId id="2147483669" r:id="rId6"/>
    <p:sldLayoutId id="2147483664" r:id="rId7"/>
    <p:sldLayoutId id="2147483665" r:id="rId8"/>
    <p:sldLayoutId id="2147483666" r:id="rId9"/>
    <p:sldLayoutId id="2147483667" r:id="rId10"/>
    <p:sldLayoutId id="2147483674" r:id="rId11"/>
    <p:sldLayoutId id="2147483676" r:id="rId12"/>
    <p:sldLayoutId id="2147483675" r:id="rId13"/>
    <p:sldLayoutId id="2147483670" r:id="rId14"/>
    <p:sldLayoutId id="2147483671" r:id="rId15"/>
    <p:sldLayoutId id="2147483673" r:id="rId16"/>
    <p:sldLayoutId id="2147483677" r:id="rId17"/>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p:txStyles>
    <p:titleStyle>
      <a:lvl1pPr algn="l" defTabSz="914400" rtl="0" eaLnBrk="1" latinLnBrk="0" hangingPunct="1">
        <a:lnSpc>
          <a:spcPct val="100000"/>
        </a:lnSpc>
        <a:spcBef>
          <a:spcPct val="0"/>
        </a:spcBef>
        <a:buNone/>
        <a:defRPr sz="4000" b="1" kern="1200" spc="-50" baseline="0">
          <a:solidFill>
            <a:schemeClr val="accent1">
              <a:lumMod val="5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SzPct val="120000"/>
        <a:buFont typeface="Arial Narrow" panose="020B0606020202030204"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SzPct val="110000"/>
        <a:buFont typeface="Courier New" panose="02070309020205020404" pitchFamily="49" charset="0"/>
        <a:buChar char="o"/>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SzPct val="110000"/>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749808"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6133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060982-6EE3-A8F1-75FE-C4BDB2FF3CBE}"/>
              </a:ext>
            </a:extLst>
          </p:cNvPr>
          <p:cNvSpPr>
            <a:spLocks noGrp="1"/>
          </p:cNvSpPr>
          <p:nvPr>
            <p:ph type="title"/>
          </p:nvPr>
        </p:nvSpPr>
        <p:spPr/>
        <p:txBody>
          <a:bodyPr/>
          <a:lstStyle/>
          <a:p>
            <a:r>
              <a:rPr lang="en-GB" sz="6000" b="1" dirty="0"/>
              <a:t>Week 3</a:t>
            </a:r>
          </a:p>
        </p:txBody>
      </p:sp>
      <p:sp>
        <p:nvSpPr>
          <p:cNvPr id="7" name="Text Placeholder 6">
            <a:extLst>
              <a:ext uri="{FF2B5EF4-FFF2-40B4-BE49-F238E27FC236}">
                <a16:creationId xmlns:a16="http://schemas.microsoft.com/office/drawing/2014/main" id="{E112B5B6-7C9E-9DE5-8D2C-13D42F1FBB68}"/>
              </a:ext>
            </a:extLst>
          </p:cNvPr>
          <p:cNvSpPr>
            <a:spLocks noGrp="1"/>
          </p:cNvSpPr>
          <p:nvPr>
            <p:ph type="body" sz="half" idx="2"/>
          </p:nvPr>
        </p:nvSpPr>
        <p:spPr/>
        <p:txBody>
          <a:bodyPr>
            <a:normAutofit/>
          </a:bodyPr>
          <a:lstStyle/>
          <a:p>
            <a:r>
              <a:rPr lang="en-GB" sz="3600" dirty="0"/>
              <a:t>Modelling continuous outcomes</a:t>
            </a:r>
          </a:p>
        </p:txBody>
      </p:sp>
      <p:sp>
        <p:nvSpPr>
          <p:cNvPr id="3" name="Date Placeholder 2">
            <a:extLst>
              <a:ext uri="{FF2B5EF4-FFF2-40B4-BE49-F238E27FC236}">
                <a16:creationId xmlns:a16="http://schemas.microsoft.com/office/drawing/2014/main" id="{746383FB-FAD5-ACBF-8362-99A44C5BACCD}"/>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EC4BC908-4805-889D-BE4F-455E3A449AA4}"/>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9E2F49CC-8A5A-2FB3-FD34-139202D1D593}"/>
              </a:ext>
            </a:extLst>
          </p:cNvPr>
          <p:cNvSpPr>
            <a:spLocks noGrp="1"/>
          </p:cNvSpPr>
          <p:nvPr>
            <p:ph type="sldNum" sz="quarter" idx="12"/>
          </p:nvPr>
        </p:nvSpPr>
        <p:spPr/>
        <p:txBody>
          <a:bodyPr/>
          <a:lstStyle/>
          <a:p>
            <a:fld id="{9FAA51BB-2FC0-4DB8-B50E-F52D50E733B6}" type="slidenum">
              <a:rPr lang="en-GB" smtClean="0"/>
              <a:t>2</a:t>
            </a:fld>
            <a:endParaRPr lang="en-GB"/>
          </a:p>
        </p:txBody>
      </p:sp>
    </p:spTree>
    <p:extLst>
      <p:ext uri="{BB962C8B-B14F-4D97-AF65-F5344CB8AC3E}">
        <p14:creationId xmlns:p14="http://schemas.microsoft.com/office/powerpoint/2010/main" val="38144591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Today</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3</a:t>
            </a:fld>
            <a:endParaRPr lang="en-GB"/>
          </a:p>
        </p:txBody>
      </p:sp>
      <p:sp>
        <p:nvSpPr>
          <p:cNvPr id="6" name="Step 1"/>
          <p:cNvSpPr/>
          <p:nvPr/>
        </p:nvSpPr>
        <p:spPr>
          <a:xfrm>
            <a:off x="758952" y="1463040"/>
            <a:ext cx="2144268" cy="2103120"/>
          </a:xfrm>
          <a:prstGeom prst="roundRect">
            <a:avLst>
              <a:gd name="adj" fmla="val 8000"/>
            </a:avLst>
          </a:prstGeom>
          <a:solidFill>
            <a:srgbClr val="EEF3F7"/>
          </a:solidFill>
          <a:ln>
            <a:noFill/>
          </a:ln>
        </p:spPr>
        <p:txBody>
          <a:bodyPr rtlCol="0" anchor="ctr"/>
          <a:lstStyle/>
          <a:p>
            <a:endParaRPr/>
          </a:p>
        </p:txBody>
      </p:sp>
      <p:sp>
        <p:nvSpPr>
          <p:cNvPr id="7" name="TextBox 6"/>
          <p:cNvSpPr txBox="1"/>
          <p:nvPr/>
        </p:nvSpPr>
        <p:spPr>
          <a:xfrm>
            <a:off x="896112" y="1933671"/>
            <a:ext cx="1869948" cy="1161857"/>
          </a:xfrm>
          <a:prstGeom prst="rect">
            <a:avLst/>
          </a:prstGeom>
          <a:noFill/>
        </p:spPr>
        <p:txBody>
          <a:bodyPr wrap="square" lIns="0" tIns="0" rIns="0" bIns="0" anchor="ctr">
            <a:spAutoFit/>
          </a:bodyPr>
          <a:lstStyle/>
          <a:p>
            <a:pPr algn="l">
              <a:spcAft>
                <a:spcPts val="300"/>
              </a:spcAft>
            </a:pPr>
            <a:r>
              <a:rPr sz="2200" b="1" i="0" dirty="0">
                <a:solidFill>
                  <a:srgbClr val="1F394D"/>
                </a:solidFill>
              </a:rPr>
              <a:t>Association</a:t>
            </a:r>
          </a:p>
          <a:p>
            <a:pPr algn="l"/>
            <a:r>
              <a:rPr sz="1700" b="0" i="0" dirty="0">
                <a:solidFill>
                  <a:srgbClr val="55606B"/>
                </a:solidFill>
              </a:rPr>
              <a:t>Last week: inequality and trust, r = -0.66</a:t>
            </a:r>
            <a:endParaRPr lang="en-GB" sz="1700" b="0" i="0" dirty="0">
              <a:solidFill>
                <a:srgbClr val="55606B"/>
              </a:solidFill>
            </a:endParaRPr>
          </a:p>
          <a:p>
            <a:pPr algn="l"/>
            <a:endParaRPr sz="1700" b="0" i="0" dirty="0">
              <a:solidFill>
                <a:srgbClr val="55606B"/>
              </a:solidFill>
            </a:endParaRPr>
          </a:p>
        </p:txBody>
      </p:sp>
      <p:sp>
        <p:nvSpPr>
          <p:cNvPr id="8" name="Right Arrow 7"/>
          <p:cNvSpPr/>
          <p:nvPr/>
        </p:nvSpPr>
        <p:spPr>
          <a:xfrm>
            <a:off x="3012948" y="2350008"/>
            <a:ext cx="457200" cy="329184"/>
          </a:xfrm>
          <a:prstGeom prst="rightArrow">
            <a:avLst/>
          </a:prstGeom>
          <a:solidFill>
            <a:srgbClr val="3F739B"/>
          </a:solidFill>
          <a:ln>
            <a:noFill/>
          </a:ln>
        </p:spPr>
        <p:txBody>
          <a:bodyPr rtlCol="0" anchor="ctr"/>
          <a:lstStyle/>
          <a:p>
            <a:pPr algn="ctr"/>
            <a:endParaRPr/>
          </a:p>
        </p:txBody>
      </p:sp>
      <p:sp>
        <p:nvSpPr>
          <p:cNvPr id="9" name="Step 2"/>
          <p:cNvSpPr/>
          <p:nvPr/>
        </p:nvSpPr>
        <p:spPr>
          <a:xfrm>
            <a:off x="3579876" y="1463040"/>
            <a:ext cx="2144268" cy="2103120"/>
          </a:xfrm>
          <a:prstGeom prst="roundRect">
            <a:avLst>
              <a:gd name="adj" fmla="val 8000"/>
            </a:avLst>
          </a:prstGeom>
          <a:solidFill>
            <a:srgbClr val="EEF3F7"/>
          </a:solidFill>
          <a:ln>
            <a:noFill/>
          </a:ln>
        </p:spPr>
        <p:txBody>
          <a:bodyPr rtlCol="0" anchor="ctr"/>
          <a:lstStyle/>
          <a:p>
            <a:endParaRPr/>
          </a:p>
        </p:txBody>
      </p:sp>
      <p:sp>
        <p:nvSpPr>
          <p:cNvPr id="10" name="TextBox 9"/>
          <p:cNvSpPr txBox="1"/>
          <p:nvPr/>
        </p:nvSpPr>
        <p:spPr>
          <a:xfrm>
            <a:off x="3717035" y="1933671"/>
            <a:ext cx="2116835" cy="1161857"/>
          </a:xfrm>
          <a:prstGeom prst="rect">
            <a:avLst/>
          </a:prstGeom>
          <a:noFill/>
        </p:spPr>
        <p:txBody>
          <a:bodyPr wrap="square" lIns="0" tIns="0" rIns="0" bIns="0" anchor="ctr">
            <a:spAutoFit/>
          </a:bodyPr>
          <a:lstStyle/>
          <a:p>
            <a:pPr algn="l">
              <a:spcAft>
                <a:spcPts val="300"/>
              </a:spcAft>
            </a:pPr>
            <a:r>
              <a:rPr lang="en-GB" sz="2200" b="1" i="0" dirty="0">
                <a:solidFill>
                  <a:srgbClr val="1F394D"/>
                </a:solidFill>
              </a:rPr>
              <a:t>Simple regression</a:t>
            </a:r>
            <a:endParaRPr sz="2200" b="1" i="0" dirty="0">
              <a:solidFill>
                <a:srgbClr val="1F394D"/>
              </a:solidFill>
            </a:endParaRPr>
          </a:p>
          <a:p>
            <a:pPr algn="l"/>
            <a:r>
              <a:rPr lang="en-GB" sz="1700" b="0" i="0" dirty="0">
                <a:solidFill>
                  <a:srgbClr val="55606B"/>
                </a:solidFill>
              </a:rPr>
              <a:t>Two variables</a:t>
            </a:r>
            <a:r>
              <a:rPr sz="1700" b="0" i="0" dirty="0">
                <a:solidFill>
                  <a:srgbClr val="55606B"/>
                </a:solidFill>
              </a:rPr>
              <a:t>: intercept, slope, residuals, </a:t>
            </a:r>
            <a:r>
              <a:rPr sz="1700" b="0" i="0" dirty="0" err="1">
                <a:solidFill>
                  <a:srgbClr val="55606B"/>
                </a:solidFill>
              </a:rPr>
              <a:t>R²</a:t>
            </a:r>
            <a:endParaRPr sz="1700" b="0" i="0" dirty="0">
              <a:solidFill>
                <a:srgbClr val="55606B"/>
              </a:solidFill>
            </a:endParaRPr>
          </a:p>
        </p:txBody>
      </p:sp>
      <p:sp>
        <p:nvSpPr>
          <p:cNvPr id="11" name="Right Arrow 10"/>
          <p:cNvSpPr/>
          <p:nvPr/>
        </p:nvSpPr>
        <p:spPr>
          <a:xfrm>
            <a:off x="5833872" y="2350008"/>
            <a:ext cx="457200" cy="329184"/>
          </a:xfrm>
          <a:prstGeom prst="rightArrow">
            <a:avLst/>
          </a:prstGeom>
          <a:solidFill>
            <a:srgbClr val="3F739B"/>
          </a:solidFill>
          <a:ln>
            <a:noFill/>
          </a:ln>
        </p:spPr>
        <p:txBody>
          <a:bodyPr rtlCol="0" anchor="ctr"/>
          <a:lstStyle/>
          <a:p>
            <a:pPr algn="ctr"/>
            <a:endParaRPr/>
          </a:p>
        </p:txBody>
      </p:sp>
      <p:sp>
        <p:nvSpPr>
          <p:cNvPr id="12" name="Step 3"/>
          <p:cNvSpPr/>
          <p:nvPr/>
        </p:nvSpPr>
        <p:spPr>
          <a:xfrm>
            <a:off x="6400800" y="1463040"/>
            <a:ext cx="2144268" cy="2103120"/>
          </a:xfrm>
          <a:prstGeom prst="roundRect">
            <a:avLst>
              <a:gd name="adj" fmla="val 8000"/>
            </a:avLst>
          </a:prstGeom>
          <a:solidFill>
            <a:srgbClr val="EEF3F7"/>
          </a:solidFill>
          <a:ln>
            <a:noFill/>
          </a:ln>
        </p:spPr>
        <p:txBody>
          <a:bodyPr rtlCol="0" anchor="ctr"/>
          <a:lstStyle/>
          <a:p>
            <a:endParaRPr/>
          </a:p>
        </p:txBody>
      </p:sp>
      <p:sp>
        <p:nvSpPr>
          <p:cNvPr id="13" name="TextBox 12"/>
          <p:cNvSpPr txBox="1"/>
          <p:nvPr/>
        </p:nvSpPr>
        <p:spPr>
          <a:xfrm>
            <a:off x="6537959" y="1933671"/>
            <a:ext cx="2318174" cy="1161857"/>
          </a:xfrm>
          <a:prstGeom prst="rect">
            <a:avLst/>
          </a:prstGeom>
          <a:noFill/>
        </p:spPr>
        <p:txBody>
          <a:bodyPr wrap="square" lIns="0" tIns="0" rIns="0" bIns="0" anchor="ctr">
            <a:spAutoFit/>
          </a:bodyPr>
          <a:lstStyle/>
          <a:p>
            <a:pPr algn="l">
              <a:spcAft>
                <a:spcPts val="300"/>
              </a:spcAft>
            </a:pPr>
            <a:r>
              <a:rPr sz="2200" b="1" i="0" dirty="0">
                <a:solidFill>
                  <a:srgbClr val="1F394D"/>
                </a:solidFill>
              </a:rPr>
              <a:t>M</a:t>
            </a:r>
            <a:r>
              <a:rPr lang="en-GB" sz="2200" b="1" i="0" dirty="0" err="1">
                <a:solidFill>
                  <a:srgbClr val="1F394D"/>
                </a:solidFill>
              </a:rPr>
              <a:t>ultiple</a:t>
            </a:r>
            <a:r>
              <a:rPr lang="en-GB" sz="2200" b="1" i="0" dirty="0">
                <a:solidFill>
                  <a:srgbClr val="1F394D"/>
                </a:solidFill>
              </a:rPr>
              <a:t> regression</a:t>
            </a:r>
          </a:p>
          <a:p>
            <a:pPr algn="l">
              <a:spcAft>
                <a:spcPts val="300"/>
              </a:spcAft>
            </a:pPr>
            <a:r>
              <a:rPr sz="1700" b="0" i="0" dirty="0">
                <a:solidFill>
                  <a:srgbClr val="55606B"/>
                </a:solidFill>
              </a:rPr>
              <a:t>Multiple </a:t>
            </a:r>
            <a:r>
              <a:rPr lang="en-GB" sz="1700" b="0" i="0" dirty="0">
                <a:solidFill>
                  <a:srgbClr val="55606B"/>
                </a:solidFill>
              </a:rPr>
              <a:t>variables</a:t>
            </a:r>
            <a:r>
              <a:rPr sz="1700" b="0" i="0" dirty="0">
                <a:solidFill>
                  <a:srgbClr val="55606B"/>
                </a:solidFill>
              </a:rPr>
              <a:t>: “holding other things constant”</a:t>
            </a:r>
          </a:p>
        </p:txBody>
      </p:sp>
      <p:sp>
        <p:nvSpPr>
          <p:cNvPr id="14" name="Right Arrow 13"/>
          <p:cNvSpPr/>
          <p:nvPr/>
        </p:nvSpPr>
        <p:spPr>
          <a:xfrm>
            <a:off x="8654795" y="2350008"/>
            <a:ext cx="457200" cy="329184"/>
          </a:xfrm>
          <a:prstGeom prst="rightArrow">
            <a:avLst/>
          </a:prstGeom>
          <a:solidFill>
            <a:srgbClr val="3F739B"/>
          </a:solidFill>
          <a:ln>
            <a:noFill/>
          </a:ln>
        </p:spPr>
        <p:txBody>
          <a:bodyPr rtlCol="0" anchor="ctr"/>
          <a:lstStyle/>
          <a:p>
            <a:pPr algn="ctr"/>
            <a:endParaRPr/>
          </a:p>
        </p:txBody>
      </p:sp>
      <p:sp>
        <p:nvSpPr>
          <p:cNvPr id="15" name="Step 4"/>
          <p:cNvSpPr/>
          <p:nvPr/>
        </p:nvSpPr>
        <p:spPr>
          <a:xfrm>
            <a:off x="9221724" y="1463040"/>
            <a:ext cx="2144268" cy="2103120"/>
          </a:xfrm>
          <a:prstGeom prst="roundRect">
            <a:avLst>
              <a:gd name="adj" fmla="val 8000"/>
            </a:avLst>
          </a:prstGeom>
          <a:solidFill>
            <a:srgbClr val="1F394D"/>
          </a:solidFill>
          <a:ln>
            <a:noFill/>
          </a:ln>
        </p:spPr>
        <p:txBody>
          <a:bodyPr rtlCol="0" anchor="ctr"/>
          <a:lstStyle/>
          <a:p>
            <a:endParaRPr/>
          </a:p>
        </p:txBody>
      </p:sp>
      <p:sp>
        <p:nvSpPr>
          <p:cNvPr id="16" name="TextBox 15"/>
          <p:cNvSpPr txBox="1"/>
          <p:nvPr/>
        </p:nvSpPr>
        <p:spPr>
          <a:xfrm>
            <a:off x="9358884" y="1554480"/>
            <a:ext cx="1869948" cy="1920239"/>
          </a:xfrm>
          <a:prstGeom prst="rect">
            <a:avLst/>
          </a:prstGeom>
          <a:noFill/>
        </p:spPr>
        <p:txBody>
          <a:bodyPr wrap="square" lIns="0" tIns="0" rIns="0" bIns="0" anchor="ctr">
            <a:spAutoFit/>
          </a:bodyPr>
          <a:lstStyle/>
          <a:p>
            <a:pPr algn="l">
              <a:spcAft>
                <a:spcPts val="300"/>
              </a:spcAft>
            </a:pPr>
            <a:r>
              <a:rPr sz="2200" b="1" i="0" dirty="0">
                <a:solidFill>
                  <a:srgbClr val="FFFFFF"/>
                </a:solidFill>
              </a:rPr>
              <a:t>Categories</a:t>
            </a:r>
          </a:p>
          <a:p>
            <a:pPr algn="l"/>
            <a:r>
              <a:rPr sz="1700" b="0" i="0" dirty="0">
                <a:solidFill>
                  <a:srgbClr val="CCDDEA"/>
                </a:solidFill>
              </a:rPr>
              <a:t>Regions and religious traditions as predictors</a:t>
            </a:r>
          </a:p>
        </p:txBody>
      </p:sp>
      <p:sp>
        <p:nvSpPr>
          <p:cNvPr id="17" name="Rounded Rectangle 16"/>
          <p:cNvSpPr/>
          <p:nvPr/>
        </p:nvSpPr>
        <p:spPr>
          <a:xfrm>
            <a:off x="758952" y="3931920"/>
            <a:ext cx="10607040" cy="1737360"/>
          </a:xfrm>
          <a:prstGeom prst="roundRect">
            <a:avLst>
              <a:gd name="adj" fmla="val 8000"/>
            </a:avLst>
          </a:prstGeom>
          <a:solidFill>
            <a:srgbClr val="EEF3F7"/>
          </a:solidFill>
          <a:ln>
            <a:noFill/>
          </a:ln>
        </p:spPr>
        <p:txBody>
          <a:bodyPr rtlCol="0" anchor="ctr"/>
          <a:lstStyle/>
          <a:p>
            <a:endParaRPr/>
          </a:p>
        </p:txBody>
      </p:sp>
      <p:sp>
        <p:nvSpPr>
          <p:cNvPr id="18" name="TextBox 17"/>
          <p:cNvSpPr txBox="1"/>
          <p:nvPr/>
        </p:nvSpPr>
        <p:spPr>
          <a:xfrm>
            <a:off x="960120" y="4092854"/>
            <a:ext cx="10204704" cy="1415491"/>
          </a:xfrm>
          <a:prstGeom prst="rect">
            <a:avLst/>
          </a:prstGeom>
          <a:noFill/>
        </p:spPr>
        <p:txBody>
          <a:bodyPr wrap="square" lIns="0" tIns="0" rIns="0" bIns="0" anchor="t">
            <a:spAutoFit/>
          </a:bodyPr>
          <a:lstStyle/>
          <a:p>
            <a:pPr algn="l">
              <a:spcAft>
                <a:spcPts val="400"/>
              </a:spcAft>
            </a:pPr>
            <a:r>
              <a:rPr sz="2000" b="1" i="0">
                <a:solidFill>
                  <a:srgbClr val="1F394D"/>
                </a:solidFill>
              </a:rPr>
              <a:t>Two datasets from the workshop</a:t>
            </a:r>
          </a:p>
          <a:p>
            <a:pPr algn="l">
              <a:spcAft>
                <a:spcPts val="400"/>
              </a:spcAft>
            </a:pPr>
            <a:r>
              <a:rPr sz="1800" b="0" i="0">
                <a:solidFill>
                  <a:srgbClr val="1F2A33"/>
                </a:solidFill>
              </a:rPr>
              <a:t>The Spirit Level: inequality and trust in 23 rich countries (pickett2009).</a:t>
            </a:r>
          </a:p>
          <a:p>
            <a:pPr algn="l">
              <a:spcAft>
                <a:spcPts val="400"/>
              </a:spcAft>
            </a:pPr>
            <a:r>
              <a:rPr sz="1800" b="0" i="0">
                <a:solidFill>
                  <a:srgbClr val="1F2A33"/>
                </a:solidFill>
              </a:rPr>
              <a:t>Delhey &amp; Newton (2005): what predicts trust in 60 countries (delhey&amp;newton2005).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correlation to regression</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4</a:t>
            </a:fld>
            <a:endParaRPr lang="en-GB"/>
          </a:p>
        </p:txBody>
      </p:sp>
      <p:sp>
        <p:nvSpPr>
          <p:cNvPr id="6" name="Rounded Rectangle 5"/>
          <p:cNvSpPr/>
          <p:nvPr/>
        </p:nvSpPr>
        <p:spPr>
          <a:xfrm>
            <a:off x="758952" y="1417320"/>
            <a:ext cx="5212080" cy="2377440"/>
          </a:xfrm>
          <a:prstGeom prst="roundRect">
            <a:avLst>
              <a:gd name="adj" fmla="val 8000"/>
            </a:avLst>
          </a:prstGeom>
          <a:solidFill>
            <a:srgbClr val="EEF3F7"/>
          </a:solidFill>
          <a:ln>
            <a:noFill/>
          </a:ln>
        </p:spPr>
        <p:txBody>
          <a:bodyPr rtlCol="0" anchor="ctr"/>
          <a:lstStyle/>
          <a:p>
            <a:endParaRPr/>
          </a:p>
        </p:txBody>
      </p:sp>
      <p:sp>
        <p:nvSpPr>
          <p:cNvPr id="7" name="TextBox 6"/>
          <p:cNvSpPr txBox="1"/>
          <p:nvPr/>
        </p:nvSpPr>
        <p:spPr>
          <a:xfrm>
            <a:off x="960120" y="1578254"/>
            <a:ext cx="4809744" cy="2055571"/>
          </a:xfrm>
          <a:prstGeom prst="rect">
            <a:avLst/>
          </a:prstGeom>
          <a:noFill/>
        </p:spPr>
        <p:txBody>
          <a:bodyPr wrap="square" lIns="0" tIns="0" rIns="0" bIns="0" anchor="t">
            <a:spAutoFit/>
          </a:bodyPr>
          <a:lstStyle/>
          <a:p>
            <a:pPr algn="l">
              <a:spcAft>
                <a:spcPts val="400"/>
              </a:spcAft>
            </a:pPr>
            <a:r>
              <a:rPr sz="2200" b="1" i="0">
                <a:solidFill>
                  <a:srgbClr val="1F394D"/>
                </a:solidFill>
              </a:rPr>
              <a:t>Correlation (r)</a:t>
            </a:r>
          </a:p>
          <a:p>
            <a:pPr algn="l">
              <a:spcAft>
                <a:spcPts val="400"/>
              </a:spcAft>
            </a:pPr>
            <a:r>
              <a:rPr sz="1700" b="0" i="0">
                <a:solidFill>
                  <a:srgbClr val="1F2A33"/>
                </a:solidFill>
              </a:rPr>
              <a:t>Strength and direction of a straight-line association.</a:t>
            </a:r>
          </a:p>
          <a:p>
            <a:pPr algn="l">
              <a:spcAft>
                <a:spcPts val="400"/>
              </a:spcAft>
            </a:pPr>
            <a:r>
              <a:rPr sz="1700" b="0" i="0">
                <a:solidFill>
                  <a:srgbClr val="1F2A33"/>
                </a:solidFill>
              </a:rPr>
              <a:t>Symmetric, no units, between −1 and +1.</a:t>
            </a:r>
          </a:p>
        </p:txBody>
      </p:sp>
      <p:sp>
        <p:nvSpPr>
          <p:cNvPr id="8" name="Rounded Rectangle 7"/>
          <p:cNvSpPr/>
          <p:nvPr/>
        </p:nvSpPr>
        <p:spPr>
          <a:xfrm>
            <a:off x="6153912" y="1417320"/>
            <a:ext cx="5212080" cy="2377440"/>
          </a:xfrm>
          <a:prstGeom prst="roundRect">
            <a:avLst>
              <a:gd name="adj" fmla="val 8000"/>
            </a:avLst>
          </a:prstGeom>
          <a:solidFill>
            <a:srgbClr val="1F394D"/>
          </a:solidFill>
          <a:ln>
            <a:noFill/>
          </a:ln>
        </p:spPr>
        <p:txBody>
          <a:bodyPr rtlCol="0" anchor="ctr"/>
          <a:lstStyle/>
          <a:p>
            <a:endParaRPr/>
          </a:p>
        </p:txBody>
      </p:sp>
      <p:sp>
        <p:nvSpPr>
          <p:cNvPr id="9" name="TextBox 8"/>
          <p:cNvSpPr txBox="1"/>
          <p:nvPr/>
        </p:nvSpPr>
        <p:spPr>
          <a:xfrm>
            <a:off x="6355080" y="1578254"/>
            <a:ext cx="4809744" cy="2055571"/>
          </a:xfrm>
          <a:prstGeom prst="rect">
            <a:avLst/>
          </a:prstGeom>
          <a:noFill/>
        </p:spPr>
        <p:txBody>
          <a:bodyPr wrap="square" lIns="0" tIns="0" rIns="0" bIns="0" anchor="t">
            <a:spAutoFit/>
          </a:bodyPr>
          <a:lstStyle/>
          <a:p>
            <a:pPr algn="l">
              <a:spcAft>
                <a:spcPts val="400"/>
              </a:spcAft>
            </a:pPr>
            <a:r>
              <a:rPr sz="2200" b="1" i="0">
                <a:solidFill>
                  <a:srgbClr val="FFFFFF"/>
                </a:solidFill>
              </a:rPr>
              <a:t>Regression</a:t>
            </a:r>
          </a:p>
          <a:p>
            <a:pPr algn="l">
              <a:spcAft>
                <a:spcPts val="400"/>
              </a:spcAft>
            </a:pPr>
            <a:r>
              <a:rPr sz="1700" b="0" i="0">
                <a:solidFill>
                  <a:srgbClr val="CCDDEA"/>
                </a:solidFill>
              </a:rPr>
              <a:t>Describes the outcome as a line in the predictor.</a:t>
            </a:r>
          </a:p>
          <a:p>
            <a:pPr algn="l">
              <a:spcAft>
                <a:spcPts val="400"/>
              </a:spcAft>
            </a:pPr>
            <a:r>
              <a:rPr sz="1700" b="0" i="0">
                <a:solidFill>
                  <a:srgbClr val="CCDDEA"/>
                </a:solidFill>
              </a:rPr>
              <a:t>In real units; predicts; can add more predictors.</a:t>
            </a:r>
          </a:p>
        </p:txBody>
      </p:sp>
      <p:sp>
        <p:nvSpPr>
          <p:cNvPr id="10" name="Equation"/>
          <p:cNvSpPr/>
          <p:nvPr/>
        </p:nvSpPr>
        <p:spPr>
          <a:xfrm>
            <a:off x="758952" y="4069080"/>
            <a:ext cx="10607040" cy="169164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1033271" y="4160520"/>
            <a:ext cx="10058400" cy="1508760"/>
          </a:xfrm>
          <a:prstGeom prst="rect">
            <a:avLst/>
          </a:prstGeom>
          <a:noFill/>
        </p:spPr>
        <p:txBody>
          <a:bodyPr wrap="square" lIns="0" tIns="0" rIns="0" bIns="0" anchor="ctr">
            <a:spAutoFit/>
          </a:bodyPr>
          <a:lstStyle/>
          <a:p>
            <a:pPr algn="ctr">
              <a:spcAft>
                <a:spcPts val="800"/>
              </a:spcAft>
            </a:pPr>
            <a:r>
              <a:rPr sz="2600" b="1" i="0">
                <a:solidFill>
                  <a:srgbClr val="1F394D"/>
                </a:solidFill>
              </a:rPr>
              <a:t>predicted outcome  =  intercept  +  slope × predictor</a:t>
            </a:r>
          </a:p>
          <a:p>
            <a:pPr algn="ctr"/>
            <a:r>
              <a:rPr sz="2000" b="0" i="0">
                <a:solidFill>
                  <a:srgbClr val="55606B"/>
                </a:solidFill>
              </a:rPr>
              <a:t>Spirit Level:  </a:t>
            </a:r>
            <a:r>
              <a:rPr sz="2000" b="1" i="0">
                <a:solidFill>
                  <a:srgbClr val="7A5C00"/>
                </a:solidFill>
              </a:rPr>
              <a:t>predicted trust = 77.1 − 6.54 × income inequality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regression line does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5</a:t>
            </a:fld>
            <a:endParaRPr lang="en-GB"/>
          </a:p>
        </p:txBody>
      </p:sp>
      <p:cxnSp>
        <p:nvCxnSpPr>
          <p:cNvPr id="6" name="Connector 5"/>
          <p:cNvCxnSpPr/>
          <p:nvPr/>
        </p:nvCxnSpPr>
        <p:spPr>
          <a:xfrm>
            <a:off x="1490472" y="1600200"/>
            <a:ext cx="0" cy="3794760"/>
          </a:xfrm>
          <a:prstGeom prst="line">
            <a:avLst/>
          </a:prstGeom>
          <a:ln w="15875">
            <a:solidFill>
              <a:srgbClr val="BBC4CC"/>
            </a:solidFill>
          </a:ln>
        </p:spPr>
      </p:cxnSp>
      <p:cxnSp>
        <p:nvCxnSpPr>
          <p:cNvPr id="72" name="Connector 72"/>
          <p:cNvCxnSpPr/>
          <p:nvPr/>
        </p:nvCxnSpPr>
        <p:spPr>
          <a:xfrm>
            <a:off x="1490472" y="5394960"/>
            <a:ext cx="5669280" cy="0"/>
          </a:xfrm>
          <a:prstGeom prst="line">
            <a:avLst/>
          </a:prstGeom>
          <a:ln w="9525">
            <a:solidFill>
              <a:srgbClr val="DDE3E8"/>
            </a:solidFill>
          </a:ln>
        </p:spPr>
      </p:cxnSp>
      <p:sp>
        <p:nvSpPr>
          <p:cNvPr id="73" name="TextBox 73"/>
          <p:cNvSpPr txBox="1"/>
          <p:nvPr/>
        </p:nvSpPr>
        <p:spPr>
          <a:xfrm>
            <a:off x="804671" y="5257800"/>
            <a:ext cx="621792" cy="274320"/>
          </a:xfrm>
          <a:prstGeom prst="rect">
            <a:avLst/>
          </a:prstGeom>
          <a:noFill/>
        </p:spPr>
        <p:txBody>
          <a:bodyPr wrap="square" lIns="0" tIns="0" rIns="0" bIns="0" anchor="t">
            <a:spAutoFit/>
          </a:bodyPr>
          <a:lstStyle/>
          <a:p>
            <a:pPr algn="r"/>
            <a:r>
              <a:rPr sz="1300" b="0" i="0">
                <a:solidFill>
                  <a:srgbClr val="55606B"/>
                </a:solidFill>
              </a:rPr>
              <a:t>0</a:t>
            </a:r>
          </a:p>
        </p:txBody>
      </p:sp>
      <p:cxnSp>
        <p:nvCxnSpPr>
          <p:cNvPr id="74" name="Connector 74"/>
          <p:cNvCxnSpPr/>
          <p:nvPr/>
        </p:nvCxnSpPr>
        <p:spPr>
          <a:xfrm>
            <a:off x="1490472" y="4973320"/>
            <a:ext cx="5669280" cy="0"/>
          </a:xfrm>
          <a:prstGeom prst="line">
            <a:avLst/>
          </a:prstGeom>
          <a:ln w="9525">
            <a:solidFill>
              <a:srgbClr val="DDE3E8"/>
            </a:solidFill>
          </a:ln>
        </p:spPr>
      </p:cxnSp>
      <p:sp>
        <p:nvSpPr>
          <p:cNvPr id="75" name="TextBox 75"/>
          <p:cNvSpPr txBox="1"/>
          <p:nvPr/>
        </p:nvSpPr>
        <p:spPr>
          <a:xfrm>
            <a:off x="804671" y="4836160"/>
            <a:ext cx="621792" cy="274320"/>
          </a:xfrm>
          <a:prstGeom prst="rect">
            <a:avLst/>
          </a:prstGeom>
          <a:noFill/>
        </p:spPr>
        <p:txBody>
          <a:bodyPr wrap="square" lIns="0" tIns="0" rIns="0" bIns="0" anchor="t">
            <a:spAutoFit/>
          </a:bodyPr>
          <a:lstStyle/>
          <a:p>
            <a:pPr algn="r"/>
            <a:r>
              <a:rPr sz="1300" b="0" i="0">
                <a:solidFill>
                  <a:srgbClr val="55606B"/>
                </a:solidFill>
              </a:rPr>
              <a:t>1</a:t>
            </a:r>
          </a:p>
        </p:txBody>
      </p:sp>
      <p:cxnSp>
        <p:nvCxnSpPr>
          <p:cNvPr id="76" name="Connector 76"/>
          <p:cNvCxnSpPr/>
          <p:nvPr/>
        </p:nvCxnSpPr>
        <p:spPr>
          <a:xfrm>
            <a:off x="1490472" y="4551680"/>
            <a:ext cx="5669280" cy="0"/>
          </a:xfrm>
          <a:prstGeom prst="line">
            <a:avLst/>
          </a:prstGeom>
          <a:ln w="9525">
            <a:solidFill>
              <a:srgbClr val="DDE3E8"/>
            </a:solidFill>
          </a:ln>
        </p:spPr>
      </p:cxnSp>
      <p:sp>
        <p:nvSpPr>
          <p:cNvPr id="77" name="TextBox 77"/>
          <p:cNvSpPr txBox="1"/>
          <p:nvPr/>
        </p:nvSpPr>
        <p:spPr>
          <a:xfrm>
            <a:off x="804671" y="4414520"/>
            <a:ext cx="621792" cy="274320"/>
          </a:xfrm>
          <a:prstGeom prst="rect">
            <a:avLst/>
          </a:prstGeom>
          <a:noFill/>
        </p:spPr>
        <p:txBody>
          <a:bodyPr wrap="square" lIns="0" tIns="0" rIns="0" bIns="0" anchor="t">
            <a:spAutoFit/>
          </a:bodyPr>
          <a:lstStyle/>
          <a:p>
            <a:pPr algn="r"/>
            <a:r>
              <a:rPr sz="1300" b="0" i="0">
                <a:solidFill>
                  <a:srgbClr val="55606B"/>
                </a:solidFill>
              </a:rPr>
              <a:t>2</a:t>
            </a:r>
          </a:p>
        </p:txBody>
      </p:sp>
      <p:cxnSp>
        <p:nvCxnSpPr>
          <p:cNvPr id="78" name="Connector 78"/>
          <p:cNvCxnSpPr/>
          <p:nvPr/>
        </p:nvCxnSpPr>
        <p:spPr>
          <a:xfrm>
            <a:off x="1490472" y="4130040"/>
            <a:ext cx="5669280" cy="0"/>
          </a:xfrm>
          <a:prstGeom prst="line">
            <a:avLst/>
          </a:prstGeom>
          <a:ln w="9525">
            <a:solidFill>
              <a:srgbClr val="DDE3E8"/>
            </a:solidFill>
          </a:ln>
        </p:spPr>
      </p:cxnSp>
      <p:sp>
        <p:nvSpPr>
          <p:cNvPr id="79" name="TextBox 79"/>
          <p:cNvSpPr txBox="1"/>
          <p:nvPr/>
        </p:nvSpPr>
        <p:spPr>
          <a:xfrm>
            <a:off x="804671" y="3992880"/>
            <a:ext cx="621792" cy="274320"/>
          </a:xfrm>
          <a:prstGeom prst="rect">
            <a:avLst/>
          </a:prstGeom>
          <a:noFill/>
        </p:spPr>
        <p:txBody>
          <a:bodyPr wrap="square" lIns="0" tIns="0" rIns="0" bIns="0" anchor="t">
            <a:spAutoFit/>
          </a:bodyPr>
          <a:lstStyle/>
          <a:p>
            <a:pPr algn="r"/>
            <a:r>
              <a:rPr sz="1300" b="0" i="0">
                <a:solidFill>
                  <a:srgbClr val="55606B"/>
                </a:solidFill>
              </a:rPr>
              <a:t>3</a:t>
            </a:r>
          </a:p>
        </p:txBody>
      </p:sp>
      <p:cxnSp>
        <p:nvCxnSpPr>
          <p:cNvPr id="80" name="Connector 80"/>
          <p:cNvCxnSpPr/>
          <p:nvPr/>
        </p:nvCxnSpPr>
        <p:spPr>
          <a:xfrm>
            <a:off x="1490472" y="3708400"/>
            <a:ext cx="5669280" cy="0"/>
          </a:xfrm>
          <a:prstGeom prst="line">
            <a:avLst/>
          </a:prstGeom>
          <a:ln w="9525">
            <a:solidFill>
              <a:srgbClr val="DDE3E8"/>
            </a:solidFill>
          </a:ln>
        </p:spPr>
      </p:cxnSp>
      <p:sp>
        <p:nvSpPr>
          <p:cNvPr id="81" name="TextBox 81"/>
          <p:cNvSpPr txBox="1"/>
          <p:nvPr/>
        </p:nvSpPr>
        <p:spPr>
          <a:xfrm>
            <a:off x="804671" y="3571240"/>
            <a:ext cx="621792" cy="274320"/>
          </a:xfrm>
          <a:prstGeom prst="rect">
            <a:avLst/>
          </a:prstGeom>
          <a:noFill/>
        </p:spPr>
        <p:txBody>
          <a:bodyPr wrap="square" lIns="0" tIns="0" rIns="0" bIns="0" anchor="t">
            <a:spAutoFit/>
          </a:bodyPr>
          <a:lstStyle/>
          <a:p>
            <a:pPr algn="r"/>
            <a:r>
              <a:rPr sz="1300" b="0" i="0">
                <a:solidFill>
                  <a:srgbClr val="55606B"/>
                </a:solidFill>
              </a:rPr>
              <a:t>4</a:t>
            </a:r>
          </a:p>
        </p:txBody>
      </p:sp>
      <p:cxnSp>
        <p:nvCxnSpPr>
          <p:cNvPr id="82" name="Connector 82"/>
          <p:cNvCxnSpPr/>
          <p:nvPr/>
        </p:nvCxnSpPr>
        <p:spPr>
          <a:xfrm>
            <a:off x="1490472" y="3286760"/>
            <a:ext cx="5669280" cy="0"/>
          </a:xfrm>
          <a:prstGeom prst="line">
            <a:avLst/>
          </a:prstGeom>
          <a:ln w="9525">
            <a:solidFill>
              <a:srgbClr val="DDE3E8"/>
            </a:solidFill>
          </a:ln>
        </p:spPr>
      </p:cxnSp>
      <p:sp>
        <p:nvSpPr>
          <p:cNvPr id="83" name="TextBox 83"/>
          <p:cNvSpPr txBox="1"/>
          <p:nvPr/>
        </p:nvSpPr>
        <p:spPr>
          <a:xfrm>
            <a:off x="804671" y="3149600"/>
            <a:ext cx="621792" cy="274320"/>
          </a:xfrm>
          <a:prstGeom prst="rect">
            <a:avLst/>
          </a:prstGeom>
          <a:noFill/>
        </p:spPr>
        <p:txBody>
          <a:bodyPr wrap="square" lIns="0" tIns="0" rIns="0" bIns="0" anchor="t">
            <a:spAutoFit/>
          </a:bodyPr>
          <a:lstStyle/>
          <a:p>
            <a:pPr algn="r"/>
            <a:r>
              <a:rPr sz="1300" b="0" i="0">
                <a:solidFill>
                  <a:srgbClr val="55606B"/>
                </a:solidFill>
              </a:rPr>
              <a:t>5</a:t>
            </a:r>
          </a:p>
        </p:txBody>
      </p:sp>
      <p:cxnSp>
        <p:nvCxnSpPr>
          <p:cNvPr id="84" name="Connector 84"/>
          <p:cNvCxnSpPr/>
          <p:nvPr/>
        </p:nvCxnSpPr>
        <p:spPr>
          <a:xfrm>
            <a:off x="1490472" y="2865120"/>
            <a:ext cx="5669280" cy="0"/>
          </a:xfrm>
          <a:prstGeom prst="line">
            <a:avLst/>
          </a:prstGeom>
          <a:ln w="9525">
            <a:solidFill>
              <a:srgbClr val="DDE3E8"/>
            </a:solidFill>
          </a:ln>
        </p:spPr>
      </p:cxnSp>
      <p:sp>
        <p:nvSpPr>
          <p:cNvPr id="85" name="TextBox 85"/>
          <p:cNvSpPr txBox="1"/>
          <p:nvPr/>
        </p:nvSpPr>
        <p:spPr>
          <a:xfrm>
            <a:off x="804671" y="2727960"/>
            <a:ext cx="621792" cy="274320"/>
          </a:xfrm>
          <a:prstGeom prst="rect">
            <a:avLst/>
          </a:prstGeom>
          <a:noFill/>
        </p:spPr>
        <p:txBody>
          <a:bodyPr wrap="square" lIns="0" tIns="0" rIns="0" bIns="0" anchor="t">
            <a:spAutoFit/>
          </a:bodyPr>
          <a:lstStyle/>
          <a:p>
            <a:pPr algn="r"/>
            <a:r>
              <a:rPr sz="1300" b="0" i="0">
                <a:solidFill>
                  <a:srgbClr val="55606B"/>
                </a:solidFill>
              </a:rPr>
              <a:t>6</a:t>
            </a:r>
          </a:p>
        </p:txBody>
      </p:sp>
      <p:cxnSp>
        <p:nvCxnSpPr>
          <p:cNvPr id="86" name="Connector 86"/>
          <p:cNvCxnSpPr/>
          <p:nvPr/>
        </p:nvCxnSpPr>
        <p:spPr>
          <a:xfrm>
            <a:off x="1490472" y="2443480"/>
            <a:ext cx="5669280" cy="0"/>
          </a:xfrm>
          <a:prstGeom prst="line">
            <a:avLst/>
          </a:prstGeom>
          <a:ln w="9525">
            <a:solidFill>
              <a:srgbClr val="DDE3E8"/>
            </a:solidFill>
          </a:ln>
        </p:spPr>
      </p:cxnSp>
      <p:sp>
        <p:nvSpPr>
          <p:cNvPr id="87" name="TextBox 87"/>
          <p:cNvSpPr txBox="1"/>
          <p:nvPr/>
        </p:nvSpPr>
        <p:spPr>
          <a:xfrm>
            <a:off x="804671" y="2306320"/>
            <a:ext cx="621792" cy="274320"/>
          </a:xfrm>
          <a:prstGeom prst="rect">
            <a:avLst/>
          </a:prstGeom>
          <a:noFill/>
        </p:spPr>
        <p:txBody>
          <a:bodyPr wrap="square" lIns="0" tIns="0" rIns="0" bIns="0" anchor="t">
            <a:spAutoFit/>
          </a:bodyPr>
          <a:lstStyle/>
          <a:p>
            <a:pPr algn="r"/>
            <a:r>
              <a:rPr sz="1300" b="0" i="0">
                <a:solidFill>
                  <a:srgbClr val="55606B"/>
                </a:solidFill>
              </a:rPr>
              <a:t>7</a:t>
            </a:r>
          </a:p>
        </p:txBody>
      </p:sp>
      <p:cxnSp>
        <p:nvCxnSpPr>
          <p:cNvPr id="88" name="Connector 88"/>
          <p:cNvCxnSpPr/>
          <p:nvPr/>
        </p:nvCxnSpPr>
        <p:spPr>
          <a:xfrm>
            <a:off x="1490472" y="2021840"/>
            <a:ext cx="5669280" cy="0"/>
          </a:xfrm>
          <a:prstGeom prst="line">
            <a:avLst/>
          </a:prstGeom>
          <a:ln w="9525">
            <a:solidFill>
              <a:srgbClr val="DDE3E8"/>
            </a:solidFill>
          </a:ln>
        </p:spPr>
      </p:cxnSp>
      <p:sp>
        <p:nvSpPr>
          <p:cNvPr id="89" name="TextBox 89"/>
          <p:cNvSpPr txBox="1"/>
          <p:nvPr/>
        </p:nvSpPr>
        <p:spPr>
          <a:xfrm>
            <a:off x="804671" y="1884680"/>
            <a:ext cx="621792" cy="274320"/>
          </a:xfrm>
          <a:prstGeom prst="rect">
            <a:avLst/>
          </a:prstGeom>
          <a:noFill/>
        </p:spPr>
        <p:txBody>
          <a:bodyPr wrap="square" lIns="0" tIns="0" rIns="0" bIns="0" anchor="t">
            <a:spAutoFit/>
          </a:bodyPr>
          <a:lstStyle/>
          <a:p>
            <a:pPr algn="r"/>
            <a:r>
              <a:rPr sz="1300" b="0" i="0">
                <a:solidFill>
                  <a:srgbClr val="55606B"/>
                </a:solidFill>
              </a:rPr>
              <a:t>8</a:t>
            </a:r>
          </a:p>
        </p:txBody>
      </p:sp>
      <p:cxnSp>
        <p:nvCxnSpPr>
          <p:cNvPr id="90" name="Connector 90"/>
          <p:cNvCxnSpPr/>
          <p:nvPr/>
        </p:nvCxnSpPr>
        <p:spPr>
          <a:xfrm>
            <a:off x="1490472" y="1600200"/>
            <a:ext cx="5669280" cy="0"/>
          </a:xfrm>
          <a:prstGeom prst="line">
            <a:avLst/>
          </a:prstGeom>
          <a:ln w="9525">
            <a:solidFill>
              <a:srgbClr val="DDE3E8"/>
            </a:solidFill>
          </a:ln>
        </p:spPr>
      </p:cxnSp>
      <p:sp>
        <p:nvSpPr>
          <p:cNvPr id="91" name="TextBox 91"/>
          <p:cNvSpPr txBox="1"/>
          <p:nvPr/>
        </p:nvSpPr>
        <p:spPr>
          <a:xfrm>
            <a:off x="804671" y="1463040"/>
            <a:ext cx="621792" cy="274320"/>
          </a:xfrm>
          <a:prstGeom prst="rect">
            <a:avLst/>
          </a:prstGeom>
          <a:noFill/>
        </p:spPr>
        <p:txBody>
          <a:bodyPr wrap="square" lIns="0" tIns="0" rIns="0" bIns="0" anchor="t">
            <a:spAutoFit/>
          </a:bodyPr>
          <a:lstStyle/>
          <a:p>
            <a:pPr algn="r"/>
            <a:r>
              <a:rPr sz="1300" b="0" i="0">
                <a:solidFill>
                  <a:srgbClr val="55606B"/>
                </a:solidFill>
              </a:rPr>
              <a:t>9</a:t>
            </a:r>
          </a:p>
        </p:txBody>
      </p:sp>
      <p:cxnSp>
        <p:nvCxnSpPr>
          <p:cNvPr id="92" name="Connector 92"/>
          <p:cNvCxnSpPr/>
          <p:nvPr/>
        </p:nvCxnSpPr>
        <p:spPr>
          <a:xfrm>
            <a:off x="1490472" y="5394960"/>
            <a:ext cx="0" cy="64008"/>
          </a:xfrm>
          <a:prstGeom prst="line">
            <a:avLst/>
          </a:prstGeom>
          <a:ln w="15875">
            <a:solidFill>
              <a:srgbClr val="BBC4CC"/>
            </a:solidFill>
          </a:ln>
        </p:spPr>
      </p:cxnSp>
      <p:sp>
        <p:nvSpPr>
          <p:cNvPr id="93" name="TextBox 93"/>
          <p:cNvSpPr txBox="1"/>
          <p:nvPr/>
        </p:nvSpPr>
        <p:spPr>
          <a:xfrm>
            <a:off x="941831" y="5468112"/>
            <a:ext cx="1097280" cy="274320"/>
          </a:xfrm>
          <a:prstGeom prst="rect">
            <a:avLst/>
          </a:prstGeom>
          <a:noFill/>
        </p:spPr>
        <p:txBody>
          <a:bodyPr wrap="square" lIns="0" tIns="0" rIns="0" bIns="0" anchor="t">
            <a:spAutoFit/>
          </a:bodyPr>
          <a:lstStyle/>
          <a:p>
            <a:pPr algn="ctr"/>
            <a:r>
              <a:rPr sz="1300" b="0" i="0">
                <a:solidFill>
                  <a:srgbClr val="55606B"/>
                </a:solidFill>
              </a:rPr>
              <a:t>0</a:t>
            </a:r>
          </a:p>
        </p:txBody>
      </p:sp>
      <p:cxnSp>
        <p:nvCxnSpPr>
          <p:cNvPr id="94" name="Connector 94"/>
          <p:cNvCxnSpPr/>
          <p:nvPr/>
        </p:nvCxnSpPr>
        <p:spPr>
          <a:xfrm>
            <a:off x="2030403" y="5394960"/>
            <a:ext cx="0" cy="64008"/>
          </a:xfrm>
          <a:prstGeom prst="line">
            <a:avLst/>
          </a:prstGeom>
          <a:ln w="15875">
            <a:solidFill>
              <a:srgbClr val="BBC4CC"/>
            </a:solidFill>
          </a:ln>
        </p:spPr>
      </p:cxnSp>
      <p:sp>
        <p:nvSpPr>
          <p:cNvPr id="95" name="TextBox 95"/>
          <p:cNvSpPr txBox="1"/>
          <p:nvPr/>
        </p:nvSpPr>
        <p:spPr>
          <a:xfrm>
            <a:off x="1481762" y="5468112"/>
            <a:ext cx="1097280" cy="274320"/>
          </a:xfrm>
          <a:prstGeom prst="rect">
            <a:avLst/>
          </a:prstGeom>
          <a:noFill/>
        </p:spPr>
        <p:txBody>
          <a:bodyPr wrap="square" lIns="0" tIns="0" rIns="0" bIns="0" anchor="t">
            <a:spAutoFit/>
          </a:bodyPr>
          <a:lstStyle/>
          <a:p>
            <a:pPr algn="ctr"/>
            <a:r>
              <a:rPr sz="1300" b="0" i="0">
                <a:solidFill>
                  <a:srgbClr val="55606B"/>
                </a:solidFill>
              </a:rPr>
              <a:t>2</a:t>
            </a:r>
          </a:p>
        </p:txBody>
      </p:sp>
      <p:cxnSp>
        <p:nvCxnSpPr>
          <p:cNvPr id="96" name="Connector 96"/>
          <p:cNvCxnSpPr/>
          <p:nvPr/>
        </p:nvCxnSpPr>
        <p:spPr>
          <a:xfrm>
            <a:off x="2570335" y="5394960"/>
            <a:ext cx="0" cy="64008"/>
          </a:xfrm>
          <a:prstGeom prst="line">
            <a:avLst/>
          </a:prstGeom>
          <a:ln w="15875">
            <a:solidFill>
              <a:srgbClr val="BBC4CC"/>
            </a:solidFill>
          </a:ln>
        </p:spPr>
      </p:cxnSp>
      <p:sp>
        <p:nvSpPr>
          <p:cNvPr id="97" name="TextBox 97"/>
          <p:cNvSpPr txBox="1"/>
          <p:nvPr/>
        </p:nvSpPr>
        <p:spPr>
          <a:xfrm>
            <a:off x="2021694" y="5468112"/>
            <a:ext cx="1097280" cy="274320"/>
          </a:xfrm>
          <a:prstGeom prst="rect">
            <a:avLst/>
          </a:prstGeom>
          <a:noFill/>
        </p:spPr>
        <p:txBody>
          <a:bodyPr wrap="square" lIns="0" tIns="0" rIns="0" bIns="0" anchor="t">
            <a:spAutoFit/>
          </a:bodyPr>
          <a:lstStyle/>
          <a:p>
            <a:pPr algn="ctr"/>
            <a:r>
              <a:rPr sz="1300" b="0" i="0">
                <a:solidFill>
                  <a:srgbClr val="55606B"/>
                </a:solidFill>
              </a:rPr>
              <a:t>4</a:t>
            </a:r>
          </a:p>
        </p:txBody>
      </p:sp>
      <p:cxnSp>
        <p:nvCxnSpPr>
          <p:cNvPr id="98" name="Connector 98"/>
          <p:cNvCxnSpPr/>
          <p:nvPr/>
        </p:nvCxnSpPr>
        <p:spPr>
          <a:xfrm>
            <a:off x="3110266" y="5394960"/>
            <a:ext cx="0" cy="64008"/>
          </a:xfrm>
          <a:prstGeom prst="line">
            <a:avLst/>
          </a:prstGeom>
          <a:ln w="15875">
            <a:solidFill>
              <a:srgbClr val="BBC4CC"/>
            </a:solidFill>
          </a:ln>
        </p:spPr>
      </p:cxnSp>
      <p:sp>
        <p:nvSpPr>
          <p:cNvPr id="99" name="TextBox 99"/>
          <p:cNvSpPr txBox="1"/>
          <p:nvPr/>
        </p:nvSpPr>
        <p:spPr>
          <a:xfrm>
            <a:off x="2561625" y="5468112"/>
            <a:ext cx="1097280" cy="274320"/>
          </a:xfrm>
          <a:prstGeom prst="rect">
            <a:avLst/>
          </a:prstGeom>
          <a:noFill/>
        </p:spPr>
        <p:txBody>
          <a:bodyPr wrap="square" lIns="0" tIns="0" rIns="0" bIns="0" anchor="t">
            <a:spAutoFit/>
          </a:bodyPr>
          <a:lstStyle/>
          <a:p>
            <a:pPr algn="ctr"/>
            <a:r>
              <a:rPr sz="1300" b="0" i="0">
                <a:solidFill>
                  <a:srgbClr val="55606B"/>
                </a:solidFill>
              </a:rPr>
              <a:t>6</a:t>
            </a:r>
          </a:p>
        </p:txBody>
      </p:sp>
      <p:cxnSp>
        <p:nvCxnSpPr>
          <p:cNvPr id="100" name="Connector 100"/>
          <p:cNvCxnSpPr/>
          <p:nvPr/>
        </p:nvCxnSpPr>
        <p:spPr>
          <a:xfrm>
            <a:off x="3650198" y="5394960"/>
            <a:ext cx="0" cy="64008"/>
          </a:xfrm>
          <a:prstGeom prst="line">
            <a:avLst/>
          </a:prstGeom>
          <a:ln w="15875">
            <a:solidFill>
              <a:srgbClr val="BBC4CC"/>
            </a:solidFill>
          </a:ln>
        </p:spPr>
      </p:cxnSp>
      <p:sp>
        <p:nvSpPr>
          <p:cNvPr id="101" name="TextBox 101"/>
          <p:cNvSpPr txBox="1"/>
          <p:nvPr/>
        </p:nvSpPr>
        <p:spPr>
          <a:xfrm>
            <a:off x="3101557" y="5468112"/>
            <a:ext cx="1097280" cy="274320"/>
          </a:xfrm>
          <a:prstGeom prst="rect">
            <a:avLst/>
          </a:prstGeom>
          <a:noFill/>
        </p:spPr>
        <p:txBody>
          <a:bodyPr wrap="square" lIns="0" tIns="0" rIns="0" bIns="0" anchor="t">
            <a:spAutoFit/>
          </a:bodyPr>
          <a:lstStyle/>
          <a:p>
            <a:pPr algn="ctr"/>
            <a:r>
              <a:rPr sz="1300" b="0" i="0">
                <a:solidFill>
                  <a:srgbClr val="55606B"/>
                </a:solidFill>
              </a:rPr>
              <a:t>8</a:t>
            </a:r>
          </a:p>
        </p:txBody>
      </p:sp>
      <p:cxnSp>
        <p:nvCxnSpPr>
          <p:cNvPr id="102" name="Connector 102"/>
          <p:cNvCxnSpPr/>
          <p:nvPr/>
        </p:nvCxnSpPr>
        <p:spPr>
          <a:xfrm>
            <a:off x="4190129" y="5394960"/>
            <a:ext cx="0" cy="64008"/>
          </a:xfrm>
          <a:prstGeom prst="line">
            <a:avLst/>
          </a:prstGeom>
          <a:ln w="15875">
            <a:solidFill>
              <a:srgbClr val="BBC4CC"/>
            </a:solidFill>
          </a:ln>
        </p:spPr>
      </p:cxnSp>
      <p:sp>
        <p:nvSpPr>
          <p:cNvPr id="103" name="TextBox 103"/>
          <p:cNvSpPr txBox="1"/>
          <p:nvPr/>
        </p:nvSpPr>
        <p:spPr>
          <a:xfrm>
            <a:off x="3641488" y="5468112"/>
            <a:ext cx="1097280" cy="274320"/>
          </a:xfrm>
          <a:prstGeom prst="rect">
            <a:avLst/>
          </a:prstGeom>
          <a:noFill/>
        </p:spPr>
        <p:txBody>
          <a:bodyPr wrap="square" lIns="0" tIns="0" rIns="0" bIns="0" anchor="t">
            <a:spAutoFit/>
          </a:bodyPr>
          <a:lstStyle/>
          <a:p>
            <a:pPr algn="ctr"/>
            <a:r>
              <a:rPr sz="1300" b="0" i="0">
                <a:solidFill>
                  <a:srgbClr val="55606B"/>
                </a:solidFill>
              </a:rPr>
              <a:t>10</a:t>
            </a:r>
          </a:p>
        </p:txBody>
      </p:sp>
      <p:cxnSp>
        <p:nvCxnSpPr>
          <p:cNvPr id="104" name="Connector 104"/>
          <p:cNvCxnSpPr/>
          <p:nvPr/>
        </p:nvCxnSpPr>
        <p:spPr>
          <a:xfrm>
            <a:off x="4730061" y="5394960"/>
            <a:ext cx="0" cy="64008"/>
          </a:xfrm>
          <a:prstGeom prst="line">
            <a:avLst/>
          </a:prstGeom>
          <a:ln w="15875">
            <a:solidFill>
              <a:srgbClr val="BBC4CC"/>
            </a:solidFill>
          </a:ln>
        </p:spPr>
      </p:cxnSp>
      <p:sp>
        <p:nvSpPr>
          <p:cNvPr id="105" name="TextBox 105"/>
          <p:cNvSpPr txBox="1"/>
          <p:nvPr/>
        </p:nvSpPr>
        <p:spPr>
          <a:xfrm>
            <a:off x="4181420" y="5468112"/>
            <a:ext cx="1097280" cy="274320"/>
          </a:xfrm>
          <a:prstGeom prst="rect">
            <a:avLst/>
          </a:prstGeom>
          <a:noFill/>
        </p:spPr>
        <p:txBody>
          <a:bodyPr wrap="square" lIns="0" tIns="0" rIns="0" bIns="0" anchor="t">
            <a:spAutoFit/>
          </a:bodyPr>
          <a:lstStyle/>
          <a:p>
            <a:pPr algn="ctr"/>
            <a:r>
              <a:rPr sz="1300" b="0" i="0">
                <a:solidFill>
                  <a:srgbClr val="55606B"/>
                </a:solidFill>
              </a:rPr>
              <a:t>12</a:t>
            </a:r>
          </a:p>
        </p:txBody>
      </p:sp>
      <p:cxnSp>
        <p:nvCxnSpPr>
          <p:cNvPr id="106" name="Connector 106"/>
          <p:cNvCxnSpPr/>
          <p:nvPr/>
        </p:nvCxnSpPr>
        <p:spPr>
          <a:xfrm>
            <a:off x="5269992" y="5394960"/>
            <a:ext cx="0" cy="64008"/>
          </a:xfrm>
          <a:prstGeom prst="line">
            <a:avLst/>
          </a:prstGeom>
          <a:ln w="15875">
            <a:solidFill>
              <a:srgbClr val="BBC4CC"/>
            </a:solidFill>
          </a:ln>
        </p:spPr>
      </p:cxnSp>
      <p:sp>
        <p:nvSpPr>
          <p:cNvPr id="107" name="TextBox 107"/>
          <p:cNvSpPr txBox="1"/>
          <p:nvPr/>
        </p:nvSpPr>
        <p:spPr>
          <a:xfrm>
            <a:off x="4721351" y="5468112"/>
            <a:ext cx="1097280" cy="274320"/>
          </a:xfrm>
          <a:prstGeom prst="rect">
            <a:avLst/>
          </a:prstGeom>
          <a:noFill/>
        </p:spPr>
        <p:txBody>
          <a:bodyPr wrap="square" lIns="0" tIns="0" rIns="0" bIns="0" anchor="t">
            <a:spAutoFit/>
          </a:bodyPr>
          <a:lstStyle/>
          <a:p>
            <a:pPr algn="ctr"/>
            <a:r>
              <a:rPr sz="1300" b="0" i="0">
                <a:solidFill>
                  <a:srgbClr val="55606B"/>
                </a:solidFill>
              </a:rPr>
              <a:t>14</a:t>
            </a:r>
          </a:p>
        </p:txBody>
      </p:sp>
      <p:cxnSp>
        <p:nvCxnSpPr>
          <p:cNvPr id="108" name="Connector 108"/>
          <p:cNvCxnSpPr/>
          <p:nvPr/>
        </p:nvCxnSpPr>
        <p:spPr>
          <a:xfrm>
            <a:off x="5809923" y="5394960"/>
            <a:ext cx="0" cy="64008"/>
          </a:xfrm>
          <a:prstGeom prst="line">
            <a:avLst/>
          </a:prstGeom>
          <a:ln w="15875">
            <a:solidFill>
              <a:srgbClr val="BBC4CC"/>
            </a:solidFill>
          </a:ln>
        </p:spPr>
      </p:cxnSp>
      <p:sp>
        <p:nvSpPr>
          <p:cNvPr id="109" name="TextBox 109"/>
          <p:cNvSpPr txBox="1"/>
          <p:nvPr/>
        </p:nvSpPr>
        <p:spPr>
          <a:xfrm>
            <a:off x="5261282" y="5468112"/>
            <a:ext cx="1097280" cy="274320"/>
          </a:xfrm>
          <a:prstGeom prst="rect">
            <a:avLst/>
          </a:prstGeom>
          <a:noFill/>
        </p:spPr>
        <p:txBody>
          <a:bodyPr wrap="square" lIns="0" tIns="0" rIns="0" bIns="0" anchor="t">
            <a:spAutoFit/>
          </a:bodyPr>
          <a:lstStyle/>
          <a:p>
            <a:pPr algn="ctr"/>
            <a:r>
              <a:rPr sz="1300" b="0" i="0">
                <a:solidFill>
                  <a:srgbClr val="55606B"/>
                </a:solidFill>
              </a:rPr>
              <a:t>16</a:t>
            </a:r>
          </a:p>
        </p:txBody>
      </p:sp>
      <p:cxnSp>
        <p:nvCxnSpPr>
          <p:cNvPr id="110" name="Connector 110"/>
          <p:cNvCxnSpPr/>
          <p:nvPr/>
        </p:nvCxnSpPr>
        <p:spPr>
          <a:xfrm>
            <a:off x="6349855" y="5394960"/>
            <a:ext cx="0" cy="64008"/>
          </a:xfrm>
          <a:prstGeom prst="line">
            <a:avLst/>
          </a:prstGeom>
          <a:ln w="15875">
            <a:solidFill>
              <a:srgbClr val="BBC4CC"/>
            </a:solidFill>
          </a:ln>
        </p:spPr>
      </p:cxnSp>
      <p:sp>
        <p:nvSpPr>
          <p:cNvPr id="111" name="TextBox 111"/>
          <p:cNvSpPr txBox="1"/>
          <p:nvPr/>
        </p:nvSpPr>
        <p:spPr>
          <a:xfrm>
            <a:off x="5801214" y="5468112"/>
            <a:ext cx="1097280" cy="274320"/>
          </a:xfrm>
          <a:prstGeom prst="rect">
            <a:avLst/>
          </a:prstGeom>
          <a:noFill/>
        </p:spPr>
        <p:txBody>
          <a:bodyPr wrap="square" lIns="0" tIns="0" rIns="0" bIns="0" anchor="t">
            <a:spAutoFit/>
          </a:bodyPr>
          <a:lstStyle/>
          <a:p>
            <a:pPr algn="ctr"/>
            <a:r>
              <a:rPr sz="1300" b="0" i="0">
                <a:solidFill>
                  <a:srgbClr val="55606B"/>
                </a:solidFill>
              </a:rPr>
              <a:t>18</a:t>
            </a:r>
          </a:p>
        </p:txBody>
      </p:sp>
      <p:cxnSp>
        <p:nvCxnSpPr>
          <p:cNvPr id="112" name="Connector 112"/>
          <p:cNvCxnSpPr/>
          <p:nvPr/>
        </p:nvCxnSpPr>
        <p:spPr>
          <a:xfrm>
            <a:off x="6889786" y="5394960"/>
            <a:ext cx="0" cy="64008"/>
          </a:xfrm>
          <a:prstGeom prst="line">
            <a:avLst/>
          </a:prstGeom>
          <a:ln w="15875">
            <a:solidFill>
              <a:srgbClr val="BBC4CC"/>
            </a:solidFill>
          </a:ln>
        </p:spPr>
      </p:cxnSp>
      <p:sp>
        <p:nvSpPr>
          <p:cNvPr id="113" name="TextBox 113"/>
          <p:cNvSpPr txBox="1"/>
          <p:nvPr/>
        </p:nvSpPr>
        <p:spPr>
          <a:xfrm>
            <a:off x="6341145" y="5468112"/>
            <a:ext cx="1097280" cy="274320"/>
          </a:xfrm>
          <a:prstGeom prst="rect">
            <a:avLst/>
          </a:prstGeom>
          <a:noFill/>
        </p:spPr>
        <p:txBody>
          <a:bodyPr wrap="square" lIns="0" tIns="0" rIns="0" bIns="0" anchor="t">
            <a:spAutoFit/>
          </a:bodyPr>
          <a:lstStyle/>
          <a:p>
            <a:pPr algn="ctr"/>
            <a:r>
              <a:rPr sz="1300" b="0" i="0">
                <a:solidFill>
                  <a:srgbClr val="55606B"/>
                </a:solidFill>
              </a:rPr>
              <a:t>20</a:t>
            </a:r>
          </a:p>
        </p:txBody>
      </p:sp>
      <p:sp>
        <p:nvSpPr>
          <p:cNvPr id="23" name="TextBox 22"/>
          <p:cNvSpPr txBox="1"/>
          <p:nvPr/>
        </p:nvSpPr>
        <p:spPr>
          <a:xfrm>
            <a:off x="758952" y="5669280"/>
            <a:ext cx="3657600" cy="274320"/>
          </a:xfrm>
          <a:prstGeom prst="rect">
            <a:avLst/>
          </a:prstGeom>
          <a:noFill/>
        </p:spPr>
        <p:txBody>
          <a:bodyPr wrap="square" lIns="0" tIns="0" rIns="0" bIns="0" anchor="t">
            <a:spAutoFit/>
          </a:bodyPr>
          <a:lstStyle/>
          <a:p>
            <a:pPr algn="l"/>
            <a:r>
              <a:rPr sz="1300" b="0" i="0">
                <a:solidFill>
                  <a:srgbClr val="55606B"/>
                </a:solidFill>
              </a:rPr>
              <a:t>y-axis: trust (0 to 10)</a:t>
            </a:r>
          </a:p>
        </p:txBody>
      </p:sp>
      <p:cxnSp>
        <p:nvCxnSpPr>
          <p:cNvPr id="24" name="Connector 23"/>
          <p:cNvCxnSpPr/>
          <p:nvPr/>
        </p:nvCxnSpPr>
        <p:spPr>
          <a:xfrm>
            <a:off x="1490472" y="5394960"/>
            <a:ext cx="5669280" cy="0"/>
          </a:xfrm>
          <a:prstGeom prst="line">
            <a:avLst/>
          </a:prstGeom>
          <a:ln w="15875">
            <a:solidFill>
              <a:srgbClr val="BBC4CC"/>
            </a:solidFill>
          </a:ln>
        </p:spPr>
      </p:cxnSp>
      <p:sp>
        <p:nvSpPr>
          <p:cNvPr id="39" name="TextBox 38"/>
          <p:cNvSpPr txBox="1"/>
          <p:nvPr/>
        </p:nvSpPr>
        <p:spPr>
          <a:xfrm>
            <a:off x="1490472" y="5742432"/>
            <a:ext cx="5669280" cy="274320"/>
          </a:xfrm>
          <a:prstGeom prst="rect">
            <a:avLst/>
          </a:prstGeom>
          <a:noFill/>
        </p:spPr>
        <p:txBody>
          <a:bodyPr wrap="square" lIns="0" tIns="0" rIns="0" bIns="0" anchor="t">
            <a:spAutoFit/>
          </a:bodyPr>
          <a:lstStyle/>
          <a:p>
            <a:pPr algn="ctr"/>
            <a:r>
              <a:rPr sz="1300" b="0" i="0">
                <a:solidFill>
                  <a:srgbClr val="55606B"/>
                </a:solidFill>
              </a:rPr>
              <a:t>Years of education</a:t>
            </a:r>
          </a:p>
        </p:txBody>
      </p:sp>
      <p:cxnSp>
        <p:nvCxnSpPr>
          <p:cNvPr id="40" name="Connector 39"/>
          <p:cNvCxnSpPr/>
          <p:nvPr/>
        </p:nvCxnSpPr>
        <p:spPr>
          <a:xfrm flipV="1">
            <a:off x="3920163" y="2327177"/>
            <a:ext cx="2969623" cy="1366970"/>
          </a:xfrm>
          <a:prstGeom prst="line">
            <a:avLst/>
          </a:prstGeom>
          <a:ln w="38100">
            <a:solidFill>
              <a:srgbClr val="1F394D"/>
            </a:solidFill>
          </a:ln>
        </p:spPr>
      </p:cxnSp>
      <p:cxnSp>
        <p:nvCxnSpPr>
          <p:cNvPr id="114" name="Connector 114"/>
          <p:cNvCxnSpPr/>
          <p:nvPr/>
        </p:nvCxnSpPr>
        <p:spPr>
          <a:xfrm flipV="1">
            <a:off x="1490472" y="3694147"/>
            <a:ext cx="2429691" cy="1118429"/>
          </a:xfrm>
          <a:prstGeom prst="line">
            <a:avLst/>
          </a:prstGeom>
          <a:ln w="28575">
            <a:solidFill>
              <a:srgbClr val="1F394D"/>
            </a:solidFill>
            <a:prstDash val="dash"/>
          </a:ln>
        </p:spPr>
      </p:cxnSp>
      <p:cxnSp>
        <p:nvCxnSpPr>
          <p:cNvPr id="41" name="Connector 40"/>
          <p:cNvCxnSpPr/>
          <p:nvPr/>
        </p:nvCxnSpPr>
        <p:spPr>
          <a:xfrm flipV="1">
            <a:off x="3920163" y="3694064"/>
            <a:ext cx="0" cy="267320"/>
          </a:xfrm>
          <a:prstGeom prst="line">
            <a:avLst/>
          </a:prstGeom>
          <a:ln w="25400">
            <a:solidFill>
              <a:srgbClr val="B88C00"/>
            </a:solidFill>
          </a:ln>
        </p:spPr>
      </p:cxnSp>
      <p:cxnSp>
        <p:nvCxnSpPr>
          <p:cNvPr id="42" name="Connector 41"/>
          <p:cNvCxnSpPr/>
          <p:nvPr/>
        </p:nvCxnSpPr>
        <p:spPr>
          <a:xfrm>
            <a:off x="4190129" y="3455415"/>
            <a:ext cx="0" cy="114265"/>
          </a:xfrm>
          <a:prstGeom prst="line">
            <a:avLst/>
          </a:prstGeom>
          <a:ln w="25400">
            <a:solidFill>
              <a:srgbClr val="B88C00"/>
            </a:solidFill>
          </a:ln>
        </p:spPr>
      </p:cxnSp>
      <p:cxnSp>
        <p:nvCxnSpPr>
          <p:cNvPr id="43" name="Connector 42"/>
          <p:cNvCxnSpPr/>
          <p:nvPr/>
        </p:nvCxnSpPr>
        <p:spPr>
          <a:xfrm>
            <a:off x="4460095" y="3328924"/>
            <a:ext cx="0" cy="116794"/>
          </a:xfrm>
          <a:prstGeom prst="line">
            <a:avLst/>
          </a:prstGeom>
          <a:ln w="25400">
            <a:solidFill>
              <a:srgbClr val="B88C00"/>
            </a:solidFill>
          </a:ln>
        </p:spPr>
      </p:cxnSp>
      <p:cxnSp>
        <p:nvCxnSpPr>
          <p:cNvPr id="44" name="Connector 43"/>
          <p:cNvCxnSpPr/>
          <p:nvPr/>
        </p:nvCxnSpPr>
        <p:spPr>
          <a:xfrm flipV="1">
            <a:off x="4460095" y="3445718"/>
            <a:ext cx="0" cy="262681"/>
          </a:xfrm>
          <a:prstGeom prst="line">
            <a:avLst/>
          </a:prstGeom>
          <a:ln w="25400">
            <a:solidFill>
              <a:srgbClr val="B88C00"/>
            </a:solidFill>
          </a:ln>
        </p:spPr>
      </p:cxnSp>
      <p:cxnSp>
        <p:nvCxnSpPr>
          <p:cNvPr id="45" name="Connector 44"/>
          <p:cNvCxnSpPr/>
          <p:nvPr/>
        </p:nvCxnSpPr>
        <p:spPr>
          <a:xfrm>
            <a:off x="4730060" y="3033776"/>
            <a:ext cx="0" cy="287558"/>
          </a:xfrm>
          <a:prstGeom prst="line">
            <a:avLst/>
          </a:prstGeom>
          <a:ln w="25400">
            <a:solidFill>
              <a:srgbClr val="B88C00"/>
            </a:solidFill>
          </a:ln>
        </p:spPr>
      </p:cxnSp>
      <p:cxnSp>
        <p:nvCxnSpPr>
          <p:cNvPr id="46" name="Connector 45"/>
          <p:cNvCxnSpPr/>
          <p:nvPr/>
        </p:nvCxnSpPr>
        <p:spPr>
          <a:xfrm flipV="1">
            <a:off x="5000026" y="3196951"/>
            <a:ext cx="0" cy="5481"/>
          </a:xfrm>
          <a:prstGeom prst="line">
            <a:avLst/>
          </a:prstGeom>
          <a:ln w="25400">
            <a:solidFill>
              <a:srgbClr val="B88C00"/>
            </a:solidFill>
          </a:ln>
        </p:spPr>
      </p:cxnSp>
      <p:cxnSp>
        <p:nvCxnSpPr>
          <p:cNvPr id="47" name="Connector 46"/>
          <p:cNvCxnSpPr/>
          <p:nvPr/>
        </p:nvCxnSpPr>
        <p:spPr>
          <a:xfrm flipV="1">
            <a:off x="5269992" y="3072988"/>
            <a:ext cx="0" cy="171608"/>
          </a:xfrm>
          <a:prstGeom prst="line">
            <a:avLst/>
          </a:prstGeom>
          <a:ln w="25400">
            <a:solidFill>
              <a:srgbClr val="B88C00"/>
            </a:solidFill>
          </a:ln>
        </p:spPr>
      </p:cxnSp>
      <p:cxnSp>
        <p:nvCxnSpPr>
          <p:cNvPr id="48" name="Connector 47"/>
          <p:cNvCxnSpPr/>
          <p:nvPr/>
        </p:nvCxnSpPr>
        <p:spPr>
          <a:xfrm>
            <a:off x="5539958" y="2527807"/>
            <a:ext cx="0" cy="420798"/>
          </a:xfrm>
          <a:prstGeom prst="line">
            <a:avLst/>
          </a:prstGeom>
          <a:ln w="25400">
            <a:solidFill>
              <a:srgbClr val="B88C00"/>
            </a:solidFill>
          </a:ln>
        </p:spPr>
      </p:cxnSp>
      <p:cxnSp>
        <p:nvCxnSpPr>
          <p:cNvPr id="49" name="Connector 48"/>
          <p:cNvCxnSpPr/>
          <p:nvPr/>
        </p:nvCxnSpPr>
        <p:spPr>
          <a:xfrm>
            <a:off x="5809923" y="2738628"/>
            <a:ext cx="0" cy="85593"/>
          </a:xfrm>
          <a:prstGeom prst="line">
            <a:avLst/>
          </a:prstGeom>
          <a:ln w="25400">
            <a:solidFill>
              <a:srgbClr val="B88C00"/>
            </a:solidFill>
          </a:ln>
        </p:spPr>
      </p:cxnSp>
      <p:cxnSp>
        <p:nvCxnSpPr>
          <p:cNvPr id="50" name="Connector 49"/>
          <p:cNvCxnSpPr/>
          <p:nvPr/>
        </p:nvCxnSpPr>
        <p:spPr>
          <a:xfrm flipV="1">
            <a:off x="6079889" y="2699837"/>
            <a:ext cx="0" cy="333939"/>
          </a:xfrm>
          <a:prstGeom prst="line">
            <a:avLst/>
          </a:prstGeom>
          <a:ln w="25400">
            <a:solidFill>
              <a:srgbClr val="B88C00"/>
            </a:solidFill>
          </a:ln>
        </p:spPr>
      </p:cxnSp>
      <p:cxnSp>
        <p:nvCxnSpPr>
          <p:cNvPr id="51" name="Connector 50"/>
          <p:cNvCxnSpPr/>
          <p:nvPr/>
        </p:nvCxnSpPr>
        <p:spPr>
          <a:xfrm>
            <a:off x="6349854" y="2359152"/>
            <a:ext cx="0" cy="216723"/>
          </a:xfrm>
          <a:prstGeom prst="line">
            <a:avLst/>
          </a:prstGeom>
          <a:ln w="25400">
            <a:solidFill>
              <a:srgbClr val="B88C00"/>
            </a:solidFill>
          </a:ln>
        </p:spPr>
      </p:cxnSp>
      <p:cxnSp>
        <p:nvCxnSpPr>
          <p:cNvPr id="52" name="Connector 51"/>
          <p:cNvCxnSpPr/>
          <p:nvPr/>
        </p:nvCxnSpPr>
        <p:spPr>
          <a:xfrm flipV="1">
            <a:off x="6889786" y="2327107"/>
            <a:ext cx="0" cy="200700"/>
          </a:xfrm>
          <a:prstGeom prst="line">
            <a:avLst/>
          </a:prstGeom>
          <a:ln w="25400">
            <a:solidFill>
              <a:srgbClr val="B88C00"/>
            </a:solidFill>
          </a:ln>
        </p:spPr>
      </p:cxnSp>
      <p:sp>
        <p:nvSpPr>
          <p:cNvPr id="53" name="Oval 52"/>
          <p:cNvSpPr/>
          <p:nvPr/>
        </p:nvSpPr>
        <p:spPr>
          <a:xfrm>
            <a:off x="3847011" y="3888232"/>
            <a:ext cx="146304" cy="146304"/>
          </a:xfrm>
          <a:prstGeom prst="ellipse">
            <a:avLst/>
          </a:prstGeom>
          <a:solidFill>
            <a:srgbClr val="3F739B"/>
          </a:solidFill>
          <a:ln>
            <a:noFill/>
          </a:ln>
        </p:spPr>
        <p:txBody>
          <a:bodyPr rtlCol="0" anchor="ctr"/>
          <a:lstStyle/>
          <a:p>
            <a:pPr algn="ctr"/>
            <a:endParaRPr/>
          </a:p>
        </p:txBody>
      </p:sp>
      <p:sp>
        <p:nvSpPr>
          <p:cNvPr id="54" name="Oval 53"/>
          <p:cNvSpPr/>
          <p:nvPr/>
        </p:nvSpPr>
        <p:spPr>
          <a:xfrm>
            <a:off x="4116977" y="3382263"/>
            <a:ext cx="146304" cy="146304"/>
          </a:xfrm>
          <a:prstGeom prst="ellipse">
            <a:avLst/>
          </a:prstGeom>
          <a:solidFill>
            <a:srgbClr val="3F739B"/>
          </a:solidFill>
          <a:ln>
            <a:noFill/>
          </a:ln>
        </p:spPr>
        <p:txBody>
          <a:bodyPr rtlCol="0" anchor="ctr"/>
          <a:lstStyle/>
          <a:p>
            <a:pPr algn="ctr"/>
            <a:endParaRPr/>
          </a:p>
        </p:txBody>
      </p:sp>
      <p:sp>
        <p:nvSpPr>
          <p:cNvPr id="55" name="Oval 54"/>
          <p:cNvSpPr/>
          <p:nvPr/>
        </p:nvSpPr>
        <p:spPr>
          <a:xfrm>
            <a:off x="4386943" y="3255772"/>
            <a:ext cx="146304" cy="146304"/>
          </a:xfrm>
          <a:prstGeom prst="ellipse">
            <a:avLst/>
          </a:prstGeom>
          <a:solidFill>
            <a:srgbClr val="3F739B"/>
          </a:solidFill>
          <a:ln>
            <a:noFill/>
          </a:ln>
        </p:spPr>
        <p:txBody>
          <a:bodyPr rtlCol="0" anchor="ctr"/>
          <a:lstStyle/>
          <a:p>
            <a:pPr algn="ctr"/>
            <a:endParaRPr/>
          </a:p>
        </p:txBody>
      </p:sp>
      <p:sp>
        <p:nvSpPr>
          <p:cNvPr id="56" name="Oval 55"/>
          <p:cNvSpPr/>
          <p:nvPr/>
        </p:nvSpPr>
        <p:spPr>
          <a:xfrm>
            <a:off x="4386943" y="3635247"/>
            <a:ext cx="146304" cy="146304"/>
          </a:xfrm>
          <a:prstGeom prst="ellipse">
            <a:avLst/>
          </a:prstGeom>
          <a:solidFill>
            <a:srgbClr val="3F739B"/>
          </a:solidFill>
          <a:ln>
            <a:noFill/>
          </a:ln>
        </p:spPr>
        <p:txBody>
          <a:bodyPr rtlCol="0" anchor="ctr"/>
          <a:lstStyle/>
          <a:p>
            <a:pPr algn="ctr"/>
            <a:endParaRPr/>
          </a:p>
        </p:txBody>
      </p:sp>
      <p:sp>
        <p:nvSpPr>
          <p:cNvPr id="57" name="Oval 56"/>
          <p:cNvSpPr/>
          <p:nvPr/>
        </p:nvSpPr>
        <p:spPr>
          <a:xfrm>
            <a:off x="4656908" y="2960624"/>
            <a:ext cx="146304" cy="146304"/>
          </a:xfrm>
          <a:prstGeom prst="ellipse">
            <a:avLst/>
          </a:prstGeom>
          <a:solidFill>
            <a:srgbClr val="3F739B"/>
          </a:solidFill>
          <a:ln>
            <a:noFill/>
          </a:ln>
        </p:spPr>
        <p:txBody>
          <a:bodyPr rtlCol="0" anchor="ctr"/>
          <a:lstStyle/>
          <a:p>
            <a:pPr algn="ctr"/>
            <a:endParaRPr/>
          </a:p>
        </p:txBody>
      </p:sp>
      <p:sp>
        <p:nvSpPr>
          <p:cNvPr id="58" name="Oval 57"/>
          <p:cNvSpPr/>
          <p:nvPr/>
        </p:nvSpPr>
        <p:spPr>
          <a:xfrm>
            <a:off x="4926874" y="3129280"/>
            <a:ext cx="146304" cy="146304"/>
          </a:xfrm>
          <a:prstGeom prst="ellipse">
            <a:avLst/>
          </a:prstGeom>
          <a:solidFill>
            <a:srgbClr val="3F739B"/>
          </a:solidFill>
          <a:ln>
            <a:noFill/>
          </a:ln>
        </p:spPr>
        <p:txBody>
          <a:bodyPr rtlCol="0" anchor="ctr"/>
          <a:lstStyle/>
          <a:p>
            <a:pPr algn="ctr"/>
            <a:endParaRPr/>
          </a:p>
        </p:txBody>
      </p:sp>
      <p:sp>
        <p:nvSpPr>
          <p:cNvPr id="59" name="Oval 58"/>
          <p:cNvSpPr/>
          <p:nvPr/>
        </p:nvSpPr>
        <p:spPr>
          <a:xfrm>
            <a:off x="5196840" y="3171444"/>
            <a:ext cx="146304" cy="146304"/>
          </a:xfrm>
          <a:prstGeom prst="ellipse">
            <a:avLst/>
          </a:prstGeom>
          <a:solidFill>
            <a:srgbClr val="3F739B"/>
          </a:solidFill>
          <a:ln>
            <a:noFill/>
          </a:ln>
        </p:spPr>
        <p:txBody>
          <a:bodyPr rtlCol="0" anchor="ctr"/>
          <a:lstStyle/>
          <a:p>
            <a:pPr algn="ctr"/>
            <a:endParaRPr/>
          </a:p>
        </p:txBody>
      </p:sp>
      <p:sp>
        <p:nvSpPr>
          <p:cNvPr id="60" name="Oval 59"/>
          <p:cNvSpPr/>
          <p:nvPr/>
        </p:nvSpPr>
        <p:spPr>
          <a:xfrm>
            <a:off x="5466806" y="2454655"/>
            <a:ext cx="146304" cy="146304"/>
          </a:xfrm>
          <a:prstGeom prst="ellipse">
            <a:avLst/>
          </a:prstGeom>
          <a:solidFill>
            <a:srgbClr val="3F739B"/>
          </a:solidFill>
          <a:ln>
            <a:noFill/>
          </a:ln>
        </p:spPr>
        <p:txBody>
          <a:bodyPr rtlCol="0" anchor="ctr"/>
          <a:lstStyle/>
          <a:p>
            <a:pPr algn="ctr"/>
            <a:endParaRPr/>
          </a:p>
        </p:txBody>
      </p:sp>
      <p:sp>
        <p:nvSpPr>
          <p:cNvPr id="61" name="Oval 60"/>
          <p:cNvSpPr/>
          <p:nvPr/>
        </p:nvSpPr>
        <p:spPr>
          <a:xfrm>
            <a:off x="5736771" y="2665476"/>
            <a:ext cx="146304" cy="146304"/>
          </a:xfrm>
          <a:prstGeom prst="ellipse">
            <a:avLst/>
          </a:prstGeom>
          <a:solidFill>
            <a:srgbClr val="3F739B"/>
          </a:solidFill>
          <a:ln>
            <a:noFill/>
          </a:ln>
        </p:spPr>
        <p:txBody>
          <a:bodyPr rtlCol="0" anchor="ctr"/>
          <a:lstStyle/>
          <a:p>
            <a:pPr algn="ctr"/>
            <a:endParaRPr/>
          </a:p>
        </p:txBody>
      </p:sp>
      <p:sp>
        <p:nvSpPr>
          <p:cNvPr id="62" name="Oval 61"/>
          <p:cNvSpPr/>
          <p:nvPr/>
        </p:nvSpPr>
        <p:spPr>
          <a:xfrm>
            <a:off x="6006737" y="2960624"/>
            <a:ext cx="146304" cy="146304"/>
          </a:xfrm>
          <a:prstGeom prst="ellipse">
            <a:avLst/>
          </a:prstGeom>
          <a:solidFill>
            <a:srgbClr val="3F739B"/>
          </a:solidFill>
          <a:ln>
            <a:noFill/>
          </a:ln>
        </p:spPr>
        <p:txBody>
          <a:bodyPr rtlCol="0" anchor="ctr"/>
          <a:lstStyle/>
          <a:p>
            <a:pPr algn="ctr"/>
            <a:endParaRPr/>
          </a:p>
        </p:txBody>
      </p:sp>
      <p:sp>
        <p:nvSpPr>
          <p:cNvPr id="63" name="Oval 62"/>
          <p:cNvSpPr/>
          <p:nvPr/>
        </p:nvSpPr>
        <p:spPr>
          <a:xfrm>
            <a:off x="6276702" y="2286000"/>
            <a:ext cx="146304" cy="146304"/>
          </a:xfrm>
          <a:prstGeom prst="ellipse">
            <a:avLst/>
          </a:prstGeom>
          <a:solidFill>
            <a:srgbClr val="3F739B"/>
          </a:solidFill>
          <a:ln>
            <a:noFill/>
          </a:ln>
        </p:spPr>
        <p:txBody>
          <a:bodyPr rtlCol="0" anchor="ctr"/>
          <a:lstStyle/>
          <a:p>
            <a:pPr algn="ctr"/>
            <a:endParaRPr/>
          </a:p>
        </p:txBody>
      </p:sp>
      <p:sp>
        <p:nvSpPr>
          <p:cNvPr id="64" name="Oval 63"/>
          <p:cNvSpPr/>
          <p:nvPr/>
        </p:nvSpPr>
        <p:spPr>
          <a:xfrm>
            <a:off x="6816634" y="2454655"/>
            <a:ext cx="146304" cy="146304"/>
          </a:xfrm>
          <a:prstGeom prst="ellipse">
            <a:avLst/>
          </a:prstGeom>
          <a:solidFill>
            <a:srgbClr val="3F739B"/>
          </a:solidFill>
          <a:ln>
            <a:noFill/>
          </a:ln>
        </p:spPr>
        <p:txBody>
          <a:bodyPr rtlCol="0" anchor="ctr"/>
          <a:lstStyle/>
          <a:p>
            <a:pPr algn="ctr"/>
            <a:endParaRPr/>
          </a:p>
        </p:txBody>
      </p:sp>
      <p:sp>
        <p:nvSpPr>
          <p:cNvPr id="115" name="Intercept dot"/>
          <p:cNvSpPr/>
          <p:nvPr/>
        </p:nvSpPr>
        <p:spPr>
          <a:xfrm>
            <a:off x="1403604" y="4725708"/>
            <a:ext cx="173736" cy="173736"/>
          </a:xfrm>
          <a:prstGeom prst="ellipse">
            <a:avLst/>
          </a:prstGeom>
          <a:solidFill>
            <a:srgbClr val="3F739B"/>
          </a:solidFill>
          <a:ln w="12700">
            <a:solidFill>
              <a:srgbClr val="FFFFFF"/>
            </a:solidFill>
          </a:ln>
        </p:spPr>
        <p:txBody>
          <a:bodyPr rtlCol="0" anchor="ctr"/>
          <a:lstStyle/>
          <a:p>
            <a:pPr algn="ctr"/>
            <a:endParaRPr/>
          </a:p>
        </p:txBody>
      </p:sp>
      <p:sp>
        <p:nvSpPr>
          <p:cNvPr id="116" name="Label"/>
          <p:cNvSpPr txBox="1"/>
          <p:nvPr/>
        </p:nvSpPr>
        <p:spPr>
          <a:xfrm>
            <a:off x="1618488" y="4830864"/>
            <a:ext cx="1828800" cy="292608"/>
          </a:xfrm>
          <a:prstGeom prst="rect">
            <a:avLst/>
          </a:prstGeom>
          <a:noFill/>
        </p:spPr>
        <p:txBody>
          <a:bodyPr wrap="square" lIns="0" tIns="0" rIns="0" bIns="0" anchor="t">
            <a:spAutoFit/>
          </a:bodyPr>
          <a:lstStyle/>
          <a:p>
            <a:pPr algn="l"/>
            <a:r>
              <a:rPr sz="1300" b="1" i="0">
                <a:solidFill>
                  <a:srgbClr val="3F739B"/>
                </a:solidFill>
              </a:rPr>
              <a:t>1.38 (intercept)</a:t>
            </a:r>
          </a:p>
        </p:txBody>
      </p:sp>
      <p:sp>
        <p:nvSpPr>
          <p:cNvPr id="65" name="TextBox 64"/>
          <p:cNvSpPr txBox="1"/>
          <p:nvPr/>
        </p:nvSpPr>
        <p:spPr>
          <a:xfrm>
            <a:off x="4369526" y="2610151"/>
            <a:ext cx="1097280" cy="292608"/>
          </a:xfrm>
          <a:prstGeom prst="rect">
            <a:avLst/>
          </a:prstGeom>
          <a:noFill/>
        </p:spPr>
        <p:txBody>
          <a:bodyPr wrap="square" lIns="0" tIns="0" rIns="0" bIns="0" anchor="t">
            <a:spAutoFit/>
          </a:bodyPr>
          <a:lstStyle/>
          <a:p>
            <a:pPr algn="r"/>
            <a:r>
              <a:rPr sz="1400" b="1" i="0">
                <a:solidFill>
                  <a:srgbClr val="7A5C00"/>
                </a:solidFill>
              </a:rPr>
              <a:t>residual</a:t>
            </a:r>
          </a:p>
        </p:txBody>
      </p:sp>
      <p:sp>
        <p:nvSpPr>
          <p:cNvPr id="66" name="TextBox 65"/>
          <p:cNvSpPr txBox="1"/>
          <p:nvPr/>
        </p:nvSpPr>
        <p:spPr>
          <a:xfrm>
            <a:off x="7452360" y="1463040"/>
            <a:ext cx="3913632" cy="1280160"/>
          </a:xfrm>
          <a:prstGeom prst="rect">
            <a:avLst/>
          </a:prstGeom>
          <a:noFill/>
        </p:spPr>
        <p:txBody>
          <a:bodyPr wrap="square" lIns="0" tIns="0" rIns="0" bIns="0" anchor="t">
            <a:spAutoFit/>
          </a:bodyPr>
          <a:lstStyle/>
          <a:p>
            <a:pPr algn="l">
              <a:spcAft>
                <a:spcPts val="200"/>
              </a:spcAft>
            </a:pPr>
            <a:r>
              <a:rPr sz="2200" b="1" i="0">
                <a:solidFill>
                  <a:srgbClr val="1F394D"/>
                </a:solidFill>
              </a:rPr>
              <a:t>Slope = 0.29</a:t>
            </a:r>
          </a:p>
          <a:p>
            <a:pPr algn="l"/>
            <a:r>
              <a:rPr sz="1600" b="0" i="0">
                <a:solidFill>
                  <a:srgbClr val="1F2A33"/>
                </a:solidFill>
              </a:rPr>
              <a:t>Each extra year of education goes with 0.29 more points of trust.</a:t>
            </a:r>
          </a:p>
        </p:txBody>
      </p:sp>
      <p:sp>
        <p:nvSpPr>
          <p:cNvPr id="67" name="TextBox 66"/>
          <p:cNvSpPr txBox="1"/>
          <p:nvPr/>
        </p:nvSpPr>
        <p:spPr>
          <a:xfrm>
            <a:off x="7452360" y="2834640"/>
            <a:ext cx="3913632" cy="1280160"/>
          </a:xfrm>
          <a:prstGeom prst="rect">
            <a:avLst/>
          </a:prstGeom>
          <a:noFill/>
        </p:spPr>
        <p:txBody>
          <a:bodyPr wrap="square" lIns="0" tIns="0" rIns="0" bIns="0" anchor="t">
            <a:spAutoFit/>
          </a:bodyPr>
          <a:lstStyle/>
          <a:p>
            <a:pPr algn="l">
              <a:spcAft>
                <a:spcPts val="200"/>
              </a:spcAft>
            </a:pPr>
            <a:r>
              <a:rPr sz="2200" b="1" i="0">
                <a:solidFill>
                  <a:srgbClr val="3F739B"/>
                </a:solidFill>
              </a:rPr>
              <a:t>Intercept = 1.38</a:t>
            </a:r>
          </a:p>
          <a:p>
            <a:pPr algn="l"/>
            <a:r>
              <a:rPr sz="1600" b="0" i="0">
                <a:solidFill>
                  <a:srgbClr val="1F2A33"/>
                </a:solidFill>
              </a:rPr>
              <a:t>Predicted trust at 0 years of education: outside the data, so not meaningful here.</a:t>
            </a:r>
          </a:p>
        </p:txBody>
      </p:sp>
      <p:sp>
        <p:nvSpPr>
          <p:cNvPr id="68" name="TextBox 67"/>
          <p:cNvSpPr txBox="1"/>
          <p:nvPr/>
        </p:nvSpPr>
        <p:spPr>
          <a:xfrm>
            <a:off x="7452360" y="4206240"/>
            <a:ext cx="3913632" cy="1280160"/>
          </a:xfrm>
          <a:prstGeom prst="rect">
            <a:avLst/>
          </a:prstGeom>
          <a:noFill/>
        </p:spPr>
        <p:txBody>
          <a:bodyPr wrap="square" lIns="0" tIns="0" rIns="0" bIns="0" anchor="t">
            <a:spAutoFit/>
          </a:bodyPr>
          <a:lstStyle/>
          <a:p>
            <a:pPr algn="l">
              <a:spcAft>
                <a:spcPts val="200"/>
              </a:spcAft>
            </a:pPr>
            <a:r>
              <a:rPr sz="2200" b="1" i="0">
                <a:solidFill>
                  <a:srgbClr val="7A5C00"/>
                </a:solidFill>
              </a:rPr>
              <a:t>Residuals</a:t>
            </a:r>
          </a:p>
          <a:p>
            <a:pPr algn="l"/>
            <a:r>
              <a:rPr sz="1600" b="0" i="0">
                <a:solidFill>
                  <a:srgbClr val="1F2A33"/>
                </a:solidFill>
              </a:rPr>
              <a:t>Observed minus predicted: what the line gets wrong for each person.</a:t>
            </a:r>
          </a:p>
        </p:txBody>
      </p:sp>
      <p:sp>
        <p:nvSpPr>
          <p:cNvPr id="69" name="Rounded Rectangle 68"/>
          <p:cNvSpPr/>
          <p:nvPr/>
        </p:nvSpPr>
        <p:spPr>
          <a:xfrm>
            <a:off x="758952" y="5943600"/>
            <a:ext cx="2514600" cy="292608"/>
          </a:xfrm>
          <a:prstGeom prst="roundRect">
            <a:avLst>
              <a:gd name="adj" fmla="val 50000"/>
            </a:avLst>
          </a:prstGeom>
          <a:solidFill>
            <a:srgbClr val="FFFFFF"/>
          </a:solidFill>
          <a:ln w="15875">
            <a:solidFill>
              <a:srgbClr val="B88C00"/>
            </a:solidFill>
          </a:ln>
        </p:spPr>
        <p:txBody>
          <a:bodyPr rtlCol="0" anchor="ctr"/>
          <a:lstStyle/>
          <a:p>
            <a:endParaRPr/>
          </a:p>
        </p:txBody>
      </p:sp>
      <p:sp>
        <p:nvSpPr>
          <p:cNvPr id="70" name="TextBox 69"/>
          <p:cNvSpPr txBox="1"/>
          <p:nvPr/>
        </p:nvSpPr>
        <p:spPr>
          <a:xfrm>
            <a:off x="758952" y="5943600"/>
            <a:ext cx="2514600" cy="292608"/>
          </a:xfrm>
          <a:prstGeom prst="rect">
            <a:avLst/>
          </a:prstGeom>
          <a:noFill/>
        </p:spPr>
        <p:txBody>
          <a:bodyPr wrap="square" lIns="0" tIns="0" rIns="0" bIns="0" anchor="ctr">
            <a:spAutoFit/>
          </a:bodyPr>
          <a:lstStyle/>
          <a:p>
            <a:pPr algn="ctr"/>
            <a:r>
              <a:rPr sz="1200" b="1" i="0">
                <a:solidFill>
                  <a:srgbClr val="7A5C00"/>
                </a:solidFill>
              </a:rPr>
              <a:t>SYNTHETIC EXAMPLE DATA</a:t>
            </a:r>
          </a:p>
        </p:txBody>
      </p:sp>
      <p:sp>
        <p:nvSpPr>
          <p:cNvPr id="71" name="TextBox 70"/>
          <p:cNvSpPr txBox="1"/>
          <p:nvPr/>
        </p:nvSpPr>
        <p:spPr>
          <a:xfrm>
            <a:off x="3410712" y="5943600"/>
            <a:ext cx="7955279" cy="292608"/>
          </a:xfrm>
          <a:prstGeom prst="rect">
            <a:avLst/>
          </a:prstGeom>
          <a:noFill/>
        </p:spPr>
        <p:txBody>
          <a:bodyPr wrap="square" lIns="0" tIns="0" rIns="0" bIns="0" anchor="ctr">
            <a:spAutoFit/>
          </a:bodyPr>
          <a:lstStyle/>
          <a:p>
            <a:pPr algn="l"/>
            <a:r>
              <a:rPr sz="1200" b="0" i="0">
                <a:solidFill>
                  <a:srgbClr val="55606B"/>
                </a:solidFill>
              </a:rPr>
              <a:t>R code: synthetic_examples.R, section W3b. 12 people, education and trust (0 to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“best” line: least squares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6</a:t>
            </a:fld>
            <a:endParaRPr lang="en-GB"/>
          </a:p>
        </p:txBody>
      </p:sp>
      <p:sp>
        <p:nvSpPr>
          <p:cNvPr id="6" name="TextBox 5"/>
          <p:cNvSpPr txBox="1"/>
          <p:nvPr/>
        </p:nvSpPr>
        <p:spPr>
          <a:xfrm>
            <a:off x="758952" y="1325880"/>
            <a:ext cx="5212080" cy="365760"/>
          </a:xfrm>
          <a:prstGeom prst="rect">
            <a:avLst/>
          </a:prstGeom>
          <a:noFill/>
        </p:spPr>
        <p:txBody>
          <a:bodyPr wrap="square" lIns="0" tIns="0" rIns="0" bIns="0" anchor="t">
            <a:spAutoFit/>
          </a:bodyPr>
          <a:lstStyle/>
          <a:p>
            <a:pPr algn="l"/>
            <a:r>
              <a:rPr sz="1800" b="1" i="0">
                <a:solidFill>
                  <a:srgbClr val="1F394D"/>
                </a:solidFill>
              </a:rPr>
              <a:t>Ignore education: predict the mean</a:t>
            </a:r>
          </a:p>
        </p:txBody>
      </p:sp>
      <p:cxnSp>
        <p:nvCxnSpPr>
          <p:cNvPr id="7" name="Connector 6"/>
          <p:cNvCxnSpPr/>
          <p:nvPr/>
        </p:nvCxnSpPr>
        <p:spPr>
          <a:xfrm>
            <a:off x="1261872" y="1783080"/>
            <a:ext cx="0" cy="2926080"/>
          </a:xfrm>
          <a:prstGeom prst="line">
            <a:avLst/>
          </a:prstGeom>
          <a:ln w="15875">
            <a:solidFill>
              <a:srgbClr val="BBC4CC"/>
            </a:solidFill>
          </a:ln>
        </p:spPr>
      </p:cxnSp>
      <p:cxnSp>
        <p:nvCxnSpPr>
          <p:cNvPr id="101" name="Connector 101"/>
          <p:cNvCxnSpPr/>
          <p:nvPr/>
        </p:nvCxnSpPr>
        <p:spPr>
          <a:xfrm>
            <a:off x="1261872" y="4709160"/>
            <a:ext cx="4526280" cy="0"/>
          </a:xfrm>
          <a:prstGeom prst="line">
            <a:avLst/>
          </a:prstGeom>
          <a:ln w="9525">
            <a:solidFill>
              <a:srgbClr val="DDE3E8"/>
            </a:solidFill>
          </a:ln>
        </p:spPr>
      </p:cxnSp>
      <p:sp>
        <p:nvSpPr>
          <p:cNvPr id="102" name="TextBox 102"/>
          <p:cNvSpPr txBox="1"/>
          <p:nvPr/>
        </p:nvSpPr>
        <p:spPr>
          <a:xfrm>
            <a:off x="576071" y="4572000"/>
            <a:ext cx="621792" cy="274320"/>
          </a:xfrm>
          <a:prstGeom prst="rect">
            <a:avLst/>
          </a:prstGeom>
          <a:noFill/>
        </p:spPr>
        <p:txBody>
          <a:bodyPr wrap="square" lIns="0" tIns="0" rIns="0" bIns="0" anchor="t">
            <a:spAutoFit/>
          </a:bodyPr>
          <a:lstStyle/>
          <a:p>
            <a:pPr algn="r"/>
            <a:r>
              <a:rPr sz="1200" b="0" i="0">
                <a:solidFill>
                  <a:srgbClr val="55606B"/>
                </a:solidFill>
              </a:rPr>
              <a:t>0</a:t>
            </a:r>
          </a:p>
        </p:txBody>
      </p:sp>
      <p:cxnSp>
        <p:nvCxnSpPr>
          <p:cNvPr id="103" name="Connector 103"/>
          <p:cNvCxnSpPr/>
          <p:nvPr/>
        </p:nvCxnSpPr>
        <p:spPr>
          <a:xfrm>
            <a:off x="1261872" y="4058920"/>
            <a:ext cx="4526280" cy="0"/>
          </a:xfrm>
          <a:prstGeom prst="line">
            <a:avLst/>
          </a:prstGeom>
          <a:ln w="9525">
            <a:solidFill>
              <a:srgbClr val="DDE3E8"/>
            </a:solidFill>
          </a:ln>
        </p:spPr>
      </p:cxnSp>
      <p:sp>
        <p:nvSpPr>
          <p:cNvPr id="104" name="TextBox 104"/>
          <p:cNvSpPr txBox="1"/>
          <p:nvPr/>
        </p:nvSpPr>
        <p:spPr>
          <a:xfrm>
            <a:off x="576071" y="3921760"/>
            <a:ext cx="621792" cy="274320"/>
          </a:xfrm>
          <a:prstGeom prst="rect">
            <a:avLst/>
          </a:prstGeom>
          <a:noFill/>
        </p:spPr>
        <p:txBody>
          <a:bodyPr wrap="square" lIns="0" tIns="0" rIns="0" bIns="0" anchor="t">
            <a:spAutoFit/>
          </a:bodyPr>
          <a:lstStyle/>
          <a:p>
            <a:pPr algn="r"/>
            <a:r>
              <a:rPr sz="1200" b="0" i="0">
                <a:solidFill>
                  <a:srgbClr val="55606B"/>
                </a:solidFill>
              </a:rPr>
              <a:t>2</a:t>
            </a:r>
          </a:p>
        </p:txBody>
      </p:sp>
      <p:cxnSp>
        <p:nvCxnSpPr>
          <p:cNvPr id="105" name="Connector 105"/>
          <p:cNvCxnSpPr/>
          <p:nvPr/>
        </p:nvCxnSpPr>
        <p:spPr>
          <a:xfrm>
            <a:off x="1261872" y="3408680"/>
            <a:ext cx="4526280" cy="0"/>
          </a:xfrm>
          <a:prstGeom prst="line">
            <a:avLst/>
          </a:prstGeom>
          <a:ln w="9525">
            <a:solidFill>
              <a:srgbClr val="DDE3E8"/>
            </a:solidFill>
          </a:ln>
        </p:spPr>
      </p:cxnSp>
      <p:sp>
        <p:nvSpPr>
          <p:cNvPr id="106" name="TextBox 106"/>
          <p:cNvSpPr txBox="1"/>
          <p:nvPr/>
        </p:nvSpPr>
        <p:spPr>
          <a:xfrm>
            <a:off x="576071" y="3271520"/>
            <a:ext cx="621792" cy="274320"/>
          </a:xfrm>
          <a:prstGeom prst="rect">
            <a:avLst/>
          </a:prstGeom>
          <a:noFill/>
        </p:spPr>
        <p:txBody>
          <a:bodyPr wrap="square" lIns="0" tIns="0" rIns="0" bIns="0" anchor="t">
            <a:spAutoFit/>
          </a:bodyPr>
          <a:lstStyle/>
          <a:p>
            <a:pPr algn="r"/>
            <a:r>
              <a:rPr sz="1200" b="0" i="0">
                <a:solidFill>
                  <a:srgbClr val="55606B"/>
                </a:solidFill>
              </a:rPr>
              <a:t>4</a:t>
            </a:r>
          </a:p>
        </p:txBody>
      </p:sp>
      <p:cxnSp>
        <p:nvCxnSpPr>
          <p:cNvPr id="107" name="Connector 107"/>
          <p:cNvCxnSpPr/>
          <p:nvPr/>
        </p:nvCxnSpPr>
        <p:spPr>
          <a:xfrm>
            <a:off x="1261872" y="2758440"/>
            <a:ext cx="4526280" cy="0"/>
          </a:xfrm>
          <a:prstGeom prst="line">
            <a:avLst/>
          </a:prstGeom>
          <a:ln w="9525">
            <a:solidFill>
              <a:srgbClr val="DDE3E8"/>
            </a:solidFill>
          </a:ln>
        </p:spPr>
      </p:cxnSp>
      <p:sp>
        <p:nvSpPr>
          <p:cNvPr id="108" name="TextBox 108"/>
          <p:cNvSpPr txBox="1"/>
          <p:nvPr/>
        </p:nvSpPr>
        <p:spPr>
          <a:xfrm>
            <a:off x="576071" y="2621280"/>
            <a:ext cx="621792" cy="274320"/>
          </a:xfrm>
          <a:prstGeom prst="rect">
            <a:avLst/>
          </a:prstGeom>
          <a:noFill/>
        </p:spPr>
        <p:txBody>
          <a:bodyPr wrap="square" lIns="0" tIns="0" rIns="0" bIns="0" anchor="t">
            <a:spAutoFit/>
          </a:bodyPr>
          <a:lstStyle/>
          <a:p>
            <a:pPr algn="r"/>
            <a:r>
              <a:rPr sz="1200" b="0" i="0">
                <a:solidFill>
                  <a:srgbClr val="55606B"/>
                </a:solidFill>
              </a:rPr>
              <a:t>6</a:t>
            </a:r>
          </a:p>
        </p:txBody>
      </p:sp>
      <p:cxnSp>
        <p:nvCxnSpPr>
          <p:cNvPr id="109" name="Connector 109"/>
          <p:cNvCxnSpPr/>
          <p:nvPr/>
        </p:nvCxnSpPr>
        <p:spPr>
          <a:xfrm>
            <a:off x="1261872" y="2108200"/>
            <a:ext cx="4526280" cy="0"/>
          </a:xfrm>
          <a:prstGeom prst="line">
            <a:avLst/>
          </a:prstGeom>
          <a:ln w="9525">
            <a:solidFill>
              <a:srgbClr val="DDE3E8"/>
            </a:solidFill>
          </a:ln>
        </p:spPr>
      </p:cxnSp>
      <p:sp>
        <p:nvSpPr>
          <p:cNvPr id="110" name="TextBox 110"/>
          <p:cNvSpPr txBox="1"/>
          <p:nvPr/>
        </p:nvSpPr>
        <p:spPr>
          <a:xfrm>
            <a:off x="576071" y="1971040"/>
            <a:ext cx="621792" cy="274320"/>
          </a:xfrm>
          <a:prstGeom prst="rect">
            <a:avLst/>
          </a:prstGeom>
          <a:noFill/>
        </p:spPr>
        <p:txBody>
          <a:bodyPr wrap="square" lIns="0" tIns="0" rIns="0" bIns="0" anchor="t">
            <a:spAutoFit/>
          </a:bodyPr>
          <a:lstStyle/>
          <a:p>
            <a:pPr algn="r"/>
            <a:r>
              <a:rPr sz="1200" b="0" i="0">
                <a:solidFill>
                  <a:srgbClr val="55606B"/>
                </a:solidFill>
              </a:rPr>
              <a:t>8</a:t>
            </a:r>
          </a:p>
        </p:txBody>
      </p:sp>
      <p:cxnSp>
        <p:nvCxnSpPr>
          <p:cNvPr id="111" name="Connector 111"/>
          <p:cNvCxnSpPr/>
          <p:nvPr/>
        </p:nvCxnSpPr>
        <p:spPr>
          <a:xfrm>
            <a:off x="1261872" y="4709160"/>
            <a:ext cx="0" cy="64008"/>
          </a:xfrm>
          <a:prstGeom prst="line">
            <a:avLst/>
          </a:prstGeom>
          <a:ln w="15875">
            <a:solidFill>
              <a:srgbClr val="BBC4CC"/>
            </a:solidFill>
          </a:ln>
        </p:spPr>
      </p:cxnSp>
      <p:sp>
        <p:nvSpPr>
          <p:cNvPr id="112" name="TextBox 112"/>
          <p:cNvSpPr txBox="1"/>
          <p:nvPr/>
        </p:nvSpPr>
        <p:spPr>
          <a:xfrm>
            <a:off x="713231" y="4782312"/>
            <a:ext cx="1097280" cy="274320"/>
          </a:xfrm>
          <a:prstGeom prst="rect">
            <a:avLst/>
          </a:prstGeom>
          <a:noFill/>
        </p:spPr>
        <p:txBody>
          <a:bodyPr wrap="square" lIns="0" tIns="0" rIns="0" bIns="0" anchor="t">
            <a:spAutoFit/>
          </a:bodyPr>
          <a:lstStyle/>
          <a:p>
            <a:pPr algn="ctr"/>
            <a:r>
              <a:rPr sz="1200" b="0" i="0">
                <a:solidFill>
                  <a:srgbClr val="55606B"/>
                </a:solidFill>
              </a:rPr>
              <a:t>0</a:t>
            </a:r>
          </a:p>
        </p:txBody>
      </p:sp>
      <p:cxnSp>
        <p:nvCxnSpPr>
          <p:cNvPr id="113" name="Connector 113"/>
          <p:cNvCxnSpPr/>
          <p:nvPr/>
        </p:nvCxnSpPr>
        <p:spPr>
          <a:xfrm>
            <a:off x="2124021" y="4709160"/>
            <a:ext cx="0" cy="64008"/>
          </a:xfrm>
          <a:prstGeom prst="line">
            <a:avLst/>
          </a:prstGeom>
          <a:ln w="15875">
            <a:solidFill>
              <a:srgbClr val="BBC4CC"/>
            </a:solidFill>
          </a:ln>
        </p:spPr>
      </p:cxnSp>
      <p:sp>
        <p:nvSpPr>
          <p:cNvPr id="114" name="TextBox 114"/>
          <p:cNvSpPr txBox="1"/>
          <p:nvPr/>
        </p:nvSpPr>
        <p:spPr>
          <a:xfrm>
            <a:off x="1575380" y="4782312"/>
            <a:ext cx="1097280" cy="274320"/>
          </a:xfrm>
          <a:prstGeom prst="rect">
            <a:avLst/>
          </a:prstGeom>
          <a:noFill/>
        </p:spPr>
        <p:txBody>
          <a:bodyPr wrap="square" lIns="0" tIns="0" rIns="0" bIns="0" anchor="t">
            <a:spAutoFit/>
          </a:bodyPr>
          <a:lstStyle/>
          <a:p>
            <a:pPr algn="ctr"/>
            <a:r>
              <a:rPr sz="1200" b="0" i="0">
                <a:solidFill>
                  <a:srgbClr val="55606B"/>
                </a:solidFill>
              </a:rPr>
              <a:t>4</a:t>
            </a:r>
          </a:p>
        </p:txBody>
      </p:sp>
      <p:cxnSp>
        <p:nvCxnSpPr>
          <p:cNvPr id="115" name="Connector 115"/>
          <p:cNvCxnSpPr/>
          <p:nvPr/>
        </p:nvCxnSpPr>
        <p:spPr>
          <a:xfrm>
            <a:off x="2986169" y="4709160"/>
            <a:ext cx="0" cy="64008"/>
          </a:xfrm>
          <a:prstGeom prst="line">
            <a:avLst/>
          </a:prstGeom>
          <a:ln w="15875">
            <a:solidFill>
              <a:srgbClr val="BBC4CC"/>
            </a:solidFill>
          </a:ln>
        </p:spPr>
      </p:cxnSp>
      <p:sp>
        <p:nvSpPr>
          <p:cNvPr id="116" name="TextBox 116"/>
          <p:cNvSpPr txBox="1"/>
          <p:nvPr/>
        </p:nvSpPr>
        <p:spPr>
          <a:xfrm>
            <a:off x="2437528" y="4782312"/>
            <a:ext cx="1097280" cy="274320"/>
          </a:xfrm>
          <a:prstGeom prst="rect">
            <a:avLst/>
          </a:prstGeom>
          <a:noFill/>
        </p:spPr>
        <p:txBody>
          <a:bodyPr wrap="square" lIns="0" tIns="0" rIns="0" bIns="0" anchor="t">
            <a:spAutoFit/>
          </a:bodyPr>
          <a:lstStyle/>
          <a:p>
            <a:pPr algn="ctr"/>
            <a:r>
              <a:rPr sz="1200" b="0" i="0">
                <a:solidFill>
                  <a:srgbClr val="55606B"/>
                </a:solidFill>
              </a:rPr>
              <a:t>8</a:t>
            </a:r>
          </a:p>
        </p:txBody>
      </p:sp>
      <p:cxnSp>
        <p:nvCxnSpPr>
          <p:cNvPr id="117" name="Connector 117"/>
          <p:cNvCxnSpPr/>
          <p:nvPr/>
        </p:nvCxnSpPr>
        <p:spPr>
          <a:xfrm>
            <a:off x="3848318" y="4709160"/>
            <a:ext cx="0" cy="64008"/>
          </a:xfrm>
          <a:prstGeom prst="line">
            <a:avLst/>
          </a:prstGeom>
          <a:ln w="15875">
            <a:solidFill>
              <a:srgbClr val="BBC4CC"/>
            </a:solidFill>
          </a:ln>
        </p:spPr>
      </p:cxnSp>
      <p:sp>
        <p:nvSpPr>
          <p:cNvPr id="118" name="TextBox 118"/>
          <p:cNvSpPr txBox="1"/>
          <p:nvPr/>
        </p:nvSpPr>
        <p:spPr>
          <a:xfrm>
            <a:off x="3299677" y="4782312"/>
            <a:ext cx="1097280" cy="274320"/>
          </a:xfrm>
          <a:prstGeom prst="rect">
            <a:avLst/>
          </a:prstGeom>
          <a:noFill/>
        </p:spPr>
        <p:txBody>
          <a:bodyPr wrap="square" lIns="0" tIns="0" rIns="0" bIns="0" anchor="t">
            <a:spAutoFit/>
          </a:bodyPr>
          <a:lstStyle/>
          <a:p>
            <a:pPr algn="ctr"/>
            <a:r>
              <a:rPr sz="1200" b="0" i="0">
                <a:solidFill>
                  <a:srgbClr val="55606B"/>
                </a:solidFill>
              </a:rPr>
              <a:t>12</a:t>
            </a:r>
          </a:p>
        </p:txBody>
      </p:sp>
      <p:cxnSp>
        <p:nvCxnSpPr>
          <p:cNvPr id="119" name="Connector 119"/>
          <p:cNvCxnSpPr/>
          <p:nvPr/>
        </p:nvCxnSpPr>
        <p:spPr>
          <a:xfrm>
            <a:off x="4710466" y="4709160"/>
            <a:ext cx="0" cy="64008"/>
          </a:xfrm>
          <a:prstGeom prst="line">
            <a:avLst/>
          </a:prstGeom>
          <a:ln w="15875">
            <a:solidFill>
              <a:srgbClr val="BBC4CC"/>
            </a:solidFill>
          </a:ln>
        </p:spPr>
      </p:cxnSp>
      <p:sp>
        <p:nvSpPr>
          <p:cNvPr id="120" name="TextBox 120"/>
          <p:cNvSpPr txBox="1"/>
          <p:nvPr/>
        </p:nvSpPr>
        <p:spPr>
          <a:xfrm>
            <a:off x="4161825" y="4782312"/>
            <a:ext cx="1097280" cy="274320"/>
          </a:xfrm>
          <a:prstGeom prst="rect">
            <a:avLst/>
          </a:prstGeom>
          <a:noFill/>
        </p:spPr>
        <p:txBody>
          <a:bodyPr wrap="square" lIns="0" tIns="0" rIns="0" bIns="0" anchor="t">
            <a:spAutoFit/>
          </a:bodyPr>
          <a:lstStyle/>
          <a:p>
            <a:pPr algn="ctr"/>
            <a:r>
              <a:rPr sz="1200" b="0" i="0">
                <a:solidFill>
                  <a:srgbClr val="55606B"/>
                </a:solidFill>
              </a:rPr>
              <a:t>16</a:t>
            </a:r>
          </a:p>
        </p:txBody>
      </p:sp>
      <p:cxnSp>
        <p:nvCxnSpPr>
          <p:cNvPr id="121" name="Connector 121"/>
          <p:cNvCxnSpPr/>
          <p:nvPr/>
        </p:nvCxnSpPr>
        <p:spPr>
          <a:xfrm>
            <a:off x="5572615" y="4709160"/>
            <a:ext cx="0" cy="64008"/>
          </a:xfrm>
          <a:prstGeom prst="line">
            <a:avLst/>
          </a:prstGeom>
          <a:ln w="15875">
            <a:solidFill>
              <a:srgbClr val="BBC4CC"/>
            </a:solidFill>
          </a:ln>
        </p:spPr>
      </p:cxnSp>
      <p:sp>
        <p:nvSpPr>
          <p:cNvPr id="122" name="TextBox 122"/>
          <p:cNvSpPr txBox="1"/>
          <p:nvPr/>
        </p:nvSpPr>
        <p:spPr>
          <a:xfrm>
            <a:off x="5023974" y="4782312"/>
            <a:ext cx="1097280" cy="274320"/>
          </a:xfrm>
          <a:prstGeom prst="rect">
            <a:avLst/>
          </a:prstGeom>
          <a:noFill/>
        </p:spPr>
        <p:txBody>
          <a:bodyPr wrap="square" lIns="0" tIns="0" rIns="0" bIns="0" anchor="t">
            <a:spAutoFit/>
          </a:bodyPr>
          <a:lstStyle/>
          <a:p>
            <a:pPr algn="ctr"/>
            <a:r>
              <a:rPr sz="1200" b="0" i="0">
                <a:solidFill>
                  <a:srgbClr val="55606B"/>
                </a:solidFill>
              </a:rPr>
              <a:t>20</a:t>
            </a:r>
          </a:p>
        </p:txBody>
      </p:sp>
      <p:cxnSp>
        <p:nvCxnSpPr>
          <p:cNvPr id="16" name="Connector 15"/>
          <p:cNvCxnSpPr/>
          <p:nvPr/>
        </p:nvCxnSpPr>
        <p:spPr>
          <a:xfrm>
            <a:off x="1261872" y="4709160"/>
            <a:ext cx="4526280" cy="0"/>
          </a:xfrm>
          <a:prstGeom prst="line">
            <a:avLst/>
          </a:prstGeom>
          <a:ln w="15875">
            <a:solidFill>
              <a:srgbClr val="BBC4CC"/>
            </a:solidFill>
          </a:ln>
        </p:spPr>
      </p:cxnSp>
      <p:cxnSp>
        <p:nvCxnSpPr>
          <p:cNvPr id="25" name="Connector 24"/>
          <p:cNvCxnSpPr/>
          <p:nvPr/>
        </p:nvCxnSpPr>
        <p:spPr>
          <a:xfrm>
            <a:off x="3201706" y="2934547"/>
            <a:ext cx="2370909" cy="0"/>
          </a:xfrm>
          <a:prstGeom prst="line">
            <a:avLst/>
          </a:prstGeom>
          <a:ln w="38100">
            <a:solidFill>
              <a:srgbClr val="9AA4AE"/>
            </a:solidFill>
          </a:ln>
        </p:spPr>
      </p:cxnSp>
      <p:cxnSp>
        <p:nvCxnSpPr>
          <p:cNvPr id="123" name="Connector 123"/>
          <p:cNvCxnSpPr/>
          <p:nvPr/>
        </p:nvCxnSpPr>
        <p:spPr>
          <a:xfrm>
            <a:off x="1261872" y="2934547"/>
            <a:ext cx="1939834" cy="0"/>
          </a:xfrm>
          <a:prstGeom prst="line">
            <a:avLst/>
          </a:prstGeom>
          <a:ln w="19050">
            <a:solidFill>
              <a:srgbClr val="9AA4AE"/>
            </a:solidFill>
            <a:prstDash val="dash"/>
          </a:ln>
        </p:spPr>
      </p:cxnSp>
      <p:cxnSp>
        <p:nvCxnSpPr>
          <p:cNvPr id="26" name="Connector 25"/>
          <p:cNvCxnSpPr/>
          <p:nvPr/>
        </p:nvCxnSpPr>
        <p:spPr>
          <a:xfrm flipV="1">
            <a:off x="3201706" y="2934547"/>
            <a:ext cx="0" cy="669205"/>
          </a:xfrm>
          <a:prstGeom prst="line">
            <a:avLst/>
          </a:prstGeom>
          <a:ln w="25400">
            <a:solidFill>
              <a:srgbClr val="B88C00"/>
            </a:solidFill>
          </a:ln>
        </p:spPr>
      </p:cxnSp>
      <p:sp>
        <p:nvSpPr>
          <p:cNvPr id="27" name="Oval 26"/>
          <p:cNvSpPr/>
          <p:nvPr/>
        </p:nvSpPr>
        <p:spPr>
          <a:xfrm>
            <a:off x="3137698" y="3539744"/>
            <a:ext cx="128016" cy="128016"/>
          </a:xfrm>
          <a:prstGeom prst="ellipse">
            <a:avLst/>
          </a:prstGeom>
          <a:solidFill>
            <a:srgbClr val="3F739B"/>
          </a:solidFill>
          <a:ln>
            <a:noFill/>
          </a:ln>
        </p:spPr>
        <p:txBody>
          <a:bodyPr rtlCol="0" anchor="ctr"/>
          <a:lstStyle/>
          <a:p>
            <a:pPr algn="ctr"/>
            <a:endParaRPr/>
          </a:p>
        </p:txBody>
      </p:sp>
      <p:cxnSp>
        <p:nvCxnSpPr>
          <p:cNvPr id="28" name="Connector 27"/>
          <p:cNvCxnSpPr/>
          <p:nvPr/>
        </p:nvCxnSpPr>
        <p:spPr>
          <a:xfrm flipV="1">
            <a:off x="3417243" y="2934547"/>
            <a:ext cx="0" cy="279061"/>
          </a:xfrm>
          <a:prstGeom prst="line">
            <a:avLst/>
          </a:prstGeom>
          <a:ln w="25400">
            <a:solidFill>
              <a:srgbClr val="B88C00"/>
            </a:solidFill>
          </a:ln>
        </p:spPr>
      </p:cxnSp>
      <p:sp>
        <p:nvSpPr>
          <p:cNvPr id="29" name="Oval 28"/>
          <p:cNvSpPr/>
          <p:nvPr/>
        </p:nvSpPr>
        <p:spPr>
          <a:xfrm>
            <a:off x="3353235" y="3149600"/>
            <a:ext cx="128016" cy="128016"/>
          </a:xfrm>
          <a:prstGeom prst="ellipse">
            <a:avLst/>
          </a:prstGeom>
          <a:solidFill>
            <a:srgbClr val="3F739B"/>
          </a:solidFill>
          <a:ln>
            <a:noFill/>
          </a:ln>
        </p:spPr>
        <p:txBody>
          <a:bodyPr rtlCol="0" anchor="ctr"/>
          <a:lstStyle/>
          <a:p>
            <a:pPr algn="ctr"/>
            <a:endParaRPr/>
          </a:p>
        </p:txBody>
      </p:sp>
      <p:cxnSp>
        <p:nvCxnSpPr>
          <p:cNvPr id="30" name="Connector 29"/>
          <p:cNvCxnSpPr/>
          <p:nvPr/>
        </p:nvCxnSpPr>
        <p:spPr>
          <a:xfrm flipV="1">
            <a:off x="3632780" y="2934547"/>
            <a:ext cx="0" cy="181524"/>
          </a:xfrm>
          <a:prstGeom prst="line">
            <a:avLst/>
          </a:prstGeom>
          <a:ln w="25400">
            <a:solidFill>
              <a:srgbClr val="B88C00"/>
            </a:solidFill>
          </a:ln>
        </p:spPr>
      </p:cxnSp>
      <p:sp>
        <p:nvSpPr>
          <p:cNvPr id="31" name="Oval 30"/>
          <p:cNvSpPr/>
          <p:nvPr/>
        </p:nvSpPr>
        <p:spPr>
          <a:xfrm>
            <a:off x="3568772" y="3052063"/>
            <a:ext cx="128016" cy="128016"/>
          </a:xfrm>
          <a:prstGeom prst="ellipse">
            <a:avLst/>
          </a:prstGeom>
          <a:solidFill>
            <a:srgbClr val="3F739B"/>
          </a:solidFill>
          <a:ln>
            <a:noFill/>
          </a:ln>
        </p:spPr>
        <p:txBody>
          <a:bodyPr rtlCol="0" anchor="ctr"/>
          <a:lstStyle/>
          <a:p>
            <a:pPr algn="ctr"/>
            <a:endParaRPr/>
          </a:p>
        </p:txBody>
      </p:sp>
      <p:cxnSp>
        <p:nvCxnSpPr>
          <p:cNvPr id="32" name="Connector 31"/>
          <p:cNvCxnSpPr/>
          <p:nvPr/>
        </p:nvCxnSpPr>
        <p:spPr>
          <a:xfrm flipV="1">
            <a:off x="3632780" y="2934547"/>
            <a:ext cx="0" cy="474133"/>
          </a:xfrm>
          <a:prstGeom prst="line">
            <a:avLst/>
          </a:prstGeom>
          <a:ln w="25400">
            <a:solidFill>
              <a:srgbClr val="B88C00"/>
            </a:solidFill>
          </a:ln>
        </p:spPr>
      </p:cxnSp>
      <p:sp>
        <p:nvSpPr>
          <p:cNvPr id="33" name="Oval 32"/>
          <p:cNvSpPr/>
          <p:nvPr/>
        </p:nvSpPr>
        <p:spPr>
          <a:xfrm>
            <a:off x="3568772" y="3344672"/>
            <a:ext cx="128016" cy="128016"/>
          </a:xfrm>
          <a:prstGeom prst="ellipse">
            <a:avLst/>
          </a:prstGeom>
          <a:solidFill>
            <a:srgbClr val="3F739B"/>
          </a:solidFill>
          <a:ln>
            <a:noFill/>
          </a:ln>
        </p:spPr>
        <p:txBody>
          <a:bodyPr rtlCol="0" anchor="ctr"/>
          <a:lstStyle/>
          <a:p>
            <a:pPr algn="ctr"/>
            <a:endParaRPr/>
          </a:p>
        </p:txBody>
      </p:sp>
      <p:cxnSp>
        <p:nvCxnSpPr>
          <p:cNvPr id="34" name="Connector 33"/>
          <p:cNvCxnSpPr/>
          <p:nvPr/>
        </p:nvCxnSpPr>
        <p:spPr>
          <a:xfrm>
            <a:off x="3848317" y="2888487"/>
            <a:ext cx="0" cy="46060"/>
          </a:xfrm>
          <a:prstGeom prst="line">
            <a:avLst/>
          </a:prstGeom>
          <a:ln w="25400">
            <a:solidFill>
              <a:srgbClr val="B88C00"/>
            </a:solidFill>
          </a:ln>
        </p:spPr>
      </p:cxnSp>
      <p:sp>
        <p:nvSpPr>
          <p:cNvPr id="35" name="Oval 34"/>
          <p:cNvSpPr/>
          <p:nvPr/>
        </p:nvSpPr>
        <p:spPr>
          <a:xfrm>
            <a:off x="3784309" y="2824479"/>
            <a:ext cx="128016" cy="128016"/>
          </a:xfrm>
          <a:prstGeom prst="ellipse">
            <a:avLst/>
          </a:prstGeom>
          <a:solidFill>
            <a:srgbClr val="3F739B"/>
          </a:solidFill>
          <a:ln>
            <a:noFill/>
          </a:ln>
        </p:spPr>
        <p:txBody>
          <a:bodyPr rtlCol="0" anchor="ctr"/>
          <a:lstStyle/>
          <a:p>
            <a:pPr algn="ctr"/>
            <a:endParaRPr/>
          </a:p>
        </p:txBody>
      </p:sp>
      <p:cxnSp>
        <p:nvCxnSpPr>
          <p:cNvPr id="36" name="Connector 35"/>
          <p:cNvCxnSpPr/>
          <p:nvPr/>
        </p:nvCxnSpPr>
        <p:spPr>
          <a:xfrm flipV="1">
            <a:off x="4063854" y="2934547"/>
            <a:ext cx="0" cy="83989"/>
          </a:xfrm>
          <a:prstGeom prst="line">
            <a:avLst/>
          </a:prstGeom>
          <a:ln w="25400">
            <a:solidFill>
              <a:srgbClr val="B88C00"/>
            </a:solidFill>
          </a:ln>
        </p:spPr>
      </p:cxnSp>
      <p:sp>
        <p:nvSpPr>
          <p:cNvPr id="37" name="Oval 36"/>
          <p:cNvSpPr/>
          <p:nvPr/>
        </p:nvSpPr>
        <p:spPr>
          <a:xfrm>
            <a:off x="3999846" y="2954528"/>
            <a:ext cx="128016" cy="128016"/>
          </a:xfrm>
          <a:prstGeom prst="ellipse">
            <a:avLst/>
          </a:prstGeom>
          <a:solidFill>
            <a:srgbClr val="3F739B"/>
          </a:solidFill>
          <a:ln>
            <a:noFill/>
          </a:ln>
        </p:spPr>
        <p:txBody>
          <a:bodyPr rtlCol="0" anchor="ctr"/>
          <a:lstStyle/>
          <a:p>
            <a:pPr algn="ctr"/>
            <a:endParaRPr/>
          </a:p>
        </p:txBody>
      </p:sp>
      <p:cxnSp>
        <p:nvCxnSpPr>
          <p:cNvPr id="38" name="Connector 37"/>
          <p:cNvCxnSpPr/>
          <p:nvPr/>
        </p:nvCxnSpPr>
        <p:spPr>
          <a:xfrm flipV="1">
            <a:off x="4279392" y="2934547"/>
            <a:ext cx="0" cy="116501"/>
          </a:xfrm>
          <a:prstGeom prst="line">
            <a:avLst/>
          </a:prstGeom>
          <a:ln w="25400">
            <a:solidFill>
              <a:srgbClr val="B88C00"/>
            </a:solidFill>
          </a:ln>
        </p:spPr>
      </p:cxnSp>
      <p:sp>
        <p:nvSpPr>
          <p:cNvPr id="39" name="Oval 38"/>
          <p:cNvSpPr/>
          <p:nvPr/>
        </p:nvSpPr>
        <p:spPr>
          <a:xfrm>
            <a:off x="4215384" y="2987040"/>
            <a:ext cx="128016" cy="128016"/>
          </a:xfrm>
          <a:prstGeom prst="ellipse">
            <a:avLst/>
          </a:prstGeom>
          <a:solidFill>
            <a:srgbClr val="3F739B"/>
          </a:solidFill>
          <a:ln>
            <a:noFill/>
          </a:ln>
        </p:spPr>
        <p:txBody>
          <a:bodyPr rtlCol="0" anchor="ctr"/>
          <a:lstStyle/>
          <a:p>
            <a:pPr algn="ctr"/>
            <a:endParaRPr/>
          </a:p>
        </p:txBody>
      </p:sp>
      <p:cxnSp>
        <p:nvCxnSpPr>
          <p:cNvPr id="40" name="Connector 39"/>
          <p:cNvCxnSpPr/>
          <p:nvPr/>
        </p:nvCxnSpPr>
        <p:spPr>
          <a:xfrm>
            <a:off x="4494929" y="2498344"/>
            <a:ext cx="0" cy="436203"/>
          </a:xfrm>
          <a:prstGeom prst="line">
            <a:avLst/>
          </a:prstGeom>
          <a:ln w="25400">
            <a:solidFill>
              <a:srgbClr val="B88C00"/>
            </a:solidFill>
          </a:ln>
        </p:spPr>
      </p:cxnSp>
      <p:sp>
        <p:nvSpPr>
          <p:cNvPr id="41" name="Oval 40"/>
          <p:cNvSpPr/>
          <p:nvPr/>
        </p:nvSpPr>
        <p:spPr>
          <a:xfrm>
            <a:off x="4430921" y="2434336"/>
            <a:ext cx="128016" cy="128016"/>
          </a:xfrm>
          <a:prstGeom prst="ellipse">
            <a:avLst/>
          </a:prstGeom>
          <a:solidFill>
            <a:srgbClr val="3F739B"/>
          </a:solidFill>
          <a:ln>
            <a:noFill/>
          </a:ln>
        </p:spPr>
        <p:txBody>
          <a:bodyPr rtlCol="0" anchor="ctr"/>
          <a:lstStyle/>
          <a:p>
            <a:pPr algn="ctr"/>
            <a:endParaRPr/>
          </a:p>
        </p:txBody>
      </p:sp>
      <p:cxnSp>
        <p:nvCxnSpPr>
          <p:cNvPr id="42" name="Connector 41"/>
          <p:cNvCxnSpPr/>
          <p:nvPr/>
        </p:nvCxnSpPr>
        <p:spPr>
          <a:xfrm>
            <a:off x="4710466" y="2660903"/>
            <a:ext cx="0" cy="273644"/>
          </a:xfrm>
          <a:prstGeom prst="line">
            <a:avLst/>
          </a:prstGeom>
          <a:ln w="25400">
            <a:solidFill>
              <a:srgbClr val="B88C00"/>
            </a:solidFill>
          </a:ln>
        </p:spPr>
      </p:cxnSp>
      <p:sp>
        <p:nvSpPr>
          <p:cNvPr id="43" name="Oval 42"/>
          <p:cNvSpPr/>
          <p:nvPr/>
        </p:nvSpPr>
        <p:spPr>
          <a:xfrm>
            <a:off x="4646458" y="2596895"/>
            <a:ext cx="128016" cy="128016"/>
          </a:xfrm>
          <a:prstGeom prst="ellipse">
            <a:avLst/>
          </a:prstGeom>
          <a:solidFill>
            <a:srgbClr val="3F739B"/>
          </a:solidFill>
          <a:ln>
            <a:noFill/>
          </a:ln>
        </p:spPr>
        <p:txBody>
          <a:bodyPr rtlCol="0" anchor="ctr"/>
          <a:lstStyle/>
          <a:p>
            <a:pPr algn="ctr"/>
            <a:endParaRPr/>
          </a:p>
        </p:txBody>
      </p:sp>
      <p:cxnSp>
        <p:nvCxnSpPr>
          <p:cNvPr id="44" name="Connector 43"/>
          <p:cNvCxnSpPr/>
          <p:nvPr/>
        </p:nvCxnSpPr>
        <p:spPr>
          <a:xfrm>
            <a:off x="4926003" y="2888487"/>
            <a:ext cx="0" cy="46060"/>
          </a:xfrm>
          <a:prstGeom prst="line">
            <a:avLst/>
          </a:prstGeom>
          <a:ln w="25400">
            <a:solidFill>
              <a:srgbClr val="B88C00"/>
            </a:solidFill>
          </a:ln>
        </p:spPr>
      </p:cxnSp>
      <p:sp>
        <p:nvSpPr>
          <p:cNvPr id="45" name="Oval 44"/>
          <p:cNvSpPr/>
          <p:nvPr/>
        </p:nvSpPr>
        <p:spPr>
          <a:xfrm>
            <a:off x="4861995" y="2824479"/>
            <a:ext cx="128016" cy="128016"/>
          </a:xfrm>
          <a:prstGeom prst="ellipse">
            <a:avLst/>
          </a:prstGeom>
          <a:solidFill>
            <a:srgbClr val="3F739B"/>
          </a:solidFill>
          <a:ln>
            <a:noFill/>
          </a:ln>
        </p:spPr>
        <p:txBody>
          <a:bodyPr rtlCol="0" anchor="ctr"/>
          <a:lstStyle/>
          <a:p>
            <a:pPr algn="ctr"/>
            <a:endParaRPr/>
          </a:p>
        </p:txBody>
      </p:sp>
      <p:cxnSp>
        <p:nvCxnSpPr>
          <p:cNvPr id="46" name="Connector 45"/>
          <p:cNvCxnSpPr/>
          <p:nvPr/>
        </p:nvCxnSpPr>
        <p:spPr>
          <a:xfrm>
            <a:off x="5141540" y="2368296"/>
            <a:ext cx="0" cy="566251"/>
          </a:xfrm>
          <a:prstGeom prst="line">
            <a:avLst/>
          </a:prstGeom>
          <a:ln w="25400">
            <a:solidFill>
              <a:srgbClr val="B88C00"/>
            </a:solidFill>
          </a:ln>
        </p:spPr>
      </p:cxnSp>
      <p:sp>
        <p:nvSpPr>
          <p:cNvPr id="47" name="Oval 46"/>
          <p:cNvSpPr/>
          <p:nvPr/>
        </p:nvSpPr>
        <p:spPr>
          <a:xfrm>
            <a:off x="5077532" y="2304288"/>
            <a:ext cx="128016" cy="128016"/>
          </a:xfrm>
          <a:prstGeom prst="ellipse">
            <a:avLst/>
          </a:prstGeom>
          <a:solidFill>
            <a:srgbClr val="3F739B"/>
          </a:solidFill>
          <a:ln>
            <a:noFill/>
          </a:ln>
        </p:spPr>
        <p:txBody>
          <a:bodyPr rtlCol="0" anchor="ctr"/>
          <a:lstStyle/>
          <a:p>
            <a:pPr algn="ctr"/>
            <a:endParaRPr/>
          </a:p>
        </p:txBody>
      </p:sp>
      <p:cxnSp>
        <p:nvCxnSpPr>
          <p:cNvPr id="48" name="Connector 47"/>
          <p:cNvCxnSpPr/>
          <p:nvPr/>
        </p:nvCxnSpPr>
        <p:spPr>
          <a:xfrm>
            <a:off x="5572614" y="2498344"/>
            <a:ext cx="0" cy="436203"/>
          </a:xfrm>
          <a:prstGeom prst="line">
            <a:avLst/>
          </a:prstGeom>
          <a:ln w="25400">
            <a:solidFill>
              <a:srgbClr val="B88C00"/>
            </a:solidFill>
          </a:ln>
        </p:spPr>
      </p:cxnSp>
      <p:sp>
        <p:nvSpPr>
          <p:cNvPr id="49" name="Oval 48"/>
          <p:cNvSpPr/>
          <p:nvPr/>
        </p:nvSpPr>
        <p:spPr>
          <a:xfrm>
            <a:off x="5508606" y="2434336"/>
            <a:ext cx="128016" cy="128016"/>
          </a:xfrm>
          <a:prstGeom prst="ellipse">
            <a:avLst/>
          </a:prstGeom>
          <a:solidFill>
            <a:srgbClr val="3F739B"/>
          </a:solidFill>
          <a:ln>
            <a:noFill/>
          </a:ln>
        </p:spPr>
        <p:txBody>
          <a:bodyPr rtlCol="0" anchor="ctr"/>
          <a:lstStyle/>
          <a:p>
            <a:pPr algn="ctr"/>
            <a:endParaRPr/>
          </a:p>
        </p:txBody>
      </p:sp>
      <p:sp>
        <p:nvSpPr>
          <p:cNvPr id="124" name="Intercept dot"/>
          <p:cNvSpPr/>
          <p:nvPr/>
        </p:nvSpPr>
        <p:spPr>
          <a:xfrm>
            <a:off x="1188720" y="2861395"/>
            <a:ext cx="146304" cy="146304"/>
          </a:xfrm>
          <a:prstGeom prst="ellipse">
            <a:avLst/>
          </a:prstGeom>
          <a:solidFill>
            <a:srgbClr val="9AA4AE"/>
          </a:solidFill>
          <a:ln w="12700">
            <a:solidFill>
              <a:srgbClr val="FFFFFF"/>
            </a:solidFill>
          </a:ln>
        </p:spPr>
        <p:txBody>
          <a:bodyPr rtlCol="0" anchor="ctr"/>
          <a:lstStyle/>
          <a:p>
            <a:pPr algn="ctr"/>
            <a:endParaRPr/>
          </a:p>
        </p:txBody>
      </p:sp>
      <p:sp>
        <p:nvSpPr>
          <p:cNvPr id="125" name="Label"/>
          <p:cNvSpPr txBox="1"/>
          <p:nvPr/>
        </p:nvSpPr>
        <p:spPr>
          <a:xfrm>
            <a:off x="1371600" y="2660227"/>
            <a:ext cx="1280160" cy="466344"/>
          </a:xfrm>
          <a:prstGeom prst="rect">
            <a:avLst/>
          </a:prstGeom>
          <a:noFill/>
        </p:spPr>
        <p:txBody>
          <a:bodyPr wrap="square" lIns="0" tIns="0" rIns="0" bIns="0" anchor="ctr">
            <a:spAutoFit/>
          </a:bodyPr>
          <a:lstStyle/>
          <a:p>
            <a:pPr algn="l"/>
            <a:r>
              <a:rPr sz="1200" b="1" i="0">
                <a:solidFill>
                  <a:srgbClr val="55606B"/>
                </a:solidFill>
              </a:rPr>
              <a:t>5.46</a:t>
            </a:r>
          </a:p>
        </p:txBody>
      </p:sp>
      <p:sp>
        <p:nvSpPr>
          <p:cNvPr id="50" name="Rounded Rectangle 49"/>
          <p:cNvSpPr/>
          <p:nvPr/>
        </p:nvSpPr>
        <p:spPr>
          <a:xfrm>
            <a:off x="758952" y="5166360"/>
            <a:ext cx="5212080" cy="685800"/>
          </a:xfrm>
          <a:prstGeom prst="roundRect">
            <a:avLst>
              <a:gd name="adj" fmla="val 8000"/>
            </a:avLst>
          </a:prstGeom>
          <a:solidFill>
            <a:srgbClr val="EEF3F7"/>
          </a:solidFill>
          <a:ln>
            <a:noFill/>
          </a:ln>
        </p:spPr>
        <p:txBody>
          <a:bodyPr rtlCol="0" anchor="ctr"/>
          <a:lstStyle/>
          <a:p>
            <a:endParaRPr/>
          </a:p>
        </p:txBody>
      </p:sp>
      <p:sp>
        <p:nvSpPr>
          <p:cNvPr id="51" name="TextBox 50"/>
          <p:cNvSpPr txBox="1"/>
          <p:nvPr/>
        </p:nvSpPr>
        <p:spPr>
          <a:xfrm>
            <a:off x="896112" y="5276088"/>
            <a:ext cx="4937760" cy="466344"/>
          </a:xfrm>
          <a:prstGeom prst="rect">
            <a:avLst/>
          </a:prstGeom>
          <a:noFill/>
        </p:spPr>
        <p:txBody>
          <a:bodyPr wrap="square" lIns="0" tIns="0" rIns="0" bIns="0" anchor="ctr">
            <a:spAutoFit/>
          </a:bodyPr>
          <a:lstStyle/>
          <a:p>
            <a:pPr algn="l"/>
            <a:r>
              <a:rPr sz="1800" b="0" i="0">
                <a:solidFill>
                  <a:srgbClr val="55606B"/>
                </a:solidFill>
              </a:rPr>
              <a:t>Sum of squared residuals: </a:t>
            </a:r>
            <a:r>
              <a:rPr sz="1800" b="1" i="0">
                <a:solidFill>
                  <a:srgbClr val="7A5C00"/>
                </a:solidFill>
              </a:rPr>
              <a:t>15.0</a:t>
            </a:r>
          </a:p>
        </p:txBody>
      </p:sp>
      <p:sp>
        <p:nvSpPr>
          <p:cNvPr id="52" name="TextBox 51"/>
          <p:cNvSpPr txBox="1"/>
          <p:nvPr/>
        </p:nvSpPr>
        <p:spPr>
          <a:xfrm>
            <a:off x="6153912" y="1325880"/>
            <a:ext cx="5212080" cy="365760"/>
          </a:xfrm>
          <a:prstGeom prst="rect">
            <a:avLst/>
          </a:prstGeom>
          <a:noFill/>
        </p:spPr>
        <p:txBody>
          <a:bodyPr wrap="square" lIns="0" tIns="0" rIns="0" bIns="0" anchor="t">
            <a:spAutoFit/>
          </a:bodyPr>
          <a:lstStyle/>
          <a:p>
            <a:pPr algn="l"/>
            <a:r>
              <a:rPr sz="1800" b="1" i="0">
                <a:solidFill>
                  <a:srgbClr val="1F394D"/>
                </a:solidFill>
              </a:rPr>
              <a:t>Use education: the regression line</a:t>
            </a:r>
          </a:p>
        </p:txBody>
      </p:sp>
      <p:cxnSp>
        <p:nvCxnSpPr>
          <p:cNvPr id="53" name="Connector 52"/>
          <p:cNvCxnSpPr/>
          <p:nvPr/>
        </p:nvCxnSpPr>
        <p:spPr>
          <a:xfrm>
            <a:off x="6656831" y="1783080"/>
            <a:ext cx="0" cy="2926080"/>
          </a:xfrm>
          <a:prstGeom prst="line">
            <a:avLst/>
          </a:prstGeom>
          <a:ln w="15875">
            <a:solidFill>
              <a:srgbClr val="BBC4CC"/>
            </a:solidFill>
          </a:ln>
        </p:spPr>
      </p:cxnSp>
      <p:cxnSp>
        <p:nvCxnSpPr>
          <p:cNvPr id="126" name="Connector 126"/>
          <p:cNvCxnSpPr/>
          <p:nvPr/>
        </p:nvCxnSpPr>
        <p:spPr>
          <a:xfrm>
            <a:off x="6656831" y="4709160"/>
            <a:ext cx="4526281" cy="0"/>
          </a:xfrm>
          <a:prstGeom prst="line">
            <a:avLst/>
          </a:prstGeom>
          <a:ln w="9525">
            <a:solidFill>
              <a:srgbClr val="DDE3E8"/>
            </a:solidFill>
          </a:ln>
        </p:spPr>
      </p:cxnSp>
      <p:sp>
        <p:nvSpPr>
          <p:cNvPr id="127" name="TextBox 127"/>
          <p:cNvSpPr txBox="1"/>
          <p:nvPr/>
        </p:nvSpPr>
        <p:spPr>
          <a:xfrm>
            <a:off x="5971031" y="4572000"/>
            <a:ext cx="621792" cy="274320"/>
          </a:xfrm>
          <a:prstGeom prst="rect">
            <a:avLst/>
          </a:prstGeom>
          <a:noFill/>
        </p:spPr>
        <p:txBody>
          <a:bodyPr wrap="square" lIns="0" tIns="0" rIns="0" bIns="0" anchor="t">
            <a:spAutoFit/>
          </a:bodyPr>
          <a:lstStyle/>
          <a:p>
            <a:pPr algn="r"/>
            <a:r>
              <a:rPr sz="1200" b="0" i="0">
                <a:solidFill>
                  <a:srgbClr val="55606B"/>
                </a:solidFill>
              </a:rPr>
              <a:t>0</a:t>
            </a:r>
          </a:p>
        </p:txBody>
      </p:sp>
      <p:cxnSp>
        <p:nvCxnSpPr>
          <p:cNvPr id="128" name="Connector 128"/>
          <p:cNvCxnSpPr/>
          <p:nvPr/>
        </p:nvCxnSpPr>
        <p:spPr>
          <a:xfrm>
            <a:off x="6656831" y="4058920"/>
            <a:ext cx="4526281" cy="0"/>
          </a:xfrm>
          <a:prstGeom prst="line">
            <a:avLst/>
          </a:prstGeom>
          <a:ln w="9525">
            <a:solidFill>
              <a:srgbClr val="DDE3E8"/>
            </a:solidFill>
          </a:ln>
        </p:spPr>
      </p:cxnSp>
      <p:sp>
        <p:nvSpPr>
          <p:cNvPr id="129" name="TextBox 129"/>
          <p:cNvSpPr txBox="1"/>
          <p:nvPr/>
        </p:nvSpPr>
        <p:spPr>
          <a:xfrm>
            <a:off x="5971031" y="3921760"/>
            <a:ext cx="621792" cy="274320"/>
          </a:xfrm>
          <a:prstGeom prst="rect">
            <a:avLst/>
          </a:prstGeom>
          <a:noFill/>
        </p:spPr>
        <p:txBody>
          <a:bodyPr wrap="square" lIns="0" tIns="0" rIns="0" bIns="0" anchor="t">
            <a:spAutoFit/>
          </a:bodyPr>
          <a:lstStyle/>
          <a:p>
            <a:pPr algn="r"/>
            <a:r>
              <a:rPr sz="1200" b="0" i="0">
                <a:solidFill>
                  <a:srgbClr val="55606B"/>
                </a:solidFill>
              </a:rPr>
              <a:t>2</a:t>
            </a:r>
          </a:p>
        </p:txBody>
      </p:sp>
      <p:cxnSp>
        <p:nvCxnSpPr>
          <p:cNvPr id="130" name="Connector 130"/>
          <p:cNvCxnSpPr/>
          <p:nvPr/>
        </p:nvCxnSpPr>
        <p:spPr>
          <a:xfrm>
            <a:off x="6656831" y="3408680"/>
            <a:ext cx="4526281" cy="0"/>
          </a:xfrm>
          <a:prstGeom prst="line">
            <a:avLst/>
          </a:prstGeom>
          <a:ln w="9525">
            <a:solidFill>
              <a:srgbClr val="DDE3E8"/>
            </a:solidFill>
          </a:ln>
        </p:spPr>
      </p:cxnSp>
      <p:sp>
        <p:nvSpPr>
          <p:cNvPr id="131" name="TextBox 131"/>
          <p:cNvSpPr txBox="1"/>
          <p:nvPr/>
        </p:nvSpPr>
        <p:spPr>
          <a:xfrm>
            <a:off x="5971031" y="3271520"/>
            <a:ext cx="621792" cy="274320"/>
          </a:xfrm>
          <a:prstGeom prst="rect">
            <a:avLst/>
          </a:prstGeom>
          <a:noFill/>
        </p:spPr>
        <p:txBody>
          <a:bodyPr wrap="square" lIns="0" tIns="0" rIns="0" bIns="0" anchor="t">
            <a:spAutoFit/>
          </a:bodyPr>
          <a:lstStyle/>
          <a:p>
            <a:pPr algn="r"/>
            <a:r>
              <a:rPr sz="1200" b="0" i="0">
                <a:solidFill>
                  <a:srgbClr val="55606B"/>
                </a:solidFill>
              </a:rPr>
              <a:t>4</a:t>
            </a:r>
          </a:p>
        </p:txBody>
      </p:sp>
      <p:cxnSp>
        <p:nvCxnSpPr>
          <p:cNvPr id="132" name="Connector 132"/>
          <p:cNvCxnSpPr/>
          <p:nvPr/>
        </p:nvCxnSpPr>
        <p:spPr>
          <a:xfrm>
            <a:off x="6656831" y="2758440"/>
            <a:ext cx="4526281" cy="0"/>
          </a:xfrm>
          <a:prstGeom prst="line">
            <a:avLst/>
          </a:prstGeom>
          <a:ln w="9525">
            <a:solidFill>
              <a:srgbClr val="DDE3E8"/>
            </a:solidFill>
          </a:ln>
        </p:spPr>
      </p:cxnSp>
      <p:sp>
        <p:nvSpPr>
          <p:cNvPr id="133" name="TextBox 133"/>
          <p:cNvSpPr txBox="1"/>
          <p:nvPr/>
        </p:nvSpPr>
        <p:spPr>
          <a:xfrm>
            <a:off x="5971031" y="2621280"/>
            <a:ext cx="621792" cy="274320"/>
          </a:xfrm>
          <a:prstGeom prst="rect">
            <a:avLst/>
          </a:prstGeom>
          <a:noFill/>
        </p:spPr>
        <p:txBody>
          <a:bodyPr wrap="square" lIns="0" tIns="0" rIns="0" bIns="0" anchor="t">
            <a:spAutoFit/>
          </a:bodyPr>
          <a:lstStyle/>
          <a:p>
            <a:pPr algn="r"/>
            <a:r>
              <a:rPr sz="1200" b="0" i="0">
                <a:solidFill>
                  <a:srgbClr val="55606B"/>
                </a:solidFill>
              </a:rPr>
              <a:t>6</a:t>
            </a:r>
          </a:p>
        </p:txBody>
      </p:sp>
      <p:cxnSp>
        <p:nvCxnSpPr>
          <p:cNvPr id="134" name="Connector 134"/>
          <p:cNvCxnSpPr/>
          <p:nvPr/>
        </p:nvCxnSpPr>
        <p:spPr>
          <a:xfrm>
            <a:off x="6656831" y="2108200"/>
            <a:ext cx="4526281" cy="0"/>
          </a:xfrm>
          <a:prstGeom prst="line">
            <a:avLst/>
          </a:prstGeom>
          <a:ln w="9525">
            <a:solidFill>
              <a:srgbClr val="DDE3E8"/>
            </a:solidFill>
          </a:ln>
        </p:spPr>
      </p:cxnSp>
      <p:sp>
        <p:nvSpPr>
          <p:cNvPr id="135" name="TextBox 135"/>
          <p:cNvSpPr txBox="1"/>
          <p:nvPr/>
        </p:nvSpPr>
        <p:spPr>
          <a:xfrm>
            <a:off x="5971031" y="1971040"/>
            <a:ext cx="621792" cy="274320"/>
          </a:xfrm>
          <a:prstGeom prst="rect">
            <a:avLst/>
          </a:prstGeom>
          <a:noFill/>
        </p:spPr>
        <p:txBody>
          <a:bodyPr wrap="square" lIns="0" tIns="0" rIns="0" bIns="0" anchor="t">
            <a:spAutoFit/>
          </a:bodyPr>
          <a:lstStyle/>
          <a:p>
            <a:pPr algn="r"/>
            <a:r>
              <a:rPr sz="1200" b="0" i="0">
                <a:solidFill>
                  <a:srgbClr val="55606B"/>
                </a:solidFill>
              </a:rPr>
              <a:t>8</a:t>
            </a:r>
          </a:p>
        </p:txBody>
      </p:sp>
      <p:cxnSp>
        <p:nvCxnSpPr>
          <p:cNvPr id="136" name="Connector 136"/>
          <p:cNvCxnSpPr/>
          <p:nvPr/>
        </p:nvCxnSpPr>
        <p:spPr>
          <a:xfrm>
            <a:off x="6656831" y="4709160"/>
            <a:ext cx="0" cy="64008"/>
          </a:xfrm>
          <a:prstGeom prst="line">
            <a:avLst/>
          </a:prstGeom>
          <a:ln w="15875">
            <a:solidFill>
              <a:srgbClr val="BBC4CC"/>
            </a:solidFill>
          </a:ln>
        </p:spPr>
      </p:cxnSp>
      <p:sp>
        <p:nvSpPr>
          <p:cNvPr id="137" name="TextBox 137"/>
          <p:cNvSpPr txBox="1"/>
          <p:nvPr/>
        </p:nvSpPr>
        <p:spPr>
          <a:xfrm>
            <a:off x="6108192" y="4782312"/>
            <a:ext cx="1097280" cy="274320"/>
          </a:xfrm>
          <a:prstGeom prst="rect">
            <a:avLst/>
          </a:prstGeom>
          <a:noFill/>
        </p:spPr>
        <p:txBody>
          <a:bodyPr wrap="square" lIns="0" tIns="0" rIns="0" bIns="0" anchor="t">
            <a:spAutoFit/>
          </a:bodyPr>
          <a:lstStyle/>
          <a:p>
            <a:pPr algn="ctr"/>
            <a:r>
              <a:rPr sz="1200" b="0" i="0">
                <a:solidFill>
                  <a:srgbClr val="55606B"/>
                </a:solidFill>
              </a:rPr>
              <a:t>0</a:t>
            </a:r>
          </a:p>
        </p:txBody>
      </p:sp>
      <p:cxnSp>
        <p:nvCxnSpPr>
          <p:cNvPr id="138" name="Connector 138"/>
          <p:cNvCxnSpPr/>
          <p:nvPr/>
        </p:nvCxnSpPr>
        <p:spPr>
          <a:xfrm>
            <a:off x="7518980" y="4709160"/>
            <a:ext cx="0" cy="64008"/>
          </a:xfrm>
          <a:prstGeom prst="line">
            <a:avLst/>
          </a:prstGeom>
          <a:ln w="15875">
            <a:solidFill>
              <a:srgbClr val="BBC4CC"/>
            </a:solidFill>
          </a:ln>
        </p:spPr>
      </p:cxnSp>
      <p:sp>
        <p:nvSpPr>
          <p:cNvPr id="139" name="TextBox 139"/>
          <p:cNvSpPr txBox="1"/>
          <p:nvPr/>
        </p:nvSpPr>
        <p:spPr>
          <a:xfrm>
            <a:off x="6970341" y="4782312"/>
            <a:ext cx="1097280" cy="274320"/>
          </a:xfrm>
          <a:prstGeom prst="rect">
            <a:avLst/>
          </a:prstGeom>
          <a:noFill/>
        </p:spPr>
        <p:txBody>
          <a:bodyPr wrap="square" lIns="0" tIns="0" rIns="0" bIns="0" anchor="t">
            <a:spAutoFit/>
          </a:bodyPr>
          <a:lstStyle/>
          <a:p>
            <a:pPr algn="ctr"/>
            <a:r>
              <a:rPr sz="1200" b="0" i="0">
                <a:solidFill>
                  <a:srgbClr val="55606B"/>
                </a:solidFill>
              </a:rPr>
              <a:t>4</a:t>
            </a:r>
          </a:p>
        </p:txBody>
      </p:sp>
      <p:cxnSp>
        <p:nvCxnSpPr>
          <p:cNvPr id="140" name="Connector 140"/>
          <p:cNvCxnSpPr/>
          <p:nvPr/>
        </p:nvCxnSpPr>
        <p:spPr>
          <a:xfrm>
            <a:off x="8381129" y="4709160"/>
            <a:ext cx="0" cy="64008"/>
          </a:xfrm>
          <a:prstGeom prst="line">
            <a:avLst/>
          </a:prstGeom>
          <a:ln w="15875">
            <a:solidFill>
              <a:srgbClr val="BBC4CC"/>
            </a:solidFill>
          </a:ln>
        </p:spPr>
      </p:cxnSp>
      <p:sp>
        <p:nvSpPr>
          <p:cNvPr id="141" name="TextBox 141"/>
          <p:cNvSpPr txBox="1"/>
          <p:nvPr/>
        </p:nvSpPr>
        <p:spPr>
          <a:xfrm>
            <a:off x="7832490" y="4782312"/>
            <a:ext cx="1097280" cy="274320"/>
          </a:xfrm>
          <a:prstGeom prst="rect">
            <a:avLst/>
          </a:prstGeom>
          <a:noFill/>
        </p:spPr>
        <p:txBody>
          <a:bodyPr wrap="square" lIns="0" tIns="0" rIns="0" bIns="0" anchor="t">
            <a:spAutoFit/>
          </a:bodyPr>
          <a:lstStyle/>
          <a:p>
            <a:pPr algn="ctr"/>
            <a:r>
              <a:rPr sz="1200" b="0" i="0">
                <a:solidFill>
                  <a:srgbClr val="55606B"/>
                </a:solidFill>
              </a:rPr>
              <a:t>8</a:t>
            </a:r>
          </a:p>
        </p:txBody>
      </p:sp>
      <p:cxnSp>
        <p:nvCxnSpPr>
          <p:cNvPr id="142" name="Connector 142"/>
          <p:cNvCxnSpPr/>
          <p:nvPr/>
        </p:nvCxnSpPr>
        <p:spPr>
          <a:xfrm>
            <a:off x="9243277" y="4709160"/>
            <a:ext cx="0" cy="64008"/>
          </a:xfrm>
          <a:prstGeom prst="line">
            <a:avLst/>
          </a:prstGeom>
          <a:ln w="15875">
            <a:solidFill>
              <a:srgbClr val="BBC4CC"/>
            </a:solidFill>
          </a:ln>
        </p:spPr>
      </p:cxnSp>
      <p:sp>
        <p:nvSpPr>
          <p:cNvPr id="143" name="TextBox 143"/>
          <p:cNvSpPr txBox="1"/>
          <p:nvPr/>
        </p:nvSpPr>
        <p:spPr>
          <a:xfrm>
            <a:off x="8694638" y="4782312"/>
            <a:ext cx="1097280" cy="274320"/>
          </a:xfrm>
          <a:prstGeom prst="rect">
            <a:avLst/>
          </a:prstGeom>
          <a:noFill/>
        </p:spPr>
        <p:txBody>
          <a:bodyPr wrap="square" lIns="0" tIns="0" rIns="0" bIns="0" anchor="t">
            <a:spAutoFit/>
          </a:bodyPr>
          <a:lstStyle/>
          <a:p>
            <a:pPr algn="ctr"/>
            <a:r>
              <a:rPr sz="1200" b="0" i="0">
                <a:solidFill>
                  <a:srgbClr val="55606B"/>
                </a:solidFill>
              </a:rPr>
              <a:t>12</a:t>
            </a:r>
          </a:p>
        </p:txBody>
      </p:sp>
      <p:cxnSp>
        <p:nvCxnSpPr>
          <p:cNvPr id="144" name="Connector 144"/>
          <p:cNvCxnSpPr/>
          <p:nvPr/>
        </p:nvCxnSpPr>
        <p:spPr>
          <a:xfrm>
            <a:off x="10105426" y="4709160"/>
            <a:ext cx="0" cy="64008"/>
          </a:xfrm>
          <a:prstGeom prst="line">
            <a:avLst/>
          </a:prstGeom>
          <a:ln w="15875">
            <a:solidFill>
              <a:srgbClr val="BBC4CC"/>
            </a:solidFill>
          </a:ln>
        </p:spPr>
      </p:cxnSp>
      <p:sp>
        <p:nvSpPr>
          <p:cNvPr id="145" name="TextBox 145"/>
          <p:cNvSpPr txBox="1"/>
          <p:nvPr/>
        </p:nvSpPr>
        <p:spPr>
          <a:xfrm>
            <a:off x="9556787" y="4782312"/>
            <a:ext cx="1097280" cy="274320"/>
          </a:xfrm>
          <a:prstGeom prst="rect">
            <a:avLst/>
          </a:prstGeom>
          <a:noFill/>
        </p:spPr>
        <p:txBody>
          <a:bodyPr wrap="square" lIns="0" tIns="0" rIns="0" bIns="0" anchor="t">
            <a:spAutoFit/>
          </a:bodyPr>
          <a:lstStyle/>
          <a:p>
            <a:pPr algn="ctr"/>
            <a:r>
              <a:rPr sz="1200" b="0" i="0">
                <a:solidFill>
                  <a:srgbClr val="55606B"/>
                </a:solidFill>
              </a:rPr>
              <a:t>16</a:t>
            </a:r>
          </a:p>
        </p:txBody>
      </p:sp>
      <p:cxnSp>
        <p:nvCxnSpPr>
          <p:cNvPr id="146" name="Connector 146"/>
          <p:cNvCxnSpPr/>
          <p:nvPr/>
        </p:nvCxnSpPr>
        <p:spPr>
          <a:xfrm>
            <a:off x="10967575" y="4709160"/>
            <a:ext cx="0" cy="64008"/>
          </a:xfrm>
          <a:prstGeom prst="line">
            <a:avLst/>
          </a:prstGeom>
          <a:ln w="15875">
            <a:solidFill>
              <a:srgbClr val="BBC4CC"/>
            </a:solidFill>
          </a:ln>
        </p:spPr>
      </p:cxnSp>
      <p:sp>
        <p:nvSpPr>
          <p:cNvPr id="147" name="TextBox 147"/>
          <p:cNvSpPr txBox="1"/>
          <p:nvPr/>
        </p:nvSpPr>
        <p:spPr>
          <a:xfrm>
            <a:off x="10418936" y="4782312"/>
            <a:ext cx="1097280" cy="274320"/>
          </a:xfrm>
          <a:prstGeom prst="rect">
            <a:avLst/>
          </a:prstGeom>
          <a:noFill/>
        </p:spPr>
        <p:txBody>
          <a:bodyPr wrap="square" lIns="0" tIns="0" rIns="0" bIns="0" anchor="t">
            <a:spAutoFit/>
          </a:bodyPr>
          <a:lstStyle/>
          <a:p>
            <a:pPr algn="ctr"/>
            <a:r>
              <a:rPr sz="1200" b="0" i="0">
                <a:solidFill>
                  <a:srgbClr val="55606B"/>
                </a:solidFill>
              </a:rPr>
              <a:t>20</a:t>
            </a:r>
          </a:p>
        </p:txBody>
      </p:sp>
      <p:cxnSp>
        <p:nvCxnSpPr>
          <p:cNvPr id="62" name="Connector 61"/>
          <p:cNvCxnSpPr/>
          <p:nvPr/>
        </p:nvCxnSpPr>
        <p:spPr>
          <a:xfrm>
            <a:off x="6656831" y="4709160"/>
            <a:ext cx="4526281" cy="0"/>
          </a:xfrm>
          <a:prstGeom prst="line">
            <a:avLst/>
          </a:prstGeom>
          <a:ln w="15875">
            <a:solidFill>
              <a:srgbClr val="BBC4CC"/>
            </a:solidFill>
          </a:ln>
        </p:spPr>
      </p:cxnSp>
      <p:cxnSp>
        <p:nvCxnSpPr>
          <p:cNvPr id="71" name="Connector 70"/>
          <p:cNvCxnSpPr/>
          <p:nvPr/>
        </p:nvCxnSpPr>
        <p:spPr>
          <a:xfrm flipV="1">
            <a:off x="8596666" y="2343640"/>
            <a:ext cx="2370909" cy="1054049"/>
          </a:xfrm>
          <a:prstGeom prst="line">
            <a:avLst/>
          </a:prstGeom>
          <a:ln w="38100">
            <a:solidFill>
              <a:srgbClr val="1F394D"/>
            </a:solidFill>
          </a:ln>
        </p:spPr>
      </p:cxnSp>
      <p:cxnSp>
        <p:nvCxnSpPr>
          <p:cNvPr id="148" name="Connector 148"/>
          <p:cNvCxnSpPr/>
          <p:nvPr/>
        </p:nvCxnSpPr>
        <p:spPr>
          <a:xfrm flipV="1">
            <a:off x="6656831" y="3397689"/>
            <a:ext cx="1939835" cy="862404"/>
          </a:xfrm>
          <a:prstGeom prst="line">
            <a:avLst/>
          </a:prstGeom>
          <a:ln w="19050">
            <a:solidFill>
              <a:srgbClr val="1F394D"/>
            </a:solidFill>
            <a:prstDash val="dash"/>
          </a:ln>
        </p:spPr>
      </p:cxnSp>
      <p:cxnSp>
        <p:nvCxnSpPr>
          <p:cNvPr id="72" name="Connector 71"/>
          <p:cNvCxnSpPr/>
          <p:nvPr/>
        </p:nvCxnSpPr>
        <p:spPr>
          <a:xfrm flipV="1">
            <a:off x="8596666" y="3397625"/>
            <a:ext cx="0" cy="206127"/>
          </a:xfrm>
          <a:prstGeom prst="line">
            <a:avLst/>
          </a:prstGeom>
          <a:ln w="25400">
            <a:solidFill>
              <a:srgbClr val="B88C00"/>
            </a:solidFill>
          </a:ln>
        </p:spPr>
      </p:cxnSp>
      <p:sp>
        <p:nvSpPr>
          <p:cNvPr id="73" name="Oval 72"/>
          <p:cNvSpPr/>
          <p:nvPr/>
        </p:nvSpPr>
        <p:spPr>
          <a:xfrm>
            <a:off x="8532658" y="3539744"/>
            <a:ext cx="128016" cy="128016"/>
          </a:xfrm>
          <a:prstGeom prst="ellipse">
            <a:avLst/>
          </a:prstGeom>
          <a:solidFill>
            <a:srgbClr val="3F739B"/>
          </a:solidFill>
          <a:ln>
            <a:noFill/>
          </a:ln>
        </p:spPr>
        <p:txBody>
          <a:bodyPr rtlCol="0" anchor="ctr"/>
          <a:lstStyle/>
          <a:p>
            <a:pPr algn="ctr"/>
            <a:endParaRPr/>
          </a:p>
        </p:txBody>
      </p:sp>
      <p:cxnSp>
        <p:nvCxnSpPr>
          <p:cNvPr id="74" name="Connector 73"/>
          <p:cNvCxnSpPr/>
          <p:nvPr/>
        </p:nvCxnSpPr>
        <p:spPr>
          <a:xfrm>
            <a:off x="8812203" y="3213608"/>
            <a:ext cx="0" cy="88107"/>
          </a:xfrm>
          <a:prstGeom prst="line">
            <a:avLst/>
          </a:prstGeom>
          <a:ln w="25400">
            <a:solidFill>
              <a:srgbClr val="B88C00"/>
            </a:solidFill>
          </a:ln>
        </p:spPr>
      </p:cxnSp>
      <p:sp>
        <p:nvSpPr>
          <p:cNvPr id="75" name="Oval 74"/>
          <p:cNvSpPr/>
          <p:nvPr/>
        </p:nvSpPr>
        <p:spPr>
          <a:xfrm>
            <a:off x="8748195" y="3149600"/>
            <a:ext cx="128016" cy="128016"/>
          </a:xfrm>
          <a:prstGeom prst="ellipse">
            <a:avLst/>
          </a:prstGeom>
          <a:solidFill>
            <a:srgbClr val="3F739B"/>
          </a:solidFill>
          <a:ln>
            <a:noFill/>
          </a:ln>
        </p:spPr>
        <p:txBody>
          <a:bodyPr rtlCol="0" anchor="ctr"/>
          <a:lstStyle/>
          <a:p>
            <a:pPr algn="ctr"/>
            <a:endParaRPr/>
          </a:p>
        </p:txBody>
      </p:sp>
      <p:cxnSp>
        <p:nvCxnSpPr>
          <p:cNvPr id="76" name="Connector 75"/>
          <p:cNvCxnSpPr/>
          <p:nvPr/>
        </p:nvCxnSpPr>
        <p:spPr>
          <a:xfrm>
            <a:off x="9027740" y="3116071"/>
            <a:ext cx="0" cy="90059"/>
          </a:xfrm>
          <a:prstGeom prst="line">
            <a:avLst/>
          </a:prstGeom>
          <a:ln w="25400">
            <a:solidFill>
              <a:srgbClr val="B88C00"/>
            </a:solidFill>
          </a:ln>
        </p:spPr>
      </p:cxnSp>
      <p:sp>
        <p:nvSpPr>
          <p:cNvPr id="77" name="Oval 76"/>
          <p:cNvSpPr/>
          <p:nvPr/>
        </p:nvSpPr>
        <p:spPr>
          <a:xfrm>
            <a:off x="8963732" y="3052063"/>
            <a:ext cx="128016" cy="128016"/>
          </a:xfrm>
          <a:prstGeom prst="ellipse">
            <a:avLst/>
          </a:prstGeom>
          <a:solidFill>
            <a:srgbClr val="3F739B"/>
          </a:solidFill>
          <a:ln>
            <a:noFill/>
          </a:ln>
        </p:spPr>
        <p:txBody>
          <a:bodyPr rtlCol="0" anchor="ctr"/>
          <a:lstStyle/>
          <a:p>
            <a:pPr algn="ctr"/>
            <a:endParaRPr/>
          </a:p>
        </p:txBody>
      </p:sp>
      <p:cxnSp>
        <p:nvCxnSpPr>
          <p:cNvPr id="78" name="Connector 77"/>
          <p:cNvCxnSpPr/>
          <p:nvPr/>
        </p:nvCxnSpPr>
        <p:spPr>
          <a:xfrm flipV="1">
            <a:off x="9027740" y="3206130"/>
            <a:ext cx="0" cy="202550"/>
          </a:xfrm>
          <a:prstGeom prst="line">
            <a:avLst/>
          </a:prstGeom>
          <a:ln w="25400">
            <a:solidFill>
              <a:srgbClr val="B88C00"/>
            </a:solidFill>
          </a:ln>
        </p:spPr>
      </p:cxnSp>
      <p:sp>
        <p:nvSpPr>
          <p:cNvPr id="79" name="Oval 78"/>
          <p:cNvSpPr/>
          <p:nvPr/>
        </p:nvSpPr>
        <p:spPr>
          <a:xfrm>
            <a:off x="8963732" y="3344672"/>
            <a:ext cx="128016" cy="128016"/>
          </a:xfrm>
          <a:prstGeom prst="ellipse">
            <a:avLst/>
          </a:prstGeom>
          <a:solidFill>
            <a:srgbClr val="3F739B"/>
          </a:solidFill>
          <a:ln>
            <a:noFill/>
          </a:ln>
        </p:spPr>
        <p:txBody>
          <a:bodyPr rtlCol="0" anchor="ctr"/>
          <a:lstStyle/>
          <a:p>
            <a:pPr algn="ctr"/>
            <a:endParaRPr/>
          </a:p>
        </p:txBody>
      </p:sp>
      <p:cxnSp>
        <p:nvCxnSpPr>
          <p:cNvPr id="80" name="Connector 79"/>
          <p:cNvCxnSpPr/>
          <p:nvPr/>
        </p:nvCxnSpPr>
        <p:spPr>
          <a:xfrm>
            <a:off x="9243277" y="2888487"/>
            <a:ext cx="0" cy="221732"/>
          </a:xfrm>
          <a:prstGeom prst="line">
            <a:avLst/>
          </a:prstGeom>
          <a:ln w="25400">
            <a:solidFill>
              <a:srgbClr val="B88C00"/>
            </a:solidFill>
          </a:ln>
        </p:spPr>
      </p:cxnSp>
      <p:sp>
        <p:nvSpPr>
          <p:cNvPr id="81" name="Oval 80"/>
          <p:cNvSpPr/>
          <p:nvPr/>
        </p:nvSpPr>
        <p:spPr>
          <a:xfrm>
            <a:off x="9179269" y="2824479"/>
            <a:ext cx="128016" cy="128016"/>
          </a:xfrm>
          <a:prstGeom prst="ellipse">
            <a:avLst/>
          </a:prstGeom>
          <a:solidFill>
            <a:srgbClr val="3F739B"/>
          </a:solidFill>
          <a:ln>
            <a:noFill/>
          </a:ln>
        </p:spPr>
        <p:txBody>
          <a:bodyPr rtlCol="0" anchor="ctr"/>
          <a:lstStyle/>
          <a:p>
            <a:pPr algn="ctr"/>
            <a:endParaRPr/>
          </a:p>
        </p:txBody>
      </p:sp>
      <p:cxnSp>
        <p:nvCxnSpPr>
          <p:cNvPr id="82" name="Connector 81"/>
          <p:cNvCxnSpPr/>
          <p:nvPr/>
        </p:nvCxnSpPr>
        <p:spPr>
          <a:xfrm flipV="1">
            <a:off x="9458814" y="3014309"/>
            <a:ext cx="0" cy="4227"/>
          </a:xfrm>
          <a:prstGeom prst="line">
            <a:avLst/>
          </a:prstGeom>
          <a:ln w="25400">
            <a:solidFill>
              <a:srgbClr val="B88C00"/>
            </a:solidFill>
          </a:ln>
        </p:spPr>
      </p:cxnSp>
      <p:sp>
        <p:nvSpPr>
          <p:cNvPr id="83" name="Oval 82"/>
          <p:cNvSpPr/>
          <p:nvPr/>
        </p:nvSpPr>
        <p:spPr>
          <a:xfrm>
            <a:off x="9394806" y="2954528"/>
            <a:ext cx="128016" cy="128016"/>
          </a:xfrm>
          <a:prstGeom prst="ellipse">
            <a:avLst/>
          </a:prstGeom>
          <a:solidFill>
            <a:srgbClr val="3F739B"/>
          </a:solidFill>
          <a:ln>
            <a:noFill/>
          </a:ln>
        </p:spPr>
        <p:txBody>
          <a:bodyPr rtlCol="0" anchor="ctr"/>
          <a:lstStyle/>
          <a:p>
            <a:pPr algn="ctr"/>
            <a:endParaRPr/>
          </a:p>
        </p:txBody>
      </p:sp>
      <p:cxnSp>
        <p:nvCxnSpPr>
          <p:cNvPr id="84" name="Connector 83"/>
          <p:cNvCxnSpPr/>
          <p:nvPr/>
        </p:nvCxnSpPr>
        <p:spPr>
          <a:xfrm flipV="1">
            <a:off x="9674352" y="2918723"/>
            <a:ext cx="0" cy="132325"/>
          </a:xfrm>
          <a:prstGeom prst="line">
            <a:avLst/>
          </a:prstGeom>
          <a:ln w="25400">
            <a:solidFill>
              <a:srgbClr val="B88C00"/>
            </a:solidFill>
          </a:ln>
        </p:spPr>
      </p:cxnSp>
      <p:sp>
        <p:nvSpPr>
          <p:cNvPr id="85" name="Oval 84"/>
          <p:cNvSpPr/>
          <p:nvPr/>
        </p:nvSpPr>
        <p:spPr>
          <a:xfrm>
            <a:off x="9610344" y="2987040"/>
            <a:ext cx="128016" cy="128016"/>
          </a:xfrm>
          <a:prstGeom prst="ellipse">
            <a:avLst/>
          </a:prstGeom>
          <a:solidFill>
            <a:srgbClr val="3F739B"/>
          </a:solidFill>
          <a:ln>
            <a:noFill/>
          </a:ln>
        </p:spPr>
        <p:txBody>
          <a:bodyPr rtlCol="0" anchor="ctr"/>
          <a:lstStyle/>
          <a:p>
            <a:pPr algn="ctr"/>
            <a:endParaRPr/>
          </a:p>
        </p:txBody>
      </p:sp>
      <p:cxnSp>
        <p:nvCxnSpPr>
          <p:cNvPr id="86" name="Connector 85"/>
          <p:cNvCxnSpPr/>
          <p:nvPr/>
        </p:nvCxnSpPr>
        <p:spPr>
          <a:xfrm>
            <a:off x="9889889" y="2498344"/>
            <a:ext cx="0" cy="324469"/>
          </a:xfrm>
          <a:prstGeom prst="line">
            <a:avLst/>
          </a:prstGeom>
          <a:ln w="25400">
            <a:solidFill>
              <a:srgbClr val="B88C00"/>
            </a:solidFill>
          </a:ln>
        </p:spPr>
      </p:cxnSp>
      <p:sp>
        <p:nvSpPr>
          <p:cNvPr id="87" name="Oval 86"/>
          <p:cNvSpPr/>
          <p:nvPr/>
        </p:nvSpPr>
        <p:spPr>
          <a:xfrm>
            <a:off x="9825881" y="2434336"/>
            <a:ext cx="128016" cy="128016"/>
          </a:xfrm>
          <a:prstGeom prst="ellipse">
            <a:avLst/>
          </a:prstGeom>
          <a:solidFill>
            <a:srgbClr val="3F739B"/>
          </a:solidFill>
          <a:ln>
            <a:noFill/>
          </a:ln>
        </p:spPr>
        <p:txBody>
          <a:bodyPr rtlCol="0" anchor="ctr"/>
          <a:lstStyle/>
          <a:p>
            <a:pPr algn="ctr"/>
            <a:endParaRPr/>
          </a:p>
        </p:txBody>
      </p:sp>
      <p:cxnSp>
        <p:nvCxnSpPr>
          <p:cNvPr id="88" name="Connector 87"/>
          <p:cNvCxnSpPr/>
          <p:nvPr/>
        </p:nvCxnSpPr>
        <p:spPr>
          <a:xfrm>
            <a:off x="10105426" y="2660903"/>
            <a:ext cx="0" cy="66000"/>
          </a:xfrm>
          <a:prstGeom prst="line">
            <a:avLst/>
          </a:prstGeom>
          <a:ln w="25400">
            <a:solidFill>
              <a:srgbClr val="B88C00"/>
            </a:solidFill>
          </a:ln>
        </p:spPr>
      </p:cxnSp>
      <p:sp>
        <p:nvSpPr>
          <p:cNvPr id="89" name="Oval 88"/>
          <p:cNvSpPr/>
          <p:nvPr/>
        </p:nvSpPr>
        <p:spPr>
          <a:xfrm>
            <a:off x="10041418" y="2596895"/>
            <a:ext cx="128016" cy="128016"/>
          </a:xfrm>
          <a:prstGeom prst="ellipse">
            <a:avLst/>
          </a:prstGeom>
          <a:solidFill>
            <a:srgbClr val="3F739B"/>
          </a:solidFill>
          <a:ln>
            <a:noFill/>
          </a:ln>
        </p:spPr>
        <p:txBody>
          <a:bodyPr rtlCol="0" anchor="ctr"/>
          <a:lstStyle/>
          <a:p>
            <a:pPr algn="ctr"/>
            <a:endParaRPr/>
          </a:p>
        </p:txBody>
      </p:sp>
      <p:cxnSp>
        <p:nvCxnSpPr>
          <p:cNvPr id="90" name="Connector 89"/>
          <p:cNvCxnSpPr/>
          <p:nvPr/>
        </p:nvCxnSpPr>
        <p:spPr>
          <a:xfrm flipV="1">
            <a:off x="10320963" y="2630992"/>
            <a:ext cx="0" cy="257495"/>
          </a:xfrm>
          <a:prstGeom prst="line">
            <a:avLst/>
          </a:prstGeom>
          <a:ln w="25400">
            <a:solidFill>
              <a:srgbClr val="B88C00"/>
            </a:solidFill>
          </a:ln>
        </p:spPr>
      </p:cxnSp>
      <p:sp>
        <p:nvSpPr>
          <p:cNvPr id="91" name="Oval 90"/>
          <p:cNvSpPr/>
          <p:nvPr/>
        </p:nvSpPr>
        <p:spPr>
          <a:xfrm>
            <a:off x="10256955" y="2824479"/>
            <a:ext cx="128016" cy="128016"/>
          </a:xfrm>
          <a:prstGeom prst="ellipse">
            <a:avLst/>
          </a:prstGeom>
          <a:solidFill>
            <a:srgbClr val="3F739B"/>
          </a:solidFill>
          <a:ln>
            <a:noFill/>
          </a:ln>
        </p:spPr>
        <p:txBody>
          <a:bodyPr rtlCol="0" anchor="ctr"/>
          <a:lstStyle/>
          <a:p>
            <a:pPr algn="ctr"/>
            <a:endParaRPr/>
          </a:p>
        </p:txBody>
      </p:sp>
      <p:cxnSp>
        <p:nvCxnSpPr>
          <p:cNvPr id="92" name="Connector 91"/>
          <p:cNvCxnSpPr/>
          <p:nvPr/>
        </p:nvCxnSpPr>
        <p:spPr>
          <a:xfrm>
            <a:off x="10536500" y="2368296"/>
            <a:ext cx="0" cy="167111"/>
          </a:xfrm>
          <a:prstGeom prst="line">
            <a:avLst/>
          </a:prstGeom>
          <a:ln w="25400">
            <a:solidFill>
              <a:srgbClr val="B88C00"/>
            </a:solidFill>
          </a:ln>
        </p:spPr>
      </p:cxnSp>
      <p:sp>
        <p:nvSpPr>
          <p:cNvPr id="93" name="Oval 92"/>
          <p:cNvSpPr/>
          <p:nvPr/>
        </p:nvSpPr>
        <p:spPr>
          <a:xfrm>
            <a:off x="10472492" y="2304288"/>
            <a:ext cx="128016" cy="128016"/>
          </a:xfrm>
          <a:prstGeom prst="ellipse">
            <a:avLst/>
          </a:prstGeom>
          <a:solidFill>
            <a:srgbClr val="3F739B"/>
          </a:solidFill>
          <a:ln>
            <a:noFill/>
          </a:ln>
        </p:spPr>
        <p:txBody>
          <a:bodyPr rtlCol="0" anchor="ctr"/>
          <a:lstStyle/>
          <a:p>
            <a:pPr algn="ctr"/>
            <a:endParaRPr/>
          </a:p>
        </p:txBody>
      </p:sp>
      <p:cxnSp>
        <p:nvCxnSpPr>
          <p:cNvPr id="94" name="Connector 93"/>
          <p:cNvCxnSpPr/>
          <p:nvPr/>
        </p:nvCxnSpPr>
        <p:spPr>
          <a:xfrm flipV="1">
            <a:off x="10967574" y="2343586"/>
            <a:ext cx="0" cy="154758"/>
          </a:xfrm>
          <a:prstGeom prst="line">
            <a:avLst/>
          </a:prstGeom>
          <a:ln w="25400">
            <a:solidFill>
              <a:srgbClr val="B88C00"/>
            </a:solidFill>
          </a:ln>
        </p:spPr>
      </p:cxnSp>
      <p:sp>
        <p:nvSpPr>
          <p:cNvPr id="95" name="Oval 94"/>
          <p:cNvSpPr/>
          <p:nvPr/>
        </p:nvSpPr>
        <p:spPr>
          <a:xfrm>
            <a:off x="10903566" y="2434336"/>
            <a:ext cx="128016" cy="128016"/>
          </a:xfrm>
          <a:prstGeom prst="ellipse">
            <a:avLst/>
          </a:prstGeom>
          <a:solidFill>
            <a:srgbClr val="3F739B"/>
          </a:solidFill>
          <a:ln>
            <a:noFill/>
          </a:ln>
        </p:spPr>
        <p:txBody>
          <a:bodyPr rtlCol="0" anchor="ctr"/>
          <a:lstStyle/>
          <a:p>
            <a:pPr algn="ctr"/>
            <a:endParaRPr/>
          </a:p>
        </p:txBody>
      </p:sp>
      <p:sp>
        <p:nvSpPr>
          <p:cNvPr id="149" name="Intercept dot"/>
          <p:cNvSpPr/>
          <p:nvPr/>
        </p:nvSpPr>
        <p:spPr>
          <a:xfrm>
            <a:off x="6583679" y="4186941"/>
            <a:ext cx="146304" cy="146304"/>
          </a:xfrm>
          <a:prstGeom prst="ellipse">
            <a:avLst/>
          </a:prstGeom>
          <a:solidFill>
            <a:srgbClr val="1F394D"/>
          </a:solidFill>
          <a:ln w="12700">
            <a:solidFill>
              <a:srgbClr val="FFFFFF"/>
            </a:solidFill>
          </a:ln>
        </p:spPr>
        <p:txBody>
          <a:bodyPr rtlCol="0" anchor="ctr"/>
          <a:lstStyle/>
          <a:p>
            <a:pPr algn="ctr"/>
            <a:endParaRPr/>
          </a:p>
        </p:txBody>
      </p:sp>
      <p:sp>
        <p:nvSpPr>
          <p:cNvPr id="150" name="Label"/>
          <p:cNvSpPr txBox="1"/>
          <p:nvPr/>
        </p:nvSpPr>
        <p:spPr>
          <a:xfrm>
            <a:off x="6766559" y="4278381"/>
            <a:ext cx="1280160" cy="466344"/>
          </a:xfrm>
          <a:prstGeom prst="rect">
            <a:avLst/>
          </a:prstGeom>
          <a:noFill/>
        </p:spPr>
        <p:txBody>
          <a:bodyPr wrap="square" lIns="0" tIns="0" rIns="0" bIns="0" anchor="ctr">
            <a:spAutoFit/>
          </a:bodyPr>
          <a:lstStyle/>
          <a:p>
            <a:pPr algn="l"/>
            <a:r>
              <a:rPr sz="1200" b="1" i="0">
                <a:solidFill>
                  <a:srgbClr val="1F394D"/>
                </a:solidFill>
              </a:rPr>
              <a:t>1.38</a:t>
            </a:r>
          </a:p>
        </p:txBody>
      </p:sp>
      <p:sp>
        <p:nvSpPr>
          <p:cNvPr id="96" name="Rounded Rectangle 95"/>
          <p:cNvSpPr/>
          <p:nvPr/>
        </p:nvSpPr>
        <p:spPr>
          <a:xfrm>
            <a:off x="6153912" y="5166360"/>
            <a:ext cx="5212080" cy="685800"/>
          </a:xfrm>
          <a:prstGeom prst="roundRect">
            <a:avLst>
              <a:gd name="adj" fmla="val 8000"/>
            </a:avLst>
          </a:prstGeom>
          <a:solidFill>
            <a:srgbClr val="EEF3F7"/>
          </a:solidFill>
          <a:ln>
            <a:noFill/>
          </a:ln>
        </p:spPr>
        <p:txBody>
          <a:bodyPr rtlCol="0" anchor="ctr"/>
          <a:lstStyle/>
          <a:p>
            <a:endParaRPr/>
          </a:p>
        </p:txBody>
      </p:sp>
      <p:sp>
        <p:nvSpPr>
          <p:cNvPr id="97" name="TextBox 96"/>
          <p:cNvSpPr txBox="1"/>
          <p:nvPr/>
        </p:nvSpPr>
        <p:spPr>
          <a:xfrm>
            <a:off x="6291072" y="5276088"/>
            <a:ext cx="4937760" cy="466344"/>
          </a:xfrm>
          <a:prstGeom prst="rect">
            <a:avLst/>
          </a:prstGeom>
          <a:noFill/>
        </p:spPr>
        <p:txBody>
          <a:bodyPr wrap="square" lIns="0" tIns="0" rIns="0" bIns="0" anchor="ctr">
            <a:spAutoFit/>
          </a:bodyPr>
          <a:lstStyle/>
          <a:p>
            <a:pPr algn="l"/>
            <a:r>
              <a:rPr sz="1800" b="0" i="0">
                <a:solidFill>
                  <a:srgbClr val="55606B"/>
                </a:solidFill>
              </a:rPr>
              <a:t>Sum of squared residuals: </a:t>
            </a:r>
            <a:r>
              <a:rPr sz="1800" b="1" i="0">
                <a:solidFill>
                  <a:srgbClr val="1F394D"/>
                </a:solidFill>
              </a:rPr>
              <a:t>3.7</a:t>
            </a:r>
          </a:p>
        </p:txBody>
      </p:sp>
      <p:sp>
        <p:nvSpPr>
          <p:cNvPr id="98" name="Rounded Rectangle 97"/>
          <p:cNvSpPr/>
          <p:nvPr/>
        </p:nvSpPr>
        <p:spPr>
          <a:xfrm>
            <a:off x="758952" y="5943600"/>
            <a:ext cx="2514600" cy="292608"/>
          </a:xfrm>
          <a:prstGeom prst="roundRect">
            <a:avLst>
              <a:gd name="adj" fmla="val 50000"/>
            </a:avLst>
          </a:prstGeom>
          <a:solidFill>
            <a:srgbClr val="FFFFFF"/>
          </a:solidFill>
          <a:ln w="15875">
            <a:solidFill>
              <a:srgbClr val="B88C00"/>
            </a:solidFill>
          </a:ln>
        </p:spPr>
        <p:txBody>
          <a:bodyPr rtlCol="0" anchor="ctr"/>
          <a:lstStyle/>
          <a:p>
            <a:endParaRPr/>
          </a:p>
        </p:txBody>
      </p:sp>
      <p:sp>
        <p:nvSpPr>
          <p:cNvPr id="99" name="TextBox 98"/>
          <p:cNvSpPr txBox="1"/>
          <p:nvPr/>
        </p:nvSpPr>
        <p:spPr>
          <a:xfrm>
            <a:off x="758952" y="5943600"/>
            <a:ext cx="2514600" cy="292608"/>
          </a:xfrm>
          <a:prstGeom prst="rect">
            <a:avLst/>
          </a:prstGeom>
          <a:noFill/>
        </p:spPr>
        <p:txBody>
          <a:bodyPr wrap="square" lIns="0" tIns="0" rIns="0" bIns="0" anchor="ctr">
            <a:spAutoFit/>
          </a:bodyPr>
          <a:lstStyle/>
          <a:p>
            <a:pPr algn="ctr"/>
            <a:r>
              <a:rPr sz="1200" b="1" i="0">
                <a:solidFill>
                  <a:srgbClr val="7A5C00"/>
                </a:solidFill>
              </a:rPr>
              <a:t>SYNTHETIC EXAMPLE DATA</a:t>
            </a:r>
          </a:p>
        </p:txBody>
      </p:sp>
      <p:sp>
        <p:nvSpPr>
          <p:cNvPr id="100" name="TextBox 99"/>
          <p:cNvSpPr txBox="1"/>
          <p:nvPr/>
        </p:nvSpPr>
        <p:spPr>
          <a:xfrm>
            <a:off x="3410712" y="5943600"/>
            <a:ext cx="7955279" cy="292608"/>
          </a:xfrm>
          <a:prstGeom prst="rect">
            <a:avLst/>
          </a:prstGeom>
          <a:noFill/>
        </p:spPr>
        <p:txBody>
          <a:bodyPr wrap="square" lIns="0" tIns="0" rIns="0" bIns="0" anchor="ctr">
            <a:spAutoFit/>
          </a:bodyPr>
          <a:lstStyle/>
          <a:p>
            <a:pPr algn="l"/>
            <a:r>
              <a:rPr sz="1200" b="0" i="0">
                <a:solidFill>
                  <a:srgbClr val="55606B"/>
                </a:solidFill>
              </a:rPr>
              <a:t>R code: synthetic_examples.R, section W3b. Same 12 people. R² = 1 − 3.7 ÷ 15.0 = 0.75.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Always plot first: Anscombe’s quartet</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7</a:t>
            </a:fld>
            <a:endParaRPr lang="en-GB"/>
          </a:p>
        </p:txBody>
      </p:sp>
      <p:sp>
        <p:nvSpPr>
          <p:cNvPr id="6" name="TextBox 5"/>
          <p:cNvSpPr txBox="1"/>
          <p:nvPr/>
        </p:nvSpPr>
        <p:spPr>
          <a:xfrm>
            <a:off x="758952" y="1325880"/>
            <a:ext cx="2514600" cy="365760"/>
          </a:xfrm>
          <a:prstGeom prst="rect">
            <a:avLst/>
          </a:prstGeom>
          <a:noFill/>
        </p:spPr>
        <p:txBody>
          <a:bodyPr wrap="square" lIns="0" tIns="0" rIns="0" bIns="0" anchor="t">
            <a:spAutoFit/>
          </a:bodyPr>
          <a:lstStyle/>
          <a:p>
            <a:pPr algn="ctr"/>
            <a:r>
              <a:rPr sz="1700" b="1" i="0">
                <a:solidFill>
                  <a:srgbClr val="1F394D"/>
                </a:solidFill>
              </a:rPr>
              <a:t>Sensible</a:t>
            </a:r>
          </a:p>
        </p:txBody>
      </p:sp>
      <p:graphicFrame>
        <p:nvGraphicFramePr>
          <p:cNvPr id="7" name="Anscombe 1"/>
          <p:cNvGraphicFramePr>
            <a:graphicFrameLocks noGrp="1"/>
          </p:cNvGraphicFramePr>
          <p:nvPr/>
        </p:nvGraphicFramePr>
        <p:xfrm>
          <a:off x="758952" y="1737360"/>
          <a:ext cx="25146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3456432" y="1325880"/>
            <a:ext cx="2514600" cy="365760"/>
          </a:xfrm>
          <a:prstGeom prst="rect">
            <a:avLst/>
          </a:prstGeom>
          <a:noFill/>
        </p:spPr>
        <p:txBody>
          <a:bodyPr wrap="square" lIns="0" tIns="0" rIns="0" bIns="0" anchor="t">
            <a:spAutoFit/>
          </a:bodyPr>
          <a:lstStyle/>
          <a:p>
            <a:pPr algn="ctr"/>
            <a:r>
              <a:rPr sz="1700" b="1" i="0">
                <a:solidFill>
                  <a:srgbClr val="1F394D"/>
                </a:solidFill>
              </a:rPr>
              <a:t>Curved</a:t>
            </a:r>
          </a:p>
        </p:txBody>
      </p:sp>
      <p:graphicFrame>
        <p:nvGraphicFramePr>
          <p:cNvPr id="9" name="Anscombe 2"/>
          <p:cNvGraphicFramePr>
            <a:graphicFrameLocks noGrp="1"/>
          </p:cNvGraphicFramePr>
          <p:nvPr/>
        </p:nvGraphicFramePr>
        <p:xfrm>
          <a:off x="3456432" y="1737360"/>
          <a:ext cx="251460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6153912" y="1325880"/>
            <a:ext cx="2514600" cy="365760"/>
          </a:xfrm>
          <a:prstGeom prst="rect">
            <a:avLst/>
          </a:prstGeom>
          <a:noFill/>
        </p:spPr>
        <p:txBody>
          <a:bodyPr wrap="square" lIns="0" tIns="0" rIns="0" bIns="0" anchor="t">
            <a:spAutoFit/>
          </a:bodyPr>
          <a:lstStyle/>
          <a:p>
            <a:pPr algn="ctr"/>
            <a:r>
              <a:rPr sz="1700" b="1" i="0">
                <a:solidFill>
                  <a:srgbClr val="1F394D"/>
                </a:solidFill>
              </a:rPr>
              <a:t>One outlier</a:t>
            </a:r>
          </a:p>
        </p:txBody>
      </p:sp>
      <p:graphicFrame>
        <p:nvGraphicFramePr>
          <p:cNvPr id="11" name="Anscombe 3"/>
          <p:cNvGraphicFramePr>
            <a:graphicFrameLocks noGrp="1"/>
          </p:cNvGraphicFramePr>
          <p:nvPr/>
        </p:nvGraphicFramePr>
        <p:xfrm>
          <a:off x="6153912" y="1737360"/>
          <a:ext cx="2514600" cy="3017520"/>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Box 11"/>
          <p:cNvSpPr txBox="1"/>
          <p:nvPr/>
        </p:nvSpPr>
        <p:spPr>
          <a:xfrm>
            <a:off x="8851392" y="1325880"/>
            <a:ext cx="2514600" cy="365760"/>
          </a:xfrm>
          <a:prstGeom prst="rect">
            <a:avLst/>
          </a:prstGeom>
          <a:noFill/>
        </p:spPr>
        <p:txBody>
          <a:bodyPr wrap="square" lIns="0" tIns="0" rIns="0" bIns="0" anchor="t">
            <a:spAutoFit/>
          </a:bodyPr>
          <a:lstStyle/>
          <a:p>
            <a:pPr algn="ctr"/>
            <a:r>
              <a:rPr sz="1700" b="1" i="0">
                <a:solidFill>
                  <a:srgbClr val="1F394D"/>
                </a:solidFill>
              </a:rPr>
              <a:t>One influential point</a:t>
            </a:r>
          </a:p>
        </p:txBody>
      </p:sp>
      <p:graphicFrame>
        <p:nvGraphicFramePr>
          <p:cNvPr id="13" name="Anscombe 4"/>
          <p:cNvGraphicFramePr>
            <a:graphicFrameLocks noGrp="1"/>
          </p:cNvGraphicFramePr>
          <p:nvPr/>
        </p:nvGraphicFramePr>
        <p:xfrm>
          <a:off x="8851392" y="1737360"/>
          <a:ext cx="2514600" cy="3017520"/>
        </p:xfrm>
        <a:graphic>
          <a:graphicData uri="http://schemas.openxmlformats.org/drawingml/2006/chart">
            <c:chart xmlns:c="http://schemas.openxmlformats.org/drawingml/2006/chart" xmlns:r="http://schemas.openxmlformats.org/officeDocument/2006/relationships" r:id="rId6"/>
          </a:graphicData>
        </a:graphic>
      </p:graphicFrame>
      <p:sp>
        <p:nvSpPr>
          <p:cNvPr id="14" name="Same stats"/>
          <p:cNvSpPr/>
          <p:nvPr/>
        </p:nvSpPr>
        <p:spPr>
          <a:xfrm>
            <a:off x="758952" y="4937760"/>
            <a:ext cx="10607040" cy="822960"/>
          </a:xfrm>
          <a:prstGeom prst="roundRect">
            <a:avLst>
              <a:gd name="adj" fmla="val 8000"/>
            </a:avLst>
          </a:prstGeom>
          <a:solidFill>
            <a:srgbClr val="1F394D"/>
          </a:solidFill>
          <a:ln>
            <a:noFill/>
          </a:ln>
        </p:spPr>
        <p:txBody>
          <a:bodyPr rtlCol="0" anchor="ctr"/>
          <a:lstStyle/>
          <a:p>
            <a:endParaRPr/>
          </a:p>
        </p:txBody>
      </p:sp>
      <p:sp>
        <p:nvSpPr>
          <p:cNvPr id="15" name="TextBox 14"/>
          <p:cNvSpPr txBox="1"/>
          <p:nvPr/>
        </p:nvSpPr>
        <p:spPr>
          <a:xfrm>
            <a:off x="941832" y="4937760"/>
            <a:ext cx="10241280" cy="822960"/>
          </a:xfrm>
          <a:prstGeom prst="rect">
            <a:avLst/>
          </a:prstGeom>
          <a:noFill/>
        </p:spPr>
        <p:txBody>
          <a:bodyPr wrap="square" lIns="0" tIns="0" rIns="0" bIns="0" anchor="ctr">
            <a:spAutoFit/>
          </a:bodyPr>
          <a:lstStyle/>
          <a:p>
            <a:pPr algn="ctr"/>
            <a:r>
              <a:rPr sz="2000" b="1" i="0">
                <a:solidFill>
                  <a:srgbClr val="FFFFFF"/>
                </a:solidFill>
              </a:rPr>
              <a:t>All four: the same line, y = 3 + 0.5x, and the same r = 0.82</a:t>
            </a:r>
          </a:p>
        </p:txBody>
      </p:sp>
      <p:sp>
        <p:nvSpPr>
          <p:cNvPr id="16" name="TextBox 15"/>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Anscombe, F. J. (1973) Graphs in statistical analysis, The American Statistician 27(1): 17-21. Real data built into R (datasets::anscombe); R code section W3a.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Inequality and trust:</a:t>
            </a:r>
          </a:p>
          <a:p>
            <a:r>
              <a:rPr sz="4000"/>
              <a:t>a simple regression</a:t>
            </a:r>
          </a:p>
        </p:txBody>
      </p:sp>
      <p:sp>
        <p:nvSpPr>
          <p:cNvPr id="3" name="Text Placeholder 2"/>
          <p:cNvSpPr>
            <a:spLocks noGrp="1"/>
          </p:cNvSpPr>
          <p:nvPr>
            <p:ph type="body" sz="half" idx="2"/>
          </p:nvPr>
        </p:nvSpPr>
        <p:spPr/>
        <p:txBody>
          <a:bodyPr/>
          <a:lstStyle/>
          <a:p>
            <a:r>
              <a:rPr sz="2400"/>
              <a:t>Worksheet 3, Exercise 3.1</a:t>
            </a:r>
          </a:p>
        </p:txBody>
      </p:sp>
      <p:sp>
        <p:nvSpPr>
          <p:cNvPr id="6"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line through 23 countries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9</a:t>
            </a:fld>
            <a:endParaRPr lang="en-GB"/>
          </a:p>
        </p:txBody>
      </p:sp>
      <p:graphicFrame>
        <p:nvGraphicFramePr>
          <p:cNvPr id="6" name="Spirit line"/>
          <p:cNvGraphicFramePr>
            <a:graphicFrameLocks noGrp="1"/>
          </p:cNvGraphicFramePr>
          <p:nvPr/>
        </p:nvGraphicFramePr>
        <p:xfrm>
          <a:off x="758952" y="1280160"/>
          <a:ext cx="76809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8686800" y="1417320"/>
            <a:ext cx="2679192" cy="2331720"/>
          </a:xfrm>
          <a:prstGeom prst="roundRect">
            <a:avLst>
              <a:gd name="adj" fmla="val 8000"/>
            </a:avLst>
          </a:prstGeom>
          <a:solidFill>
            <a:srgbClr val="1F394D"/>
          </a:solidFill>
          <a:ln>
            <a:noFill/>
          </a:ln>
        </p:spPr>
        <p:txBody>
          <a:bodyPr rtlCol="0" anchor="ctr"/>
          <a:lstStyle/>
          <a:p>
            <a:endParaRPr/>
          </a:p>
        </p:txBody>
      </p:sp>
      <p:sp>
        <p:nvSpPr>
          <p:cNvPr id="8" name="TextBox 7"/>
          <p:cNvSpPr txBox="1"/>
          <p:nvPr/>
        </p:nvSpPr>
        <p:spPr>
          <a:xfrm>
            <a:off x="8887968" y="1578254"/>
            <a:ext cx="2276856" cy="2009851"/>
          </a:xfrm>
          <a:prstGeom prst="rect">
            <a:avLst/>
          </a:prstGeom>
          <a:noFill/>
        </p:spPr>
        <p:txBody>
          <a:bodyPr wrap="square" lIns="0" tIns="0" rIns="0" bIns="0" anchor="t">
            <a:spAutoFit/>
          </a:bodyPr>
          <a:lstStyle/>
          <a:p>
            <a:pPr algn="l">
              <a:spcAft>
                <a:spcPts val="400"/>
              </a:spcAft>
            </a:pPr>
            <a:r>
              <a:rPr sz="2000" b="1" i="0">
                <a:solidFill>
                  <a:srgbClr val="B88C00"/>
                </a:solidFill>
              </a:rPr>
              <a:t>77.1 − 6.54 × inequality</a:t>
            </a:r>
          </a:p>
          <a:p>
            <a:pPr algn="l">
              <a:spcAft>
                <a:spcPts val="400"/>
              </a:spcAft>
            </a:pPr>
            <a:r>
              <a:rPr sz="1600" b="0" i="0">
                <a:solidFill>
                  <a:srgbClr val="CCDDEA"/>
                </a:solidFill>
              </a:rPr>
              <a:t>predicted % trusting</a:t>
            </a:r>
          </a:p>
        </p:txBody>
      </p:sp>
      <p:sp>
        <p:nvSpPr>
          <p:cNvPr id="9" name="Rounded Rectangle 8"/>
          <p:cNvSpPr/>
          <p:nvPr/>
        </p:nvSpPr>
        <p:spPr>
          <a:xfrm>
            <a:off x="8686800" y="3931920"/>
            <a:ext cx="2679192" cy="1828800"/>
          </a:xfrm>
          <a:prstGeom prst="roundRect">
            <a:avLst>
              <a:gd name="adj" fmla="val 8000"/>
            </a:avLst>
          </a:prstGeom>
          <a:solidFill>
            <a:srgbClr val="EEF3F7"/>
          </a:solidFill>
          <a:ln>
            <a:noFill/>
          </a:ln>
        </p:spPr>
        <p:txBody>
          <a:bodyPr rtlCol="0" anchor="ctr"/>
          <a:lstStyle/>
          <a:p>
            <a:endParaRPr/>
          </a:p>
        </p:txBody>
      </p:sp>
      <p:sp>
        <p:nvSpPr>
          <p:cNvPr id="10" name="TextBox 9"/>
          <p:cNvSpPr txBox="1"/>
          <p:nvPr/>
        </p:nvSpPr>
        <p:spPr>
          <a:xfrm>
            <a:off x="8887968" y="4092854"/>
            <a:ext cx="2276856" cy="1506931"/>
          </a:xfrm>
          <a:prstGeom prst="rect">
            <a:avLst/>
          </a:prstGeom>
          <a:noFill/>
        </p:spPr>
        <p:txBody>
          <a:bodyPr wrap="square" lIns="0" tIns="0" rIns="0" bIns="0" anchor="t">
            <a:spAutoFit/>
          </a:bodyPr>
          <a:lstStyle/>
          <a:p>
            <a:pPr algn="l">
              <a:spcAft>
                <a:spcPts val="400"/>
              </a:spcAft>
            </a:pPr>
            <a:r>
              <a:rPr sz="2200" b="1" i="0">
                <a:solidFill>
                  <a:srgbClr val="1F394D"/>
                </a:solidFill>
              </a:rPr>
              <a:t>R² = 0.44</a:t>
            </a:r>
          </a:p>
          <a:p>
            <a:pPr algn="l">
              <a:spcAft>
                <a:spcPts val="400"/>
              </a:spcAft>
            </a:pPr>
            <a:r>
              <a:rPr sz="1500" b="0" i="0">
                <a:solidFill>
                  <a:srgbClr val="1F2A33"/>
                </a:solidFill>
              </a:rPr>
              <a:t>Inequality accounts for 44% of the variation in trust.</a:t>
            </a:r>
          </a:p>
        </p:txBody>
      </p:sp>
      <p:sp>
        <p:nvSpPr>
          <p:cNvPr id="11" name="TextBox 10"/>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pickett2009.csv (Wilkinson &amp; Pickett 2009), 23 countries. Trust = % who say most people can be trusted.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the JASP output</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10</a:t>
            </a:fld>
            <a:endParaRPr lang="en-GB"/>
          </a:p>
        </p:txBody>
      </p:sp>
      <p:graphicFrame>
        <p:nvGraphicFramePr>
          <p:cNvPr id="6" name="Table 5"/>
          <p:cNvGraphicFramePr>
            <a:graphicFrameLocks noGrp="1"/>
          </p:cNvGraphicFramePr>
          <p:nvPr/>
        </p:nvGraphicFramePr>
        <p:xfrm>
          <a:off x="758952" y="1417320"/>
          <a:ext cx="10607040" cy="1700784"/>
        </p:xfrm>
        <a:graphic>
          <a:graphicData uri="http://schemas.openxmlformats.org/drawingml/2006/table">
            <a:tbl>
              <a:tblPr firstRow="1">
                <a:tableStyleId>{5C22544A-7EE6-4342-B048-85BDC9FD1C3A}</a:tableStyleId>
              </a:tblPr>
              <a:tblGrid>
                <a:gridCol w="26517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566928">
                <a:tc>
                  <a:txBody>
                    <a:bodyPr/>
                    <a:lstStyle/>
                    <a:p>
                      <a:pPr algn="l"/>
                      <a:r>
                        <a:rPr sz="1700" b="1">
                          <a:solidFill>
                            <a:srgbClr val="FFFFFF"/>
                          </a:solidFill>
                        </a:rPr>
                        <a:t>Coefficients (M₁)</a:t>
                      </a:r>
                    </a:p>
                  </a:txBody>
                  <a:tcPr marT="27432" marB="27432" anchor="ctr">
                    <a:solidFill>
                      <a:srgbClr val="1F394D"/>
                    </a:solidFill>
                  </a:tcPr>
                </a:tc>
                <a:tc>
                  <a:txBody>
                    <a:bodyPr/>
                    <a:lstStyle/>
                    <a:p>
                      <a:pPr algn="r"/>
                      <a:r>
                        <a:rPr sz="1700" b="1">
                          <a:solidFill>
                            <a:srgbClr val="FFFFFF"/>
                          </a:solidFill>
                        </a:rPr>
                        <a:t>Unstandardized</a:t>
                      </a:r>
                    </a:p>
                  </a:txBody>
                  <a:tcPr marT="27432" marB="27432" anchor="ctr">
                    <a:solidFill>
                      <a:srgbClr val="1F394D"/>
                    </a:solidFill>
                  </a:tcPr>
                </a:tc>
                <a:tc>
                  <a:txBody>
                    <a:bodyPr/>
                    <a:lstStyle/>
                    <a:p>
                      <a:pPr algn="r"/>
                      <a:r>
                        <a:rPr sz="1700" b="1">
                          <a:solidFill>
                            <a:srgbClr val="FFFFFF"/>
                          </a:solidFill>
                        </a:rPr>
                        <a:t>Standard error</a:t>
                      </a:r>
                    </a:p>
                  </a:txBody>
                  <a:tcPr marT="27432" marB="27432" anchor="ctr">
                    <a:solidFill>
                      <a:srgbClr val="1F394D"/>
                    </a:solidFill>
                  </a:tcPr>
                </a:tc>
                <a:tc>
                  <a:txBody>
                    <a:bodyPr/>
                    <a:lstStyle/>
                    <a:p>
                      <a:pPr algn="r"/>
                      <a:r>
                        <a:rPr sz="1700" b="1">
                          <a:solidFill>
                            <a:srgbClr val="FFFFFF"/>
                          </a:solidFill>
                        </a:rPr>
                        <a:t>Standardized</a:t>
                      </a:r>
                    </a:p>
                  </a:txBody>
                  <a:tcPr marT="27432" marB="27432" anchor="ctr">
                    <a:solidFill>
                      <a:srgbClr val="1F394D"/>
                    </a:solidFill>
                  </a:tcPr>
                </a:tc>
                <a:tc>
                  <a:txBody>
                    <a:bodyPr/>
                    <a:lstStyle/>
                    <a:p>
                      <a:pPr algn="r"/>
                      <a:r>
                        <a:rPr sz="1700" b="1">
                          <a:solidFill>
                            <a:srgbClr val="FFFFFF"/>
                          </a:solidFill>
                        </a:rPr>
                        <a:t>t</a:t>
                      </a:r>
                    </a:p>
                  </a:txBody>
                  <a:tcPr marT="27432" marB="27432" anchor="ctr">
                    <a:solidFill>
                      <a:srgbClr val="1F394D"/>
                    </a:solidFill>
                  </a:tcPr>
                </a:tc>
                <a:tc>
                  <a:txBody>
                    <a:bodyPr/>
                    <a:lstStyle/>
                    <a:p>
                      <a:pPr algn="r"/>
                      <a:r>
                        <a:rPr sz="1700" b="1">
                          <a:solidFill>
                            <a:srgbClr val="FFFFFF"/>
                          </a:solidFill>
                        </a:rPr>
                        <a:t>p</a:t>
                      </a:r>
                    </a:p>
                  </a:txBody>
                  <a:tcPr marT="27432" marB="27432" anchor="ctr">
                    <a:solidFill>
                      <a:srgbClr val="1F394D"/>
                    </a:solidFill>
                  </a:tcPr>
                </a:tc>
                <a:extLst>
                  <a:ext uri="{0D108BD9-81ED-4DB2-BD59-A6C34878D82A}">
                    <a16:rowId xmlns:a16="http://schemas.microsoft.com/office/drawing/2014/main" val="10000"/>
                  </a:ext>
                </a:extLst>
              </a:tr>
              <a:tr h="566928">
                <a:tc>
                  <a:txBody>
                    <a:bodyPr/>
                    <a:lstStyle/>
                    <a:p>
                      <a:pPr algn="l"/>
                      <a:r>
                        <a:rPr sz="1700" b="1">
                          <a:solidFill>
                            <a:srgbClr val="1F2A33"/>
                          </a:solidFill>
                        </a:rPr>
                        <a:t>(Intercept)</a:t>
                      </a:r>
                    </a:p>
                  </a:txBody>
                  <a:tcPr marT="27432" marB="27432" anchor="ctr">
                    <a:solidFill>
                      <a:srgbClr val="FFFFFF"/>
                    </a:solidFill>
                  </a:tcPr>
                </a:tc>
                <a:tc>
                  <a:txBody>
                    <a:bodyPr/>
                    <a:lstStyle/>
                    <a:p>
                      <a:pPr algn="r"/>
                      <a:r>
                        <a:rPr sz="1700" b="0">
                          <a:solidFill>
                            <a:srgbClr val="1F2A33"/>
                          </a:solidFill>
                        </a:rPr>
                        <a:t>77.062</a:t>
                      </a:r>
                    </a:p>
                  </a:txBody>
                  <a:tcPr marT="27432" marB="27432" anchor="ctr">
                    <a:solidFill>
                      <a:srgbClr val="FFFFFF"/>
                    </a:solidFill>
                  </a:tcPr>
                </a:tc>
                <a:tc>
                  <a:txBody>
                    <a:bodyPr/>
                    <a:lstStyle/>
                    <a:p>
                      <a:pPr algn="r"/>
                      <a:r>
                        <a:rPr sz="1700" b="0">
                          <a:solidFill>
                            <a:srgbClr val="1F2A33"/>
                          </a:solidFill>
                        </a:rPr>
                        <a:t>9.721</a:t>
                      </a:r>
                    </a:p>
                  </a:txBody>
                  <a:tcPr marT="27432" marB="27432" anchor="ctr">
                    <a:solidFill>
                      <a:srgbClr val="FFFFFF"/>
                    </a:solidFill>
                  </a:tcPr>
                </a:tc>
                <a:tc>
                  <a:txBody>
                    <a:bodyPr/>
                    <a:lstStyle/>
                    <a:p>
                      <a:pPr algn="r"/>
                      <a:endParaRPr/>
                    </a:p>
                  </a:txBody>
                  <a:tcPr marT="27432" marB="27432" anchor="ctr">
                    <a:solidFill>
                      <a:srgbClr val="FFFFFF"/>
                    </a:solidFill>
                  </a:tcPr>
                </a:tc>
                <a:tc>
                  <a:txBody>
                    <a:bodyPr/>
                    <a:lstStyle/>
                    <a:p>
                      <a:pPr algn="r"/>
                      <a:r>
                        <a:rPr sz="1700" b="0">
                          <a:solidFill>
                            <a:srgbClr val="1F2A33"/>
                          </a:solidFill>
                        </a:rPr>
                        <a:t>7.93</a:t>
                      </a:r>
                    </a:p>
                  </a:txBody>
                  <a:tcPr marT="27432" marB="27432" anchor="ctr">
                    <a:solidFill>
                      <a:srgbClr val="FFFFFF"/>
                    </a:solidFill>
                  </a:tcPr>
                </a:tc>
                <a:tc>
                  <a:txBody>
                    <a:bodyPr/>
                    <a:lstStyle/>
                    <a:p>
                      <a:pPr algn="r"/>
                      <a:r>
                        <a:rPr sz="1700" b="0">
                          <a:solidFill>
                            <a:srgbClr val="1F2A33"/>
                          </a:solidFill>
                        </a:rPr>
                        <a:t>&lt; .001</a:t>
                      </a:r>
                    </a:p>
                  </a:txBody>
                  <a:tcPr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1700" b="1">
                          <a:solidFill>
                            <a:srgbClr val="1F2A33"/>
                          </a:solidFill>
                        </a:rPr>
                        <a:t>Income inequality</a:t>
                      </a:r>
                    </a:p>
                  </a:txBody>
                  <a:tcPr marT="27432" marB="27432" anchor="ctr">
                    <a:solidFill>
                      <a:srgbClr val="F6E7B8"/>
                    </a:solidFill>
                  </a:tcPr>
                </a:tc>
                <a:tc>
                  <a:txBody>
                    <a:bodyPr/>
                    <a:lstStyle/>
                    <a:p>
                      <a:pPr algn="r"/>
                      <a:r>
                        <a:rPr sz="1700" b="0">
                          <a:solidFill>
                            <a:srgbClr val="1F2A33"/>
                          </a:solidFill>
                        </a:rPr>
                        <a:t>−6.535</a:t>
                      </a:r>
                    </a:p>
                  </a:txBody>
                  <a:tcPr marT="27432" marB="27432" anchor="ctr">
                    <a:solidFill>
                      <a:srgbClr val="F6E7B8"/>
                    </a:solidFill>
                  </a:tcPr>
                </a:tc>
                <a:tc>
                  <a:txBody>
                    <a:bodyPr/>
                    <a:lstStyle/>
                    <a:p>
                      <a:pPr algn="r"/>
                      <a:r>
                        <a:rPr sz="1700" b="0">
                          <a:solidFill>
                            <a:srgbClr val="1F2A33"/>
                          </a:solidFill>
                        </a:rPr>
                        <a:t>1.605</a:t>
                      </a:r>
                    </a:p>
                  </a:txBody>
                  <a:tcPr marT="27432" marB="27432" anchor="ctr">
                    <a:solidFill>
                      <a:srgbClr val="F6E7B8"/>
                    </a:solidFill>
                  </a:tcPr>
                </a:tc>
                <a:tc>
                  <a:txBody>
                    <a:bodyPr/>
                    <a:lstStyle/>
                    <a:p>
                      <a:pPr algn="r"/>
                      <a:r>
                        <a:rPr sz="1700" b="0">
                          <a:solidFill>
                            <a:srgbClr val="1F2A33"/>
                          </a:solidFill>
                        </a:rPr>
                        <a:t>−0.664</a:t>
                      </a:r>
                    </a:p>
                  </a:txBody>
                  <a:tcPr marT="27432" marB="27432" anchor="ctr">
                    <a:solidFill>
                      <a:srgbClr val="F6E7B8"/>
                    </a:solidFill>
                  </a:tcPr>
                </a:tc>
                <a:tc>
                  <a:txBody>
                    <a:bodyPr/>
                    <a:lstStyle/>
                    <a:p>
                      <a:pPr algn="r"/>
                      <a:r>
                        <a:rPr sz="1700" b="0">
                          <a:solidFill>
                            <a:srgbClr val="1F2A33"/>
                          </a:solidFill>
                        </a:rPr>
                        <a:t>−4.07</a:t>
                      </a:r>
                    </a:p>
                  </a:txBody>
                  <a:tcPr marT="27432" marB="27432" anchor="ctr">
                    <a:solidFill>
                      <a:srgbClr val="F6E7B8"/>
                    </a:solidFill>
                  </a:tcPr>
                </a:tc>
                <a:tc>
                  <a:txBody>
                    <a:bodyPr/>
                    <a:lstStyle/>
                    <a:p>
                      <a:pPr algn="r"/>
                      <a:r>
                        <a:rPr sz="1700" b="0">
                          <a:solidFill>
                            <a:srgbClr val="1F2A33"/>
                          </a:solidFill>
                        </a:rPr>
                        <a:t>&lt; .001</a:t>
                      </a:r>
                    </a:p>
                  </a:txBody>
                  <a:tcPr marT="27432" marB="27432" anchor="ctr">
                    <a:solidFill>
                      <a:srgbClr val="F6E7B8"/>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758952" y="3200400"/>
            <a:ext cx="10607040" cy="365760"/>
          </a:xfrm>
          <a:prstGeom prst="rect">
            <a:avLst/>
          </a:prstGeom>
          <a:noFill/>
        </p:spPr>
        <p:txBody>
          <a:bodyPr wrap="square" lIns="0" tIns="0" rIns="0" bIns="0" anchor="t">
            <a:spAutoFit/>
          </a:bodyPr>
          <a:lstStyle/>
          <a:p>
            <a:pPr algn="l"/>
            <a:r>
              <a:rPr sz="1600" b="0" i="0">
                <a:solidFill>
                  <a:srgbClr val="55606B"/>
                </a:solidFill>
              </a:rPr>
              <a:t>Model summary:  R = 0.664   R² = 0.441   n = 23</a:t>
            </a:r>
          </a:p>
        </p:txBody>
      </p:sp>
      <p:sp>
        <p:nvSpPr>
          <p:cNvPr id="8" name="Rounded Rectangle 7"/>
          <p:cNvSpPr/>
          <p:nvPr/>
        </p:nvSpPr>
        <p:spPr>
          <a:xfrm>
            <a:off x="758952" y="3703320"/>
            <a:ext cx="3429000" cy="2057400"/>
          </a:xfrm>
          <a:prstGeom prst="roundRect">
            <a:avLst>
              <a:gd name="adj" fmla="val 8000"/>
            </a:avLst>
          </a:prstGeom>
          <a:solidFill>
            <a:srgbClr val="1F394D"/>
          </a:solidFill>
          <a:ln>
            <a:noFill/>
          </a:ln>
        </p:spPr>
        <p:txBody>
          <a:bodyPr rtlCol="0" anchor="ctr"/>
          <a:lstStyle/>
          <a:p>
            <a:endParaRPr/>
          </a:p>
        </p:txBody>
      </p:sp>
      <p:sp>
        <p:nvSpPr>
          <p:cNvPr id="9" name="TextBox 8"/>
          <p:cNvSpPr txBox="1"/>
          <p:nvPr/>
        </p:nvSpPr>
        <p:spPr>
          <a:xfrm>
            <a:off x="960120" y="3864254"/>
            <a:ext cx="3026664" cy="1735531"/>
          </a:xfrm>
          <a:prstGeom prst="rect">
            <a:avLst/>
          </a:prstGeom>
          <a:noFill/>
        </p:spPr>
        <p:txBody>
          <a:bodyPr wrap="square" lIns="0" tIns="0" rIns="0" bIns="0" anchor="t">
            <a:spAutoFit/>
          </a:bodyPr>
          <a:lstStyle/>
          <a:p>
            <a:pPr algn="l">
              <a:spcAft>
                <a:spcPts val="400"/>
              </a:spcAft>
            </a:pPr>
            <a:r>
              <a:rPr sz="2000" b="1" i="0">
                <a:solidFill>
                  <a:srgbClr val="B88C00"/>
                </a:solidFill>
              </a:rPr>
              <a:t>Slope</a:t>
            </a:r>
          </a:p>
          <a:p>
            <a:pPr algn="l">
              <a:spcAft>
                <a:spcPts val="400"/>
              </a:spcAft>
            </a:pPr>
            <a:r>
              <a:rPr sz="1600" b="0" i="0">
                <a:solidFill>
                  <a:srgbClr val="CCDDEA"/>
                </a:solidFill>
              </a:rPr>
              <a:t>Each one-unit rise in the inequality ratio goes with 6.5 percentage points less trust.</a:t>
            </a:r>
          </a:p>
        </p:txBody>
      </p:sp>
      <p:sp>
        <p:nvSpPr>
          <p:cNvPr id="10" name="Rounded Rectangle 9"/>
          <p:cNvSpPr/>
          <p:nvPr/>
        </p:nvSpPr>
        <p:spPr>
          <a:xfrm>
            <a:off x="4370832" y="3703320"/>
            <a:ext cx="3429000" cy="2057400"/>
          </a:xfrm>
          <a:prstGeom prst="roundRect">
            <a:avLst>
              <a:gd name="adj" fmla="val 8000"/>
            </a:avLst>
          </a:prstGeom>
          <a:solidFill>
            <a:srgbClr val="EEF3F7"/>
          </a:solidFill>
          <a:ln>
            <a:noFill/>
          </a:ln>
        </p:spPr>
        <p:txBody>
          <a:bodyPr rtlCol="0" anchor="ctr"/>
          <a:lstStyle/>
          <a:p>
            <a:endParaRPr/>
          </a:p>
        </p:txBody>
      </p:sp>
      <p:sp>
        <p:nvSpPr>
          <p:cNvPr id="11" name="TextBox 10"/>
          <p:cNvSpPr txBox="1"/>
          <p:nvPr/>
        </p:nvSpPr>
        <p:spPr>
          <a:xfrm>
            <a:off x="4572000" y="3864254"/>
            <a:ext cx="3026664" cy="1735531"/>
          </a:xfrm>
          <a:prstGeom prst="rect">
            <a:avLst/>
          </a:prstGeom>
          <a:noFill/>
        </p:spPr>
        <p:txBody>
          <a:bodyPr wrap="square" lIns="0" tIns="0" rIns="0" bIns="0" anchor="t">
            <a:spAutoFit/>
          </a:bodyPr>
          <a:lstStyle/>
          <a:p>
            <a:pPr algn="l">
              <a:spcAft>
                <a:spcPts val="400"/>
              </a:spcAft>
            </a:pPr>
            <a:r>
              <a:rPr sz="2000" b="1" i="0">
                <a:solidFill>
                  <a:srgbClr val="1F394D"/>
                </a:solidFill>
              </a:rPr>
              <a:t>Intercept</a:t>
            </a:r>
          </a:p>
          <a:p>
            <a:pPr algn="l">
              <a:spcAft>
                <a:spcPts val="400"/>
              </a:spcAft>
            </a:pPr>
            <a:r>
              <a:rPr sz="1600" b="0" i="0">
                <a:solidFill>
                  <a:srgbClr val="1F2A33"/>
                </a:solidFill>
              </a:rPr>
              <a:t>Predicted trust when inequality = 0: 77%. The ratio can’t be below 1, so don’t interpret it.</a:t>
            </a:r>
          </a:p>
        </p:txBody>
      </p:sp>
      <p:sp>
        <p:nvSpPr>
          <p:cNvPr id="12" name="Rounded Rectangle 11"/>
          <p:cNvSpPr/>
          <p:nvPr/>
        </p:nvSpPr>
        <p:spPr>
          <a:xfrm>
            <a:off x="7982712" y="3703320"/>
            <a:ext cx="3429000" cy="2057400"/>
          </a:xfrm>
          <a:prstGeom prst="roundRect">
            <a:avLst>
              <a:gd name="adj" fmla="val 8000"/>
            </a:avLst>
          </a:prstGeom>
          <a:solidFill>
            <a:srgbClr val="EEF3F7"/>
          </a:solidFill>
          <a:ln>
            <a:noFill/>
          </a:ln>
        </p:spPr>
        <p:txBody>
          <a:bodyPr rtlCol="0" anchor="ctr"/>
          <a:lstStyle/>
          <a:p>
            <a:endParaRPr/>
          </a:p>
        </p:txBody>
      </p:sp>
      <p:sp>
        <p:nvSpPr>
          <p:cNvPr id="13" name="TextBox 12"/>
          <p:cNvSpPr txBox="1"/>
          <p:nvPr/>
        </p:nvSpPr>
        <p:spPr>
          <a:xfrm>
            <a:off x="8183880" y="3864254"/>
            <a:ext cx="3026664" cy="1735531"/>
          </a:xfrm>
          <a:prstGeom prst="rect">
            <a:avLst/>
          </a:prstGeom>
          <a:noFill/>
        </p:spPr>
        <p:txBody>
          <a:bodyPr wrap="square" lIns="0" tIns="0" rIns="0" bIns="0" anchor="t">
            <a:spAutoFit/>
          </a:bodyPr>
          <a:lstStyle/>
          <a:p>
            <a:pPr algn="l">
              <a:spcAft>
                <a:spcPts val="400"/>
              </a:spcAft>
            </a:pPr>
            <a:r>
              <a:rPr sz="2000" b="1" i="0">
                <a:solidFill>
                  <a:srgbClr val="1F394D"/>
                </a:solidFill>
              </a:rPr>
              <a:t>R²</a:t>
            </a:r>
          </a:p>
          <a:p>
            <a:pPr algn="l">
              <a:spcAft>
                <a:spcPts val="400"/>
              </a:spcAft>
            </a:pPr>
            <a:r>
              <a:rPr sz="1600" b="0" i="0">
                <a:solidFill>
                  <a:srgbClr val="1F2A33"/>
                </a:solidFill>
              </a:rPr>
              <a:t>44% of the cross-country variation in trust goes with inequality.</a:t>
            </a:r>
          </a:p>
        </p:txBody>
      </p:sp>
      <p:sp>
        <p:nvSpPr>
          <p:cNvPr id="14" name="TextBox 13"/>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pickett2009.csv (Wilkinson &amp; Pickett 2009), 23 countries. Trust = % who say most people can be trusted.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Predictions and residuals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11</a:t>
            </a:fld>
            <a:endParaRPr lang="en-GB"/>
          </a:p>
        </p:txBody>
      </p:sp>
      <p:graphicFrame>
        <p:nvGraphicFramePr>
          <p:cNvPr id="6" name="Table 5"/>
          <p:cNvGraphicFramePr>
            <a:graphicFrameLocks noGrp="1"/>
          </p:cNvGraphicFramePr>
          <p:nvPr/>
        </p:nvGraphicFramePr>
        <p:xfrm>
          <a:off x="758952" y="1417320"/>
          <a:ext cx="5760720" cy="2743200"/>
        </p:xfrm>
        <a:graphic>
          <a:graphicData uri="http://schemas.openxmlformats.org/drawingml/2006/table">
            <a:tbl>
              <a:tblPr firstRow="1">
                <a:tableStyleId>{5C22544A-7EE6-4342-B048-85BDC9FD1C3A}</a:tableStyleId>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548640">
                <a:tc>
                  <a:txBody>
                    <a:bodyPr/>
                    <a:lstStyle/>
                    <a:p>
                      <a:pPr algn="l"/>
                      <a:r>
                        <a:rPr sz="1600" b="1">
                          <a:solidFill>
                            <a:srgbClr val="FFFFFF"/>
                          </a:solidFill>
                        </a:rPr>
                        <a:t>Country</a:t>
                      </a:r>
                    </a:p>
                  </a:txBody>
                  <a:tcPr marT="27432" marB="27432" anchor="ctr">
                    <a:solidFill>
                      <a:srgbClr val="1F394D"/>
                    </a:solidFill>
                  </a:tcPr>
                </a:tc>
                <a:tc>
                  <a:txBody>
                    <a:bodyPr/>
                    <a:lstStyle/>
                    <a:p>
                      <a:pPr algn="r"/>
                      <a:r>
                        <a:rPr sz="1600" b="1">
                          <a:solidFill>
                            <a:srgbClr val="FFFFFF"/>
                          </a:solidFill>
                        </a:rPr>
                        <a:t>Inequality</a:t>
                      </a:r>
                    </a:p>
                  </a:txBody>
                  <a:tcPr marT="27432" marB="27432" anchor="ctr">
                    <a:solidFill>
                      <a:srgbClr val="1F394D"/>
                    </a:solidFill>
                  </a:tcPr>
                </a:tc>
                <a:tc>
                  <a:txBody>
                    <a:bodyPr/>
                    <a:lstStyle/>
                    <a:p>
                      <a:pPr algn="r"/>
                      <a:r>
                        <a:rPr sz="1600" b="1">
                          <a:solidFill>
                            <a:srgbClr val="FFFFFF"/>
                          </a:solidFill>
                        </a:rPr>
                        <a:t>Predicted</a:t>
                      </a:r>
                    </a:p>
                  </a:txBody>
                  <a:tcPr marT="27432" marB="27432" anchor="ctr">
                    <a:solidFill>
                      <a:srgbClr val="1F394D"/>
                    </a:solidFill>
                  </a:tcPr>
                </a:tc>
                <a:tc>
                  <a:txBody>
                    <a:bodyPr/>
                    <a:lstStyle/>
                    <a:p>
                      <a:pPr algn="r"/>
                      <a:r>
                        <a:rPr sz="1600" b="1">
                          <a:solidFill>
                            <a:srgbClr val="FFFFFF"/>
                          </a:solidFill>
                        </a:rPr>
                        <a:t>Observed</a:t>
                      </a:r>
                    </a:p>
                  </a:txBody>
                  <a:tcPr marT="27432" marB="27432" anchor="ctr">
                    <a:solidFill>
                      <a:srgbClr val="1F394D"/>
                    </a:solidFill>
                  </a:tcPr>
                </a:tc>
                <a:tc>
                  <a:txBody>
                    <a:bodyPr/>
                    <a:lstStyle/>
                    <a:p>
                      <a:pPr algn="r"/>
                      <a:r>
                        <a:rPr sz="1600" b="1">
                          <a:solidFill>
                            <a:srgbClr val="FFFFFF"/>
                          </a:solidFill>
                        </a:rPr>
                        <a:t>Residual</a:t>
                      </a:r>
                    </a:p>
                  </a:txBody>
                  <a:tcPr marT="27432" marB="27432" anchor="ctr">
                    <a:solidFill>
                      <a:srgbClr val="1F394D"/>
                    </a:solidFill>
                  </a:tcPr>
                </a:tc>
                <a:extLst>
                  <a:ext uri="{0D108BD9-81ED-4DB2-BD59-A6C34878D82A}">
                    <a16:rowId xmlns:a16="http://schemas.microsoft.com/office/drawing/2014/main" val="10000"/>
                  </a:ext>
                </a:extLst>
              </a:tr>
              <a:tr h="548640">
                <a:tc>
                  <a:txBody>
                    <a:bodyPr/>
                    <a:lstStyle/>
                    <a:p>
                      <a:pPr algn="l"/>
                      <a:r>
                        <a:rPr sz="1600" b="1">
                          <a:solidFill>
                            <a:srgbClr val="1F2A33"/>
                          </a:solidFill>
                        </a:rPr>
                        <a:t>Denmark</a:t>
                      </a:r>
                    </a:p>
                  </a:txBody>
                  <a:tcPr marT="27432" marB="27432" anchor="ctr">
                    <a:solidFill>
                      <a:srgbClr val="FFFFFF"/>
                    </a:solidFill>
                  </a:tcPr>
                </a:tc>
                <a:tc>
                  <a:txBody>
                    <a:bodyPr/>
                    <a:lstStyle/>
                    <a:p>
                      <a:pPr algn="r"/>
                      <a:r>
                        <a:rPr sz="1600" b="0">
                          <a:solidFill>
                            <a:srgbClr val="1F2A33"/>
                          </a:solidFill>
                        </a:rPr>
                        <a:t>4.30</a:t>
                      </a:r>
                    </a:p>
                  </a:txBody>
                  <a:tcPr marT="27432" marB="27432" anchor="ctr">
                    <a:solidFill>
                      <a:srgbClr val="FFFFFF"/>
                    </a:solidFill>
                  </a:tcPr>
                </a:tc>
                <a:tc>
                  <a:txBody>
                    <a:bodyPr/>
                    <a:lstStyle/>
                    <a:p>
                      <a:pPr algn="r"/>
                      <a:r>
                        <a:rPr sz="1600" b="0">
                          <a:solidFill>
                            <a:srgbClr val="1F2A33"/>
                          </a:solidFill>
                        </a:rPr>
                        <a:t>49.0</a:t>
                      </a:r>
                    </a:p>
                  </a:txBody>
                  <a:tcPr marT="27432" marB="27432" anchor="ctr">
                    <a:solidFill>
                      <a:srgbClr val="FFFFFF"/>
                    </a:solidFill>
                  </a:tcPr>
                </a:tc>
                <a:tc>
                  <a:txBody>
                    <a:bodyPr/>
                    <a:lstStyle/>
                    <a:p>
                      <a:pPr algn="r"/>
                      <a:r>
                        <a:rPr sz="1600" b="0">
                          <a:solidFill>
                            <a:srgbClr val="1F2A33"/>
                          </a:solidFill>
                        </a:rPr>
                        <a:t>66.5</a:t>
                      </a:r>
                    </a:p>
                  </a:txBody>
                  <a:tcPr marT="27432" marB="27432" anchor="ctr">
                    <a:solidFill>
                      <a:srgbClr val="FFFFFF"/>
                    </a:solidFill>
                  </a:tcPr>
                </a:tc>
                <a:tc>
                  <a:txBody>
                    <a:bodyPr/>
                    <a:lstStyle/>
                    <a:p>
                      <a:pPr algn="r"/>
                      <a:r>
                        <a:rPr sz="1600" b="0">
                          <a:solidFill>
                            <a:srgbClr val="1F2A33"/>
                          </a:solidFill>
                        </a:rPr>
                        <a:t>+17.5</a:t>
                      </a:r>
                    </a:p>
                  </a:txBody>
                  <a:tcPr marT="27432" marB="27432" anchor="ctr">
                    <a:solidFill>
                      <a:srgbClr val="FFFFFF"/>
                    </a:solidFill>
                  </a:tcPr>
                </a:tc>
                <a:extLst>
                  <a:ext uri="{0D108BD9-81ED-4DB2-BD59-A6C34878D82A}">
                    <a16:rowId xmlns:a16="http://schemas.microsoft.com/office/drawing/2014/main" val="10001"/>
                  </a:ext>
                </a:extLst>
              </a:tr>
              <a:tr h="548640">
                <a:tc>
                  <a:txBody>
                    <a:bodyPr/>
                    <a:lstStyle/>
                    <a:p>
                      <a:pPr algn="l"/>
                      <a:r>
                        <a:rPr sz="1600" b="1">
                          <a:solidFill>
                            <a:srgbClr val="1F2A33"/>
                          </a:solidFill>
                        </a:rPr>
                        <a:t>France</a:t>
                      </a:r>
                    </a:p>
                  </a:txBody>
                  <a:tcPr marT="27432" marB="27432" anchor="ctr">
                    <a:solidFill>
                      <a:srgbClr val="EEF3F7"/>
                    </a:solidFill>
                  </a:tcPr>
                </a:tc>
                <a:tc>
                  <a:txBody>
                    <a:bodyPr/>
                    <a:lstStyle/>
                    <a:p>
                      <a:pPr algn="r"/>
                      <a:r>
                        <a:rPr sz="1600" b="0">
                          <a:solidFill>
                            <a:srgbClr val="1F2A33"/>
                          </a:solidFill>
                        </a:rPr>
                        <a:t>5.60</a:t>
                      </a:r>
                    </a:p>
                  </a:txBody>
                  <a:tcPr marT="27432" marB="27432" anchor="ctr">
                    <a:solidFill>
                      <a:srgbClr val="EEF3F7"/>
                    </a:solidFill>
                  </a:tcPr>
                </a:tc>
                <a:tc>
                  <a:txBody>
                    <a:bodyPr/>
                    <a:lstStyle/>
                    <a:p>
                      <a:pPr algn="r"/>
                      <a:r>
                        <a:rPr sz="1600" b="0">
                          <a:solidFill>
                            <a:srgbClr val="1F2A33"/>
                          </a:solidFill>
                        </a:rPr>
                        <a:t>40.5</a:t>
                      </a:r>
                    </a:p>
                  </a:txBody>
                  <a:tcPr marT="27432" marB="27432" anchor="ctr">
                    <a:solidFill>
                      <a:srgbClr val="EEF3F7"/>
                    </a:solidFill>
                  </a:tcPr>
                </a:tc>
                <a:tc>
                  <a:txBody>
                    <a:bodyPr/>
                    <a:lstStyle/>
                    <a:p>
                      <a:pPr algn="r"/>
                      <a:r>
                        <a:rPr sz="1600" b="0">
                          <a:solidFill>
                            <a:srgbClr val="1F2A33"/>
                          </a:solidFill>
                        </a:rPr>
                        <a:t>22.2</a:t>
                      </a:r>
                    </a:p>
                  </a:txBody>
                  <a:tcPr marT="27432" marB="27432" anchor="ctr">
                    <a:solidFill>
                      <a:srgbClr val="EEF3F7"/>
                    </a:solidFill>
                  </a:tcPr>
                </a:tc>
                <a:tc>
                  <a:txBody>
                    <a:bodyPr/>
                    <a:lstStyle/>
                    <a:p>
                      <a:pPr algn="r"/>
                      <a:r>
                        <a:rPr sz="1600" b="0">
                          <a:solidFill>
                            <a:srgbClr val="1F2A33"/>
                          </a:solidFill>
                        </a:rPr>
                        <a:t>−18.3</a:t>
                      </a:r>
                    </a:p>
                  </a:txBody>
                  <a:tcPr marT="27432" marB="27432" anchor="ctr">
                    <a:solidFill>
                      <a:srgbClr val="EEF3F7"/>
                    </a:solidFill>
                  </a:tcPr>
                </a:tc>
                <a:extLst>
                  <a:ext uri="{0D108BD9-81ED-4DB2-BD59-A6C34878D82A}">
                    <a16:rowId xmlns:a16="http://schemas.microsoft.com/office/drawing/2014/main" val="10002"/>
                  </a:ext>
                </a:extLst>
              </a:tr>
              <a:tr h="548640">
                <a:tc>
                  <a:txBody>
                    <a:bodyPr/>
                    <a:lstStyle/>
                    <a:p>
                      <a:pPr algn="l"/>
                      <a:r>
                        <a:rPr sz="1600" b="1">
                          <a:solidFill>
                            <a:srgbClr val="1F2A33"/>
                          </a:solidFill>
                        </a:rPr>
                        <a:t>Australia</a:t>
                      </a:r>
                    </a:p>
                  </a:txBody>
                  <a:tcPr marT="27432" marB="27432" anchor="ctr">
                    <a:solidFill>
                      <a:srgbClr val="FFFFFF"/>
                    </a:solidFill>
                  </a:tcPr>
                </a:tc>
                <a:tc>
                  <a:txBody>
                    <a:bodyPr/>
                    <a:lstStyle/>
                    <a:p>
                      <a:pPr algn="r"/>
                      <a:r>
                        <a:rPr sz="1600" b="0">
                          <a:solidFill>
                            <a:srgbClr val="1F2A33"/>
                          </a:solidFill>
                        </a:rPr>
                        <a:t>7.00</a:t>
                      </a:r>
                    </a:p>
                  </a:txBody>
                  <a:tcPr marT="27432" marB="27432" anchor="ctr">
                    <a:solidFill>
                      <a:srgbClr val="FFFFFF"/>
                    </a:solidFill>
                  </a:tcPr>
                </a:tc>
                <a:tc>
                  <a:txBody>
                    <a:bodyPr/>
                    <a:lstStyle/>
                    <a:p>
                      <a:pPr algn="r"/>
                      <a:r>
                        <a:rPr sz="1600" b="0">
                          <a:solidFill>
                            <a:srgbClr val="1F2A33"/>
                          </a:solidFill>
                        </a:rPr>
                        <a:t>31.3</a:t>
                      </a:r>
                    </a:p>
                  </a:txBody>
                  <a:tcPr marT="27432" marB="27432" anchor="ctr">
                    <a:solidFill>
                      <a:srgbClr val="FFFFFF"/>
                    </a:solidFill>
                  </a:tcPr>
                </a:tc>
                <a:tc>
                  <a:txBody>
                    <a:bodyPr/>
                    <a:lstStyle/>
                    <a:p>
                      <a:pPr algn="r"/>
                      <a:r>
                        <a:rPr sz="1600" b="0">
                          <a:solidFill>
                            <a:srgbClr val="1F2A33"/>
                          </a:solidFill>
                        </a:rPr>
                        <a:t>39.9</a:t>
                      </a:r>
                    </a:p>
                  </a:txBody>
                  <a:tcPr marT="27432" marB="27432" anchor="ctr">
                    <a:solidFill>
                      <a:srgbClr val="FFFFFF"/>
                    </a:solidFill>
                  </a:tcPr>
                </a:tc>
                <a:tc>
                  <a:txBody>
                    <a:bodyPr/>
                    <a:lstStyle/>
                    <a:p>
                      <a:pPr algn="r"/>
                      <a:r>
                        <a:rPr sz="1600" b="0">
                          <a:solidFill>
                            <a:srgbClr val="1F2A33"/>
                          </a:solidFill>
                        </a:rPr>
                        <a:t>+8.6</a:t>
                      </a:r>
                    </a:p>
                  </a:txBody>
                  <a:tcPr marT="27432" marB="27432" anchor="ctr">
                    <a:solidFill>
                      <a:srgbClr val="FFFFFF"/>
                    </a:solidFill>
                  </a:tcPr>
                </a:tc>
                <a:extLst>
                  <a:ext uri="{0D108BD9-81ED-4DB2-BD59-A6C34878D82A}">
                    <a16:rowId xmlns:a16="http://schemas.microsoft.com/office/drawing/2014/main" val="10003"/>
                  </a:ext>
                </a:extLst>
              </a:tr>
              <a:tr h="548640">
                <a:tc>
                  <a:txBody>
                    <a:bodyPr/>
                    <a:lstStyle/>
                    <a:p>
                      <a:pPr algn="l"/>
                      <a:r>
                        <a:rPr sz="1600" b="1">
                          <a:solidFill>
                            <a:srgbClr val="1F2A33"/>
                          </a:solidFill>
                        </a:rPr>
                        <a:t>Portugal</a:t>
                      </a:r>
                    </a:p>
                  </a:txBody>
                  <a:tcPr marT="27432" marB="27432" anchor="ctr">
                    <a:solidFill>
                      <a:srgbClr val="EEF3F7"/>
                    </a:solidFill>
                  </a:tcPr>
                </a:tc>
                <a:tc>
                  <a:txBody>
                    <a:bodyPr/>
                    <a:lstStyle/>
                    <a:p>
                      <a:pPr algn="r"/>
                      <a:r>
                        <a:rPr sz="1600" b="0">
                          <a:solidFill>
                            <a:srgbClr val="1F2A33"/>
                          </a:solidFill>
                        </a:rPr>
                        <a:t>8.00</a:t>
                      </a:r>
                    </a:p>
                  </a:txBody>
                  <a:tcPr marT="27432" marB="27432" anchor="ctr">
                    <a:solidFill>
                      <a:srgbClr val="EEF3F7"/>
                    </a:solidFill>
                  </a:tcPr>
                </a:tc>
                <a:tc>
                  <a:txBody>
                    <a:bodyPr/>
                    <a:lstStyle/>
                    <a:p>
                      <a:pPr algn="r"/>
                      <a:r>
                        <a:rPr sz="1600" b="0">
                          <a:solidFill>
                            <a:srgbClr val="1F2A33"/>
                          </a:solidFill>
                        </a:rPr>
                        <a:t>24.8</a:t>
                      </a:r>
                    </a:p>
                  </a:txBody>
                  <a:tcPr marT="27432" marB="27432" anchor="ctr">
                    <a:solidFill>
                      <a:srgbClr val="EEF3F7"/>
                    </a:solidFill>
                  </a:tcPr>
                </a:tc>
                <a:tc>
                  <a:txBody>
                    <a:bodyPr/>
                    <a:lstStyle/>
                    <a:p>
                      <a:pPr algn="r"/>
                      <a:r>
                        <a:rPr sz="1600" b="0">
                          <a:solidFill>
                            <a:srgbClr val="1F2A33"/>
                          </a:solidFill>
                        </a:rPr>
                        <a:t>10.0</a:t>
                      </a:r>
                    </a:p>
                  </a:txBody>
                  <a:tcPr marT="27432" marB="27432" anchor="ctr">
                    <a:solidFill>
                      <a:srgbClr val="EEF3F7"/>
                    </a:solidFill>
                  </a:tcPr>
                </a:tc>
                <a:tc>
                  <a:txBody>
                    <a:bodyPr/>
                    <a:lstStyle/>
                    <a:p>
                      <a:pPr algn="r"/>
                      <a:r>
                        <a:rPr sz="1600" b="0">
                          <a:solidFill>
                            <a:srgbClr val="1F2A33"/>
                          </a:solidFill>
                        </a:rPr>
                        <a:t>−14.8</a:t>
                      </a:r>
                    </a:p>
                  </a:txBody>
                  <a:tcPr marT="27432" marB="27432" anchor="ctr">
                    <a:solidFill>
                      <a:srgbClr val="EEF3F7"/>
                    </a:solidFill>
                  </a:tcPr>
                </a:tc>
                <a:extLst>
                  <a:ext uri="{0D108BD9-81ED-4DB2-BD59-A6C34878D82A}">
                    <a16:rowId xmlns:a16="http://schemas.microsoft.com/office/drawing/2014/main" val="10004"/>
                  </a:ext>
                </a:extLst>
              </a:tr>
            </a:tbl>
          </a:graphicData>
        </a:graphic>
      </p:graphicFrame>
      <p:sp>
        <p:nvSpPr>
          <p:cNvPr id="7" name="Worked"/>
          <p:cNvSpPr/>
          <p:nvPr/>
        </p:nvSpPr>
        <p:spPr>
          <a:xfrm>
            <a:off x="758952" y="4343400"/>
            <a:ext cx="5760720" cy="1417320"/>
          </a:xfrm>
          <a:prstGeom prst="roundRect">
            <a:avLst>
              <a:gd name="adj" fmla="val 8000"/>
            </a:avLst>
          </a:prstGeom>
          <a:solidFill>
            <a:srgbClr val="1F394D"/>
          </a:solidFill>
          <a:ln>
            <a:noFill/>
          </a:ln>
        </p:spPr>
        <p:txBody>
          <a:bodyPr rtlCol="0" anchor="ctr"/>
          <a:lstStyle/>
          <a:p>
            <a:endParaRPr/>
          </a:p>
        </p:txBody>
      </p:sp>
      <p:sp>
        <p:nvSpPr>
          <p:cNvPr id="8" name="TextBox 7"/>
          <p:cNvSpPr txBox="1"/>
          <p:nvPr/>
        </p:nvSpPr>
        <p:spPr>
          <a:xfrm>
            <a:off x="987552" y="4389120"/>
            <a:ext cx="5303520" cy="1325880"/>
          </a:xfrm>
          <a:prstGeom prst="rect">
            <a:avLst/>
          </a:prstGeom>
          <a:noFill/>
        </p:spPr>
        <p:txBody>
          <a:bodyPr wrap="square" lIns="0" tIns="0" rIns="0" bIns="0" anchor="t">
            <a:spAutoFit/>
          </a:bodyPr>
          <a:lstStyle/>
          <a:p>
            <a:pPr algn="l"/>
            <a:r>
              <a:rPr sz="1700" b="1" i="0">
                <a:solidFill>
                  <a:srgbClr val="B88C00"/>
                </a:solidFill>
              </a:rPr>
              <a:t>Portugal</a:t>
            </a:r>
          </a:p>
          <a:p>
            <a:pPr algn="l"/>
            <a:r>
              <a:rPr sz="1700" b="0" i="0">
                <a:solidFill>
                  <a:srgbClr val="FFFFFF"/>
                </a:solidFill>
              </a:rPr>
              <a:t>77.06 − 6.535 × 8 = 24.8% predicted</a:t>
            </a:r>
          </a:p>
          <a:p>
            <a:pPr algn="l"/>
            <a:r>
              <a:rPr sz="1700" b="0" i="0">
                <a:solidFill>
                  <a:srgbClr val="CCDDEA"/>
                </a:solidFill>
              </a:rPr>
              <a:t>observed 10%  →  residual −14.8 points</a:t>
            </a:r>
          </a:p>
        </p:txBody>
      </p:sp>
      <p:cxnSp>
        <p:nvCxnSpPr>
          <p:cNvPr id="9" name="Connector 8"/>
          <p:cNvCxnSpPr/>
          <p:nvPr/>
        </p:nvCxnSpPr>
        <p:spPr>
          <a:xfrm>
            <a:off x="7315200" y="1463040"/>
            <a:ext cx="0" cy="3931920"/>
          </a:xfrm>
          <a:prstGeom prst="line">
            <a:avLst/>
          </a:prstGeom>
          <a:ln w="15875">
            <a:solidFill>
              <a:srgbClr val="BBC4CC"/>
            </a:solidFill>
          </a:ln>
        </p:spPr>
      </p:cxnSp>
      <p:cxnSp>
        <p:nvCxnSpPr>
          <p:cNvPr id="60" name="Connector 60"/>
          <p:cNvCxnSpPr/>
          <p:nvPr/>
        </p:nvCxnSpPr>
        <p:spPr>
          <a:xfrm>
            <a:off x="7315200" y="5394960"/>
            <a:ext cx="3931920" cy="0"/>
          </a:xfrm>
          <a:prstGeom prst="line">
            <a:avLst/>
          </a:prstGeom>
          <a:ln w="9525">
            <a:solidFill>
              <a:srgbClr val="DDE3E8"/>
            </a:solidFill>
          </a:ln>
        </p:spPr>
      </p:cxnSp>
      <p:sp>
        <p:nvSpPr>
          <p:cNvPr id="61" name="TextBox 61"/>
          <p:cNvSpPr txBox="1"/>
          <p:nvPr/>
        </p:nvSpPr>
        <p:spPr>
          <a:xfrm>
            <a:off x="6629400" y="5257800"/>
            <a:ext cx="621792" cy="274320"/>
          </a:xfrm>
          <a:prstGeom prst="rect">
            <a:avLst/>
          </a:prstGeom>
          <a:noFill/>
        </p:spPr>
        <p:txBody>
          <a:bodyPr wrap="square" lIns="0" tIns="0" rIns="0" bIns="0" anchor="t">
            <a:spAutoFit/>
          </a:bodyPr>
          <a:lstStyle/>
          <a:p>
            <a:pPr algn="r"/>
            <a:r>
              <a:rPr sz="1200" b="0" i="0">
                <a:solidFill>
                  <a:srgbClr val="55606B"/>
                </a:solidFill>
              </a:rPr>
              <a:t>0</a:t>
            </a:r>
          </a:p>
        </p:txBody>
      </p:sp>
      <p:cxnSp>
        <p:nvCxnSpPr>
          <p:cNvPr id="62" name="Connector 62"/>
          <p:cNvCxnSpPr/>
          <p:nvPr/>
        </p:nvCxnSpPr>
        <p:spPr>
          <a:xfrm>
            <a:off x="7315200" y="4608576"/>
            <a:ext cx="3931920" cy="0"/>
          </a:xfrm>
          <a:prstGeom prst="line">
            <a:avLst/>
          </a:prstGeom>
          <a:ln w="9525">
            <a:solidFill>
              <a:srgbClr val="DDE3E8"/>
            </a:solidFill>
          </a:ln>
        </p:spPr>
      </p:cxnSp>
      <p:sp>
        <p:nvSpPr>
          <p:cNvPr id="63" name="TextBox 63"/>
          <p:cNvSpPr txBox="1"/>
          <p:nvPr/>
        </p:nvSpPr>
        <p:spPr>
          <a:xfrm>
            <a:off x="6629400" y="4471416"/>
            <a:ext cx="621792" cy="274320"/>
          </a:xfrm>
          <a:prstGeom prst="rect">
            <a:avLst/>
          </a:prstGeom>
          <a:noFill/>
        </p:spPr>
        <p:txBody>
          <a:bodyPr wrap="square" lIns="0" tIns="0" rIns="0" bIns="0" anchor="t">
            <a:spAutoFit/>
          </a:bodyPr>
          <a:lstStyle/>
          <a:p>
            <a:pPr algn="r"/>
            <a:r>
              <a:rPr sz="1200" b="0" i="0">
                <a:solidFill>
                  <a:srgbClr val="55606B"/>
                </a:solidFill>
              </a:rPr>
              <a:t>20</a:t>
            </a:r>
          </a:p>
        </p:txBody>
      </p:sp>
      <p:cxnSp>
        <p:nvCxnSpPr>
          <p:cNvPr id="64" name="Connector 64"/>
          <p:cNvCxnSpPr/>
          <p:nvPr/>
        </p:nvCxnSpPr>
        <p:spPr>
          <a:xfrm>
            <a:off x="7315200" y="3822192"/>
            <a:ext cx="3931920" cy="0"/>
          </a:xfrm>
          <a:prstGeom prst="line">
            <a:avLst/>
          </a:prstGeom>
          <a:ln w="9525">
            <a:solidFill>
              <a:srgbClr val="DDE3E8"/>
            </a:solidFill>
          </a:ln>
        </p:spPr>
      </p:cxnSp>
      <p:sp>
        <p:nvSpPr>
          <p:cNvPr id="65" name="TextBox 65"/>
          <p:cNvSpPr txBox="1"/>
          <p:nvPr/>
        </p:nvSpPr>
        <p:spPr>
          <a:xfrm>
            <a:off x="6629400" y="3685032"/>
            <a:ext cx="621792" cy="274320"/>
          </a:xfrm>
          <a:prstGeom prst="rect">
            <a:avLst/>
          </a:prstGeom>
          <a:noFill/>
        </p:spPr>
        <p:txBody>
          <a:bodyPr wrap="square" lIns="0" tIns="0" rIns="0" bIns="0" anchor="t">
            <a:spAutoFit/>
          </a:bodyPr>
          <a:lstStyle/>
          <a:p>
            <a:pPr algn="r"/>
            <a:r>
              <a:rPr sz="1200" b="0" i="0">
                <a:solidFill>
                  <a:srgbClr val="55606B"/>
                </a:solidFill>
              </a:rPr>
              <a:t>40</a:t>
            </a:r>
          </a:p>
        </p:txBody>
      </p:sp>
      <p:cxnSp>
        <p:nvCxnSpPr>
          <p:cNvPr id="66" name="Connector 66"/>
          <p:cNvCxnSpPr/>
          <p:nvPr/>
        </p:nvCxnSpPr>
        <p:spPr>
          <a:xfrm>
            <a:off x="7315200" y="3035808"/>
            <a:ext cx="3931920" cy="0"/>
          </a:xfrm>
          <a:prstGeom prst="line">
            <a:avLst/>
          </a:prstGeom>
          <a:ln w="9525">
            <a:solidFill>
              <a:srgbClr val="DDE3E8"/>
            </a:solidFill>
          </a:ln>
        </p:spPr>
      </p:cxnSp>
      <p:sp>
        <p:nvSpPr>
          <p:cNvPr id="67" name="TextBox 67"/>
          <p:cNvSpPr txBox="1"/>
          <p:nvPr/>
        </p:nvSpPr>
        <p:spPr>
          <a:xfrm>
            <a:off x="6629400" y="2898648"/>
            <a:ext cx="621792" cy="274320"/>
          </a:xfrm>
          <a:prstGeom prst="rect">
            <a:avLst/>
          </a:prstGeom>
          <a:noFill/>
        </p:spPr>
        <p:txBody>
          <a:bodyPr wrap="square" lIns="0" tIns="0" rIns="0" bIns="0" anchor="t">
            <a:spAutoFit/>
          </a:bodyPr>
          <a:lstStyle/>
          <a:p>
            <a:pPr algn="r"/>
            <a:r>
              <a:rPr sz="1200" b="0" i="0">
                <a:solidFill>
                  <a:srgbClr val="55606B"/>
                </a:solidFill>
              </a:rPr>
              <a:t>60</a:t>
            </a:r>
          </a:p>
        </p:txBody>
      </p:sp>
      <p:cxnSp>
        <p:nvCxnSpPr>
          <p:cNvPr id="68" name="Connector 68"/>
          <p:cNvCxnSpPr/>
          <p:nvPr/>
        </p:nvCxnSpPr>
        <p:spPr>
          <a:xfrm>
            <a:off x="7315200" y="2249424"/>
            <a:ext cx="3931920" cy="0"/>
          </a:xfrm>
          <a:prstGeom prst="line">
            <a:avLst/>
          </a:prstGeom>
          <a:ln w="9525">
            <a:solidFill>
              <a:srgbClr val="DDE3E8"/>
            </a:solidFill>
          </a:ln>
        </p:spPr>
      </p:cxnSp>
      <p:sp>
        <p:nvSpPr>
          <p:cNvPr id="69" name="TextBox 69"/>
          <p:cNvSpPr txBox="1"/>
          <p:nvPr/>
        </p:nvSpPr>
        <p:spPr>
          <a:xfrm>
            <a:off x="6629400" y="2112264"/>
            <a:ext cx="621792" cy="274320"/>
          </a:xfrm>
          <a:prstGeom prst="rect">
            <a:avLst/>
          </a:prstGeom>
          <a:noFill/>
        </p:spPr>
        <p:txBody>
          <a:bodyPr wrap="square" lIns="0" tIns="0" rIns="0" bIns="0" anchor="t">
            <a:spAutoFit/>
          </a:bodyPr>
          <a:lstStyle/>
          <a:p>
            <a:pPr algn="r"/>
            <a:r>
              <a:rPr sz="1200" b="0" i="0">
                <a:solidFill>
                  <a:srgbClr val="55606B"/>
                </a:solidFill>
              </a:rPr>
              <a:t>80</a:t>
            </a:r>
          </a:p>
        </p:txBody>
      </p:sp>
      <p:cxnSp>
        <p:nvCxnSpPr>
          <p:cNvPr id="70" name="Connector 70"/>
          <p:cNvCxnSpPr/>
          <p:nvPr/>
        </p:nvCxnSpPr>
        <p:spPr>
          <a:xfrm>
            <a:off x="7315200" y="1463040"/>
            <a:ext cx="3931920" cy="0"/>
          </a:xfrm>
          <a:prstGeom prst="line">
            <a:avLst/>
          </a:prstGeom>
          <a:ln w="9525">
            <a:solidFill>
              <a:srgbClr val="DDE3E8"/>
            </a:solidFill>
          </a:ln>
        </p:spPr>
      </p:cxnSp>
      <p:sp>
        <p:nvSpPr>
          <p:cNvPr id="71" name="TextBox 71"/>
          <p:cNvSpPr txBox="1"/>
          <p:nvPr/>
        </p:nvSpPr>
        <p:spPr>
          <a:xfrm>
            <a:off x="6629400" y="1325880"/>
            <a:ext cx="621792" cy="274320"/>
          </a:xfrm>
          <a:prstGeom prst="rect">
            <a:avLst/>
          </a:prstGeom>
          <a:noFill/>
        </p:spPr>
        <p:txBody>
          <a:bodyPr wrap="square" lIns="0" tIns="0" rIns="0" bIns="0" anchor="t">
            <a:spAutoFit/>
          </a:bodyPr>
          <a:lstStyle/>
          <a:p>
            <a:pPr algn="r"/>
            <a:r>
              <a:rPr sz="1200" b="0" i="0">
                <a:solidFill>
                  <a:srgbClr val="55606B"/>
                </a:solidFill>
              </a:rPr>
              <a:t>100</a:t>
            </a:r>
          </a:p>
        </p:txBody>
      </p:sp>
      <p:cxnSp>
        <p:nvCxnSpPr>
          <p:cNvPr id="72" name="Connector 72"/>
          <p:cNvCxnSpPr/>
          <p:nvPr/>
        </p:nvCxnSpPr>
        <p:spPr>
          <a:xfrm>
            <a:off x="7315200" y="5394960"/>
            <a:ext cx="0" cy="64008"/>
          </a:xfrm>
          <a:prstGeom prst="line">
            <a:avLst/>
          </a:prstGeom>
          <a:ln w="15875">
            <a:solidFill>
              <a:srgbClr val="BBC4CC"/>
            </a:solidFill>
          </a:ln>
        </p:spPr>
      </p:cxnSp>
      <p:sp>
        <p:nvSpPr>
          <p:cNvPr id="73" name="TextBox 73"/>
          <p:cNvSpPr txBox="1"/>
          <p:nvPr/>
        </p:nvSpPr>
        <p:spPr>
          <a:xfrm>
            <a:off x="6766560" y="5468112"/>
            <a:ext cx="1097280" cy="274320"/>
          </a:xfrm>
          <a:prstGeom prst="rect">
            <a:avLst/>
          </a:prstGeom>
          <a:noFill/>
        </p:spPr>
        <p:txBody>
          <a:bodyPr wrap="square" lIns="0" tIns="0" rIns="0" bIns="0" anchor="t">
            <a:spAutoFit/>
          </a:bodyPr>
          <a:lstStyle/>
          <a:p>
            <a:pPr algn="ctr"/>
            <a:r>
              <a:rPr sz="1200" b="0" i="0">
                <a:solidFill>
                  <a:srgbClr val="55606B"/>
                </a:solidFill>
              </a:rPr>
              <a:t>0</a:t>
            </a:r>
          </a:p>
        </p:txBody>
      </p:sp>
      <p:cxnSp>
        <p:nvCxnSpPr>
          <p:cNvPr id="74" name="Connector 74"/>
          <p:cNvCxnSpPr/>
          <p:nvPr/>
        </p:nvCxnSpPr>
        <p:spPr>
          <a:xfrm>
            <a:off x="8101584" y="5394960"/>
            <a:ext cx="0" cy="64008"/>
          </a:xfrm>
          <a:prstGeom prst="line">
            <a:avLst/>
          </a:prstGeom>
          <a:ln w="15875">
            <a:solidFill>
              <a:srgbClr val="BBC4CC"/>
            </a:solidFill>
          </a:ln>
        </p:spPr>
      </p:cxnSp>
      <p:sp>
        <p:nvSpPr>
          <p:cNvPr id="75" name="TextBox 75"/>
          <p:cNvSpPr txBox="1"/>
          <p:nvPr/>
        </p:nvSpPr>
        <p:spPr>
          <a:xfrm>
            <a:off x="7552944" y="5468112"/>
            <a:ext cx="1097280" cy="274320"/>
          </a:xfrm>
          <a:prstGeom prst="rect">
            <a:avLst/>
          </a:prstGeom>
          <a:noFill/>
        </p:spPr>
        <p:txBody>
          <a:bodyPr wrap="square" lIns="0" tIns="0" rIns="0" bIns="0" anchor="t">
            <a:spAutoFit/>
          </a:bodyPr>
          <a:lstStyle/>
          <a:p>
            <a:pPr algn="ctr"/>
            <a:r>
              <a:rPr sz="1200" b="0" i="0">
                <a:solidFill>
                  <a:srgbClr val="55606B"/>
                </a:solidFill>
              </a:rPr>
              <a:t>2</a:t>
            </a:r>
          </a:p>
        </p:txBody>
      </p:sp>
      <p:cxnSp>
        <p:nvCxnSpPr>
          <p:cNvPr id="76" name="Connector 76"/>
          <p:cNvCxnSpPr/>
          <p:nvPr/>
        </p:nvCxnSpPr>
        <p:spPr>
          <a:xfrm>
            <a:off x="8887968" y="5394960"/>
            <a:ext cx="0" cy="64008"/>
          </a:xfrm>
          <a:prstGeom prst="line">
            <a:avLst/>
          </a:prstGeom>
          <a:ln w="15875">
            <a:solidFill>
              <a:srgbClr val="BBC4CC"/>
            </a:solidFill>
          </a:ln>
        </p:spPr>
      </p:cxnSp>
      <p:sp>
        <p:nvSpPr>
          <p:cNvPr id="77" name="TextBox 77"/>
          <p:cNvSpPr txBox="1"/>
          <p:nvPr/>
        </p:nvSpPr>
        <p:spPr>
          <a:xfrm>
            <a:off x="8339328" y="5468112"/>
            <a:ext cx="1097280" cy="274320"/>
          </a:xfrm>
          <a:prstGeom prst="rect">
            <a:avLst/>
          </a:prstGeom>
          <a:noFill/>
        </p:spPr>
        <p:txBody>
          <a:bodyPr wrap="square" lIns="0" tIns="0" rIns="0" bIns="0" anchor="t">
            <a:spAutoFit/>
          </a:bodyPr>
          <a:lstStyle/>
          <a:p>
            <a:pPr algn="ctr"/>
            <a:r>
              <a:rPr sz="1200" b="0" i="0">
                <a:solidFill>
                  <a:srgbClr val="55606B"/>
                </a:solidFill>
              </a:rPr>
              <a:t>4</a:t>
            </a:r>
          </a:p>
        </p:txBody>
      </p:sp>
      <p:cxnSp>
        <p:nvCxnSpPr>
          <p:cNvPr id="78" name="Connector 78"/>
          <p:cNvCxnSpPr/>
          <p:nvPr/>
        </p:nvCxnSpPr>
        <p:spPr>
          <a:xfrm>
            <a:off x="9674352" y="5394960"/>
            <a:ext cx="0" cy="64008"/>
          </a:xfrm>
          <a:prstGeom prst="line">
            <a:avLst/>
          </a:prstGeom>
          <a:ln w="15875">
            <a:solidFill>
              <a:srgbClr val="BBC4CC"/>
            </a:solidFill>
          </a:ln>
        </p:spPr>
      </p:cxnSp>
      <p:sp>
        <p:nvSpPr>
          <p:cNvPr id="79" name="TextBox 79"/>
          <p:cNvSpPr txBox="1"/>
          <p:nvPr/>
        </p:nvSpPr>
        <p:spPr>
          <a:xfrm>
            <a:off x="9125712" y="5468112"/>
            <a:ext cx="1097280" cy="274320"/>
          </a:xfrm>
          <a:prstGeom prst="rect">
            <a:avLst/>
          </a:prstGeom>
          <a:noFill/>
        </p:spPr>
        <p:txBody>
          <a:bodyPr wrap="square" lIns="0" tIns="0" rIns="0" bIns="0" anchor="t">
            <a:spAutoFit/>
          </a:bodyPr>
          <a:lstStyle/>
          <a:p>
            <a:pPr algn="ctr"/>
            <a:r>
              <a:rPr sz="1200" b="0" i="0">
                <a:solidFill>
                  <a:srgbClr val="55606B"/>
                </a:solidFill>
              </a:rPr>
              <a:t>6</a:t>
            </a:r>
          </a:p>
        </p:txBody>
      </p:sp>
      <p:cxnSp>
        <p:nvCxnSpPr>
          <p:cNvPr id="80" name="Connector 80"/>
          <p:cNvCxnSpPr/>
          <p:nvPr/>
        </p:nvCxnSpPr>
        <p:spPr>
          <a:xfrm>
            <a:off x="10460736" y="5394960"/>
            <a:ext cx="0" cy="64008"/>
          </a:xfrm>
          <a:prstGeom prst="line">
            <a:avLst/>
          </a:prstGeom>
          <a:ln w="15875">
            <a:solidFill>
              <a:srgbClr val="BBC4CC"/>
            </a:solidFill>
          </a:ln>
        </p:spPr>
      </p:cxnSp>
      <p:sp>
        <p:nvSpPr>
          <p:cNvPr id="81" name="TextBox 81"/>
          <p:cNvSpPr txBox="1"/>
          <p:nvPr/>
        </p:nvSpPr>
        <p:spPr>
          <a:xfrm>
            <a:off x="9912096" y="5468112"/>
            <a:ext cx="1097280" cy="274320"/>
          </a:xfrm>
          <a:prstGeom prst="rect">
            <a:avLst/>
          </a:prstGeom>
          <a:noFill/>
        </p:spPr>
        <p:txBody>
          <a:bodyPr wrap="square" lIns="0" tIns="0" rIns="0" bIns="0" anchor="t">
            <a:spAutoFit/>
          </a:bodyPr>
          <a:lstStyle/>
          <a:p>
            <a:pPr algn="ctr"/>
            <a:r>
              <a:rPr sz="1200" b="0" i="0">
                <a:solidFill>
                  <a:srgbClr val="55606B"/>
                </a:solidFill>
              </a:rPr>
              <a:t>8</a:t>
            </a:r>
          </a:p>
        </p:txBody>
      </p:sp>
      <p:cxnSp>
        <p:nvCxnSpPr>
          <p:cNvPr id="82" name="Connector 82"/>
          <p:cNvCxnSpPr/>
          <p:nvPr/>
        </p:nvCxnSpPr>
        <p:spPr>
          <a:xfrm>
            <a:off x="11247120" y="5394960"/>
            <a:ext cx="0" cy="64008"/>
          </a:xfrm>
          <a:prstGeom prst="line">
            <a:avLst/>
          </a:prstGeom>
          <a:ln w="15875">
            <a:solidFill>
              <a:srgbClr val="BBC4CC"/>
            </a:solidFill>
          </a:ln>
        </p:spPr>
      </p:cxnSp>
      <p:sp>
        <p:nvSpPr>
          <p:cNvPr id="83" name="TextBox 83"/>
          <p:cNvSpPr txBox="1"/>
          <p:nvPr/>
        </p:nvSpPr>
        <p:spPr>
          <a:xfrm>
            <a:off x="10698480" y="5468112"/>
            <a:ext cx="1097280" cy="274320"/>
          </a:xfrm>
          <a:prstGeom prst="rect">
            <a:avLst/>
          </a:prstGeom>
          <a:noFill/>
        </p:spPr>
        <p:txBody>
          <a:bodyPr wrap="square" lIns="0" tIns="0" rIns="0" bIns="0" anchor="t">
            <a:spAutoFit/>
          </a:bodyPr>
          <a:lstStyle/>
          <a:p>
            <a:pPr algn="ctr"/>
            <a:r>
              <a:rPr sz="1200" b="0" i="0">
                <a:solidFill>
                  <a:srgbClr val="55606B"/>
                </a:solidFill>
              </a:rPr>
              <a:t>10</a:t>
            </a:r>
          </a:p>
        </p:txBody>
      </p:sp>
      <p:cxnSp>
        <p:nvCxnSpPr>
          <p:cNvPr id="18" name="Connector 17"/>
          <p:cNvCxnSpPr/>
          <p:nvPr/>
        </p:nvCxnSpPr>
        <p:spPr>
          <a:xfrm>
            <a:off x="7315200" y="5394960"/>
            <a:ext cx="3931920" cy="0"/>
          </a:xfrm>
          <a:prstGeom prst="line">
            <a:avLst/>
          </a:prstGeom>
          <a:ln w="15875">
            <a:solidFill>
              <a:srgbClr val="BBC4CC"/>
            </a:solidFill>
          </a:ln>
        </p:spPr>
      </p:cxnSp>
      <p:cxnSp>
        <p:nvCxnSpPr>
          <p:cNvPr id="27" name="Connector 26"/>
          <p:cNvCxnSpPr/>
          <p:nvPr/>
        </p:nvCxnSpPr>
        <p:spPr>
          <a:xfrm>
            <a:off x="8652053" y="3238613"/>
            <a:ext cx="2477109" cy="1618882"/>
          </a:xfrm>
          <a:prstGeom prst="line">
            <a:avLst/>
          </a:prstGeom>
          <a:ln w="31750">
            <a:solidFill>
              <a:srgbClr val="B88C00"/>
            </a:solidFill>
          </a:ln>
        </p:spPr>
      </p:cxnSp>
      <p:cxnSp>
        <p:nvCxnSpPr>
          <p:cNvPr id="84" name="Connector 84"/>
          <p:cNvCxnSpPr/>
          <p:nvPr/>
        </p:nvCxnSpPr>
        <p:spPr>
          <a:xfrm>
            <a:off x="7315200" y="2364931"/>
            <a:ext cx="1336853" cy="873682"/>
          </a:xfrm>
          <a:prstGeom prst="line">
            <a:avLst/>
          </a:prstGeom>
          <a:ln w="28575">
            <a:solidFill>
              <a:srgbClr val="B88C00"/>
            </a:solidFill>
            <a:prstDash val="dash"/>
          </a:ln>
        </p:spPr>
      </p:cxnSp>
      <p:cxnSp>
        <p:nvCxnSpPr>
          <p:cNvPr id="28" name="Connector 27"/>
          <p:cNvCxnSpPr/>
          <p:nvPr/>
        </p:nvCxnSpPr>
        <p:spPr>
          <a:xfrm>
            <a:off x="10067544" y="3826124"/>
            <a:ext cx="0" cy="337564"/>
          </a:xfrm>
          <a:prstGeom prst="line">
            <a:avLst/>
          </a:prstGeom>
          <a:ln w="25400">
            <a:solidFill>
              <a:srgbClr val="865640"/>
            </a:solidFill>
          </a:ln>
        </p:spPr>
      </p:cxnSp>
      <p:sp>
        <p:nvSpPr>
          <p:cNvPr id="29" name="Oval 28"/>
          <p:cNvSpPr/>
          <p:nvPr/>
        </p:nvSpPr>
        <p:spPr>
          <a:xfrm>
            <a:off x="9998964" y="3757544"/>
            <a:ext cx="137160" cy="137160"/>
          </a:xfrm>
          <a:prstGeom prst="ellipse">
            <a:avLst/>
          </a:prstGeom>
          <a:solidFill>
            <a:srgbClr val="1F394D"/>
          </a:solidFill>
          <a:ln>
            <a:noFill/>
          </a:ln>
        </p:spPr>
        <p:txBody>
          <a:bodyPr rtlCol="0" anchor="ctr"/>
          <a:lstStyle/>
          <a:p>
            <a:pPr algn="ctr"/>
            <a:endParaRPr/>
          </a:p>
        </p:txBody>
      </p:sp>
      <p:sp>
        <p:nvSpPr>
          <p:cNvPr id="30" name="Oval 29"/>
          <p:cNvSpPr/>
          <p:nvPr/>
        </p:nvSpPr>
        <p:spPr>
          <a:xfrm>
            <a:off x="9166631" y="4016319"/>
            <a:ext cx="91440" cy="91440"/>
          </a:xfrm>
          <a:prstGeom prst="ellipse">
            <a:avLst/>
          </a:prstGeom>
          <a:solidFill>
            <a:srgbClr val="9AA4AE"/>
          </a:solidFill>
          <a:ln>
            <a:noFill/>
          </a:ln>
        </p:spPr>
        <p:txBody>
          <a:bodyPr rtlCol="0" anchor="ctr"/>
          <a:lstStyle/>
          <a:p>
            <a:pPr algn="ctr"/>
            <a:endParaRPr/>
          </a:p>
        </p:txBody>
      </p:sp>
      <p:sp>
        <p:nvSpPr>
          <p:cNvPr id="31" name="Oval 30"/>
          <p:cNvSpPr/>
          <p:nvPr/>
        </p:nvSpPr>
        <p:spPr>
          <a:xfrm>
            <a:off x="9078163" y="4142140"/>
            <a:ext cx="91440" cy="91440"/>
          </a:xfrm>
          <a:prstGeom prst="ellipse">
            <a:avLst/>
          </a:prstGeom>
          <a:solidFill>
            <a:srgbClr val="9AA4AE"/>
          </a:solidFill>
          <a:ln>
            <a:noFill/>
          </a:ln>
        </p:spPr>
        <p:txBody>
          <a:bodyPr rtlCol="0" anchor="ctr"/>
          <a:lstStyle/>
          <a:p>
            <a:pPr algn="ctr"/>
            <a:endParaRPr/>
          </a:p>
        </p:txBody>
      </p:sp>
      <p:sp>
        <p:nvSpPr>
          <p:cNvPr id="32" name="Oval 31"/>
          <p:cNvSpPr/>
          <p:nvPr/>
        </p:nvSpPr>
        <p:spPr>
          <a:xfrm>
            <a:off x="9481185" y="3823654"/>
            <a:ext cx="91440" cy="91440"/>
          </a:xfrm>
          <a:prstGeom prst="ellipse">
            <a:avLst/>
          </a:prstGeom>
          <a:solidFill>
            <a:srgbClr val="9AA4AE"/>
          </a:solidFill>
          <a:ln>
            <a:noFill/>
          </a:ln>
        </p:spPr>
        <p:txBody>
          <a:bodyPr rtlCol="0" anchor="ctr"/>
          <a:lstStyle/>
          <a:p>
            <a:pPr algn="ctr"/>
            <a:endParaRPr/>
          </a:p>
        </p:txBody>
      </p:sp>
      <p:cxnSp>
        <p:nvCxnSpPr>
          <p:cNvPr id="33" name="Connector 32"/>
          <p:cNvCxnSpPr/>
          <p:nvPr/>
        </p:nvCxnSpPr>
        <p:spPr>
          <a:xfrm>
            <a:off x="9005925" y="2780233"/>
            <a:ext cx="0" cy="689649"/>
          </a:xfrm>
          <a:prstGeom prst="line">
            <a:avLst/>
          </a:prstGeom>
          <a:ln w="25400">
            <a:solidFill>
              <a:srgbClr val="865640"/>
            </a:solidFill>
          </a:ln>
        </p:spPr>
      </p:cxnSp>
      <p:sp>
        <p:nvSpPr>
          <p:cNvPr id="34" name="Oval 33"/>
          <p:cNvSpPr/>
          <p:nvPr/>
        </p:nvSpPr>
        <p:spPr>
          <a:xfrm>
            <a:off x="8937345" y="2711653"/>
            <a:ext cx="137160" cy="137160"/>
          </a:xfrm>
          <a:prstGeom prst="ellipse">
            <a:avLst/>
          </a:prstGeom>
          <a:solidFill>
            <a:srgbClr val="1F394D"/>
          </a:solidFill>
          <a:ln>
            <a:noFill/>
          </a:ln>
        </p:spPr>
        <p:txBody>
          <a:bodyPr rtlCol="0" anchor="ctr"/>
          <a:lstStyle/>
          <a:p>
            <a:pPr algn="ctr"/>
            <a:endParaRPr/>
          </a:p>
        </p:txBody>
      </p:sp>
      <p:sp>
        <p:nvSpPr>
          <p:cNvPr id="35" name="Oval 34"/>
          <p:cNvSpPr/>
          <p:nvPr/>
        </p:nvSpPr>
        <p:spPr>
          <a:xfrm>
            <a:off x="8734120" y="3068726"/>
            <a:ext cx="91440" cy="91440"/>
          </a:xfrm>
          <a:prstGeom prst="ellipse">
            <a:avLst/>
          </a:prstGeom>
          <a:solidFill>
            <a:srgbClr val="9AA4AE"/>
          </a:solidFill>
          <a:ln>
            <a:noFill/>
          </a:ln>
        </p:spPr>
        <p:txBody>
          <a:bodyPr rtlCol="0" anchor="ctr"/>
          <a:lstStyle/>
          <a:p>
            <a:pPr algn="ctr"/>
            <a:endParaRPr/>
          </a:p>
        </p:txBody>
      </p:sp>
      <p:cxnSp>
        <p:nvCxnSpPr>
          <p:cNvPr id="36" name="Connector 35"/>
          <p:cNvCxnSpPr/>
          <p:nvPr/>
        </p:nvCxnSpPr>
        <p:spPr>
          <a:xfrm flipV="1">
            <a:off x="9517075" y="3803936"/>
            <a:ext cx="0" cy="718137"/>
          </a:xfrm>
          <a:prstGeom prst="line">
            <a:avLst/>
          </a:prstGeom>
          <a:ln w="25400">
            <a:solidFill>
              <a:srgbClr val="865640"/>
            </a:solidFill>
          </a:ln>
        </p:spPr>
      </p:cxnSp>
      <p:sp>
        <p:nvSpPr>
          <p:cNvPr id="37" name="Oval 36"/>
          <p:cNvSpPr/>
          <p:nvPr/>
        </p:nvSpPr>
        <p:spPr>
          <a:xfrm>
            <a:off x="9448495" y="4453493"/>
            <a:ext cx="137160" cy="137160"/>
          </a:xfrm>
          <a:prstGeom prst="ellipse">
            <a:avLst/>
          </a:prstGeom>
          <a:solidFill>
            <a:srgbClr val="1F394D"/>
          </a:solidFill>
          <a:ln>
            <a:noFill/>
          </a:ln>
        </p:spPr>
        <p:txBody>
          <a:bodyPr rtlCol="0" anchor="ctr"/>
          <a:lstStyle/>
          <a:p>
            <a:pPr algn="ctr"/>
            <a:endParaRPr/>
          </a:p>
        </p:txBody>
      </p:sp>
      <p:sp>
        <p:nvSpPr>
          <p:cNvPr id="38" name="Oval 37"/>
          <p:cNvSpPr/>
          <p:nvPr/>
        </p:nvSpPr>
        <p:spPr>
          <a:xfrm>
            <a:off x="9314078" y="3980932"/>
            <a:ext cx="91440" cy="91440"/>
          </a:xfrm>
          <a:prstGeom prst="ellipse">
            <a:avLst/>
          </a:prstGeom>
          <a:solidFill>
            <a:srgbClr val="9AA4AE"/>
          </a:solidFill>
          <a:ln>
            <a:noFill/>
          </a:ln>
        </p:spPr>
        <p:txBody>
          <a:bodyPr rtlCol="0" anchor="ctr"/>
          <a:lstStyle/>
          <a:p>
            <a:pPr algn="ctr"/>
            <a:endParaRPr/>
          </a:p>
        </p:txBody>
      </p:sp>
      <p:sp>
        <p:nvSpPr>
          <p:cNvPr id="39" name="Oval 38"/>
          <p:cNvSpPr/>
          <p:nvPr/>
        </p:nvSpPr>
        <p:spPr>
          <a:xfrm>
            <a:off x="9707270" y="4417375"/>
            <a:ext cx="91440" cy="91440"/>
          </a:xfrm>
          <a:prstGeom prst="ellipse">
            <a:avLst/>
          </a:prstGeom>
          <a:solidFill>
            <a:srgbClr val="9AA4AE"/>
          </a:solidFill>
          <a:ln>
            <a:noFill/>
          </a:ln>
        </p:spPr>
        <p:txBody>
          <a:bodyPr rtlCol="0" anchor="ctr"/>
          <a:lstStyle/>
          <a:p>
            <a:pPr algn="ctr"/>
            <a:endParaRPr/>
          </a:p>
        </p:txBody>
      </p:sp>
      <p:sp>
        <p:nvSpPr>
          <p:cNvPr id="40" name="Oval 39"/>
          <p:cNvSpPr/>
          <p:nvPr/>
        </p:nvSpPr>
        <p:spPr>
          <a:xfrm>
            <a:off x="9648291" y="3965203"/>
            <a:ext cx="91440" cy="91440"/>
          </a:xfrm>
          <a:prstGeom prst="ellipse">
            <a:avLst/>
          </a:prstGeom>
          <a:solidFill>
            <a:srgbClr val="9AA4AE"/>
          </a:solidFill>
          <a:ln>
            <a:noFill/>
          </a:ln>
        </p:spPr>
        <p:txBody>
          <a:bodyPr rtlCol="0" anchor="ctr"/>
          <a:lstStyle/>
          <a:p>
            <a:pPr algn="ctr"/>
            <a:endParaRPr/>
          </a:p>
        </p:txBody>
      </p:sp>
      <p:sp>
        <p:nvSpPr>
          <p:cNvPr id="41" name="Oval 40"/>
          <p:cNvSpPr/>
          <p:nvPr/>
        </p:nvSpPr>
        <p:spPr>
          <a:xfrm>
            <a:off x="9933356" y="4425239"/>
            <a:ext cx="91440" cy="91440"/>
          </a:xfrm>
          <a:prstGeom prst="ellipse">
            <a:avLst/>
          </a:prstGeom>
          <a:solidFill>
            <a:srgbClr val="9AA4AE"/>
          </a:solidFill>
          <a:ln>
            <a:noFill/>
          </a:ln>
        </p:spPr>
        <p:txBody>
          <a:bodyPr rtlCol="0" anchor="ctr"/>
          <a:lstStyle/>
          <a:p>
            <a:pPr algn="ctr"/>
            <a:endParaRPr/>
          </a:p>
        </p:txBody>
      </p:sp>
      <p:sp>
        <p:nvSpPr>
          <p:cNvPr id="42" name="Oval 41"/>
          <p:cNvSpPr/>
          <p:nvPr/>
        </p:nvSpPr>
        <p:spPr>
          <a:xfrm>
            <a:off x="9884206" y="4067434"/>
            <a:ext cx="91440" cy="91440"/>
          </a:xfrm>
          <a:prstGeom prst="ellipse">
            <a:avLst/>
          </a:prstGeom>
          <a:solidFill>
            <a:srgbClr val="9AA4AE"/>
          </a:solidFill>
          <a:ln>
            <a:noFill/>
          </a:ln>
        </p:spPr>
        <p:txBody>
          <a:bodyPr rtlCol="0" anchor="ctr"/>
          <a:lstStyle/>
          <a:p>
            <a:pPr algn="ctr"/>
            <a:endParaRPr/>
          </a:p>
        </p:txBody>
      </p:sp>
      <p:sp>
        <p:nvSpPr>
          <p:cNvPr id="43" name="Oval 42"/>
          <p:cNvSpPr/>
          <p:nvPr/>
        </p:nvSpPr>
        <p:spPr>
          <a:xfrm>
            <a:off x="8606333" y="3654582"/>
            <a:ext cx="91440" cy="91440"/>
          </a:xfrm>
          <a:prstGeom prst="ellipse">
            <a:avLst/>
          </a:prstGeom>
          <a:solidFill>
            <a:srgbClr val="9AA4AE"/>
          </a:solidFill>
          <a:ln>
            <a:noFill/>
          </a:ln>
        </p:spPr>
        <p:txBody>
          <a:bodyPr rtlCol="0" anchor="ctr"/>
          <a:lstStyle/>
          <a:p>
            <a:pPr algn="ctr"/>
            <a:endParaRPr/>
          </a:p>
        </p:txBody>
      </p:sp>
      <p:sp>
        <p:nvSpPr>
          <p:cNvPr id="44" name="Oval 43"/>
          <p:cNvSpPr/>
          <p:nvPr/>
        </p:nvSpPr>
        <p:spPr>
          <a:xfrm>
            <a:off x="9353397" y="2997951"/>
            <a:ext cx="91440" cy="91440"/>
          </a:xfrm>
          <a:prstGeom prst="ellipse">
            <a:avLst/>
          </a:prstGeom>
          <a:solidFill>
            <a:srgbClr val="9AA4AE"/>
          </a:solidFill>
          <a:ln>
            <a:noFill/>
          </a:ln>
        </p:spPr>
        <p:txBody>
          <a:bodyPr rtlCol="0" anchor="ctr"/>
          <a:lstStyle/>
          <a:p>
            <a:pPr algn="ctr"/>
            <a:endParaRPr/>
          </a:p>
        </p:txBody>
      </p:sp>
      <p:sp>
        <p:nvSpPr>
          <p:cNvPr id="45" name="Oval 44"/>
          <p:cNvSpPr/>
          <p:nvPr/>
        </p:nvSpPr>
        <p:spPr>
          <a:xfrm>
            <a:off x="9943185" y="3418667"/>
            <a:ext cx="91440" cy="91440"/>
          </a:xfrm>
          <a:prstGeom prst="ellipse">
            <a:avLst/>
          </a:prstGeom>
          <a:solidFill>
            <a:srgbClr val="9AA4AE"/>
          </a:solidFill>
          <a:ln>
            <a:noFill/>
          </a:ln>
        </p:spPr>
        <p:txBody>
          <a:bodyPr rtlCol="0" anchor="ctr"/>
          <a:lstStyle/>
          <a:p>
            <a:pPr algn="ctr"/>
            <a:endParaRPr/>
          </a:p>
        </p:txBody>
      </p:sp>
      <p:sp>
        <p:nvSpPr>
          <p:cNvPr id="46" name="Oval 45"/>
          <p:cNvSpPr/>
          <p:nvPr/>
        </p:nvSpPr>
        <p:spPr>
          <a:xfrm>
            <a:off x="8783269" y="2781696"/>
            <a:ext cx="91440" cy="91440"/>
          </a:xfrm>
          <a:prstGeom prst="ellipse">
            <a:avLst/>
          </a:prstGeom>
          <a:solidFill>
            <a:srgbClr val="9AA4AE"/>
          </a:solidFill>
          <a:ln>
            <a:noFill/>
          </a:ln>
        </p:spPr>
        <p:txBody>
          <a:bodyPr rtlCol="0" anchor="ctr"/>
          <a:lstStyle/>
          <a:p>
            <a:pPr algn="ctr"/>
            <a:endParaRPr/>
          </a:p>
        </p:txBody>
      </p:sp>
      <p:cxnSp>
        <p:nvCxnSpPr>
          <p:cNvPr id="47" name="Connector 46"/>
          <p:cNvCxnSpPr/>
          <p:nvPr/>
        </p:nvCxnSpPr>
        <p:spPr>
          <a:xfrm flipV="1">
            <a:off x="10460736" y="4420654"/>
            <a:ext cx="0" cy="581114"/>
          </a:xfrm>
          <a:prstGeom prst="line">
            <a:avLst/>
          </a:prstGeom>
          <a:ln w="25400">
            <a:solidFill>
              <a:srgbClr val="865640"/>
            </a:solidFill>
          </a:ln>
        </p:spPr>
      </p:cxnSp>
      <p:sp>
        <p:nvSpPr>
          <p:cNvPr id="48" name="Oval 47"/>
          <p:cNvSpPr/>
          <p:nvPr/>
        </p:nvSpPr>
        <p:spPr>
          <a:xfrm>
            <a:off x="10392156" y="4933188"/>
            <a:ext cx="137160" cy="137160"/>
          </a:xfrm>
          <a:prstGeom prst="ellipse">
            <a:avLst/>
          </a:prstGeom>
          <a:solidFill>
            <a:srgbClr val="1F394D"/>
          </a:solidFill>
          <a:ln>
            <a:noFill/>
          </a:ln>
        </p:spPr>
        <p:txBody>
          <a:bodyPr rtlCol="0" anchor="ctr"/>
          <a:lstStyle/>
          <a:p>
            <a:pPr algn="ctr"/>
            <a:endParaRPr/>
          </a:p>
        </p:txBody>
      </p:sp>
      <p:sp>
        <p:nvSpPr>
          <p:cNvPr id="49" name="Oval 48"/>
          <p:cNvSpPr/>
          <p:nvPr/>
        </p:nvSpPr>
        <p:spPr>
          <a:xfrm>
            <a:off x="11083442" y="4684745"/>
            <a:ext cx="91440" cy="91440"/>
          </a:xfrm>
          <a:prstGeom prst="ellipse">
            <a:avLst/>
          </a:prstGeom>
          <a:solidFill>
            <a:srgbClr val="9AA4AE"/>
          </a:solidFill>
          <a:ln>
            <a:noFill/>
          </a:ln>
        </p:spPr>
        <p:txBody>
          <a:bodyPr rtlCol="0" anchor="ctr"/>
          <a:lstStyle/>
          <a:p>
            <a:pPr algn="ctr"/>
            <a:endParaRPr/>
          </a:p>
        </p:txBody>
      </p:sp>
      <p:sp>
        <p:nvSpPr>
          <p:cNvPr id="50" name="Oval 49"/>
          <p:cNvSpPr/>
          <p:nvPr/>
        </p:nvSpPr>
        <p:spPr>
          <a:xfrm>
            <a:off x="9451695" y="3925884"/>
            <a:ext cx="91440" cy="91440"/>
          </a:xfrm>
          <a:prstGeom prst="ellipse">
            <a:avLst/>
          </a:prstGeom>
          <a:solidFill>
            <a:srgbClr val="9AA4AE"/>
          </a:solidFill>
          <a:ln>
            <a:noFill/>
          </a:ln>
        </p:spPr>
        <p:txBody>
          <a:bodyPr rtlCol="0" anchor="ctr"/>
          <a:lstStyle/>
          <a:p>
            <a:pPr algn="ctr"/>
            <a:endParaRPr/>
          </a:p>
        </p:txBody>
      </p:sp>
      <p:sp>
        <p:nvSpPr>
          <p:cNvPr id="51" name="Oval 50"/>
          <p:cNvSpPr/>
          <p:nvPr/>
        </p:nvSpPr>
        <p:spPr>
          <a:xfrm>
            <a:off x="8822588" y="2742376"/>
            <a:ext cx="91440" cy="91440"/>
          </a:xfrm>
          <a:prstGeom prst="ellipse">
            <a:avLst/>
          </a:prstGeom>
          <a:solidFill>
            <a:srgbClr val="9AA4AE"/>
          </a:solidFill>
          <a:ln>
            <a:noFill/>
          </a:ln>
        </p:spPr>
        <p:txBody>
          <a:bodyPr rtlCol="0" anchor="ctr"/>
          <a:lstStyle/>
          <a:p>
            <a:pPr algn="ctr"/>
            <a:endParaRPr/>
          </a:p>
        </p:txBody>
      </p:sp>
      <p:sp>
        <p:nvSpPr>
          <p:cNvPr id="52" name="Oval 51"/>
          <p:cNvSpPr/>
          <p:nvPr/>
        </p:nvSpPr>
        <p:spPr>
          <a:xfrm>
            <a:off x="9520504" y="3737153"/>
            <a:ext cx="91440" cy="91440"/>
          </a:xfrm>
          <a:prstGeom prst="ellipse">
            <a:avLst/>
          </a:prstGeom>
          <a:solidFill>
            <a:srgbClr val="9AA4AE"/>
          </a:solidFill>
          <a:ln>
            <a:noFill/>
          </a:ln>
        </p:spPr>
        <p:txBody>
          <a:bodyPr rtlCol="0" anchor="ctr"/>
          <a:lstStyle/>
          <a:p>
            <a:pPr algn="ctr"/>
            <a:endParaRPr/>
          </a:p>
        </p:txBody>
      </p:sp>
      <p:sp>
        <p:nvSpPr>
          <p:cNvPr id="53" name="Oval 52"/>
          <p:cNvSpPr/>
          <p:nvPr/>
        </p:nvSpPr>
        <p:spPr>
          <a:xfrm>
            <a:off x="10090632" y="4177528"/>
            <a:ext cx="91440" cy="91440"/>
          </a:xfrm>
          <a:prstGeom prst="ellipse">
            <a:avLst/>
          </a:prstGeom>
          <a:solidFill>
            <a:srgbClr val="9AA4AE"/>
          </a:solidFill>
          <a:ln>
            <a:noFill/>
          </a:ln>
        </p:spPr>
        <p:txBody>
          <a:bodyPr rtlCol="0" anchor="ctr"/>
          <a:lstStyle/>
          <a:p>
            <a:pPr algn="ctr"/>
            <a:endParaRPr/>
          </a:p>
        </p:txBody>
      </p:sp>
      <p:sp>
        <p:nvSpPr>
          <p:cNvPr id="54" name="Oval 53"/>
          <p:cNvSpPr/>
          <p:nvPr/>
        </p:nvSpPr>
        <p:spPr>
          <a:xfrm>
            <a:off x="10631271" y="3941612"/>
            <a:ext cx="91440" cy="91440"/>
          </a:xfrm>
          <a:prstGeom prst="ellipse">
            <a:avLst/>
          </a:prstGeom>
          <a:solidFill>
            <a:srgbClr val="9AA4AE"/>
          </a:solidFill>
          <a:ln>
            <a:noFill/>
          </a:ln>
        </p:spPr>
        <p:txBody>
          <a:bodyPr rtlCol="0" anchor="ctr"/>
          <a:lstStyle/>
          <a:p>
            <a:pPr algn="ctr"/>
            <a:endParaRPr/>
          </a:p>
        </p:txBody>
      </p:sp>
      <p:sp>
        <p:nvSpPr>
          <p:cNvPr id="85" name="Intercept dot"/>
          <p:cNvSpPr/>
          <p:nvPr/>
        </p:nvSpPr>
        <p:spPr>
          <a:xfrm>
            <a:off x="7237476" y="2287207"/>
            <a:ext cx="155448" cy="155448"/>
          </a:xfrm>
          <a:prstGeom prst="ellipse">
            <a:avLst/>
          </a:prstGeom>
          <a:solidFill>
            <a:srgbClr val="B88C00"/>
          </a:solidFill>
          <a:ln w="12700">
            <a:solidFill>
              <a:srgbClr val="FFFFFF"/>
            </a:solidFill>
          </a:ln>
        </p:spPr>
        <p:txBody>
          <a:bodyPr rtlCol="0" anchor="ctr"/>
          <a:lstStyle/>
          <a:p>
            <a:pPr algn="ctr"/>
            <a:endParaRPr/>
          </a:p>
        </p:txBody>
      </p:sp>
      <p:sp>
        <p:nvSpPr>
          <p:cNvPr id="86" name="Label"/>
          <p:cNvSpPr txBox="1"/>
          <p:nvPr/>
        </p:nvSpPr>
        <p:spPr>
          <a:xfrm>
            <a:off x="7424928" y="2182051"/>
            <a:ext cx="1645920" cy="292608"/>
          </a:xfrm>
          <a:prstGeom prst="rect">
            <a:avLst/>
          </a:prstGeom>
          <a:noFill/>
        </p:spPr>
        <p:txBody>
          <a:bodyPr wrap="square" lIns="0" tIns="0" rIns="0" bIns="0" anchor="t">
            <a:spAutoFit/>
          </a:bodyPr>
          <a:lstStyle/>
          <a:p>
            <a:pPr algn="l"/>
            <a:r>
              <a:rPr sz="1200" b="1" i="0">
                <a:solidFill>
                  <a:srgbClr val="7A5C00"/>
                </a:solidFill>
              </a:rPr>
              <a:t>77.1 (intercept)</a:t>
            </a:r>
          </a:p>
        </p:txBody>
      </p:sp>
      <p:sp>
        <p:nvSpPr>
          <p:cNvPr id="55" name="TextBox 54"/>
          <p:cNvSpPr txBox="1"/>
          <p:nvPr/>
        </p:nvSpPr>
        <p:spPr>
          <a:xfrm>
            <a:off x="9097365" y="2633929"/>
            <a:ext cx="1188720" cy="292608"/>
          </a:xfrm>
          <a:prstGeom prst="rect">
            <a:avLst/>
          </a:prstGeom>
          <a:noFill/>
        </p:spPr>
        <p:txBody>
          <a:bodyPr wrap="square" lIns="0" tIns="0" rIns="0" bIns="0" anchor="t">
            <a:spAutoFit/>
          </a:bodyPr>
          <a:lstStyle/>
          <a:p>
            <a:pPr algn="l"/>
            <a:r>
              <a:rPr sz="1200" b="1" i="0">
                <a:solidFill>
                  <a:srgbClr val="1F394D"/>
                </a:solidFill>
              </a:rPr>
              <a:t>Denmark</a:t>
            </a:r>
          </a:p>
        </p:txBody>
      </p:sp>
      <p:sp>
        <p:nvSpPr>
          <p:cNvPr id="56" name="TextBox 55"/>
          <p:cNvSpPr txBox="1"/>
          <p:nvPr/>
        </p:nvSpPr>
        <p:spPr>
          <a:xfrm>
            <a:off x="8218627" y="4375769"/>
            <a:ext cx="1188720" cy="292608"/>
          </a:xfrm>
          <a:prstGeom prst="rect">
            <a:avLst/>
          </a:prstGeom>
          <a:noFill/>
        </p:spPr>
        <p:txBody>
          <a:bodyPr wrap="square" lIns="0" tIns="0" rIns="0" bIns="0" anchor="t">
            <a:spAutoFit/>
          </a:bodyPr>
          <a:lstStyle/>
          <a:p>
            <a:pPr algn="r"/>
            <a:r>
              <a:rPr sz="1200" b="1" i="0">
                <a:solidFill>
                  <a:srgbClr val="1F394D"/>
                </a:solidFill>
              </a:rPr>
              <a:t>France</a:t>
            </a:r>
          </a:p>
        </p:txBody>
      </p:sp>
      <p:sp>
        <p:nvSpPr>
          <p:cNvPr id="57" name="TextBox 56"/>
          <p:cNvSpPr txBox="1"/>
          <p:nvPr/>
        </p:nvSpPr>
        <p:spPr>
          <a:xfrm>
            <a:off x="10158984" y="3679819"/>
            <a:ext cx="1188720" cy="292608"/>
          </a:xfrm>
          <a:prstGeom prst="rect">
            <a:avLst/>
          </a:prstGeom>
          <a:noFill/>
        </p:spPr>
        <p:txBody>
          <a:bodyPr wrap="square" lIns="0" tIns="0" rIns="0" bIns="0" anchor="t">
            <a:spAutoFit/>
          </a:bodyPr>
          <a:lstStyle/>
          <a:p>
            <a:pPr algn="l"/>
            <a:r>
              <a:rPr sz="1200" b="1" i="0">
                <a:solidFill>
                  <a:srgbClr val="1F394D"/>
                </a:solidFill>
              </a:rPr>
              <a:t>Australia</a:t>
            </a:r>
          </a:p>
        </p:txBody>
      </p:sp>
      <p:sp>
        <p:nvSpPr>
          <p:cNvPr id="58" name="TextBox 57"/>
          <p:cNvSpPr txBox="1"/>
          <p:nvPr/>
        </p:nvSpPr>
        <p:spPr>
          <a:xfrm>
            <a:off x="10552176" y="4855464"/>
            <a:ext cx="1188720" cy="292608"/>
          </a:xfrm>
          <a:prstGeom prst="rect">
            <a:avLst/>
          </a:prstGeom>
          <a:noFill/>
        </p:spPr>
        <p:txBody>
          <a:bodyPr wrap="square" lIns="0" tIns="0" rIns="0" bIns="0" anchor="t">
            <a:spAutoFit/>
          </a:bodyPr>
          <a:lstStyle/>
          <a:p>
            <a:pPr algn="l"/>
            <a:r>
              <a:rPr sz="1200" b="1" i="0">
                <a:solidFill>
                  <a:srgbClr val="1F394D"/>
                </a:solidFill>
              </a:rPr>
              <a:t>Portugal</a:t>
            </a:r>
          </a:p>
        </p:txBody>
      </p:sp>
      <p:sp>
        <p:nvSpPr>
          <p:cNvPr id="59" name="TextBox 58"/>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pickett2009.csv (Wilkinson &amp; Pickett 2009), 23 countries. Trust = % who say most people can be trusted.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Activity: predict it</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12</a:t>
            </a:fld>
            <a:endParaRPr lang="en-GB"/>
          </a:p>
        </p:txBody>
      </p:sp>
      <p:sp>
        <p:nvSpPr>
          <p:cNvPr id="6" name="Question card 1"/>
          <p:cNvSpPr/>
          <p:nvPr/>
        </p:nvSpPr>
        <p:spPr>
          <a:xfrm>
            <a:off x="758952" y="1371600"/>
            <a:ext cx="5212080" cy="1783080"/>
          </a:xfrm>
          <a:prstGeom prst="roundRect">
            <a:avLst>
              <a:gd name="adj" fmla="val 8000"/>
            </a:avLst>
          </a:prstGeom>
          <a:solidFill>
            <a:srgbClr val="EEF3F7"/>
          </a:solidFill>
          <a:ln>
            <a:noFill/>
          </a:ln>
        </p:spPr>
        <p:txBody>
          <a:bodyPr rtlCol="0" anchor="ctr"/>
          <a:lstStyle/>
          <a:p>
            <a:endParaRPr/>
          </a:p>
        </p:txBody>
      </p:sp>
      <p:sp>
        <p:nvSpPr>
          <p:cNvPr id="7" name="Oval 6"/>
          <p:cNvSpPr/>
          <p:nvPr/>
        </p:nvSpPr>
        <p:spPr>
          <a:xfrm>
            <a:off x="96012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1</a:t>
            </a:r>
          </a:p>
        </p:txBody>
      </p:sp>
      <p:sp>
        <p:nvSpPr>
          <p:cNvPr id="8" name="TextBox 7"/>
          <p:cNvSpPr txBox="1"/>
          <p:nvPr/>
        </p:nvSpPr>
        <p:spPr>
          <a:xfrm>
            <a:off x="1581912" y="1554480"/>
            <a:ext cx="4206240" cy="1463040"/>
          </a:xfrm>
          <a:prstGeom prst="rect">
            <a:avLst/>
          </a:prstGeom>
          <a:noFill/>
        </p:spPr>
        <p:txBody>
          <a:bodyPr wrap="square" lIns="0" tIns="0" rIns="0" bIns="0" anchor="t">
            <a:spAutoFit/>
          </a:bodyPr>
          <a:lstStyle/>
          <a:p>
            <a:pPr algn="l"/>
            <a:r>
              <a:rPr sz="1800" b="0" i="0">
                <a:solidFill>
                  <a:srgbClr val="1F2A33"/>
                </a:solidFill>
              </a:rPr>
              <a:t>Norway’s inequality ratio is 3.85. What trust does the line predict?</a:t>
            </a:r>
          </a:p>
        </p:txBody>
      </p:sp>
      <p:sp>
        <p:nvSpPr>
          <p:cNvPr id="9" name="Question card 2"/>
          <p:cNvSpPr/>
          <p:nvPr/>
        </p:nvSpPr>
        <p:spPr>
          <a:xfrm>
            <a:off x="6153912" y="1371600"/>
            <a:ext cx="5212080" cy="1783080"/>
          </a:xfrm>
          <a:prstGeom prst="roundRect">
            <a:avLst>
              <a:gd name="adj" fmla="val 8000"/>
            </a:avLst>
          </a:prstGeom>
          <a:solidFill>
            <a:srgbClr val="EEF3F7"/>
          </a:solidFill>
          <a:ln>
            <a:noFill/>
          </a:ln>
        </p:spPr>
        <p:txBody>
          <a:bodyPr rtlCol="0" anchor="ctr"/>
          <a:lstStyle/>
          <a:p>
            <a:endParaRPr/>
          </a:p>
        </p:txBody>
      </p:sp>
      <p:sp>
        <p:nvSpPr>
          <p:cNvPr id="10" name="Oval 9"/>
          <p:cNvSpPr/>
          <p:nvPr/>
        </p:nvSpPr>
        <p:spPr>
          <a:xfrm>
            <a:off x="635508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2</a:t>
            </a:r>
          </a:p>
        </p:txBody>
      </p:sp>
      <p:sp>
        <p:nvSpPr>
          <p:cNvPr id="11" name="TextBox 10"/>
          <p:cNvSpPr txBox="1"/>
          <p:nvPr/>
        </p:nvSpPr>
        <p:spPr>
          <a:xfrm>
            <a:off x="6976872" y="1554480"/>
            <a:ext cx="4206240" cy="1463040"/>
          </a:xfrm>
          <a:prstGeom prst="rect">
            <a:avLst/>
          </a:prstGeom>
          <a:noFill/>
        </p:spPr>
        <p:txBody>
          <a:bodyPr wrap="square" lIns="0" tIns="0" rIns="0" bIns="0" anchor="t">
            <a:spAutoFit/>
          </a:bodyPr>
          <a:lstStyle/>
          <a:p>
            <a:pPr algn="l"/>
            <a:r>
              <a:rPr sz="1800" b="0" i="0">
                <a:solidFill>
                  <a:srgbClr val="1F2A33"/>
                </a:solidFill>
              </a:rPr>
              <a:t>Norway’s observed trust is 65.3%. What is its residual?</a:t>
            </a:r>
          </a:p>
        </p:txBody>
      </p:sp>
      <p:sp>
        <p:nvSpPr>
          <p:cNvPr id="12" name="Question card 3"/>
          <p:cNvSpPr/>
          <p:nvPr/>
        </p:nvSpPr>
        <p:spPr>
          <a:xfrm>
            <a:off x="758952" y="3337560"/>
            <a:ext cx="5212080" cy="1783080"/>
          </a:xfrm>
          <a:prstGeom prst="roundRect">
            <a:avLst>
              <a:gd name="adj" fmla="val 8000"/>
            </a:avLst>
          </a:prstGeom>
          <a:solidFill>
            <a:srgbClr val="EEF3F7"/>
          </a:solidFill>
          <a:ln>
            <a:noFill/>
          </a:ln>
        </p:spPr>
        <p:txBody>
          <a:bodyPr rtlCol="0" anchor="ctr"/>
          <a:lstStyle/>
          <a:p>
            <a:endParaRPr/>
          </a:p>
        </p:txBody>
      </p:sp>
      <p:sp>
        <p:nvSpPr>
          <p:cNvPr id="13" name="Oval 12"/>
          <p:cNvSpPr/>
          <p:nvPr/>
        </p:nvSpPr>
        <p:spPr>
          <a:xfrm>
            <a:off x="960120" y="353872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3</a:t>
            </a:r>
          </a:p>
        </p:txBody>
      </p:sp>
      <p:sp>
        <p:nvSpPr>
          <p:cNvPr id="14" name="TextBox 13"/>
          <p:cNvSpPr txBox="1"/>
          <p:nvPr/>
        </p:nvSpPr>
        <p:spPr>
          <a:xfrm>
            <a:off x="1581912" y="3520440"/>
            <a:ext cx="4206240" cy="1463040"/>
          </a:xfrm>
          <a:prstGeom prst="rect">
            <a:avLst/>
          </a:prstGeom>
          <a:noFill/>
        </p:spPr>
        <p:txBody>
          <a:bodyPr wrap="square" lIns="0" tIns="0" rIns="0" bIns="0" anchor="t">
            <a:spAutoFit/>
          </a:bodyPr>
          <a:lstStyle/>
          <a:p>
            <a:pPr algn="l"/>
            <a:r>
              <a:rPr sz="1800" b="0" i="0">
                <a:solidFill>
                  <a:srgbClr val="1F2A33"/>
                </a:solidFill>
              </a:rPr>
              <a:t>The USA (ratio 8.55) has trust of 35.8%. Above or below the line?</a:t>
            </a:r>
          </a:p>
        </p:txBody>
      </p:sp>
      <p:sp>
        <p:nvSpPr>
          <p:cNvPr id="15" name="Question card 4"/>
          <p:cNvSpPr/>
          <p:nvPr/>
        </p:nvSpPr>
        <p:spPr>
          <a:xfrm>
            <a:off x="6153912" y="3337560"/>
            <a:ext cx="5212080" cy="1783080"/>
          </a:xfrm>
          <a:prstGeom prst="roundRect">
            <a:avLst>
              <a:gd name="adj" fmla="val 8000"/>
            </a:avLst>
          </a:prstGeom>
          <a:solidFill>
            <a:srgbClr val="EEF3F7"/>
          </a:solidFill>
          <a:ln>
            <a:noFill/>
          </a:ln>
        </p:spPr>
        <p:txBody>
          <a:bodyPr rtlCol="0" anchor="ctr"/>
          <a:lstStyle/>
          <a:p>
            <a:endParaRPr/>
          </a:p>
        </p:txBody>
      </p:sp>
      <p:sp>
        <p:nvSpPr>
          <p:cNvPr id="16" name="Oval 15"/>
          <p:cNvSpPr/>
          <p:nvPr/>
        </p:nvSpPr>
        <p:spPr>
          <a:xfrm>
            <a:off x="6355080" y="353872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4</a:t>
            </a:r>
          </a:p>
        </p:txBody>
      </p:sp>
      <p:sp>
        <p:nvSpPr>
          <p:cNvPr id="17" name="TextBox 16"/>
          <p:cNvSpPr txBox="1"/>
          <p:nvPr/>
        </p:nvSpPr>
        <p:spPr>
          <a:xfrm>
            <a:off x="6976872" y="3520440"/>
            <a:ext cx="4206240" cy="1463040"/>
          </a:xfrm>
          <a:prstGeom prst="rect">
            <a:avLst/>
          </a:prstGeom>
          <a:noFill/>
        </p:spPr>
        <p:txBody>
          <a:bodyPr wrap="square" lIns="0" tIns="0" rIns="0" bIns="0" anchor="t">
            <a:spAutoFit/>
          </a:bodyPr>
          <a:lstStyle/>
          <a:p>
            <a:pPr algn="l"/>
            <a:r>
              <a:rPr sz="1800" b="0" i="0">
                <a:solidFill>
                  <a:srgbClr val="1F2A33"/>
                </a:solidFill>
              </a:rPr>
              <a:t>Would you use the line to predict trust in a country with a ratio of 20?</a:t>
            </a:r>
          </a:p>
        </p:txBody>
      </p:sp>
      <p:sp>
        <p:nvSpPr>
          <p:cNvPr id="18" name="Formula strip"/>
          <p:cNvSpPr/>
          <p:nvPr/>
        </p:nvSpPr>
        <p:spPr>
          <a:xfrm>
            <a:off x="758952" y="5486400"/>
            <a:ext cx="10607040" cy="548640"/>
          </a:xfrm>
          <a:prstGeom prst="roundRect">
            <a:avLst>
              <a:gd name="adj" fmla="val 8000"/>
            </a:avLst>
          </a:prstGeom>
          <a:solidFill>
            <a:srgbClr val="1F394D"/>
          </a:solidFill>
          <a:ln>
            <a:noFill/>
          </a:ln>
        </p:spPr>
        <p:txBody>
          <a:bodyPr rtlCol="0" anchor="ctr"/>
          <a:lstStyle/>
          <a:p>
            <a:endParaRPr/>
          </a:p>
        </p:txBody>
      </p:sp>
      <p:sp>
        <p:nvSpPr>
          <p:cNvPr id="19" name="TextBox 18"/>
          <p:cNvSpPr txBox="1"/>
          <p:nvPr/>
        </p:nvSpPr>
        <p:spPr>
          <a:xfrm>
            <a:off x="941832" y="5486400"/>
            <a:ext cx="10241280" cy="548640"/>
          </a:xfrm>
          <a:prstGeom prst="rect">
            <a:avLst/>
          </a:prstGeom>
          <a:noFill/>
        </p:spPr>
        <p:txBody>
          <a:bodyPr wrap="square" lIns="0" tIns="0" rIns="0" bIns="0" anchor="ctr">
            <a:spAutoFit/>
          </a:bodyPr>
          <a:lstStyle/>
          <a:p>
            <a:pPr algn="ctr"/>
            <a:r>
              <a:rPr sz="1900" b="1" i="0">
                <a:solidFill>
                  <a:srgbClr val="FFFFFF"/>
                </a:solidFill>
              </a:rPr>
              <a:t>predicted trust = 77.06 − 6.535 × inequality       residual = observed − predicted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 it: answers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13</a:t>
            </a:fld>
            <a:endParaRPr lang="en-GB"/>
          </a:p>
        </p:txBody>
      </p:sp>
      <p:sp>
        <p:nvSpPr>
          <p:cNvPr id="6" name="Question card 1"/>
          <p:cNvSpPr/>
          <p:nvPr/>
        </p:nvSpPr>
        <p:spPr>
          <a:xfrm>
            <a:off x="758952" y="1371600"/>
            <a:ext cx="5212080" cy="1783080"/>
          </a:xfrm>
          <a:prstGeom prst="roundRect">
            <a:avLst>
              <a:gd name="adj" fmla="val 8000"/>
            </a:avLst>
          </a:prstGeom>
          <a:solidFill>
            <a:srgbClr val="EEF3F7"/>
          </a:solidFill>
          <a:ln>
            <a:noFill/>
          </a:ln>
        </p:spPr>
        <p:txBody>
          <a:bodyPr rtlCol="0" anchor="ctr"/>
          <a:lstStyle/>
          <a:p>
            <a:endParaRPr/>
          </a:p>
        </p:txBody>
      </p:sp>
      <p:sp>
        <p:nvSpPr>
          <p:cNvPr id="7" name="Oval 6"/>
          <p:cNvSpPr/>
          <p:nvPr/>
        </p:nvSpPr>
        <p:spPr>
          <a:xfrm>
            <a:off x="96012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1</a:t>
            </a:r>
          </a:p>
        </p:txBody>
      </p:sp>
      <p:sp>
        <p:nvSpPr>
          <p:cNvPr id="8" name="TextBox 7"/>
          <p:cNvSpPr txBox="1"/>
          <p:nvPr/>
        </p:nvSpPr>
        <p:spPr>
          <a:xfrm>
            <a:off x="1581912" y="1554480"/>
            <a:ext cx="4206240" cy="1463040"/>
          </a:xfrm>
          <a:prstGeom prst="rect">
            <a:avLst/>
          </a:prstGeom>
          <a:noFill/>
        </p:spPr>
        <p:txBody>
          <a:bodyPr wrap="square" lIns="0" tIns="0" rIns="0" bIns="0" anchor="t">
            <a:spAutoFit/>
          </a:bodyPr>
          <a:lstStyle/>
          <a:p>
            <a:pPr algn="l"/>
            <a:r>
              <a:rPr sz="1800" b="0" i="0">
                <a:solidFill>
                  <a:srgbClr val="1F2A33"/>
                </a:solidFill>
              </a:rPr>
              <a:t>Norway’s inequality ratio is 3.85. What trust does the line predict?</a:t>
            </a:r>
          </a:p>
          <a:p>
            <a:pPr algn="l">
              <a:spcBef>
                <a:spcPts val="400"/>
              </a:spcBef>
            </a:pPr>
            <a:r>
              <a:rPr sz="1800" b="1" i="0">
                <a:solidFill>
                  <a:srgbClr val="2E6B45"/>
                </a:solidFill>
              </a:rPr>
              <a:t>77.06 − 6.535 × 3.85 = 51.9%</a:t>
            </a:r>
          </a:p>
        </p:txBody>
      </p:sp>
      <p:sp>
        <p:nvSpPr>
          <p:cNvPr id="9" name="Question card 2"/>
          <p:cNvSpPr/>
          <p:nvPr/>
        </p:nvSpPr>
        <p:spPr>
          <a:xfrm>
            <a:off x="6153912" y="1371600"/>
            <a:ext cx="5212080" cy="1783080"/>
          </a:xfrm>
          <a:prstGeom prst="roundRect">
            <a:avLst>
              <a:gd name="adj" fmla="val 8000"/>
            </a:avLst>
          </a:prstGeom>
          <a:solidFill>
            <a:srgbClr val="EEF3F7"/>
          </a:solidFill>
          <a:ln>
            <a:noFill/>
          </a:ln>
        </p:spPr>
        <p:txBody>
          <a:bodyPr rtlCol="0" anchor="ctr"/>
          <a:lstStyle/>
          <a:p>
            <a:endParaRPr/>
          </a:p>
        </p:txBody>
      </p:sp>
      <p:sp>
        <p:nvSpPr>
          <p:cNvPr id="10" name="Oval 9"/>
          <p:cNvSpPr/>
          <p:nvPr/>
        </p:nvSpPr>
        <p:spPr>
          <a:xfrm>
            <a:off x="635508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2</a:t>
            </a:r>
          </a:p>
        </p:txBody>
      </p:sp>
      <p:sp>
        <p:nvSpPr>
          <p:cNvPr id="11" name="TextBox 10"/>
          <p:cNvSpPr txBox="1"/>
          <p:nvPr/>
        </p:nvSpPr>
        <p:spPr>
          <a:xfrm>
            <a:off x="6976872" y="1554480"/>
            <a:ext cx="4206240" cy="1463040"/>
          </a:xfrm>
          <a:prstGeom prst="rect">
            <a:avLst/>
          </a:prstGeom>
          <a:noFill/>
        </p:spPr>
        <p:txBody>
          <a:bodyPr wrap="square" lIns="0" tIns="0" rIns="0" bIns="0" anchor="t">
            <a:spAutoFit/>
          </a:bodyPr>
          <a:lstStyle/>
          <a:p>
            <a:pPr algn="l"/>
            <a:r>
              <a:rPr sz="1800" b="0" i="0">
                <a:solidFill>
                  <a:srgbClr val="1F2A33"/>
                </a:solidFill>
              </a:rPr>
              <a:t>Norway’s observed trust is 65.3%. What is its residual?</a:t>
            </a:r>
          </a:p>
          <a:p>
            <a:pPr algn="l">
              <a:spcBef>
                <a:spcPts val="400"/>
              </a:spcBef>
            </a:pPr>
            <a:r>
              <a:rPr sz="1800" b="1" i="0">
                <a:solidFill>
                  <a:srgbClr val="2E6B45"/>
                </a:solidFill>
              </a:rPr>
              <a:t>65.3 − 51.9 = +13.4 points</a:t>
            </a:r>
          </a:p>
        </p:txBody>
      </p:sp>
      <p:sp>
        <p:nvSpPr>
          <p:cNvPr id="12" name="Question card 3"/>
          <p:cNvSpPr/>
          <p:nvPr/>
        </p:nvSpPr>
        <p:spPr>
          <a:xfrm>
            <a:off x="758952" y="3337560"/>
            <a:ext cx="5212080" cy="1783080"/>
          </a:xfrm>
          <a:prstGeom prst="roundRect">
            <a:avLst>
              <a:gd name="adj" fmla="val 8000"/>
            </a:avLst>
          </a:prstGeom>
          <a:solidFill>
            <a:srgbClr val="EEF3F7"/>
          </a:solidFill>
          <a:ln>
            <a:noFill/>
          </a:ln>
        </p:spPr>
        <p:txBody>
          <a:bodyPr rtlCol="0" anchor="ctr"/>
          <a:lstStyle/>
          <a:p>
            <a:endParaRPr/>
          </a:p>
        </p:txBody>
      </p:sp>
      <p:sp>
        <p:nvSpPr>
          <p:cNvPr id="13" name="Oval 12"/>
          <p:cNvSpPr/>
          <p:nvPr/>
        </p:nvSpPr>
        <p:spPr>
          <a:xfrm>
            <a:off x="960120" y="353872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3</a:t>
            </a:r>
          </a:p>
        </p:txBody>
      </p:sp>
      <p:sp>
        <p:nvSpPr>
          <p:cNvPr id="14" name="TextBox 13"/>
          <p:cNvSpPr txBox="1"/>
          <p:nvPr/>
        </p:nvSpPr>
        <p:spPr>
          <a:xfrm>
            <a:off x="1581912" y="3520440"/>
            <a:ext cx="4206240" cy="1463040"/>
          </a:xfrm>
          <a:prstGeom prst="rect">
            <a:avLst/>
          </a:prstGeom>
          <a:noFill/>
        </p:spPr>
        <p:txBody>
          <a:bodyPr wrap="square" lIns="0" tIns="0" rIns="0" bIns="0" anchor="t">
            <a:spAutoFit/>
          </a:bodyPr>
          <a:lstStyle/>
          <a:p>
            <a:pPr algn="l"/>
            <a:r>
              <a:rPr sz="1800" b="0" i="0">
                <a:solidFill>
                  <a:srgbClr val="1F2A33"/>
                </a:solidFill>
              </a:rPr>
              <a:t>The USA (ratio 8.55) has trust of 35.8%. Above or below the line?</a:t>
            </a:r>
          </a:p>
          <a:p>
            <a:pPr algn="l">
              <a:spcBef>
                <a:spcPts val="400"/>
              </a:spcBef>
            </a:pPr>
            <a:r>
              <a:rPr sz="1800" b="1" i="0">
                <a:solidFill>
                  <a:srgbClr val="2E6B45"/>
                </a:solidFill>
              </a:rPr>
              <a:t>Above: predicted 21.2%, residual +14.6</a:t>
            </a:r>
          </a:p>
        </p:txBody>
      </p:sp>
      <p:sp>
        <p:nvSpPr>
          <p:cNvPr id="15" name="Question card 4"/>
          <p:cNvSpPr/>
          <p:nvPr/>
        </p:nvSpPr>
        <p:spPr>
          <a:xfrm>
            <a:off x="6153912" y="3337560"/>
            <a:ext cx="5212080" cy="1783080"/>
          </a:xfrm>
          <a:prstGeom prst="roundRect">
            <a:avLst>
              <a:gd name="adj" fmla="val 8000"/>
            </a:avLst>
          </a:prstGeom>
          <a:solidFill>
            <a:srgbClr val="EEF3F7"/>
          </a:solidFill>
          <a:ln>
            <a:noFill/>
          </a:ln>
        </p:spPr>
        <p:txBody>
          <a:bodyPr rtlCol="0" anchor="ctr"/>
          <a:lstStyle/>
          <a:p>
            <a:endParaRPr/>
          </a:p>
        </p:txBody>
      </p:sp>
      <p:sp>
        <p:nvSpPr>
          <p:cNvPr id="16" name="Oval 15"/>
          <p:cNvSpPr/>
          <p:nvPr/>
        </p:nvSpPr>
        <p:spPr>
          <a:xfrm>
            <a:off x="6355080" y="353872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4</a:t>
            </a:r>
          </a:p>
        </p:txBody>
      </p:sp>
      <p:sp>
        <p:nvSpPr>
          <p:cNvPr id="17" name="TextBox 16"/>
          <p:cNvSpPr txBox="1"/>
          <p:nvPr/>
        </p:nvSpPr>
        <p:spPr>
          <a:xfrm>
            <a:off x="6976872" y="3520440"/>
            <a:ext cx="4206240" cy="1463040"/>
          </a:xfrm>
          <a:prstGeom prst="rect">
            <a:avLst/>
          </a:prstGeom>
          <a:noFill/>
        </p:spPr>
        <p:txBody>
          <a:bodyPr wrap="square" lIns="0" tIns="0" rIns="0" bIns="0" anchor="t">
            <a:spAutoFit/>
          </a:bodyPr>
          <a:lstStyle/>
          <a:p>
            <a:pPr algn="l"/>
            <a:r>
              <a:rPr sz="1800" b="0" i="0">
                <a:solidFill>
                  <a:srgbClr val="1F2A33"/>
                </a:solidFill>
              </a:rPr>
              <a:t>Would you use the line to predict trust in a country with a ratio of 20?</a:t>
            </a:r>
          </a:p>
          <a:p>
            <a:pPr algn="l">
              <a:spcBef>
                <a:spcPts val="400"/>
              </a:spcBef>
            </a:pPr>
            <a:r>
              <a:rPr sz="1800" b="1" i="0">
                <a:solidFill>
                  <a:srgbClr val="2E6B45"/>
                </a:solidFill>
              </a:rPr>
              <a:t>No: the data run from 3.4 to 9.7, so that would be extrapolation</a:t>
            </a:r>
          </a:p>
        </p:txBody>
      </p:sp>
      <p:sp>
        <p:nvSpPr>
          <p:cNvPr id="18" name="Formula strip"/>
          <p:cNvSpPr/>
          <p:nvPr/>
        </p:nvSpPr>
        <p:spPr>
          <a:xfrm>
            <a:off x="758952" y="5486400"/>
            <a:ext cx="10607040" cy="548640"/>
          </a:xfrm>
          <a:prstGeom prst="roundRect">
            <a:avLst>
              <a:gd name="adj" fmla="val 8000"/>
            </a:avLst>
          </a:prstGeom>
          <a:solidFill>
            <a:srgbClr val="1F394D"/>
          </a:solidFill>
          <a:ln>
            <a:noFill/>
          </a:ln>
        </p:spPr>
        <p:txBody>
          <a:bodyPr rtlCol="0" anchor="ctr"/>
          <a:lstStyle/>
          <a:p>
            <a:endParaRPr/>
          </a:p>
        </p:txBody>
      </p:sp>
      <p:sp>
        <p:nvSpPr>
          <p:cNvPr id="19" name="TextBox 18"/>
          <p:cNvSpPr txBox="1"/>
          <p:nvPr/>
        </p:nvSpPr>
        <p:spPr>
          <a:xfrm>
            <a:off x="941832" y="5486400"/>
            <a:ext cx="10241280" cy="548640"/>
          </a:xfrm>
          <a:prstGeom prst="rect">
            <a:avLst/>
          </a:prstGeom>
          <a:noFill/>
        </p:spPr>
        <p:txBody>
          <a:bodyPr wrap="square" lIns="0" tIns="0" rIns="0" bIns="0" anchor="ctr">
            <a:spAutoFit/>
          </a:bodyPr>
          <a:lstStyle/>
          <a:p>
            <a:pPr algn="ctr"/>
            <a:r>
              <a:rPr sz="1900" b="1" i="0">
                <a:solidFill>
                  <a:srgbClr val="FFFFFF"/>
                </a:solidFill>
              </a:rPr>
              <a:t>predicted trust = 77.06 − 6.535 × inequality       residual = observed − predicted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R²: how much of the variation the line explains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14</a:t>
            </a:fld>
            <a:endParaRPr lang="en-GB"/>
          </a:p>
        </p:txBody>
      </p:sp>
      <p:graphicFrame>
        <p:nvGraphicFramePr>
          <p:cNvPr id="6" name="R2 bars"/>
          <p:cNvGraphicFramePr>
            <a:graphicFrameLocks noGrp="1"/>
          </p:cNvGraphicFramePr>
          <p:nvPr/>
        </p:nvGraphicFramePr>
        <p:xfrm>
          <a:off x="758952" y="1325880"/>
          <a:ext cx="60350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7086600" y="1417320"/>
            <a:ext cx="4279392" cy="2011680"/>
          </a:xfrm>
          <a:prstGeom prst="roundRect">
            <a:avLst>
              <a:gd name="adj" fmla="val 8000"/>
            </a:avLst>
          </a:prstGeom>
          <a:solidFill>
            <a:srgbClr val="1F394D"/>
          </a:solidFill>
          <a:ln>
            <a:noFill/>
          </a:ln>
        </p:spPr>
        <p:txBody>
          <a:bodyPr rtlCol="0" anchor="ctr"/>
          <a:lstStyle/>
          <a:p>
            <a:endParaRPr/>
          </a:p>
        </p:txBody>
      </p:sp>
      <p:sp>
        <p:nvSpPr>
          <p:cNvPr id="8" name="TextBox 7"/>
          <p:cNvSpPr txBox="1"/>
          <p:nvPr/>
        </p:nvSpPr>
        <p:spPr>
          <a:xfrm>
            <a:off x="7287768" y="1578254"/>
            <a:ext cx="3877055" cy="1689811"/>
          </a:xfrm>
          <a:prstGeom prst="rect">
            <a:avLst/>
          </a:prstGeom>
          <a:noFill/>
        </p:spPr>
        <p:txBody>
          <a:bodyPr wrap="square" lIns="0" tIns="0" rIns="0" bIns="0" anchor="t">
            <a:spAutoFit/>
          </a:bodyPr>
          <a:lstStyle/>
          <a:p>
            <a:pPr algn="l">
              <a:spcAft>
                <a:spcPts val="400"/>
              </a:spcAft>
            </a:pPr>
            <a:r>
              <a:rPr sz="2100" b="1" i="0">
                <a:solidFill>
                  <a:srgbClr val="B88C00"/>
                </a:solidFill>
              </a:rPr>
              <a:t>R² = 1 − 3,055 ÷ 5,467 = 0.44</a:t>
            </a:r>
          </a:p>
          <a:p>
            <a:pPr algn="l">
              <a:spcAft>
                <a:spcPts val="400"/>
              </a:spcAft>
            </a:pPr>
            <a:r>
              <a:rPr sz="1600" b="0" i="0">
                <a:solidFill>
                  <a:srgbClr val="CCDDEA"/>
                </a:solidFill>
              </a:rPr>
              <a:t>the share of variation in trust that goes with inequality</a:t>
            </a:r>
          </a:p>
        </p:txBody>
      </p:sp>
      <p:sp>
        <p:nvSpPr>
          <p:cNvPr id="9" name="Rounded Rectangle 8"/>
          <p:cNvSpPr/>
          <p:nvPr/>
        </p:nvSpPr>
        <p:spPr>
          <a:xfrm>
            <a:off x="7086600" y="3611880"/>
            <a:ext cx="4279392" cy="2148840"/>
          </a:xfrm>
          <a:prstGeom prst="roundRect">
            <a:avLst>
              <a:gd name="adj" fmla="val 8000"/>
            </a:avLst>
          </a:prstGeom>
          <a:solidFill>
            <a:srgbClr val="EEF3F7"/>
          </a:solidFill>
          <a:ln>
            <a:noFill/>
          </a:ln>
        </p:spPr>
        <p:txBody>
          <a:bodyPr rtlCol="0" anchor="ctr"/>
          <a:lstStyle/>
          <a:p>
            <a:endParaRPr/>
          </a:p>
        </p:txBody>
      </p:sp>
      <p:sp>
        <p:nvSpPr>
          <p:cNvPr id="10" name="TextBox 9"/>
          <p:cNvSpPr txBox="1"/>
          <p:nvPr/>
        </p:nvSpPr>
        <p:spPr>
          <a:xfrm>
            <a:off x="7287768" y="3772814"/>
            <a:ext cx="3877055" cy="1826971"/>
          </a:xfrm>
          <a:prstGeom prst="rect">
            <a:avLst/>
          </a:prstGeom>
          <a:noFill/>
        </p:spPr>
        <p:txBody>
          <a:bodyPr wrap="square" lIns="0" tIns="0" rIns="0" bIns="0" anchor="t">
            <a:spAutoFit/>
          </a:bodyPr>
          <a:lstStyle/>
          <a:p>
            <a:pPr algn="l">
              <a:spcAft>
                <a:spcPts val="400"/>
              </a:spcAft>
            </a:pPr>
            <a:r>
              <a:rPr sz="2100" b="1" i="0">
                <a:solidFill>
                  <a:srgbClr val="1F394D"/>
                </a:solidFill>
              </a:rPr>
              <a:t>R² = r²</a:t>
            </a:r>
          </a:p>
          <a:p>
            <a:pPr algn="l">
              <a:spcAft>
                <a:spcPts val="400"/>
              </a:spcAft>
            </a:pPr>
            <a:r>
              <a:rPr sz="1600" b="0" i="0">
                <a:solidFill>
                  <a:srgbClr val="1F2A33"/>
                </a:solidFill>
              </a:rPr>
              <a:t>With one predictor: (−0.664)² = 0.441. The other 56% goes with other things.</a:t>
            </a:r>
          </a:p>
        </p:txBody>
      </p:sp>
      <p:sp>
        <p:nvSpPr>
          <p:cNvPr id="11" name="TextBox 10"/>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pickett2009.csv (Wilkinson &amp; Pickett 2009), 23 countries. Trust = % who say most people can be trusted.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Units matter: unstandardized and standardized</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15</a:t>
            </a:fld>
            <a:endParaRPr lang="en-GB"/>
          </a:p>
        </p:txBody>
      </p:sp>
      <p:sp>
        <p:nvSpPr>
          <p:cNvPr id="6" name="Unstandardized"/>
          <p:cNvSpPr/>
          <p:nvPr/>
        </p:nvSpPr>
        <p:spPr>
          <a:xfrm>
            <a:off x="758952" y="1417320"/>
            <a:ext cx="5212080" cy="3108960"/>
          </a:xfrm>
          <a:prstGeom prst="roundRect">
            <a:avLst>
              <a:gd name="adj" fmla="val 8000"/>
            </a:avLst>
          </a:prstGeom>
          <a:solidFill>
            <a:srgbClr val="EEF3F7"/>
          </a:solidFill>
          <a:ln>
            <a:noFill/>
          </a:ln>
        </p:spPr>
        <p:txBody>
          <a:bodyPr rtlCol="0" anchor="ctr"/>
          <a:lstStyle/>
          <a:p>
            <a:endParaRPr/>
          </a:p>
        </p:txBody>
      </p:sp>
      <p:sp>
        <p:nvSpPr>
          <p:cNvPr id="7" name="TextBox 6"/>
          <p:cNvSpPr txBox="1"/>
          <p:nvPr/>
        </p:nvSpPr>
        <p:spPr>
          <a:xfrm>
            <a:off x="1033271" y="1554480"/>
            <a:ext cx="4663440" cy="2834640"/>
          </a:xfrm>
          <a:prstGeom prst="rect">
            <a:avLst/>
          </a:prstGeom>
          <a:noFill/>
        </p:spPr>
        <p:txBody>
          <a:bodyPr wrap="square" lIns="0" tIns="0" rIns="0" bIns="0" anchor="t">
            <a:spAutoFit/>
          </a:bodyPr>
          <a:lstStyle/>
          <a:p>
            <a:pPr algn="l">
              <a:spcAft>
                <a:spcPts val="600"/>
              </a:spcAft>
            </a:pPr>
            <a:r>
              <a:rPr sz="2200" b="1" i="0">
                <a:solidFill>
                  <a:srgbClr val="1F394D"/>
                </a:solidFill>
              </a:rPr>
              <a:t>Unstandardized</a:t>
            </a:r>
          </a:p>
          <a:p>
            <a:pPr algn="l">
              <a:spcAft>
                <a:spcPts val="800"/>
              </a:spcAft>
            </a:pPr>
            <a:r>
              <a:rPr sz="4000" b="1" i="0">
                <a:solidFill>
                  <a:srgbClr val="1F394D"/>
                </a:solidFill>
              </a:rPr>
              <a:t>−6.54 points</a:t>
            </a:r>
          </a:p>
          <a:p>
            <a:pPr algn="l"/>
            <a:r>
              <a:rPr sz="1700" b="0" i="0">
                <a:solidFill>
                  <a:srgbClr val="1F2A33"/>
                </a:solidFill>
              </a:rPr>
              <a:t>One more “times” of inequality (e.g. 7 → 8) goes with 6.5 percentage points less trust.</a:t>
            </a:r>
          </a:p>
        </p:txBody>
      </p:sp>
      <p:sp>
        <p:nvSpPr>
          <p:cNvPr id="8" name="Standardized"/>
          <p:cNvSpPr/>
          <p:nvPr/>
        </p:nvSpPr>
        <p:spPr>
          <a:xfrm>
            <a:off x="6153912" y="1417320"/>
            <a:ext cx="5212080" cy="3108960"/>
          </a:xfrm>
          <a:prstGeom prst="roundRect">
            <a:avLst>
              <a:gd name="adj" fmla="val 8000"/>
            </a:avLst>
          </a:prstGeom>
          <a:solidFill>
            <a:srgbClr val="1F394D"/>
          </a:solidFill>
          <a:ln>
            <a:noFill/>
          </a:ln>
        </p:spPr>
        <p:txBody>
          <a:bodyPr rtlCol="0" anchor="ctr"/>
          <a:lstStyle/>
          <a:p>
            <a:endParaRPr/>
          </a:p>
        </p:txBody>
      </p:sp>
      <p:sp>
        <p:nvSpPr>
          <p:cNvPr id="9" name="TextBox 8"/>
          <p:cNvSpPr txBox="1"/>
          <p:nvPr/>
        </p:nvSpPr>
        <p:spPr>
          <a:xfrm>
            <a:off x="6428231" y="1554480"/>
            <a:ext cx="4663440" cy="2834640"/>
          </a:xfrm>
          <a:prstGeom prst="rect">
            <a:avLst/>
          </a:prstGeom>
          <a:noFill/>
        </p:spPr>
        <p:txBody>
          <a:bodyPr wrap="square" lIns="0" tIns="0" rIns="0" bIns="0" anchor="t">
            <a:spAutoFit/>
          </a:bodyPr>
          <a:lstStyle/>
          <a:p>
            <a:pPr algn="l">
              <a:spcAft>
                <a:spcPts val="600"/>
              </a:spcAft>
            </a:pPr>
            <a:r>
              <a:rPr sz="2200" b="1" i="0">
                <a:solidFill>
                  <a:srgbClr val="FFFFFF"/>
                </a:solidFill>
              </a:rPr>
              <a:t>Standardized</a:t>
            </a:r>
          </a:p>
          <a:p>
            <a:pPr algn="l">
              <a:spcAft>
                <a:spcPts val="800"/>
              </a:spcAft>
            </a:pPr>
            <a:r>
              <a:rPr sz="4000" b="1" i="0">
                <a:solidFill>
                  <a:srgbClr val="B88C00"/>
                </a:solidFill>
              </a:rPr>
              <a:t>−0.66 SD</a:t>
            </a:r>
          </a:p>
          <a:p>
            <a:pPr algn="l"/>
            <a:r>
              <a:rPr sz="1700" b="0" i="0">
                <a:solidFill>
                  <a:srgbClr val="CCDDEA"/>
                </a:solidFill>
              </a:rPr>
              <a:t>A country 1 SD more unequal (1.6 units) is 0.66 SD (10.5 points) lower in trust.</a:t>
            </a:r>
          </a:p>
        </p:txBody>
      </p:sp>
      <p:graphicFrame>
        <p:nvGraphicFramePr>
          <p:cNvPr id="10" name="Table 9"/>
          <p:cNvGraphicFramePr>
            <a:graphicFrameLocks noGrp="1"/>
          </p:cNvGraphicFramePr>
          <p:nvPr/>
        </p:nvGraphicFramePr>
        <p:xfrm>
          <a:off x="758952" y="4709160"/>
          <a:ext cx="6858000" cy="1097280"/>
        </p:xfrm>
        <a:graphic>
          <a:graphicData uri="http://schemas.openxmlformats.org/drawingml/2006/table">
            <a:tbl>
              <a:tblPr firstRow="1">
                <a:tableStyleId>{5C22544A-7EE6-4342-B048-85BDC9FD1C3A}</a:tableStyleId>
              </a:tblPr>
              <a:tblGrid>
                <a:gridCol w="32004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65760">
                <a:tc>
                  <a:txBody>
                    <a:bodyPr/>
                    <a:lstStyle/>
                    <a:p>
                      <a:pPr algn="l"/>
                      <a:endParaRPr/>
                    </a:p>
                  </a:txBody>
                  <a:tcPr marT="27432" marB="27432" anchor="ctr">
                    <a:solidFill>
                      <a:srgbClr val="1F394D"/>
                    </a:solidFill>
                  </a:tcPr>
                </a:tc>
                <a:tc>
                  <a:txBody>
                    <a:bodyPr/>
                    <a:lstStyle/>
                    <a:p>
                      <a:pPr algn="r"/>
                      <a:r>
                        <a:rPr sz="1500" b="1">
                          <a:solidFill>
                            <a:srgbClr val="FFFFFF"/>
                          </a:solidFill>
                        </a:rPr>
                        <a:t>Mean</a:t>
                      </a:r>
                    </a:p>
                  </a:txBody>
                  <a:tcPr marT="27432" marB="27432" anchor="ctr">
                    <a:solidFill>
                      <a:srgbClr val="1F394D"/>
                    </a:solidFill>
                  </a:tcPr>
                </a:tc>
                <a:tc>
                  <a:txBody>
                    <a:bodyPr/>
                    <a:lstStyle/>
                    <a:p>
                      <a:pPr algn="r"/>
                      <a:r>
                        <a:rPr sz="1500" b="1">
                          <a:solidFill>
                            <a:srgbClr val="FFFFFF"/>
                          </a:solidFill>
                        </a:rPr>
                        <a:t>Standard deviation</a:t>
                      </a:r>
                    </a:p>
                  </a:txBody>
                  <a:tcPr marT="27432" marB="27432" anchor="ctr">
                    <a:solidFill>
                      <a:srgbClr val="1F394D"/>
                    </a:solidFill>
                  </a:tcPr>
                </a:tc>
                <a:extLst>
                  <a:ext uri="{0D108BD9-81ED-4DB2-BD59-A6C34878D82A}">
                    <a16:rowId xmlns:a16="http://schemas.microsoft.com/office/drawing/2014/main" val="10000"/>
                  </a:ext>
                </a:extLst>
              </a:tr>
              <a:tr h="365760">
                <a:tc>
                  <a:txBody>
                    <a:bodyPr/>
                    <a:lstStyle/>
                    <a:p>
                      <a:pPr algn="l"/>
                      <a:r>
                        <a:rPr sz="1500" b="1">
                          <a:solidFill>
                            <a:srgbClr val="1F2A33"/>
                          </a:solidFill>
                        </a:rPr>
                        <a:t>Trust (%)</a:t>
                      </a:r>
                    </a:p>
                  </a:txBody>
                  <a:tcPr marT="27432" marB="27432" anchor="ctr">
                    <a:solidFill>
                      <a:srgbClr val="FFFFFF"/>
                    </a:solidFill>
                  </a:tcPr>
                </a:tc>
                <a:tc>
                  <a:txBody>
                    <a:bodyPr/>
                    <a:lstStyle/>
                    <a:p>
                      <a:pPr algn="r"/>
                      <a:r>
                        <a:rPr sz="1500" b="0">
                          <a:solidFill>
                            <a:srgbClr val="1F2A33"/>
                          </a:solidFill>
                        </a:rPr>
                        <a:t>38.8</a:t>
                      </a:r>
                    </a:p>
                  </a:txBody>
                  <a:tcPr marT="27432" marB="27432" anchor="ctr">
                    <a:solidFill>
                      <a:srgbClr val="FFFFFF"/>
                    </a:solidFill>
                  </a:tcPr>
                </a:tc>
                <a:tc>
                  <a:txBody>
                    <a:bodyPr/>
                    <a:lstStyle/>
                    <a:p>
                      <a:pPr algn="r"/>
                      <a:r>
                        <a:rPr sz="1500" b="0">
                          <a:solidFill>
                            <a:srgbClr val="1F2A33"/>
                          </a:solidFill>
                        </a:rPr>
                        <a:t>15.76</a:t>
                      </a:r>
                    </a:p>
                  </a:txBody>
                  <a:tcPr marT="27432" marB="27432" anchor="ctr">
                    <a:solidFill>
                      <a:srgbClr val="FFFFFF"/>
                    </a:solidFill>
                  </a:tcPr>
                </a:tc>
                <a:extLst>
                  <a:ext uri="{0D108BD9-81ED-4DB2-BD59-A6C34878D82A}">
                    <a16:rowId xmlns:a16="http://schemas.microsoft.com/office/drawing/2014/main" val="10001"/>
                  </a:ext>
                </a:extLst>
              </a:tr>
              <a:tr h="365760">
                <a:tc>
                  <a:txBody>
                    <a:bodyPr/>
                    <a:lstStyle/>
                    <a:p>
                      <a:pPr algn="l"/>
                      <a:r>
                        <a:rPr sz="1500" b="1">
                          <a:solidFill>
                            <a:srgbClr val="1F2A33"/>
                          </a:solidFill>
                        </a:rPr>
                        <a:t>Income inequality (ratio)</a:t>
                      </a:r>
                    </a:p>
                  </a:txBody>
                  <a:tcPr marT="27432" marB="27432" anchor="ctr">
                    <a:solidFill>
                      <a:srgbClr val="EEF3F7"/>
                    </a:solidFill>
                  </a:tcPr>
                </a:tc>
                <a:tc>
                  <a:txBody>
                    <a:bodyPr/>
                    <a:lstStyle/>
                    <a:p>
                      <a:pPr algn="r"/>
                      <a:r>
                        <a:rPr sz="1500" b="0">
                          <a:solidFill>
                            <a:srgbClr val="1F2A33"/>
                          </a:solidFill>
                        </a:rPr>
                        <a:t>5.85</a:t>
                      </a:r>
                    </a:p>
                  </a:txBody>
                  <a:tcPr marT="27432" marB="27432" anchor="ctr">
                    <a:solidFill>
                      <a:srgbClr val="EEF3F7"/>
                    </a:solidFill>
                  </a:tcPr>
                </a:tc>
                <a:tc>
                  <a:txBody>
                    <a:bodyPr/>
                    <a:lstStyle/>
                    <a:p>
                      <a:pPr algn="r"/>
                      <a:r>
                        <a:rPr sz="1500" b="0">
                          <a:solidFill>
                            <a:srgbClr val="1F2A33"/>
                          </a:solidFill>
                        </a:rPr>
                        <a:t>1.60</a:t>
                      </a:r>
                    </a:p>
                  </a:txBody>
                  <a:tcPr marT="27432" marB="27432" anchor="ctr">
                    <a:solidFill>
                      <a:srgbClr val="EEF3F7"/>
                    </a:solidFill>
                  </a:tcPr>
                </a:tc>
                <a:extLst>
                  <a:ext uri="{0D108BD9-81ED-4DB2-BD59-A6C34878D82A}">
                    <a16:rowId xmlns:a16="http://schemas.microsoft.com/office/drawing/2014/main" val="10002"/>
                  </a:ext>
                </a:extLst>
              </a:tr>
            </a:tbl>
          </a:graphicData>
        </a:graphic>
      </p:graphicFrame>
      <p:sp>
        <p:nvSpPr>
          <p:cNvPr id="11" name="Rounded Rectangle 10"/>
          <p:cNvSpPr/>
          <p:nvPr/>
        </p:nvSpPr>
        <p:spPr>
          <a:xfrm>
            <a:off x="7863840" y="4709160"/>
            <a:ext cx="3502152" cy="1097280"/>
          </a:xfrm>
          <a:prstGeom prst="roundRect">
            <a:avLst>
              <a:gd name="adj" fmla="val 8000"/>
            </a:avLst>
          </a:prstGeom>
          <a:solidFill>
            <a:srgbClr val="EEF3F7"/>
          </a:solidFill>
          <a:ln>
            <a:noFill/>
          </a:ln>
        </p:spPr>
        <p:txBody>
          <a:bodyPr rtlCol="0" anchor="ctr"/>
          <a:lstStyle/>
          <a:p>
            <a:endParaRPr/>
          </a:p>
        </p:txBody>
      </p:sp>
      <p:sp>
        <p:nvSpPr>
          <p:cNvPr id="12" name="TextBox 11"/>
          <p:cNvSpPr txBox="1"/>
          <p:nvPr/>
        </p:nvSpPr>
        <p:spPr>
          <a:xfrm>
            <a:off x="8001000" y="4818888"/>
            <a:ext cx="3227832" cy="877824"/>
          </a:xfrm>
          <a:prstGeom prst="rect">
            <a:avLst/>
          </a:prstGeom>
          <a:noFill/>
        </p:spPr>
        <p:txBody>
          <a:bodyPr wrap="square" lIns="0" tIns="0" rIns="0" bIns="0" anchor="t">
            <a:spAutoFit/>
          </a:bodyPr>
          <a:lstStyle/>
          <a:p>
            <a:pPr algn="l">
              <a:spcAft>
                <a:spcPts val="400"/>
              </a:spcAft>
            </a:pPr>
            <a:r>
              <a:rPr sz="1800" b="1" i="0">
                <a:solidFill>
                  <a:srgbClr val="1F394D"/>
                </a:solidFill>
              </a:rPr>
              <a:t>z = (x − mean) ÷ SD</a:t>
            </a:r>
          </a:p>
          <a:p>
            <a:pPr algn="l">
              <a:spcAft>
                <a:spcPts val="400"/>
              </a:spcAft>
            </a:pPr>
            <a:r>
              <a:rPr sz="1400" b="0" i="0">
                <a:solidFill>
                  <a:srgbClr val="1F2A33"/>
                </a:solidFill>
              </a:rPr>
              <a:t>JASP: zScores() in a computed column</a:t>
            </a:r>
          </a:p>
        </p:txBody>
      </p:sp>
      <p:sp>
        <p:nvSpPr>
          <p:cNvPr id="13" name="TextBox 12"/>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pickett2009.csv (Wilkinson &amp; Pickett 2009), 23 countries. Trust = % who say most people can be trusted.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Adding predictors:</a:t>
            </a:r>
          </a:p>
          <a:p>
            <a:r>
              <a:rPr sz="4000"/>
              <a:t>multiple regression</a:t>
            </a:r>
          </a:p>
        </p:txBody>
      </p:sp>
      <p:sp>
        <p:nvSpPr>
          <p:cNvPr id="3" name="Text Placeholder 2"/>
          <p:cNvSpPr>
            <a:spLocks noGrp="1"/>
          </p:cNvSpPr>
          <p:nvPr>
            <p:ph type="body" sz="half" idx="2"/>
          </p:nvPr>
        </p:nvSpPr>
        <p:spPr/>
        <p:txBody>
          <a:bodyPr/>
          <a:lstStyle/>
          <a:p>
            <a:r>
              <a:rPr sz="2400"/>
              <a:t>Worksheet 3, Exercise 3.2</a:t>
            </a:r>
          </a:p>
        </p:txBody>
      </p:sp>
      <p:sp>
        <p:nvSpPr>
          <p:cNvPr id="6"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16</a:t>
            </a:fld>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add another predictor?</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17</a:t>
            </a:fld>
            <a:endParaRPr lang="en-GB"/>
          </a:p>
        </p:txBody>
      </p:sp>
      <p:sp>
        <p:nvSpPr>
          <p:cNvPr id="6" name="Rounded Rectangle 5"/>
          <p:cNvSpPr/>
          <p:nvPr/>
        </p:nvSpPr>
        <p:spPr>
          <a:xfrm>
            <a:off x="941832" y="1645920"/>
            <a:ext cx="2926080" cy="822960"/>
          </a:xfrm>
          <a:prstGeom prst="roundRect">
            <a:avLst>
              <a:gd name="adj" fmla="val 50000"/>
            </a:avLst>
          </a:prstGeom>
          <a:solidFill>
            <a:srgbClr val="1F394D"/>
          </a:solidFill>
          <a:ln>
            <a:noFill/>
          </a:ln>
        </p:spPr>
        <p:txBody>
          <a:bodyPr rtlCol="0" anchor="ctr"/>
          <a:lstStyle/>
          <a:p>
            <a:endParaRPr/>
          </a:p>
        </p:txBody>
      </p:sp>
      <p:sp>
        <p:nvSpPr>
          <p:cNvPr id="7" name="TextBox 6"/>
          <p:cNvSpPr txBox="1"/>
          <p:nvPr/>
        </p:nvSpPr>
        <p:spPr>
          <a:xfrm>
            <a:off x="941832" y="1645920"/>
            <a:ext cx="2926080" cy="822960"/>
          </a:xfrm>
          <a:prstGeom prst="rect">
            <a:avLst/>
          </a:prstGeom>
          <a:noFill/>
        </p:spPr>
        <p:txBody>
          <a:bodyPr wrap="square" lIns="0" tIns="0" rIns="0" bIns="0" anchor="ctr">
            <a:spAutoFit/>
          </a:bodyPr>
          <a:lstStyle/>
          <a:p>
            <a:pPr algn="ctr"/>
            <a:r>
              <a:rPr sz="1800" b="1" i="0">
                <a:solidFill>
                  <a:srgbClr val="FFFFFF"/>
                </a:solidFill>
              </a:rPr>
              <a:t>Income inequality</a:t>
            </a:r>
          </a:p>
        </p:txBody>
      </p:sp>
      <p:sp>
        <p:nvSpPr>
          <p:cNvPr id="8" name="Rounded Rectangle 7"/>
          <p:cNvSpPr/>
          <p:nvPr/>
        </p:nvSpPr>
        <p:spPr>
          <a:xfrm>
            <a:off x="941832" y="4206240"/>
            <a:ext cx="2926080" cy="822960"/>
          </a:xfrm>
          <a:prstGeom prst="roundRect">
            <a:avLst>
              <a:gd name="adj" fmla="val 50000"/>
            </a:avLst>
          </a:prstGeom>
          <a:solidFill>
            <a:srgbClr val="B88C00"/>
          </a:solidFill>
          <a:ln>
            <a:noFill/>
          </a:ln>
        </p:spPr>
        <p:txBody>
          <a:bodyPr rtlCol="0" anchor="ctr"/>
          <a:lstStyle/>
          <a:p>
            <a:endParaRPr/>
          </a:p>
        </p:txBody>
      </p:sp>
      <p:sp>
        <p:nvSpPr>
          <p:cNvPr id="9" name="TextBox 8"/>
          <p:cNvSpPr txBox="1"/>
          <p:nvPr/>
        </p:nvSpPr>
        <p:spPr>
          <a:xfrm>
            <a:off x="941832" y="4206240"/>
            <a:ext cx="2926080" cy="822960"/>
          </a:xfrm>
          <a:prstGeom prst="rect">
            <a:avLst/>
          </a:prstGeom>
          <a:noFill/>
        </p:spPr>
        <p:txBody>
          <a:bodyPr wrap="square" lIns="0" tIns="0" rIns="0" bIns="0" anchor="ctr">
            <a:spAutoFit/>
          </a:bodyPr>
          <a:lstStyle/>
          <a:p>
            <a:pPr algn="ctr"/>
            <a:r>
              <a:rPr sz="1800" b="1" i="0">
                <a:solidFill>
                  <a:srgbClr val="1F2A33"/>
                </a:solidFill>
              </a:rPr>
              <a:t>Homicide rate</a:t>
            </a:r>
          </a:p>
        </p:txBody>
      </p:sp>
      <p:sp>
        <p:nvSpPr>
          <p:cNvPr id="10" name="Rounded Rectangle 9"/>
          <p:cNvSpPr/>
          <p:nvPr/>
        </p:nvSpPr>
        <p:spPr>
          <a:xfrm>
            <a:off x="5943600" y="2926080"/>
            <a:ext cx="2560320" cy="822960"/>
          </a:xfrm>
          <a:prstGeom prst="roundRect">
            <a:avLst>
              <a:gd name="adj" fmla="val 50000"/>
            </a:avLst>
          </a:prstGeom>
          <a:solidFill>
            <a:srgbClr val="3F739B"/>
          </a:solidFill>
          <a:ln>
            <a:noFill/>
          </a:ln>
        </p:spPr>
        <p:txBody>
          <a:bodyPr rtlCol="0" anchor="ctr"/>
          <a:lstStyle/>
          <a:p>
            <a:endParaRPr/>
          </a:p>
        </p:txBody>
      </p:sp>
      <p:sp>
        <p:nvSpPr>
          <p:cNvPr id="11" name="TextBox 10"/>
          <p:cNvSpPr txBox="1"/>
          <p:nvPr/>
        </p:nvSpPr>
        <p:spPr>
          <a:xfrm>
            <a:off x="5943600" y="2926080"/>
            <a:ext cx="2560320" cy="822960"/>
          </a:xfrm>
          <a:prstGeom prst="rect">
            <a:avLst/>
          </a:prstGeom>
          <a:noFill/>
        </p:spPr>
        <p:txBody>
          <a:bodyPr wrap="square" lIns="0" tIns="0" rIns="0" bIns="0" anchor="ctr">
            <a:spAutoFit/>
          </a:bodyPr>
          <a:lstStyle/>
          <a:p>
            <a:pPr algn="ctr"/>
            <a:r>
              <a:rPr sz="1800" b="1" i="0">
                <a:solidFill>
                  <a:srgbClr val="FFFFFF"/>
                </a:solidFill>
              </a:rPr>
              <a:t>Trust</a:t>
            </a:r>
          </a:p>
        </p:txBody>
      </p:sp>
      <p:cxnSp>
        <p:nvCxnSpPr>
          <p:cNvPr id="12" name="Connector 11"/>
          <p:cNvCxnSpPr/>
          <p:nvPr/>
        </p:nvCxnSpPr>
        <p:spPr>
          <a:xfrm>
            <a:off x="3867911" y="2057400"/>
            <a:ext cx="2075689" cy="1188720"/>
          </a:xfrm>
          <a:prstGeom prst="line">
            <a:avLst/>
          </a:prstGeom>
          <a:ln w="38100">
            <a:solidFill>
              <a:srgbClr val="1F394D"/>
            </a:solidFill>
          </a:ln>
        </p:spPr>
      </p:cxnSp>
      <p:cxnSp>
        <p:nvCxnSpPr>
          <p:cNvPr id="13" name="Connector 12"/>
          <p:cNvCxnSpPr/>
          <p:nvPr/>
        </p:nvCxnSpPr>
        <p:spPr>
          <a:xfrm flipV="1">
            <a:off x="3867911" y="3520440"/>
            <a:ext cx="2075689" cy="1097280"/>
          </a:xfrm>
          <a:prstGeom prst="line">
            <a:avLst/>
          </a:prstGeom>
          <a:ln w="38100">
            <a:solidFill>
              <a:srgbClr val="7A5C00"/>
            </a:solidFill>
            <a:prstDash val="dash"/>
          </a:ln>
        </p:spPr>
      </p:cxnSp>
      <p:cxnSp>
        <p:nvCxnSpPr>
          <p:cNvPr id="14" name="Connector 13"/>
          <p:cNvCxnSpPr/>
          <p:nvPr/>
        </p:nvCxnSpPr>
        <p:spPr>
          <a:xfrm>
            <a:off x="2404872" y="2468880"/>
            <a:ext cx="0" cy="1737360"/>
          </a:xfrm>
          <a:prstGeom prst="line">
            <a:avLst/>
          </a:prstGeom>
          <a:ln w="25400">
            <a:solidFill>
              <a:srgbClr val="55606B"/>
            </a:solidFill>
            <a:prstDash val="sysDot"/>
          </a:ln>
        </p:spPr>
      </p:cxnSp>
      <p:sp>
        <p:nvSpPr>
          <p:cNvPr id="15" name="TextBox 14"/>
          <p:cNvSpPr txBox="1"/>
          <p:nvPr/>
        </p:nvSpPr>
        <p:spPr>
          <a:xfrm>
            <a:off x="2542032" y="3063240"/>
            <a:ext cx="2011680" cy="548640"/>
          </a:xfrm>
          <a:prstGeom prst="rect">
            <a:avLst/>
          </a:prstGeom>
          <a:noFill/>
        </p:spPr>
        <p:txBody>
          <a:bodyPr wrap="square" lIns="0" tIns="0" rIns="0" bIns="0" anchor="t">
            <a:spAutoFit/>
          </a:bodyPr>
          <a:lstStyle/>
          <a:p>
            <a:pPr algn="l"/>
            <a:r>
              <a:rPr sz="1600" b="1" i="0">
                <a:solidFill>
                  <a:srgbClr val="55606B"/>
                </a:solidFill>
              </a:rPr>
              <a:t>r = 0.47</a:t>
            </a:r>
          </a:p>
        </p:txBody>
      </p:sp>
      <p:sp>
        <p:nvSpPr>
          <p:cNvPr id="16" name="TextBox 15"/>
          <p:cNvSpPr txBox="1"/>
          <p:nvPr/>
        </p:nvSpPr>
        <p:spPr>
          <a:xfrm>
            <a:off x="4206240" y="2148840"/>
            <a:ext cx="2011680" cy="457200"/>
          </a:xfrm>
          <a:prstGeom prst="rect">
            <a:avLst/>
          </a:prstGeom>
          <a:noFill/>
        </p:spPr>
        <p:txBody>
          <a:bodyPr wrap="square" lIns="0" tIns="0" rIns="0" bIns="0" anchor="t">
            <a:spAutoFit/>
          </a:bodyPr>
          <a:lstStyle/>
          <a:p>
            <a:pPr algn="l"/>
            <a:r>
              <a:rPr sz="2200" b="1" i="0">
                <a:solidFill>
                  <a:srgbClr val="1F394D"/>
                </a:solidFill>
              </a:rPr>
              <a:t>?</a:t>
            </a:r>
          </a:p>
        </p:txBody>
      </p:sp>
      <p:sp>
        <p:nvSpPr>
          <p:cNvPr id="17" name="TextBox 16"/>
          <p:cNvSpPr txBox="1"/>
          <p:nvPr/>
        </p:nvSpPr>
        <p:spPr>
          <a:xfrm>
            <a:off x="4206240" y="4069080"/>
            <a:ext cx="2011680" cy="457200"/>
          </a:xfrm>
          <a:prstGeom prst="rect">
            <a:avLst/>
          </a:prstGeom>
          <a:noFill/>
        </p:spPr>
        <p:txBody>
          <a:bodyPr wrap="square" lIns="0" tIns="0" rIns="0" bIns="0" anchor="t">
            <a:spAutoFit/>
          </a:bodyPr>
          <a:lstStyle/>
          <a:p>
            <a:pPr algn="l"/>
            <a:r>
              <a:rPr sz="2200" b="1" i="0">
                <a:solidFill>
                  <a:srgbClr val="7A5C00"/>
                </a:solidFill>
              </a:rPr>
              <a:t>?</a:t>
            </a:r>
          </a:p>
        </p:txBody>
      </p:sp>
      <p:sp>
        <p:nvSpPr>
          <p:cNvPr id="18" name="Rounded Rectangle 17"/>
          <p:cNvSpPr/>
          <p:nvPr/>
        </p:nvSpPr>
        <p:spPr>
          <a:xfrm>
            <a:off x="8778240" y="1508760"/>
            <a:ext cx="2587752" cy="4206240"/>
          </a:xfrm>
          <a:prstGeom prst="roundRect">
            <a:avLst>
              <a:gd name="adj" fmla="val 8000"/>
            </a:avLst>
          </a:prstGeom>
          <a:solidFill>
            <a:srgbClr val="EEF3F7"/>
          </a:solidFill>
          <a:ln>
            <a:noFill/>
          </a:ln>
        </p:spPr>
        <p:txBody>
          <a:bodyPr rtlCol="0" anchor="ctr"/>
          <a:lstStyle/>
          <a:p>
            <a:endParaRPr/>
          </a:p>
        </p:txBody>
      </p:sp>
      <p:sp>
        <p:nvSpPr>
          <p:cNvPr id="19" name="TextBox 18"/>
          <p:cNvSpPr txBox="1"/>
          <p:nvPr/>
        </p:nvSpPr>
        <p:spPr>
          <a:xfrm>
            <a:off x="8979408" y="1669694"/>
            <a:ext cx="2185416" cy="3884371"/>
          </a:xfrm>
          <a:prstGeom prst="rect">
            <a:avLst/>
          </a:prstGeom>
          <a:noFill/>
        </p:spPr>
        <p:txBody>
          <a:bodyPr wrap="square" lIns="0" tIns="0" rIns="0" bIns="0" anchor="t">
            <a:spAutoFit/>
          </a:bodyPr>
          <a:lstStyle/>
          <a:p>
            <a:pPr algn="l">
              <a:spcAft>
                <a:spcPts val="400"/>
              </a:spcAft>
            </a:pPr>
            <a:r>
              <a:rPr sz="1900" b="1" i="0">
                <a:solidFill>
                  <a:srgbClr val="1F394D"/>
                </a:solidFill>
              </a:rPr>
              <a:t>The question</a:t>
            </a:r>
          </a:p>
          <a:p>
            <a:pPr algn="l">
              <a:spcAft>
                <a:spcPts val="400"/>
              </a:spcAft>
            </a:pPr>
            <a:r>
              <a:rPr sz="1600" b="0" i="0">
                <a:solidFill>
                  <a:srgbClr val="1F2A33"/>
                </a:solidFill>
              </a:rPr>
              <a:t>Is inequality still associated with trust once we take homicide rates into account?</a:t>
            </a:r>
          </a:p>
          <a:p>
            <a:pPr algn="l">
              <a:spcAft>
                <a:spcPts val="400"/>
              </a:spcAft>
            </a:pPr>
            <a:r>
              <a:rPr sz="1600" b="0" i="0">
                <a:solidFill>
                  <a:srgbClr val="1F2A33"/>
                </a:solidFill>
              </a:rPr>
              <a:t>Homicides are measured per million people.</a:t>
            </a:r>
          </a:p>
        </p:txBody>
      </p:sp>
      <p:sp>
        <p:nvSpPr>
          <p:cNvPr id="20" name="TextBox 19"/>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pickett2009.csv (Wilkinson &amp; Pickett 2009), 23 countries. Trust = % who say most people can be trusted.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Inequality and homicides, alone and together</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18</a:t>
            </a:fld>
            <a:endParaRPr lang="en-GB"/>
          </a:p>
        </p:txBody>
      </p:sp>
      <p:graphicFrame>
        <p:nvGraphicFramePr>
          <p:cNvPr id="6" name="Table 5"/>
          <p:cNvGraphicFramePr>
            <a:graphicFrameLocks noGrp="1"/>
          </p:cNvGraphicFramePr>
          <p:nvPr/>
        </p:nvGraphicFramePr>
        <p:xfrm>
          <a:off x="758952" y="1417320"/>
          <a:ext cx="10607040" cy="2743200"/>
        </p:xfrm>
        <a:graphic>
          <a:graphicData uri="http://schemas.openxmlformats.org/drawingml/2006/table">
            <a:tbl>
              <a:tblPr firstRow="1">
                <a:tableStyleId>{5C22544A-7EE6-4342-B048-85BDC9FD1C3A}</a:tableStyleId>
              </a:tblPr>
              <a:tblGrid>
                <a:gridCol w="32918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548640">
                <a:tc>
                  <a:txBody>
                    <a:bodyPr/>
                    <a:lstStyle/>
                    <a:p>
                      <a:pPr algn="l"/>
                      <a:r>
                        <a:rPr sz="1700" b="1">
                          <a:solidFill>
                            <a:srgbClr val="FFFFFF"/>
                          </a:solidFill>
                        </a:rPr>
                        <a:t>Unstandardized coefficients</a:t>
                      </a:r>
                    </a:p>
                  </a:txBody>
                  <a:tcPr marT="27432" marB="27432" anchor="ctr">
                    <a:solidFill>
                      <a:srgbClr val="1F394D"/>
                    </a:solidFill>
                  </a:tcPr>
                </a:tc>
                <a:tc>
                  <a:txBody>
                    <a:bodyPr/>
                    <a:lstStyle/>
                    <a:p>
                      <a:pPr algn="r"/>
                      <a:r>
                        <a:rPr sz="1700" b="1">
                          <a:solidFill>
                            <a:srgbClr val="FFFFFF"/>
                          </a:solidFill>
                        </a:rPr>
                        <a:t>M₁: inequality</a:t>
                      </a:r>
                    </a:p>
                  </a:txBody>
                  <a:tcPr marT="27432" marB="27432" anchor="ctr">
                    <a:solidFill>
                      <a:srgbClr val="1F394D"/>
                    </a:solidFill>
                  </a:tcPr>
                </a:tc>
                <a:tc>
                  <a:txBody>
                    <a:bodyPr/>
                    <a:lstStyle/>
                    <a:p>
                      <a:pPr algn="r"/>
                      <a:r>
                        <a:rPr sz="1700" b="1">
                          <a:solidFill>
                            <a:srgbClr val="FFFFFF"/>
                          </a:solidFill>
                        </a:rPr>
                        <a:t>M₂: homicides</a:t>
                      </a:r>
                    </a:p>
                  </a:txBody>
                  <a:tcPr marT="27432" marB="27432" anchor="ctr">
                    <a:solidFill>
                      <a:srgbClr val="1F394D"/>
                    </a:solidFill>
                  </a:tcPr>
                </a:tc>
                <a:tc>
                  <a:txBody>
                    <a:bodyPr/>
                    <a:lstStyle/>
                    <a:p>
                      <a:pPr algn="r"/>
                      <a:r>
                        <a:rPr sz="1700" b="1">
                          <a:solidFill>
                            <a:srgbClr val="FFFFFF"/>
                          </a:solidFill>
                        </a:rPr>
                        <a:t>M₃: both</a:t>
                      </a:r>
                    </a:p>
                  </a:txBody>
                  <a:tcPr marT="27432" marB="27432" anchor="ctr">
                    <a:solidFill>
                      <a:srgbClr val="1F394D"/>
                    </a:solidFill>
                  </a:tcPr>
                </a:tc>
                <a:extLst>
                  <a:ext uri="{0D108BD9-81ED-4DB2-BD59-A6C34878D82A}">
                    <a16:rowId xmlns:a16="http://schemas.microsoft.com/office/drawing/2014/main" val="10000"/>
                  </a:ext>
                </a:extLst>
              </a:tr>
              <a:tr h="548640">
                <a:tc>
                  <a:txBody>
                    <a:bodyPr/>
                    <a:lstStyle/>
                    <a:p>
                      <a:pPr algn="l"/>
                      <a:r>
                        <a:rPr sz="1700" b="1">
                          <a:solidFill>
                            <a:srgbClr val="1F2A33"/>
                          </a:solidFill>
                        </a:rPr>
                        <a:t>(Intercept)</a:t>
                      </a:r>
                    </a:p>
                  </a:txBody>
                  <a:tcPr marT="27432" marB="27432" anchor="ctr">
                    <a:solidFill>
                      <a:srgbClr val="FFFFFF"/>
                    </a:solidFill>
                  </a:tcPr>
                </a:tc>
                <a:tc>
                  <a:txBody>
                    <a:bodyPr/>
                    <a:lstStyle/>
                    <a:p>
                      <a:pPr algn="r"/>
                      <a:r>
                        <a:rPr sz="1700" b="0">
                          <a:solidFill>
                            <a:srgbClr val="1F2A33"/>
                          </a:solidFill>
                        </a:rPr>
                        <a:t>77.06</a:t>
                      </a:r>
                    </a:p>
                  </a:txBody>
                  <a:tcPr marT="27432" marB="27432" anchor="ctr">
                    <a:solidFill>
                      <a:srgbClr val="FFFFFF"/>
                    </a:solidFill>
                  </a:tcPr>
                </a:tc>
                <a:tc>
                  <a:txBody>
                    <a:bodyPr/>
                    <a:lstStyle/>
                    <a:p>
                      <a:pPr algn="r"/>
                      <a:r>
                        <a:rPr sz="1700" b="0">
                          <a:solidFill>
                            <a:srgbClr val="1F2A33"/>
                          </a:solidFill>
                        </a:rPr>
                        <a:t>43.64</a:t>
                      </a:r>
                    </a:p>
                  </a:txBody>
                  <a:tcPr marT="27432" marB="27432" anchor="ctr">
                    <a:solidFill>
                      <a:srgbClr val="FFFFFF"/>
                    </a:solidFill>
                  </a:tcPr>
                </a:tc>
                <a:tc>
                  <a:txBody>
                    <a:bodyPr/>
                    <a:lstStyle/>
                    <a:p>
                      <a:pPr algn="r"/>
                      <a:r>
                        <a:rPr sz="1700" b="0">
                          <a:solidFill>
                            <a:srgbClr val="1F2A33"/>
                          </a:solidFill>
                        </a:rPr>
                        <a:t>77.51</a:t>
                      </a:r>
                    </a:p>
                  </a:txBody>
                  <a:tcPr marT="27432" marB="27432" anchor="ctr">
                    <a:solidFill>
                      <a:srgbClr val="FFFFFF"/>
                    </a:solidFill>
                  </a:tcPr>
                </a:tc>
                <a:extLst>
                  <a:ext uri="{0D108BD9-81ED-4DB2-BD59-A6C34878D82A}">
                    <a16:rowId xmlns:a16="http://schemas.microsoft.com/office/drawing/2014/main" val="10001"/>
                  </a:ext>
                </a:extLst>
              </a:tr>
              <a:tr h="548640">
                <a:tc>
                  <a:txBody>
                    <a:bodyPr/>
                    <a:lstStyle/>
                    <a:p>
                      <a:pPr algn="l"/>
                      <a:r>
                        <a:rPr sz="1700" b="1">
                          <a:solidFill>
                            <a:srgbClr val="1F2A33"/>
                          </a:solidFill>
                        </a:rPr>
                        <a:t>Income inequality</a:t>
                      </a:r>
                    </a:p>
                  </a:txBody>
                  <a:tcPr marT="27432" marB="27432" anchor="ctr">
                    <a:solidFill>
                      <a:srgbClr val="F6E7B8"/>
                    </a:solidFill>
                  </a:tcPr>
                </a:tc>
                <a:tc>
                  <a:txBody>
                    <a:bodyPr/>
                    <a:lstStyle/>
                    <a:p>
                      <a:pPr algn="r"/>
                      <a:r>
                        <a:rPr sz="1700" b="0">
                          <a:solidFill>
                            <a:srgbClr val="1F2A33"/>
                          </a:solidFill>
                        </a:rPr>
                        <a:t>−6.54</a:t>
                      </a:r>
                    </a:p>
                  </a:txBody>
                  <a:tcPr marT="27432" marB="27432" anchor="ctr">
                    <a:solidFill>
                      <a:srgbClr val="F6E7B8"/>
                    </a:solidFill>
                  </a:tcPr>
                </a:tc>
                <a:tc>
                  <a:txBody>
                    <a:bodyPr/>
                    <a:lstStyle/>
                    <a:p>
                      <a:pPr algn="r"/>
                      <a:endParaRPr/>
                    </a:p>
                  </a:txBody>
                  <a:tcPr marT="27432" marB="27432" anchor="ctr">
                    <a:solidFill>
                      <a:srgbClr val="F6E7B8"/>
                    </a:solidFill>
                  </a:tcPr>
                </a:tc>
                <a:tc>
                  <a:txBody>
                    <a:bodyPr/>
                    <a:lstStyle/>
                    <a:p>
                      <a:pPr algn="r"/>
                      <a:r>
                        <a:rPr sz="1700" b="0">
                          <a:solidFill>
                            <a:srgbClr val="1F2A33"/>
                          </a:solidFill>
                        </a:rPr>
                        <a:t>−7.15</a:t>
                      </a:r>
                    </a:p>
                  </a:txBody>
                  <a:tcPr marT="27432" marB="27432" anchor="ctr">
                    <a:solidFill>
                      <a:srgbClr val="F6E7B8"/>
                    </a:solidFill>
                  </a:tcPr>
                </a:tc>
                <a:extLst>
                  <a:ext uri="{0D108BD9-81ED-4DB2-BD59-A6C34878D82A}">
                    <a16:rowId xmlns:a16="http://schemas.microsoft.com/office/drawing/2014/main" val="10002"/>
                  </a:ext>
                </a:extLst>
              </a:tr>
              <a:tr h="548640">
                <a:tc>
                  <a:txBody>
                    <a:bodyPr/>
                    <a:lstStyle/>
                    <a:p>
                      <a:pPr algn="l"/>
                      <a:r>
                        <a:rPr sz="1700" b="1">
                          <a:solidFill>
                            <a:srgbClr val="1F2A33"/>
                          </a:solidFill>
                        </a:rPr>
                        <a:t>Homicides (per million)</a:t>
                      </a:r>
                    </a:p>
                  </a:txBody>
                  <a:tcPr marT="27432" marB="27432" anchor="ctr">
                    <a:solidFill>
                      <a:srgbClr val="FFFFFF"/>
                    </a:solidFill>
                  </a:tcPr>
                </a:tc>
                <a:tc>
                  <a:txBody>
                    <a:bodyPr/>
                    <a:lstStyle/>
                    <a:p>
                      <a:pPr algn="r"/>
                      <a:endParaRPr/>
                    </a:p>
                  </a:txBody>
                  <a:tcPr marT="27432" marB="27432" anchor="ctr">
                    <a:solidFill>
                      <a:srgbClr val="FFFFFF"/>
                    </a:solidFill>
                  </a:tcPr>
                </a:tc>
                <a:tc>
                  <a:txBody>
                    <a:bodyPr/>
                    <a:lstStyle/>
                    <a:p>
                      <a:pPr algn="r"/>
                      <a:r>
                        <a:rPr sz="1700" b="0">
                          <a:solidFill>
                            <a:srgbClr val="1F2A33"/>
                          </a:solidFill>
                        </a:rPr>
                        <a:t>−0.268</a:t>
                      </a:r>
                    </a:p>
                  </a:txBody>
                  <a:tcPr marT="27432" marB="27432" anchor="ctr">
                    <a:solidFill>
                      <a:srgbClr val="FFFFFF"/>
                    </a:solidFill>
                  </a:tcPr>
                </a:tc>
                <a:tc>
                  <a:txBody>
                    <a:bodyPr/>
                    <a:lstStyle/>
                    <a:p>
                      <a:pPr algn="r"/>
                      <a:r>
                        <a:rPr sz="1700" b="0">
                          <a:solidFill>
                            <a:srgbClr val="1F2A33"/>
                          </a:solidFill>
                        </a:rPr>
                        <a:t>+0.174</a:t>
                      </a:r>
                    </a:p>
                  </a:txBody>
                  <a:tcPr marT="27432" marB="27432" anchor="ctr">
                    <a:solidFill>
                      <a:srgbClr val="FFFFFF"/>
                    </a:solidFill>
                  </a:tcPr>
                </a:tc>
                <a:extLst>
                  <a:ext uri="{0D108BD9-81ED-4DB2-BD59-A6C34878D82A}">
                    <a16:rowId xmlns:a16="http://schemas.microsoft.com/office/drawing/2014/main" val="10003"/>
                  </a:ext>
                </a:extLst>
              </a:tr>
              <a:tr h="548640">
                <a:tc>
                  <a:txBody>
                    <a:bodyPr/>
                    <a:lstStyle/>
                    <a:p>
                      <a:pPr algn="l"/>
                      <a:r>
                        <a:rPr sz="1700" b="1">
                          <a:solidFill>
                            <a:srgbClr val="1F2A33"/>
                          </a:solidFill>
                        </a:rPr>
                        <a:t>R²</a:t>
                      </a:r>
                    </a:p>
                  </a:txBody>
                  <a:tcPr marT="27432" marB="27432" anchor="ctr">
                    <a:solidFill>
                      <a:srgbClr val="EEF3F7"/>
                    </a:solidFill>
                  </a:tcPr>
                </a:tc>
                <a:tc>
                  <a:txBody>
                    <a:bodyPr/>
                    <a:lstStyle/>
                    <a:p>
                      <a:pPr algn="r"/>
                      <a:r>
                        <a:rPr sz="1700" b="0">
                          <a:solidFill>
                            <a:srgbClr val="1F2A33"/>
                          </a:solidFill>
                        </a:rPr>
                        <a:t>0.441</a:t>
                      </a:r>
                    </a:p>
                  </a:txBody>
                  <a:tcPr marT="27432" marB="27432" anchor="ctr">
                    <a:solidFill>
                      <a:srgbClr val="EEF3F7"/>
                    </a:solidFill>
                  </a:tcPr>
                </a:tc>
                <a:tc>
                  <a:txBody>
                    <a:bodyPr/>
                    <a:lstStyle/>
                    <a:p>
                      <a:pPr algn="r"/>
                      <a:r>
                        <a:rPr sz="1700" b="0">
                          <a:solidFill>
                            <a:srgbClr val="1F2A33"/>
                          </a:solidFill>
                        </a:rPr>
                        <a:t>0.042</a:t>
                      </a:r>
                    </a:p>
                  </a:txBody>
                  <a:tcPr marT="27432" marB="27432" anchor="ctr">
                    <a:solidFill>
                      <a:srgbClr val="EEF3F7"/>
                    </a:solidFill>
                  </a:tcPr>
                </a:tc>
                <a:tc>
                  <a:txBody>
                    <a:bodyPr/>
                    <a:lstStyle/>
                    <a:p>
                      <a:pPr algn="r"/>
                      <a:r>
                        <a:rPr sz="1700" b="0">
                          <a:solidFill>
                            <a:srgbClr val="1F2A33"/>
                          </a:solidFill>
                        </a:rPr>
                        <a:t>0.455</a:t>
                      </a:r>
                    </a:p>
                  </a:txBody>
                  <a:tcPr marT="27432" marB="27432" anchor="ctr">
                    <a:solidFill>
                      <a:srgbClr val="EEF3F7"/>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758952" y="4389120"/>
            <a:ext cx="3429000" cy="1371600"/>
          </a:xfrm>
          <a:prstGeom prst="roundRect">
            <a:avLst>
              <a:gd name="adj" fmla="val 8000"/>
            </a:avLst>
          </a:prstGeom>
          <a:solidFill>
            <a:srgbClr val="1F394D"/>
          </a:solidFill>
          <a:ln>
            <a:noFill/>
          </a:ln>
        </p:spPr>
        <p:txBody>
          <a:bodyPr rtlCol="0" anchor="ctr"/>
          <a:lstStyle/>
          <a:p>
            <a:endParaRPr/>
          </a:p>
        </p:txBody>
      </p:sp>
      <p:sp>
        <p:nvSpPr>
          <p:cNvPr id="8" name="TextBox 7"/>
          <p:cNvSpPr txBox="1"/>
          <p:nvPr/>
        </p:nvSpPr>
        <p:spPr>
          <a:xfrm>
            <a:off x="923544" y="4520793"/>
            <a:ext cx="3099816" cy="1108252"/>
          </a:xfrm>
          <a:prstGeom prst="rect">
            <a:avLst/>
          </a:prstGeom>
          <a:noFill/>
        </p:spPr>
        <p:txBody>
          <a:bodyPr wrap="square" lIns="0" tIns="0" rIns="0" bIns="0" anchor="t">
            <a:spAutoFit/>
          </a:bodyPr>
          <a:lstStyle/>
          <a:p>
            <a:pPr algn="l">
              <a:spcAft>
                <a:spcPts val="400"/>
              </a:spcAft>
            </a:pPr>
            <a:r>
              <a:rPr sz="1800" b="1" i="0">
                <a:solidFill>
                  <a:srgbClr val="B88C00"/>
                </a:solidFill>
              </a:rPr>
              <a:t>Inequality holds up</a:t>
            </a:r>
          </a:p>
          <a:p>
            <a:pPr algn="l">
              <a:spcAft>
                <a:spcPts val="400"/>
              </a:spcAft>
            </a:pPr>
            <a:r>
              <a:rPr sz="1500" b="0" i="0">
                <a:solidFill>
                  <a:srgbClr val="CCDDEA"/>
                </a:solidFill>
              </a:rPr>
              <a:t>−6.54 alone, −7.15 adjusting for homicides.</a:t>
            </a:r>
          </a:p>
        </p:txBody>
      </p:sp>
      <p:sp>
        <p:nvSpPr>
          <p:cNvPr id="9" name="Rounded Rectangle 8"/>
          <p:cNvSpPr/>
          <p:nvPr/>
        </p:nvSpPr>
        <p:spPr>
          <a:xfrm>
            <a:off x="4370832" y="4389120"/>
            <a:ext cx="3429000" cy="1371600"/>
          </a:xfrm>
          <a:prstGeom prst="roundRect">
            <a:avLst>
              <a:gd name="adj" fmla="val 8000"/>
            </a:avLst>
          </a:prstGeom>
          <a:solidFill>
            <a:srgbClr val="EEF3F7"/>
          </a:solidFill>
          <a:ln>
            <a:noFill/>
          </a:ln>
        </p:spPr>
        <p:txBody>
          <a:bodyPr rtlCol="0" anchor="ctr"/>
          <a:lstStyle/>
          <a:p>
            <a:endParaRPr/>
          </a:p>
        </p:txBody>
      </p:sp>
      <p:sp>
        <p:nvSpPr>
          <p:cNvPr id="10" name="TextBox 9"/>
          <p:cNvSpPr txBox="1"/>
          <p:nvPr/>
        </p:nvSpPr>
        <p:spPr>
          <a:xfrm>
            <a:off x="4535424" y="4520793"/>
            <a:ext cx="3099816" cy="1108252"/>
          </a:xfrm>
          <a:prstGeom prst="rect">
            <a:avLst/>
          </a:prstGeom>
          <a:noFill/>
        </p:spPr>
        <p:txBody>
          <a:bodyPr wrap="square" lIns="0" tIns="0" rIns="0" bIns="0" anchor="t">
            <a:spAutoFit/>
          </a:bodyPr>
          <a:lstStyle/>
          <a:p>
            <a:pPr algn="l">
              <a:spcAft>
                <a:spcPts val="400"/>
              </a:spcAft>
            </a:pPr>
            <a:r>
              <a:rPr sz="1800" b="1" i="0">
                <a:solidFill>
                  <a:srgbClr val="1F394D"/>
                </a:solidFill>
              </a:rPr>
              <a:t>Homicides add little</a:t>
            </a:r>
          </a:p>
          <a:p>
            <a:pPr algn="l">
              <a:spcAft>
                <a:spcPts val="400"/>
              </a:spcAft>
            </a:pPr>
            <a:r>
              <a:rPr sz="1500" b="0" i="0">
                <a:solidFill>
                  <a:srgbClr val="1F2A33"/>
                </a:solidFill>
              </a:rPr>
              <a:t>The sign flips and R² rises by only 0.014.</a:t>
            </a:r>
          </a:p>
        </p:txBody>
      </p:sp>
      <p:sp>
        <p:nvSpPr>
          <p:cNvPr id="11" name="Rounded Rectangle 10"/>
          <p:cNvSpPr/>
          <p:nvPr/>
        </p:nvSpPr>
        <p:spPr>
          <a:xfrm>
            <a:off x="7982712" y="4389120"/>
            <a:ext cx="3429000" cy="1371600"/>
          </a:xfrm>
          <a:prstGeom prst="roundRect">
            <a:avLst>
              <a:gd name="adj" fmla="val 8000"/>
            </a:avLst>
          </a:prstGeom>
          <a:solidFill>
            <a:srgbClr val="EEF3F7"/>
          </a:solidFill>
          <a:ln>
            <a:noFill/>
          </a:ln>
        </p:spPr>
        <p:txBody>
          <a:bodyPr rtlCol="0" anchor="ctr"/>
          <a:lstStyle/>
          <a:p>
            <a:endParaRPr/>
          </a:p>
        </p:txBody>
      </p:sp>
      <p:sp>
        <p:nvSpPr>
          <p:cNvPr id="12" name="TextBox 11"/>
          <p:cNvSpPr txBox="1"/>
          <p:nvPr/>
        </p:nvSpPr>
        <p:spPr>
          <a:xfrm>
            <a:off x="8147304" y="4520793"/>
            <a:ext cx="3099816" cy="1108252"/>
          </a:xfrm>
          <a:prstGeom prst="rect">
            <a:avLst/>
          </a:prstGeom>
          <a:noFill/>
        </p:spPr>
        <p:txBody>
          <a:bodyPr wrap="square" lIns="0" tIns="0" rIns="0" bIns="0" anchor="t">
            <a:spAutoFit/>
          </a:bodyPr>
          <a:lstStyle/>
          <a:p>
            <a:pPr algn="l">
              <a:spcAft>
                <a:spcPts val="400"/>
              </a:spcAft>
            </a:pPr>
            <a:r>
              <a:rPr sz="1800" b="1" i="0">
                <a:solidFill>
                  <a:srgbClr val="1F394D"/>
                </a:solidFill>
              </a:rPr>
              <a:t>No collinearity problem</a:t>
            </a:r>
          </a:p>
          <a:p>
            <a:pPr algn="l">
              <a:spcAft>
                <a:spcPts val="400"/>
              </a:spcAft>
            </a:pPr>
            <a:r>
              <a:rPr sz="1500" b="0" i="0">
                <a:solidFill>
                  <a:srgbClr val="1F2A33"/>
                </a:solidFill>
              </a:rPr>
              <a:t>r = 0.47 between the predictors; VIF = 1.28.</a:t>
            </a:r>
          </a:p>
        </p:txBody>
      </p:sp>
      <p:sp>
        <p:nvSpPr>
          <p:cNvPr id="13" name="TextBox 12"/>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pickett2009.csv (Wilkinson &amp; Pickett 2009), 23 countries. Trust = % who say most people can be trusted.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“holding constant” means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19</a:t>
            </a:fld>
            <a:endParaRPr lang="en-GB"/>
          </a:p>
        </p:txBody>
      </p:sp>
      <p:graphicFrame>
        <p:nvGraphicFramePr>
          <p:cNvPr id="6" name="Holding constant"/>
          <p:cNvGraphicFramePr>
            <a:graphicFrameLocks noGrp="1"/>
          </p:cNvGraphicFramePr>
          <p:nvPr/>
        </p:nvGraphicFramePr>
        <p:xfrm>
          <a:off x="758952" y="1280160"/>
          <a:ext cx="73152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8275320" y="1417320"/>
            <a:ext cx="3090672" cy="2011680"/>
          </a:xfrm>
          <a:prstGeom prst="roundRect">
            <a:avLst>
              <a:gd name="adj" fmla="val 8000"/>
            </a:avLst>
          </a:prstGeom>
          <a:solidFill>
            <a:srgbClr val="EEF3F7"/>
          </a:solidFill>
          <a:ln>
            <a:noFill/>
          </a:ln>
        </p:spPr>
        <p:txBody>
          <a:bodyPr rtlCol="0" anchor="ctr"/>
          <a:lstStyle/>
          <a:p>
            <a:endParaRPr/>
          </a:p>
        </p:txBody>
      </p:sp>
      <p:sp>
        <p:nvSpPr>
          <p:cNvPr id="8" name="TextBox 7"/>
          <p:cNvSpPr txBox="1"/>
          <p:nvPr/>
        </p:nvSpPr>
        <p:spPr>
          <a:xfrm>
            <a:off x="8476488" y="1578254"/>
            <a:ext cx="2688336" cy="1689811"/>
          </a:xfrm>
          <a:prstGeom prst="rect">
            <a:avLst/>
          </a:prstGeom>
          <a:noFill/>
        </p:spPr>
        <p:txBody>
          <a:bodyPr wrap="square" lIns="0" tIns="0" rIns="0" bIns="0" anchor="t">
            <a:spAutoFit/>
          </a:bodyPr>
          <a:lstStyle/>
          <a:p>
            <a:pPr algn="l">
              <a:spcAft>
                <a:spcPts val="400"/>
              </a:spcAft>
            </a:pPr>
            <a:r>
              <a:rPr sz="2200" b="1" i="0">
                <a:solidFill>
                  <a:srgbClr val="1F394D"/>
                </a:solidFill>
              </a:rPr>
              <a:t>Simple: −6.6</a:t>
            </a:r>
          </a:p>
          <a:p>
            <a:pPr algn="l">
              <a:spcAft>
                <a:spcPts val="400"/>
              </a:spcAft>
            </a:pPr>
            <a:r>
              <a:rPr sz="1500" b="0" i="0">
                <a:solidFill>
                  <a:srgbClr val="1F2A33"/>
                </a:solidFill>
              </a:rPr>
              <a:t>mixes the gap between regions with the pattern within them</a:t>
            </a:r>
          </a:p>
        </p:txBody>
      </p:sp>
      <p:sp>
        <p:nvSpPr>
          <p:cNvPr id="9" name="Rounded Rectangle 8"/>
          <p:cNvSpPr/>
          <p:nvPr/>
        </p:nvSpPr>
        <p:spPr>
          <a:xfrm>
            <a:off x="8275320" y="3611880"/>
            <a:ext cx="3090672" cy="2148840"/>
          </a:xfrm>
          <a:prstGeom prst="roundRect">
            <a:avLst>
              <a:gd name="adj" fmla="val 8000"/>
            </a:avLst>
          </a:prstGeom>
          <a:solidFill>
            <a:srgbClr val="1F394D"/>
          </a:solidFill>
          <a:ln>
            <a:noFill/>
          </a:ln>
        </p:spPr>
        <p:txBody>
          <a:bodyPr rtlCol="0" anchor="ctr"/>
          <a:lstStyle/>
          <a:p>
            <a:endParaRPr/>
          </a:p>
        </p:txBody>
      </p:sp>
      <p:sp>
        <p:nvSpPr>
          <p:cNvPr id="10" name="TextBox 9"/>
          <p:cNvSpPr txBox="1"/>
          <p:nvPr/>
        </p:nvSpPr>
        <p:spPr>
          <a:xfrm>
            <a:off x="8476488" y="3772814"/>
            <a:ext cx="2688336" cy="1826971"/>
          </a:xfrm>
          <a:prstGeom prst="rect">
            <a:avLst/>
          </a:prstGeom>
          <a:noFill/>
        </p:spPr>
        <p:txBody>
          <a:bodyPr wrap="square" lIns="0" tIns="0" rIns="0" bIns="0" anchor="t">
            <a:spAutoFit/>
          </a:bodyPr>
          <a:lstStyle/>
          <a:p>
            <a:pPr algn="l">
              <a:spcAft>
                <a:spcPts val="400"/>
              </a:spcAft>
            </a:pPr>
            <a:r>
              <a:rPr sz="2200" b="1" i="0">
                <a:solidFill>
                  <a:srgbClr val="B88C00"/>
                </a:solidFill>
              </a:rPr>
              <a:t>Adjusted: −2.4</a:t>
            </a:r>
          </a:p>
          <a:p>
            <a:pPr algn="l">
              <a:spcAft>
                <a:spcPts val="400"/>
              </a:spcAft>
            </a:pPr>
            <a:r>
              <a:rPr sz="1500" b="0" i="0">
                <a:solidFill>
                  <a:srgbClr val="CCDDEA"/>
                </a:solidFill>
              </a:rPr>
              <a:t>compares countries within the same region</a:t>
            </a:r>
          </a:p>
        </p:txBody>
      </p:sp>
      <p:sp>
        <p:nvSpPr>
          <p:cNvPr id="11" name="Rounded Rectangle 10"/>
          <p:cNvSpPr/>
          <p:nvPr/>
        </p:nvSpPr>
        <p:spPr>
          <a:xfrm>
            <a:off x="758952" y="5943600"/>
            <a:ext cx="2514600" cy="292608"/>
          </a:xfrm>
          <a:prstGeom prst="roundRect">
            <a:avLst>
              <a:gd name="adj" fmla="val 50000"/>
            </a:avLst>
          </a:prstGeom>
          <a:solidFill>
            <a:srgbClr val="FFFFFF"/>
          </a:solidFill>
          <a:ln w="15875">
            <a:solidFill>
              <a:srgbClr val="B88C00"/>
            </a:solidFill>
          </a:ln>
        </p:spPr>
        <p:txBody>
          <a:bodyPr rtlCol="0" anchor="ctr"/>
          <a:lstStyle/>
          <a:p>
            <a:endParaRPr/>
          </a:p>
        </p:txBody>
      </p:sp>
      <p:sp>
        <p:nvSpPr>
          <p:cNvPr id="12" name="TextBox 11"/>
          <p:cNvSpPr txBox="1"/>
          <p:nvPr/>
        </p:nvSpPr>
        <p:spPr>
          <a:xfrm>
            <a:off x="758952" y="5943600"/>
            <a:ext cx="2514600" cy="292608"/>
          </a:xfrm>
          <a:prstGeom prst="rect">
            <a:avLst/>
          </a:prstGeom>
          <a:noFill/>
        </p:spPr>
        <p:txBody>
          <a:bodyPr wrap="square" lIns="0" tIns="0" rIns="0" bIns="0" anchor="ctr">
            <a:spAutoFit/>
          </a:bodyPr>
          <a:lstStyle/>
          <a:p>
            <a:pPr algn="ctr"/>
            <a:r>
              <a:rPr sz="1200" b="1" i="0">
                <a:solidFill>
                  <a:srgbClr val="7A5C00"/>
                </a:solidFill>
              </a:rPr>
              <a:t>SYNTHETIC EXAMPLE DATA</a:t>
            </a:r>
          </a:p>
        </p:txBody>
      </p:sp>
      <p:sp>
        <p:nvSpPr>
          <p:cNvPr id="13" name="TextBox 12"/>
          <p:cNvSpPr txBox="1"/>
          <p:nvPr/>
        </p:nvSpPr>
        <p:spPr>
          <a:xfrm>
            <a:off x="3410712" y="5943600"/>
            <a:ext cx="7955279" cy="292608"/>
          </a:xfrm>
          <a:prstGeom prst="rect">
            <a:avLst/>
          </a:prstGeom>
          <a:noFill/>
        </p:spPr>
        <p:txBody>
          <a:bodyPr wrap="square" lIns="0" tIns="0" rIns="0" bIns="0" anchor="ctr">
            <a:spAutoFit/>
          </a:bodyPr>
          <a:lstStyle/>
          <a:p>
            <a:pPr algn="l"/>
            <a:r>
              <a:rPr sz="1200" b="0" i="0">
                <a:solidFill>
                  <a:srgbClr val="55606B"/>
                </a:solidFill>
              </a:rPr>
              <a:t>R code: synthetic_examples.R, section W3c. 60 countries in two regions.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Activity: true or false?</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20</a:t>
            </a:fld>
            <a:endParaRPr lang="en-GB"/>
          </a:p>
        </p:txBody>
      </p:sp>
      <p:sp>
        <p:nvSpPr>
          <p:cNvPr id="6" name="TextBox 5"/>
          <p:cNvSpPr txBox="1"/>
          <p:nvPr/>
        </p:nvSpPr>
        <p:spPr>
          <a:xfrm>
            <a:off x="758952" y="1216152"/>
            <a:ext cx="10607040" cy="457200"/>
          </a:xfrm>
          <a:prstGeom prst="rect">
            <a:avLst/>
          </a:prstGeom>
          <a:noFill/>
        </p:spPr>
        <p:txBody>
          <a:bodyPr wrap="square" lIns="0" tIns="0" rIns="0" bIns="0" anchor="t">
            <a:spAutoFit/>
          </a:bodyPr>
          <a:lstStyle/>
          <a:p>
            <a:pPr algn="l"/>
            <a:r>
              <a:rPr sz="2000" b="0" i="0">
                <a:solidFill>
                  <a:srgbClr val="55606B"/>
                </a:solidFill>
              </a:rPr>
              <a:t>Model M₃: trust regressed on income inequality and homicide rates, 23 countries</a:t>
            </a:r>
          </a:p>
        </p:txBody>
      </p:sp>
      <p:sp>
        <p:nvSpPr>
          <p:cNvPr id="7" name="Statement 1"/>
          <p:cNvSpPr/>
          <p:nvPr/>
        </p:nvSpPr>
        <p:spPr>
          <a:xfrm>
            <a:off x="758952" y="1783080"/>
            <a:ext cx="10607040" cy="896112"/>
          </a:xfrm>
          <a:prstGeom prst="roundRect">
            <a:avLst>
              <a:gd name="adj" fmla="val 8000"/>
            </a:avLst>
          </a:prstGeom>
          <a:solidFill>
            <a:srgbClr val="EEF3F7"/>
          </a:solidFill>
          <a:ln>
            <a:noFill/>
          </a:ln>
        </p:spPr>
        <p:txBody>
          <a:bodyPr rtlCol="0" anchor="ctr"/>
          <a:lstStyle/>
          <a:p>
            <a:endParaRPr/>
          </a:p>
        </p:txBody>
      </p:sp>
      <p:sp>
        <p:nvSpPr>
          <p:cNvPr id="8" name="Oval 7"/>
          <p:cNvSpPr/>
          <p:nvPr/>
        </p:nvSpPr>
        <p:spPr>
          <a:xfrm>
            <a:off x="914400" y="1956816"/>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A</a:t>
            </a:r>
          </a:p>
        </p:txBody>
      </p:sp>
      <p:sp>
        <p:nvSpPr>
          <p:cNvPr id="9" name="TextBox 8"/>
          <p:cNvSpPr txBox="1"/>
          <p:nvPr/>
        </p:nvSpPr>
        <p:spPr>
          <a:xfrm>
            <a:off x="1645919" y="1783080"/>
            <a:ext cx="9509760" cy="896112"/>
          </a:xfrm>
          <a:prstGeom prst="rect">
            <a:avLst/>
          </a:prstGeom>
          <a:noFill/>
        </p:spPr>
        <p:txBody>
          <a:bodyPr wrap="square" lIns="0" tIns="0" rIns="0" bIns="0" anchor="ctr">
            <a:spAutoFit/>
          </a:bodyPr>
          <a:lstStyle/>
          <a:p>
            <a:pPr algn="l"/>
            <a:r>
              <a:rPr sz="1900" b="0" i="0">
                <a:solidFill>
                  <a:srgbClr val="1F2A33"/>
                </a:solidFill>
              </a:rPr>
              <a:t>Adjusting for homicides, a one-unit higher inequality ratio goes with about 7.1 points lower trust.</a:t>
            </a:r>
          </a:p>
        </p:txBody>
      </p:sp>
      <p:sp>
        <p:nvSpPr>
          <p:cNvPr id="10" name="Statement 2"/>
          <p:cNvSpPr/>
          <p:nvPr/>
        </p:nvSpPr>
        <p:spPr>
          <a:xfrm>
            <a:off x="758952" y="2807208"/>
            <a:ext cx="10607040" cy="896112"/>
          </a:xfrm>
          <a:prstGeom prst="roundRect">
            <a:avLst>
              <a:gd name="adj" fmla="val 8000"/>
            </a:avLst>
          </a:prstGeom>
          <a:solidFill>
            <a:srgbClr val="EEF3F7"/>
          </a:solidFill>
          <a:ln>
            <a:noFill/>
          </a:ln>
        </p:spPr>
        <p:txBody>
          <a:bodyPr rtlCol="0" anchor="ctr"/>
          <a:lstStyle/>
          <a:p>
            <a:endParaRPr/>
          </a:p>
        </p:txBody>
      </p:sp>
      <p:sp>
        <p:nvSpPr>
          <p:cNvPr id="11" name="Oval 10"/>
          <p:cNvSpPr/>
          <p:nvPr/>
        </p:nvSpPr>
        <p:spPr>
          <a:xfrm>
            <a:off x="914400" y="2980944"/>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B</a:t>
            </a:r>
          </a:p>
        </p:txBody>
      </p:sp>
      <p:sp>
        <p:nvSpPr>
          <p:cNvPr id="12" name="TextBox 11"/>
          <p:cNvSpPr txBox="1"/>
          <p:nvPr/>
        </p:nvSpPr>
        <p:spPr>
          <a:xfrm>
            <a:off x="1645919" y="2807208"/>
            <a:ext cx="9509760" cy="896112"/>
          </a:xfrm>
          <a:prstGeom prst="rect">
            <a:avLst/>
          </a:prstGeom>
          <a:noFill/>
        </p:spPr>
        <p:txBody>
          <a:bodyPr wrap="square" lIns="0" tIns="0" rIns="0" bIns="0" anchor="ctr">
            <a:spAutoFit/>
          </a:bodyPr>
          <a:lstStyle/>
          <a:p>
            <a:pPr algn="l"/>
            <a:r>
              <a:rPr sz="1900" b="0" i="0">
                <a:solidFill>
                  <a:srgbClr val="1F2A33"/>
                </a:solidFill>
              </a:rPr>
              <a:t>Reducing inequality by one unit would raise trust by 7 points.</a:t>
            </a:r>
          </a:p>
        </p:txBody>
      </p:sp>
      <p:sp>
        <p:nvSpPr>
          <p:cNvPr id="13" name="Statement 3"/>
          <p:cNvSpPr/>
          <p:nvPr/>
        </p:nvSpPr>
        <p:spPr>
          <a:xfrm>
            <a:off x="758952" y="3831336"/>
            <a:ext cx="10607040" cy="896112"/>
          </a:xfrm>
          <a:prstGeom prst="roundRect">
            <a:avLst>
              <a:gd name="adj" fmla="val 8000"/>
            </a:avLst>
          </a:prstGeom>
          <a:solidFill>
            <a:srgbClr val="EEF3F7"/>
          </a:solidFill>
          <a:ln>
            <a:noFill/>
          </a:ln>
        </p:spPr>
        <p:txBody>
          <a:bodyPr rtlCol="0" anchor="ctr"/>
          <a:lstStyle/>
          <a:p>
            <a:endParaRPr/>
          </a:p>
        </p:txBody>
      </p:sp>
      <p:sp>
        <p:nvSpPr>
          <p:cNvPr id="14" name="Oval 13"/>
          <p:cNvSpPr/>
          <p:nvPr/>
        </p:nvSpPr>
        <p:spPr>
          <a:xfrm>
            <a:off x="914400" y="4005072"/>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C</a:t>
            </a:r>
          </a:p>
        </p:txBody>
      </p:sp>
      <p:sp>
        <p:nvSpPr>
          <p:cNvPr id="15" name="TextBox 14"/>
          <p:cNvSpPr txBox="1"/>
          <p:nvPr/>
        </p:nvSpPr>
        <p:spPr>
          <a:xfrm>
            <a:off x="1645919" y="3831336"/>
            <a:ext cx="9509760" cy="896112"/>
          </a:xfrm>
          <a:prstGeom prst="rect">
            <a:avLst/>
          </a:prstGeom>
          <a:noFill/>
        </p:spPr>
        <p:txBody>
          <a:bodyPr wrap="square" lIns="0" tIns="0" rIns="0" bIns="0" anchor="ctr">
            <a:spAutoFit/>
          </a:bodyPr>
          <a:lstStyle/>
          <a:p>
            <a:pPr algn="l"/>
            <a:r>
              <a:rPr sz="1900" b="0" i="0">
                <a:solidFill>
                  <a:srgbClr val="1F2A33"/>
                </a:solidFill>
              </a:rPr>
              <a:t>Inequality is a stronger predictor than homicides because −7.15 is bigger than 0.17.</a:t>
            </a:r>
          </a:p>
        </p:txBody>
      </p:sp>
      <p:sp>
        <p:nvSpPr>
          <p:cNvPr id="16" name="Statement 4"/>
          <p:cNvSpPr/>
          <p:nvPr/>
        </p:nvSpPr>
        <p:spPr>
          <a:xfrm>
            <a:off x="758952" y="4855464"/>
            <a:ext cx="10607040" cy="896112"/>
          </a:xfrm>
          <a:prstGeom prst="roundRect">
            <a:avLst>
              <a:gd name="adj" fmla="val 8000"/>
            </a:avLst>
          </a:prstGeom>
          <a:solidFill>
            <a:srgbClr val="EEF3F7"/>
          </a:solidFill>
          <a:ln>
            <a:noFill/>
          </a:ln>
        </p:spPr>
        <p:txBody>
          <a:bodyPr rtlCol="0" anchor="ctr"/>
          <a:lstStyle/>
          <a:p>
            <a:endParaRPr/>
          </a:p>
        </p:txBody>
      </p:sp>
      <p:sp>
        <p:nvSpPr>
          <p:cNvPr id="17" name="Oval 16"/>
          <p:cNvSpPr/>
          <p:nvPr/>
        </p:nvSpPr>
        <p:spPr>
          <a:xfrm>
            <a:off x="914400" y="5029200"/>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D</a:t>
            </a:r>
          </a:p>
        </p:txBody>
      </p:sp>
      <p:sp>
        <p:nvSpPr>
          <p:cNvPr id="18" name="TextBox 17"/>
          <p:cNvSpPr txBox="1"/>
          <p:nvPr/>
        </p:nvSpPr>
        <p:spPr>
          <a:xfrm>
            <a:off x="1645919" y="4855464"/>
            <a:ext cx="9509760" cy="896112"/>
          </a:xfrm>
          <a:prstGeom prst="rect">
            <a:avLst/>
          </a:prstGeom>
          <a:noFill/>
        </p:spPr>
        <p:txBody>
          <a:bodyPr wrap="square" lIns="0" tIns="0" rIns="0" bIns="0" anchor="ctr">
            <a:spAutoFit/>
          </a:bodyPr>
          <a:lstStyle/>
          <a:p>
            <a:pPr algn="l"/>
            <a:r>
              <a:rPr sz="1900" b="0" i="0">
                <a:solidFill>
                  <a:srgbClr val="1F2A33"/>
                </a:solidFill>
              </a:rPr>
              <a:t>Together the two predictors account for about 46% of the variation in trust.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True or false: answers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21</a:t>
            </a:fld>
            <a:endParaRPr lang="en-GB"/>
          </a:p>
        </p:txBody>
      </p:sp>
      <p:sp>
        <p:nvSpPr>
          <p:cNvPr id="6" name="TextBox 5"/>
          <p:cNvSpPr txBox="1"/>
          <p:nvPr/>
        </p:nvSpPr>
        <p:spPr>
          <a:xfrm>
            <a:off x="758952" y="1216152"/>
            <a:ext cx="10607040" cy="457200"/>
          </a:xfrm>
          <a:prstGeom prst="rect">
            <a:avLst/>
          </a:prstGeom>
          <a:noFill/>
        </p:spPr>
        <p:txBody>
          <a:bodyPr wrap="square" lIns="0" tIns="0" rIns="0" bIns="0" anchor="t">
            <a:spAutoFit/>
          </a:bodyPr>
          <a:lstStyle/>
          <a:p>
            <a:pPr algn="l"/>
            <a:r>
              <a:rPr sz="2000" b="0" i="0">
                <a:solidFill>
                  <a:srgbClr val="55606B"/>
                </a:solidFill>
              </a:rPr>
              <a:t>Model M₃: trust regressed on income inequality and homicide rates, 23 countries</a:t>
            </a:r>
          </a:p>
        </p:txBody>
      </p:sp>
      <p:sp>
        <p:nvSpPr>
          <p:cNvPr id="7" name="Statement 1"/>
          <p:cNvSpPr/>
          <p:nvPr/>
        </p:nvSpPr>
        <p:spPr>
          <a:xfrm>
            <a:off x="758952" y="1783080"/>
            <a:ext cx="10607040" cy="896112"/>
          </a:xfrm>
          <a:prstGeom prst="roundRect">
            <a:avLst>
              <a:gd name="adj" fmla="val 8000"/>
            </a:avLst>
          </a:prstGeom>
          <a:solidFill>
            <a:srgbClr val="EEF3F7"/>
          </a:solidFill>
          <a:ln>
            <a:noFill/>
          </a:ln>
        </p:spPr>
        <p:txBody>
          <a:bodyPr rtlCol="0" anchor="ctr"/>
          <a:lstStyle/>
          <a:p>
            <a:endParaRPr/>
          </a:p>
        </p:txBody>
      </p:sp>
      <p:sp>
        <p:nvSpPr>
          <p:cNvPr id="8" name="Oval 7"/>
          <p:cNvSpPr/>
          <p:nvPr/>
        </p:nvSpPr>
        <p:spPr>
          <a:xfrm>
            <a:off x="914400" y="1956816"/>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A</a:t>
            </a:r>
          </a:p>
        </p:txBody>
      </p:sp>
      <p:sp>
        <p:nvSpPr>
          <p:cNvPr id="9" name="TextBox 8"/>
          <p:cNvSpPr txBox="1"/>
          <p:nvPr/>
        </p:nvSpPr>
        <p:spPr>
          <a:xfrm>
            <a:off x="1645919" y="1828800"/>
            <a:ext cx="6949440" cy="804672"/>
          </a:xfrm>
          <a:prstGeom prst="rect">
            <a:avLst/>
          </a:prstGeom>
          <a:noFill/>
        </p:spPr>
        <p:txBody>
          <a:bodyPr wrap="square" lIns="0" tIns="0" rIns="0" bIns="0" anchor="ctr">
            <a:spAutoFit/>
          </a:bodyPr>
          <a:lstStyle/>
          <a:p>
            <a:pPr algn="l"/>
            <a:r>
              <a:rPr sz="1700" b="0" i="0">
                <a:solidFill>
                  <a:srgbClr val="1F2A33"/>
                </a:solidFill>
              </a:rPr>
              <a:t>Adjusting for homicides, a one-unit higher inequality ratio goes with about 7.1 points lower trust.</a:t>
            </a:r>
          </a:p>
          <a:p>
            <a:pPr algn="l"/>
            <a:r>
              <a:rPr sz="1400" b="0" i="0">
                <a:solidFill>
                  <a:srgbClr val="55606B"/>
                </a:solidFill>
              </a:rPr>
              <a:t>That is the M₃ coefficient, read with “adjusting for”.</a:t>
            </a:r>
          </a:p>
        </p:txBody>
      </p:sp>
      <p:sp>
        <p:nvSpPr>
          <p:cNvPr id="10" name="Verdict 1"/>
          <p:cNvSpPr/>
          <p:nvPr/>
        </p:nvSpPr>
        <p:spPr>
          <a:xfrm>
            <a:off x="8823960" y="1965960"/>
            <a:ext cx="2377440" cy="530352"/>
          </a:xfrm>
          <a:prstGeom prst="roundRect">
            <a:avLst>
              <a:gd name="adj" fmla="val 8000"/>
            </a:avLst>
          </a:prstGeom>
          <a:solidFill>
            <a:srgbClr val="2E6B45"/>
          </a:solidFill>
          <a:ln>
            <a:noFill/>
          </a:ln>
        </p:spPr>
        <p:txBody>
          <a:bodyPr rtlCol="0" anchor="ctr"/>
          <a:lstStyle/>
          <a:p>
            <a:endParaRPr/>
          </a:p>
        </p:txBody>
      </p:sp>
      <p:sp>
        <p:nvSpPr>
          <p:cNvPr id="11" name="TextBox 10"/>
          <p:cNvSpPr txBox="1"/>
          <p:nvPr/>
        </p:nvSpPr>
        <p:spPr>
          <a:xfrm>
            <a:off x="8823960" y="1965960"/>
            <a:ext cx="2377440" cy="530352"/>
          </a:xfrm>
          <a:prstGeom prst="rect">
            <a:avLst/>
          </a:prstGeom>
          <a:noFill/>
        </p:spPr>
        <p:txBody>
          <a:bodyPr wrap="square" lIns="0" tIns="0" rIns="0" bIns="0" anchor="ctr">
            <a:spAutoFit/>
          </a:bodyPr>
          <a:lstStyle/>
          <a:p>
            <a:pPr algn="ctr"/>
            <a:r>
              <a:rPr sz="1800" b="1" i="0">
                <a:solidFill>
                  <a:srgbClr val="FFFFFF"/>
                </a:solidFill>
              </a:rPr>
              <a:t>Right</a:t>
            </a:r>
          </a:p>
        </p:txBody>
      </p:sp>
      <p:sp>
        <p:nvSpPr>
          <p:cNvPr id="12" name="Statement 2"/>
          <p:cNvSpPr/>
          <p:nvPr/>
        </p:nvSpPr>
        <p:spPr>
          <a:xfrm>
            <a:off x="758952" y="2807208"/>
            <a:ext cx="10607040" cy="896112"/>
          </a:xfrm>
          <a:prstGeom prst="roundRect">
            <a:avLst>
              <a:gd name="adj" fmla="val 8000"/>
            </a:avLst>
          </a:prstGeom>
          <a:solidFill>
            <a:srgbClr val="EEF3F7"/>
          </a:solidFill>
          <a:ln>
            <a:noFill/>
          </a:ln>
        </p:spPr>
        <p:txBody>
          <a:bodyPr rtlCol="0" anchor="ctr"/>
          <a:lstStyle/>
          <a:p>
            <a:endParaRPr/>
          </a:p>
        </p:txBody>
      </p:sp>
      <p:sp>
        <p:nvSpPr>
          <p:cNvPr id="13" name="Oval 12"/>
          <p:cNvSpPr/>
          <p:nvPr/>
        </p:nvSpPr>
        <p:spPr>
          <a:xfrm>
            <a:off x="914400" y="2980944"/>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B</a:t>
            </a:r>
          </a:p>
        </p:txBody>
      </p:sp>
      <p:sp>
        <p:nvSpPr>
          <p:cNvPr id="14" name="TextBox 13"/>
          <p:cNvSpPr txBox="1"/>
          <p:nvPr/>
        </p:nvSpPr>
        <p:spPr>
          <a:xfrm>
            <a:off x="1645919" y="2852928"/>
            <a:ext cx="6949440" cy="804672"/>
          </a:xfrm>
          <a:prstGeom prst="rect">
            <a:avLst/>
          </a:prstGeom>
          <a:noFill/>
        </p:spPr>
        <p:txBody>
          <a:bodyPr wrap="square" lIns="0" tIns="0" rIns="0" bIns="0" anchor="ctr">
            <a:spAutoFit/>
          </a:bodyPr>
          <a:lstStyle/>
          <a:p>
            <a:pPr algn="l"/>
            <a:r>
              <a:rPr sz="1700" b="0" i="0">
                <a:solidFill>
                  <a:srgbClr val="1F2A33"/>
                </a:solidFill>
              </a:rPr>
              <a:t>Reducing inequality by one unit would raise trust by 7 points.</a:t>
            </a:r>
          </a:p>
          <a:p>
            <a:pPr algn="l"/>
            <a:r>
              <a:rPr sz="1400" b="0" i="0">
                <a:solidFill>
                  <a:srgbClr val="55606B"/>
                </a:solidFill>
              </a:rPr>
              <a:t>Survey data show associations; “would raise” is a causal claim.</a:t>
            </a:r>
          </a:p>
        </p:txBody>
      </p:sp>
      <p:sp>
        <p:nvSpPr>
          <p:cNvPr id="15" name="Verdict 2"/>
          <p:cNvSpPr/>
          <p:nvPr/>
        </p:nvSpPr>
        <p:spPr>
          <a:xfrm>
            <a:off x="8823960" y="2990088"/>
            <a:ext cx="2377440" cy="530352"/>
          </a:xfrm>
          <a:prstGeom prst="roundRect">
            <a:avLst>
              <a:gd name="adj" fmla="val 8000"/>
            </a:avLst>
          </a:prstGeom>
          <a:solidFill>
            <a:srgbClr val="FFFFFF"/>
          </a:solidFill>
          <a:ln w="15875">
            <a:solidFill>
              <a:srgbClr val="865640"/>
            </a:solidFill>
          </a:ln>
        </p:spPr>
        <p:txBody>
          <a:bodyPr rtlCol="0" anchor="ctr"/>
          <a:lstStyle/>
          <a:p>
            <a:endParaRPr/>
          </a:p>
        </p:txBody>
      </p:sp>
      <p:sp>
        <p:nvSpPr>
          <p:cNvPr id="16" name="TextBox 15"/>
          <p:cNvSpPr txBox="1"/>
          <p:nvPr/>
        </p:nvSpPr>
        <p:spPr>
          <a:xfrm>
            <a:off x="8823960" y="2990088"/>
            <a:ext cx="2377440" cy="530352"/>
          </a:xfrm>
          <a:prstGeom prst="rect">
            <a:avLst/>
          </a:prstGeom>
          <a:noFill/>
        </p:spPr>
        <p:txBody>
          <a:bodyPr wrap="square" lIns="0" tIns="0" rIns="0" bIns="0" anchor="ctr">
            <a:spAutoFit/>
          </a:bodyPr>
          <a:lstStyle/>
          <a:p>
            <a:pPr algn="ctr"/>
            <a:r>
              <a:rPr sz="1800" b="1" i="0">
                <a:solidFill>
                  <a:srgbClr val="865640"/>
                </a:solidFill>
              </a:rPr>
              <a:t>Not quite</a:t>
            </a:r>
          </a:p>
        </p:txBody>
      </p:sp>
      <p:sp>
        <p:nvSpPr>
          <p:cNvPr id="17" name="Statement 3"/>
          <p:cNvSpPr/>
          <p:nvPr/>
        </p:nvSpPr>
        <p:spPr>
          <a:xfrm>
            <a:off x="758952" y="3831336"/>
            <a:ext cx="10607040" cy="896112"/>
          </a:xfrm>
          <a:prstGeom prst="roundRect">
            <a:avLst>
              <a:gd name="adj" fmla="val 8000"/>
            </a:avLst>
          </a:prstGeom>
          <a:solidFill>
            <a:srgbClr val="EEF3F7"/>
          </a:solidFill>
          <a:ln>
            <a:noFill/>
          </a:ln>
        </p:spPr>
        <p:txBody>
          <a:bodyPr rtlCol="0" anchor="ctr"/>
          <a:lstStyle/>
          <a:p>
            <a:endParaRPr/>
          </a:p>
        </p:txBody>
      </p:sp>
      <p:sp>
        <p:nvSpPr>
          <p:cNvPr id="18" name="Oval 17"/>
          <p:cNvSpPr/>
          <p:nvPr/>
        </p:nvSpPr>
        <p:spPr>
          <a:xfrm>
            <a:off x="914400" y="4005072"/>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C</a:t>
            </a:r>
          </a:p>
        </p:txBody>
      </p:sp>
      <p:sp>
        <p:nvSpPr>
          <p:cNvPr id="19" name="TextBox 18"/>
          <p:cNvSpPr txBox="1"/>
          <p:nvPr/>
        </p:nvSpPr>
        <p:spPr>
          <a:xfrm>
            <a:off x="1645919" y="3877056"/>
            <a:ext cx="6949440" cy="804672"/>
          </a:xfrm>
          <a:prstGeom prst="rect">
            <a:avLst/>
          </a:prstGeom>
          <a:noFill/>
        </p:spPr>
        <p:txBody>
          <a:bodyPr wrap="square" lIns="0" tIns="0" rIns="0" bIns="0" anchor="ctr">
            <a:spAutoFit/>
          </a:bodyPr>
          <a:lstStyle/>
          <a:p>
            <a:pPr algn="l"/>
            <a:r>
              <a:rPr sz="1700" b="0" i="0">
                <a:solidFill>
                  <a:srgbClr val="1F2A33"/>
                </a:solidFill>
              </a:rPr>
              <a:t>Inequality is a stronger predictor than homicides because −7.15 is bigger than 0.17.</a:t>
            </a:r>
          </a:p>
          <a:p>
            <a:pPr algn="l"/>
            <a:r>
              <a:rPr sz="1400" b="0" i="0">
                <a:solidFill>
                  <a:srgbClr val="55606B"/>
                </a:solidFill>
              </a:rPr>
              <a:t>Different units: compare standardized coefficients instead.</a:t>
            </a:r>
          </a:p>
        </p:txBody>
      </p:sp>
      <p:sp>
        <p:nvSpPr>
          <p:cNvPr id="20" name="Verdict 3"/>
          <p:cNvSpPr/>
          <p:nvPr/>
        </p:nvSpPr>
        <p:spPr>
          <a:xfrm>
            <a:off x="8823960" y="4014216"/>
            <a:ext cx="2377440" cy="530352"/>
          </a:xfrm>
          <a:prstGeom prst="roundRect">
            <a:avLst>
              <a:gd name="adj" fmla="val 8000"/>
            </a:avLst>
          </a:prstGeom>
          <a:solidFill>
            <a:srgbClr val="FFFFFF"/>
          </a:solidFill>
          <a:ln w="15875">
            <a:solidFill>
              <a:srgbClr val="865640"/>
            </a:solidFill>
          </a:ln>
        </p:spPr>
        <p:txBody>
          <a:bodyPr rtlCol="0" anchor="ctr"/>
          <a:lstStyle/>
          <a:p>
            <a:endParaRPr/>
          </a:p>
        </p:txBody>
      </p:sp>
      <p:sp>
        <p:nvSpPr>
          <p:cNvPr id="21" name="TextBox 20"/>
          <p:cNvSpPr txBox="1"/>
          <p:nvPr/>
        </p:nvSpPr>
        <p:spPr>
          <a:xfrm>
            <a:off x="8823960" y="4014216"/>
            <a:ext cx="2377440" cy="530352"/>
          </a:xfrm>
          <a:prstGeom prst="rect">
            <a:avLst/>
          </a:prstGeom>
          <a:noFill/>
        </p:spPr>
        <p:txBody>
          <a:bodyPr wrap="square" lIns="0" tIns="0" rIns="0" bIns="0" anchor="ctr">
            <a:spAutoFit/>
          </a:bodyPr>
          <a:lstStyle/>
          <a:p>
            <a:pPr algn="ctr"/>
            <a:r>
              <a:rPr sz="1800" b="1" i="0">
                <a:solidFill>
                  <a:srgbClr val="865640"/>
                </a:solidFill>
              </a:rPr>
              <a:t>Not quite</a:t>
            </a:r>
          </a:p>
        </p:txBody>
      </p:sp>
      <p:sp>
        <p:nvSpPr>
          <p:cNvPr id="22" name="Statement 4"/>
          <p:cNvSpPr/>
          <p:nvPr/>
        </p:nvSpPr>
        <p:spPr>
          <a:xfrm>
            <a:off x="758952" y="4855464"/>
            <a:ext cx="10607040" cy="896112"/>
          </a:xfrm>
          <a:prstGeom prst="roundRect">
            <a:avLst>
              <a:gd name="adj" fmla="val 8000"/>
            </a:avLst>
          </a:prstGeom>
          <a:solidFill>
            <a:srgbClr val="EEF3F7"/>
          </a:solidFill>
          <a:ln>
            <a:noFill/>
          </a:ln>
        </p:spPr>
        <p:txBody>
          <a:bodyPr rtlCol="0" anchor="ctr"/>
          <a:lstStyle/>
          <a:p>
            <a:endParaRPr/>
          </a:p>
        </p:txBody>
      </p:sp>
      <p:sp>
        <p:nvSpPr>
          <p:cNvPr id="23" name="Oval 22"/>
          <p:cNvSpPr/>
          <p:nvPr/>
        </p:nvSpPr>
        <p:spPr>
          <a:xfrm>
            <a:off x="914400" y="5029200"/>
            <a:ext cx="548640" cy="548640"/>
          </a:xfrm>
          <a:prstGeom prst="ellipse">
            <a:avLst/>
          </a:prstGeom>
          <a:solidFill>
            <a:srgbClr val="1F394D"/>
          </a:solidFill>
          <a:ln>
            <a:noFill/>
          </a:ln>
        </p:spPr>
        <p:txBody>
          <a:bodyPr lIns="0" tIns="0" rIns="0" bIns="0" rtlCol="0" anchor="ctr"/>
          <a:lstStyle/>
          <a:p>
            <a:pPr algn="ctr"/>
            <a:r>
              <a:rPr sz="2000" b="1">
                <a:solidFill>
                  <a:srgbClr val="FFFFFF"/>
                </a:solidFill>
              </a:rPr>
              <a:t>D</a:t>
            </a:r>
          </a:p>
        </p:txBody>
      </p:sp>
      <p:sp>
        <p:nvSpPr>
          <p:cNvPr id="24" name="TextBox 23"/>
          <p:cNvSpPr txBox="1"/>
          <p:nvPr/>
        </p:nvSpPr>
        <p:spPr>
          <a:xfrm>
            <a:off x="1645919" y="4901184"/>
            <a:ext cx="6949440" cy="804672"/>
          </a:xfrm>
          <a:prstGeom prst="rect">
            <a:avLst/>
          </a:prstGeom>
          <a:noFill/>
        </p:spPr>
        <p:txBody>
          <a:bodyPr wrap="square" lIns="0" tIns="0" rIns="0" bIns="0" anchor="ctr">
            <a:spAutoFit/>
          </a:bodyPr>
          <a:lstStyle/>
          <a:p>
            <a:pPr algn="l"/>
            <a:r>
              <a:rPr sz="1700" b="0" i="0">
                <a:solidFill>
                  <a:srgbClr val="1F2A33"/>
                </a:solidFill>
              </a:rPr>
              <a:t>Together the two predictors account for about 46% of the variation in trust.</a:t>
            </a:r>
          </a:p>
          <a:p>
            <a:pPr algn="l"/>
            <a:r>
              <a:rPr sz="1400" b="0" i="0">
                <a:solidFill>
                  <a:srgbClr val="55606B"/>
                </a:solidFill>
              </a:rPr>
              <a:t>R² = 0.455.</a:t>
            </a:r>
          </a:p>
        </p:txBody>
      </p:sp>
      <p:sp>
        <p:nvSpPr>
          <p:cNvPr id="25" name="Verdict 4"/>
          <p:cNvSpPr/>
          <p:nvPr/>
        </p:nvSpPr>
        <p:spPr>
          <a:xfrm>
            <a:off x="8823960" y="5038344"/>
            <a:ext cx="2377440" cy="530352"/>
          </a:xfrm>
          <a:prstGeom prst="roundRect">
            <a:avLst>
              <a:gd name="adj" fmla="val 8000"/>
            </a:avLst>
          </a:prstGeom>
          <a:solidFill>
            <a:srgbClr val="2E6B45"/>
          </a:solidFill>
          <a:ln>
            <a:noFill/>
          </a:ln>
        </p:spPr>
        <p:txBody>
          <a:bodyPr rtlCol="0" anchor="ctr"/>
          <a:lstStyle/>
          <a:p>
            <a:endParaRPr/>
          </a:p>
        </p:txBody>
      </p:sp>
      <p:sp>
        <p:nvSpPr>
          <p:cNvPr id="26" name="TextBox 25"/>
          <p:cNvSpPr txBox="1"/>
          <p:nvPr/>
        </p:nvSpPr>
        <p:spPr>
          <a:xfrm>
            <a:off x="8823960" y="5038344"/>
            <a:ext cx="2377440" cy="530352"/>
          </a:xfrm>
          <a:prstGeom prst="rect">
            <a:avLst/>
          </a:prstGeom>
          <a:noFill/>
        </p:spPr>
        <p:txBody>
          <a:bodyPr wrap="square" lIns="0" tIns="0" rIns="0" bIns="0" anchor="ctr">
            <a:spAutoFit/>
          </a:bodyPr>
          <a:lstStyle/>
          <a:p>
            <a:pPr algn="ctr"/>
            <a:r>
              <a:rPr sz="1800" b="1" i="0">
                <a:solidFill>
                  <a:srgbClr val="FFFFFF"/>
                </a:solidFill>
              </a:rPr>
              <a:t>Right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Categorical</a:t>
            </a:r>
          </a:p>
          <a:p>
            <a:r>
              <a:rPr sz="4000"/>
              <a:t>predictors</a:t>
            </a:r>
          </a:p>
        </p:txBody>
      </p:sp>
      <p:sp>
        <p:nvSpPr>
          <p:cNvPr id="3" name="Text Placeholder 2"/>
          <p:cNvSpPr>
            <a:spLocks noGrp="1"/>
          </p:cNvSpPr>
          <p:nvPr>
            <p:ph type="body" sz="half" idx="2"/>
          </p:nvPr>
        </p:nvSpPr>
        <p:spPr/>
        <p:txBody>
          <a:bodyPr/>
          <a:lstStyle/>
          <a:p>
            <a:r>
              <a:rPr sz="2400"/>
              <a:t>Worksheet 3, Exercise 3.3</a:t>
            </a:r>
          </a:p>
        </p:txBody>
      </p:sp>
      <p:sp>
        <p:nvSpPr>
          <p:cNvPr id="6"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22</a:t>
            </a:fld>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Trust across world regions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23</a:t>
            </a:fld>
            <a:endParaRPr lang="en-GB"/>
          </a:p>
        </p:txBody>
      </p:sp>
      <p:graphicFrame>
        <p:nvGraphicFramePr>
          <p:cNvPr id="6" name="Region means"/>
          <p:cNvGraphicFramePr>
            <a:graphicFrameLocks noGrp="1"/>
          </p:cNvGraphicFramePr>
          <p:nvPr/>
        </p:nvGraphicFramePr>
        <p:xfrm>
          <a:off x="758952" y="1325880"/>
          <a:ext cx="75895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8595360" y="1417320"/>
            <a:ext cx="2770632" cy="2148840"/>
          </a:xfrm>
          <a:prstGeom prst="roundRect">
            <a:avLst>
              <a:gd name="adj" fmla="val 8000"/>
            </a:avLst>
          </a:prstGeom>
          <a:solidFill>
            <a:srgbClr val="EEF3F7"/>
          </a:solidFill>
          <a:ln>
            <a:noFill/>
          </a:ln>
        </p:spPr>
        <p:txBody>
          <a:bodyPr rtlCol="0" anchor="ctr"/>
          <a:lstStyle/>
          <a:p>
            <a:endParaRPr/>
          </a:p>
        </p:txBody>
      </p:sp>
      <p:sp>
        <p:nvSpPr>
          <p:cNvPr id="8" name="TextBox 7"/>
          <p:cNvSpPr txBox="1"/>
          <p:nvPr/>
        </p:nvSpPr>
        <p:spPr>
          <a:xfrm>
            <a:off x="8796528" y="1578254"/>
            <a:ext cx="2368296" cy="1826971"/>
          </a:xfrm>
          <a:prstGeom prst="rect">
            <a:avLst/>
          </a:prstGeom>
          <a:noFill/>
        </p:spPr>
        <p:txBody>
          <a:bodyPr wrap="square" lIns="0" tIns="0" rIns="0" bIns="0" anchor="t">
            <a:spAutoFit/>
          </a:bodyPr>
          <a:lstStyle/>
          <a:p>
            <a:pPr algn="l">
              <a:spcAft>
                <a:spcPts val="400"/>
              </a:spcAft>
            </a:pPr>
            <a:r>
              <a:rPr sz="2000" b="1" i="0">
                <a:solidFill>
                  <a:srgbClr val="1F394D"/>
                </a:solidFill>
              </a:rPr>
              <a:t>Grand mean</a:t>
            </a:r>
          </a:p>
          <a:p>
            <a:pPr algn="l">
              <a:spcAft>
                <a:spcPts val="400"/>
              </a:spcAft>
            </a:pPr>
            <a:r>
              <a:rPr sz="1600" b="0" i="0">
                <a:solidFill>
                  <a:srgbClr val="1F2A33"/>
                </a:solidFill>
              </a:rPr>
              <a:t>28.3% across all 60 countries</a:t>
            </a:r>
          </a:p>
        </p:txBody>
      </p:sp>
      <p:sp>
        <p:nvSpPr>
          <p:cNvPr id="9" name="Rounded Rectangle 8"/>
          <p:cNvSpPr/>
          <p:nvPr/>
        </p:nvSpPr>
        <p:spPr>
          <a:xfrm>
            <a:off x="8595360" y="3749039"/>
            <a:ext cx="2770632" cy="2011680"/>
          </a:xfrm>
          <a:prstGeom prst="roundRect">
            <a:avLst>
              <a:gd name="adj" fmla="val 8000"/>
            </a:avLst>
          </a:prstGeom>
          <a:solidFill>
            <a:srgbClr val="FFFFFF"/>
          </a:solidFill>
          <a:ln w="15875">
            <a:solidFill>
              <a:srgbClr val="B88C00"/>
            </a:solidFill>
          </a:ln>
        </p:spPr>
        <p:txBody>
          <a:bodyPr rtlCol="0" anchor="ctr"/>
          <a:lstStyle/>
          <a:p>
            <a:endParaRPr/>
          </a:p>
        </p:txBody>
      </p:sp>
      <p:sp>
        <p:nvSpPr>
          <p:cNvPr id="10" name="TextBox 9"/>
          <p:cNvSpPr txBox="1"/>
          <p:nvPr/>
        </p:nvSpPr>
        <p:spPr>
          <a:xfrm>
            <a:off x="8796528" y="3909974"/>
            <a:ext cx="2368296" cy="1689811"/>
          </a:xfrm>
          <a:prstGeom prst="rect">
            <a:avLst/>
          </a:prstGeom>
          <a:noFill/>
        </p:spPr>
        <p:txBody>
          <a:bodyPr wrap="square" lIns="0" tIns="0" rIns="0" bIns="0" anchor="t">
            <a:spAutoFit/>
          </a:bodyPr>
          <a:lstStyle/>
          <a:p>
            <a:pPr algn="l">
              <a:spcAft>
                <a:spcPts val="400"/>
              </a:spcAft>
            </a:pPr>
            <a:r>
              <a:rPr sz="1900" b="1" i="0">
                <a:solidFill>
                  <a:srgbClr val="1F394D"/>
                </a:solidFill>
              </a:rPr>
              <a:t>Watch the n</a:t>
            </a:r>
          </a:p>
          <a:p>
            <a:pPr algn="l">
              <a:spcAft>
                <a:spcPts val="400"/>
              </a:spcAft>
            </a:pPr>
            <a:r>
              <a:rPr sz="1600" b="0" i="0">
                <a:solidFill>
                  <a:srgbClr val="1F2A33"/>
                </a:solidFill>
              </a:rPr>
              <a:t>Africa and Oceania: two countries each.</a:t>
            </a:r>
          </a:p>
        </p:txBody>
      </p:sp>
      <p:sp>
        <p:nvSpPr>
          <p:cNvPr id="11" name="TextBox 10"/>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delhey&amp;newton2005.sav, 60 countries (compiled to replicate Delhey &amp; Newton 2005). Trust = % who say most people can be trusted.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How regression handles categories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24</a:t>
            </a:fld>
            <a:endParaRPr lang="en-GB"/>
          </a:p>
        </p:txBody>
      </p:sp>
      <p:graphicFrame>
        <p:nvGraphicFramePr>
          <p:cNvPr id="6" name="Table 5"/>
          <p:cNvGraphicFramePr>
            <a:graphicFrameLocks noGrp="1"/>
          </p:cNvGraphicFramePr>
          <p:nvPr/>
        </p:nvGraphicFramePr>
        <p:xfrm>
          <a:off x="758952" y="1417320"/>
          <a:ext cx="6949440" cy="3840480"/>
        </p:xfrm>
        <a:graphic>
          <a:graphicData uri="http://schemas.openxmlformats.org/drawingml/2006/table">
            <a:tbl>
              <a:tblPr firstRow="1">
                <a:tableStyleId>{5C22544A-7EE6-4342-B048-85BDC9FD1C3A}</a:tableStyleId>
              </a:tblPr>
              <a:tblGrid>
                <a:gridCol w="3566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548640">
                <a:tc>
                  <a:txBody>
                    <a:bodyPr/>
                    <a:lstStyle/>
                    <a:p>
                      <a:pPr algn="l"/>
                      <a:r>
                        <a:rPr sz="1600" b="1">
                          <a:solidFill>
                            <a:srgbClr val="FFFFFF"/>
                          </a:solidFill>
                        </a:rPr>
                        <a:t>Coefficient (reference: Western Europe)</a:t>
                      </a:r>
                    </a:p>
                  </a:txBody>
                  <a:tcPr marT="27432" marB="27432" anchor="ctr">
                    <a:solidFill>
                      <a:srgbClr val="1F394D"/>
                    </a:solidFill>
                  </a:tcPr>
                </a:tc>
                <a:tc>
                  <a:txBody>
                    <a:bodyPr/>
                    <a:lstStyle/>
                    <a:p>
                      <a:pPr algn="r"/>
                      <a:r>
                        <a:rPr sz="1600" b="1">
                          <a:solidFill>
                            <a:srgbClr val="FFFFFF"/>
                          </a:solidFill>
                        </a:rPr>
                        <a:t>Estimate</a:t>
                      </a:r>
                    </a:p>
                  </a:txBody>
                  <a:tcPr marT="27432" marB="27432" anchor="ctr">
                    <a:solidFill>
                      <a:srgbClr val="1F394D"/>
                    </a:solidFill>
                  </a:tcPr>
                </a:tc>
                <a:tc>
                  <a:txBody>
                    <a:bodyPr/>
                    <a:lstStyle/>
                    <a:p>
                      <a:pPr algn="r"/>
                      <a:r>
                        <a:rPr sz="1600" b="1">
                          <a:solidFill>
                            <a:srgbClr val="FFFFFF"/>
                          </a:solidFill>
                        </a:rPr>
                        <a:t>= region mean − 40.661</a:t>
                      </a:r>
                    </a:p>
                  </a:txBody>
                  <a:tcPr marT="27432" marB="27432" anchor="ctr">
                    <a:solidFill>
                      <a:srgbClr val="1F394D"/>
                    </a:solidFill>
                  </a:tcPr>
                </a:tc>
                <a:extLst>
                  <a:ext uri="{0D108BD9-81ED-4DB2-BD59-A6C34878D82A}">
                    <a16:rowId xmlns:a16="http://schemas.microsoft.com/office/drawing/2014/main" val="10000"/>
                  </a:ext>
                </a:extLst>
              </a:tr>
              <a:tr h="548640">
                <a:tc>
                  <a:txBody>
                    <a:bodyPr/>
                    <a:lstStyle/>
                    <a:p>
                      <a:pPr algn="l"/>
                      <a:r>
                        <a:rPr sz="1600" b="1">
                          <a:solidFill>
                            <a:srgbClr val="1F2A33"/>
                          </a:solidFill>
                        </a:rPr>
                        <a:t>(Intercept) = Western Europe mean</a:t>
                      </a:r>
                    </a:p>
                  </a:txBody>
                  <a:tcPr marT="27432" marB="27432" anchor="ctr">
                    <a:solidFill>
                      <a:srgbClr val="F6E7B8"/>
                    </a:solidFill>
                  </a:tcPr>
                </a:tc>
                <a:tc>
                  <a:txBody>
                    <a:bodyPr/>
                    <a:lstStyle/>
                    <a:p>
                      <a:pPr algn="r"/>
                      <a:r>
                        <a:rPr sz="1600" b="0">
                          <a:solidFill>
                            <a:srgbClr val="1F2A33"/>
                          </a:solidFill>
                        </a:rPr>
                        <a:t>40.66</a:t>
                      </a:r>
                    </a:p>
                  </a:txBody>
                  <a:tcPr marT="27432" marB="27432" anchor="ctr">
                    <a:solidFill>
                      <a:srgbClr val="F6E7B8"/>
                    </a:solidFill>
                  </a:tcPr>
                </a:tc>
                <a:tc>
                  <a:txBody>
                    <a:bodyPr/>
                    <a:lstStyle/>
                    <a:p>
                      <a:pPr algn="r"/>
                      <a:endParaRPr/>
                    </a:p>
                  </a:txBody>
                  <a:tcPr marT="27432" marB="27432" anchor="ctr">
                    <a:solidFill>
                      <a:srgbClr val="F6E7B8"/>
                    </a:solidFill>
                  </a:tcPr>
                </a:tc>
                <a:extLst>
                  <a:ext uri="{0D108BD9-81ED-4DB2-BD59-A6C34878D82A}">
                    <a16:rowId xmlns:a16="http://schemas.microsoft.com/office/drawing/2014/main" val="10001"/>
                  </a:ext>
                </a:extLst>
              </a:tr>
              <a:tr h="548640">
                <a:tc>
                  <a:txBody>
                    <a:bodyPr/>
                    <a:lstStyle/>
                    <a:p>
                      <a:pPr algn="l"/>
                      <a:r>
                        <a:rPr sz="1600" b="1">
                          <a:solidFill>
                            <a:srgbClr val="1F2A33"/>
                          </a:solidFill>
                        </a:rPr>
                        <a:t>Region (Oceania)</a:t>
                      </a:r>
                    </a:p>
                  </a:txBody>
                  <a:tcPr marT="27432" marB="27432" anchor="ctr">
                    <a:solidFill>
                      <a:srgbClr val="EEF3F7"/>
                    </a:solidFill>
                  </a:tcPr>
                </a:tc>
                <a:tc>
                  <a:txBody>
                    <a:bodyPr/>
                    <a:lstStyle/>
                    <a:p>
                      <a:pPr algn="r"/>
                      <a:r>
                        <a:rPr sz="1600" b="0">
                          <a:solidFill>
                            <a:srgbClr val="1F2A33"/>
                          </a:solidFill>
                        </a:rPr>
                        <a:t>+3.89</a:t>
                      </a:r>
                    </a:p>
                  </a:txBody>
                  <a:tcPr marT="27432" marB="27432" anchor="ctr">
                    <a:solidFill>
                      <a:srgbClr val="EEF3F7"/>
                    </a:solidFill>
                  </a:tcPr>
                </a:tc>
                <a:tc>
                  <a:txBody>
                    <a:bodyPr/>
                    <a:lstStyle/>
                    <a:p>
                      <a:pPr algn="r"/>
                      <a:r>
                        <a:rPr sz="1600" b="0">
                          <a:solidFill>
                            <a:srgbClr val="1F2A33"/>
                          </a:solidFill>
                        </a:rPr>
                        <a:t>44.550 − 40.661</a:t>
                      </a:r>
                    </a:p>
                  </a:txBody>
                  <a:tcPr marT="27432" marB="27432" anchor="ctr">
                    <a:solidFill>
                      <a:srgbClr val="EEF3F7"/>
                    </a:solidFill>
                  </a:tcPr>
                </a:tc>
                <a:extLst>
                  <a:ext uri="{0D108BD9-81ED-4DB2-BD59-A6C34878D82A}">
                    <a16:rowId xmlns:a16="http://schemas.microsoft.com/office/drawing/2014/main" val="10002"/>
                  </a:ext>
                </a:extLst>
              </a:tr>
              <a:tr h="548640">
                <a:tc>
                  <a:txBody>
                    <a:bodyPr/>
                    <a:lstStyle/>
                    <a:p>
                      <a:pPr algn="l"/>
                      <a:r>
                        <a:rPr sz="1600" b="1">
                          <a:solidFill>
                            <a:srgbClr val="1F2A33"/>
                          </a:solidFill>
                        </a:rPr>
                        <a:t>Region (Asia)</a:t>
                      </a:r>
                    </a:p>
                  </a:txBody>
                  <a:tcPr marT="27432" marB="27432" anchor="ctr">
                    <a:solidFill>
                      <a:srgbClr val="FFFFFF"/>
                    </a:solidFill>
                  </a:tcPr>
                </a:tc>
                <a:tc>
                  <a:txBody>
                    <a:bodyPr/>
                    <a:lstStyle/>
                    <a:p>
                      <a:pPr algn="r"/>
                      <a:r>
                        <a:rPr sz="1600" b="0">
                          <a:solidFill>
                            <a:srgbClr val="1F2A33"/>
                          </a:solidFill>
                        </a:rPr>
                        <a:t>−13.96</a:t>
                      </a:r>
                    </a:p>
                  </a:txBody>
                  <a:tcPr marT="27432" marB="27432" anchor="ctr">
                    <a:solidFill>
                      <a:srgbClr val="FFFFFF"/>
                    </a:solidFill>
                  </a:tcPr>
                </a:tc>
                <a:tc>
                  <a:txBody>
                    <a:bodyPr/>
                    <a:lstStyle/>
                    <a:p>
                      <a:pPr algn="r"/>
                      <a:r>
                        <a:rPr sz="1600" b="0">
                          <a:solidFill>
                            <a:srgbClr val="1F2A33"/>
                          </a:solidFill>
                        </a:rPr>
                        <a:t>26.701 − 40.661</a:t>
                      </a:r>
                    </a:p>
                  </a:txBody>
                  <a:tcPr marT="27432" marB="27432" anchor="ctr">
                    <a:solidFill>
                      <a:srgbClr val="FFFFFF"/>
                    </a:solidFill>
                  </a:tcPr>
                </a:tc>
                <a:extLst>
                  <a:ext uri="{0D108BD9-81ED-4DB2-BD59-A6C34878D82A}">
                    <a16:rowId xmlns:a16="http://schemas.microsoft.com/office/drawing/2014/main" val="10003"/>
                  </a:ext>
                </a:extLst>
              </a:tr>
              <a:tr h="548640">
                <a:tc>
                  <a:txBody>
                    <a:bodyPr/>
                    <a:lstStyle/>
                    <a:p>
                      <a:pPr algn="l"/>
                      <a:r>
                        <a:rPr sz="1600" b="1">
                          <a:solidFill>
                            <a:srgbClr val="1F2A33"/>
                          </a:solidFill>
                        </a:rPr>
                        <a:t>Region (Eastern Europe)</a:t>
                      </a:r>
                    </a:p>
                  </a:txBody>
                  <a:tcPr marT="27432" marB="27432" anchor="ctr">
                    <a:solidFill>
                      <a:srgbClr val="EEF3F7"/>
                    </a:solidFill>
                  </a:tcPr>
                </a:tc>
                <a:tc>
                  <a:txBody>
                    <a:bodyPr/>
                    <a:lstStyle/>
                    <a:p>
                      <a:pPr algn="r"/>
                      <a:r>
                        <a:rPr sz="1600" b="0">
                          <a:solidFill>
                            <a:srgbClr val="1F2A33"/>
                          </a:solidFill>
                        </a:rPr>
                        <a:t>−17.97</a:t>
                      </a:r>
                    </a:p>
                  </a:txBody>
                  <a:tcPr marT="27432" marB="27432" anchor="ctr">
                    <a:solidFill>
                      <a:srgbClr val="EEF3F7"/>
                    </a:solidFill>
                  </a:tcPr>
                </a:tc>
                <a:tc>
                  <a:txBody>
                    <a:bodyPr/>
                    <a:lstStyle/>
                    <a:p>
                      <a:pPr algn="r"/>
                      <a:r>
                        <a:rPr sz="1600" b="0">
                          <a:solidFill>
                            <a:srgbClr val="1F2A33"/>
                          </a:solidFill>
                        </a:rPr>
                        <a:t>22.688 − 40.661</a:t>
                      </a:r>
                    </a:p>
                  </a:txBody>
                  <a:tcPr marT="27432" marB="27432" anchor="ctr">
                    <a:solidFill>
                      <a:srgbClr val="EEF3F7"/>
                    </a:solidFill>
                  </a:tcPr>
                </a:tc>
                <a:extLst>
                  <a:ext uri="{0D108BD9-81ED-4DB2-BD59-A6C34878D82A}">
                    <a16:rowId xmlns:a16="http://schemas.microsoft.com/office/drawing/2014/main" val="10004"/>
                  </a:ext>
                </a:extLst>
              </a:tr>
              <a:tr h="548640">
                <a:tc>
                  <a:txBody>
                    <a:bodyPr/>
                    <a:lstStyle/>
                    <a:p>
                      <a:pPr algn="l"/>
                      <a:r>
                        <a:rPr sz="1600" b="1">
                          <a:solidFill>
                            <a:srgbClr val="1F2A33"/>
                          </a:solidFill>
                        </a:rPr>
                        <a:t>Region (Americas)</a:t>
                      </a:r>
                    </a:p>
                  </a:txBody>
                  <a:tcPr marT="27432" marB="27432" anchor="ctr">
                    <a:solidFill>
                      <a:srgbClr val="FFFFFF"/>
                    </a:solidFill>
                  </a:tcPr>
                </a:tc>
                <a:tc>
                  <a:txBody>
                    <a:bodyPr/>
                    <a:lstStyle/>
                    <a:p>
                      <a:pPr algn="r"/>
                      <a:r>
                        <a:rPr sz="1600" b="0">
                          <a:solidFill>
                            <a:srgbClr val="1F2A33"/>
                          </a:solidFill>
                        </a:rPr>
                        <a:t>−19.16</a:t>
                      </a:r>
                    </a:p>
                  </a:txBody>
                  <a:tcPr marT="27432" marB="27432" anchor="ctr">
                    <a:solidFill>
                      <a:srgbClr val="FFFFFF"/>
                    </a:solidFill>
                  </a:tcPr>
                </a:tc>
                <a:tc>
                  <a:txBody>
                    <a:bodyPr/>
                    <a:lstStyle/>
                    <a:p>
                      <a:pPr algn="r"/>
                      <a:r>
                        <a:rPr sz="1600" b="0">
                          <a:solidFill>
                            <a:srgbClr val="1F2A33"/>
                          </a:solidFill>
                        </a:rPr>
                        <a:t>21.505 − 40.661</a:t>
                      </a:r>
                    </a:p>
                  </a:txBody>
                  <a:tcPr marT="27432" marB="27432" anchor="ctr">
                    <a:solidFill>
                      <a:srgbClr val="FFFFFF"/>
                    </a:solidFill>
                  </a:tcPr>
                </a:tc>
                <a:extLst>
                  <a:ext uri="{0D108BD9-81ED-4DB2-BD59-A6C34878D82A}">
                    <a16:rowId xmlns:a16="http://schemas.microsoft.com/office/drawing/2014/main" val="10005"/>
                  </a:ext>
                </a:extLst>
              </a:tr>
              <a:tr h="548640">
                <a:tc>
                  <a:txBody>
                    <a:bodyPr/>
                    <a:lstStyle/>
                    <a:p>
                      <a:pPr algn="l"/>
                      <a:r>
                        <a:rPr sz="1600" b="1">
                          <a:solidFill>
                            <a:srgbClr val="1F2A33"/>
                          </a:solidFill>
                        </a:rPr>
                        <a:t>Region (Africa)</a:t>
                      </a:r>
                    </a:p>
                  </a:txBody>
                  <a:tcPr marT="27432" marB="27432" anchor="ctr">
                    <a:solidFill>
                      <a:srgbClr val="EEF3F7"/>
                    </a:solidFill>
                  </a:tcPr>
                </a:tc>
                <a:tc>
                  <a:txBody>
                    <a:bodyPr/>
                    <a:lstStyle/>
                    <a:p>
                      <a:pPr algn="r"/>
                      <a:r>
                        <a:rPr sz="1600" b="0">
                          <a:solidFill>
                            <a:srgbClr val="1F2A33"/>
                          </a:solidFill>
                        </a:rPr>
                        <a:t>−24.09</a:t>
                      </a:r>
                    </a:p>
                  </a:txBody>
                  <a:tcPr marT="27432" marB="27432" anchor="ctr">
                    <a:solidFill>
                      <a:srgbClr val="EEF3F7"/>
                    </a:solidFill>
                  </a:tcPr>
                </a:tc>
                <a:tc>
                  <a:txBody>
                    <a:bodyPr/>
                    <a:lstStyle/>
                    <a:p>
                      <a:pPr algn="r"/>
                      <a:r>
                        <a:rPr sz="1600" b="0">
                          <a:solidFill>
                            <a:srgbClr val="1F2A33"/>
                          </a:solidFill>
                        </a:rPr>
                        <a:t>16.570 − 40.661</a:t>
                      </a:r>
                    </a:p>
                  </a:txBody>
                  <a:tcPr marT="27432" marB="27432" anchor="ctr">
                    <a:solidFill>
                      <a:srgbClr val="EEF3F7"/>
                    </a:solidFill>
                  </a:tcPr>
                </a:tc>
                <a:extLst>
                  <a:ext uri="{0D108BD9-81ED-4DB2-BD59-A6C34878D82A}">
                    <a16:rowId xmlns:a16="http://schemas.microsoft.com/office/drawing/2014/main" val="10006"/>
                  </a:ext>
                </a:extLst>
              </a:tr>
            </a:tbl>
          </a:graphicData>
        </a:graphic>
      </p:graphicFrame>
      <p:sp>
        <p:nvSpPr>
          <p:cNvPr id="7" name="Rounded Rectangle 6"/>
          <p:cNvSpPr/>
          <p:nvPr/>
        </p:nvSpPr>
        <p:spPr>
          <a:xfrm>
            <a:off x="7955279" y="1417320"/>
            <a:ext cx="3410712" cy="2103120"/>
          </a:xfrm>
          <a:prstGeom prst="roundRect">
            <a:avLst>
              <a:gd name="adj" fmla="val 8000"/>
            </a:avLst>
          </a:prstGeom>
          <a:solidFill>
            <a:srgbClr val="1F394D"/>
          </a:solidFill>
          <a:ln>
            <a:noFill/>
          </a:ln>
        </p:spPr>
        <p:txBody>
          <a:bodyPr rtlCol="0" anchor="ctr"/>
          <a:lstStyle/>
          <a:p>
            <a:endParaRPr/>
          </a:p>
        </p:txBody>
      </p:sp>
      <p:sp>
        <p:nvSpPr>
          <p:cNvPr id="8" name="TextBox 7"/>
          <p:cNvSpPr txBox="1"/>
          <p:nvPr/>
        </p:nvSpPr>
        <p:spPr>
          <a:xfrm>
            <a:off x="8156448" y="1578254"/>
            <a:ext cx="3008376" cy="1781251"/>
          </a:xfrm>
          <a:prstGeom prst="rect">
            <a:avLst/>
          </a:prstGeom>
          <a:noFill/>
        </p:spPr>
        <p:txBody>
          <a:bodyPr wrap="square" lIns="0" tIns="0" rIns="0" bIns="0" anchor="t">
            <a:spAutoFit/>
          </a:bodyPr>
          <a:lstStyle/>
          <a:p>
            <a:pPr algn="l">
              <a:spcAft>
                <a:spcPts val="400"/>
              </a:spcAft>
            </a:pPr>
            <a:r>
              <a:rPr sz="1900" b="1" i="0">
                <a:solidFill>
                  <a:srgbClr val="FFFFFF"/>
                </a:solidFill>
              </a:rPr>
              <a:t>Each coefficient is a gap</a:t>
            </a:r>
          </a:p>
          <a:p>
            <a:pPr algn="l">
              <a:spcAft>
                <a:spcPts val="400"/>
              </a:spcAft>
            </a:pPr>
            <a:r>
              <a:rPr sz="1600" b="0" i="0">
                <a:solidFill>
                  <a:srgbClr val="CCDDEA"/>
                </a:solidFill>
              </a:rPr>
              <a:t>from the reference category, holding any other predictors constant.</a:t>
            </a:r>
          </a:p>
        </p:txBody>
      </p:sp>
      <p:sp>
        <p:nvSpPr>
          <p:cNvPr id="9" name="Rounded Rectangle 8"/>
          <p:cNvSpPr/>
          <p:nvPr/>
        </p:nvSpPr>
        <p:spPr>
          <a:xfrm>
            <a:off x="7955279" y="3703320"/>
            <a:ext cx="3410712" cy="2057400"/>
          </a:xfrm>
          <a:prstGeom prst="roundRect">
            <a:avLst>
              <a:gd name="adj" fmla="val 8000"/>
            </a:avLst>
          </a:prstGeom>
          <a:solidFill>
            <a:srgbClr val="EEF3F7"/>
          </a:solidFill>
          <a:ln>
            <a:noFill/>
          </a:ln>
        </p:spPr>
        <p:txBody>
          <a:bodyPr rtlCol="0" anchor="ctr"/>
          <a:lstStyle/>
          <a:p>
            <a:endParaRPr/>
          </a:p>
        </p:txBody>
      </p:sp>
      <p:sp>
        <p:nvSpPr>
          <p:cNvPr id="10" name="TextBox 9"/>
          <p:cNvSpPr txBox="1"/>
          <p:nvPr/>
        </p:nvSpPr>
        <p:spPr>
          <a:xfrm>
            <a:off x="8156448" y="3864254"/>
            <a:ext cx="3008376" cy="1735531"/>
          </a:xfrm>
          <a:prstGeom prst="rect">
            <a:avLst/>
          </a:prstGeom>
          <a:noFill/>
        </p:spPr>
        <p:txBody>
          <a:bodyPr wrap="square" lIns="0" tIns="0" rIns="0" bIns="0" anchor="t">
            <a:spAutoFit/>
          </a:bodyPr>
          <a:lstStyle/>
          <a:p>
            <a:pPr algn="l">
              <a:spcAft>
                <a:spcPts val="400"/>
              </a:spcAft>
            </a:pPr>
            <a:r>
              <a:rPr sz="1900" b="1" i="0">
                <a:solidFill>
                  <a:srgbClr val="1F394D"/>
                </a:solidFill>
              </a:rPr>
              <a:t>Choose the reference</a:t>
            </a:r>
          </a:p>
          <a:p>
            <a:pPr algn="l">
              <a:spcAft>
                <a:spcPts val="400"/>
              </a:spcAft>
            </a:pPr>
            <a:r>
              <a:rPr sz="1600" b="0" i="0">
                <a:solidFill>
                  <a:srgbClr val="1F2A33"/>
                </a:solidFill>
              </a:rPr>
              <a:t>Pick a large, meaningful group. JASP uses the first category.</a:t>
            </a:r>
          </a:p>
        </p:txBody>
      </p:sp>
      <p:sp>
        <p:nvSpPr>
          <p:cNvPr id="11" name="TextBox 10"/>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delhey&amp;newton2005.sav, 60 countries (compiled to replicate Delhey &amp; Newton 2005). Trust = % who say most people can be trusted. R² = 0.38.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A two-category predictor: Protestant tradition</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25</a:t>
            </a:fld>
            <a:endParaRPr lang="en-GB"/>
          </a:p>
        </p:txBody>
      </p:sp>
      <p:graphicFrame>
        <p:nvGraphicFramePr>
          <p:cNvPr id="6" name="Protestant means"/>
          <p:cNvGraphicFramePr>
            <a:graphicFrameLocks noGrp="1"/>
          </p:cNvGraphicFramePr>
          <p:nvPr/>
        </p:nvGraphicFramePr>
        <p:xfrm>
          <a:off x="758952" y="1325880"/>
          <a:ext cx="438912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able 6"/>
          <p:cNvGraphicFramePr>
            <a:graphicFrameLocks noGrp="1"/>
          </p:cNvGraphicFramePr>
          <p:nvPr/>
        </p:nvGraphicFramePr>
        <p:xfrm>
          <a:off x="5394960" y="1417320"/>
          <a:ext cx="5971032" cy="2852928"/>
        </p:xfrm>
        <a:graphic>
          <a:graphicData uri="http://schemas.openxmlformats.org/drawingml/2006/table">
            <a:tbl>
              <a:tblPr first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99032">
                  <a:extLst>
                    <a:ext uri="{9D8B030D-6E8A-4147-A177-3AD203B41FA5}">
                      <a16:colId xmlns:a16="http://schemas.microsoft.com/office/drawing/2014/main" val="20002"/>
                    </a:ext>
                  </a:extLst>
                </a:gridCol>
              </a:tblGrid>
              <a:tr h="475488">
                <a:tc>
                  <a:txBody>
                    <a:bodyPr/>
                    <a:lstStyle/>
                    <a:p>
                      <a:pPr algn="l"/>
                      <a:r>
                        <a:rPr sz="1500" b="1">
                          <a:solidFill>
                            <a:srgbClr val="FFFFFF"/>
                          </a:solidFill>
                        </a:rPr>
                        <a:t>Predictor</a:t>
                      </a:r>
                    </a:p>
                  </a:txBody>
                  <a:tcPr marT="27432" marB="27432" anchor="ctr">
                    <a:solidFill>
                      <a:srgbClr val="1F394D"/>
                    </a:solidFill>
                  </a:tcPr>
                </a:tc>
                <a:tc>
                  <a:txBody>
                    <a:bodyPr/>
                    <a:lstStyle/>
                    <a:p>
                      <a:pPr algn="r"/>
                      <a:r>
                        <a:rPr sz="1500" b="1">
                          <a:solidFill>
                            <a:srgbClr val="FFFFFF"/>
                          </a:solidFill>
                        </a:rPr>
                        <a:t>Model A</a:t>
                      </a:r>
                    </a:p>
                  </a:txBody>
                  <a:tcPr marT="27432" marB="27432" anchor="ctr">
                    <a:solidFill>
                      <a:srgbClr val="1F394D"/>
                    </a:solidFill>
                  </a:tcPr>
                </a:tc>
                <a:tc>
                  <a:txBody>
                    <a:bodyPr/>
                    <a:lstStyle/>
                    <a:p>
                      <a:pPr algn="r"/>
                      <a:r>
                        <a:rPr sz="1500" b="1">
                          <a:solidFill>
                            <a:srgbClr val="FFFFFF"/>
                          </a:solidFill>
                        </a:rPr>
                        <a:t>Model B</a:t>
                      </a:r>
                    </a:p>
                  </a:txBody>
                  <a:tcPr marT="27432" marB="27432" anchor="ctr">
                    <a:solidFill>
                      <a:srgbClr val="1F394D"/>
                    </a:solidFill>
                  </a:tcPr>
                </a:tc>
                <a:extLst>
                  <a:ext uri="{0D108BD9-81ED-4DB2-BD59-A6C34878D82A}">
                    <a16:rowId xmlns:a16="http://schemas.microsoft.com/office/drawing/2014/main" val="10000"/>
                  </a:ext>
                </a:extLst>
              </a:tr>
              <a:tr h="475488">
                <a:tc>
                  <a:txBody>
                    <a:bodyPr/>
                    <a:lstStyle/>
                    <a:p>
                      <a:pPr algn="l"/>
                      <a:r>
                        <a:rPr sz="1500" b="1">
                          <a:solidFill>
                            <a:srgbClr val="1F2A33"/>
                          </a:solidFill>
                        </a:rPr>
                        <a:t>(Intercept)</a:t>
                      </a:r>
                    </a:p>
                  </a:txBody>
                  <a:tcPr marT="27432" marB="27432" anchor="ctr">
                    <a:solidFill>
                      <a:srgbClr val="FFFFFF"/>
                    </a:solidFill>
                  </a:tcPr>
                </a:tc>
                <a:tc>
                  <a:txBody>
                    <a:bodyPr/>
                    <a:lstStyle/>
                    <a:p>
                      <a:pPr algn="r"/>
                      <a:r>
                        <a:rPr sz="1500" b="0">
                          <a:solidFill>
                            <a:srgbClr val="1F2A33"/>
                          </a:solidFill>
                        </a:rPr>
                        <a:t>24.81</a:t>
                      </a:r>
                    </a:p>
                  </a:txBody>
                  <a:tcPr marT="27432" marB="27432" anchor="ctr">
                    <a:solidFill>
                      <a:srgbClr val="FFFFFF"/>
                    </a:solidFill>
                  </a:tcPr>
                </a:tc>
                <a:tc>
                  <a:txBody>
                    <a:bodyPr/>
                    <a:lstStyle/>
                    <a:p>
                      <a:pPr algn="r"/>
                      <a:r>
                        <a:rPr sz="1500" b="0">
                          <a:solidFill>
                            <a:srgbClr val="1F2A33"/>
                          </a:solidFill>
                        </a:rPr>
                        <a:t>44.32</a:t>
                      </a:r>
                    </a:p>
                  </a:txBody>
                  <a:tcPr marT="27432" marB="27432" anchor="ctr">
                    <a:solidFill>
                      <a:srgbClr val="FFFFFF"/>
                    </a:solidFill>
                  </a:tcPr>
                </a:tc>
                <a:extLst>
                  <a:ext uri="{0D108BD9-81ED-4DB2-BD59-A6C34878D82A}">
                    <a16:rowId xmlns:a16="http://schemas.microsoft.com/office/drawing/2014/main" val="10001"/>
                  </a:ext>
                </a:extLst>
              </a:tr>
              <a:tr h="475488">
                <a:tc>
                  <a:txBody>
                    <a:bodyPr/>
                    <a:lstStyle/>
                    <a:p>
                      <a:pPr algn="l"/>
                      <a:r>
                        <a:rPr sz="1500" b="1">
                          <a:solidFill>
                            <a:srgbClr val="1F2A33"/>
                          </a:solidFill>
                        </a:rPr>
                        <a:t>Protestantism (1 = yes)</a:t>
                      </a:r>
                    </a:p>
                  </a:txBody>
                  <a:tcPr marT="27432" marB="27432" anchor="ctr">
                    <a:solidFill>
                      <a:srgbClr val="F6E7B8"/>
                    </a:solidFill>
                  </a:tcPr>
                </a:tc>
                <a:tc>
                  <a:txBody>
                    <a:bodyPr/>
                    <a:lstStyle/>
                    <a:p>
                      <a:pPr algn="r"/>
                      <a:r>
                        <a:rPr sz="1500" b="0">
                          <a:solidFill>
                            <a:srgbClr val="1F2A33"/>
                          </a:solidFill>
                        </a:rPr>
                        <a:t>23.45</a:t>
                      </a:r>
                    </a:p>
                  </a:txBody>
                  <a:tcPr marT="27432" marB="27432" anchor="ctr">
                    <a:solidFill>
                      <a:srgbClr val="F6E7B8"/>
                    </a:solidFill>
                  </a:tcPr>
                </a:tc>
                <a:tc>
                  <a:txBody>
                    <a:bodyPr/>
                    <a:lstStyle/>
                    <a:p>
                      <a:pPr algn="r"/>
                      <a:r>
                        <a:rPr sz="1500" b="0">
                          <a:solidFill>
                            <a:srgbClr val="1F2A33"/>
                          </a:solidFill>
                        </a:rPr>
                        <a:t>19.11</a:t>
                      </a:r>
                    </a:p>
                  </a:txBody>
                  <a:tcPr marT="27432" marB="27432" anchor="ctr">
                    <a:solidFill>
                      <a:srgbClr val="F6E7B8"/>
                    </a:solidFill>
                  </a:tcPr>
                </a:tc>
                <a:extLst>
                  <a:ext uri="{0D108BD9-81ED-4DB2-BD59-A6C34878D82A}">
                    <a16:rowId xmlns:a16="http://schemas.microsoft.com/office/drawing/2014/main" val="10002"/>
                  </a:ext>
                </a:extLst>
              </a:tr>
              <a:tr h="475488">
                <a:tc>
                  <a:txBody>
                    <a:bodyPr/>
                    <a:lstStyle/>
                    <a:p>
                      <a:pPr algn="l"/>
                      <a:r>
                        <a:rPr sz="1500" b="1">
                          <a:solidFill>
                            <a:srgbClr val="1F2A33"/>
                          </a:solidFill>
                        </a:rPr>
                        <a:t>Income inequality (Gini, 0 to 100)</a:t>
                      </a:r>
                    </a:p>
                  </a:txBody>
                  <a:tcPr marT="27432" marB="27432" anchor="ctr">
                    <a:solidFill>
                      <a:srgbClr val="FFFFFF"/>
                    </a:solidFill>
                  </a:tcPr>
                </a:tc>
                <a:tc>
                  <a:txBody>
                    <a:bodyPr/>
                    <a:lstStyle/>
                    <a:p>
                      <a:pPr algn="r"/>
                      <a:endParaRPr/>
                    </a:p>
                  </a:txBody>
                  <a:tcPr marT="27432" marB="27432" anchor="ctr">
                    <a:solidFill>
                      <a:srgbClr val="FFFFFF"/>
                    </a:solidFill>
                  </a:tcPr>
                </a:tc>
                <a:tc>
                  <a:txBody>
                    <a:bodyPr/>
                    <a:lstStyle/>
                    <a:p>
                      <a:pPr algn="r"/>
                      <a:r>
                        <a:rPr sz="1500" b="0">
                          <a:solidFill>
                            <a:srgbClr val="1F2A33"/>
                          </a:solidFill>
                        </a:rPr>
                        <a:t>−0.53</a:t>
                      </a:r>
                    </a:p>
                  </a:txBody>
                  <a:tcPr marT="27432" marB="27432" anchor="ctr">
                    <a:solidFill>
                      <a:srgbClr val="FFFFFF"/>
                    </a:solidFill>
                  </a:tcPr>
                </a:tc>
                <a:extLst>
                  <a:ext uri="{0D108BD9-81ED-4DB2-BD59-A6C34878D82A}">
                    <a16:rowId xmlns:a16="http://schemas.microsoft.com/office/drawing/2014/main" val="10003"/>
                  </a:ext>
                </a:extLst>
              </a:tr>
              <a:tr h="475488">
                <a:tc>
                  <a:txBody>
                    <a:bodyPr/>
                    <a:lstStyle/>
                    <a:p>
                      <a:pPr algn="l"/>
                      <a:r>
                        <a:rPr sz="1500" b="1">
                          <a:solidFill>
                            <a:srgbClr val="1F2A33"/>
                          </a:solidFill>
                        </a:rPr>
                        <a:t>R²</a:t>
                      </a:r>
                    </a:p>
                  </a:txBody>
                  <a:tcPr marT="27432" marB="27432" anchor="ctr">
                    <a:solidFill>
                      <a:srgbClr val="EEF3F7"/>
                    </a:solidFill>
                  </a:tcPr>
                </a:tc>
                <a:tc>
                  <a:txBody>
                    <a:bodyPr/>
                    <a:lstStyle/>
                    <a:p>
                      <a:pPr algn="r"/>
                      <a:r>
                        <a:rPr sz="1500" b="0">
                          <a:solidFill>
                            <a:srgbClr val="1F2A33"/>
                          </a:solidFill>
                        </a:rPr>
                        <a:t>0.357</a:t>
                      </a:r>
                    </a:p>
                  </a:txBody>
                  <a:tcPr marT="27432" marB="27432" anchor="ctr">
                    <a:solidFill>
                      <a:srgbClr val="EEF3F7"/>
                    </a:solidFill>
                  </a:tcPr>
                </a:tc>
                <a:tc>
                  <a:txBody>
                    <a:bodyPr/>
                    <a:lstStyle/>
                    <a:p>
                      <a:pPr algn="r"/>
                      <a:r>
                        <a:rPr sz="1500" b="0">
                          <a:solidFill>
                            <a:srgbClr val="1F2A33"/>
                          </a:solidFill>
                        </a:rPr>
                        <a:t>0.462</a:t>
                      </a:r>
                    </a:p>
                  </a:txBody>
                  <a:tcPr marT="27432" marB="27432" anchor="ctr">
                    <a:solidFill>
                      <a:srgbClr val="EEF3F7"/>
                    </a:solidFill>
                  </a:tcPr>
                </a:tc>
                <a:extLst>
                  <a:ext uri="{0D108BD9-81ED-4DB2-BD59-A6C34878D82A}">
                    <a16:rowId xmlns:a16="http://schemas.microsoft.com/office/drawing/2014/main" val="10004"/>
                  </a:ext>
                </a:extLst>
              </a:tr>
              <a:tr h="475488">
                <a:tc>
                  <a:txBody>
                    <a:bodyPr/>
                    <a:lstStyle/>
                    <a:p>
                      <a:pPr algn="l"/>
                      <a:r>
                        <a:rPr sz="1500" b="1">
                          <a:solidFill>
                            <a:srgbClr val="1F2A33"/>
                          </a:solidFill>
                        </a:rPr>
                        <a:t>n</a:t>
                      </a:r>
                    </a:p>
                  </a:txBody>
                  <a:tcPr marT="27432" marB="27432" anchor="ctr">
                    <a:solidFill>
                      <a:srgbClr val="FFFFFF"/>
                    </a:solidFill>
                  </a:tcPr>
                </a:tc>
                <a:tc>
                  <a:txBody>
                    <a:bodyPr/>
                    <a:lstStyle/>
                    <a:p>
                      <a:pPr algn="r"/>
                      <a:r>
                        <a:rPr sz="1500" b="0">
                          <a:solidFill>
                            <a:srgbClr val="1F2A33"/>
                          </a:solidFill>
                        </a:rPr>
                        <a:t>60</a:t>
                      </a:r>
                    </a:p>
                  </a:txBody>
                  <a:tcPr marT="27432" marB="27432" anchor="ctr">
                    <a:solidFill>
                      <a:srgbClr val="FFFFFF"/>
                    </a:solidFill>
                  </a:tcPr>
                </a:tc>
                <a:tc>
                  <a:txBody>
                    <a:bodyPr/>
                    <a:lstStyle/>
                    <a:p>
                      <a:pPr algn="r"/>
                      <a:r>
                        <a:rPr sz="1500" b="0">
                          <a:solidFill>
                            <a:srgbClr val="1F2A33"/>
                          </a:solidFill>
                        </a:rPr>
                        <a:t>60</a:t>
                      </a:r>
                    </a:p>
                  </a:txBody>
                  <a:tcPr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5394960" y="4434840"/>
            <a:ext cx="5971032" cy="1325880"/>
          </a:xfrm>
          <a:prstGeom prst="roundRect">
            <a:avLst>
              <a:gd name="adj" fmla="val 8000"/>
            </a:avLst>
          </a:prstGeom>
          <a:solidFill>
            <a:srgbClr val="EEF3F7"/>
          </a:solidFill>
          <a:ln>
            <a:noFill/>
          </a:ln>
        </p:spPr>
        <p:txBody>
          <a:bodyPr rtlCol="0" anchor="ctr"/>
          <a:lstStyle/>
          <a:p>
            <a:endParaRPr/>
          </a:p>
        </p:txBody>
      </p:sp>
      <p:sp>
        <p:nvSpPr>
          <p:cNvPr id="9" name="TextBox 8"/>
          <p:cNvSpPr txBox="1"/>
          <p:nvPr/>
        </p:nvSpPr>
        <p:spPr>
          <a:xfrm>
            <a:off x="5577840" y="4581144"/>
            <a:ext cx="5605272" cy="1033271"/>
          </a:xfrm>
          <a:prstGeom prst="rect">
            <a:avLst/>
          </a:prstGeom>
          <a:noFill/>
        </p:spPr>
        <p:txBody>
          <a:bodyPr wrap="square" lIns="0" tIns="0" rIns="0" bIns="0" anchor="ctr">
            <a:spAutoFit/>
          </a:bodyPr>
          <a:lstStyle/>
          <a:p>
            <a:pPr algn="l"/>
            <a:r>
              <a:rPr sz="1600" b="1" i="0">
                <a:solidFill>
                  <a:srgbClr val="1F394D"/>
                </a:solidFill>
              </a:rPr>
              <a:t>Protestant countries: 23.4 points higher on average; 19.1 points among countries with the same Gini.</a:t>
            </a:r>
          </a:p>
        </p:txBody>
      </p:sp>
      <p:sp>
        <p:nvSpPr>
          <p:cNvPr id="10" name="TextBox 9"/>
          <p:cNvSpPr txBox="1"/>
          <p:nvPr/>
        </p:nvSpPr>
        <p:spPr>
          <a:xfrm>
            <a:off x="758952" y="5943600"/>
            <a:ext cx="10607040" cy="292608"/>
          </a:xfrm>
          <a:prstGeom prst="rect">
            <a:avLst/>
          </a:prstGeom>
          <a:noFill/>
        </p:spPr>
        <p:txBody>
          <a:bodyPr wrap="square" lIns="0" tIns="0" rIns="0" bIns="0" anchor="ctr">
            <a:spAutoFit/>
          </a:bodyPr>
          <a:lstStyle/>
          <a:p>
            <a:pPr algn="l"/>
            <a:r>
              <a:rPr sz="1200" b="0" i="0">
                <a:solidFill>
                  <a:srgbClr val="55606B"/>
                </a:solidFill>
              </a:rPr>
              <a:t>Data: delhey&amp;newton2005.sav, 60 countries (compiled to replicate Delhey &amp; Newton 2005). Trust = % who say most people can be trusted.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Activity: use the region coefficients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26</a:t>
            </a:fld>
            <a:endParaRPr lang="en-GB"/>
          </a:p>
        </p:txBody>
      </p:sp>
      <p:sp>
        <p:nvSpPr>
          <p:cNvPr id="6" name="Question card 1"/>
          <p:cNvSpPr/>
          <p:nvPr/>
        </p:nvSpPr>
        <p:spPr>
          <a:xfrm>
            <a:off x="758952" y="1371600"/>
            <a:ext cx="5212080" cy="1783080"/>
          </a:xfrm>
          <a:prstGeom prst="roundRect">
            <a:avLst>
              <a:gd name="adj" fmla="val 8000"/>
            </a:avLst>
          </a:prstGeom>
          <a:solidFill>
            <a:srgbClr val="EEF3F7"/>
          </a:solidFill>
          <a:ln>
            <a:noFill/>
          </a:ln>
        </p:spPr>
        <p:txBody>
          <a:bodyPr rtlCol="0" anchor="ctr"/>
          <a:lstStyle/>
          <a:p>
            <a:endParaRPr/>
          </a:p>
        </p:txBody>
      </p:sp>
      <p:sp>
        <p:nvSpPr>
          <p:cNvPr id="7" name="Oval 6"/>
          <p:cNvSpPr/>
          <p:nvPr/>
        </p:nvSpPr>
        <p:spPr>
          <a:xfrm>
            <a:off x="96012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1</a:t>
            </a:r>
          </a:p>
        </p:txBody>
      </p:sp>
      <p:sp>
        <p:nvSpPr>
          <p:cNvPr id="8" name="TextBox 7"/>
          <p:cNvSpPr txBox="1"/>
          <p:nvPr/>
        </p:nvSpPr>
        <p:spPr>
          <a:xfrm>
            <a:off x="1581912" y="1554480"/>
            <a:ext cx="4206240" cy="1463040"/>
          </a:xfrm>
          <a:prstGeom prst="rect">
            <a:avLst/>
          </a:prstGeom>
          <a:noFill/>
        </p:spPr>
        <p:txBody>
          <a:bodyPr wrap="square" lIns="0" tIns="0" rIns="0" bIns="0" anchor="t">
            <a:spAutoFit/>
          </a:bodyPr>
          <a:lstStyle/>
          <a:p>
            <a:pPr algn="l"/>
            <a:r>
              <a:rPr sz="1800" b="0" i="0">
                <a:solidFill>
                  <a:srgbClr val="1F2A33"/>
                </a:solidFill>
              </a:rPr>
              <a:t>What trust does the model predict for a country in Asia?</a:t>
            </a:r>
          </a:p>
        </p:txBody>
      </p:sp>
      <p:sp>
        <p:nvSpPr>
          <p:cNvPr id="9" name="Question card 2"/>
          <p:cNvSpPr/>
          <p:nvPr/>
        </p:nvSpPr>
        <p:spPr>
          <a:xfrm>
            <a:off x="6153912" y="1371600"/>
            <a:ext cx="5212080" cy="1783080"/>
          </a:xfrm>
          <a:prstGeom prst="roundRect">
            <a:avLst>
              <a:gd name="adj" fmla="val 8000"/>
            </a:avLst>
          </a:prstGeom>
          <a:solidFill>
            <a:srgbClr val="EEF3F7"/>
          </a:solidFill>
          <a:ln>
            <a:noFill/>
          </a:ln>
        </p:spPr>
        <p:txBody>
          <a:bodyPr rtlCol="0" anchor="ctr"/>
          <a:lstStyle/>
          <a:p>
            <a:endParaRPr/>
          </a:p>
        </p:txBody>
      </p:sp>
      <p:sp>
        <p:nvSpPr>
          <p:cNvPr id="10" name="Oval 9"/>
          <p:cNvSpPr/>
          <p:nvPr/>
        </p:nvSpPr>
        <p:spPr>
          <a:xfrm>
            <a:off x="635508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2</a:t>
            </a:r>
          </a:p>
        </p:txBody>
      </p:sp>
      <p:sp>
        <p:nvSpPr>
          <p:cNvPr id="11" name="TextBox 10"/>
          <p:cNvSpPr txBox="1"/>
          <p:nvPr/>
        </p:nvSpPr>
        <p:spPr>
          <a:xfrm>
            <a:off x="6976872" y="1554480"/>
            <a:ext cx="4206240" cy="1463040"/>
          </a:xfrm>
          <a:prstGeom prst="rect">
            <a:avLst/>
          </a:prstGeom>
          <a:noFill/>
        </p:spPr>
        <p:txBody>
          <a:bodyPr wrap="square" lIns="0" tIns="0" rIns="0" bIns="0" anchor="t">
            <a:spAutoFit/>
          </a:bodyPr>
          <a:lstStyle/>
          <a:p>
            <a:pPr algn="l"/>
            <a:r>
              <a:rPr sz="1800" b="0" i="0">
                <a:solidFill>
                  <a:srgbClr val="1F2A33"/>
                </a:solidFill>
              </a:rPr>
              <a:t>How much higher is predicted trust in Asia than in Eastern Europe?</a:t>
            </a:r>
          </a:p>
        </p:txBody>
      </p:sp>
      <p:sp>
        <p:nvSpPr>
          <p:cNvPr id="12" name="Question card 3"/>
          <p:cNvSpPr/>
          <p:nvPr/>
        </p:nvSpPr>
        <p:spPr>
          <a:xfrm>
            <a:off x="758952" y="3337560"/>
            <a:ext cx="5212080" cy="1783080"/>
          </a:xfrm>
          <a:prstGeom prst="roundRect">
            <a:avLst>
              <a:gd name="adj" fmla="val 8000"/>
            </a:avLst>
          </a:prstGeom>
          <a:solidFill>
            <a:srgbClr val="EEF3F7"/>
          </a:solidFill>
          <a:ln>
            <a:noFill/>
          </a:ln>
        </p:spPr>
        <p:txBody>
          <a:bodyPr rtlCol="0" anchor="ctr"/>
          <a:lstStyle/>
          <a:p>
            <a:endParaRPr/>
          </a:p>
        </p:txBody>
      </p:sp>
      <p:sp>
        <p:nvSpPr>
          <p:cNvPr id="13" name="Oval 12"/>
          <p:cNvSpPr/>
          <p:nvPr/>
        </p:nvSpPr>
        <p:spPr>
          <a:xfrm>
            <a:off x="960120" y="353872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3</a:t>
            </a:r>
          </a:p>
        </p:txBody>
      </p:sp>
      <p:sp>
        <p:nvSpPr>
          <p:cNvPr id="14" name="TextBox 13"/>
          <p:cNvSpPr txBox="1"/>
          <p:nvPr/>
        </p:nvSpPr>
        <p:spPr>
          <a:xfrm>
            <a:off x="1581912" y="3520440"/>
            <a:ext cx="4206240" cy="1463040"/>
          </a:xfrm>
          <a:prstGeom prst="rect">
            <a:avLst/>
          </a:prstGeom>
          <a:noFill/>
        </p:spPr>
        <p:txBody>
          <a:bodyPr wrap="square" lIns="0" tIns="0" rIns="0" bIns="0" anchor="t">
            <a:spAutoFit/>
          </a:bodyPr>
          <a:lstStyle/>
          <a:p>
            <a:pPr algn="l"/>
            <a:r>
              <a:rPr sz="1800" b="0" i="0">
                <a:solidFill>
                  <a:srgbClr val="1F2A33"/>
                </a:solidFill>
              </a:rPr>
              <a:t>If Africa were the reference, what would Western Europe’s coefficient be?</a:t>
            </a:r>
          </a:p>
        </p:txBody>
      </p:sp>
      <p:sp>
        <p:nvSpPr>
          <p:cNvPr id="15" name="Question card 4"/>
          <p:cNvSpPr/>
          <p:nvPr/>
        </p:nvSpPr>
        <p:spPr>
          <a:xfrm>
            <a:off x="6153912" y="3337560"/>
            <a:ext cx="5212080" cy="1783080"/>
          </a:xfrm>
          <a:prstGeom prst="roundRect">
            <a:avLst>
              <a:gd name="adj" fmla="val 8000"/>
            </a:avLst>
          </a:prstGeom>
          <a:solidFill>
            <a:srgbClr val="EEF3F7"/>
          </a:solidFill>
          <a:ln>
            <a:noFill/>
          </a:ln>
        </p:spPr>
        <p:txBody>
          <a:bodyPr rtlCol="0" anchor="ctr"/>
          <a:lstStyle/>
          <a:p>
            <a:endParaRPr/>
          </a:p>
        </p:txBody>
      </p:sp>
      <p:sp>
        <p:nvSpPr>
          <p:cNvPr id="16" name="Oval 15"/>
          <p:cNvSpPr/>
          <p:nvPr/>
        </p:nvSpPr>
        <p:spPr>
          <a:xfrm>
            <a:off x="6355080" y="353872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4</a:t>
            </a:r>
          </a:p>
        </p:txBody>
      </p:sp>
      <p:sp>
        <p:nvSpPr>
          <p:cNvPr id="17" name="TextBox 16"/>
          <p:cNvSpPr txBox="1"/>
          <p:nvPr/>
        </p:nvSpPr>
        <p:spPr>
          <a:xfrm>
            <a:off x="6976872" y="3520440"/>
            <a:ext cx="4206240" cy="1463040"/>
          </a:xfrm>
          <a:prstGeom prst="rect">
            <a:avLst/>
          </a:prstGeom>
          <a:noFill/>
        </p:spPr>
        <p:txBody>
          <a:bodyPr wrap="square" lIns="0" tIns="0" rIns="0" bIns="0" anchor="t">
            <a:spAutoFit/>
          </a:bodyPr>
          <a:lstStyle/>
          <a:p>
            <a:pPr algn="l"/>
            <a:r>
              <a:rPr sz="1800" b="0" i="0">
                <a:solidFill>
                  <a:srgbClr val="1F2A33"/>
                </a:solidFill>
              </a:rPr>
              <a:t>Why is the Africa coefficient unreliable?</a:t>
            </a:r>
          </a:p>
        </p:txBody>
      </p:sp>
      <p:sp>
        <p:nvSpPr>
          <p:cNvPr id="18" name="Formula strip"/>
          <p:cNvSpPr/>
          <p:nvPr/>
        </p:nvSpPr>
        <p:spPr>
          <a:xfrm>
            <a:off x="758952" y="5486400"/>
            <a:ext cx="10607040" cy="548640"/>
          </a:xfrm>
          <a:prstGeom prst="roundRect">
            <a:avLst>
              <a:gd name="adj" fmla="val 8000"/>
            </a:avLst>
          </a:prstGeom>
          <a:solidFill>
            <a:srgbClr val="1F394D"/>
          </a:solidFill>
          <a:ln>
            <a:noFill/>
          </a:ln>
        </p:spPr>
        <p:txBody>
          <a:bodyPr rtlCol="0" anchor="ctr"/>
          <a:lstStyle/>
          <a:p>
            <a:endParaRPr/>
          </a:p>
        </p:txBody>
      </p:sp>
      <p:sp>
        <p:nvSpPr>
          <p:cNvPr id="19" name="TextBox 18"/>
          <p:cNvSpPr txBox="1"/>
          <p:nvPr/>
        </p:nvSpPr>
        <p:spPr>
          <a:xfrm>
            <a:off x="941832" y="5486400"/>
            <a:ext cx="10241280" cy="548640"/>
          </a:xfrm>
          <a:prstGeom prst="rect">
            <a:avLst/>
          </a:prstGeom>
          <a:noFill/>
        </p:spPr>
        <p:txBody>
          <a:bodyPr wrap="square" lIns="0" tIns="0" rIns="0" bIns="0" anchor="ctr">
            <a:spAutoFit/>
          </a:bodyPr>
          <a:lstStyle/>
          <a:p>
            <a:pPr algn="ctr"/>
            <a:r>
              <a:rPr sz="1900" b="1" i="0">
                <a:solidFill>
                  <a:srgbClr val="FFFFFF"/>
                </a:solidFill>
              </a:rPr>
              <a:t>Intercept 40.66    Asia −13.96    Eastern Europe −17.97    Africa −24.09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Region coefficients: answers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27</a:t>
            </a:fld>
            <a:endParaRPr lang="en-GB"/>
          </a:p>
        </p:txBody>
      </p:sp>
      <p:sp>
        <p:nvSpPr>
          <p:cNvPr id="6" name="Question card 1"/>
          <p:cNvSpPr/>
          <p:nvPr/>
        </p:nvSpPr>
        <p:spPr>
          <a:xfrm>
            <a:off x="758952" y="1371600"/>
            <a:ext cx="5212080" cy="1783080"/>
          </a:xfrm>
          <a:prstGeom prst="roundRect">
            <a:avLst>
              <a:gd name="adj" fmla="val 8000"/>
            </a:avLst>
          </a:prstGeom>
          <a:solidFill>
            <a:srgbClr val="EEF3F7"/>
          </a:solidFill>
          <a:ln>
            <a:noFill/>
          </a:ln>
        </p:spPr>
        <p:txBody>
          <a:bodyPr rtlCol="0" anchor="ctr"/>
          <a:lstStyle/>
          <a:p>
            <a:endParaRPr/>
          </a:p>
        </p:txBody>
      </p:sp>
      <p:sp>
        <p:nvSpPr>
          <p:cNvPr id="7" name="Oval 6"/>
          <p:cNvSpPr/>
          <p:nvPr/>
        </p:nvSpPr>
        <p:spPr>
          <a:xfrm>
            <a:off x="96012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1</a:t>
            </a:r>
          </a:p>
        </p:txBody>
      </p:sp>
      <p:sp>
        <p:nvSpPr>
          <p:cNvPr id="8" name="TextBox 7"/>
          <p:cNvSpPr txBox="1"/>
          <p:nvPr/>
        </p:nvSpPr>
        <p:spPr>
          <a:xfrm>
            <a:off x="1581912" y="1554480"/>
            <a:ext cx="4206240" cy="1463040"/>
          </a:xfrm>
          <a:prstGeom prst="rect">
            <a:avLst/>
          </a:prstGeom>
          <a:noFill/>
        </p:spPr>
        <p:txBody>
          <a:bodyPr wrap="square" lIns="0" tIns="0" rIns="0" bIns="0" anchor="t">
            <a:spAutoFit/>
          </a:bodyPr>
          <a:lstStyle/>
          <a:p>
            <a:pPr algn="l"/>
            <a:r>
              <a:rPr sz="1800" b="0" i="0">
                <a:solidFill>
                  <a:srgbClr val="1F2A33"/>
                </a:solidFill>
              </a:rPr>
              <a:t>What trust does the model predict for a country in Asia?</a:t>
            </a:r>
          </a:p>
          <a:p>
            <a:pPr algn="l">
              <a:spcBef>
                <a:spcPts val="400"/>
              </a:spcBef>
            </a:pPr>
            <a:r>
              <a:rPr sz="1800" b="1" i="0">
                <a:solidFill>
                  <a:srgbClr val="2E6B45"/>
                </a:solidFill>
              </a:rPr>
              <a:t>40.66 − 13.96 = 26.70%</a:t>
            </a:r>
          </a:p>
        </p:txBody>
      </p:sp>
      <p:sp>
        <p:nvSpPr>
          <p:cNvPr id="9" name="Question card 2"/>
          <p:cNvSpPr/>
          <p:nvPr/>
        </p:nvSpPr>
        <p:spPr>
          <a:xfrm>
            <a:off x="6153912" y="1371600"/>
            <a:ext cx="5212080" cy="1783080"/>
          </a:xfrm>
          <a:prstGeom prst="roundRect">
            <a:avLst>
              <a:gd name="adj" fmla="val 8000"/>
            </a:avLst>
          </a:prstGeom>
          <a:solidFill>
            <a:srgbClr val="EEF3F7"/>
          </a:solidFill>
          <a:ln>
            <a:noFill/>
          </a:ln>
        </p:spPr>
        <p:txBody>
          <a:bodyPr rtlCol="0" anchor="ctr"/>
          <a:lstStyle/>
          <a:p>
            <a:endParaRPr/>
          </a:p>
        </p:txBody>
      </p:sp>
      <p:sp>
        <p:nvSpPr>
          <p:cNvPr id="10" name="Oval 9"/>
          <p:cNvSpPr/>
          <p:nvPr/>
        </p:nvSpPr>
        <p:spPr>
          <a:xfrm>
            <a:off x="6355080" y="157276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2</a:t>
            </a:r>
          </a:p>
        </p:txBody>
      </p:sp>
      <p:sp>
        <p:nvSpPr>
          <p:cNvPr id="11" name="TextBox 10"/>
          <p:cNvSpPr txBox="1"/>
          <p:nvPr/>
        </p:nvSpPr>
        <p:spPr>
          <a:xfrm>
            <a:off x="6976872" y="1554480"/>
            <a:ext cx="4206240" cy="1463040"/>
          </a:xfrm>
          <a:prstGeom prst="rect">
            <a:avLst/>
          </a:prstGeom>
          <a:noFill/>
        </p:spPr>
        <p:txBody>
          <a:bodyPr wrap="square" lIns="0" tIns="0" rIns="0" bIns="0" anchor="t">
            <a:spAutoFit/>
          </a:bodyPr>
          <a:lstStyle/>
          <a:p>
            <a:pPr algn="l"/>
            <a:r>
              <a:rPr sz="1800" b="0" i="0">
                <a:solidFill>
                  <a:srgbClr val="1F2A33"/>
                </a:solidFill>
              </a:rPr>
              <a:t>How much higher is predicted trust in Asia than in Eastern Europe?</a:t>
            </a:r>
          </a:p>
          <a:p>
            <a:pPr algn="l">
              <a:spcBef>
                <a:spcPts val="400"/>
              </a:spcBef>
            </a:pPr>
            <a:r>
              <a:rPr sz="1800" b="1" i="0">
                <a:solidFill>
                  <a:srgbClr val="2E6B45"/>
                </a:solidFill>
              </a:rPr>
              <a:t>−13.96 − (−17.97) = 4.01 points</a:t>
            </a:r>
          </a:p>
        </p:txBody>
      </p:sp>
      <p:sp>
        <p:nvSpPr>
          <p:cNvPr id="12" name="Question card 3"/>
          <p:cNvSpPr/>
          <p:nvPr/>
        </p:nvSpPr>
        <p:spPr>
          <a:xfrm>
            <a:off x="758952" y="3337560"/>
            <a:ext cx="5212080" cy="1783080"/>
          </a:xfrm>
          <a:prstGeom prst="roundRect">
            <a:avLst>
              <a:gd name="adj" fmla="val 8000"/>
            </a:avLst>
          </a:prstGeom>
          <a:solidFill>
            <a:srgbClr val="EEF3F7"/>
          </a:solidFill>
          <a:ln>
            <a:noFill/>
          </a:ln>
        </p:spPr>
        <p:txBody>
          <a:bodyPr rtlCol="0" anchor="ctr"/>
          <a:lstStyle/>
          <a:p>
            <a:endParaRPr/>
          </a:p>
        </p:txBody>
      </p:sp>
      <p:sp>
        <p:nvSpPr>
          <p:cNvPr id="13" name="Oval 12"/>
          <p:cNvSpPr/>
          <p:nvPr/>
        </p:nvSpPr>
        <p:spPr>
          <a:xfrm>
            <a:off x="960120" y="353872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3</a:t>
            </a:r>
          </a:p>
        </p:txBody>
      </p:sp>
      <p:sp>
        <p:nvSpPr>
          <p:cNvPr id="14" name="TextBox 13"/>
          <p:cNvSpPr txBox="1"/>
          <p:nvPr/>
        </p:nvSpPr>
        <p:spPr>
          <a:xfrm>
            <a:off x="1581912" y="3520440"/>
            <a:ext cx="4206240" cy="1463040"/>
          </a:xfrm>
          <a:prstGeom prst="rect">
            <a:avLst/>
          </a:prstGeom>
          <a:noFill/>
        </p:spPr>
        <p:txBody>
          <a:bodyPr wrap="square" lIns="0" tIns="0" rIns="0" bIns="0" anchor="t">
            <a:spAutoFit/>
          </a:bodyPr>
          <a:lstStyle/>
          <a:p>
            <a:pPr algn="l"/>
            <a:r>
              <a:rPr sz="1800" b="0" i="0">
                <a:solidFill>
                  <a:srgbClr val="1F2A33"/>
                </a:solidFill>
              </a:rPr>
              <a:t>If Africa were the reference, what would Western Europe’s coefficient be?</a:t>
            </a:r>
          </a:p>
          <a:p>
            <a:pPr algn="l">
              <a:spcBef>
                <a:spcPts val="400"/>
              </a:spcBef>
            </a:pPr>
            <a:r>
              <a:rPr sz="1800" b="1" i="0">
                <a:solidFill>
                  <a:srgbClr val="2E6B45"/>
                </a:solidFill>
              </a:rPr>
              <a:t>+24.09</a:t>
            </a:r>
          </a:p>
        </p:txBody>
      </p:sp>
      <p:sp>
        <p:nvSpPr>
          <p:cNvPr id="15" name="Question card 4"/>
          <p:cNvSpPr/>
          <p:nvPr/>
        </p:nvSpPr>
        <p:spPr>
          <a:xfrm>
            <a:off x="6153912" y="3337560"/>
            <a:ext cx="5212080" cy="1783080"/>
          </a:xfrm>
          <a:prstGeom prst="roundRect">
            <a:avLst>
              <a:gd name="adj" fmla="val 8000"/>
            </a:avLst>
          </a:prstGeom>
          <a:solidFill>
            <a:srgbClr val="EEF3F7"/>
          </a:solidFill>
          <a:ln>
            <a:noFill/>
          </a:ln>
        </p:spPr>
        <p:txBody>
          <a:bodyPr rtlCol="0" anchor="ctr"/>
          <a:lstStyle/>
          <a:p>
            <a:endParaRPr/>
          </a:p>
        </p:txBody>
      </p:sp>
      <p:sp>
        <p:nvSpPr>
          <p:cNvPr id="16" name="Oval 15"/>
          <p:cNvSpPr/>
          <p:nvPr/>
        </p:nvSpPr>
        <p:spPr>
          <a:xfrm>
            <a:off x="6355080" y="3538728"/>
            <a:ext cx="457200" cy="457200"/>
          </a:xfrm>
          <a:prstGeom prst="ellipse">
            <a:avLst/>
          </a:prstGeom>
          <a:solidFill>
            <a:srgbClr val="1F394D"/>
          </a:solidFill>
          <a:ln>
            <a:noFill/>
          </a:ln>
        </p:spPr>
        <p:txBody>
          <a:bodyPr lIns="0" tIns="0" rIns="0" bIns="0" rtlCol="0" anchor="ctr"/>
          <a:lstStyle/>
          <a:p>
            <a:pPr algn="ctr"/>
            <a:r>
              <a:rPr sz="1800" b="1">
                <a:solidFill>
                  <a:srgbClr val="FFFFFF"/>
                </a:solidFill>
              </a:rPr>
              <a:t>4</a:t>
            </a:r>
          </a:p>
        </p:txBody>
      </p:sp>
      <p:sp>
        <p:nvSpPr>
          <p:cNvPr id="17" name="TextBox 16"/>
          <p:cNvSpPr txBox="1"/>
          <p:nvPr/>
        </p:nvSpPr>
        <p:spPr>
          <a:xfrm>
            <a:off x="6976872" y="3520440"/>
            <a:ext cx="4206240" cy="1463040"/>
          </a:xfrm>
          <a:prstGeom prst="rect">
            <a:avLst/>
          </a:prstGeom>
          <a:noFill/>
        </p:spPr>
        <p:txBody>
          <a:bodyPr wrap="square" lIns="0" tIns="0" rIns="0" bIns="0" anchor="t">
            <a:spAutoFit/>
          </a:bodyPr>
          <a:lstStyle/>
          <a:p>
            <a:pPr algn="l"/>
            <a:r>
              <a:rPr sz="1800" b="0" i="0">
                <a:solidFill>
                  <a:srgbClr val="1F2A33"/>
                </a:solidFill>
              </a:rPr>
              <a:t>Why is the Africa coefficient unreliable?</a:t>
            </a:r>
          </a:p>
          <a:p>
            <a:pPr algn="l">
              <a:spcBef>
                <a:spcPts val="400"/>
              </a:spcBef>
            </a:pPr>
            <a:r>
              <a:rPr sz="1800" b="1" i="0">
                <a:solidFill>
                  <a:srgbClr val="2E6B45"/>
                </a:solidFill>
              </a:rPr>
              <a:t>It rests on two countries</a:t>
            </a:r>
          </a:p>
        </p:txBody>
      </p:sp>
      <p:sp>
        <p:nvSpPr>
          <p:cNvPr id="18" name="Formula strip"/>
          <p:cNvSpPr/>
          <p:nvPr/>
        </p:nvSpPr>
        <p:spPr>
          <a:xfrm>
            <a:off x="758952" y="5486400"/>
            <a:ext cx="10607040" cy="548640"/>
          </a:xfrm>
          <a:prstGeom prst="roundRect">
            <a:avLst>
              <a:gd name="adj" fmla="val 8000"/>
            </a:avLst>
          </a:prstGeom>
          <a:solidFill>
            <a:srgbClr val="1F394D"/>
          </a:solidFill>
          <a:ln>
            <a:noFill/>
          </a:ln>
        </p:spPr>
        <p:txBody>
          <a:bodyPr rtlCol="0" anchor="ctr"/>
          <a:lstStyle/>
          <a:p>
            <a:endParaRPr/>
          </a:p>
        </p:txBody>
      </p:sp>
      <p:sp>
        <p:nvSpPr>
          <p:cNvPr id="19" name="TextBox 18"/>
          <p:cNvSpPr txBox="1"/>
          <p:nvPr/>
        </p:nvSpPr>
        <p:spPr>
          <a:xfrm>
            <a:off x="941832" y="5486400"/>
            <a:ext cx="10241280" cy="548640"/>
          </a:xfrm>
          <a:prstGeom prst="rect">
            <a:avLst/>
          </a:prstGeom>
          <a:noFill/>
        </p:spPr>
        <p:txBody>
          <a:bodyPr wrap="square" lIns="0" tIns="0" rIns="0" bIns="0" anchor="ctr">
            <a:spAutoFit/>
          </a:bodyPr>
          <a:lstStyle/>
          <a:p>
            <a:pPr algn="ctr"/>
            <a:r>
              <a:rPr sz="1900" b="1" i="0">
                <a:solidFill>
                  <a:srgbClr val="FFFFFF"/>
                </a:solidFill>
              </a:rPr>
              <a:t>Intercept 40.66    Asia −13.96    Eastern Europe −17.97    Africa −24.09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Before you trust a regression line</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28</a:t>
            </a:fld>
            <a:endParaRPr lang="en-GB"/>
          </a:p>
        </p:txBody>
      </p:sp>
      <p:sp>
        <p:nvSpPr>
          <p:cNvPr id="6" name="Card 1"/>
          <p:cNvSpPr/>
          <p:nvPr/>
        </p:nvSpPr>
        <p:spPr>
          <a:xfrm>
            <a:off x="758952" y="1417320"/>
            <a:ext cx="5212080" cy="2103120"/>
          </a:xfrm>
          <a:prstGeom prst="roundRect">
            <a:avLst>
              <a:gd name="adj" fmla="val 8000"/>
            </a:avLst>
          </a:prstGeom>
          <a:solidFill>
            <a:srgbClr val="EEF3F7"/>
          </a:solidFill>
          <a:ln>
            <a:noFill/>
          </a:ln>
        </p:spPr>
        <p:txBody>
          <a:bodyPr rtlCol="0" anchor="ctr"/>
          <a:lstStyle/>
          <a:p>
            <a:endParaRPr/>
          </a:p>
        </p:txBody>
      </p:sp>
      <p:sp>
        <p:nvSpPr>
          <p:cNvPr id="7" name="Oval 6"/>
          <p:cNvSpPr/>
          <p:nvPr/>
        </p:nvSpPr>
        <p:spPr>
          <a:xfrm>
            <a:off x="987552" y="1645920"/>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1</a:t>
            </a:r>
          </a:p>
        </p:txBody>
      </p:sp>
      <p:sp>
        <p:nvSpPr>
          <p:cNvPr id="8" name="TextBox 7"/>
          <p:cNvSpPr txBox="1"/>
          <p:nvPr/>
        </p:nvSpPr>
        <p:spPr>
          <a:xfrm>
            <a:off x="1719072" y="1618488"/>
            <a:ext cx="4023360" cy="640080"/>
          </a:xfrm>
          <a:prstGeom prst="rect">
            <a:avLst/>
          </a:prstGeom>
          <a:noFill/>
        </p:spPr>
        <p:txBody>
          <a:bodyPr wrap="square" lIns="0" tIns="0" rIns="0" bIns="0" anchor="ctr">
            <a:spAutoFit/>
          </a:bodyPr>
          <a:lstStyle/>
          <a:p>
            <a:pPr algn="l"/>
            <a:r>
              <a:rPr sz="2000" b="1" i="0">
                <a:solidFill>
                  <a:srgbClr val="1F394D"/>
                </a:solidFill>
              </a:rPr>
              <a:t>Is it linear?</a:t>
            </a:r>
          </a:p>
        </p:txBody>
      </p:sp>
      <p:sp>
        <p:nvSpPr>
          <p:cNvPr id="9" name="TextBox 8"/>
          <p:cNvSpPr txBox="1"/>
          <p:nvPr/>
        </p:nvSpPr>
        <p:spPr>
          <a:xfrm>
            <a:off x="1719072" y="2313432"/>
            <a:ext cx="4023360" cy="1097279"/>
          </a:xfrm>
          <a:prstGeom prst="rect">
            <a:avLst/>
          </a:prstGeom>
          <a:noFill/>
        </p:spPr>
        <p:txBody>
          <a:bodyPr wrap="square" lIns="0" tIns="0" rIns="0" bIns="0" anchor="t">
            <a:spAutoFit/>
          </a:bodyPr>
          <a:lstStyle/>
          <a:p>
            <a:pPr algn="l"/>
            <a:r>
              <a:rPr sz="1700" b="0" i="0">
                <a:solidFill>
                  <a:srgbClr val="1F2A33"/>
                </a:solidFill>
              </a:rPr>
              <a:t>Plot first: Anscombe’s quartet all share one line.</a:t>
            </a:r>
          </a:p>
        </p:txBody>
      </p:sp>
      <p:sp>
        <p:nvSpPr>
          <p:cNvPr id="10" name="Card 2"/>
          <p:cNvSpPr/>
          <p:nvPr/>
        </p:nvSpPr>
        <p:spPr>
          <a:xfrm>
            <a:off x="6153912" y="1417320"/>
            <a:ext cx="5212080" cy="2103120"/>
          </a:xfrm>
          <a:prstGeom prst="roundRect">
            <a:avLst>
              <a:gd name="adj" fmla="val 8000"/>
            </a:avLst>
          </a:prstGeom>
          <a:solidFill>
            <a:srgbClr val="EEF3F7"/>
          </a:solidFill>
          <a:ln>
            <a:noFill/>
          </a:ln>
        </p:spPr>
        <p:txBody>
          <a:bodyPr rtlCol="0" anchor="ctr"/>
          <a:lstStyle/>
          <a:p>
            <a:endParaRPr/>
          </a:p>
        </p:txBody>
      </p:sp>
      <p:sp>
        <p:nvSpPr>
          <p:cNvPr id="11" name="Oval 10"/>
          <p:cNvSpPr/>
          <p:nvPr/>
        </p:nvSpPr>
        <p:spPr>
          <a:xfrm>
            <a:off x="6382512" y="1645920"/>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2</a:t>
            </a:r>
          </a:p>
        </p:txBody>
      </p:sp>
      <p:sp>
        <p:nvSpPr>
          <p:cNvPr id="12" name="TextBox 11"/>
          <p:cNvSpPr txBox="1"/>
          <p:nvPr/>
        </p:nvSpPr>
        <p:spPr>
          <a:xfrm>
            <a:off x="7114032" y="1618488"/>
            <a:ext cx="4023360" cy="640080"/>
          </a:xfrm>
          <a:prstGeom prst="rect">
            <a:avLst/>
          </a:prstGeom>
          <a:noFill/>
        </p:spPr>
        <p:txBody>
          <a:bodyPr wrap="square" lIns="0" tIns="0" rIns="0" bIns="0" anchor="ctr">
            <a:spAutoFit/>
          </a:bodyPr>
          <a:lstStyle/>
          <a:p>
            <a:pPr algn="l"/>
            <a:r>
              <a:rPr sz="2000" b="1" i="0">
                <a:solidFill>
                  <a:srgbClr val="1F394D"/>
                </a:solidFill>
              </a:rPr>
              <a:t>Any influential cases?</a:t>
            </a:r>
          </a:p>
        </p:txBody>
      </p:sp>
      <p:sp>
        <p:nvSpPr>
          <p:cNvPr id="13" name="TextBox 12"/>
          <p:cNvSpPr txBox="1"/>
          <p:nvPr/>
        </p:nvSpPr>
        <p:spPr>
          <a:xfrm>
            <a:off x="7114032" y="2313432"/>
            <a:ext cx="4023360" cy="1097279"/>
          </a:xfrm>
          <a:prstGeom prst="rect">
            <a:avLst/>
          </a:prstGeom>
          <a:noFill/>
        </p:spPr>
        <p:txBody>
          <a:bodyPr wrap="square" lIns="0" tIns="0" rIns="0" bIns="0" anchor="t">
            <a:spAutoFit/>
          </a:bodyPr>
          <a:lstStyle/>
          <a:p>
            <a:pPr algn="l"/>
            <a:r>
              <a:rPr sz="1700" b="0" i="0">
                <a:solidFill>
                  <a:srgbClr val="1F2A33"/>
                </a:solidFill>
              </a:rPr>
              <a:t>One extreme country can tilt the line (Week 2: China).</a:t>
            </a:r>
          </a:p>
        </p:txBody>
      </p:sp>
      <p:sp>
        <p:nvSpPr>
          <p:cNvPr id="14" name="Card 3"/>
          <p:cNvSpPr/>
          <p:nvPr/>
        </p:nvSpPr>
        <p:spPr>
          <a:xfrm>
            <a:off x="758952" y="3749039"/>
            <a:ext cx="5212080" cy="2103120"/>
          </a:xfrm>
          <a:prstGeom prst="roundRect">
            <a:avLst>
              <a:gd name="adj" fmla="val 8000"/>
            </a:avLst>
          </a:prstGeom>
          <a:solidFill>
            <a:srgbClr val="EEF3F7"/>
          </a:solidFill>
          <a:ln>
            <a:noFill/>
          </a:ln>
        </p:spPr>
        <p:txBody>
          <a:bodyPr rtlCol="0" anchor="ctr"/>
          <a:lstStyle/>
          <a:p>
            <a:endParaRPr/>
          </a:p>
        </p:txBody>
      </p:sp>
      <p:sp>
        <p:nvSpPr>
          <p:cNvPr id="15" name="Oval 14"/>
          <p:cNvSpPr/>
          <p:nvPr/>
        </p:nvSpPr>
        <p:spPr>
          <a:xfrm>
            <a:off x="987552" y="3977639"/>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3</a:t>
            </a:r>
          </a:p>
        </p:txBody>
      </p:sp>
      <p:sp>
        <p:nvSpPr>
          <p:cNvPr id="16" name="TextBox 15"/>
          <p:cNvSpPr txBox="1"/>
          <p:nvPr/>
        </p:nvSpPr>
        <p:spPr>
          <a:xfrm>
            <a:off x="1719072" y="3950207"/>
            <a:ext cx="4023360" cy="640080"/>
          </a:xfrm>
          <a:prstGeom prst="rect">
            <a:avLst/>
          </a:prstGeom>
          <a:noFill/>
        </p:spPr>
        <p:txBody>
          <a:bodyPr wrap="square" lIns="0" tIns="0" rIns="0" bIns="0" anchor="ctr">
            <a:spAutoFit/>
          </a:bodyPr>
          <a:lstStyle/>
          <a:p>
            <a:pPr algn="l"/>
            <a:r>
              <a:rPr sz="2000" b="1" i="0">
                <a:solidFill>
                  <a:srgbClr val="1F394D"/>
                </a:solidFill>
              </a:rPr>
              <a:t>Are predictors too alike?</a:t>
            </a:r>
          </a:p>
        </p:txBody>
      </p:sp>
      <p:sp>
        <p:nvSpPr>
          <p:cNvPr id="17" name="TextBox 16"/>
          <p:cNvSpPr txBox="1"/>
          <p:nvPr/>
        </p:nvSpPr>
        <p:spPr>
          <a:xfrm>
            <a:off x="1719072" y="4645152"/>
            <a:ext cx="4023360" cy="1097279"/>
          </a:xfrm>
          <a:prstGeom prst="rect">
            <a:avLst/>
          </a:prstGeom>
          <a:noFill/>
        </p:spPr>
        <p:txBody>
          <a:bodyPr wrap="square" lIns="0" tIns="0" rIns="0" bIns="0" anchor="t">
            <a:spAutoFit/>
          </a:bodyPr>
          <a:lstStyle/>
          <a:p>
            <a:pPr algn="l"/>
            <a:r>
              <a:rPr sz="1700" b="0" i="0">
                <a:solidFill>
                  <a:srgbClr val="1F2A33"/>
                </a:solidFill>
              </a:rPr>
              <a:t>Check Tolerance and VIF. Inequality and homicides: VIF = 1.28, fine.</a:t>
            </a:r>
          </a:p>
        </p:txBody>
      </p:sp>
      <p:sp>
        <p:nvSpPr>
          <p:cNvPr id="18" name="Card 4"/>
          <p:cNvSpPr/>
          <p:nvPr/>
        </p:nvSpPr>
        <p:spPr>
          <a:xfrm>
            <a:off x="6153912" y="3749039"/>
            <a:ext cx="5212080" cy="2103120"/>
          </a:xfrm>
          <a:prstGeom prst="roundRect">
            <a:avLst>
              <a:gd name="adj" fmla="val 8000"/>
            </a:avLst>
          </a:prstGeom>
          <a:solidFill>
            <a:srgbClr val="EEF3F7"/>
          </a:solidFill>
          <a:ln>
            <a:noFill/>
          </a:ln>
        </p:spPr>
        <p:txBody>
          <a:bodyPr rtlCol="0" anchor="ctr"/>
          <a:lstStyle/>
          <a:p>
            <a:endParaRPr/>
          </a:p>
        </p:txBody>
      </p:sp>
      <p:sp>
        <p:nvSpPr>
          <p:cNvPr id="19" name="Oval 18"/>
          <p:cNvSpPr/>
          <p:nvPr/>
        </p:nvSpPr>
        <p:spPr>
          <a:xfrm>
            <a:off x="6382512" y="3977639"/>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4</a:t>
            </a:r>
          </a:p>
        </p:txBody>
      </p:sp>
      <p:sp>
        <p:nvSpPr>
          <p:cNvPr id="20" name="TextBox 19"/>
          <p:cNvSpPr txBox="1"/>
          <p:nvPr/>
        </p:nvSpPr>
        <p:spPr>
          <a:xfrm>
            <a:off x="7114032" y="3950207"/>
            <a:ext cx="4023360" cy="640080"/>
          </a:xfrm>
          <a:prstGeom prst="rect">
            <a:avLst/>
          </a:prstGeom>
          <a:noFill/>
        </p:spPr>
        <p:txBody>
          <a:bodyPr wrap="square" lIns="0" tIns="0" rIns="0" bIns="0" anchor="ctr">
            <a:spAutoFit/>
          </a:bodyPr>
          <a:lstStyle/>
          <a:p>
            <a:pPr algn="l"/>
            <a:r>
              <a:rPr sz="2000" b="1" i="0">
                <a:solidFill>
                  <a:srgbClr val="1F394D"/>
                </a:solidFill>
              </a:rPr>
              <a:t>Inside the data?</a:t>
            </a:r>
          </a:p>
        </p:txBody>
      </p:sp>
      <p:sp>
        <p:nvSpPr>
          <p:cNvPr id="21" name="TextBox 20"/>
          <p:cNvSpPr txBox="1"/>
          <p:nvPr/>
        </p:nvSpPr>
        <p:spPr>
          <a:xfrm>
            <a:off x="7114032" y="4645152"/>
            <a:ext cx="4023360" cy="1097279"/>
          </a:xfrm>
          <a:prstGeom prst="rect">
            <a:avLst/>
          </a:prstGeom>
          <a:noFill/>
        </p:spPr>
        <p:txBody>
          <a:bodyPr wrap="square" lIns="0" tIns="0" rIns="0" bIns="0" anchor="t">
            <a:spAutoFit/>
          </a:bodyPr>
          <a:lstStyle/>
          <a:p>
            <a:pPr algn="l"/>
            <a:r>
              <a:rPr sz="1700" b="0" i="0">
                <a:solidFill>
                  <a:srgbClr val="1F2A33"/>
                </a:solidFill>
              </a:rPr>
              <a:t>The data run from 3.4 to 9.7: don’t predict outside.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Date Placeholder 2">
            <a:extLst>
              <a:ext uri="{FF2B5EF4-FFF2-40B4-BE49-F238E27FC236}">
                <a16:creationId xmlns:a16="http://schemas.microsoft.com/office/drawing/2014/main" id="{A2D68425-0661-96D9-7968-6D84B2193400}"/>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4" name="Footer Placeholder 3">
            <a:extLst>
              <a:ext uri="{FF2B5EF4-FFF2-40B4-BE49-F238E27FC236}">
                <a16:creationId xmlns:a16="http://schemas.microsoft.com/office/drawing/2014/main" id="{3B094F2C-CF60-62B4-F1A2-1FA4B8ED3A21}"/>
              </a:ext>
            </a:extLst>
          </p:cNvPr>
          <p:cNvSpPr>
            <a:spLocks noGrp="1"/>
          </p:cNvSpPr>
          <p:nvPr>
            <p:ph type="ftr" sz="quarter" idx="11"/>
          </p:nvPr>
        </p:nvSpPr>
        <p:spPr/>
        <p:txBody>
          <a:bodyPr/>
          <a:lstStyle/>
          <a:p>
            <a:r>
              <a:rPr lang="en-GB"/>
              <a:t>Modelling continuous outcomes</a:t>
            </a:r>
          </a:p>
        </p:txBody>
      </p:sp>
      <p:sp>
        <p:nvSpPr>
          <p:cNvPr id="5" name="Slide Number Placeholder 4">
            <a:extLst>
              <a:ext uri="{FF2B5EF4-FFF2-40B4-BE49-F238E27FC236}">
                <a16:creationId xmlns:a16="http://schemas.microsoft.com/office/drawing/2014/main" id="{19153079-52E8-3CBE-35A8-A200B180E5C2}"/>
              </a:ext>
            </a:extLst>
          </p:cNvPr>
          <p:cNvSpPr>
            <a:spLocks noGrp="1"/>
          </p:cNvSpPr>
          <p:nvPr>
            <p:ph type="sldNum" sz="quarter" idx="12"/>
          </p:nvPr>
        </p:nvSpPr>
        <p:spPr/>
        <p:txBody>
          <a:bodyPr/>
          <a:lstStyle/>
          <a:p>
            <a:fld id="{9FAA51BB-2FC0-4DB8-B50E-F52D50E733B6}" type="slidenum">
              <a:rPr lang="en-GB" smtClean="0"/>
              <a:t>29</a:t>
            </a:fld>
            <a:endParaRPr lang="en-GB"/>
          </a:p>
        </p:txBody>
      </p:sp>
      <p:sp>
        <p:nvSpPr>
          <p:cNvPr id="6" name="Card 1"/>
          <p:cNvSpPr/>
          <p:nvPr/>
        </p:nvSpPr>
        <p:spPr>
          <a:xfrm>
            <a:off x="758952" y="1417320"/>
            <a:ext cx="5212080" cy="2103120"/>
          </a:xfrm>
          <a:prstGeom prst="roundRect">
            <a:avLst>
              <a:gd name="adj" fmla="val 8000"/>
            </a:avLst>
          </a:prstGeom>
          <a:solidFill>
            <a:srgbClr val="EEF3F7"/>
          </a:solidFill>
          <a:ln>
            <a:noFill/>
          </a:ln>
        </p:spPr>
        <p:txBody>
          <a:bodyPr rtlCol="0" anchor="ctr"/>
          <a:lstStyle/>
          <a:p>
            <a:endParaRPr/>
          </a:p>
        </p:txBody>
      </p:sp>
      <p:sp>
        <p:nvSpPr>
          <p:cNvPr id="7" name="Oval 6"/>
          <p:cNvSpPr/>
          <p:nvPr/>
        </p:nvSpPr>
        <p:spPr>
          <a:xfrm>
            <a:off x="987552" y="1645920"/>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1</a:t>
            </a:r>
          </a:p>
        </p:txBody>
      </p:sp>
      <p:sp>
        <p:nvSpPr>
          <p:cNvPr id="8" name="TextBox 7"/>
          <p:cNvSpPr txBox="1"/>
          <p:nvPr/>
        </p:nvSpPr>
        <p:spPr>
          <a:xfrm>
            <a:off x="1719072" y="1618488"/>
            <a:ext cx="4023360" cy="640080"/>
          </a:xfrm>
          <a:prstGeom prst="rect">
            <a:avLst/>
          </a:prstGeom>
          <a:noFill/>
        </p:spPr>
        <p:txBody>
          <a:bodyPr wrap="square" lIns="0" tIns="0" rIns="0" bIns="0" anchor="ctr">
            <a:spAutoFit/>
          </a:bodyPr>
          <a:lstStyle/>
          <a:p>
            <a:pPr algn="l"/>
            <a:r>
              <a:rPr sz="2000" b="1" i="0">
                <a:solidFill>
                  <a:srgbClr val="1F394D"/>
                </a:solidFill>
              </a:rPr>
              <a:t>A line in real units</a:t>
            </a:r>
          </a:p>
        </p:txBody>
      </p:sp>
      <p:sp>
        <p:nvSpPr>
          <p:cNvPr id="9" name="TextBox 8"/>
          <p:cNvSpPr txBox="1"/>
          <p:nvPr/>
        </p:nvSpPr>
        <p:spPr>
          <a:xfrm>
            <a:off x="1719072" y="2313432"/>
            <a:ext cx="4023360" cy="1097279"/>
          </a:xfrm>
          <a:prstGeom prst="rect">
            <a:avLst/>
          </a:prstGeom>
          <a:noFill/>
        </p:spPr>
        <p:txBody>
          <a:bodyPr wrap="square" lIns="0" tIns="0" rIns="0" bIns="0" anchor="t">
            <a:spAutoFit/>
          </a:bodyPr>
          <a:lstStyle/>
          <a:p>
            <a:pPr algn="l"/>
            <a:r>
              <a:rPr sz="1700" b="0" i="0">
                <a:solidFill>
                  <a:srgbClr val="1F2A33"/>
                </a:solidFill>
              </a:rPr>
              <a:t>Slope = change in the outcome per one-unit change in the predictor.</a:t>
            </a:r>
          </a:p>
        </p:txBody>
      </p:sp>
      <p:sp>
        <p:nvSpPr>
          <p:cNvPr id="10" name="Card 2"/>
          <p:cNvSpPr/>
          <p:nvPr/>
        </p:nvSpPr>
        <p:spPr>
          <a:xfrm>
            <a:off x="6153912" y="1417320"/>
            <a:ext cx="5212080" cy="2103120"/>
          </a:xfrm>
          <a:prstGeom prst="roundRect">
            <a:avLst>
              <a:gd name="adj" fmla="val 8000"/>
            </a:avLst>
          </a:prstGeom>
          <a:solidFill>
            <a:srgbClr val="EEF3F7"/>
          </a:solidFill>
          <a:ln>
            <a:noFill/>
          </a:ln>
        </p:spPr>
        <p:txBody>
          <a:bodyPr rtlCol="0" anchor="ctr"/>
          <a:lstStyle/>
          <a:p>
            <a:endParaRPr/>
          </a:p>
        </p:txBody>
      </p:sp>
      <p:sp>
        <p:nvSpPr>
          <p:cNvPr id="11" name="Oval 10"/>
          <p:cNvSpPr/>
          <p:nvPr/>
        </p:nvSpPr>
        <p:spPr>
          <a:xfrm>
            <a:off x="6382512" y="1645920"/>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2</a:t>
            </a:r>
          </a:p>
        </p:txBody>
      </p:sp>
      <p:sp>
        <p:nvSpPr>
          <p:cNvPr id="12" name="TextBox 11"/>
          <p:cNvSpPr txBox="1"/>
          <p:nvPr/>
        </p:nvSpPr>
        <p:spPr>
          <a:xfrm>
            <a:off x="7114032" y="1618488"/>
            <a:ext cx="4023360" cy="640080"/>
          </a:xfrm>
          <a:prstGeom prst="rect">
            <a:avLst/>
          </a:prstGeom>
          <a:noFill/>
        </p:spPr>
        <p:txBody>
          <a:bodyPr wrap="square" lIns="0" tIns="0" rIns="0" bIns="0" anchor="ctr">
            <a:spAutoFit/>
          </a:bodyPr>
          <a:lstStyle/>
          <a:p>
            <a:pPr algn="l"/>
            <a:r>
              <a:rPr sz="2000" b="1" i="0">
                <a:solidFill>
                  <a:srgbClr val="1F394D"/>
                </a:solidFill>
              </a:rPr>
              <a:t>Residuals and R²</a:t>
            </a:r>
          </a:p>
        </p:txBody>
      </p:sp>
      <p:sp>
        <p:nvSpPr>
          <p:cNvPr id="13" name="TextBox 12"/>
          <p:cNvSpPr txBox="1"/>
          <p:nvPr/>
        </p:nvSpPr>
        <p:spPr>
          <a:xfrm>
            <a:off x="7114032" y="2313432"/>
            <a:ext cx="4023360" cy="1097279"/>
          </a:xfrm>
          <a:prstGeom prst="rect">
            <a:avLst/>
          </a:prstGeom>
          <a:noFill/>
        </p:spPr>
        <p:txBody>
          <a:bodyPr wrap="square" lIns="0" tIns="0" rIns="0" bIns="0" anchor="t">
            <a:spAutoFit/>
          </a:bodyPr>
          <a:lstStyle/>
          <a:p>
            <a:pPr algn="l"/>
            <a:r>
              <a:rPr sz="1700" b="0" i="0">
                <a:solidFill>
                  <a:srgbClr val="1F2A33"/>
                </a:solidFill>
              </a:rPr>
              <a:t>What the line gets wrong, and the share of variation it explains.</a:t>
            </a:r>
          </a:p>
        </p:txBody>
      </p:sp>
      <p:sp>
        <p:nvSpPr>
          <p:cNvPr id="14" name="Card 3"/>
          <p:cNvSpPr/>
          <p:nvPr/>
        </p:nvSpPr>
        <p:spPr>
          <a:xfrm>
            <a:off x="758952" y="3749039"/>
            <a:ext cx="5212080" cy="2103120"/>
          </a:xfrm>
          <a:prstGeom prst="roundRect">
            <a:avLst>
              <a:gd name="adj" fmla="val 8000"/>
            </a:avLst>
          </a:prstGeom>
          <a:solidFill>
            <a:srgbClr val="EEF3F7"/>
          </a:solidFill>
          <a:ln>
            <a:noFill/>
          </a:ln>
        </p:spPr>
        <p:txBody>
          <a:bodyPr rtlCol="0" anchor="ctr"/>
          <a:lstStyle/>
          <a:p>
            <a:endParaRPr/>
          </a:p>
        </p:txBody>
      </p:sp>
      <p:sp>
        <p:nvSpPr>
          <p:cNvPr id="15" name="Oval 14"/>
          <p:cNvSpPr/>
          <p:nvPr/>
        </p:nvSpPr>
        <p:spPr>
          <a:xfrm>
            <a:off x="987552" y="3977639"/>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3</a:t>
            </a:r>
          </a:p>
        </p:txBody>
      </p:sp>
      <p:sp>
        <p:nvSpPr>
          <p:cNvPr id="16" name="TextBox 15"/>
          <p:cNvSpPr txBox="1"/>
          <p:nvPr/>
        </p:nvSpPr>
        <p:spPr>
          <a:xfrm>
            <a:off x="1719072" y="3950207"/>
            <a:ext cx="4023360" cy="640080"/>
          </a:xfrm>
          <a:prstGeom prst="rect">
            <a:avLst/>
          </a:prstGeom>
          <a:noFill/>
        </p:spPr>
        <p:txBody>
          <a:bodyPr wrap="square" lIns="0" tIns="0" rIns="0" bIns="0" anchor="ctr">
            <a:spAutoFit/>
          </a:bodyPr>
          <a:lstStyle/>
          <a:p>
            <a:pPr algn="l"/>
            <a:r>
              <a:rPr sz="2000" b="1" i="0">
                <a:solidFill>
                  <a:srgbClr val="1F394D"/>
                </a:solidFill>
              </a:rPr>
              <a:t>Adjusting, not controlling</a:t>
            </a:r>
          </a:p>
        </p:txBody>
      </p:sp>
      <p:sp>
        <p:nvSpPr>
          <p:cNvPr id="17" name="TextBox 16"/>
          <p:cNvSpPr txBox="1"/>
          <p:nvPr/>
        </p:nvSpPr>
        <p:spPr>
          <a:xfrm>
            <a:off x="1719072" y="4645152"/>
            <a:ext cx="4023360" cy="1097279"/>
          </a:xfrm>
          <a:prstGeom prst="rect">
            <a:avLst/>
          </a:prstGeom>
          <a:noFill/>
        </p:spPr>
        <p:txBody>
          <a:bodyPr wrap="square" lIns="0" tIns="0" rIns="0" bIns="0" anchor="t">
            <a:spAutoFit/>
          </a:bodyPr>
          <a:lstStyle/>
          <a:p>
            <a:pPr algn="l"/>
            <a:r>
              <a:rPr sz="1700" b="0" i="0">
                <a:solidFill>
                  <a:srgbClr val="1F2A33"/>
                </a:solidFill>
              </a:rPr>
              <a:t>Multiple regression compares like with like statistically, not experimentally.</a:t>
            </a:r>
          </a:p>
        </p:txBody>
      </p:sp>
      <p:sp>
        <p:nvSpPr>
          <p:cNvPr id="18" name="Card 4"/>
          <p:cNvSpPr/>
          <p:nvPr/>
        </p:nvSpPr>
        <p:spPr>
          <a:xfrm>
            <a:off x="6153912" y="3749039"/>
            <a:ext cx="5212080" cy="2103120"/>
          </a:xfrm>
          <a:prstGeom prst="roundRect">
            <a:avLst>
              <a:gd name="adj" fmla="val 8000"/>
            </a:avLst>
          </a:prstGeom>
          <a:solidFill>
            <a:srgbClr val="EEF3F7"/>
          </a:solidFill>
          <a:ln>
            <a:noFill/>
          </a:ln>
        </p:spPr>
        <p:txBody>
          <a:bodyPr rtlCol="0" anchor="ctr"/>
          <a:lstStyle/>
          <a:p>
            <a:endParaRPr/>
          </a:p>
        </p:txBody>
      </p:sp>
      <p:sp>
        <p:nvSpPr>
          <p:cNvPr id="19" name="Oval 18"/>
          <p:cNvSpPr/>
          <p:nvPr/>
        </p:nvSpPr>
        <p:spPr>
          <a:xfrm>
            <a:off x="6382512" y="3977639"/>
            <a:ext cx="566928" cy="566928"/>
          </a:xfrm>
          <a:prstGeom prst="ellipse">
            <a:avLst/>
          </a:prstGeom>
          <a:solidFill>
            <a:srgbClr val="1F394D"/>
          </a:solidFill>
          <a:ln>
            <a:noFill/>
          </a:ln>
        </p:spPr>
        <p:txBody>
          <a:bodyPr lIns="0" tIns="0" rIns="0" bIns="0" rtlCol="0" anchor="ctr"/>
          <a:lstStyle/>
          <a:p>
            <a:pPr algn="ctr"/>
            <a:r>
              <a:rPr sz="2000" b="1">
                <a:solidFill>
                  <a:srgbClr val="FFFFFF"/>
                </a:solidFill>
              </a:rPr>
              <a:t>4</a:t>
            </a:r>
          </a:p>
        </p:txBody>
      </p:sp>
      <p:sp>
        <p:nvSpPr>
          <p:cNvPr id="20" name="TextBox 19"/>
          <p:cNvSpPr txBox="1"/>
          <p:nvPr/>
        </p:nvSpPr>
        <p:spPr>
          <a:xfrm>
            <a:off x="7114032" y="3950207"/>
            <a:ext cx="4023360" cy="640080"/>
          </a:xfrm>
          <a:prstGeom prst="rect">
            <a:avLst/>
          </a:prstGeom>
          <a:noFill/>
        </p:spPr>
        <p:txBody>
          <a:bodyPr wrap="square" lIns="0" tIns="0" rIns="0" bIns="0" anchor="ctr">
            <a:spAutoFit/>
          </a:bodyPr>
          <a:lstStyle/>
          <a:p>
            <a:pPr algn="l"/>
            <a:r>
              <a:rPr sz="2000" b="1" i="0">
                <a:solidFill>
                  <a:srgbClr val="1F394D"/>
                </a:solidFill>
              </a:rPr>
              <a:t>Categories are gaps</a:t>
            </a:r>
          </a:p>
        </p:txBody>
      </p:sp>
      <p:sp>
        <p:nvSpPr>
          <p:cNvPr id="21" name="TextBox 20"/>
          <p:cNvSpPr txBox="1"/>
          <p:nvPr/>
        </p:nvSpPr>
        <p:spPr>
          <a:xfrm>
            <a:off x="7114032" y="4645152"/>
            <a:ext cx="4023360" cy="1097279"/>
          </a:xfrm>
          <a:prstGeom prst="rect">
            <a:avLst/>
          </a:prstGeom>
          <a:noFill/>
        </p:spPr>
        <p:txBody>
          <a:bodyPr wrap="square" lIns="0" tIns="0" rIns="0" bIns="0" anchor="t">
            <a:spAutoFit/>
          </a:bodyPr>
          <a:lstStyle/>
          <a:p>
            <a:pPr algn="l"/>
            <a:r>
              <a:rPr sz="1700" b="0" i="0">
                <a:solidFill>
                  <a:srgbClr val="1F2A33"/>
                </a:solidFill>
              </a:rPr>
              <a:t>Each category’s coefficient is its difference from the reference group.</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2CBA3A-E59C-1E5C-37CA-CD0F1E185ED5}"/>
              </a:ext>
            </a:extLst>
          </p:cNvPr>
          <p:cNvSpPr>
            <a:spLocks noGrp="1"/>
          </p:cNvSpPr>
          <p:nvPr>
            <p:ph type="title"/>
          </p:nvPr>
        </p:nvSpPr>
        <p:spPr/>
        <p:txBody>
          <a:bodyPr/>
          <a:lstStyle/>
          <a:p>
            <a:r>
              <a:rPr lang="en-GB" dirty="0"/>
              <a:t>Workshop</a:t>
            </a:r>
          </a:p>
        </p:txBody>
      </p:sp>
      <p:sp>
        <p:nvSpPr>
          <p:cNvPr id="8" name="Text Placeholder 7">
            <a:extLst>
              <a:ext uri="{FF2B5EF4-FFF2-40B4-BE49-F238E27FC236}">
                <a16:creationId xmlns:a16="http://schemas.microsoft.com/office/drawing/2014/main" id="{636F7FD2-53FA-4A51-9681-6FC5C8960063}"/>
              </a:ext>
            </a:extLst>
          </p:cNvPr>
          <p:cNvSpPr>
            <a:spLocks noGrp="1"/>
          </p:cNvSpPr>
          <p:nvPr>
            <p:ph type="body" sz="half" idx="2"/>
          </p:nvPr>
        </p:nvSpPr>
        <p:spPr/>
        <p:txBody>
          <a:bodyPr/>
          <a:lstStyle/>
          <a:p>
            <a:r>
              <a:rPr lang="en-GB" dirty="0"/>
              <a:t>3-</a:t>
            </a:r>
            <a:r>
              <a:rPr lang="en-GB" dirty="0" err="1"/>
              <a:t>5pm</a:t>
            </a:r>
            <a:endParaRPr lang="en-GB" dirty="0"/>
          </a:p>
        </p:txBody>
      </p:sp>
      <p:sp>
        <p:nvSpPr>
          <p:cNvPr id="4" name="Date Placeholder 3">
            <a:extLst>
              <a:ext uri="{FF2B5EF4-FFF2-40B4-BE49-F238E27FC236}">
                <a16:creationId xmlns:a16="http://schemas.microsoft.com/office/drawing/2014/main" id="{7452334B-2A42-251C-845C-1CED233665F2}"/>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5" name="Footer Placeholder 4">
            <a:extLst>
              <a:ext uri="{FF2B5EF4-FFF2-40B4-BE49-F238E27FC236}">
                <a16:creationId xmlns:a16="http://schemas.microsoft.com/office/drawing/2014/main" id="{E7848055-4F62-3048-C4D2-554FF0041ADC}"/>
              </a:ext>
            </a:extLst>
          </p:cNvPr>
          <p:cNvSpPr>
            <a:spLocks noGrp="1"/>
          </p:cNvSpPr>
          <p:nvPr>
            <p:ph type="ftr" sz="quarter" idx="11"/>
          </p:nvPr>
        </p:nvSpPr>
        <p:spPr/>
        <p:txBody>
          <a:bodyPr/>
          <a:lstStyle/>
          <a:p>
            <a:r>
              <a:rPr lang="en-GB"/>
              <a:t>Modelling continuous outcomes</a:t>
            </a:r>
            <a:endParaRPr lang="en-GB" dirty="0"/>
          </a:p>
        </p:txBody>
      </p:sp>
      <p:sp>
        <p:nvSpPr>
          <p:cNvPr id="6" name="Slide Number Placeholder 5">
            <a:extLst>
              <a:ext uri="{FF2B5EF4-FFF2-40B4-BE49-F238E27FC236}">
                <a16:creationId xmlns:a16="http://schemas.microsoft.com/office/drawing/2014/main" id="{70535960-24E1-CFDC-22DF-A828C2B2C10E}"/>
              </a:ext>
            </a:extLst>
          </p:cNvPr>
          <p:cNvSpPr>
            <a:spLocks noGrp="1"/>
          </p:cNvSpPr>
          <p:nvPr>
            <p:ph type="sldNum" sz="quarter" idx="12"/>
          </p:nvPr>
        </p:nvSpPr>
        <p:spPr/>
        <p:txBody>
          <a:bodyPr/>
          <a:lstStyle/>
          <a:p>
            <a:fld id="{9FAA51BB-2FC0-4DB8-B50E-F52D50E733B6}" type="slidenum">
              <a:rPr lang="en-GB" smtClean="0"/>
              <a:pPr/>
              <a:t>30</a:t>
            </a:fld>
            <a:endParaRPr lang="en-GB" dirty="0"/>
          </a:p>
        </p:txBody>
      </p:sp>
    </p:spTree>
    <p:extLst>
      <p:ext uri="{BB962C8B-B14F-4D97-AF65-F5344CB8AC3E}">
        <p14:creationId xmlns:p14="http://schemas.microsoft.com/office/powerpoint/2010/main" val="2531294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AE4DB1-6B08-6AEB-B597-8064268FD9C5}"/>
              </a:ext>
            </a:extLst>
          </p:cNvPr>
          <p:cNvSpPr>
            <a:spLocks noGrp="1"/>
          </p:cNvSpPr>
          <p:nvPr>
            <p:ph type="dt" sz="half" idx="10"/>
          </p:nvPr>
        </p:nvSpPr>
        <p:spPr/>
        <p:txBody>
          <a:bodyPr/>
          <a:lstStyle/>
          <a:p>
            <a:fld id="{F1080D8F-B607-47BB-96CB-8638525C1338}" type="datetime3">
              <a:rPr lang="en-GB"/>
              <a:t>13 October, 2026</a:t>
            </a:fld>
            <a:endParaRPr lang="en-GB"/>
          </a:p>
        </p:txBody>
      </p:sp>
      <p:sp>
        <p:nvSpPr>
          <p:cNvPr id="3" name="Footer Placeholder 2">
            <a:extLst>
              <a:ext uri="{FF2B5EF4-FFF2-40B4-BE49-F238E27FC236}">
                <a16:creationId xmlns:a16="http://schemas.microsoft.com/office/drawing/2014/main" id="{D6F2723A-2C1C-2AB6-3420-9BD762F766DF}"/>
              </a:ext>
            </a:extLst>
          </p:cNvPr>
          <p:cNvSpPr>
            <a:spLocks noGrp="1"/>
          </p:cNvSpPr>
          <p:nvPr>
            <p:ph type="ftr" sz="quarter" idx="11"/>
          </p:nvPr>
        </p:nvSpPr>
        <p:spPr/>
        <p:txBody>
          <a:bodyPr/>
          <a:lstStyle/>
          <a:p>
            <a:r>
              <a:rPr lang="en-GB"/>
              <a:t>Modelling continuous outcomes</a:t>
            </a:r>
          </a:p>
        </p:txBody>
      </p:sp>
      <p:sp>
        <p:nvSpPr>
          <p:cNvPr id="4" name="Slide Number Placeholder 3">
            <a:extLst>
              <a:ext uri="{FF2B5EF4-FFF2-40B4-BE49-F238E27FC236}">
                <a16:creationId xmlns:a16="http://schemas.microsoft.com/office/drawing/2014/main" id="{E9AFD3A0-9074-636F-30B6-C6C650C3F58D}"/>
              </a:ext>
            </a:extLst>
          </p:cNvPr>
          <p:cNvSpPr>
            <a:spLocks noGrp="1"/>
          </p:cNvSpPr>
          <p:nvPr>
            <p:ph type="sldNum" sz="quarter" idx="12"/>
          </p:nvPr>
        </p:nvSpPr>
        <p:spPr>
          <a:xfrm>
            <a:off x="9900458" y="6459785"/>
            <a:ext cx="1312025" cy="365125"/>
          </a:xfrm>
        </p:spPr>
        <p:txBody>
          <a:bodyPr/>
          <a:lstStyle/>
          <a:p>
            <a:fld id="{9FAA51BB-2FC0-4DB8-B50E-F52D50E733B6}" type="slidenum">
              <a:rPr lang="en-GB" smtClean="0"/>
              <a:t>31</a:t>
            </a:fld>
            <a:endParaRPr lang="en-GB"/>
          </a:p>
        </p:txBody>
      </p:sp>
    </p:spTree>
    <p:extLst>
      <p:ext uri="{BB962C8B-B14F-4D97-AF65-F5344CB8AC3E}">
        <p14:creationId xmlns:p14="http://schemas.microsoft.com/office/powerpoint/2010/main" val="28580937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Retrospect">
  <a:themeElements>
    <a:clrScheme name="Moreh">
      <a:dk1>
        <a:srgbClr val="000000"/>
      </a:dk1>
      <a:lt1>
        <a:sysClr val="window" lastClr="FFFFFF"/>
      </a:lt1>
      <a:dk2>
        <a:srgbClr val="637052"/>
      </a:dk2>
      <a:lt2>
        <a:srgbClr val="CCDDEA"/>
      </a:lt2>
      <a:accent1>
        <a:srgbClr val="3F739B"/>
      </a:accent1>
      <a:accent2>
        <a:srgbClr val="1F394D"/>
      </a:accent2>
      <a:accent3>
        <a:srgbClr val="865640"/>
      </a:accent3>
      <a:accent4>
        <a:srgbClr val="9B8357"/>
      </a:accent4>
      <a:accent5>
        <a:srgbClr val="C2BC80"/>
      </a:accent5>
      <a:accent6>
        <a:srgbClr val="94A088"/>
      </a:accent6>
      <a:hlink>
        <a:srgbClr val="B88C00"/>
      </a:hlink>
      <a:folHlink>
        <a:srgbClr val="B88C0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Moreh template.pptx" id="{976FE89A-DE24-46CA-AC0C-F592F46D6A11}" vid="{6FA3B6B4-ED01-4468-97EF-FE3176612C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24.07.16-Osaka</Template>
  <TotalTime>3668</TotalTime>
  <Words>3343</Words>
  <Application>Microsoft Office PowerPoint</Application>
  <PresentationFormat>Widescreen</PresentationFormat>
  <Paragraphs>534</Paragraphs>
  <Slides>31</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Arial Narrow</vt:lpstr>
      <vt:lpstr>Arial Nova Cond Light</vt:lpstr>
      <vt:lpstr>Calibri</vt:lpstr>
      <vt:lpstr>Calibri Light</vt:lpstr>
      <vt:lpstr>Courier New</vt:lpstr>
      <vt:lpstr>Wingdings</vt:lpstr>
      <vt:lpstr>Retrospect</vt:lpstr>
      <vt:lpstr>PowerPoint Presentation</vt:lpstr>
      <vt:lpstr>Week 3</vt:lpstr>
      <vt:lpstr>Today</vt:lpstr>
      <vt:lpstr>From correlation to regression</vt:lpstr>
      <vt:lpstr>What a regression line does</vt:lpstr>
      <vt:lpstr>The “best” line: least squares</vt:lpstr>
      <vt:lpstr>Always plot first: Anscombe’s quartet</vt:lpstr>
      <vt:lpstr>Inequality and trust: a simple regression</vt:lpstr>
      <vt:lpstr>The line through 23 countries</vt:lpstr>
      <vt:lpstr>Reading the JASP output</vt:lpstr>
      <vt:lpstr>Predictions and residuals</vt:lpstr>
      <vt:lpstr>Activity: predict it</vt:lpstr>
      <vt:lpstr>Predict it: answers</vt:lpstr>
      <vt:lpstr>R²: how much of the variation the line explains</vt:lpstr>
      <vt:lpstr>Units matter: unstandardized and standardized</vt:lpstr>
      <vt:lpstr>Adding predictors: multiple regression</vt:lpstr>
      <vt:lpstr>Why add another predictor?</vt:lpstr>
      <vt:lpstr>Inequality and homicides, alone and together</vt:lpstr>
      <vt:lpstr>What “holding constant” means</vt:lpstr>
      <vt:lpstr>Activity: true or false?</vt:lpstr>
      <vt:lpstr>True or false: answers</vt:lpstr>
      <vt:lpstr>Categorical predictors</vt:lpstr>
      <vt:lpstr>Trust across world regions</vt:lpstr>
      <vt:lpstr>How regression handles categories</vt:lpstr>
      <vt:lpstr>A two-category predictor: Protestant tradition</vt:lpstr>
      <vt:lpstr>Activity: use the region coefficients</vt:lpstr>
      <vt:lpstr>Region coefficients: answers</vt:lpstr>
      <vt:lpstr>Before you trust a regression line</vt:lpstr>
      <vt:lpstr>Key takeaways</vt:lpstr>
      <vt:lpstr>Workshop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Moreh</dc:creator>
  <cp:lastModifiedBy>Chris Moreh</cp:lastModifiedBy>
  <cp:revision>7</cp:revision>
  <dcterms:created xsi:type="dcterms:W3CDTF">2024-07-11T13:35:49Z</dcterms:created>
  <dcterms:modified xsi:type="dcterms:W3CDTF">2026-10-13T11:53:57Z</dcterms:modified>
</cp:coreProperties>
</file>