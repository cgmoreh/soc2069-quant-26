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21.xml" ContentType="application/vnd.openxmlformats-officedocument.presentationml.notesSlide+xml"/>
  <Override PartName="/ppt/charts/chart7.xml" ContentType="application/vnd.openxmlformats-officedocument.drawingml.chart+xml"/>
  <Override PartName="/ppt/notesSlides/notesSlide22.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notesSlides/notesSlide23.xml" ContentType="application/vnd.openxmlformats-officedocument.presentationml.notesSlide+xml"/>
  <Override PartName="/ppt/charts/chart1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3.xml" ContentType="application/vnd.openxmlformats-officedocument.drawingml.chart+xml"/>
  <Override PartName="/ppt/notesSlides/notesSlide27.xml" ContentType="application/vnd.openxmlformats-officedocument.presentationml.notesSlide+xml"/>
  <Override PartName="/ppt/charts/chart14.xml" ContentType="application/vnd.openxmlformats-officedocument.drawingml.chart+xml"/>
  <Override PartName="/ppt/charts/chart15.xml" ContentType="application/vnd.openxmlformats-officedocument.drawingml.chart+xml"/>
  <Override PartName="/ppt/notesSlides/notesSlide28.xml" ContentType="application/vnd.openxmlformats-officedocument.presentationml.notesSlide+xml"/>
  <Override PartName="/ppt/charts/chart16.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60" r:id="rId1"/>
  </p:sldMasterIdLst>
  <p:notesMasterIdLst>
    <p:notesMasterId r:id="rId44"/>
  </p:notesMasterIdLst>
  <p:handoutMasterIdLst>
    <p:handoutMasterId r:id="rId45"/>
  </p:handoutMasterIdLst>
  <p:sldIdLst>
    <p:sldId id="256" r:id="rId2"/>
    <p:sldId id="307" r:id="rId3"/>
    <p:sldId id="539" r:id="rId4"/>
    <p:sldId id="540" r:id="rId5"/>
    <p:sldId id="541" r:id="rId6"/>
    <p:sldId id="542" r:id="rId7"/>
    <p:sldId id="543" r:id="rId8"/>
    <p:sldId id="544" r:id="rId9"/>
    <p:sldId id="545" r:id="rId10"/>
    <p:sldId id="564" r:id="rId11"/>
    <p:sldId id="565" r:id="rId12"/>
    <p:sldId id="566" r:id="rId13"/>
    <p:sldId id="547" r:id="rId14"/>
    <p:sldId id="567" r:id="rId15"/>
    <p:sldId id="548" r:id="rId16"/>
    <p:sldId id="549" r:id="rId17"/>
    <p:sldId id="550" r:id="rId18"/>
    <p:sldId id="401" r:id="rId19"/>
    <p:sldId id="403" r:id="rId20"/>
    <p:sldId id="404" r:id="rId21"/>
    <p:sldId id="405" r:id="rId22"/>
    <p:sldId id="406" r:id="rId23"/>
    <p:sldId id="551" r:id="rId24"/>
    <p:sldId id="552" r:id="rId25"/>
    <p:sldId id="553" r:id="rId26"/>
    <p:sldId id="554" r:id="rId27"/>
    <p:sldId id="555" r:id="rId28"/>
    <p:sldId id="556" r:id="rId29"/>
    <p:sldId id="557" r:id="rId30"/>
    <p:sldId id="558" r:id="rId31"/>
    <p:sldId id="530" r:id="rId32"/>
    <p:sldId id="290" r:id="rId33"/>
    <p:sldId id="559" r:id="rId34"/>
    <p:sldId id="560" r:id="rId35"/>
    <p:sldId id="561" r:id="rId36"/>
    <p:sldId id="562" r:id="rId37"/>
    <p:sldId id="568" r:id="rId38"/>
    <p:sldId id="569" r:id="rId39"/>
    <p:sldId id="563" r:id="rId40"/>
    <p:sldId id="523" r:id="rId41"/>
    <p:sldId id="354" r:id="rId42"/>
    <p:sldId id="260"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E7B8"/>
    <a:srgbClr val="E4C8C8"/>
    <a:srgbClr val="3F739B"/>
    <a:srgbClr val="EEBE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459757-BAE9-40C6-8331-AE1D75EB0288}" v="14" dt="2025-11-17T10:59:26.2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7085" autoAdjust="0"/>
  </p:normalViewPr>
  <p:slideViewPr>
    <p:cSldViewPr snapToGrid="0">
      <p:cViewPr varScale="1">
        <p:scale>
          <a:sx n="77" d="100"/>
          <a:sy n="77" d="100"/>
        </p:scale>
        <p:origin x="91" y="283"/>
      </p:cViewPr>
      <p:guideLst/>
    </p:cSldViewPr>
  </p:slideViewPr>
  <p:notesTextViewPr>
    <p:cViewPr>
      <p:scale>
        <a:sx n="1" d="1"/>
        <a:sy n="1" d="1"/>
      </p:scale>
      <p:origin x="0" y="0"/>
    </p:cViewPr>
  </p:notesTextViewPr>
  <p:sorterViewPr>
    <p:cViewPr>
      <p:scale>
        <a:sx n="100" d="100"/>
        <a:sy n="100" d="100"/>
      </p:scale>
      <p:origin x="0" y="-18053"/>
    </p:cViewPr>
  </p:sorterViewPr>
  <p:notesViewPr>
    <p:cSldViewPr snapToGrid="0">
      <p:cViewPr varScale="1">
        <p:scale>
          <a:sx n="55" d="100"/>
          <a:sy n="55" d="100"/>
        </p:scale>
        <p:origin x="1676"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Moreh" userId="17b81281-9f29-44e0-9273-6dadbf6896a2" providerId="ADAL" clId="{BCF66164-2C9C-4B48-AFF3-6B0B0038345A}"/>
    <pc:docChg chg="undo custSel delSld modSld sldOrd">
      <pc:chgData name="Chris Moreh" userId="17b81281-9f29-44e0-9273-6dadbf6896a2" providerId="ADAL" clId="{BCF66164-2C9C-4B48-AFF3-6B0B0038345A}" dt="2025-11-17T10:59:51.736" v="83" actId="47"/>
      <pc:docMkLst>
        <pc:docMk/>
      </pc:docMkLst>
      <pc:sldChg chg="addSp delSp modSp del mod">
        <pc:chgData name="Chris Moreh" userId="17b81281-9f29-44e0-9273-6dadbf6896a2" providerId="ADAL" clId="{BCF66164-2C9C-4B48-AFF3-6B0B0038345A}" dt="2025-11-17T10:59:42.357" v="78" actId="47"/>
        <pc:sldMkLst>
          <pc:docMk/>
          <pc:sldMk cId="0" sldId="267"/>
        </pc:sldMkLst>
        <pc:picChg chg="del">
          <ac:chgData name="Chris Moreh" userId="17b81281-9f29-44e0-9273-6dadbf6896a2" providerId="ADAL" clId="{BCF66164-2C9C-4B48-AFF3-6B0B0038345A}" dt="2025-11-17T10:56:02.085" v="36" actId="478"/>
          <ac:picMkLst>
            <pc:docMk/>
            <pc:sldMk cId="0" sldId="267"/>
            <ac:picMk id="2" creationId="{00000000-0000-0000-0000-000000000000}"/>
          </ac:picMkLst>
        </pc:picChg>
        <pc:picChg chg="add mod">
          <ac:chgData name="Chris Moreh" userId="17b81281-9f29-44e0-9273-6dadbf6896a2" providerId="ADAL" clId="{BCF66164-2C9C-4B48-AFF3-6B0B0038345A}" dt="2025-11-17T10:56:09.011" v="39" actId="1076"/>
          <ac:picMkLst>
            <pc:docMk/>
            <pc:sldMk cId="0" sldId="267"/>
            <ac:picMk id="4" creationId="{7F342D58-4A5E-73E9-93EE-A93521AC6823}"/>
          </ac:picMkLst>
        </pc:picChg>
      </pc:sldChg>
      <pc:sldChg chg="del">
        <pc:chgData name="Chris Moreh" userId="17b81281-9f29-44e0-9273-6dadbf6896a2" providerId="ADAL" clId="{BCF66164-2C9C-4B48-AFF3-6B0B0038345A}" dt="2025-11-17T10:59:44.416" v="79" actId="47"/>
        <pc:sldMkLst>
          <pc:docMk/>
          <pc:sldMk cId="0" sldId="268"/>
        </pc:sldMkLst>
      </pc:sldChg>
      <pc:sldChg chg="del">
        <pc:chgData name="Chris Moreh" userId="17b81281-9f29-44e0-9273-6dadbf6896a2" providerId="ADAL" clId="{BCF66164-2C9C-4B48-AFF3-6B0B0038345A}" dt="2025-11-17T10:59:46.041" v="80" actId="47"/>
        <pc:sldMkLst>
          <pc:docMk/>
          <pc:sldMk cId="0" sldId="269"/>
        </pc:sldMkLst>
      </pc:sldChg>
      <pc:sldChg chg="del">
        <pc:chgData name="Chris Moreh" userId="17b81281-9f29-44e0-9273-6dadbf6896a2" providerId="ADAL" clId="{BCF66164-2C9C-4B48-AFF3-6B0B0038345A}" dt="2025-11-17T10:59:47.428" v="81" actId="47"/>
        <pc:sldMkLst>
          <pc:docMk/>
          <pc:sldMk cId="0" sldId="270"/>
        </pc:sldMkLst>
      </pc:sldChg>
      <pc:sldChg chg="del">
        <pc:chgData name="Chris Moreh" userId="17b81281-9f29-44e0-9273-6dadbf6896a2" providerId="ADAL" clId="{BCF66164-2C9C-4B48-AFF3-6B0B0038345A}" dt="2025-11-17T10:59:49.612" v="82" actId="47"/>
        <pc:sldMkLst>
          <pc:docMk/>
          <pc:sldMk cId="0" sldId="272"/>
        </pc:sldMkLst>
      </pc:sldChg>
      <pc:sldChg chg="del">
        <pc:chgData name="Chris Moreh" userId="17b81281-9f29-44e0-9273-6dadbf6896a2" providerId="ADAL" clId="{BCF66164-2C9C-4B48-AFF3-6B0B0038345A}" dt="2025-11-17T10:59:51.736" v="83" actId="47"/>
        <pc:sldMkLst>
          <pc:docMk/>
          <pc:sldMk cId="0" sldId="273"/>
        </pc:sldMkLst>
      </pc:sldChg>
      <pc:sldChg chg="delSp modSp mod">
        <pc:chgData name="Chris Moreh" userId="17b81281-9f29-44e0-9273-6dadbf6896a2" providerId="ADAL" clId="{BCF66164-2C9C-4B48-AFF3-6B0B0038345A}" dt="2025-11-17T09:40:02.105" v="2" actId="478"/>
        <pc:sldMkLst>
          <pc:docMk/>
          <pc:sldMk cId="3814459198" sldId="307"/>
        </pc:sldMkLst>
        <pc:spChg chg="del">
          <ac:chgData name="Chris Moreh" userId="17b81281-9f29-44e0-9273-6dadbf6896a2" providerId="ADAL" clId="{BCF66164-2C9C-4B48-AFF3-6B0B0038345A}" dt="2025-11-17T09:40:02.105" v="2" actId="478"/>
          <ac:spMkLst>
            <pc:docMk/>
            <pc:sldMk cId="3814459198" sldId="307"/>
            <ac:spMk id="3" creationId="{746383FB-FAD5-ACBF-8362-99A44C5BACCD}"/>
          </ac:spMkLst>
        </pc:spChg>
        <pc:spChg chg="mod">
          <ac:chgData name="Chris Moreh" userId="17b81281-9f29-44e0-9273-6dadbf6896a2" providerId="ADAL" clId="{BCF66164-2C9C-4B48-AFF3-6B0B0038345A}" dt="2025-11-17T09:39:49.043" v="1" actId="20577"/>
          <ac:spMkLst>
            <pc:docMk/>
            <pc:sldMk cId="3814459198" sldId="307"/>
            <ac:spMk id="6" creationId="{24060982-6EE3-A8F1-75FE-C4BDB2FF3CBE}"/>
          </ac:spMkLst>
        </pc:spChg>
      </pc:sldChg>
      <pc:sldChg chg="modSp mod">
        <pc:chgData name="Chris Moreh" userId="17b81281-9f29-44e0-9273-6dadbf6896a2" providerId="ADAL" clId="{BCF66164-2C9C-4B48-AFF3-6B0B0038345A}" dt="2025-11-17T09:42:23.856" v="26" actId="14100"/>
        <pc:sldMkLst>
          <pc:docMk/>
          <pc:sldMk cId="3523596212" sldId="518"/>
        </pc:sldMkLst>
        <pc:spChg chg="mod">
          <ac:chgData name="Chris Moreh" userId="17b81281-9f29-44e0-9273-6dadbf6896a2" providerId="ADAL" clId="{BCF66164-2C9C-4B48-AFF3-6B0B0038345A}" dt="2025-11-17T09:42:23.856" v="26" actId="14100"/>
          <ac:spMkLst>
            <pc:docMk/>
            <pc:sldMk cId="3523596212" sldId="518"/>
            <ac:spMk id="13" creationId="{2C10D394-C9B2-B03C-4136-7B6EEA8FFA9D}"/>
          </ac:spMkLst>
        </pc:spChg>
      </pc:sldChg>
      <pc:sldChg chg="delSp mod">
        <pc:chgData name="Chris Moreh" userId="17b81281-9f29-44e0-9273-6dadbf6896a2" providerId="ADAL" clId="{BCF66164-2C9C-4B48-AFF3-6B0B0038345A}" dt="2025-11-17T09:40:06.632" v="3" actId="478"/>
        <pc:sldMkLst>
          <pc:docMk/>
          <pc:sldMk cId="1301853266" sldId="523"/>
        </pc:sldMkLst>
        <pc:spChg chg="del">
          <ac:chgData name="Chris Moreh" userId="17b81281-9f29-44e0-9273-6dadbf6896a2" providerId="ADAL" clId="{BCF66164-2C9C-4B48-AFF3-6B0B0038345A}" dt="2025-11-17T09:40:06.632" v="3" actId="478"/>
          <ac:spMkLst>
            <pc:docMk/>
            <pc:sldMk cId="1301853266" sldId="523"/>
            <ac:spMk id="4" creationId="{5F74CD3D-6209-B71E-328E-3CEE4431F3F5}"/>
          </ac:spMkLst>
        </pc:spChg>
      </pc:sldChg>
      <pc:sldChg chg="addSp delSp modSp mod">
        <pc:chgData name="Chris Moreh" userId="17b81281-9f29-44e0-9273-6dadbf6896a2" providerId="ADAL" clId="{BCF66164-2C9C-4B48-AFF3-6B0B0038345A}" dt="2025-11-17T10:57:07.419" v="51" actId="1076"/>
        <pc:sldMkLst>
          <pc:docMk/>
          <pc:sldMk cId="1632811419" sldId="532"/>
        </pc:sldMkLst>
        <pc:spChg chg="del">
          <ac:chgData name="Chris Moreh" userId="17b81281-9f29-44e0-9273-6dadbf6896a2" providerId="ADAL" clId="{BCF66164-2C9C-4B48-AFF3-6B0B0038345A}" dt="2025-11-17T10:54:53.789" v="27" actId="478"/>
          <ac:spMkLst>
            <pc:docMk/>
            <pc:sldMk cId="1632811419" sldId="532"/>
            <ac:spMk id="3" creationId="{A0360E62-B99A-5AC6-2377-CB188A7B5947}"/>
          </ac:spMkLst>
        </pc:spChg>
        <pc:spChg chg="add">
          <ac:chgData name="Chris Moreh" userId="17b81281-9f29-44e0-9273-6dadbf6896a2" providerId="ADAL" clId="{BCF66164-2C9C-4B48-AFF3-6B0B0038345A}" dt="2025-11-17T10:55:49.081" v="35"/>
          <ac:spMkLst>
            <pc:docMk/>
            <pc:sldMk cId="1632811419" sldId="532"/>
            <ac:spMk id="9" creationId="{B1B48C0A-3995-1ACC-F209-563ADC8324AA}"/>
          </ac:spMkLst>
        </pc:spChg>
        <pc:picChg chg="add mod">
          <ac:chgData name="Chris Moreh" userId="17b81281-9f29-44e0-9273-6dadbf6896a2" providerId="ADAL" clId="{BCF66164-2C9C-4B48-AFF3-6B0B0038345A}" dt="2025-11-17T10:56:37.757" v="43" actId="1076"/>
          <ac:picMkLst>
            <pc:docMk/>
            <pc:sldMk cId="1632811419" sldId="532"/>
            <ac:picMk id="8" creationId="{1C939899-AAC6-7F95-E223-0F6C6CCD0555}"/>
          </ac:picMkLst>
        </pc:picChg>
        <pc:picChg chg="add mod">
          <ac:chgData name="Chris Moreh" userId="17b81281-9f29-44e0-9273-6dadbf6896a2" providerId="ADAL" clId="{BCF66164-2C9C-4B48-AFF3-6B0B0038345A}" dt="2025-11-17T10:57:07.419" v="51" actId="1076"/>
          <ac:picMkLst>
            <pc:docMk/>
            <pc:sldMk cId="1632811419" sldId="532"/>
            <ac:picMk id="10" creationId="{AA75667C-EB3D-782B-21C4-3B79C3A32C05}"/>
          </ac:picMkLst>
        </pc:picChg>
        <pc:picChg chg="add mod">
          <ac:chgData name="Chris Moreh" userId="17b81281-9f29-44e0-9273-6dadbf6896a2" providerId="ADAL" clId="{BCF66164-2C9C-4B48-AFF3-6B0B0038345A}" dt="2025-11-17T10:57:05.715" v="50" actId="1076"/>
          <ac:picMkLst>
            <pc:docMk/>
            <pc:sldMk cId="1632811419" sldId="532"/>
            <ac:picMk id="11" creationId="{59EB5CC9-0046-0415-85AB-2927315EF7B5}"/>
          </ac:picMkLst>
        </pc:picChg>
        <pc:picChg chg="add">
          <ac:chgData name="Chris Moreh" userId="17b81281-9f29-44e0-9273-6dadbf6896a2" providerId="ADAL" clId="{BCF66164-2C9C-4B48-AFF3-6B0B0038345A}" dt="2025-11-17T10:55:49.081" v="35"/>
          <ac:picMkLst>
            <pc:docMk/>
            <pc:sldMk cId="1632811419" sldId="532"/>
            <ac:picMk id="1026" creationId="{83ECE266-590D-C10B-6FD0-C07B60979C51}"/>
          </ac:picMkLst>
        </pc:picChg>
      </pc:sldChg>
      <pc:sldChg chg="addSp delSp modSp mod ord">
        <pc:chgData name="Chris Moreh" userId="17b81281-9f29-44e0-9273-6dadbf6896a2" providerId="ADAL" clId="{BCF66164-2C9C-4B48-AFF3-6B0B0038345A}" dt="2025-11-17T10:58:55.803" v="73"/>
        <pc:sldMkLst>
          <pc:docMk/>
          <pc:sldMk cId="4111163125" sldId="533"/>
        </pc:sldMkLst>
        <pc:spChg chg="del mod">
          <ac:chgData name="Chris Moreh" userId="17b81281-9f29-44e0-9273-6dadbf6896a2" providerId="ADAL" clId="{BCF66164-2C9C-4B48-AFF3-6B0B0038345A}" dt="2025-11-17T10:58:35.724" v="65" actId="478"/>
          <ac:spMkLst>
            <pc:docMk/>
            <pc:sldMk cId="4111163125" sldId="533"/>
            <ac:spMk id="4" creationId="{3437FD75-68B6-1739-F774-11BC3DF693CF}"/>
          </ac:spMkLst>
        </pc:spChg>
        <pc:picChg chg="add mod">
          <ac:chgData name="Chris Moreh" userId="17b81281-9f29-44e0-9273-6dadbf6896a2" providerId="ADAL" clId="{BCF66164-2C9C-4B48-AFF3-6B0B0038345A}" dt="2025-11-17T10:58:47.367" v="71" actId="14100"/>
          <ac:picMkLst>
            <pc:docMk/>
            <pc:sldMk cId="4111163125" sldId="533"/>
            <ac:picMk id="3" creationId="{DE010E7E-0D49-8A47-3DE4-24EA1F7447FF}"/>
          </ac:picMkLst>
        </pc:picChg>
        <pc:picChg chg="del">
          <ac:chgData name="Chris Moreh" userId="17b81281-9f29-44e0-9273-6dadbf6896a2" providerId="ADAL" clId="{BCF66164-2C9C-4B48-AFF3-6B0B0038345A}" dt="2025-11-17T10:57:53.005" v="57" actId="478"/>
          <ac:picMkLst>
            <pc:docMk/>
            <pc:sldMk cId="4111163125" sldId="533"/>
            <ac:picMk id="2053" creationId="{C1B84274-D26E-E237-668F-6891FDB12083}"/>
          </ac:picMkLst>
        </pc:picChg>
      </pc:sldChg>
      <pc:sldChg chg="addSp delSp modSp mod">
        <pc:chgData name="Chris Moreh" userId="17b81281-9f29-44e0-9273-6dadbf6896a2" providerId="ADAL" clId="{BCF66164-2C9C-4B48-AFF3-6B0B0038345A}" dt="2025-11-17T10:57:43.436" v="56" actId="14100"/>
        <pc:sldMkLst>
          <pc:docMk/>
          <pc:sldMk cId="2695840908" sldId="537"/>
        </pc:sldMkLst>
        <pc:graphicFrameChg chg="del">
          <ac:chgData name="Chris Moreh" userId="17b81281-9f29-44e0-9273-6dadbf6896a2" providerId="ADAL" clId="{BCF66164-2C9C-4B48-AFF3-6B0B0038345A}" dt="2025-11-17T10:57:13.145" v="52" actId="478"/>
          <ac:graphicFrameMkLst>
            <pc:docMk/>
            <pc:sldMk cId="2695840908" sldId="537"/>
            <ac:graphicFrameMk id="3" creationId="{A0C14315-CCEC-5435-D7AF-9C6F17DEDE08}"/>
          </ac:graphicFrameMkLst>
        </pc:graphicFrameChg>
        <pc:picChg chg="add mod">
          <ac:chgData name="Chris Moreh" userId="17b81281-9f29-44e0-9273-6dadbf6896a2" providerId="ADAL" clId="{BCF66164-2C9C-4B48-AFF3-6B0B0038345A}" dt="2025-11-17T10:57:43.436" v="56" actId="14100"/>
          <ac:picMkLst>
            <pc:docMk/>
            <pc:sldMk cId="2695840908" sldId="537"/>
            <ac:picMk id="7" creationId="{FD1CD5BA-6BF3-8FB9-CA58-B2F778191513}"/>
          </ac:picMkLst>
        </pc:picChg>
      </pc:sldChg>
      <pc:sldChg chg="addSp delSp modSp mod">
        <pc:chgData name="Chris Moreh" userId="17b81281-9f29-44e0-9273-6dadbf6896a2" providerId="ADAL" clId="{BCF66164-2C9C-4B48-AFF3-6B0B0038345A}" dt="2025-11-17T10:59:29.192" v="77" actId="1076"/>
        <pc:sldMkLst>
          <pc:docMk/>
          <pc:sldMk cId="1063760435" sldId="538"/>
        </pc:sldMkLst>
        <pc:spChg chg="del mod">
          <ac:chgData name="Chris Moreh" userId="17b81281-9f29-44e0-9273-6dadbf6896a2" providerId="ADAL" clId="{BCF66164-2C9C-4B48-AFF3-6B0B0038345A}" dt="2025-11-17T10:59:21.436" v="75" actId="478"/>
          <ac:spMkLst>
            <pc:docMk/>
            <pc:sldMk cId="1063760435" sldId="538"/>
            <ac:spMk id="4" creationId="{3437FD75-68B6-1739-F774-11BC3DF693CF}"/>
          </ac:spMkLst>
        </pc:spChg>
        <pc:graphicFrameChg chg="add mod">
          <ac:chgData name="Chris Moreh" userId="17b81281-9f29-44e0-9273-6dadbf6896a2" providerId="ADAL" clId="{BCF66164-2C9C-4B48-AFF3-6B0B0038345A}" dt="2025-11-17T10:59:29.192" v="77" actId="1076"/>
          <ac:graphicFrameMkLst>
            <pc:docMk/>
            <pc:sldMk cId="1063760435" sldId="538"/>
            <ac:graphicFrameMk id="7" creationId="{AFF6AEBF-3C9F-1D8C-C9BC-CF9CA7B373A7}"/>
          </ac:graphicFrameMkLst>
        </pc:graphicFrameChg>
        <pc:picChg chg="del">
          <ac:chgData name="Chris Moreh" userId="17b81281-9f29-44e0-9273-6dadbf6896a2" providerId="ADAL" clId="{BCF66164-2C9C-4B48-AFF3-6B0B0038345A}" dt="2025-11-17T10:57:55.537" v="58" actId="478"/>
          <ac:picMkLst>
            <pc:docMk/>
            <pc:sldMk cId="1063760435" sldId="538"/>
            <ac:picMk id="2053" creationId="{C1B84274-D26E-E237-668F-6891FDB12083}"/>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percentStacked"/>
        <c:varyColors val="1"/>
        <c:ser>
          <c:idx val="0"/>
          <c:order val="0"/>
          <c:tx>
            <c:strRef>
              <c:f>Sheet1!$B$1</c:f>
              <c:strCache>
                <c:ptCount val="1"/>
                <c:pt idx="0">
                  <c:v>Most people can be trusted</c:v>
                </c:pt>
              </c:strCache>
            </c:strRef>
          </c:tx>
          <c:spPr>
            <a:solidFill>
              <a:srgbClr val="1F394D"/>
            </a:solidFill>
          </c:spPr>
          <c:invertIfNegative val="1"/>
          <c:dLbls>
            <c:numFmt formatCode="0.0&quot;%&quot;" sourceLinked="0"/>
            <c:spPr>
              <a:noFill/>
              <a:ln>
                <a:noFill/>
              </a:ln>
              <a:effectLst/>
            </c:spPr>
            <c:txPr>
              <a:bodyPr/>
              <a:lstStyle/>
              <a:p>
                <a:pPr>
                  <a:defRPr sz="1800" b="1">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Men</c:v>
                </c:pt>
                <c:pt idx="1">
                  <c:v>Women</c:v>
                </c:pt>
              </c:strCache>
            </c:strRef>
          </c:cat>
          <c:val>
            <c:numRef>
              <c:f>Sheet1!$B$2:$B$3</c:f>
              <c:numCache>
                <c:formatCode>General</c:formatCode>
                <c:ptCount val="2"/>
                <c:pt idx="0">
                  <c:v>51.7</c:v>
                </c:pt>
                <c:pt idx="1">
                  <c:v>40.700000000000003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022-49DD-BBF0-B743EF53A247}"/>
            </c:ext>
          </c:extLst>
        </c:ser>
        <c:ser>
          <c:idx val="1"/>
          <c:order val="1"/>
          <c:tx>
            <c:strRef>
              <c:f>Sheet1!$C$1</c:f>
              <c:strCache>
                <c:ptCount val="1"/>
                <c:pt idx="0">
                  <c:v>Can’t be too careful</c:v>
                </c:pt>
              </c:strCache>
            </c:strRef>
          </c:tx>
          <c:spPr>
            <a:solidFill>
              <a:srgbClr val="CCDDEA"/>
            </a:solidFill>
          </c:spPr>
          <c:invertIfNegative val="1"/>
          <c:dLbls>
            <c:numFmt formatCode="0.0&quot;%&quot;" sourceLinked="0"/>
            <c:spPr>
              <a:noFill/>
              <a:ln>
                <a:noFill/>
              </a:ln>
              <a:effectLst/>
            </c:spPr>
            <c:txPr>
              <a:bodyPr/>
              <a:lstStyle/>
              <a:p>
                <a:pPr>
                  <a:defRPr sz="1800" b="1">
                    <a:solidFill>
                      <a:srgbClr val="1F2A33"/>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Men</c:v>
                </c:pt>
                <c:pt idx="1">
                  <c:v>Women</c:v>
                </c:pt>
              </c:strCache>
            </c:strRef>
          </c:cat>
          <c:val>
            <c:numRef>
              <c:f>Sheet1!$C$2:$C$3</c:f>
              <c:numCache>
                <c:formatCode>General</c:formatCode>
                <c:ptCount val="2"/>
                <c:pt idx="0">
                  <c:v>48.3</c:v>
                </c:pt>
                <c:pt idx="1">
                  <c:v>59.3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022-49DD-BBF0-B743EF53A247}"/>
            </c:ext>
          </c:extLst>
        </c:ser>
        <c:dLbls>
          <c:dLblPos val="ctr"/>
          <c:showLegendKey val="0"/>
          <c:showVal val="1"/>
          <c:showCatName val="0"/>
          <c:showSerName val="0"/>
          <c:showPercent val="0"/>
          <c:showBubbleSize val="0"/>
        </c:dLbls>
        <c:gapWidth val="40"/>
        <c:overlap val="100"/>
        <c:axId val="-2068027336"/>
        <c:axId val="-2113994440"/>
      </c:barChart>
      <c:catAx>
        <c:axId val="-2068027336"/>
        <c:scaling>
          <c:orientation val="maxMin"/>
        </c:scaling>
        <c:delete val="0"/>
        <c:axPos val="l"/>
        <c:numFmt formatCode="General" sourceLinked="0"/>
        <c:majorTickMark val="out"/>
        <c:minorTickMark val="none"/>
        <c:tickLblPos val="low"/>
        <c:spPr>
          <a:ln>
            <a:solidFill>
              <a:srgbClr val="BBC4CC"/>
            </a:solidFill>
          </a:ln>
        </c:spPr>
        <c:txPr>
          <a:bodyPr/>
          <a:lstStyle/>
          <a:p>
            <a:pPr>
              <a:defRPr sz="1800">
                <a:solidFill>
                  <a:srgbClr val="55606B"/>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0%" sourceLinked="1"/>
        <c:majorTickMark val="out"/>
        <c:minorTickMark val="none"/>
        <c:tickLblPos val="nextTo"/>
        <c:crossAx val="-2068027336"/>
        <c:crosses val="autoZero"/>
        <c:crossBetween val="between"/>
      </c:valAx>
    </c:plotArea>
    <c:legend>
      <c:legendPos val="t"/>
      <c:overlay val="0"/>
      <c:txPr>
        <a:bodyPr/>
        <a:lstStyle/>
        <a:p>
          <a:pPr>
            <a:defRPr sz="1400"/>
          </a:pPr>
          <a:endParaRPr lang="en-US"/>
        </a:p>
      </c:txPr>
    </c:legend>
    <c:plotVisOnly val="1"/>
    <c:dispBlanksAs val="gap"/>
    <c:showDLblsOverMax val="1"/>
  </c:chart>
  <c:txPr>
    <a:bodyPr/>
    <a:lstStyle/>
    <a:p>
      <a:pPr>
        <a:defRPr sz="1300">
          <a:solidFill>
            <a:srgbClr val="55606B"/>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 of valid answers</c:v>
                </c:pt>
              </c:strCache>
            </c:strRef>
          </c:tx>
          <c:spPr>
            <a:solidFill>
              <a:srgbClr val="1F394D"/>
            </a:solidFill>
          </c:spPr>
          <c:invertIfNegative val="1"/>
          <c:dPt>
            <c:idx val="0"/>
            <c:invertIfNegative val="1"/>
            <c:bubble3D val="0"/>
            <c:spPr>
              <a:solidFill>
                <a:srgbClr val="CCDDEA"/>
              </a:solidFill>
            </c:spPr>
            <c:extLst>
              <c:ext xmlns:c16="http://schemas.microsoft.com/office/drawing/2014/chart" uri="{C3380CC4-5D6E-409C-BE32-E72D297353CC}">
                <c16:uniqueId val="{00000001-3D7E-4FF0-8EB2-8F423A5D9CE2}"/>
              </c:ext>
            </c:extLst>
          </c:dPt>
          <c:dPt>
            <c:idx val="1"/>
            <c:invertIfNegative val="1"/>
            <c:bubble3D val="0"/>
            <c:spPr>
              <a:solidFill>
                <a:srgbClr val="CCDDEA"/>
              </a:solidFill>
            </c:spPr>
            <c:extLst>
              <c:ext xmlns:c16="http://schemas.microsoft.com/office/drawing/2014/chart" uri="{C3380CC4-5D6E-409C-BE32-E72D297353CC}">
                <c16:uniqueId val="{00000003-3D7E-4FF0-8EB2-8F423A5D9CE2}"/>
              </c:ext>
            </c:extLst>
          </c:dPt>
          <c:dPt>
            <c:idx val="2"/>
            <c:invertIfNegative val="1"/>
            <c:bubble3D val="0"/>
            <c:spPr>
              <a:solidFill>
                <a:srgbClr val="CCDDEA"/>
              </a:solidFill>
            </c:spPr>
            <c:extLst>
              <c:ext xmlns:c16="http://schemas.microsoft.com/office/drawing/2014/chart" uri="{C3380CC4-5D6E-409C-BE32-E72D297353CC}">
                <c16:uniqueId val="{00000005-3D7E-4FF0-8EB2-8F423A5D9CE2}"/>
              </c:ext>
            </c:extLst>
          </c:dPt>
          <c:dPt>
            <c:idx val="3"/>
            <c:invertIfNegative val="1"/>
            <c:bubble3D val="0"/>
            <c:spPr>
              <a:solidFill>
                <a:srgbClr val="CCDDEA"/>
              </a:solidFill>
            </c:spPr>
            <c:extLst>
              <c:ext xmlns:c16="http://schemas.microsoft.com/office/drawing/2014/chart" uri="{C3380CC4-5D6E-409C-BE32-E72D297353CC}">
                <c16:uniqueId val="{00000007-3D7E-4FF0-8EB2-8F423A5D9CE2}"/>
              </c:ext>
            </c:extLst>
          </c:dPt>
          <c:dPt>
            <c:idx val="4"/>
            <c:invertIfNegative val="1"/>
            <c:bubble3D val="0"/>
            <c:spPr>
              <a:solidFill>
                <a:srgbClr val="CCDDEA"/>
              </a:solidFill>
            </c:spPr>
            <c:extLst>
              <c:ext xmlns:c16="http://schemas.microsoft.com/office/drawing/2014/chart" uri="{C3380CC4-5D6E-409C-BE32-E72D297353CC}">
                <c16:uniqueId val="{00000009-3D7E-4FF0-8EB2-8F423A5D9CE2}"/>
              </c:ext>
            </c:extLst>
          </c:dPt>
          <c:dPt>
            <c:idx val="5"/>
            <c:invertIfNegative val="1"/>
            <c:bubble3D val="0"/>
            <c:spPr>
              <a:solidFill>
                <a:srgbClr val="CCDDEA"/>
              </a:solidFill>
            </c:spPr>
            <c:extLst>
              <c:ext xmlns:c16="http://schemas.microsoft.com/office/drawing/2014/chart" uri="{C3380CC4-5D6E-409C-BE32-E72D297353CC}">
                <c16:uniqueId val="{0000000B-3D7E-4FF0-8EB2-8F423A5D9CE2}"/>
              </c:ext>
            </c:extLst>
          </c:dPt>
          <c:dPt>
            <c:idx val="6"/>
            <c:invertIfNegative val="1"/>
            <c:bubble3D val="0"/>
            <c:spPr>
              <a:solidFill>
                <a:srgbClr val="3F739B"/>
              </a:solidFill>
            </c:spPr>
            <c:extLst>
              <c:ext xmlns:c16="http://schemas.microsoft.com/office/drawing/2014/chart" uri="{C3380CC4-5D6E-409C-BE32-E72D297353CC}">
                <c16:uniqueId val="{0000000D-3D7E-4FF0-8EB2-8F423A5D9CE2}"/>
              </c:ext>
            </c:extLst>
          </c:dPt>
          <c:dPt>
            <c:idx val="7"/>
            <c:invertIfNegative val="1"/>
            <c:bubble3D val="0"/>
            <c:spPr>
              <a:solidFill>
                <a:srgbClr val="B88C00"/>
              </a:solidFill>
            </c:spPr>
            <c:extLst>
              <c:ext xmlns:c16="http://schemas.microsoft.com/office/drawing/2014/chart" uri="{C3380CC4-5D6E-409C-BE32-E72D297353CC}">
                <c16:uniqueId val="{0000000F-3D7E-4FF0-8EB2-8F423A5D9CE2}"/>
              </c:ext>
            </c:extLst>
          </c:dPt>
          <c:dPt>
            <c:idx val="8"/>
            <c:invertIfNegative val="1"/>
            <c:bubble3D val="0"/>
            <c:spPr>
              <a:solidFill>
                <a:srgbClr val="CCDDEA"/>
              </a:solidFill>
            </c:spPr>
            <c:extLst>
              <c:ext xmlns:c16="http://schemas.microsoft.com/office/drawing/2014/chart" uri="{C3380CC4-5D6E-409C-BE32-E72D297353CC}">
                <c16:uniqueId val="{00000011-3D7E-4FF0-8EB2-8F423A5D9CE2}"/>
              </c:ext>
            </c:extLst>
          </c:dPt>
          <c:dPt>
            <c:idx val="9"/>
            <c:invertIfNegative val="1"/>
            <c:bubble3D val="0"/>
            <c:spPr>
              <a:solidFill>
                <a:srgbClr val="CCDDEA"/>
              </a:solidFill>
            </c:spPr>
            <c:extLst>
              <c:ext xmlns:c16="http://schemas.microsoft.com/office/drawing/2014/chart" uri="{C3380CC4-5D6E-409C-BE32-E72D297353CC}">
                <c16:uniqueId val="{00000013-3D7E-4FF0-8EB2-8F423A5D9CE2}"/>
              </c:ext>
            </c:extLst>
          </c:dPt>
          <c:dPt>
            <c:idx val="10"/>
            <c:invertIfNegative val="1"/>
            <c:bubble3D val="0"/>
            <c:spPr>
              <a:solidFill>
                <a:srgbClr val="CCDDEA"/>
              </a:solidFill>
            </c:spPr>
            <c:extLst>
              <c:ext xmlns:c16="http://schemas.microsoft.com/office/drawing/2014/chart" uri="{C3380CC4-5D6E-409C-BE32-E72D297353CC}">
                <c16:uniqueId val="{00000015-3D7E-4FF0-8EB2-8F423A5D9CE2}"/>
              </c:ext>
            </c:extLst>
          </c:dPt>
          <c:dLbls>
            <c:numFmt formatCode="0.0" sourceLinked="0"/>
            <c:spPr>
              <a:noFill/>
              <a:ln>
                <a:noFill/>
              </a:ln>
              <a:effectLst/>
            </c:spPr>
            <c:txPr>
              <a:bodyPr/>
              <a:lstStyle/>
              <a:p>
                <a:pPr>
                  <a:defRPr sz="1300" b="1">
                    <a:solidFill>
                      <a:srgbClr val="1F2A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0</c:v>
                </c:pt>
                <c:pt idx="1">
                  <c:v>1</c:v>
                </c:pt>
                <c:pt idx="2">
                  <c:v>2</c:v>
                </c:pt>
                <c:pt idx="3">
                  <c:v>3</c:v>
                </c:pt>
                <c:pt idx="4">
                  <c:v>4</c:v>
                </c:pt>
                <c:pt idx="5">
                  <c:v>5</c:v>
                </c:pt>
                <c:pt idx="6">
                  <c:v>6</c:v>
                </c:pt>
                <c:pt idx="7">
                  <c:v>7</c:v>
                </c:pt>
                <c:pt idx="8">
                  <c:v>8</c:v>
                </c:pt>
                <c:pt idx="9">
                  <c:v>9</c:v>
                </c:pt>
                <c:pt idx="10">
                  <c:v>10</c:v>
                </c:pt>
              </c:strCache>
            </c:strRef>
          </c:cat>
          <c:val>
            <c:numRef>
              <c:f>Sheet1!$B$2:$B$12</c:f>
              <c:numCache>
                <c:formatCode>General</c:formatCode>
                <c:ptCount val="11"/>
                <c:pt idx="0">
                  <c:v>3.5</c:v>
                </c:pt>
                <c:pt idx="1">
                  <c:v>3.5</c:v>
                </c:pt>
                <c:pt idx="2">
                  <c:v>6.1</c:v>
                </c:pt>
                <c:pt idx="3">
                  <c:v>8.6999999999999993</c:v>
                </c:pt>
                <c:pt idx="4">
                  <c:v>7</c:v>
                </c:pt>
                <c:pt idx="5">
                  <c:v>19.600000000000001</c:v>
                </c:pt>
                <c:pt idx="6">
                  <c:v>13.8</c:v>
                </c:pt>
                <c:pt idx="7">
                  <c:v>20.2</c:v>
                </c:pt>
                <c:pt idx="8">
                  <c:v>13</c:v>
                </c:pt>
                <c:pt idx="9">
                  <c:v>2.9</c:v>
                </c:pt>
                <c:pt idx="10">
                  <c:v>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6-3D7E-4FF0-8EB2-8F423A5D9CE2}"/>
            </c:ext>
          </c:extLst>
        </c:ser>
        <c:dLbls>
          <c:dLblPos val="outEnd"/>
          <c:showLegendKey val="0"/>
          <c:showVal val="1"/>
          <c:showCatName val="0"/>
          <c:showSerName val="0"/>
          <c:showPercent val="0"/>
          <c:showBubbleSize val="0"/>
        </c:dLbls>
        <c:gapWidth val="35"/>
        <c:axId val="-2068027336"/>
        <c:axId val="-2113994440"/>
      </c:barChart>
      <c:catAx>
        <c:axId val="-2068027336"/>
        <c:scaling>
          <c:orientation val="minMax"/>
        </c:scaling>
        <c:delete val="0"/>
        <c:axPos val="b"/>
        <c:title>
          <c:tx>
            <c:rich>
              <a:bodyPr/>
              <a:lstStyle/>
              <a:p>
                <a:r>
                  <a:rPr lang="en-GB" sz="1300" b="0">
                    <a:solidFill>
                      <a:srgbClr val="55606B"/>
                    </a:solidFill>
                  </a:rPr>
                  <a:t>Trust in most people (0 to 10)</a:t>
                </a:r>
              </a:p>
            </c:rich>
          </c:tx>
          <c:overlay val="0"/>
        </c:title>
        <c:numFmt formatCode="General" sourceLinked="0"/>
        <c:majorTickMark val="out"/>
        <c:minorTickMark val="none"/>
        <c:tickLblPos val="nextTo"/>
        <c:spPr>
          <a:ln>
            <a:solidFill>
              <a:srgbClr val="BBC4CC"/>
            </a:solidFill>
          </a:ln>
        </c:spPr>
        <c:txPr>
          <a:bodyPr/>
          <a:lstStyle/>
          <a:p>
            <a:pPr>
              <a:defRPr sz="1300">
                <a:solidFill>
                  <a:srgbClr val="55606B"/>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55606B"/>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Respondents</c:v>
                </c:pt>
              </c:strCache>
            </c:strRef>
          </c:tx>
          <c:spPr>
            <a:solidFill>
              <a:srgbClr val="3F739B"/>
            </a:solidFill>
          </c:spPr>
          <c:invertIfNegative val="1"/>
          <c:cat>
            <c:strRef>
              <c:f>Sheet1!$A$2:$A$17</c:f>
              <c:strCache>
                <c:ptCount val="16"/>
                <c:pt idx="0">
                  <c:v>15</c:v>
                </c:pt>
                <c:pt idx="1">
                  <c:v>20</c:v>
                </c:pt>
                <c:pt idx="2">
                  <c:v>25</c:v>
                </c:pt>
                <c:pt idx="3">
                  <c:v>30</c:v>
                </c:pt>
                <c:pt idx="4">
                  <c:v>35</c:v>
                </c:pt>
                <c:pt idx="5">
                  <c:v>40</c:v>
                </c:pt>
                <c:pt idx="6">
                  <c:v>45</c:v>
                </c:pt>
                <c:pt idx="7">
                  <c:v>50</c:v>
                </c:pt>
                <c:pt idx="8">
                  <c:v>55</c:v>
                </c:pt>
                <c:pt idx="9">
                  <c:v>60</c:v>
                </c:pt>
                <c:pt idx="10">
                  <c:v>65</c:v>
                </c:pt>
                <c:pt idx="11">
                  <c:v>70</c:v>
                </c:pt>
                <c:pt idx="12">
                  <c:v>75</c:v>
                </c:pt>
                <c:pt idx="13">
                  <c:v>80</c:v>
                </c:pt>
                <c:pt idx="14">
                  <c:v>85</c:v>
                </c:pt>
                <c:pt idx="15">
                  <c:v>90</c:v>
                </c:pt>
              </c:strCache>
            </c:strRef>
          </c:cat>
          <c:val>
            <c:numRef>
              <c:f>Sheet1!$B$2:$B$17</c:f>
              <c:numCache>
                <c:formatCode>General</c:formatCode>
                <c:ptCount val="16"/>
                <c:pt idx="0">
                  <c:v>35</c:v>
                </c:pt>
                <c:pt idx="1">
                  <c:v>62</c:v>
                </c:pt>
                <c:pt idx="2">
                  <c:v>95</c:v>
                </c:pt>
                <c:pt idx="3">
                  <c:v>140</c:v>
                </c:pt>
                <c:pt idx="4">
                  <c:v>142</c:v>
                </c:pt>
                <c:pt idx="5">
                  <c:v>120</c:v>
                </c:pt>
                <c:pt idx="6">
                  <c:v>129</c:v>
                </c:pt>
                <c:pt idx="7">
                  <c:v>113</c:v>
                </c:pt>
                <c:pt idx="8">
                  <c:v>119</c:v>
                </c:pt>
                <c:pt idx="9">
                  <c:v>138</c:v>
                </c:pt>
                <c:pt idx="10">
                  <c:v>137</c:v>
                </c:pt>
                <c:pt idx="11">
                  <c:v>142</c:v>
                </c:pt>
                <c:pt idx="12">
                  <c:v>121</c:v>
                </c:pt>
                <c:pt idx="13">
                  <c:v>97</c:v>
                </c:pt>
                <c:pt idx="14">
                  <c:v>41</c:v>
                </c:pt>
                <c:pt idx="15">
                  <c:v>16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854-4970-85AE-C56FFF4EF2B9}"/>
            </c:ext>
          </c:extLst>
        </c:ser>
        <c:dLbls>
          <c:showLegendKey val="0"/>
          <c:showVal val="0"/>
          <c:showCatName val="0"/>
          <c:showSerName val="0"/>
          <c:showPercent val="0"/>
          <c:showBubbleSize val="0"/>
        </c:dLbls>
        <c:gapWidth val="12"/>
        <c:axId val="-2068027336"/>
        <c:axId val="-2113994440"/>
      </c:barChart>
      <c:catAx>
        <c:axId val="-2068027336"/>
        <c:scaling>
          <c:orientation val="minMax"/>
        </c:scaling>
        <c:delete val="0"/>
        <c:axPos val="b"/>
        <c:title>
          <c:tx>
            <c:rich>
              <a:bodyPr/>
              <a:lstStyle/>
              <a:p>
                <a:r>
                  <a:rPr lang="en-GB" sz="1300" b="0">
                    <a:solidFill>
                      <a:srgbClr val="55606B"/>
                    </a:solidFill>
                  </a:rPr>
                  <a:t>Age in years (5-year bands, starting at)</a:t>
                </a:r>
              </a:p>
            </c:rich>
          </c:tx>
          <c:overlay val="0"/>
        </c:title>
        <c:numFmt formatCode="General" sourceLinked="0"/>
        <c:majorTickMark val="out"/>
        <c:minorTickMark val="none"/>
        <c:tickLblPos val="nextTo"/>
        <c:spPr>
          <a:ln>
            <a:solidFill>
              <a:srgbClr val="BBC4CC"/>
            </a:solidFill>
          </a:ln>
        </c:spPr>
        <c:txPr>
          <a:bodyPr/>
          <a:lstStyle/>
          <a:p>
            <a:pPr>
              <a:defRPr sz="1300">
                <a:solidFill>
                  <a:srgbClr val="55606B"/>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DE3E8"/>
              </a:solidFill>
            </a:ln>
          </c:spPr>
        </c:majorGridlines>
        <c:title>
          <c:tx>
            <c:rich>
              <a:bodyPr/>
              <a:lstStyle/>
              <a:p>
                <a:r>
                  <a:rPr lang="en-GB" sz="1300" b="0">
                    <a:solidFill>
                      <a:srgbClr val="55606B"/>
                    </a:solidFill>
                  </a:rPr>
                  <a:t>Respondents</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068027336"/>
        <c:crosses val="autoZero"/>
        <c:crossBetween val="between"/>
      </c:valAx>
    </c:plotArea>
    <c:plotVisOnly val="1"/>
    <c:dispBlanksAs val="gap"/>
    <c:showDLblsOverMax val="1"/>
  </c:chart>
  <c:txPr>
    <a:bodyPr/>
    <a:lstStyle/>
    <a:p>
      <a:pPr>
        <a:defRPr sz="1300">
          <a:solidFill>
            <a:srgbClr val="55606B"/>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Town A: incomes cluster near the mean (SD = 5)</c:v>
                </c:pt>
              </c:strCache>
            </c:strRef>
          </c:tx>
          <c:spPr>
            <a:ln w="38100">
              <a:solidFill>
                <a:srgbClr val="3F739B"/>
              </a:solidFill>
            </a:ln>
          </c:spPr>
          <c:marker>
            <c:symbol val="none"/>
          </c:marker>
          <c:xVal>
            <c:numRef>
              <c:f>Sheet1!$A$2:$A$162</c:f>
              <c:numCache>
                <c:formatCode>General</c:formatCode>
                <c:ptCount val="16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numCache>
            </c:numRef>
          </c:xVal>
          <c:yVal>
            <c:numRef>
              <c:f>Sheet1!$B$2:$B$162</c:f>
              <c:numCache>
                <c:formatCode>General</c:formatCode>
                <c:ptCount val="161"/>
                <c:pt idx="0">
                  <c:v>1.2151765699646599E-9</c:v>
                </c:pt>
                <c:pt idx="1">
                  <c:v>2.2031527249364599E-9</c:v>
                </c:pt>
                <c:pt idx="2">
                  <c:v>3.9546392812489402E-9</c:v>
                </c:pt>
                <c:pt idx="3">
                  <c:v>7.0279101896408702E-9</c:v>
                </c:pt>
                <c:pt idx="4">
                  <c:v>1.23652410003317E-8</c:v>
                </c:pt>
                <c:pt idx="5">
                  <c:v>2.15395200850865E-8</c:v>
                </c:pt>
                <c:pt idx="6">
                  <c:v>3.7147236891105803E-8</c:v>
                </c:pt>
                <c:pt idx="7">
                  <c:v>6.3426984334319495E-8</c:v>
                </c:pt>
                <c:pt idx="8">
                  <c:v>1.07220706893952E-7</c:v>
                </c:pt>
                <c:pt idx="9">
                  <c:v>1.79448703247667E-7</c:v>
                </c:pt>
                <c:pt idx="10">
                  <c:v>2.9734390294686002E-7</c:v>
                </c:pt>
                <c:pt idx="11">
                  <c:v>4.8779214917866997E-7</c:v>
                </c:pt>
                <c:pt idx="12">
                  <c:v>7.92259818206415E-7</c:v>
                </c:pt>
                <c:pt idx="13">
                  <c:v>1.27396503577342E-6</c:v>
                </c:pt>
                <c:pt idx="14">
                  <c:v>2.02817041309735E-6</c:v>
                </c:pt>
                <c:pt idx="15">
                  <c:v>3.1967482213811002E-6</c:v>
                </c:pt>
                <c:pt idx="16">
                  <c:v>4.9884942580107098E-6</c:v>
                </c:pt>
                <c:pt idx="17">
                  <c:v>7.7070393484174306E-6</c:v>
                </c:pt>
                <c:pt idx="18">
                  <c:v>1.1788613551308E-5</c:v>
                </c:pt>
                <c:pt idx="19">
                  <c:v>1.78523314354266E-5</c:v>
                </c:pt>
                <c:pt idx="20">
                  <c:v>2.6766045152977099E-5</c:v>
                </c:pt>
                <c:pt idx="21">
                  <c:v>3.9731094278554503E-5</c:v>
                </c:pt>
                <c:pt idx="22">
                  <c:v>5.83893851582921E-5</c:v>
                </c:pt>
                <c:pt idx="23">
                  <c:v>8.4956054110150298E-5</c:v>
                </c:pt>
                <c:pt idx="24">
                  <c:v>1.2238038602275399E-4</c:v>
                </c:pt>
                <c:pt idx="25">
                  <c:v>1.7453653900915199E-4</c:v>
                </c:pt>
                <c:pt idx="26">
                  <c:v>2.4644383369460402E-4</c:v>
                </c:pt>
                <c:pt idx="27">
                  <c:v>3.4451378781073599E-4</c:v>
                </c:pt>
                <c:pt idx="28">
                  <c:v>4.7681764029296799E-4</c:v>
                </c:pt>
                <c:pt idx="29">
                  <c:v>6.5336381123998395E-4</c:v>
                </c:pt>
                <c:pt idx="30">
                  <c:v>8.8636968238760196E-4</c:v>
                </c:pt>
                <c:pt idx="31">
                  <c:v>1.19050648395517E-3</c:v>
                </c:pt>
                <c:pt idx="32">
                  <c:v>1.58309031659599E-3</c:v>
                </c:pt>
                <c:pt idx="33">
                  <c:v>2.08418696288452E-3</c:v>
                </c:pt>
                <c:pt idx="34">
                  <c:v>2.7165938467371199E-3</c:v>
                </c:pt>
                <c:pt idx="35">
                  <c:v>3.5056600987137098E-3</c:v>
                </c:pt>
                <c:pt idx="36">
                  <c:v>4.4789060589685804E-3</c:v>
                </c:pt>
                <c:pt idx="37">
                  <c:v>5.6654075483202398E-3</c:v>
                </c:pt>
                <c:pt idx="38">
                  <c:v>7.0949185692462903E-3</c:v>
                </c:pt>
                <c:pt idx="39">
                  <c:v>8.7967191960854393E-3</c:v>
                </c:pt>
                <c:pt idx="40">
                  <c:v>1.07981933026376E-2</c:v>
                </c:pt>
                <c:pt idx="41">
                  <c:v>1.31231629549353E-2</c:v>
                </c:pt>
                <c:pt idx="42">
                  <c:v>1.57900316601788E-2</c:v>
                </c:pt>
                <c:pt idx="43">
                  <c:v>1.8809815475377401E-2</c:v>
                </c:pt>
                <c:pt idx="44">
                  <c:v>2.2184166935891099E-2</c:v>
                </c:pt>
                <c:pt idx="45">
                  <c:v>2.5903519133178399E-2</c:v>
                </c:pt>
                <c:pt idx="46">
                  <c:v>2.9945493127149E-2</c:v>
                </c:pt>
                <c:pt idx="47">
                  <c:v>3.4273718409561497E-2</c:v>
                </c:pt>
                <c:pt idx="48">
                  <c:v>3.8837210996642599E-2</c:v>
                </c:pt>
                <c:pt idx="49">
                  <c:v>4.3570435406510101E-2</c:v>
                </c:pt>
                <c:pt idx="50">
                  <c:v>4.8394144903828699E-2</c:v>
                </c:pt>
                <c:pt idx="51">
                  <c:v>5.3217049979750998E-2</c:v>
                </c:pt>
                <c:pt idx="52">
                  <c:v>5.79383105522965E-2</c:v>
                </c:pt>
                <c:pt idx="53">
                  <c:v>6.2450786673352299E-2</c:v>
                </c:pt>
                <c:pt idx="54">
                  <c:v>6.6644920578359898E-2</c:v>
                </c:pt>
                <c:pt idx="55">
                  <c:v>7.0413065352859905E-2</c:v>
                </c:pt>
                <c:pt idx="56">
                  <c:v>7.3654028060664706E-2</c:v>
                </c:pt>
                <c:pt idx="57">
                  <c:v>7.6277563092104803E-2</c:v>
                </c:pt>
                <c:pt idx="58">
                  <c:v>7.8208538795091195E-2</c:v>
                </c:pt>
                <c:pt idx="59">
                  <c:v>7.9390509495402398E-2</c:v>
                </c:pt>
                <c:pt idx="60">
                  <c:v>7.9788456080286493E-2</c:v>
                </c:pt>
                <c:pt idx="61">
                  <c:v>7.9390509495402398E-2</c:v>
                </c:pt>
                <c:pt idx="62">
                  <c:v>7.8208538795091195E-2</c:v>
                </c:pt>
                <c:pt idx="63">
                  <c:v>7.6277563092104803E-2</c:v>
                </c:pt>
                <c:pt idx="64">
                  <c:v>7.3654028060664706E-2</c:v>
                </c:pt>
                <c:pt idx="65">
                  <c:v>7.0413065352859905E-2</c:v>
                </c:pt>
                <c:pt idx="66">
                  <c:v>6.6644920578359898E-2</c:v>
                </c:pt>
                <c:pt idx="67">
                  <c:v>6.2450786673352299E-2</c:v>
                </c:pt>
                <c:pt idx="68">
                  <c:v>5.79383105522965E-2</c:v>
                </c:pt>
                <c:pt idx="69">
                  <c:v>5.3217049979750998E-2</c:v>
                </c:pt>
                <c:pt idx="70">
                  <c:v>4.8394144903828699E-2</c:v>
                </c:pt>
                <c:pt idx="71">
                  <c:v>4.3570435406510101E-2</c:v>
                </c:pt>
                <c:pt idx="72">
                  <c:v>3.8837210996642599E-2</c:v>
                </c:pt>
                <c:pt idx="73">
                  <c:v>3.4273718409561497E-2</c:v>
                </c:pt>
                <c:pt idx="74">
                  <c:v>2.9945493127149E-2</c:v>
                </c:pt>
                <c:pt idx="75">
                  <c:v>2.5903519133178399E-2</c:v>
                </c:pt>
                <c:pt idx="76">
                  <c:v>2.2184166935891099E-2</c:v>
                </c:pt>
                <c:pt idx="77">
                  <c:v>1.8809815475377401E-2</c:v>
                </c:pt>
                <c:pt idx="78">
                  <c:v>1.57900316601788E-2</c:v>
                </c:pt>
                <c:pt idx="79">
                  <c:v>1.31231629549353E-2</c:v>
                </c:pt>
                <c:pt idx="80">
                  <c:v>1.07981933026376E-2</c:v>
                </c:pt>
                <c:pt idx="81">
                  <c:v>8.7967191960854393E-3</c:v>
                </c:pt>
                <c:pt idx="82">
                  <c:v>7.0949185692462903E-3</c:v>
                </c:pt>
                <c:pt idx="83">
                  <c:v>5.6654075483202398E-3</c:v>
                </c:pt>
                <c:pt idx="84">
                  <c:v>4.4789060589685804E-3</c:v>
                </c:pt>
                <c:pt idx="85">
                  <c:v>3.5056600987137098E-3</c:v>
                </c:pt>
                <c:pt idx="86">
                  <c:v>2.7165938467371199E-3</c:v>
                </c:pt>
                <c:pt idx="87">
                  <c:v>2.08418696288452E-3</c:v>
                </c:pt>
                <c:pt idx="88">
                  <c:v>1.58309031659599E-3</c:v>
                </c:pt>
                <c:pt idx="89">
                  <c:v>1.19050648395517E-3</c:v>
                </c:pt>
                <c:pt idx="90">
                  <c:v>8.8636968238760196E-4</c:v>
                </c:pt>
                <c:pt idx="91">
                  <c:v>6.5336381123998395E-4</c:v>
                </c:pt>
                <c:pt idx="92">
                  <c:v>4.7681764029296799E-4</c:v>
                </c:pt>
                <c:pt idx="93">
                  <c:v>3.4451378781073599E-4</c:v>
                </c:pt>
                <c:pt idx="94">
                  <c:v>2.4644383369460402E-4</c:v>
                </c:pt>
                <c:pt idx="95">
                  <c:v>1.7453653900915199E-4</c:v>
                </c:pt>
                <c:pt idx="96">
                  <c:v>1.2238038602275399E-4</c:v>
                </c:pt>
                <c:pt idx="97">
                  <c:v>8.4956054110150298E-5</c:v>
                </c:pt>
                <c:pt idx="98">
                  <c:v>5.83893851582921E-5</c:v>
                </c:pt>
                <c:pt idx="99">
                  <c:v>3.9731094278554503E-5</c:v>
                </c:pt>
                <c:pt idx="100">
                  <c:v>2.6766045152977099E-5</c:v>
                </c:pt>
                <c:pt idx="101">
                  <c:v>1.78523314354266E-5</c:v>
                </c:pt>
                <c:pt idx="102">
                  <c:v>1.1788613551308E-5</c:v>
                </c:pt>
                <c:pt idx="103">
                  <c:v>7.7070393484174306E-6</c:v>
                </c:pt>
                <c:pt idx="104">
                  <c:v>4.9884942580107098E-6</c:v>
                </c:pt>
                <c:pt idx="105">
                  <c:v>3.1967482213811002E-6</c:v>
                </c:pt>
                <c:pt idx="106">
                  <c:v>2.02817041309735E-6</c:v>
                </c:pt>
                <c:pt idx="107">
                  <c:v>1.27396503577342E-6</c:v>
                </c:pt>
                <c:pt idx="108">
                  <c:v>7.92259818206415E-7</c:v>
                </c:pt>
                <c:pt idx="109">
                  <c:v>4.8779214917866997E-7</c:v>
                </c:pt>
                <c:pt idx="110">
                  <c:v>2.9734390294686002E-7</c:v>
                </c:pt>
                <c:pt idx="111">
                  <c:v>1.79448703247667E-7</c:v>
                </c:pt>
                <c:pt idx="112">
                  <c:v>1.07220706893952E-7</c:v>
                </c:pt>
                <c:pt idx="113">
                  <c:v>6.3426984334319495E-8</c:v>
                </c:pt>
                <c:pt idx="114">
                  <c:v>3.7147236891105803E-8</c:v>
                </c:pt>
                <c:pt idx="115">
                  <c:v>2.15395200850865E-8</c:v>
                </c:pt>
                <c:pt idx="116">
                  <c:v>1.23652410003317E-8</c:v>
                </c:pt>
                <c:pt idx="117">
                  <c:v>7.0279101896408702E-9</c:v>
                </c:pt>
                <c:pt idx="118">
                  <c:v>3.9546392812489402E-9</c:v>
                </c:pt>
                <c:pt idx="119">
                  <c:v>2.2031527249364599E-9</c:v>
                </c:pt>
                <c:pt idx="120">
                  <c:v>1.2151765699646599E-9</c:v>
                </c:pt>
                <c:pt idx="121">
                  <c:v>6.6357684870946003E-10</c:v>
                </c:pt>
                <c:pt idx="122">
                  <c:v>3.5875678159281598E-10</c:v>
                </c:pt>
                <c:pt idx="123">
                  <c:v>1.92028667406247E-10</c:v>
                </c:pt>
                <c:pt idx="124">
                  <c:v>1.01762805632901E-10</c:v>
                </c:pt>
                <c:pt idx="125">
                  <c:v>5.3391132295256998E-11</c:v>
                </c:pt>
                <c:pt idx="126">
                  <c:v>2.7733599883306301E-11</c:v>
                </c:pt>
                <c:pt idx="127">
                  <c:v>1.4262656247992099E-11</c:v>
                </c:pt>
                <c:pt idx="128">
                  <c:v>7.2619230035835899E-12</c:v>
                </c:pt>
                <c:pt idx="129">
                  <c:v>3.6606644340311499E-12</c:v>
                </c:pt>
                <c:pt idx="130">
                  <c:v>1.8269440816729199E-12</c:v>
                </c:pt>
                <c:pt idx="131">
                  <c:v>9.0270873544110401E-13</c:v>
                </c:pt>
                <c:pt idx="132">
                  <c:v>4.4159799262742802E-13</c:v>
                </c:pt>
                <c:pt idx="133">
                  <c:v>2.13876757430833E-13</c:v>
                </c:pt>
                <c:pt idx="134">
                  <c:v>1.0255507273593299E-13</c:v>
                </c:pt>
                <c:pt idx="135">
                  <c:v>4.8686410660580202E-14</c:v>
                </c:pt>
                <c:pt idx="136">
                  <c:v>2.2883129803602801E-14</c:v>
                </c:pt>
                <c:pt idx="137">
                  <c:v>1.0648296744505901E-14</c:v>
                </c:pt>
                <c:pt idx="138">
                  <c:v>4.9057105713928598E-15</c:v>
                </c:pt>
                <c:pt idx="139">
                  <c:v>2.2375912428703599E-15</c:v>
                </c:pt>
                <c:pt idx="140">
                  <c:v>1.0104542167073801E-15</c:v>
                </c:pt>
                <c:pt idx="141">
                  <c:v>4.5176188063086195E-16</c:v>
                </c:pt>
                <c:pt idx="142">
                  <c:v>1.99967574969944E-16</c:v>
                </c:pt>
                <c:pt idx="143">
                  <c:v>8.7632788710186705E-17</c:v>
                </c:pt>
                <c:pt idx="144">
                  <c:v>3.8021630758159199E-17</c:v>
                </c:pt>
                <c:pt idx="145">
                  <c:v>1.6332471263339099E-17</c:v>
                </c:pt>
                <c:pt idx="146">
                  <c:v>6.9459254971324198E-18</c:v>
                </c:pt>
                <c:pt idx="147">
                  <c:v>2.9245927150013099E-18</c:v>
                </c:pt>
                <c:pt idx="148">
                  <c:v>1.2191516259124799E-18</c:v>
                </c:pt>
                <c:pt idx="149">
                  <c:v>5.0316115539028104E-19</c:v>
                </c:pt>
                <c:pt idx="150">
                  <c:v>2.05595471433378E-19</c:v>
                </c:pt>
                <c:pt idx="151">
                  <c:v>8.3171979582302999E-20</c:v>
                </c:pt>
                <c:pt idx="152">
                  <c:v>3.3311760647598601E-20</c:v>
                </c:pt>
                <c:pt idx="153">
                  <c:v>1.3209159721478601E-20</c:v>
                </c:pt>
                <c:pt idx="154">
                  <c:v>5.1857294022007599E-21</c:v>
                </c:pt>
                <c:pt idx="155">
                  <c:v>2.01558707886E-21</c:v>
                </c:pt>
                <c:pt idx="156">
                  <c:v>7.7562238634939302E-22</c:v>
                </c:pt>
                <c:pt idx="157">
                  <c:v>2.9549909854085299E-22</c:v>
                </c:pt>
                <c:pt idx="158">
                  <c:v>1.11460000454414E-22</c:v>
                </c:pt>
                <c:pt idx="159">
                  <c:v>4.1623536404056402E-23</c:v>
                </c:pt>
                <c:pt idx="160">
                  <c:v>1.53891972534128E-23</c:v>
                </c:pt>
              </c:numCache>
            </c:numRef>
          </c:yVal>
          <c:smooth val="0"/>
          <c:extLst>
            <c:ext xmlns:c16="http://schemas.microsoft.com/office/drawing/2014/chart" uri="{C3380CC4-5D6E-409C-BE32-E72D297353CC}">
              <c16:uniqueId val="{00000000-F51E-440D-87CD-5C9440412339}"/>
            </c:ext>
          </c:extLst>
        </c:ser>
        <c:ser>
          <c:idx val="1"/>
          <c:order val="1"/>
          <c:tx>
            <c:strRef>
              <c:f>Sheet1!$B$164</c:f>
              <c:strCache>
                <c:ptCount val="1"/>
                <c:pt idx="0">
                  <c:v>Town B: same mean, wider spread (SD = 15)</c:v>
                </c:pt>
              </c:strCache>
            </c:strRef>
          </c:tx>
          <c:spPr>
            <a:ln w="38100">
              <a:solidFill>
                <a:srgbClr val="B88C00"/>
              </a:solidFill>
            </a:ln>
          </c:spPr>
          <c:marker>
            <c:symbol val="none"/>
          </c:marker>
          <c:xVal>
            <c:numRef>
              <c:f>Sheet1!$A$165:$A$325</c:f>
              <c:numCache>
                <c:formatCode>General</c:formatCode>
                <c:ptCount val="16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numCache>
            </c:numRef>
          </c:xVal>
          <c:yVal>
            <c:numRef>
              <c:f>Sheet1!$B$165:$B$325</c:f>
              <c:numCache>
                <c:formatCode>General</c:formatCode>
                <c:ptCount val="161"/>
                <c:pt idx="0">
                  <c:v>3.59939776754587E-3</c:v>
                </c:pt>
                <c:pt idx="1">
                  <c:v>3.84540010394219E-3</c:v>
                </c:pt>
                <c:pt idx="2">
                  <c:v>4.1036534232898204E-3</c:v>
                </c:pt>
                <c:pt idx="3">
                  <c:v>4.3743876516451098E-3</c:v>
                </c:pt>
                <c:pt idx="4">
                  <c:v>4.6578050713943497E-3</c:v>
                </c:pt>
                <c:pt idx="5">
                  <c:v>4.9540775705995401E-3</c:v>
                </c:pt>
                <c:pt idx="6">
                  <c:v>5.2633438867262803E-3</c:v>
                </c:pt>
                <c:pt idx="7">
                  <c:v>5.5857068633309798E-3</c:v>
                </c:pt>
                <c:pt idx="8">
                  <c:v>5.92123073937279E-3</c:v>
                </c:pt>
                <c:pt idx="9">
                  <c:v>6.2699384917924601E-3</c:v>
                </c:pt>
                <c:pt idx="10">
                  <c:v>6.6318092528499101E-3</c:v>
                </c:pt>
                <c:pt idx="11">
                  <c:v>7.0067758244166797E-3</c:v>
                </c:pt>
                <c:pt idx="12">
                  <c:v>7.3947223119636999E-3</c:v>
                </c:pt>
                <c:pt idx="13">
                  <c:v>7.7954819013533704E-3</c:v>
                </c:pt>
                <c:pt idx="14">
                  <c:v>8.2088348017233005E-3</c:v>
                </c:pt>
                <c:pt idx="15">
                  <c:v>8.6345063777261196E-3</c:v>
                </c:pt>
                <c:pt idx="16">
                  <c:v>9.0721654941518706E-3</c:v>
                </c:pt>
                <c:pt idx="17">
                  <c:v>9.52142309550069E-3</c:v>
                </c:pt>
                <c:pt idx="18">
                  <c:v>9.9818310423829895E-3</c:v>
                </c:pt>
                <c:pt idx="19">
                  <c:v>1.04528812257006E-2</c:v>
                </c:pt>
                <c:pt idx="20">
                  <c:v>1.09340049783996E-2</c:v>
                </c:pt>
                <c:pt idx="21">
                  <c:v>1.14245728031872E-2</c:v>
                </c:pt>
                <c:pt idx="22">
                  <c:v>1.1923894432969401E-2</c:v>
                </c:pt>
                <c:pt idx="23">
                  <c:v>1.24312192389044E-2</c:v>
                </c:pt>
                <c:pt idx="24">
                  <c:v>1.2945736998880899E-2</c:v>
                </c:pt>
                <c:pt idx="25">
                  <c:v>1.34665790369373E-2</c:v>
                </c:pt>
                <c:pt idx="26">
                  <c:v>1.39928197416483E-2</c:v>
                </c:pt>
                <c:pt idx="27">
                  <c:v>1.45234784688367E-2</c:v>
                </c:pt>
                <c:pt idx="28">
                  <c:v>1.5057521831141601E-2</c:v>
                </c:pt>
                <c:pt idx="29">
                  <c:v>1.55938663740109E-2</c:v>
                </c:pt>
                <c:pt idx="30">
                  <c:v>1.6131381634609601E-2</c:v>
                </c:pt>
                <c:pt idx="31">
                  <c:v>1.6668893576977199E-2</c:v>
                </c:pt>
                <c:pt idx="32">
                  <c:v>1.72051883935492E-2</c:v>
                </c:pt>
                <c:pt idx="33">
                  <c:v>1.7739016659916999E-2</c:v>
                </c:pt>
                <c:pt idx="34">
                  <c:v>1.82690978264686E-2</c:v>
                </c:pt>
                <c:pt idx="35">
                  <c:v>1.87941250273535E-2</c:v>
                </c:pt>
                <c:pt idx="36">
                  <c:v>1.9312770184098799E-2</c:v>
                </c:pt>
                <c:pt idx="37">
                  <c:v>1.98236893781868E-2</c:v>
                </c:pt>
                <c:pt idx="38">
                  <c:v>2.0325528464034501E-2</c:v>
                </c:pt>
                <c:pt idx="39">
                  <c:v>2.0816928891117401E-2</c:v>
                </c:pt>
                <c:pt idx="40">
                  <c:v>2.1296533701490199E-2</c:v>
                </c:pt>
                <c:pt idx="41">
                  <c:v>2.1762993666701699E-2</c:v>
                </c:pt>
                <c:pt idx="42">
                  <c:v>2.2214973526120001E-2</c:v>
                </c:pt>
                <c:pt idx="43">
                  <c:v>2.26511582869839E-2</c:v>
                </c:pt>
                <c:pt idx="44">
                  <c:v>2.3070259545128199E-2</c:v>
                </c:pt>
                <c:pt idx="45">
                  <c:v>2.3471021784286599E-2</c:v>
                </c:pt>
                <c:pt idx="46">
                  <c:v>2.3852228611197901E-2</c:v>
                </c:pt>
                <c:pt idx="47">
                  <c:v>2.42127088834279E-2</c:v>
                </c:pt>
                <c:pt idx="48">
                  <c:v>2.4551342686888199E-2</c:v>
                </c:pt>
                <c:pt idx="49">
                  <c:v>2.4867067120488601E-2</c:v>
                </c:pt>
                <c:pt idx="50">
                  <c:v>2.51588818461995E-2</c:v>
                </c:pt>
                <c:pt idx="51">
                  <c:v>2.5425854364034901E-2</c:v>
                </c:pt>
                <c:pt idx="52">
                  <c:v>2.5667124973067602E-2</c:v>
                </c:pt>
                <c:pt idx="53">
                  <c:v>2.5881911381569801E-2</c:v>
                </c:pt>
                <c:pt idx="54">
                  <c:v>2.6069512931697101E-2</c:v>
                </c:pt>
                <c:pt idx="55">
                  <c:v>2.6229314406796E-2</c:v>
                </c:pt>
                <c:pt idx="56">
                  <c:v>2.6360789392387798E-2</c:v>
                </c:pt>
                <c:pt idx="57">
                  <c:v>2.64635031651341E-2</c:v>
                </c:pt>
                <c:pt idx="58">
                  <c:v>2.6537115087596801E-2</c:v>
                </c:pt>
                <c:pt idx="59">
                  <c:v>2.6581380490331801E-2</c:v>
                </c:pt>
                <c:pt idx="60">
                  <c:v>2.6596152026762201E-2</c:v>
                </c:pt>
                <c:pt idx="61">
                  <c:v>2.6581380490331801E-2</c:v>
                </c:pt>
                <c:pt idx="62">
                  <c:v>2.6537115087596801E-2</c:v>
                </c:pt>
                <c:pt idx="63">
                  <c:v>2.64635031651341E-2</c:v>
                </c:pt>
                <c:pt idx="64">
                  <c:v>2.6360789392387798E-2</c:v>
                </c:pt>
                <c:pt idx="65">
                  <c:v>2.6229314406796E-2</c:v>
                </c:pt>
                <c:pt idx="66">
                  <c:v>2.6069512931697101E-2</c:v>
                </c:pt>
                <c:pt idx="67">
                  <c:v>2.5881911381569801E-2</c:v>
                </c:pt>
                <c:pt idx="68">
                  <c:v>2.5667124973067602E-2</c:v>
                </c:pt>
                <c:pt idx="69">
                  <c:v>2.5425854364034901E-2</c:v>
                </c:pt>
                <c:pt idx="70">
                  <c:v>2.51588818461995E-2</c:v>
                </c:pt>
                <c:pt idx="71">
                  <c:v>2.4867067120488601E-2</c:v>
                </c:pt>
                <c:pt idx="72">
                  <c:v>2.4551342686888199E-2</c:v>
                </c:pt>
                <c:pt idx="73">
                  <c:v>2.42127088834279E-2</c:v>
                </c:pt>
                <c:pt idx="74">
                  <c:v>2.3852228611197901E-2</c:v>
                </c:pt>
                <c:pt idx="75">
                  <c:v>2.3471021784286599E-2</c:v>
                </c:pt>
                <c:pt idx="76">
                  <c:v>2.3070259545128199E-2</c:v>
                </c:pt>
                <c:pt idx="77">
                  <c:v>2.26511582869839E-2</c:v>
                </c:pt>
                <c:pt idx="78">
                  <c:v>2.2214973526120001E-2</c:v>
                </c:pt>
                <c:pt idx="79">
                  <c:v>2.1762993666701699E-2</c:v>
                </c:pt>
                <c:pt idx="80">
                  <c:v>2.1296533701490199E-2</c:v>
                </c:pt>
                <c:pt idx="81">
                  <c:v>2.0816928891117401E-2</c:v>
                </c:pt>
                <c:pt idx="82">
                  <c:v>2.0325528464034501E-2</c:v>
                </c:pt>
                <c:pt idx="83">
                  <c:v>1.98236893781868E-2</c:v>
                </c:pt>
                <c:pt idx="84">
                  <c:v>1.9312770184098799E-2</c:v>
                </c:pt>
                <c:pt idx="85">
                  <c:v>1.87941250273535E-2</c:v>
                </c:pt>
                <c:pt idx="86">
                  <c:v>1.82690978264686E-2</c:v>
                </c:pt>
                <c:pt idx="87">
                  <c:v>1.7739016659916999E-2</c:v>
                </c:pt>
                <c:pt idx="88">
                  <c:v>1.72051883935492E-2</c:v>
                </c:pt>
                <c:pt idx="89">
                  <c:v>1.6668893576977199E-2</c:v>
                </c:pt>
                <c:pt idx="90">
                  <c:v>1.6131381634609601E-2</c:v>
                </c:pt>
                <c:pt idx="91">
                  <c:v>1.55938663740109E-2</c:v>
                </c:pt>
                <c:pt idx="92">
                  <c:v>1.5057521831141601E-2</c:v>
                </c:pt>
                <c:pt idx="93">
                  <c:v>1.45234784688367E-2</c:v>
                </c:pt>
                <c:pt idx="94">
                  <c:v>1.39928197416483E-2</c:v>
                </c:pt>
                <c:pt idx="95">
                  <c:v>1.34665790369373E-2</c:v>
                </c:pt>
                <c:pt idx="96">
                  <c:v>1.2945736998880899E-2</c:v>
                </c:pt>
                <c:pt idx="97">
                  <c:v>1.24312192389044E-2</c:v>
                </c:pt>
                <c:pt idx="98">
                  <c:v>1.1923894432969401E-2</c:v>
                </c:pt>
                <c:pt idx="99">
                  <c:v>1.14245728031872E-2</c:v>
                </c:pt>
                <c:pt idx="100">
                  <c:v>1.09340049783996E-2</c:v>
                </c:pt>
                <c:pt idx="101">
                  <c:v>1.04528812257006E-2</c:v>
                </c:pt>
                <c:pt idx="102">
                  <c:v>9.9818310423829895E-3</c:v>
                </c:pt>
                <c:pt idx="103">
                  <c:v>9.52142309550069E-3</c:v>
                </c:pt>
                <c:pt idx="104">
                  <c:v>9.0721654941518706E-3</c:v>
                </c:pt>
                <c:pt idx="105">
                  <c:v>8.6345063777261196E-3</c:v>
                </c:pt>
                <c:pt idx="106">
                  <c:v>8.2088348017233005E-3</c:v>
                </c:pt>
                <c:pt idx="107">
                  <c:v>7.7954819013533704E-3</c:v>
                </c:pt>
                <c:pt idx="108">
                  <c:v>7.3947223119636999E-3</c:v>
                </c:pt>
                <c:pt idx="109">
                  <c:v>7.0067758244166797E-3</c:v>
                </c:pt>
                <c:pt idx="110">
                  <c:v>6.6318092528499101E-3</c:v>
                </c:pt>
                <c:pt idx="111">
                  <c:v>6.2699384917924601E-3</c:v>
                </c:pt>
                <c:pt idx="112">
                  <c:v>5.92123073937279E-3</c:v>
                </c:pt>
                <c:pt idx="113">
                  <c:v>5.5857068633309798E-3</c:v>
                </c:pt>
                <c:pt idx="114">
                  <c:v>5.2633438867262803E-3</c:v>
                </c:pt>
                <c:pt idx="115">
                  <c:v>4.9540775705995401E-3</c:v>
                </c:pt>
                <c:pt idx="116">
                  <c:v>4.6578050713943497E-3</c:v>
                </c:pt>
                <c:pt idx="117">
                  <c:v>4.3743876516451098E-3</c:v>
                </c:pt>
                <c:pt idx="118">
                  <c:v>4.1036534232898204E-3</c:v>
                </c:pt>
                <c:pt idx="119">
                  <c:v>3.84540010394219E-3</c:v>
                </c:pt>
                <c:pt idx="120">
                  <c:v>3.59939776754587E-3</c:v>
                </c:pt>
                <c:pt idx="121">
                  <c:v>3.3653915720151801E-3</c:v>
                </c:pt>
                <c:pt idx="122">
                  <c:v>3.1431044477247699E-3</c:v>
                </c:pt>
                <c:pt idx="123">
                  <c:v>2.93223973202848E-3</c:v>
                </c:pt>
                <c:pt idx="124">
                  <c:v>2.7324837363481499E-3</c:v>
                </c:pt>
                <c:pt idx="125">
                  <c:v>2.5435082337611999E-3</c:v>
                </c:pt>
                <c:pt idx="126">
                  <c:v>2.3649728564154298E-3</c:v>
                </c:pt>
                <c:pt idx="127">
                  <c:v>2.1965273934969501E-3</c:v>
                </c:pt>
                <c:pt idx="128">
                  <c:v>2.0378139818590301E-3</c:v>
                </c:pt>
                <c:pt idx="129">
                  <c:v>1.8884691827734099E-3</c:v>
                </c:pt>
                <c:pt idx="130">
                  <c:v>1.74812593958063E-3</c:v>
                </c:pt>
                <c:pt idx="131">
                  <c:v>1.61641541228182E-3</c:v>
                </c:pt>
                <c:pt idx="132">
                  <c:v>1.49296868632286E-3</c:v>
                </c:pt>
                <c:pt idx="133">
                  <c:v>1.3774183539652101E-3</c:v>
                </c:pt>
                <c:pt idx="134">
                  <c:v>1.26939996771002E-3</c:v>
                </c:pt>
                <c:pt idx="135">
                  <c:v>1.1685533662378999E-3</c:v>
                </c:pt>
                <c:pt idx="136">
                  <c:v>1.07452387424327E-3</c:v>
                </c:pt>
                <c:pt idx="137">
                  <c:v>9.8696337837508603E-4</c:v>
                </c:pt>
                <c:pt idx="138">
                  <c:v>9.0553128224570695E-4</c:v>
                </c:pt>
                <c:pt idx="139">
                  <c:v>8.2989534413361395E-4</c:v>
                </c:pt>
                <c:pt idx="140">
                  <c:v>7.5973240158649599E-4</c:v>
                </c:pt>
                <c:pt idx="141">
                  <c:v>6.9472898762817296E-4</c:v>
                </c:pt>
                <c:pt idx="142">
                  <c:v>6.3458184368914605E-4</c:v>
                </c:pt>
                <c:pt idx="143">
                  <c:v>5.7899833471859404E-4</c:v>
                </c:pt>
                <c:pt idx="144">
                  <c:v>5.2769677219866495E-4</c:v>
                </c:pt>
                <c:pt idx="145">
                  <c:v>4.8040665097394799E-4</c:v>
                </c:pt>
                <c:pt idx="146">
                  <c:v>4.3686880593423502E-4</c:v>
                </c:pt>
                <c:pt idx="147">
                  <c:v>3.9683549465172399E-4</c:v>
                </c:pt>
                <c:pt idx="148">
                  <c:v>3.6007041207962502E-4</c:v>
                </c:pt>
                <c:pt idx="149">
                  <c:v>3.2634864337259501E-4</c:v>
                </c:pt>
                <c:pt idx="150">
                  <c:v>2.9545656079586698E-4</c:v>
                </c:pt>
                <c:pt idx="151">
                  <c:v>2.6719167055442298E-4</c:v>
                </c:pt>
                <c:pt idx="152">
                  <c:v>2.4136241520128599E-4</c:v>
                </c:pt>
                <c:pt idx="153">
                  <c:v>2.17787937079995E-4</c:v>
                </c:pt>
                <c:pt idx="154">
                  <c:v>1.9629780802555701E-4</c:v>
                </c:pt>
                <c:pt idx="155">
                  <c:v>1.7673173029534E-4</c:v>
                </c:pt>
                <c:pt idx="156">
                  <c:v>1.5893921343098901E-4</c:v>
                </c:pt>
                <c:pt idx="157">
                  <c:v>1.42779231468851E-4</c:v>
                </c:pt>
                <c:pt idx="158">
                  <c:v>1.28119864623467E-4</c:v>
                </c:pt>
                <c:pt idx="159">
                  <c:v>1.1483792927024499E-4</c:v>
                </c:pt>
                <c:pt idx="160">
                  <c:v>1.0281859975274E-4</c:v>
                </c:pt>
              </c:numCache>
            </c:numRef>
          </c:yVal>
          <c:smooth val="0"/>
          <c:extLst>
            <c:ext xmlns:c16="http://schemas.microsoft.com/office/drawing/2014/chart" uri="{C3380CC4-5D6E-409C-BE32-E72D297353CC}">
              <c16:uniqueId val="{00000001-F51E-440D-87CD-5C9440412339}"/>
            </c:ext>
          </c:extLst>
        </c:ser>
        <c:dLbls>
          <c:showLegendKey val="0"/>
          <c:showVal val="0"/>
          <c:showCatName val="0"/>
          <c:showSerName val="0"/>
          <c:showPercent val="0"/>
          <c:showBubbleSize val="0"/>
        </c:dLbls>
        <c:axId val="-2128940872"/>
        <c:axId val="-2129643912"/>
      </c:scatterChart>
      <c:valAx>
        <c:axId val="-2128940872"/>
        <c:scaling>
          <c:orientation val="minMax"/>
          <c:max val="80"/>
          <c:min val="0"/>
        </c:scaling>
        <c:delete val="0"/>
        <c:axPos val="b"/>
        <c:title>
          <c:tx>
            <c:rich>
              <a:bodyPr/>
              <a:lstStyle/>
              <a:p>
                <a:r>
                  <a:rPr lang="en-GB" sz="1300" b="0">
                    <a:solidFill>
                      <a:srgbClr val="55606B"/>
                    </a:solidFill>
                  </a:rPr>
                  <a:t>Household income (£000s)</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9643912"/>
        <c:crosses val="autoZero"/>
        <c:crossBetween val="midCat"/>
        <c:majorUnit val="10"/>
      </c:valAx>
      <c:valAx>
        <c:axId val="-2129643912"/>
        <c:scaling>
          <c:orientation val="minMax"/>
        </c:scaling>
        <c:delete val="1"/>
        <c:axPos val="l"/>
        <c:numFmt formatCode="General" sourceLinked="1"/>
        <c:majorTickMark val="out"/>
        <c:minorTickMark val="none"/>
        <c:tickLblPos val="nextTo"/>
        <c:crossAx val="-2128940872"/>
        <c:crosses val="autoZero"/>
        <c:crossBetween val="midCat"/>
      </c:valAx>
    </c:plotArea>
    <c:legend>
      <c:legendPos val="b"/>
      <c:overlay val="0"/>
      <c:txPr>
        <a:bodyPr/>
        <a:lstStyle/>
        <a:p>
          <a:pPr>
            <a:defRPr sz="1400"/>
          </a:pPr>
          <a:endParaRPr lang="en-US"/>
        </a:p>
      </c:txPr>
    </c:legend>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Group 1 (mean 5)</c:v>
                </c:pt>
              </c:strCache>
            </c:strRef>
          </c:tx>
          <c:spPr>
            <a:ln w="38100">
              <a:solidFill>
                <a:srgbClr val="3F739B"/>
              </a:solidFill>
            </a:ln>
          </c:spPr>
          <c:marker>
            <c:symbol val="none"/>
          </c:marker>
          <c:xVal>
            <c:numRef>
              <c:f>Sheet1!$A$2:$A$222</c:f>
              <c:numCache>
                <c:formatCode>General</c:formatCode>
                <c:ptCount val="22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numCache>
            </c:numRef>
          </c:xVal>
          <c:yVal>
            <c:numRef>
              <c:f>Sheet1!$B$2:$B$222</c:f>
              <c:numCache>
                <c:formatCode>General</c:formatCode>
                <c:ptCount val="221"/>
                <c:pt idx="0">
                  <c:v>5.5346390748787098E-16</c:v>
                </c:pt>
                <c:pt idx="1">
                  <c:v>1.10452290932813E-15</c:v>
                </c:pt>
                <c:pt idx="2">
                  <c:v>2.1889922174819399E-15</c:v>
                </c:pt>
                <c:pt idx="3">
                  <c:v>4.3082190126078304E-15</c:v>
                </c:pt>
                <c:pt idx="4">
                  <c:v>8.4204518058948194E-15</c:v>
                </c:pt>
                <c:pt idx="5">
                  <c:v>1.6343952151393999E-14</c:v>
                </c:pt>
                <c:pt idx="6">
                  <c:v>3.15037923269363E-14</c:v>
                </c:pt>
                <c:pt idx="7">
                  <c:v>6.0304907518541496E-14</c:v>
                </c:pt>
                <c:pt idx="8">
                  <c:v>1.14637456517782E-13</c:v>
                </c:pt>
                <c:pt idx="9">
                  <c:v>2.1641357222803699E-13</c:v>
                </c:pt>
                <c:pt idx="10">
                  <c:v>4.0572008883816801E-13</c:v>
                </c:pt>
                <c:pt idx="11">
                  <c:v>7.5535758772528499E-13</c:v>
                </c:pt>
                <c:pt idx="12">
                  <c:v>1.3965701216982701E-12</c:v>
                </c:pt>
                <c:pt idx="13">
                  <c:v>2.5642299176021201E-12</c:v>
                </c:pt>
                <c:pt idx="14">
                  <c:v>4.6755773429521399E-12</c:v>
                </c:pt>
                <c:pt idx="15">
                  <c:v>8.4663768201878306E-12</c:v>
                </c:pt>
                <c:pt idx="16">
                  <c:v>1.5224534013940898E-11</c:v>
                </c:pt>
                <c:pt idx="17">
                  <c:v>2.7187826489907199E-11</c:v>
                </c:pt>
                <c:pt idx="18">
                  <c:v>4.8215762203464503E-11</c:v>
                </c:pt>
                <c:pt idx="19">
                  <c:v>8.4915632647394704E-11</c:v>
                </c:pt>
                <c:pt idx="20">
                  <c:v>1.4851500312253599E-10</c:v>
                </c:pt>
                <c:pt idx="21">
                  <c:v>2.5795091570099102E-10</c:v>
                </c:pt>
                <c:pt idx="22">
                  <c:v>4.4492610246047498E-10</c:v>
                </c:pt>
                <c:pt idx="23">
                  <c:v>7.6211895386254802E-10</c:v>
                </c:pt>
                <c:pt idx="24">
                  <c:v>1.2964080113449501E-9</c:v>
                </c:pt>
                <c:pt idx="25">
                  <c:v>2.1900030302598101E-9</c:v>
                </c:pt>
                <c:pt idx="26">
                  <c:v>3.6739377329360299E-9</c:v>
                </c:pt>
                <c:pt idx="27">
                  <c:v>6.1207259286688998E-9</c:v>
                </c:pt>
                <c:pt idx="28">
                  <c:v>1.01264714163721E-8</c:v>
                </c:pt>
                <c:pt idx="29">
                  <c:v>1.6637858068878699E-8</c:v>
                </c:pt>
                <c:pt idx="30">
                  <c:v>2.71469320126424E-8</c:v>
                </c:pt>
                <c:pt idx="31">
                  <c:v>4.3987386726176003E-8</c:v>
                </c:pt>
                <c:pt idx="32">
                  <c:v>7.0781479107581503E-8</c:v>
                </c:pt>
                <c:pt idx="33">
                  <c:v>1.1310848155469099E-7</c:v>
                </c:pt>
                <c:pt idx="34">
                  <c:v>1.7949600070905499E-7</c:v>
                </c:pt>
                <c:pt idx="35">
                  <c:v>2.8287752740469099E-7</c:v>
                </c:pt>
                <c:pt idx="36">
                  <c:v>4.4271698475365E-7</c:v>
                </c:pt>
                <c:pt idx="37">
                  <c:v>6.8807849810499996E-7</c:v>
                </c:pt>
                <c:pt idx="38">
                  <c:v>1.0620228369451501E-6</c:v>
                </c:pt>
                <c:pt idx="39">
                  <c:v>1.6278477761849299E-6</c:v>
                </c:pt>
                <c:pt idx="40">
                  <c:v>2.4778658578904999E-6</c:v>
                </c:pt>
                <c:pt idx="41">
                  <c:v>3.7456384870450199E-6</c:v>
                </c:pt>
                <c:pt idx="42">
                  <c:v>5.62286934357803E-6</c:v>
                </c:pt>
                <c:pt idx="43">
                  <c:v>8.3825121476540796E-6</c:v>
                </c:pt>
                <c:pt idx="44">
                  <c:v>1.2410076451050001E-5</c:v>
                </c:pt>
                <c:pt idx="45">
                  <c:v>1.8245626843558901E-5</c:v>
                </c:pt>
                <c:pt idx="46">
                  <c:v>2.66395685115091E-5</c:v>
                </c:pt>
                <c:pt idx="47">
                  <c:v>3.86259923309228E-5</c:v>
                </c:pt>
                <c:pt idx="48">
                  <c:v>5.5618103992730702E-5</c:v>
                </c:pt>
                <c:pt idx="49">
                  <c:v>7.9531060902008298E-5</c:v>
                </c:pt>
                <c:pt idx="50">
                  <c:v>1.12938349814696E-4</c:v>
                </c:pt>
                <c:pt idx="51">
                  <c:v>1.5926860125023201E-4</c:v>
                </c:pt>
                <c:pt idx="52">
                  <c:v>2.23050376274809E-4</c:v>
                </c:pt>
                <c:pt idx="53">
                  <c:v>3.1021287632624099E-4</c:v>
                </c:pt>
                <c:pt idx="54">
                  <c:v>4.2845059177051099E-4</c:v>
                </c:pt>
                <c:pt idx="55">
                  <c:v>5.8765947061240899E-4</c:v>
                </c:pt>
                <c:pt idx="56">
                  <c:v>8.0045108603470105E-4</c:v>
                </c:pt>
                <c:pt idx="57">
                  <c:v>1.0827493281992701E-3</c:v>
                </c:pt>
                <c:pt idx="58">
                  <c:v>1.4544711584096E-3</c:v>
                </c:pt>
                <c:pt idx="59">
                  <c:v>1.9402887728606399E-3</c:v>
                </c:pt>
                <c:pt idx="60">
                  <c:v>2.5704649938185099E-3</c:v>
                </c:pt>
                <c:pt idx="61">
                  <c:v>3.3817467621662899E-3</c:v>
                </c:pt>
                <c:pt idx="62">
                  <c:v>4.4182932573835097E-3</c:v>
                </c:pt>
                <c:pt idx="63">
                  <c:v>5.7326055453041699E-3</c:v>
                </c:pt>
                <c:pt idx="64">
                  <c:v>7.3864140198966798E-3</c:v>
                </c:pt>
                <c:pt idx="65">
                  <c:v>9.4514686990764697E-3</c:v>
                </c:pt>
                <c:pt idx="66">
                  <c:v>1.2010166274348699E-2</c:v>
                </c:pt>
                <c:pt idx="67">
                  <c:v>1.51559375026518E-2</c:v>
                </c:pt>
                <c:pt idx="68">
                  <c:v>1.8993310039662401E-2</c:v>
                </c:pt>
                <c:pt idx="69">
                  <c:v>2.3637556257395501E-2</c:v>
                </c:pt>
                <c:pt idx="70">
                  <c:v>2.92138341559476E-2</c:v>
                </c:pt>
                <c:pt idx="71">
                  <c:v>3.5855733361289402E-2</c:v>
                </c:pt>
                <c:pt idx="72">
                  <c:v>4.37031484895158E-2</c:v>
                </c:pt>
                <c:pt idx="73">
                  <c:v>5.2899419726112402E-2</c:v>
                </c:pt>
                <c:pt idx="74">
                  <c:v>6.3587705844030007E-2</c:v>
                </c:pt>
                <c:pt idx="75">
                  <c:v>7.59065881215093E-2</c:v>
                </c:pt>
                <c:pt idx="76">
                  <c:v>8.9984944188646804E-2</c:v>
                </c:pt>
                <c:pt idx="77">
                  <c:v>0.105936177528271</c:v>
                </c:pt>
                <c:pt idx="78">
                  <c:v>0.123851939264989</c:v>
                </c:pt>
                <c:pt idx="79">
                  <c:v>0.14379553137751899</c:v>
                </c:pt>
                <c:pt idx="80">
                  <c:v>0.16579523132124799</c:v>
                </c:pt>
                <c:pt idx="81">
                  <c:v>0.189837823533653</c:v>
                </c:pt>
                <c:pt idx="82">
                  <c:v>0.215862659443153</c:v>
                </c:pt>
                <c:pt idx="83">
                  <c:v>0.24375659046589301</c:v>
                </c:pt>
                <c:pt idx="84">
                  <c:v>0.27335012445999002</c:v>
                </c:pt>
                <c:pt idx="85">
                  <c:v>0.30441514231503702</c:v>
                </c:pt>
                <c:pt idx="86">
                  <c:v>0.33666447592343102</c:v>
                </c:pt>
                <c:pt idx="87">
                  <c:v>0.36975359117622703</c:v>
                </c:pt>
                <c:pt idx="88">
                  <c:v>0.40328454086523902</c:v>
                </c:pt>
                <c:pt idx="89">
                  <c:v>0.43681225513050198</c:v>
                </c:pt>
                <c:pt idx="90">
                  <c:v>0.46985312568383802</c:v>
                </c:pt>
                <c:pt idx="91">
                  <c:v>0.50189572025800699</c:v>
                </c:pt>
                <c:pt idx="92">
                  <c:v>0.53241334253725403</c:v>
                </c:pt>
                <c:pt idx="93">
                  <c:v>0.56087803790825597</c:v>
                </c:pt>
                <c:pt idx="94">
                  <c:v>0.58677554460716597</c:v>
                </c:pt>
                <c:pt idx="95">
                  <c:v>0.60962061069000395</c:v>
                </c:pt>
                <c:pt idx="96">
                  <c:v>0.62897204615498903</c:v>
                </c:pt>
                <c:pt idx="97">
                  <c:v>0.64444686133808204</c:v>
                </c:pt>
                <c:pt idx="98">
                  <c:v>0.65573286016989996</c:v>
                </c:pt>
                <c:pt idx="99">
                  <c:v>0.66259911043056996</c:v>
                </c:pt>
                <c:pt idx="100">
                  <c:v>0.66490380066905497</c:v>
                </c:pt>
                <c:pt idx="101">
                  <c:v>0.66259911043056996</c:v>
                </c:pt>
                <c:pt idx="102">
                  <c:v>0.65573286016989996</c:v>
                </c:pt>
                <c:pt idx="103">
                  <c:v>0.64444686133808204</c:v>
                </c:pt>
                <c:pt idx="104">
                  <c:v>0.62897204615498903</c:v>
                </c:pt>
                <c:pt idx="105">
                  <c:v>0.60962061069000395</c:v>
                </c:pt>
                <c:pt idx="106">
                  <c:v>0.58677554460716597</c:v>
                </c:pt>
                <c:pt idx="107">
                  <c:v>0.56087803790825497</c:v>
                </c:pt>
                <c:pt idx="108">
                  <c:v>0.53241334253725303</c:v>
                </c:pt>
                <c:pt idx="109">
                  <c:v>0.50189572025800699</c:v>
                </c:pt>
                <c:pt idx="110">
                  <c:v>0.46985312568383802</c:v>
                </c:pt>
                <c:pt idx="111">
                  <c:v>0.43681225513050198</c:v>
                </c:pt>
                <c:pt idx="112">
                  <c:v>0.40328454086523902</c:v>
                </c:pt>
                <c:pt idx="113">
                  <c:v>0.36975359117622603</c:v>
                </c:pt>
                <c:pt idx="114">
                  <c:v>0.33666447592343102</c:v>
                </c:pt>
                <c:pt idx="115">
                  <c:v>0.30441514231503702</c:v>
                </c:pt>
                <c:pt idx="116">
                  <c:v>0.27335012445998902</c:v>
                </c:pt>
                <c:pt idx="117">
                  <c:v>0.24375659046589301</c:v>
                </c:pt>
                <c:pt idx="118">
                  <c:v>0.215862659443153</c:v>
                </c:pt>
                <c:pt idx="119">
                  <c:v>0.189837823533653</c:v>
                </c:pt>
                <c:pt idx="120">
                  <c:v>0.16579523132124799</c:v>
                </c:pt>
                <c:pt idx="121">
                  <c:v>0.14379553137751899</c:v>
                </c:pt>
                <c:pt idx="122">
                  <c:v>0.123851939264988</c:v>
                </c:pt>
                <c:pt idx="123">
                  <c:v>0.10593617752827</c:v>
                </c:pt>
                <c:pt idx="124">
                  <c:v>8.9984944188646707E-2</c:v>
                </c:pt>
                <c:pt idx="125">
                  <c:v>7.59065881215093E-2</c:v>
                </c:pt>
                <c:pt idx="126">
                  <c:v>6.3587705844029799E-2</c:v>
                </c:pt>
                <c:pt idx="127">
                  <c:v>5.2899419726112201E-2</c:v>
                </c:pt>
                <c:pt idx="128">
                  <c:v>4.37031484895158E-2</c:v>
                </c:pt>
                <c:pt idx="129">
                  <c:v>3.5855733361289402E-2</c:v>
                </c:pt>
                <c:pt idx="130">
                  <c:v>2.92138341559476E-2</c:v>
                </c:pt>
                <c:pt idx="131">
                  <c:v>2.3637556257395401E-2</c:v>
                </c:pt>
                <c:pt idx="132">
                  <c:v>1.8993310039662301E-2</c:v>
                </c:pt>
                <c:pt idx="133">
                  <c:v>1.5155937502651699E-2</c:v>
                </c:pt>
                <c:pt idx="134">
                  <c:v>1.2010166274348699E-2</c:v>
                </c:pt>
                <c:pt idx="135">
                  <c:v>9.4514686990764697E-3</c:v>
                </c:pt>
                <c:pt idx="136">
                  <c:v>7.3864140198966503E-3</c:v>
                </c:pt>
                <c:pt idx="137">
                  <c:v>5.7326055453041404E-3</c:v>
                </c:pt>
                <c:pt idx="138">
                  <c:v>4.4182932573835001E-3</c:v>
                </c:pt>
                <c:pt idx="139">
                  <c:v>3.3817467621662699E-3</c:v>
                </c:pt>
                <c:pt idx="140">
                  <c:v>2.5704649938185099E-3</c:v>
                </c:pt>
                <c:pt idx="141">
                  <c:v>1.94028877286063E-3</c:v>
                </c:pt>
                <c:pt idx="142">
                  <c:v>1.4544711584096E-3</c:v>
                </c:pt>
                <c:pt idx="143">
                  <c:v>1.0827493281992701E-3</c:v>
                </c:pt>
                <c:pt idx="144">
                  <c:v>8.0045108603469996E-4</c:v>
                </c:pt>
                <c:pt idx="145">
                  <c:v>5.8765947061240899E-4</c:v>
                </c:pt>
                <c:pt idx="146">
                  <c:v>4.2845059177050898E-4</c:v>
                </c:pt>
                <c:pt idx="147">
                  <c:v>3.1021287632623898E-4</c:v>
                </c:pt>
                <c:pt idx="148">
                  <c:v>2.23050376274808E-4</c:v>
                </c:pt>
                <c:pt idx="149">
                  <c:v>1.5926860125023201E-4</c:v>
                </c:pt>
                <c:pt idx="150">
                  <c:v>1.12938349814696E-4</c:v>
                </c:pt>
                <c:pt idx="151">
                  <c:v>7.9531060902007702E-5</c:v>
                </c:pt>
                <c:pt idx="152">
                  <c:v>5.5618103992730302E-5</c:v>
                </c:pt>
                <c:pt idx="153">
                  <c:v>3.8625992330922698E-5</c:v>
                </c:pt>
                <c:pt idx="154">
                  <c:v>2.6639568511509001E-5</c:v>
                </c:pt>
                <c:pt idx="155">
                  <c:v>1.8245626843558901E-5</c:v>
                </c:pt>
                <c:pt idx="156">
                  <c:v>1.2410076451049901E-5</c:v>
                </c:pt>
                <c:pt idx="157">
                  <c:v>8.3825121476540508E-6</c:v>
                </c:pt>
                <c:pt idx="158">
                  <c:v>5.6228693435780003E-6</c:v>
                </c:pt>
                <c:pt idx="159">
                  <c:v>3.745638487045E-6</c:v>
                </c:pt>
                <c:pt idx="160">
                  <c:v>2.4778658578904999E-6</c:v>
                </c:pt>
                <c:pt idx="161">
                  <c:v>1.62784777618491E-6</c:v>
                </c:pt>
                <c:pt idx="162">
                  <c:v>1.0620228369451501E-6</c:v>
                </c:pt>
                <c:pt idx="163">
                  <c:v>6.8807849810499604E-7</c:v>
                </c:pt>
                <c:pt idx="164">
                  <c:v>4.4271698475364598E-7</c:v>
                </c:pt>
                <c:pt idx="165">
                  <c:v>2.8287752740469099E-7</c:v>
                </c:pt>
                <c:pt idx="166">
                  <c:v>1.7949600070905301E-7</c:v>
                </c:pt>
                <c:pt idx="167">
                  <c:v>1.1310848155469099E-7</c:v>
                </c:pt>
                <c:pt idx="168">
                  <c:v>7.0781479107581106E-8</c:v>
                </c:pt>
                <c:pt idx="169">
                  <c:v>4.3987386726175798E-8</c:v>
                </c:pt>
                <c:pt idx="170">
                  <c:v>2.71469320126424E-8</c:v>
                </c:pt>
                <c:pt idx="171">
                  <c:v>1.6637858068878599E-8</c:v>
                </c:pt>
                <c:pt idx="172">
                  <c:v>1.01264714163721E-8</c:v>
                </c:pt>
                <c:pt idx="173">
                  <c:v>6.1207259286688601E-9</c:v>
                </c:pt>
                <c:pt idx="174">
                  <c:v>3.6739377329359902E-9</c:v>
                </c:pt>
                <c:pt idx="175">
                  <c:v>2.1900030302598101E-9</c:v>
                </c:pt>
                <c:pt idx="176">
                  <c:v>1.29640801134493E-9</c:v>
                </c:pt>
                <c:pt idx="177">
                  <c:v>7.6211895386254802E-10</c:v>
                </c:pt>
                <c:pt idx="178">
                  <c:v>4.4492610246047301E-10</c:v>
                </c:pt>
                <c:pt idx="179">
                  <c:v>2.5795091570098802E-10</c:v>
                </c:pt>
                <c:pt idx="180">
                  <c:v>1.4851500312253599E-10</c:v>
                </c:pt>
                <c:pt idx="181">
                  <c:v>8.4915632647393696E-11</c:v>
                </c:pt>
                <c:pt idx="182">
                  <c:v>4.8215762203464503E-11</c:v>
                </c:pt>
                <c:pt idx="183">
                  <c:v>2.7187826489907199E-11</c:v>
                </c:pt>
                <c:pt idx="184">
                  <c:v>1.5224534013940801E-11</c:v>
                </c:pt>
                <c:pt idx="185">
                  <c:v>8.4663768201878306E-12</c:v>
                </c:pt>
                <c:pt idx="186">
                  <c:v>4.67557734295211E-12</c:v>
                </c:pt>
                <c:pt idx="187">
                  <c:v>2.5642299176021201E-12</c:v>
                </c:pt>
                <c:pt idx="188">
                  <c:v>1.3965701216982701E-12</c:v>
                </c:pt>
                <c:pt idx="189">
                  <c:v>7.5535758772527499E-13</c:v>
                </c:pt>
                <c:pt idx="190">
                  <c:v>4.0572008883816801E-13</c:v>
                </c:pt>
                <c:pt idx="191">
                  <c:v>2.1641357222803401E-13</c:v>
                </c:pt>
                <c:pt idx="192">
                  <c:v>1.14637456517779E-13</c:v>
                </c:pt>
                <c:pt idx="193">
                  <c:v>6.0304907518541496E-14</c:v>
                </c:pt>
                <c:pt idx="194">
                  <c:v>3.1503792326935801E-14</c:v>
                </c:pt>
                <c:pt idx="195">
                  <c:v>1.6343952151393999E-14</c:v>
                </c:pt>
                <c:pt idx="196">
                  <c:v>8.4204518058946995E-15</c:v>
                </c:pt>
                <c:pt idx="197">
                  <c:v>4.3082190126077696E-15</c:v>
                </c:pt>
                <c:pt idx="198">
                  <c:v>2.1889922174819399E-15</c:v>
                </c:pt>
                <c:pt idx="199">
                  <c:v>1.1045229093281099E-15</c:v>
                </c:pt>
                <c:pt idx="200">
                  <c:v>5.5346390748787098E-16</c:v>
                </c:pt>
                <c:pt idx="201">
                  <c:v>2.7541522708609101E-16</c:v>
                </c:pt>
                <c:pt idx="202">
                  <c:v>1.3610392719448799E-16</c:v>
                </c:pt>
                <c:pt idx="203">
                  <c:v>6.6793996843940196E-17</c:v>
                </c:pt>
                <c:pt idx="204">
                  <c:v>3.2552794219868102E-17</c:v>
                </c:pt>
                <c:pt idx="205">
                  <c:v>1.5755173136504799E-17</c:v>
                </c:pt>
                <c:pt idx="206">
                  <c:v>7.5725500668546604E-18</c:v>
                </c:pt>
                <c:pt idx="207">
                  <c:v>3.6144747303007903E-18</c:v>
                </c:pt>
                <c:pt idx="208">
                  <c:v>1.71329559527813E-18</c:v>
                </c:pt>
                <c:pt idx="209">
                  <c:v>8.0649832542447199E-19</c:v>
                </c:pt>
                <c:pt idx="210">
                  <c:v>3.77015067897569E-19</c:v>
                </c:pt>
                <c:pt idx="211">
                  <c:v>1.7502416383283699E-19</c:v>
                </c:pt>
                <c:pt idx="212">
                  <c:v>8.0690309529070404E-20</c:v>
                </c:pt>
                <c:pt idx="213">
                  <c:v>3.6942715674086798E-20</c:v>
                </c:pt>
                <c:pt idx="214">
                  <c:v>1.6796558990499701E-20</c:v>
                </c:pt>
                <c:pt idx="215">
                  <c:v>7.58395745080528E-21</c:v>
                </c:pt>
                <c:pt idx="216">
                  <c:v>3.40059977750825E-21</c:v>
                </c:pt>
                <c:pt idx="217">
                  <c:v>1.51425571866273E-21</c:v>
                </c:pt>
                <c:pt idx="218">
                  <c:v>6.6961779888816402E-22</c:v>
                </c:pt>
                <c:pt idx="219">
                  <c:v>2.9406194238445301E-22</c:v>
                </c:pt>
                <c:pt idx="220">
                  <c:v>1.28243310445107E-22</c:v>
                </c:pt>
              </c:numCache>
            </c:numRef>
          </c:yVal>
          <c:smooth val="0"/>
          <c:extLst>
            <c:ext xmlns:c16="http://schemas.microsoft.com/office/drawing/2014/chart" uri="{C3380CC4-5D6E-409C-BE32-E72D297353CC}">
              <c16:uniqueId val="{00000000-EACB-4B54-A080-C5C9049DE959}"/>
            </c:ext>
          </c:extLst>
        </c:ser>
        <c:ser>
          <c:idx val="1"/>
          <c:order val="1"/>
          <c:tx>
            <c:strRef>
              <c:f>Sheet1!$B$224</c:f>
              <c:strCache>
                <c:ptCount val="1"/>
                <c:pt idx="0">
                  <c:v>Group 2 (mean 6)</c:v>
                </c:pt>
              </c:strCache>
            </c:strRef>
          </c:tx>
          <c:spPr>
            <a:ln w="38100">
              <a:solidFill>
                <a:srgbClr val="B88C00"/>
              </a:solidFill>
            </a:ln>
          </c:spPr>
          <c:marker>
            <c:symbol val="none"/>
          </c:marker>
          <c:xVal>
            <c:numRef>
              <c:f>Sheet1!$A$225:$A$445</c:f>
              <c:numCache>
                <c:formatCode>General</c:formatCode>
                <c:ptCount val="22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numCache>
            </c:numRef>
          </c:xVal>
          <c:yVal>
            <c:numRef>
              <c:f>Sheet1!$B$225:$B$445</c:f>
              <c:numCache>
                <c:formatCode>General</c:formatCode>
                <c:ptCount val="221"/>
                <c:pt idx="0">
                  <c:v>1.28243310445107E-22</c:v>
                </c:pt>
                <c:pt idx="1">
                  <c:v>2.9406194238445898E-22</c:v>
                </c:pt>
                <c:pt idx="2">
                  <c:v>6.6961779888816402E-22</c:v>
                </c:pt>
                <c:pt idx="3">
                  <c:v>1.51425571866278E-21</c:v>
                </c:pt>
                <c:pt idx="4">
                  <c:v>3.4005997775083102E-21</c:v>
                </c:pt>
                <c:pt idx="5">
                  <c:v>7.58395745080528E-21</c:v>
                </c:pt>
                <c:pt idx="6">
                  <c:v>1.6796558990499999E-20</c:v>
                </c:pt>
                <c:pt idx="7">
                  <c:v>3.6942715674086798E-20</c:v>
                </c:pt>
                <c:pt idx="8">
                  <c:v>8.06903095290718E-20</c:v>
                </c:pt>
                <c:pt idx="9">
                  <c:v>1.7502416383283899E-19</c:v>
                </c:pt>
                <c:pt idx="10">
                  <c:v>3.77015067897569E-19</c:v>
                </c:pt>
                <c:pt idx="11">
                  <c:v>8.0649832542448499E-19</c:v>
                </c:pt>
                <c:pt idx="12">
                  <c:v>1.71329559527813E-18</c:v>
                </c:pt>
                <c:pt idx="13">
                  <c:v>3.6144747303008997E-18</c:v>
                </c:pt>
                <c:pt idx="14">
                  <c:v>7.5725500668547806E-18</c:v>
                </c:pt>
                <c:pt idx="15">
                  <c:v>1.5755173136504799E-17</c:v>
                </c:pt>
                <c:pt idx="16">
                  <c:v>3.2552794219868601E-17</c:v>
                </c:pt>
                <c:pt idx="17">
                  <c:v>6.6793996843940196E-17</c:v>
                </c:pt>
                <c:pt idx="18">
                  <c:v>1.36103927194493E-16</c:v>
                </c:pt>
                <c:pt idx="19">
                  <c:v>2.7541522708609501E-16</c:v>
                </c:pt>
                <c:pt idx="20">
                  <c:v>5.5346390748787098E-16</c:v>
                </c:pt>
                <c:pt idx="21">
                  <c:v>1.10452290932813E-15</c:v>
                </c:pt>
                <c:pt idx="22">
                  <c:v>2.1889922174819399E-15</c:v>
                </c:pt>
                <c:pt idx="23">
                  <c:v>4.3082190126078304E-15</c:v>
                </c:pt>
                <c:pt idx="24">
                  <c:v>8.4204518058948194E-15</c:v>
                </c:pt>
                <c:pt idx="25">
                  <c:v>1.6343952151393999E-14</c:v>
                </c:pt>
                <c:pt idx="26">
                  <c:v>3.15037923269363E-14</c:v>
                </c:pt>
                <c:pt idx="27">
                  <c:v>6.0304907518541496E-14</c:v>
                </c:pt>
                <c:pt idx="28">
                  <c:v>1.14637456517782E-13</c:v>
                </c:pt>
                <c:pt idx="29">
                  <c:v>2.1641357222803699E-13</c:v>
                </c:pt>
                <c:pt idx="30">
                  <c:v>4.0572008883816801E-13</c:v>
                </c:pt>
                <c:pt idx="31">
                  <c:v>7.5535758772528499E-13</c:v>
                </c:pt>
                <c:pt idx="32">
                  <c:v>1.3965701216982701E-12</c:v>
                </c:pt>
                <c:pt idx="33">
                  <c:v>2.5642299176021201E-12</c:v>
                </c:pt>
                <c:pt idx="34">
                  <c:v>4.6755773429521399E-12</c:v>
                </c:pt>
                <c:pt idx="35">
                  <c:v>8.4663768201878306E-12</c:v>
                </c:pt>
                <c:pt idx="36">
                  <c:v>1.5224534013940898E-11</c:v>
                </c:pt>
                <c:pt idx="37">
                  <c:v>2.7187826489907199E-11</c:v>
                </c:pt>
                <c:pt idx="38">
                  <c:v>4.8215762203464503E-11</c:v>
                </c:pt>
                <c:pt idx="39">
                  <c:v>8.4915632647394704E-11</c:v>
                </c:pt>
                <c:pt idx="40">
                  <c:v>1.4851500312253599E-10</c:v>
                </c:pt>
                <c:pt idx="41">
                  <c:v>2.57950915700992E-10</c:v>
                </c:pt>
                <c:pt idx="42">
                  <c:v>4.4492610246047498E-10</c:v>
                </c:pt>
                <c:pt idx="43">
                  <c:v>7.6211895386254399E-10</c:v>
                </c:pt>
                <c:pt idx="44">
                  <c:v>1.2964080113449501E-9</c:v>
                </c:pt>
                <c:pt idx="45">
                  <c:v>2.1900030302598101E-9</c:v>
                </c:pt>
                <c:pt idx="46">
                  <c:v>3.6739377329360501E-9</c:v>
                </c:pt>
                <c:pt idx="47">
                  <c:v>6.1207259286688998E-9</c:v>
                </c:pt>
                <c:pt idx="48">
                  <c:v>1.01264714163721E-8</c:v>
                </c:pt>
                <c:pt idx="49">
                  <c:v>1.6637858068878699E-8</c:v>
                </c:pt>
                <c:pt idx="50">
                  <c:v>2.71469320126424E-8</c:v>
                </c:pt>
                <c:pt idx="51">
                  <c:v>4.3987386726176201E-8</c:v>
                </c:pt>
                <c:pt idx="52">
                  <c:v>7.0781479107581503E-8</c:v>
                </c:pt>
                <c:pt idx="53">
                  <c:v>1.1310848155469099E-7</c:v>
                </c:pt>
                <c:pt idx="54">
                  <c:v>1.7949600070905499E-7</c:v>
                </c:pt>
                <c:pt idx="55">
                  <c:v>2.8287752740469099E-7</c:v>
                </c:pt>
                <c:pt idx="56">
                  <c:v>4.4271698475365201E-7</c:v>
                </c:pt>
                <c:pt idx="57">
                  <c:v>6.8807849810499996E-7</c:v>
                </c:pt>
                <c:pt idx="58">
                  <c:v>1.0620228369451501E-6</c:v>
                </c:pt>
                <c:pt idx="59">
                  <c:v>1.6278477761849299E-6</c:v>
                </c:pt>
                <c:pt idx="60">
                  <c:v>2.4778658578904999E-6</c:v>
                </c:pt>
                <c:pt idx="61">
                  <c:v>3.7456384870450199E-6</c:v>
                </c:pt>
                <c:pt idx="62">
                  <c:v>5.62286934357803E-6</c:v>
                </c:pt>
                <c:pt idx="63">
                  <c:v>8.3825121476540796E-6</c:v>
                </c:pt>
                <c:pt idx="64">
                  <c:v>1.2410076451050001E-5</c:v>
                </c:pt>
                <c:pt idx="65">
                  <c:v>1.8245626843558901E-5</c:v>
                </c:pt>
                <c:pt idx="66">
                  <c:v>2.66395685115091E-5</c:v>
                </c:pt>
                <c:pt idx="67">
                  <c:v>3.86259923309228E-5</c:v>
                </c:pt>
                <c:pt idx="68">
                  <c:v>5.5618103992730702E-5</c:v>
                </c:pt>
                <c:pt idx="69">
                  <c:v>7.9531060902008298E-5</c:v>
                </c:pt>
                <c:pt idx="70">
                  <c:v>1.12938349814696E-4</c:v>
                </c:pt>
                <c:pt idx="71">
                  <c:v>1.5926860125023201E-4</c:v>
                </c:pt>
                <c:pt idx="72">
                  <c:v>2.23050376274809E-4</c:v>
                </c:pt>
                <c:pt idx="73">
                  <c:v>3.1021287632624099E-4</c:v>
                </c:pt>
                <c:pt idx="74">
                  <c:v>4.2845059177051099E-4</c:v>
                </c:pt>
                <c:pt idx="75">
                  <c:v>5.8765947061240899E-4</c:v>
                </c:pt>
                <c:pt idx="76">
                  <c:v>8.0045108603470105E-4</c:v>
                </c:pt>
                <c:pt idx="77">
                  <c:v>1.0827493281992701E-3</c:v>
                </c:pt>
                <c:pt idx="78">
                  <c:v>1.4544711584096E-3</c:v>
                </c:pt>
                <c:pt idx="79">
                  <c:v>1.9402887728606399E-3</c:v>
                </c:pt>
                <c:pt idx="80">
                  <c:v>2.5704649938185099E-3</c:v>
                </c:pt>
                <c:pt idx="81">
                  <c:v>3.3817467621662699E-3</c:v>
                </c:pt>
                <c:pt idx="82">
                  <c:v>4.4182932573835201E-3</c:v>
                </c:pt>
                <c:pt idx="83">
                  <c:v>5.7326055453041699E-3</c:v>
                </c:pt>
                <c:pt idx="84">
                  <c:v>7.3864140198966798E-3</c:v>
                </c:pt>
                <c:pt idx="85">
                  <c:v>9.4514686990764697E-3</c:v>
                </c:pt>
                <c:pt idx="86">
                  <c:v>1.2010166274348699E-2</c:v>
                </c:pt>
                <c:pt idx="87">
                  <c:v>1.51559375026518E-2</c:v>
                </c:pt>
                <c:pt idx="88">
                  <c:v>1.8993310039662401E-2</c:v>
                </c:pt>
                <c:pt idx="89">
                  <c:v>2.3637556257395501E-2</c:v>
                </c:pt>
                <c:pt idx="90">
                  <c:v>2.92138341559476E-2</c:v>
                </c:pt>
                <c:pt idx="91">
                  <c:v>3.5855733361289402E-2</c:v>
                </c:pt>
                <c:pt idx="92">
                  <c:v>4.3703148489515897E-2</c:v>
                </c:pt>
                <c:pt idx="93">
                  <c:v>5.2899419726112402E-2</c:v>
                </c:pt>
                <c:pt idx="94">
                  <c:v>6.3587705844030007E-2</c:v>
                </c:pt>
                <c:pt idx="95">
                  <c:v>7.59065881215093E-2</c:v>
                </c:pt>
                <c:pt idx="96">
                  <c:v>8.9984944188646901E-2</c:v>
                </c:pt>
                <c:pt idx="97">
                  <c:v>0.105936177528271</c:v>
                </c:pt>
                <c:pt idx="98">
                  <c:v>0.123851939264989</c:v>
                </c:pt>
                <c:pt idx="99">
                  <c:v>0.14379553137751899</c:v>
                </c:pt>
                <c:pt idx="100">
                  <c:v>0.16579523132124799</c:v>
                </c:pt>
                <c:pt idx="101">
                  <c:v>0.189837823533653</c:v>
                </c:pt>
                <c:pt idx="102">
                  <c:v>0.215862659443153</c:v>
                </c:pt>
                <c:pt idx="103">
                  <c:v>0.24375659046589301</c:v>
                </c:pt>
                <c:pt idx="104">
                  <c:v>0.27335012445999002</c:v>
                </c:pt>
                <c:pt idx="105">
                  <c:v>0.30441514231503702</c:v>
                </c:pt>
                <c:pt idx="106">
                  <c:v>0.33666447592343202</c:v>
                </c:pt>
                <c:pt idx="107">
                  <c:v>0.36975359117622703</c:v>
                </c:pt>
                <c:pt idx="108">
                  <c:v>0.40328454086523902</c:v>
                </c:pt>
                <c:pt idx="109">
                  <c:v>0.43681225513050198</c:v>
                </c:pt>
                <c:pt idx="110">
                  <c:v>0.46985312568383802</c:v>
                </c:pt>
                <c:pt idx="111">
                  <c:v>0.50189572025800799</c:v>
                </c:pt>
                <c:pt idx="112">
                  <c:v>0.53241334253725403</c:v>
                </c:pt>
                <c:pt idx="113">
                  <c:v>0.56087803790825597</c:v>
                </c:pt>
                <c:pt idx="114">
                  <c:v>0.58677554460716597</c:v>
                </c:pt>
                <c:pt idx="115">
                  <c:v>0.60962061069000395</c:v>
                </c:pt>
                <c:pt idx="116">
                  <c:v>0.62897204615498903</c:v>
                </c:pt>
                <c:pt idx="117">
                  <c:v>0.64444686133808204</c:v>
                </c:pt>
                <c:pt idx="118">
                  <c:v>0.65573286016989996</c:v>
                </c:pt>
                <c:pt idx="119">
                  <c:v>0.66259911043056996</c:v>
                </c:pt>
                <c:pt idx="120">
                  <c:v>0.66490380066905497</c:v>
                </c:pt>
                <c:pt idx="121">
                  <c:v>0.66259911043056996</c:v>
                </c:pt>
                <c:pt idx="122">
                  <c:v>0.65573286016989996</c:v>
                </c:pt>
                <c:pt idx="123">
                  <c:v>0.64444686133808204</c:v>
                </c:pt>
                <c:pt idx="124">
                  <c:v>0.62897204615498903</c:v>
                </c:pt>
                <c:pt idx="125">
                  <c:v>0.60962061069000395</c:v>
                </c:pt>
                <c:pt idx="126">
                  <c:v>0.58677554460716597</c:v>
                </c:pt>
                <c:pt idx="127">
                  <c:v>0.56087803790825497</c:v>
                </c:pt>
                <c:pt idx="128">
                  <c:v>0.53241334253725303</c:v>
                </c:pt>
                <c:pt idx="129">
                  <c:v>0.50189572025800699</c:v>
                </c:pt>
                <c:pt idx="130">
                  <c:v>0.46985312568383802</c:v>
                </c:pt>
                <c:pt idx="131">
                  <c:v>0.43681225513050198</c:v>
                </c:pt>
                <c:pt idx="132">
                  <c:v>0.40328454086523902</c:v>
                </c:pt>
                <c:pt idx="133">
                  <c:v>0.36975359117622603</c:v>
                </c:pt>
                <c:pt idx="134">
                  <c:v>0.33666447592343102</c:v>
                </c:pt>
                <c:pt idx="135">
                  <c:v>0.30441514231503702</c:v>
                </c:pt>
                <c:pt idx="136">
                  <c:v>0.27335012445998902</c:v>
                </c:pt>
                <c:pt idx="137">
                  <c:v>0.24375659046589301</c:v>
                </c:pt>
                <c:pt idx="138">
                  <c:v>0.215862659443153</c:v>
                </c:pt>
                <c:pt idx="139">
                  <c:v>0.189837823533653</c:v>
                </c:pt>
                <c:pt idx="140">
                  <c:v>0.16579523132124799</c:v>
                </c:pt>
                <c:pt idx="141">
                  <c:v>0.14379553137751899</c:v>
                </c:pt>
                <c:pt idx="142">
                  <c:v>0.123851939264988</c:v>
                </c:pt>
                <c:pt idx="143">
                  <c:v>0.10593617752827</c:v>
                </c:pt>
                <c:pt idx="144">
                  <c:v>8.9984944188646707E-2</c:v>
                </c:pt>
                <c:pt idx="145">
                  <c:v>7.59065881215093E-2</c:v>
                </c:pt>
                <c:pt idx="146">
                  <c:v>6.3587705844029799E-2</c:v>
                </c:pt>
                <c:pt idx="147">
                  <c:v>5.2899419726112201E-2</c:v>
                </c:pt>
                <c:pt idx="148">
                  <c:v>4.37031484895158E-2</c:v>
                </c:pt>
                <c:pt idx="149">
                  <c:v>3.5855733361289402E-2</c:v>
                </c:pt>
                <c:pt idx="150">
                  <c:v>2.92138341559476E-2</c:v>
                </c:pt>
                <c:pt idx="151">
                  <c:v>2.3637556257395401E-2</c:v>
                </c:pt>
                <c:pt idx="152">
                  <c:v>1.8993310039662301E-2</c:v>
                </c:pt>
                <c:pt idx="153">
                  <c:v>1.5155937502651699E-2</c:v>
                </c:pt>
                <c:pt idx="154">
                  <c:v>1.2010166274348699E-2</c:v>
                </c:pt>
                <c:pt idx="155">
                  <c:v>9.4514686990764697E-3</c:v>
                </c:pt>
                <c:pt idx="156">
                  <c:v>7.3864140198966503E-3</c:v>
                </c:pt>
                <c:pt idx="157">
                  <c:v>5.7326055453041404E-3</c:v>
                </c:pt>
                <c:pt idx="158">
                  <c:v>4.4182932573835001E-3</c:v>
                </c:pt>
                <c:pt idx="159">
                  <c:v>3.3817467621662699E-3</c:v>
                </c:pt>
                <c:pt idx="160">
                  <c:v>2.5704649938185099E-3</c:v>
                </c:pt>
                <c:pt idx="161">
                  <c:v>1.94028877286063E-3</c:v>
                </c:pt>
                <c:pt idx="162">
                  <c:v>1.4544711584096E-3</c:v>
                </c:pt>
                <c:pt idx="163">
                  <c:v>1.0827493281992701E-3</c:v>
                </c:pt>
                <c:pt idx="164">
                  <c:v>8.0045108603469498E-4</c:v>
                </c:pt>
                <c:pt idx="165">
                  <c:v>5.8765947061240899E-4</c:v>
                </c:pt>
                <c:pt idx="166">
                  <c:v>4.2845059177050898E-4</c:v>
                </c:pt>
                <c:pt idx="167">
                  <c:v>3.1021287632624099E-4</c:v>
                </c:pt>
                <c:pt idx="168">
                  <c:v>2.23050376274808E-4</c:v>
                </c:pt>
                <c:pt idx="169">
                  <c:v>1.5926860125023E-4</c:v>
                </c:pt>
                <c:pt idx="170">
                  <c:v>1.12938349814696E-4</c:v>
                </c:pt>
                <c:pt idx="171">
                  <c:v>7.9531060902007702E-5</c:v>
                </c:pt>
                <c:pt idx="172">
                  <c:v>5.5618103992730702E-5</c:v>
                </c:pt>
                <c:pt idx="173">
                  <c:v>3.8625992330922698E-5</c:v>
                </c:pt>
                <c:pt idx="174">
                  <c:v>2.66395685115089E-5</c:v>
                </c:pt>
                <c:pt idx="175">
                  <c:v>1.8245626843558901E-5</c:v>
                </c:pt>
                <c:pt idx="176">
                  <c:v>1.2410076451049901E-5</c:v>
                </c:pt>
                <c:pt idx="177">
                  <c:v>8.3825121476540796E-6</c:v>
                </c:pt>
                <c:pt idx="178">
                  <c:v>5.6228693435780003E-6</c:v>
                </c:pt>
                <c:pt idx="179">
                  <c:v>3.74563848704497E-6</c:v>
                </c:pt>
                <c:pt idx="180">
                  <c:v>2.4778658578904999E-6</c:v>
                </c:pt>
                <c:pt idx="181">
                  <c:v>1.62784777618491E-6</c:v>
                </c:pt>
                <c:pt idx="182">
                  <c:v>1.0620228369451501E-6</c:v>
                </c:pt>
                <c:pt idx="183">
                  <c:v>6.8807849810499604E-7</c:v>
                </c:pt>
                <c:pt idx="184">
                  <c:v>4.4271698475364598E-7</c:v>
                </c:pt>
                <c:pt idx="185">
                  <c:v>2.8287752740469099E-7</c:v>
                </c:pt>
                <c:pt idx="186">
                  <c:v>1.7949600070905301E-7</c:v>
                </c:pt>
                <c:pt idx="187">
                  <c:v>1.1310848155469099E-7</c:v>
                </c:pt>
                <c:pt idx="188">
                  <c:v>7.0781479107581106E-8</c:v>
                </c:pt>
                <c:pt idx="189">
                  <c:v>4.3987386726175798E-8</c:v>
                </c:pt>
                <c:pt idx="190">
                  <c:v>2.71469320126424E-8</c:v>
                </c:pt>
                <c:pt idx="191">
                  <c:v>1.6637858068878599E-8</c:v>
                </c:pt>
                <c:pt idx="192">
                  <c:v>1.0126471416371999E-8</c:v>
                </c:pt>
                <c:pt idx="193">
                  <c:v>6.1207259286688601E-9</c:v>
                </c:pt>
                <c:pt idx="194">
                  <c:v>3.6739377329359902E-9</c:v>
                </c:pt>
                <c:pt idx="195">
                  <c:v>2.1900030302598101E-9</c:v>
                </c:pt>
                <c:pt idx="196">
                  <c:v>1.29640801134493E-9</c:v>
                </c:pt>
                <c:pt idx="197">
                  <c:v>7.6211895386253096E-10</c:v>
                </c:pt>
                <c:pt idx="198">
                  <c:v>4.4492610246047301E-10</c:v>
                </c:pt>
                <c:pt idx="199">
                  <c:v>2.5795091570098802E-10</c:v>
                </c:pt>
                <c:pt idx="200">
                  <c:v>1.4851500312253599E-10</c:v>
                </c:pt>
                <c:pt idx="201">
                  <c:v>8.4915632647393696E-11</c:v>
                </c:pt>
                <c:pt idx="202">
                  <c:v>4.8215762203463598E-11</c:v>
                </c:pt>
                <c:pt idx="203">
                  <c:v>2.7187826489907199E-11</c:v>
                </c:pt>
                <c:pt idx="204">
                  <c:v>1.5224534013940801E-11</c:v>
                </c:pt>
                <c:pt idx="205">
                  <c:v>8.4663768201878306E-12</c:v>
                </c:pt>
                <c:pt idx="206">
                  <c:v>4.67557734295211E-12</c:v>
                </c:pt>
                <c:pt idx="207">
                  <c:v>2.5642299176020801E-12</c:v>
                </c:pt>
                <c:pt idx="208">
                  <c:v>1.3965701216982701E-12</c:v>
                </c:pt>
                <c:pt idx="209">
                  <c:v>7.5535758772527499E-13</c:v>
                </c:pt>
                <c:pt idx="210">
                  <c:v>4.0572008883816801E-13</c:v>
                </c:pt>
                <c:pt idx="211">
                  <c:v>2.1641357222803401E-13</c:v>
                </c:pt>
                <c:pt idx="212">
                  <c:v>1.14637456517779E-13</c:v>
                </c:pt>
                <c:pt idx="213">
                  <c:v>6.0304907518541496E-14</c:v>
                </c:pt>
                <c:pt idx="214">
                  <c:v>3.1503792326935801E-14</c:v>
                </c:pt>
                <c:pt idx="215">
                  <c:v>1.6343952151393999E-14</c:v>
                </c:pt>
                <c:pt idx="216">
                  <c:v>8.4204518058946995E-15</c:v>
                </c:pt>
                <c:pt idx="217">
                  <c:v>4.3082190126077696E-15</c:v>
                </c:pt>
                <c:pt idx="218">
                  <c:v>2.1889922174819399E-15</c:v>
                </c:pt>
                <c:pt idx="219">
                  <c:v>1.1045229093281099E-15</c:v>
                </c:pt>
                <c:pt idx="220">
                  <c:v>5.5346390748787098E-16</c:v>
                </c:pt>
              </c:numCache>
            </c:numRef>
          </c:yVal>
          <c:smooth val="0"/>
          <c:extLst>
            <c:ext xmlns:c16="http://schemas.microsoft.com/office/drawing/2014/chart" uri="{C3380CC4-5D6E-409C-BE32-E72D297353CC}">
              <c16:uniqueId val="{00000001-EACB-4B54-A080-C5C9049DE959}"/>
            </c:ext>
          </c:extLst>
        </c:ser>
        <c:dLbls>
          <c:showLegendKey val="0"/>
          <c:showVal val="0"/>
          <c:showCatName val="0"/>
          <c:showSerName val="0"/>
          <c:showPercent val="0"/>
          <c:showBubbleSize val="0"/>
        </c:dLbls>
        <c:axId val="-2128940872"/>
        <c:axId val="-2129643912"/>
      </c:scatterChart>
      <c:valAx>
        <c:axId val="-2128940872"/>
        <c:scaling>
          <c:orientation val="minMax"/>
          <c:max val="11"/>
          <c:min val="0"/>
        </c:scaling>
        <c:delete val="0"/>
        <c:axPos val="b"/>
        <c:title>
          <c:tx>
            <c:rich>
              <a:bodyPr/>
              <a:lstStyle/>
              <a:p>
                <a:r>
                  <a:rPr lang="en-GB" sz="1300" b="0">
                    <a:solidFill>
                      <a:srgbClr val="55606B"/>
                    </a:solidFill>
                  </a:rPr>
                  <a:t>Score</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9643912"/>
        <c:crosses val="autoZero"/>
        <c:crossBetween val="midCat"/>
        <c:majorUnit val="1"/>
      </c:valAx>
      <c:valAx>
        <c:axId val="-2129643912"/>
        <c:scaling>
          <c:orientation val="minMax"/>
        </c:scaling>
        <c:delete val="1"/>
        <c:axPos val="l"/>
        <c:numFmt formatCode="General" sourceLinked="1"/>
        <c:majorTickMark val="out"/>
        <c:minorTickMark val="none"/>
        <c:tickLblPos val="nextTo"/>
        <c:crossAx val="-2128940872"/>
        <c:crosses val="autoZero"/>
        <c:crossBetween val="midCat"/>
      </c:valAx>
    </c:plotArea>
    <c:legend>
      <c:legendPos val="t"/>
      <c:overlay val="0"/>
      <c:txPr>
        <a:bodyPr/>
        <a:lstStyle/>
        <a:p>
          <a:pPr>
            <a:defRPr sz="1400"/>
          </a:pPr>
          <a:endParaRPr lang="en-US"/>
        </a:p>
      </c:txPr>
    </c:legend>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Group 1 (mean 5)</c:v>
                </c:pt>
              </c:strCache>
            </c:strRef>
          </c:tx>
          <c:spPr>
            <a:ln w="38100">
              <a:solidFill>
                <a:srgbClr val="3F739B"/>
              </a:solidFill>
            </a:ln>
          </c:spPr>
          <c:marker>
            <c:symbol val="none"/>
          </c:marker>
          <c:xVal>
            <c:numRef>
              <c:f>Sheet1!$A$2:$A$222</c:f>
              <c:numCache>
                <c:formatCode>General</c:formatCode>
                <c:ptCount val="22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numCache>
            </c:numRef>
          </c:xVal>
          <c:yVal>
            <c:numRef>
              <c:f>Sheet1!$B$2:$B$222</c:f>
              <c:numCache>
                <c:formatCode>General</c:formatCode>
                <c:ptCount val="221"/>
                <c:pt idx="0">
                  <c:v>1.6329261174968399E-2</c:v>
                </c:pt>
                <c:pt idx="1">
                  <c:v>1.7115446277180198E-2</c:v>
                </c:pt>
                <c:pt idx="2">
                  <c:v>1.7931006865021901E-2</c:v>
                </c:pt>
                <c:pt idx="3">
                  <c:v>1.87765536663091E-2</c:v>
                </c:pt>
                <c:pt idx="4">
                  <c:v>1.9652682854428699E-2</c:v>
                </c:pt>
                <c:pt idx="5">
                  <c:v>2.0559974209190899E-2</c:v>
                </c:pt>
                <c:pt idx="6">
                  <c:v>2.1498989231048201E-2</c:v>
                </c:pt>
                <c:pt idx="7">
                  <c:v>2.2470269211975698E-2</c:v>
                </c:pt>
                <c:pt idx="8">
                  <c:v>2.34743332666035E-2</c:v>
                </c:pt>
                <c:pt idx="9">
                  <c:v>2.4511676327494101E-2</c:v>
                </c:pt>
                <c:pt idx="10">
                  <c:v>2.5582767108752701E-2</c:v>
                </c:pt>
                <c:pt idx="11">
                  <c:v>2.6688046042456101E-2</c:v>
                </c:pt>
                <c:pt idx="12">
                  <c:v>2.7827923192676102E-2</c:v>
                </c:pt>
                <c:pt idx="13">
                  <c:v>2.9002776152156899E-2</c:v>
                </c:pt>
                <c:pt idx="14">
                  <c:v>3.0212947926989E-2</c:v>
                </c:pt>
                <c:pt idx="15">
                  <c:v>3.14587448148861E-2</c:v>
                </c:pt>
                <c:pt idx="16">
                  <c:v>3.2740434282936298E-2</c:v>
                </c:pt>
                <c:pt idx="17">
                  <c:v>3.4058242850943797E-2</c:v>
                </c:pt>
                <c:pt idx="18">
                  <c:v>3.5412353986714502E-2</c:v>
                </c:pt>
                <c:pt idx="19">
                  <c:v>3.6802906019854802E-2</c:v>
                </c:pt>
                <c:pt idx="20">
                  <c:v>3.8229990080863301E-2</c:v>
                </c:pt>
                <c:pt idx="21">
                  <c:v>3.9693648072473303E-2</c:v>
                </c:pt>
                <c:pt idx="22">
                  <c:v>4.1193870680375499E-2</c:v>
                </c:pt>
                <c:pt idx="23">
                  <c:v>4.2730595430593599E-2</c:v>
                </c:pt>
                <c:pt idx="24">
                  <c:v>4.4303704800908603E-2</c:v>
                </c:pt>
                <c:pt idx="25">
                  <c:v>4.5913024393827502E-2</c:v>
                </c:pt>
                <c:pt idx="26">
                  <c:v>4.7558321178664799E-2</c:v>
                </c:pt>
                <c:pt idx="27">
                  <c:v>4.92393018103549E-2</c:v>
                </c:pt>
                <c:pt idx="28">
                  <c:v>5.0955611032630597E-2</c:v>
                </c:pt>
                <c:pt idx="29">
                  <c:v>5.2706830173199902E-2</c:v>
                </c:pt>
                <c:pt idx="30">
                  <c:v>5.4492475738507198E-2</c:v>
                </c:pt>
                <c:pt idx="31">
                  <c:v>5.6311998115605097E-2</c:v>
                </c:pt>
                <c:pt idx="32">
                  <c:v>5.8164780388555902E-2</c:v>
                </c:pt>
                <c:pt idx="33">
                  <c:v>6.0050137276654397E-2</c:v>
                </c:pt>
                <c:pt idx="34">
                  <c:v>6.1967314201597297E-2</c:v>
                </c:pt>
                <c:pt idx="35">
                  <c:v>6.3915486490528001E-2</c:v>
                </c:pt>
                <c:pt idx="36">
                  <c:v>6.5893758721654594E-2</c:v>
                </c:pt>
                <c:pt idx="37">
                  <c:v>6.7901164218876597E-2</c:v>
                </c:pt>
                <c:pt idx="38">
                  <c:v>6.9936664701558002E-2</c:v>
                </c:pt>
                <c:pt idx="39">
                  <c:v>7.1999150095254996E-2</c:v>
                </c:pt>
                <c:pt idx="40">
                  <c:v>7.4087438508846595E-2</c:v>
                </c:pt>
                <c:pt idx="41">
                  <c:v>7.6200276383119006E-2</c:v>
                </c:pt>
                <c:pt idx="42">
                  <c:v>7.8336338815433004E-2</c:v>
                </c:pt>
                <c:pt idx="43">
                  <c:v>8.0494230064647204E-2</c:v>
                </c:pt>
                <c:pt idx="44">
                  <c:v>8.2672484239982996E-2</c:v>
                </c:pt>
                <c:pt idx="45">
                  <c:v>8.4869566177009706E-2</c:v>
                </c:pt>
                <c:pt idx="46">
                  <c:v>8.7083872503383994E-2</c:v>
                </c:pt>
                <c:pt idx="47">
                  <c:v>8.9313732896418002E-2</c:v>
                </c:pt>
                <c:pt idx="48">
                  <c:v>9.1557411533960298E-2</c:v>
                </c:pt>
                <c:pt idx="49">
                  <c:v>9.3813108739468104E-2</c:v>
                </c:pt>
                <c:pt idx="50">
                  <c:v>9.6078962821519495E-2</c:v>
                </c:pt>
                <c:pt idx="51">
                  <c:v>9.8353052107370706E-2</c:v>
                </c:pt>
                <c:pt idx="52">
                  <c:v>0.10063339716950399</c:v>
                </c:pt>
                <c:pt idx="53">
                  <c:v>0.10291796324344001</c:v>
                </c:pt>
                <c:pt idx="54">
                  <c:v>0.10520466283441</c:v>
                </c:pt>
                <c:pt idx="55">
                  <c:v>0.107491358509786</c:v>
                </c:pt>
                <c:pt idx="56">
                  <c:v>0.109775865873489</c:v>
                </c:pt>
                <c:pt idx="57">
                  <c:v>0.11205595671789501</c:v>
                </c:pt>
                <c:pt idx="58">
                  <c:v>0.11432936234805501</c:v>
                </c:pt>
                <c:pt idx="59">
                  <c:v>0.116593777072382</c:v>
                </c:pt>
                <c:pt idx="60">
                  <c:v>0.118846861853267</c:v>
                </c:pt>
                <c:pt idx="61">
                  <c:v>0.121086248110399</c:v>
                </c:pt>
                <c:pt idx="62">
                  <c:v>0.123309541668957</c:v>
                </c:pt>
                <c:pt idx="63">
                  <c:v>0.12551432684414299</c:v>
                </c:pt>
                <c:pt idx="64">
                  <c:v>0.12769817065296801</c:v>
                </c:pt>
                <c:pt idx="65">
                  <c:v>0.129858627143565</c:v>
                </c:pt>
                <c:pt idx="66">
                  <c:v>0.13199324183175201</c:v>
                </c:pt>
                <c:pt idx="67">
                  <c:v>0.13409955623403599</c:v>
                </c:pt>
                <c:pt idx="68">
                  <c:v>0.136175112485724</c:v>
                </c:pt>
                <c:pt idx="69">
                  <c:v>0.138217458032354</c:v>
                </c:pt>
                <c:pt idx="70">
                  <c:v>0.14022415038220701</c:v>
                </c:pt>
                <c:pt idx="71">
                  <c:v>0.14219276190727401</c:v>
                </c:pt>
                <c:pt idx="72">
                  <c:v>0.144120884679697</c:v>
                </c:pt>
                <c:pt idx="73">
                  <c:v>0.146006135330393</c:v>
                </c:pt>
                <c:pt idx="74">
                  <c:v>0.14784615991630501</c:v>
                </c:pt>
                <c:pt idx="75">
                  <c:v>0.14963863878251399</c:v>
                </c:pt>
                <c:pt idx="76">
                  <c:v>0.15138129140526599</c:v>
                </c:pt>
                <c:pt idx="77">
                  <c:v>0.15307188120186899</c:v>
                </c:pt>
                <c:pt idx="78">
                  <c:v>0.15470822029334599</c:v>
                </c:pt>
                <c:pt idx="79">
                  <c:v>0.15628817420570901</c:v>
                </c:pt>
                <c:pt idx="80">
                  <c:v>0.15780966649577999</c:v>
                </c:pt>
                <c:pt idx="81">
                  <c:v>0.159270683287564</c:v>
                </c:pt>
                <c:pt idx="82">
                  <c:v>0.160669277705351</c:v>
                </c:pt>
                <c:pt idx="83">
                  <c:v>0.1620035741899</c:v>
                </c:pt>
                <c:pt idx="84">
                  <c:v>0.163271772684349</c:v>
                </c:pt>
                <c:pt idx="85">
                  <c:v>0.164472152676784</c:v>
                </c:pt>
                <c:pt idx="86">
                  <c:v>0.16560307708677999</c:v>
                </c:pt>
                <c:pt idx="87">
                  <c:v>0.166662995983617</c:v>
                </c:pt>
                <c:pt idx="88">
                  <c:v>0.16765045012438601</c:v>
                </c:pt>
                <c:pt idx="89">
                  <c:v>0.16856407430065501</c:v>
                </c:pt>
                <c:pt idx="90">
                  <c:v>0.169402600482982</c:v>
                </c:pt>
                <c:pt idx="91">
                  <c:v>0.17016486075311199</c:v>
                </c:pt>
                <c:pt idx="92">
                  <c:v>0.17084979001439499</c:v>
                </c:pt>
                <c:pt idx="93">
                  <c:v>0.171456428471606</c:v>
                </c:pt>
                <c:pt idx="94">
                  <c:v>0.171983923872084</c:v>
                </c:pt>
                <c:pt idx="95">
                  <c:v>0.172431533500879</c:v>
                </c:pt>
                <c:pt idx="96">
                  <c:v>0.17279862592334999</c:v>
                </c:pt>
                <c:pt idx="97">
                  <c:v>0.173084682469515</c:v>
                </c:pt>
                <c:pt idx="98">
                  <c:v>0.17328929845523899</c:v>
                </c:pt>
                <c:pt idx="99">
                  <c:v>0.173412184136266</c:v>
                </c:pt>
                <c:pt idx="100">
                  <c:v>0.17345316539192701</c:v>
                </c:pt>
                <c:pt idx="101">
                  <c:v>0.173412184136266</c:v>
                </c:pt>
                <c:pt idx="102">
                  <c:v>0.17328929845523899</c:v>
                </c:pt>
                <c:pt idx="103">
                  <c:v>0.173084682469515</c:v>
                </c:pt>
                <c:pt idx="104">
                  <c:v>0.17279862592334999</c:v>
                </c:pt>
                <c:pt idx="105">
                  <c:v>0.172431533500879</c:v>
                </c:pt>
                <c:pt idx="106">
                  <c:v>0.171983923872084</c:v>
                </c:pt>
                <c:pt idx="107">
                  <c:v>0.171456428471606</c:v>
                </c:pt>
                <c:pt idx="108">
                  <c:v>0.17084979001439499</c:v>
                </c:pt>
                <c:pt idx="109">
                  <c:v>0.17016486075311199</c:v>
                </c:pt>
                <c:pt idx="110">
                  <c:v>0.169402600482982</c:v>
                </c:pt>
                <c:pt idx="111">
                  <c:v>0.16856407430065501</c:v>
                </c:pt>
                <c:pt idx="112">
                  <c:v>0.16765045012438601</c:v>
                </c:pt>
                <c:pt idx="113">
                  <c:v>0.166662995983617</c:v>
                </c:pt>
                <c:pt idx="114">
                  <c:v>0.16560307708677999</c:v>
                </c:pt>
                <c:pt idx="115">
                  <c:v>0.164472152676784</c:v>
                </c:pt>
                <c:pt idx="116">
                  <c:v>0.163271772684349</c:v>
                </c:pt>
                <c:pt idx="117">
                  <c:v>0.1620035741899</c:v>
                </c:pt>
                <c:pt idx="118">
                  <c:v>0.160669277705351</c:v>
                </c:pt>
                <c:pt idx="119">
                  <c:v>0.159270683287564</c:v>
                </c:pt>
                <c:pt idx="120">
                  <c:v>0.15780966649577999</c:v>
                </c:pt>
                <c:pt idx="121">
                  <c:v>0.15628817420570901</c:v>
                </c:pt>
                <c:pt idx="122">
                  <c:v>0.15470822029334599</c:v>
                </c:pt>
                <c:pt idx="123">
                  <c:v>0.15307188120186899</c:v>
                </c:pt>
                <c:pt idx="124">
                  <c:v>0.15138129140526599</c:v>
                </c:pt>
                <c:pt idx="125">
                  <c:v>0.14963863878251399</c:v>
                </c:pt>
                <c:pt idx="126">
                  <c:v>0.14784615991630501</c:v>
                </c:pt>
                <c:pt idx="127">
                  <c:v>0.146006135330393</c:v>
                </c:pt>
                <c:pt idx="128">
                  <c:v>0.144120884679697</c:v>
                </c:pt>
                <c:pt idx="129">
                  <c:v>0.14219276190727401</c:v>
                </c:pt>
                <c:pt idx="130">
                  <c:v>0.14022415038220701</c:v>
                </c:pt>
                <c:pt idx="131">
                  <c:v>0.138217458032354</c:v>
                </c:pt>
                <c:pt idx="132">
                  <c:v>0.136175112485724</c:v>
                </c:pt>
                <c:pt idx="133">
                  <c:v>0.13409955623403599</c:v>
                </c:pt>
                <c:pt idx="134">
                  <c:v>0.13199324183175201</c:v>
                </c:pt>
                <c:pt idx="135">
                  <c:v>0.129858627143565</c:v>
                </c:pt>
                <c:pt idx="136">
                  <c:v>0.12769817065296801</c:v>
                </c:pt>
                <c:pt idx="137">
                  <c:v>0.12551432684414299</c:v>
                </c:pt>
                <c:pt idx="138">
                  <c:v>0.123309541668957</c:v>
                </c:pt>
                <c:pt idx="139">
                  <c:v>0.121086248110399</c:v>
                </c:pt>
                <c:pt idx="140">
                  <c:v>0.118846861853267</c:v>
                </c:pt>
                <c:pt idx="141">
                  <c:v>0.116593777072382</c:v>
                </c:pt>
                <c:pt idx="142">
                  <c:v>0.11432936234805501</c:v>
                </c:pt>
                <c:pt idx="143">
                  <c:v>0.11205595671789501</c:v>
                </c:pt>
                <c:pt idx="144">
                  <c:v>0.109775865873489</c:v>
                </c:pt>
                <c:pt idx="145">
                  <c:v>0.107491358509786</c:v>
                </c:pt>
                <c:pt idx="146">
                  <c:v>0.10520466283441</c:v>
                </c:pt>
                <c:pt idx="147">
                  <c:v>0.10291796324344001</c:v>
                </c:pt>
                <c:pt idx="148">
                  <c:v>0.10063339716950399</c:v>
                </c:pt>
                <c:pt idx="149">
                  <c:v>9.8353052107370706E-2</c:v>
                </c:pt>
                <c:pt idx="150">
                  <c:v>9.6078962821519495E-2</c:v>
                </c:pt>
                <c:pt idx="151">
                  <c:v>9.3813108739468104E-2</c:v>
                </c:pt>
                <c:pt idx="152">
                  <c:v>9.1557411533960298E-2</c:v>
                </c:pt>
                <c:pt idx="153">
                  <c:v>8.9313732896418002E-2</c:v>
                </c:pt>
                <c:pt idx="154">
                  <c:v>8.7083872503383994E-2</c:v>
                </c:pt>
                <c:pt idx="155">
                  <c:v>8.4869566177009706E-2</c:v>
                </c:pt>
                <c:pt idx="156">
                  <c:v>8.2672484239982996E-2</c:v>
                </c:pt>
                <c:pt idx="157">
                  <c:v>8.0494230064647093E-2</c:v>
                </c:pt>
                <c:pt idx="158">
                  <c:v>7.8336338815433004E-2</c:v>
                </c:pt>
                <c:pt idx="159">
                  <c:v>7.6200276383119006E-2</c:v>
                </c:pt>
                <c:pt idx="160">
                  <c:v>7.4087438508846595E-2</c:v>
                </c:pt>
                <c:pt idx="161">
                  <c:v>7.1999150095254996E-2</c:v>
                </c:pt>
                <c:pt idx="162">
                  <c:v>6.9936664701558002E-2</c:v>
                </c:pt>
                <c:pt idx="163">
                  <c:v>6.7901164218876597E-2</c:v>
                </c:pt>
                <c:pt idx="164">
                  <c:v>6.5893758721654497E-2</c:v>
                </c:pt>
                <c:pt idx="165">
                  <c:v>6.3915486490528001E-2</c:v>
                </c:pt>
                <c:pt idx="166">
                  <c:v>6.1967314201597297E-2</c:v>
                </c:pt>
                <c:pt idx="167">
                  <c:v>6.0050137276654397E-2</c:v>
                </c:pt>
                <c:pt idx="168">
                  <c:v>5.8164780388555902E-2</c:v>
                </c:pt>
                <c:pt idx="169">
                  <c:v>5.6311998115605E-2</c:v>
                </c:pt>
                <c:pt idx="170">
                  <c:v>5.4492475738507198E-2</c:v>
                </c:pt>
                <c:pt idx="171">
                  <c:v>5.2706830173199902E-2</c:v>
                </c:pt>
                <c:pt idx="172">
                  <c:v>5.0955611032630597E-2</c:v>
                </c:pt>
                <c:pt idx="173">
                  <c:v>4.9239301810354803E-2</c:v>
                </c:pt>
                <c:pt idx="174">
                  <c:v>4.7558321178664799E-2</c:v>
                </c:pt>
                <c:pt idx="175">
                  <c:v>4.5913024393827502E-2</c:v>
                </c:pt>
                <c:pt idx="176">
                  <c:v>4.4303704800908499E-2</c:v>
                </c:pt>
                <c:pt idx="177">
                  <c:v>4.2730595430593599E-2</c:v>
                </c:pt>
                <c:pt idx="178">
                  <c:v>4.1193870680375499E-2</c:v>
                </c:pt>
                <c:pt idx="179">
                  <c:v>3.9693648072473303E-2</c:v>
                </c:pt>
                <c:pt idx="180">
                  <c:v>3.8229990080863301E-2</c:v>
                </c:pt>
                <c:pt idx="181">
                  <c:v>3.6802906019854698E-2</c:v>
                </c:pt>
                <c:pt idx="182">
                  <c:v>3.5412353986714502E-2</c:v>
                </c:pt>
                <c:pt idx="183">
                  <c:v>3.4058242850943797E-2</c:v>
                </c:pt>
                <c:pt idx="184">
                  <c:v>3.2740434282936201E-2</c:v>
                </c:pt>
                <c:pt idx="185">
                  <c:v>3.14587448148861E-2</c:v>
                </c:pt>
                <c:pt idx="186">
                  <c:v>3.0212947926989E-2</c:v>
                </c:pt>
                <c:pt idx="187">
                  <c:v>2.9002776152156899E-2</c:v>
                </c:pt>
                <c:pt idx="188">
                  <c:v>2.7827923192676102E-2</c:v>
                </c:pt>
                <c:pt idx="189">
                  <c:v>2.6688046042456101E-2</c:v>
                </c:pt>
                <c:pt idx="190">
                  <c:v>2.5582767108752701E-2</c:v>
                </c:pt>
                <c:pt idx="191">
                  <c:v>2.4511676327494101E-2</c:v>
                </c:pt>
                <c:pt idx="192">
                  <c:v>2.34743332666035E-2</c:v>
                </c:pt>
                <c:pt idx="193">
                  <c:v>2.2470269211975698E-2</c:v>
                </c:pt>
                <c:pt idx="194">
                  <c:v>2.1498989231048201E-2</c:v>
                </c:pt>
                <c:pt idx="195">
                  <c:v>2.0559974209190899E-2</c:v>
                </c:pt>
                <c:pt idx="196">
                  <c:v>1.9652682854428699E-2</c:v>
                </c:pt>
                <c:pt idx="197">
                  <c:v>1.8776553666308999E-2</c:v>
                </c:pt>
                <c:pt idx="198">
                  <c:v>1.7931006865021901E-2</c:v>
                </c:pt>
                <c:pt idx="199">
                  <c:v>1.7115446277180198E-2</c:v>
                </c:pt>
                <c:pt idx="200">
                  <c:v>1.6329261174968399E-2</c:v>
                </c:pt>
                <c:pt idx="201">
                  <c:v>1.5571828065663901E-2</c:v>
                </c:pt>
                <c:pt idx="202">
                  <c:v>1.4842512428832499E-2</c:v>
                </c:pt>
                <c:pt idx="203">
                  <c:v>1.41406703987931E-2</c:v>
                </c:pt>
                <c:pt idx="204">
                  <c:v>1.3465650390229501E-2</c:v>
                </c:pt>
                <c:pt idx="205">
                  <c:v>1.28167946651175E-2</c:v>
                </c:pt>
                <c:pt idx="206">
                  <c:v>1.21934408394022E-2</c:v>
                </c:pt>
                <c:pt idx="207">
                  <c:v>1.15949233281372E-2</c:v>
                </c:pt>
                <c:pt idx="208">
                  <c:v>1.1020574728051701E-2</c:v>
                </c:pt>
                <c:pt idx="209">
                  <c:v>1.0469727136766801E-2</c:v>
                </c:pt>
                <c:pt idx="210">
                  <c:v>9.9417134081240099E-3</c:v>
                </c:pt>
                <c:pt idx="211">
                  <c:v>9.4358683433193504E-3</c:v>
                </c:pt>
                <c:pt idx="212">
                  <c:v>8.9515298177626108E-3</c:v>
                </c:pt>
                <c:pt idx="213">
                  <c:v>8.4880398437880596E-3</c:v>
                </c:pt>
                <c:pt idx="214">
                  <c:v>8.0447455695463899E-3</c:v>
                </c:pt>
                <c:pt idx="215">
                  <c:v>7.6210002145950199E-3</c:v>
                </c:pt>
                <c:pt idx="216">
                  <c:v>7.2161639428810504E-3</c:v>
                </c:pt>
                <c:pt idx="217">
                  <c:v>6.8296046739774498E-3</c:v>
                </c:pt>
                <c:pt idx="218">
                  <c:v>6.46069883358537E-3</c:v>
                </c:pt>
                <c:pt idx="219">
                  <c:v>6.1088320444588201E-3</c:v>
                </c:pt>
                <c:pt idx="220">
                  <c:v>5.7733997590367703E-3</c:v>
                </c:pt>
              </c:numCache>
            </c:numRef>
          </c:yVal>
          <c:smooth val="0"/>
          <c:extLst>
            <c:ext xmlns:c16="http://schemas.microsoft.com/office/drawing/2014/chart" uri="{C3380CC4-5D6E-409C-BE32-E72D297353CC}">
              <c16:uniqueId val="{00000000-7928-40B5-BD2D-7717F1220BE7}"/>
            </c:ext>
          </c:extLst>
        </c:ser>
        <c:ser>
          <c:idx val="1"/>
          <c:order val="1"/>
          <c:tx>
            <c:strRef>
              <c:f>Sheet1!$B$224</c:f>
              <c:strCache>
                <c:ptCount val="1"/>
                <c:pt idx="0">
                  <c:v>Group 2 (mean 6)</c:v>
                </c:pt>
              </c:strCache>
            </c:strRef>
          </c:tx>
          <c:spPr>
            <a:ln w="38100">
              <a:solidFill>
                <a:srgbClr val="B88C00"/>
              </a:solidFill>
            </a:ln>
          </c:spPr>
          <c:marker>
            <c:symbol val="none"/>
          </c:marker>
          <c:xVal>
            <c:numRef>
              <c:f>Sheet1!$A$225:$A$445</c:f>
              <c:numCache>
                <c:formatCode>General</c:formatCode>
                <c:ptCount val="22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numCache>
            </c:numRef>
          </c:xVal>
          <c:yVal>
            <c:numRef>
              <c:f>Sheet1!$B$225:$B$445</c:f>
              <c:numCache>
                <c:formatCode>General</c:formatCode>
                <c:ptCount val="221"/>
                <c:pt idx="0">
                  <c:v>5.7733997590367703E-3</c:v>
                </c:pt>
                <c:pt idx="1">
                  <c:v>6.1088320444588297E-3</c:v>
                </c:pt>
                <c:pt idx="2">
                  <c:v>6.46069883358537E-3</c:v>
                </c:pt>
                <c:pt idx="3">
                  <c:v>6.8296046739774498E-3</c:v>
                </c:pt>
                <c:pt idx="4">
                  <c:v>7.21616394288106E-3</c:v>
                </c:pt>
                <c:pt idx="5">
                  <c:v>7.6210002145950199E-3</c:v>
                </c:pt>
                <c:pt idx="6">
                  <c:v>8.0447455695464003E-3</c:v>
                </c:pt>
                <c:pt idx="7">
                  <c:v>8.4880398437880596E-3</c:v>
                </c:pt>
                <c:pt idx="8">
                  <c:v>8.9515298177626195E-3</c:v>
                </c:pt>
                <c:pt idx="9">
                  <c:v>9.4358683433193608E-3</c:v>
                </c:pt>
                <c:pt idx="10">
                  <c:v>9.9417134081240099E-3</c:v>
                </c:pt>
                <c:pt idx="11">
                  <c:v>1.04697271367669E-2</c:v>
                </c:pt>
                <c:pt idx="12">
                  <c:v>1.1020574728051701E-2</c:v>
                </c:pt>
                <c:pt idx="13">
                  <c:v>1.15949233281372E-2</c:v>
                </c:pt>
                <c:pt idx="14">
                  <c:v>1.21934408394022E-2</c:v>
                </c:pt>
                <c:pt idx="15">
                  <c:v>1.28167946651175E-2</c:v>
                </c:pt>
                <c:pt idx="16">
                  <c:v>1.3465650390229501E-2</c:v>
                </c:pt>
                <c:pt idx="17">
                  <c:v>1.41406703987931E-2</c:v>
                </c:pt>
                <c:pt idx="18">
                  <c:v>1.48425124288326E-2</c:v>
                </c:pt>
                <c:pt idx="19">
                  <c:v>1.5571828065663901E-2</c:v>
                </c:pt>
                <c:pt idx="20">
                  <c:v>1.6329261174968399E-2</c:v>
                </c:pt>
                <c:pt idx="21">
                  <c:v>1.7115446277180198E-2</c:v>
                </c:pt>
                <c:pt idx="22">
                  <c:v>1.7931006865021901E-2</c:v>
                </c:pt>
                <c:pt idx="23">
                  <c:v>1.87765536663091E-2</c:v>
                </c:pt>
                <c:pt idx="24">
                  <c:v>1.9652682854428699E-2</c:v>
                </c:pt>
                <c:pt idx="25">
                  <c:v>2.0559974209190899E-2</c:v>
                </c:pt>
                <c:pt idx="26">
                  <c:v>2.1498989231048201E-2</c:v>
                </c:pt>
                <c:pt idx="27">
                  <c:v>2.2470269211975698E-2</c:v>
                </c:pt>
                <c:pt idx="28">
                  <c:v>2.34743332666035E-2</c:v>
                </c:pt>
                <c:pt idx="29">
                  <c:v>2.4511676327494101E-2</c:v>
                </c:pt>
                <c:pt idx="30">
                  <c:v>2.5582767108752701E-2</c:v>
                </c:pt>
                <c:pt idx="31">
                  <c:v>2.6688046042456101E-2</c:v>
                </c:pt>
                <c:pt idx="32">
                  <c:v>2.7827923192676102E-2</c:v>
                </c:pt>
                <c:pt idx="33">
                  <c:v>2.9002776152156899E-2</c:v>
                </c:pt>
                <c:pt idx="34">
                  <c:v>3.0212947926989E-2</c:v>
                </c:pt>
                <c:pt idx="35">
                  <c:v>3.14587448148861E-2</c:v>
                </c:pt>
                <c:pt idx="36">
                  <c:v>3.2740434282936298E-2</c:v>
                </c:pt>
                <c:pt idx="37">
                  <c:v>3.4058242850943797E-2</c:v>
                </c:pt>
                <c:pt idx="38">
                  <c:v>3.5412353986714502E-2</c:v>
                </c:pt>
                <c:pt idx="39">
                  <c:v>3.6802906019854802E-2</c:v>
                </c:pt>
                <c:pt idx="40">
                  <c:v>3.8229990080863301E-2</c:v>
                </c:pt>
                <c:pt idx="41">
                  <c:v>3.9693648072473303E-2</c:v>
                </c:pt>
                <c:pt idx="42">
                  <c:v>4.1193870680375499E-2</c:v>
                </c:pt>
                <c:pt idx="43">
                  <c:v>4.2730595430593599E-2</c:v>
                </c:pt>
                <c:pt idx="44">
                  <c:v>4.4303704800908603E-2</c:v>
                </c:pt>
                <c:pt idx="45">
                  <c:v>4.5913024393827502E-2</c:v>
                </c:pt>
                <c:pt idx="46">
                  <c:v>4.7558321178664903E-2</c:v>
                </c:pt>
                <c:pt idx="47">
                  <c:v>4.92393018103549E-2</c:v>
                </c:pt>
                <c:pt idx="48">
                  <c:v>5.0955611032630597E-2</c:v>
                </c:pt>
                <c:pt idx="49">
                  <c:v>5.2706830173199902E-2</c:v>
                </c:pt>
                <c:pt idx="50">
                  <c:v>5.4492475738507198E-2</c:v>
                </c:pt>
                <c:pt idx="51">
                  <c:v>5.6311998115605097E-2</c:v>
                </c:pt>
                <c:pt idx="52">
                  <c:v>5.8164780388555902E-2</c:v>
                </c:pt>
                <c:pt idx="53">
                  <c:v>6.0050137276654397E-2</c:v>
                </c:pt>
                <c:pt idx="54">
                  <c:v>6.1967314201597297E-2</c:v>
                </c:pt>
                <c:pt idx="55">
                  <c:v>6.3915486490528001E-2</c:v>
                </c:pt>
                <c:pt idx="56">
                  <c:v>6.5893758721654594E-2</c:v>
                </c:pt>
                <c:pt idx="57">
                  <c:v>6.7901164218876597E-2</c:v>
                </c:pt>
                <c:pt idx="58">
                  <c:v>6.9936664701558002E-2</c:v>
                </c:pt>
                <c:pt idx="59">
                  <c:v>7.1999150095254996E-2</c:v>
                </c:pt>
                <c:pt idx="60">
                  <c:v>7.4087438508846595E-2</c:v>
                </c:pt>
                <c:pt idx="61">
                  <c:v>7.6200276383119006E-2</c:v>
                </c:pt>
                <c:pt idx="62">
                  <c:v>7.8336338815433004E-2</c:v>
                </c:pt>
                <c:pt idx="63">
                  <c:v>8.0494230064647204E-2</c:v>
                </c:pt>
                <c:pt idx="64">
                  <c:v>8.2672484239982996E-2</c:v>
                </c:pt>
                <c:pt idx="65">
                  <c:v>8.4869566177009706E-2</c:v>
                </c:pt>
                <c:pt idx="66">
                  <c:v>8.7083872503383994E-2</c:v>
                </c:pt>
                <c:pt idx="67">
                  <c:v>8.9313732896418002E-2</c:v>
                </c:pt>
                <c:pt idx="68">
                  <c:v>9.1557411533960298E-2</c:v>
                </c:pt>
                <c:pt idx="69">
                  <c:v>9.3813108739468104E-2</c:v>
                </c:pt>
                <c:pt idx="70">
                  <c:v>9.6078962821519495E-2</c:v>
                </c:pt>
                <c:pt idx="71">
                  <c:v>9.8353052107370706E-2</c:v>
                </c:pt>
                <c:pt idx="72">
                  <c:v>0.10063339716950399</c:v>
                </c:pt>
                <c:pt idx="73">
                  <c:v>0.10291796324344001</c:v>
                </c:pt>
                <c:pt idx="74">
                  <c:v>0.10520466283441</c:v>
                </c:pt>
                <c:pt idx="75">
                  <c:v>0.107491358509786</c:v>
                </c:pt>
                <c:pt idx="76">
                  <c:v>0.109775865873489</c:v>
                </c:pt>
                <c:pt idx="77">
                  <c:v>0.11205595671789501</c:v>
                </c:pt>
                <c:pt idx="78">
                  <c:v>0.11432936234805501</c:v>
                </c:pt>
                <c:pt idx="79">
                  <c:v>0.116593777072382</c:v>
                </c:pt>
                <c:pt idx="80">
                  <c:v>0.118846861853267</c:v>
                </c:pt>
                <c:pt idx="81">
                  <c:v>0.121086248110399</c:v>
                </c:pt>
                <c:pt idx="82">
                  <c:v>0.123309541668957</c:v>
                </c:pt>
                <c:pt idx="83">
                  <c:v>0.12551432684414299</c:v>
                </c:pt>
                <c:pt idx="84">
                  <c:v>0.12769817065296801</c:v>
                </c:pt>
                <c:pt idx="85">
                  <c:v>0.129858627143565</c:v>
                </c:pt>
                <c:pt idx="86">
                  <c:v>0.13199324183175201</c:v>
                </c:pt>
                <c:pt idx="87">
                  <c:v>0.13409955623403599</c:v>
                </c:pt>
                <c:pt idx="88">
                  <c:v>0.136175112485724</c:v>
                </c:pt>
                <c:pt idx="89">
                  <c:v>0.138217458032354</c:v>
                </c:pt>
                <c:pt idx="90">
                  <c:v>0.14022415038220701</c:v>
                </c:pt>
                <c:pt idx="91">
                  <c:v>0.14219276190727401</c:v>
                </c:pt>
                <c:pt idx="92">
                  <c:v>0.144120884679697</c:v>
                </c:pt>
                <c:pt idx="93">
                  <c:v>0.146006135330393</c:v>
                </c:pt>
                <c:pt idx="94">
                  <c:v>0.14784615991630501</c:v>
                </c:pt>
                <c:pt idx="95">
                  <c:v>0.14963863878251399</c:v>
                </c:pt>
                <c:pt idx="96">
                  <c:v>0.15138129140526599</c:v>
                </c:pt>
                <c:pt idx="97">
                  <c:v>0.15307188120186899</c:v>
                </c:pt>
                <c:pt idx="98">
                  <c:v>0.15470822029334599</c:v>
                </c:pt>
                <c:pt idx="99">
                  <c:v>0.15628817420570901</c:v>
                </c:pt>
                <c:pt idx="100">
                  <c:v>0.15780966649577999</c:v>
                </c:pt>
                <c:pt idx="101">
                  <c:v>0.159270683287564</c:v>
                </c:pt>
                <c:pt idx="102">
                  <c:v>0.160669277705351</c:v>
                </c:pt>
                <c:pt idx="103">
                  <c:v>0.1620035741899</c:v>
                </c:pt>
                <c:pt idx="104">
                  <c:v>0.163271772684349</c:v>
                </c:pt>
                <c:pt idx="105">
                  <c:v>0.164472152676784</c:v>
                </c:pt>
                <c:pt idx="106">
                  <c:v>0.16560307708677999</c:v>
                </c:pt>
                <c:pt idx="107">
                  <c:v>0.166662995983617</c:v>
                </c:pt>
                <c:pt idx="108">
                  <c:v>0.16765045012438601</c:v>
                </c:pt>
                <c:pt idx="109">
                  <c:v>0.16856407430065501</c:v>
                </c:pt>
                <c:pt idx="110">
                  <c:v>0.169402600482982</c:v>
                </c:pt>
                <c:pt idx="111">
                  <c:v>0.17016486075311199</c:v>
                </c:pt>
                <c:pt idx="112">
                  <c:v>0.17084979001439499</c:v>
                </c:pt>
                <c:pt idx="113">
                  <c:v>0.171456428471606</c:v>
                </c:pt>
                <c:pt idx="114">
                  <c:v>0.171983923872084</c:v>
                </c:pt>
                <c:pt idx="115">
                  <c:v>0.172431533500879</c:v>
                </c:pt>
                <c:pt idx="116">
                  <c:v>0.17279862592334999</c:v>
                </c:pt>
                <c:pt idx="117">
                  <c:v>0.173084682469515</c:v>
                </c:pt>
                <c:pt idx="118">
                  <c:v>0.17328929845523899</c:v>
                </c:pt>
                <c:pt idx="119">
                  <c:v>0.173412184136266</c:v>
                </c:pt>
                <c:pt idx="120">
                  <c:v>0.17345316539192701</c:v>
                </c:pt>
                <c:pt idx="121">
                  <c:v>0.173412184136266</c:v>
                </c:pt>
                <c:pt idx="122">
                  <c:v>0.17328929845523899</c:v>
                </c:pt>
                <c:pt idx="123">
                  <c:v>0.173084682469515</c:v>
                </c:pt>
                <c:pt idx="124">
                  <c:v>0.17279862592334999</c:v>
                </c:pt>
                <c:pt idx="125">
                  <c:v>0.172431533500879</c:v>
                </c:pt>
                <c:pt idx="126">
                  <c:v>0.171983923872084</c:v>
                </c:pt>
                <c:pt idx="127">
                  <c:v>0.171456428471606</c:v>
                </c:pt>
                <c:pt idx="128">
                  <c:v>0.17084979001439499</c:v>
                </c:pt>
                <c:pt idx="129">
                  <c:v>0.17016486075311199</c:v>
                </c:pt>
                <c:pt idx="130">
                  <c:v>0.169402600482982</c:v>
                </c:pt>
                <c:pt idx="131">
                  <c:v>0.16856407430065501</c:v>
                </c:pt>
                <c:pt idx="132">
                  <c:v>0.16765045012438601</c:v>
                </c:pt>
                <c:pt idx="133">
                  <c:v>0.166662995983617</c:v>
                </c:pt>
                <c:pt idx="134">
                  <c:v>0.16560307708677999</c:v>
                </c:pt>
                <c:pt idx="135">
                  <c:v>0.164472152676784</c:v>
                </c:pt>
                <c:pt idx="136">
                  <c:v>0.163271772684349</c:v>
                </c:pt>
                <c:pt idx="137">
                  <c:v>0.1620035741899</c:v>
                </c:pt>
                <c:pt idx="138">
                  <c:v>0.160669277705351</c:v>
                </c:pt>
                <c:pt idx="139">
                  <c:v>0.159270683287564</c:v>
                </c:pt>
                <c:pt idx="140">
                  <c:v>0.15780966649577999</c:v>
                </c:pt>
                <c:pt idx="141">
                  <c:v>0.15628817420570901</c:v>
                </c:pt>
                <c:pt idx="142">
                  <c:v>0.15470822029334599</c:v>
                </c:pt>
                <c:pt idx="143">
                  <c:v>0.15307188120186899</c:v>
                </c:pt>
                <c:pt idx="144">
                  <c:v>0.15138129140526599</c:v>
                </c:pt>
                <c:pt idx="145">
                  <c:v>0.14963863878251399</c:v>
                </c:pt>
                <c:pt idx="146">
                  <c:v>0.14784615991630501</c:v>
                </c:pt>
                <c:pt idx="147">
                  <c:v>0.146006135330393</c:v>
                </c:pt>
                <c:pt idx="148">
                  <c:v>0.144120884679697</c:v>
                </c:pt>
                <c:pt idx="149">
                  <c:v>0.14219276190727401</c:v>
                </c:pt>
                <c:pt idx="150">
                  <c:v>0.14022415038220701</c:v>
                </c:pt>
                <c:pt idx="151">
                  <c:v>0.138217458032354</c:v>
                </c:pt>
                <c:pt idx="152">
                  <c:v>0.136175112485724</c:v>
                </c:pt>
                <c:pt idx="153">
                  <c:v>0.13409955623403599</c:v>
                </c:pt>
                <c:pt idx="154">
                  <c:v>0.13199324183175201</c:v>
                </c:pt>
                <c:pt idx="155">
                  <c:v>0.129858627143565</c:v>
                </c:pt>
                <c:pt idx="156">
                  <c:v>0.12769817065296801</c:v>
                </c:pt>
                <c:pt idx="157">
                  <c:v>0.12551432684414299</c:v>
                </c:pt>
                <c:pt idx="158">
                  <c:v>0.123309541668957</c:v>
                </c:pt>
                <c:pt idx="159">
                  <c:v>0.121086248110399</c:v>
                </c:pt>
                <c:pt idx="160">
                  <c:v>0.118846861853267</c:v>
                </c:pt>
                <c:pt idx="161">
                  <c:v>0.116593777072382</c:v>
                </c:pt>
                <c:pt idx="162">
                  <c:v>0.11432936234805501</c:v>
                </c:pt>
                <c:pt idx="163">
                  <c:v>0.11205595671789501</c:v>
                </c:pt>
                <c:pt idx="164">
                  <c:v>0.109775865873489</c:v>
                </c:pt>
                <c:pt idx="165">
                  <c:v>0.107491358509786</c:v>
                </c:pt>
                <c:pt idx="166">
                  <c:v>0.10520466283441</c:v>
                </c:pt>
                <c:pt idx="167">
                  <c:v>0.10291796324344001</c:v>
                </c:pt>
                <c:pt idx="168">
                  <c:v>0.10063339716950399</c:v>
                </c:pt>
                <c:pt idx="169">
                  <c:v>9.8353052107370595E-2</c:v>
                </c:pt>
                <c:pt idx="170">
                  <c:v>9.6078962821519495E-2</c:v>
                </c:pt>
                <c:pt idx="171">
                  <c:v>9.3813108739468104E-2</c:v>
                </c:pt>
                <c:pt idx="172">
                  <c:v>9.1557411533960298E-2</c:v>
                </c:pt>
                <c:pt idx="173">
                  <c:v>8.9313732896418002E-2</c:v>
                </c:pt>
                <c:pt idx="174">
                  <c:v>8.7083872503383994E-2</c:v>
                </c:pt>
                <c:pt idx="175">
                  <c:v>8.4869566177009706E-2</c:v>
                </c:pt>
                <c:pt idx="176">
                  <c:v>8.2672484239982996E-2</c:v>
                </c:pt>
                <c:pt idx="177">
                  <c:v>8.0494230064647204E-2</c:v>
                </c:pt>
                <c:pt idx="178">
                  <c:v>7.8336338815433004E-2</c:v>
                </c:pt>
                <c:pt idx="179">
                  <c:v>7.6200276383118895E-2</c:v>
                </c:pt>
                <c:pt idx="180">
                  <c:v>7.4087438508846595E-2</c:v>
                </c:pt>
                <c:pt idx="181">
                  <c:v>7.1999150095254996E-2</c:v>
                </c:pt>
                <c:pt idx="182">
                  <c:v>6.9936664701558002E-2</c:v>
                </c:pt>
                <c:pt idx="183">
                  <c:v>6.7901164218876597E-2</c:v>
                </c:pt>
                <c:pt idx="184">
                  <c:v>6.5893758721654497E-2</c:v>
                </c:pt>
                <c:pt idx="185">
                  <c:v>6.3915486490528001E-2</c:v>
                </c:pt>
                <c:pt idx="186">
                  <c:v>6.1967314201597297E-2</c:v>
                </c:pt>
                <c:pt idx="187">
                  <c:v>6.0050137276654397E-2</c:v>
                </c:pt>
                <c:pt idx="188">
                  <c:v>5.8164780388555902E-2</c:v>
                </c:pt>
                <c:pt idx="189">
                  <c:v>5.6311998115605E-2</c:v>
                </c:pt>
                <c:pt idx="190">
                  <c:v>5.4492475738507198E-2</c:v>
                </c:pt>
                <c:pt idx="191">
                  <c:v>5.2706830173199902E-2</c:v>
                </c:pt>
                <c:pt idx="192">
                  <c:v>5.0955611032630597E-2</c:v>
                </c:pt>
                <c:pt idx="193">
                  <c:v>4.9239301810354803E-2</c:v>
                </c:pt>
                <c:pt idx="194">
                  <c:v>4.7558321178664799E-2</c:v>
                </c:pt>
                <c:pt idx="195">
                  <c:v>4.5913024393827502E-2</c:v>
                </c:pt>
                <c:pt idx="196">
                  <c:v>4.4303704800908499E-2</c:v>
                </c:pt>
                <c:pt idx="197">
                  <c:v>4.2730595430593502E-2</c:v>
                </c:pt>
                <c:pt idx="198">
                  <c:v>4.1193870680375499E-2</c:v>
                </c:pt>
                <c:pt idx="199">
                  <c:v>3.9693648072473303E-2</c:v>
                </c:pt>
                <c:pt idx="200">
                  <c:v>3.8229990080863301E-2</c:v>
                </c:pt>
                <c:pt idx="201">
                  <c:v>3.6802906019854698E-2</c:v>
                </c:pt>
                <c:pt idx="202">
                  <c:v>3.5412353986714398E-2</c:v>
                </c:pt>
                <c:pt idx="203">
                  <c:v>3.4058242850943797E-2</c:v>
                </c:pt>
                <c:pt idx="204">
                  <c:v>3.2740434282936201E-2</c:v>
                </c:pt>
                <c:pt idx="205">
                  <c:v>3.14587448148861E-2</c:v>
                </c:pt>
                <c:pt idx="206">
                  <c:v>3.0212947926989E-2</c:v>
                </c:pt>
                <c:pt idx="207">
                  <c:v>2.9002776152156899E-2</c:v>
                </c:pt>
                <c:pt idx="208">
                  <c:v>2.7827923192676102E-2</c:v>
                </c:pt>
                <c:pt idx="209">
                  <c:v>2.6688046042456101E-2</c:v>
                </c:pt>
                <c:pt idx="210">
                  <c:v>2.5582767108752701E-2</c:v>
                </c:pt>
                <c:pt idx="211">
                  <c:v>2.4511676327494101E-2</c:v>
                </c:pt>
                <c:pt idx="212">
                  <c:v>2.34743332666035E-2</c:v>
                </c:pt>
                <c:pt idx="213">
                  <c:v>2.2470269211975698E-2</c:v>
                </c:pt>
                <c:pt idx="214">
                  <c:v>2.1498989231048201E-2</c:v>
                </c:pt>
                <c:pt idx="215">
                  <c:v>2.0559974209190899E-2</c:v>
                </c:pt>
                <c:pt idx="216">
                  <c:v>1.9652682854428699E-2</c:v>
                </c:pt>
                <c:pt idx="217">
                  <c:v>1.8776553666308999E-2</c:v>
                </c:pt>
                <c:pt idx="218">
                  <c:v>1.7931006865021901E-2</c:v>
                </c:pt>
                <c:pt idx="219">
                  <c:v>1.7115446277180198E-2</c:v>
                </c:pt>
                <c:pt idx="220">
                  <c:v>1.6329261174968399E-2</c:v>
                </c:pt>
              </c:numCache>
            </c:numRef>
          </c:yVal>
          <c:smooth val="0"/>
          <c:extLst>
            <c:ext xmlns:c16="http://schemas.microsoft.com/office/drawing/2014/chart" uri="{C3380CC4-5D6E-409C-BE32-E72D297353CC}">
              <c16:uniqueId val="{00000001-7928-40B5-BD2D-7717F1220BE7}"/>
            </c:ext>
          </c:extLst>
        </c:ser>
        <c:dLbls>
          <c:showLegendKey val="0"/>
          <c:showVal val="0"/>
          <c:showCatName val="0"/>
          <c:showSerName val="0"/>
          <c:showPercent val="0"/>
          <c:showBubbleSize val="0"/>
        </c:dLbls>
        <c:axId val="-2128940872"/>
        <c:axId val="-2129643912"/>
      </c:scatterChart>
      <c:valAx>
        <c:axId val="-2128940872"/>
        <c:scaling>
          <c:orientation val="minMax"/>
          <c:max val="11"/>
          <c:min val="0"/>
        </c:scaling>
        <c:delete val="0"/>
        <c:axPos val="b"/>
        <c:title>
          <c:tx>
            <c:rich>
              <a:bodyPr/>
              <a:lstStyle/>
              <a:p>
                <a:r>
                  <a:rPr lang="en-GB" sz="1300" b="0">
                    <a:solidFill>
                      <a:srgbClr val="55606B"/>
                    </a:solidFill>
                  </a:rPr>
                  <a:t>Score</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9643912"/>
        <c:crosses val="autoZero"/>
        <c:crossBetween val="midCat"/>
        <c:majorUnit val="1"/>
      </c:valAx>
      <c:valAx>
        <c:axId val="-2129643912"/>
        <c:scaling>
          <c:orientation val="minMax"/>
        </c:scaling>
        <c:delete val="1"/>
        <c:axPos val="l"/>
        <c:numFmt formatCode="General" sourceLinked="1"/>
        <c:majorTickMark val="out"/>
        <c:minorTickMark val="none"/>
        <c:tickLblPos val="nextTo"/>
        <c:crossAx val="-2128940872"/>
        <c:crosses val="autoZero"/>
        <c:crossBetween val="midCat"/>
      </c:valAx>
    </c:plotArea>
    <c:legend>
      <c:legendPos val="t"/>
      <c:overlay val="0"/>
      <c:txPr>
        <a:bodyPr/>
        <a:lstStyle/>
        <a:p>
          <a:pPr>
            <a:defRPr sz="1400"/>
          </a:pPr>
          <a:endParaRPr lang="en-US"/>
        </a:p>
      </c:txPr>
    </c:legend>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Mean trust (0 to 10)</c:v>
                </c:pt>
              </c:strCache>
            </c:strRef>
          </c:tx>
          <c:spPr>
            <a:solidFill>
              <a:srgbClr val="3F739B"/>
            </a:solidFill>
          </c:spPr>
          <c:invertIfNegative val="1"/>
          <c:dLbls>
            <c:numFmt formatCode="0.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16-19</c:v>
                </c:pt>
                <c:pt idx="1">
                  <c:v>20-24</c:v>
                </c:pt>
                <c:pt idx="2">
                  <c:v>25-34</c:v>
                </c:pt>
                <c:pt idx="3">
                  <c:v>35-49</c:v>
                </c:pt>
                <c:pt idx="4">
                  <c:v>50-64</c:v>
                </c:pt>
                <c:pt idx="5">
                  <c:v>65-74</c:v>
                </c:pt>
                <c:pt idx="6">
                  <c:v>75+</c:v>
                </c:pt>
              </c:strCache>
            </c:strRef>
          </c:cat>
          <c:val>
            <c:numRef>
              <c:f>Sheet1!$B$2:$B$8</c:f>
              <c:numCache>
                <c:formatCode>General</c:formatCode>
                <c:ptCount val="7"/>
                <c:pt idx="0">
                  <c:v>5.64</c:v>
                </c:pt>
                <c:pt idx="1">
                  <c:v>5.43</c:v>
                </c:pt>
                <c:pt idx="2">
                  <c:v>5.52</c:v>
                </c:pt>
                <c:pt idx="3">
                  <c:v>5.93</c:v>
                </c:pt>
                <c:pt idx="4">
                  <c:v>6.21</c:v>
                </c:pt>
                <c:pt idx="5">
                  <c:v>6.57</c:v>
                </c:pt>
                <c:pt idx="6">
                  <c:v>6.99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6F3-49ED-9943-693B49EB12B7}"/>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b"/>
        <c:title>
          <c:tx>
            <c:rich>
              <a:bodyPr/>
              <a:lstStyle/>
              <a:p>
                <a:r>
                  <a:rPr lang="en-GB">
                    <a:solidFill>
                      <a:schemeClr val="bg1"/>
                    </a:solidFill>
                  </a:rPr>
                  <a:t>Age group</a:t>
                </a:r>
              </a:p>
            </c:rich>
          </c:tx>
          <c:overlay val="0"/>
        </c:title>
        <c:numFmt formatCode="General" sourceLinked="0"/>
        <c:majorTickMark val="out"/>
        <c:minorTickMark val="none"/>
        <c:tickLblPos val="nextTo"/>
        <c:spPr>
          <a:ln>
            <a:solidFill>
              <a:srgbClr val="BBC4CC"/>
            </a:solidFill>
          </a:ln>
        </c:spPr>
        <c:crossAx val="-2113994440"/>
        <c:crosses val="autoZero"/>
        <c:auto val="1"/>
        <c:lblAlgn val="ctr"/>
        <c:lblOffset val="100"/>
        <c:noMultiLvlLbl val="0"/>
      </c:catAx>
      <c:valAx>
        <c:axId val="-2113994440"/>
        <c:scaling>
          <c:orientation val="minMax"/>
          <c:max val="8"/>
          <c:min val="0"/>
        </c:scaling>
        <c:delete val="0"/>
        <c:axPos val="l"/>
        <c:majorGridlines>
          <c:spPr>
            <a:ln>
              <a:solidFill>
                <a:srgbClr val="DDE3E8"/>
              </a:solidFill>
            </a:ln>
          </c:spPr>
        </c:majorGridlines>
        <c:numFmt formatCode="General" sourceLinked="1"/>
        <c:majorTickMark val="out"/>
        <c:minorTickMark val="none"/>
        <c:tickLblPos val="nextTo"/>
        <c:spPr>
          <a:ln>
            <a:solidFill>
              <a:srgbClr val="BBC4CC"/>
            </a:solidFill>
          </a:ln>
        </c:spPr>
        <c:crossAx val="-2068027336"/>
        <c:crosses val="autoZero"/>
        <c:crossBetween val="between"/>
        <c:majorUnit val="2"/>
      </c:valAx>
    </c:plotArea>
    <c:plotVisOnly val="1"/>
    <c:dispBlanksAs val="gap"/>
    <c:showDLblsOverMax val="1"/>
  </c:chart>
  <c:txPr>
    <a:bodyPr/>
    <a:lstStyle/>
    <a:p>
      <a:pPr>
        <a:defRPr sz="1300">
          <a:solidFill>
            <a:schemeClr val="bg1"/>
          </a:solidFil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Strong negative</c:v>
                </c:pt>
              </c:strCache>
            </c:strRef>
          </c:tx>
          <c:spPr>
            <a:ln w="47625">
              <a:noFill/>
            </a:ln>
          </c:spPr>
          <c:marker>
            <c:symbol val="circle"/>
            <c:size val="5"/>
            <c:spPr>
              <a:solidFill>
                <a:srgbClr val="1F394D"/>
              </a:solidFill>
              <a:ln>
                <a:solidFill>
                  <a:srgbClr val="FFFFFF"/>
                </a:solidFill>
              </a:ln>
            </c:spPr>
          </c:marker>
          <c:xVal>
            <c:numRef>
              <c:f>Sheet1!$A$2:$A$81</c:f>
              <c:numCache>
                <c:formatCode>General</c:formatCode>
                <c:ptCount val="80"/>
                <c:pt idx="0">
                  <c:v>4.4429999999999996</c:v>
                </c:pt>
                <c:pt idx="1">
                  <c:v>7.0389999999999997</c:v>
                </c:pt>
                <c:pt idx="2">
                  <c:v>5.9610000000000003</c:v>
                </c:pt>
                <c:pt idx="3">
                  <c:v>3.089</c:v>
                </c:pt>
                <c:pt idx="4">
                  <c:v>1.4590000000000001</c:v>
                </c:pt>
                <c:pt idx="5">
                  <c:v>5.4580000000000002</c:v>
                </c:pt>
                <c:pt idx="6">
                  <c:v>5.3970000000000002</c:v>
                </c:pt>
                <c:pt idx="7">
                  <c:v>6.2009999999999996</c:v>
                </c:pt>
                <c:pt idx="8">
                  <c:v>3.53</c:v>
                </c:pt>
                <c:pt idx="9">
                  <c:v>5.5659999999999998</c:v>
                </c:pt>
                <c:pt idx="10">
                  <c:v>4.29</c:v>
                </c:pt>
                <c:pt idx="11">
                  <c:v>6.7439999999999998</c:v>
                </c:pt>
                <c:pt idx="12">
                  <c:v>4.8259999999999996</c:v>
                </c:pt>
                <c:pt idx="13">
                  <c:v>4.95</c:v>
                </c:pt>
                <c:pt idx="14">
                  <c:v>4.1479999999999997</c:v>
                </c:pt>
                <c:pt idx="15">
                  <c:v>6.1120000000000001</c:v>
                </c:pt>
                <c:pt idx="16">
                  <c:v>4.0229999999999997</c:v>
                </c:pt>
                <c:pt idx="17">
                  <c:v>5.532</c:v>
                </c:pt>
                <c:pt idx="18">
                  <c:v>6.0780000000000003</c:v>
                </c:pt>
                <c:pt idx="19">
                  <c:v>5.0759999999999996</c:v>
                </c:pt>
                <c:pt idx="20">
                  <c:v>4.9610000000000003</c:v>
                </c:pt>
                <c:pt idx="21">
                  <c:v>3.4449999999999998</c:v>
                </c:pt>
                <c:pt idx="22">
                  <c:v>3.2290000000000001</c:v>
                </c:pt>
                <c:pt idx="23">
                  <c:v>5.681</c:v>
                </c:pt>
                <c:pt idx="24">
                  <c:v>5.46</c:v>
                </c:pt>
                <c:pt idx="25">
                  <c:v>6.1269999999999998</c:v>
                </c:pt>
                <c:pt idx="26">
                  <c:v>4.8019999999999996</c:v>
                </c:pt>
                <c:pt idx="27">
                  <c:v>4.7610000000000001</c:v>
                </c:pt>
                <c:pt idx="28">
                  <c:v>6.3879999999999999</c:v>
                </c:pt>
                <c:pt idx="29">
                  <c:v>4.6719999999999997</c:v>
                </c:pt>
                <c:pt idx="30">
                  <c:v>5.6079999999999997</c:v>
                </c:pt>
                <c:pt idx="31">
                  <c:v>5.12</c:v>
                </c:pt>
                <c:pt idx="32">
                  <c:v>6.9530000000000003</c:v>
                </c:pt>
                <c:pt idx="33">
                  <c:v>5.3540000000000001</c:v>
                </c:pt>
                <c:pt idx="34">
                  <c:v>4.1929999999999996</c:v>
                </c:pt>
                <c:pt idx="35">
                  <c:v>6.7</c:v>
                </c:pt>
                <c:pt idx="36">
                  <c:v>6.0640000000000001</c:v>
                </c:pt>
                <c:pt idx="37">
                  <c:v>4.9509999999999996</c:v>
                </c:pt>
                <c:pt idx="38">
                  <c:v>3.4580000000000002</c:v>
                </c:pt>
                <c:pt idx="39">
                  <c:v>5.5149999999999997</c:v>
                </c:pt>
                <c:pt idx="40">
                  <c:v>6.5810000000000004</c:v>
                </c:pt>
                <c:pt idx="41">
                  <c:v>4.95</c:v>
                </c:pt>
                <c:pt idx="42">
                  <c:v>5.7009999999999996</c:v>
                </c:pt>
                <c:pt idx="43">
                  <c:v>7.0060000000000002</c:v>
                </c:pt>
                <c:pt idx="44">
                  <c:v>5.0730000000000004</c:v>
                </c:pt>
                <c:pt idx="45">
                  <c:v>6.2530000000000001</c:v>
                </c:pt>
                <c:pt idx="46">
                  <c:v>2.1379999999999999</c:v>
                </c:pt>
                <c:pt idx="47">
                  <c:v>4.8879999999999999</c:v>
                </c:pt>
                <c:pt idx="48">
                  <c:v>4.9569999999999999</c:v>
                </c:pt>
                <c:pt idx="49">
                  <c:v>5.0869999999999997</c:v>
                </c:pt>
                <c:pt idx="50">
                  <c:v>4.9980000000000002</c:v>
                </c:pt>
                <c:pt idx="51">
                  <c:v>3.806</c:v>
                </c:pt>
                <c:pt idx="52">
                  <c:v>8.0609999999999999</c:v>
                </c:pt>
                <c:pt idx="53">
                  <c:v>4.8140000000000001</c:v>
                </c:pt>
                <c:pt idx="54">
                  <c:v>4.3220000000000001</c:v>
                </c:pt>
                <c:pt idx="55">
                  <c:v>4.4349999999999996</c:v>
                </c:pt>
                <c:pt idx="56">
                  <c:v>4.6100000000000003</c:v>
                </c:pt>
                <c:pt idx="57">
                  <c:v>4.4429999999999996</c:v>
                </c:pt>
                <c:pt idx="58">
                  <c:v>4.3819999999999997</c:v>
                </c:pt>
                <c:pt idx="59">
                  <c:v>7.5410000000000004</c:v>
                </c:pt>
                <c:pt idx="60">
                  <c:v>2.9660000000000002</c:v>
                </c:pt>
                <c:pt idx="61">
                  <c:v>6.9729999999999999</c:v>
                </c:pt>
                <c:pt idx="62">
                  <c:v>4.3600000000000003</c:v>
                </c:pt>
                <c:pt idx="63">
                  <c:v>4.8109999999999999</c:v>
                </c:pt>
                <c:pt idx="64">
                  <c:v>2.0459999999999998</c:v>
                </c:pt>
                <c:pt idx="65">
                  <c:v>4.3040000000000003</c:v>
                </c:pt>
                <c:pt idx="66">
                  <c:v>5.99</c:v>
                </c:pt>
                <c:pt idx="67">
                  <c:v>3.419</c:v>
                </c:pt>
                <c:pt idx="68">
                  <c:v>4.1159999999999997</c:v>
                </c:pt>
                <c:pt idx="69">
                  <c:v>7.7889999999999997</c:v>
                </c:pt>
                <c:pt idx="70">
                  <c:v>5.03</c:v>
                </c:pt>
                <c:pt idx="71">
                  <c:v>3.6970000000000001</c:v>
                </c:pt>
                <c:pt idx="72">
                  <c:v>6.766</c:v>
                </c:pt>
                <c:pt idx="73">
                  <c:v>4.4859999999999998</c:v>
                </c:pt>
                <c:pt idx="74">
                  <c:v>6.5549999999999997</c:v>
                </c:pt>
                <c:pt idx="75">
                  <c:v>8.2810000000000006</c:v>
                </c:pt>
                <c:pt idx="76">
                  <c:v>8.5169999999999995</c:v>
                </c:pt>
                <c:pt idx="77">
                  <c:v>4.8239999999999998</c:v>
                </c:pt>
                <c:pt idx="78">
                  <c:v>4.9020000000000001</c:v>
                </c:pt>
                <c:pt idx="79">
                  <c:v>6.4</c:v>
                </c:pt>
              </c:numCache>
            </c:numRef>
          </c:xVal>
          <c:yVal>
            <c:numRef>
              <c:f>Sheet1!$B$2:$B$81</c:f>
              <c:numCache>
                <c:formatCode>General</c:formatCode>
                <c:ptCount val="80"/>
                <c:pt idx="0">
                  <c:v>6.3470000000000004</c:v>
                </c:pt>
                <c:pt idx="1">
                  <c:v>3.81</c:v>
                </c:pt>
                <c:pt idx="2">
                  <c:v>5.3380000000000001</c:v>
                </c:pt>
                <c:pt idx="3">
                  <c:v>6.39</c:v>
                </c:pt>
                <c:pt idx="4">
                  <c:v>9.2469999999999999</c:v>
                </c:pt>
                <c:pt idx="5">
                  <c:v>4.4809999999999999</c:v>
                </c:pt>
                <c:pt idx="6">
                  <c:v>6.0720000000000001</c:v>
                </c:pt>
                <c:pt idx="7">
                  <c:v>4.9329999999999998</c:v>
                </c:pt>
                <c:pt idx="8">
                  <c:v>5.4589999999999996</c:v>
                </c:pt>
                <c:pt idx="9">
                  <c:v>5.1360000000000001</c:v>
                </c:pt>
                <c:pt idx="10">
                  <c:v>5.258</c:v>
                </c:pt>
                <c:pt idx="11">
                  <c:v>2.3359999999999999</c:v>
                </c:pt>
                <c:pt idx="12">
                  <c:v>6.1040000000000001</c:v>
                </c:pt>
                <c:pt idx="13">
                  <c:v>4.7149999999999999</c:v>
                </c:pt>
                <c:pt idx="14">
                  <c:v>6.0650000000000004</c:v>
                </c:pt>
                <c:pt idx="15">
                  <c:v>4.7949999999999999</c:v>
                </c:pt>
                <c:pt idx="16">
                  <c:v>5.1840000000000002</c:v>
                </c:pt>
                <c:pt idx="17">
                  <c:v>4.569</c:v>
                </c:pt>
                <c:pt idx="18">
                  <c:v>4.6970000000000001</c:v>
                </c:pt>
                <c:pt idx="19">
                  <c:v>4.9059999999999997</c:v>
                </c:pt>
                <c:pt idx="20">
                  <c:v>6.4459999999999997</c:v>
                </c:pt>
                <c:pt idx="21">
                  <c:v>6.819</c:v>
                </c:pt>
                <c:pt idx="22">
                  <c:v>6.8639999999999999</c:v>
                </c:pt>
                <c:pt idx="23">
                  <c:v>3.77</c:v>
                </c:pt>
                <c:pt idx="24">
                  <c:v>5.7939999999999996</c:v>
                </c:pt>
                <c:pt idx="25">
                  <c:v>4.851</c:v>
                </c:pt>
                <c:pt idx="26">
                  <c:v>5.2130000000000001</c:v>
                </c:pt>
                <c:pt idx="27">
                  <c:v>6.0890000000000004</c:v>
                </c:pt>
                <c:pt idx="28">
                  <c:v>3.5880000000000001</c:v>
                </c:pt>
                <c:pt idx="29">
                  <c:v>5.9139999999999997</c:v>
                </c:pt>
                <c:pt idx="30">
                  <c:v>5.3280000000000003</c:v>
                </c:pt>
                <c:pt idx="31">
                  <c:v>2.9809999999999999</c:v>
                </c:pt>
                <c:pt idx="32">
                  <c:v>3.738</c:v>
                </c:pt>
                <c:pt idx="33">
                  <c:v>3.0870000000000002</c:v>
                </c:pt>
                <c:pt idx="34">
                  <c:v>5.149</c:v>
                </c:pt>
                <c:pt idx="35">
                  <c:v>3.8450000000000002</c:v>
                </c:pt>
                <c:pt idx="36">
                  <c:v>4.3120000000000003</c:v>
                </c:pt>
                <c:pt idx="37">
                  <c:v>5.992</c:v>
                </c:pt>
                <c:pt idx="38">
                  <c:v>6.8920000000000003</c:v>
                </c:pt>
                <c:pt idx="39">
                  <c:v>5.6870000000000003</c:v>
                </c:pt>
                <c:pt idx="40">
                  <c:v>4.5730000000000004</c:v>
                </c:pt>
                <c:pt idx="41">
                  <c:v>5.41</c:v>
                </c:pt>
                <c:pt idx="42">
                  <c:v>5.3410000000000002</c:v>
                </c:pt>
                <c:pt idx="43">
                  <c:v>2.1949999999999998</c:v>
                </c:pt>
                <c:pt idx="44">
                  <c:v>3.008</c:v>
                </c:pt>
                <c:pt idx="45">
                  <c:v>3.3370000000000002</c:v>
                </c:pt>
                <c:pt idx="46">
                  <c:v>7.89</c:v>
                </c:pt>
                <c:pt idx="47">
                  <c:v>5.32</c:v>
                </c:pt>
                <c:pt idx="48">
                  <c:v>3.802</c:v>
                </c:pt>
                <c:pt idx="49">
                  <c:v>4.8540000000000001</c:v>
                </c:pt>
                <c:pt idx="50">
                  <c:v>4.5869999999999997</c:v>
                </c:pt>
                <c:pt idx="51">
                  <c:v>5.0999999999999996</c:v>
                </c:pt>
                <c:pt idx="52">
                  <c:v>2.5110000000000001</c:v>
                </c:pt>
                <c:pt idx="53">
                  <c:v>6.117</c:v>
                </c:pt>
                <c:pt idx="54">
                  <c:v>4.282</c:v>
                </c:pt>
                <c:pt idx="55">
                  <c:v>4.4390000000000001</c:v>
                </c:pt>
                <c:pt idx="56">
                  <c:v>6.5490000000000004</c:v>
                </c:pt>
                <c:pt idx="57">
                  <c:v>5.0190000000000001</c:v>
                </c:pt>
                <c:pt idx="58">
                  <c:v>4.74</c:v>
                </c:pt>
                <c:pt idx="59">
                  <c:v>1.883</c:v>
                </c:pt>
                <c:pt idx="60">
                  <c:v>6.4109999999999996</c:v>
                </c:pt>
                <c:pt idx="61">
                  <c:v>4.3330000000000002</c:v>
                </c:pt>
                <c:pt idx="62">
                  <c:v>4.5190000000000001</c:v>
                </c:pt>
                <c:pt idx="63">
                  <c:v>6.2510000000000003</c:v>
                </c:pt>
                <c:pt idx="64">
                  <c:v>8.2189999999999994</c:v>
                </c:pt>
                <c:pt idx="65">
                  <c:v>5.085</c:v>
                </c:pt>
                <c:pt idx="66">
                  <c:v>4.5629999999999997</c:v>
                </c:pt>
                <c:pt idx="67">
                  <c:v>6.0460000000000003</c:v>
                </c:pt>
                <c:pt idx="68">
                  <c:v>4.4279999999999999</c:v>
                </c:pt>
                <c:pt idx="69">
                  <c:v>3.7949999999999999</c:v>
                </c:pt>
                <c:pt idx="70">
                  <c:v>3.871</c:v>
                </c:pt>
                <c:pt idx="71">
                  <c:v>6.3380000000000001</c:v>
                </c:pt>
                <c:pt idx="72">
                  <c:v>3.2250000000000001</c:v>
                </c:pt>
                <c:pt idx="73">
                  <c:v>6.2510000000000003</c:v>
                </c:pt>
                <c:pt idx="74">
                  <c:v>4.4850000000000003</c:v>
                </c:pt>
                <c:pt idx="75">
                  <c:v>2.4620000000000002</c:v>
                </c:pt>
                <c:pt idx="76">
                  <c:v>1.7949999999999999</c:v>
                </c:pt>
                <c:pt idx="77">
                  <c:v>5.3310000000000004</c:v>
                </c:pt>
                <c:pt idx="78">
                  <c:v>3.6909999999999998</c:v>
                </c:pt>
                <c:pt idx="79">
                  <c:v>3.9350000000000001</c:v>
                </c:pt>
              </c:numCache>
            </c:numRef>
          </c:yVal>
          <c:smooth val="0"/>
          <c:extLst>
            <c:ext xmlns:c16="http://schemas.microsoft.com/office/drawing/2014/chart" uri="{C3380CC4-5D6E-409C-BE32-E72D297353CC}">
              <c16:uniqueId val="{00000000-8079-4ECB-86D1-BEB9B3EF4080}"/>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1"/>
        <c:axPos val="b"/>
        <c:numFmt formatCode="General" sourceLinked="1"/>
        <c:majorTickMark val="out"/>
        <c:minorTickMark val="none"/>
        <c:tickLblPos val="nextTo"/>
        <c:crossAx val="-2129643912"/>
        <c:crosses val="autoZero"/>
        <c:crossBetween val="midCat"/>
      </c:valAx>
      <c:valAx>
        <c:axId val="-2129643912"/>
        <c:scaling>
          <c:orientation val="minMax"/>
          <c:max val="10"/>
          <c:min val="0"/>
        </c:scaling>
        <c:delete val="1"/>
        <c:axPos val="l"/>
        <c:numFmt formatCode="General" sourceLinked="1"/>
        <c:majorTickMark val="out"/>
        <c:minorTickMark val="none"/>
        <c:tickLblPos val="nextTo"/>
        <c:crossAx val="-2128940872"/>
        <c:crosses val="autoZero"/>
        <c:crossBetween val="midCat"/>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No linear association</c:v>
                </c:pt>
              </c:strCache>
            </c:strRef>
          </c:tx>
          <c:spPr>
            <a:ln w="47625">
              <a:noFill/>
            </a:ln>
          </c:spPr>
          <c:marker>
            <c:symbol val="circle"/>
            <c:size val="5"/>
            <c:spPr>
              <a:solidFill>
                <a:srgbClr val="1F394D"/>
              </a:solidFill>
              <a:ln>
                <a:solidFill>
                  <a:srgbClr val="FFFFFF"/>
                </a:solidFill>
              </a:ln>
            </c:spPr>
          </c:marker>
          <c:xVal>
            <c:numRef>
              <c:f>Sheet1!$A$2:$A$81</c:f>
              <c:numCache>
                <c:formatCode>General</c:formatCode>
                <c:ptCount val="80"/>
                <c:pt idx="0">
                  <c:v>5.23</c:v>
                </c:pt>
                <c:pt idx="1">
                  <c:v>4.4480000000000004</c:v>
                </c:pt>
                <c:pt idx="2">
                  <c:v>4.532</c:v>
                </c:pt>
                <c:pt idx="3">
                  <c:v>5.8760000000000003</c:v>
                </c:pt>
                <c:pt idx="4">
                  <c:v>6.056</c:v>
                </c:pt>
                <c:pt idx="5">
                  <c:v>4.9619999999999997</c:v>
                </c:pt>
                <c:pt idx="6">
                  <c:v>5.8150000000000004</c:v>
                </c:pt>
                <c:pt idx="7">
                  <c:v>2.5169999999999999</c:v>
                </c:pt>
                <c:pt idx="8">
                  <c:v>4.0750000000000002</c:v>
                </c:pt>
                <c:pt idx="9">
                  <c:v>8.4209999999999994</c:v>
                </c:pt>
                <c:pt idx="10">
                  <c:v>4.3120000000000003</c:v>
                </c:pt>
                <c:pt idx="11">
                  <c:v>6.6950000000000003</c:v>
                </c:pt>
                <c:pt idx="12">
                  <c:v>6.3179999999999996</c:v>
                </c:pt>
                <c:pt idx="13">
                  <c:v>6.9269999999999996</c:v>
                </c:pt>
                <c:pt idx="14">
                  <c:v>5.016</c:v>
                </c:pt>
                <c:pt idx="15">
                  <c:v>3.2349999999999999</c:v>
                </c:pt>
                <c:pt idx="16">
                  <c:v>6.399</c:v>
                </c:pt>
                <c:pt idx="17">
                  <c:v>4.1950000000000003</c:v>
                </c:pt>
                <c:pt idx="18">
                  <c:v>3.3679999999999999</c:v>
                </c:pt>
                <c:pt idx="19">
                  <c:v>3.9289999999999998</c:v>
                </c:pt>
                <c:pt idx="20">
                  <c:v>6.4889999999999999</c:v>
                </c:pt>
                <c:pt idx="21">
                  <c:v>1.847</c:v>
                </c:pt>
                <c:pt idx="22">
                  <c:v>4.2889999999999997</c:v>
                </c:pt>
                <c:pt idx="23">
                  <c:v>3.4649999999999999</c:v>
                </c:pt>
                <c:pt idx="24">
                  <c:v>2.7949999999999999</c:v>
                </c:pt>
                <c:pt idx="25">
                  <c:v>4.1269999999999998</c:v>
                </c:pt>
                <c:pt idx="26">
                  <c:v>4.5110000000000001</c:v>
                </c:pt>
                <c:pt idx="27">
                  <c:v>5.0410000000000004</c:v>
                </c:pt>
                <c:pt idx="28">
                  <c:v>3.3170000000000002</c:v>
                </c:pt>
                <c:pt idx="29">
                  <c:v>8.9009999999999998</c:v>
                </c:pt>
                <c:pt idx="30">
                  <c:v>5.125</c:v>
                </c:pt>
                <c:pt idx="31">
                  <c:v>5.2480000000000002</c:v>
                </c:pt>
                <c:pt idx="32">
                  <c:v>6.6369999999999996</c:v>
                </c:pt>
                <c:pt idx="33">
                  <c:v>1.911</c:v>
                </c:pt>
                <c:pt idx="34">
                  <c:v>5.891</c:v>
                </c:pt>
                <c:pt idx="35">
                  <c:v>4.5140000000000002</c:v>
                </c:pt>
                <c:pt idx="36">
                  <c:v>5.8540000000000001</c:v>
                </c:pt>
                <c:pt idx="37">
                  <c:v>3.395</c:v>
                </c:pt>
                <c:pt idx="38">
                  <c:v>5.2450000000000001</c:v>
                </c:pt>
                <c:pt idx="39">
                  <c:v>3.8279999999999998</c:v>
                </c:pt>
                <c:pt idx="40">
                  <c:v>4.6120000000000001</c:v>
                </c:pt>
                <c:pt idx="41">
                  <c:v>4.9169999999999998</c:v>
                </c:pt>
                <c:pt idx="42">
                  <c:v>7.0279999999999996</c:v>
                </c:pt>
                <c:pt idx="43">
                  <c:v>3.97</c:v>
                </c:pt>
                <c:pt idx="44">
                  <c:v>5.5529999999999999</c:v>
                </c:pt>
                <c:pt idx="45">
                  <c:v>5.0720000000000001</c:v>
                </c:pt>
                <c:pt idx="46">
                  <c:v>3.7370000000000001</c:v>
                </c:pt>
                <c:pt idx="47">
                  <c:v>4.7770000000000001</c:v>
                </c:pt>
                <c:pt idx="48">
                  <c:v>1.7470000000000001</c:v>
                </c:pt>
                <c:pt idx="49">
                  <c:v>2.3570000000000002</c:v>
                </c:pt>
                <c:pt idx="50">
                  <c:v>5.0540000000000003</c:v>
                </c:pt>
                <c:pt idx="51">
                  <c:v>5.94</c:v>
                </c:pt>
                <c:pt idx="52">
                  <c:v>3.786</c:v>
                </c:pt>
                <c:pt idx="53">
                  <c:v>4.8559999999999999</c:v>
                </c:pt>
                <c:pt idx="54">
                  <c:v>2.1379999999999999</c:v>
                </c:pt>
                <c:pt idx="55">
                  <c:v>5.2969999999999997</c:v>
                </c:pt>
                <c:pt idx="56">
                  <c:v>5.67</c:v>
                </c:pt>
                <c:pt idx="57">
                  <c:v>7.0179999999999998</c:v>
                </c:pt>
                <c:pt idx="58">
                  <c:v>7.6040000000000001</c:v>
                </c:pt>
                <c:pt idx="59">
                  <c:v>4.0039999999999996</c:v>
                </c:pt>
                <c:pt idx="60">
                  <c:v>7.6710000000000003</c:v>
                </c:pt>
                <c:pt idx="61">
                  <c:v>3.3479999999999999</c:v>
                </c:pt>
                <c:pt idx="62">
                  <c:v>5.5720000000000001</c:v>
                </c:pt>
                <c:pt idx="63">
                  <c:v>6.444</c:v>
                </c:pt>
                <c:pt idx="64">
                  <c:v>4.2969999999999997</c:v>
                </c:pt>
                <c:pt idx="65">
                  <c:v>5.1369999999999996</c:v>
                </c:pt>
                <c:pt idx="66">
                  <c:v>5.7960000000000003</c:v>
                </c:pt>
                <c:pt idx="67">
                  <c:v>6.484</c:v>
                </c:pt>
                <c:pt idx="68">
                  <c:v>2.145</c:v>
                </c:pt>
                <c:pt idx="69">
                  <c:v>5.2389999999999999</c:v>
                </c:pt>
                <c:pt idx="70">
                  <c:v>8.4160000000000004</c:v>
                </c:pt>
                <c:pt idx="71">
                  <c:v>5.6529999999999996</c:v>
                </c:pt>
                <c:pt idx="72">
                  <c:v>6.726</c:v>
                </c:pt>
                <c:pt idx="73">
                  <c:v>5.4850000000000003</c:v>
                </c:pt>
                <c:pt idx="74">
                  <c:v>7.008</c:v>
                </c:pt>
                <c:pt idx="75">
                  <c:v>5.476</c:v>
                </c:pt>
                <c:pt idx="76">
                  <c:v>5.3579999999999997</c:v>
                </c:pt>
                <c:pt idx="77">
                  <c:v>6.3920000000000003</c:v>
                </c:pt>
                <c:pt idx="78">
                  <c:v>7.7809999999999997</c:v>
                </c:pt>
                <c:pt idx="79">
                  <c:v>5.2880000000000003</c:v>
                </c:pt>
              </c:numCache>
            </c:numRef>
          </c:xVal>
          <c:yVal>
            <c:numRef>
              <c:f>Sheet1!$B$2:$B$81</c:f>
              <c:numCache>
                <c:formatCode>General</c:formatCode>
                <c:ptCount val="80"/>
                <c:pt idx="0">
                  <c:v>7.0620000000000003</c:v>
                </c:pt>
                <c:pt idx="1">
                  <c:v>2.6480000000000001</c:v>
                </c:pt>
                <c:pt idx="2">
                  <c:v>5.8520000000000003</c:v>
                </c:pt>
                <c:pt idx="3">
                  <c:v>6.1059999999999999</c:v>
                </c:pt>
                <c:pt idx="4">
                  <c:v>4.3929999999999998</c:v>
                </c:pt>
                <c:pt idx="5">
                  <c:v>6.4379999999999997</c:v>
                </c:pt>
                <c:pt idx="6">
                  <c:v>5.5250000000000004</c:v>
                </c:pt>
                <c:pt idx="7">
                  <c:v>7.835</c:v>
                </c:pt>
                <c:pt idx="8">
                  <c:v>3.6309999999999998</c:v>
                </c:pt>
                <c:pt idx="9">
                  <c:v>0.379</c:v>
                </c:pt>
                <c:pt idx="10">
                  <c:v>5.3179999999999996</c:v>
                </c:pt>
                <c:pt idx="11">
                  <c:v>1.0900000000000001</c:v>
                </c:pt>
                <c:pt idx="12">
                  <c:v>3.4470000000000001</c:v>
                </c:pt>
                <c:pt idx="13">
                  <c:v>7.2119999999999997</c:v>
                </c:pt>
                <c:pt idx="14">
                  <c:v>9.4450000000000003</c:v>
                </c:pt>
                <c:pt idx="15">
                  <c:v>2.5249999999999999</c:v>
                </c:pt>
                <c:pt idx="16">
                  <c:v>4.96</c:v>
                </c:pt>
                <c:pt idx="17">
                  <c:v>4.4589999999999996</c:v>
                </c:pt>
                <c:pt idx="18">
                  <c:v>5.0049999999999999</c:v>
                </c:pt>
                <c:pt idx="19">
                  <c:v>6.1070000000000002</c:v>
                </c:pt>
                <c:pt idx="20">
                  <c:v>5.4160000000000004</c:v>
                </c:pt>
                <c:pt idx="21">
                  <c:v>5.21</c:v>
                </c:pt>
                <c:pt idx="22">
                  <c:v>2.4079999999999999</c:v>
                </c:pt>
                <c:pt idx="23">
                  <c:v>6.0919999999999996</c:v>
                </c:pt>
                <c:pt idx="24">
                  <c:v>2.375</c:v>
                </c:pt>
                <c:pt idx="25">
                  <c:v>7.5609999999999999</c:v>
                </c:pt>
                <c:pt idx="26">
                  <c:v>5.8129999999999997</c:v>
                </c:pt>
                <c:pt idx="27">
                  <c:v>4.8029999999999999</c:v>
                </c:pt>
                <c:pt idx="28">
                  <c:v>4.1070000000000002</c:v>
                </c:pt>
                <c:pt idx="29">
                  <c:v>5.024</c:v>
                </c:pt>
                <c:pt idx="30">
                  <c:v>5.1269999999999998</c:v>
                </c:pt>
                <c:pt idx="31">
                  <c:v>7.22</c:v>
                </c:pt>
                <c:pt idx="32">
                  <c:v>4.2939999999999996</c:v>
                </c:pt>
                <c:pt idx="33">
                  <c:v>4.1680000000000001</c:v>
                </c:pt>
                <c:pt idx="34">
                  <c:v>2.46</c:v>
                </c:pt>
                <c:pt idx="35">
                  <c:v>3.6749999999999998</c:v>
                </c:pt>
                <c:pt idx="36">
                  <c:v>4.8029999999999999</c:v>
                </c:pt>
                <c:pt idx="37">
                  <c:v>3.7589999999999999</c:v>
                </c:pt>
                <c:pt idx="38">
                  <c:v>5.431</c:v>
                </c:pt>
                <c:pt idx="39">
                  <c:v>3.7719999999999998</c:v>
                </c:pt>
                <c:pt idx="40">
                  <c:v>3.2170000000000001</c:v>
                </c:pt>
                <c:pt idx="41">
                  <c:v>5.3479999999999999</c:v>
                </c:pt>
                <c:pt idx="42">
                  <c:v>2.855</c:v>
                </c:pt>
                <c:pt idx="43">
                  <c:v>8.0540000000000003</c:v>
                </c:pt>
                <c:pt idx="44">
                  <c:v>6.5730000000000004</c:v>
                </c:pt>
                <c:pt idx="45">
                  <c:v>2.39</c:v>
                </c:pt>
                <c:pt idx="46">
                  <c:v>5.2439999999999998</c:v>
                </c:pt>
                <c:pt idx="47">
                  <c:v>5.0209999999999999</c:v>
                </c:pt>
                <c:pt idx="48">
                  <c:v>3.35</c:v>
                </c:pt>
                <c:pt idx="49">
                  <c:v>4.4939999999999998</c:v>
                </c:pt>
                <c:pt idx="50">
                  <c:v>4.3550000000000004</c:v>
                </c:pt>
                <c:pt idx="51">
                  <c:v>2.8879999999999999</c:v>
                </c:pt>
                <c:pt idx="52">
                  <c:v>8.1950000000000003</c:v>
                </c:pt>
                <c:pt idx="53">
                  <c:v>6.8949999999999996</c:v>
                </c:pt>
                <c:pt idx="54">
                  <c:v>5.2380000000000004</c:v>
                </c:pt>
                <c:pt idx="55">
                  <c:v>6.2910000000000004</c:v>
                </c:pt>
                <c:pt idx="56">
                  <c:v>4.718</c:v>
                </c:pt>
                <c:pt idx="57">
                  <c:v>4.7699999999999996</c:v>
                </c:pt>
                <c:pt idx="58">
                  <c:v>4.05</c:v>
                </c:pt>
                <c:pt idx="59">
                  <c:v>4.3070000000000004</c:v>
                </c:pt>
                <c:pt idx="60">
                  <c:v>8.3480000000000008</c:v>
                </c:pt>
                <c:pt idx="61">
                  <c:v>5.2249999999999996</c:v>
                </c:pt>
                <c:pt idx="62">
                  <c:v>6.0380000000000003</c:v>
                </c:pt>
                <c:pt idx="63">
                  <c:v>6.1</c:v>
                </c:pt>
                <c:pt idx="64">
                  <c:v>5.2990000000000004</c:v>
                </c:pt>
                <c:pt idx="65">
                  <c:v>5.9109999999999996</c:v>
                </c:pt>
                <c:pt idx="66">
                  <c:v>5.3689999999999998</c:v>
                </c:pt>
                <c:pt idx="67">
                  <c:v>4.569</c:v>
                </c:pt>
                <c:pt idx="68">
                  <c:v>2.8029999999999999</c:v>
                </c:pt>
                <c:pt idx="69">
                  <c:v>5.1509999999999998</c:v>
                </c:pt>
                <c:pt idx="70">
                  <c:v>5.48</c:v>
                </c:pt>
                <c:pt idx="71">
                  <c:v>4.9770000000000003</c:v>
                </c:pt>
                <c:pt idx="72">
                  <c:v>5.524</c:v>
                </c:pt>
                <c:pt idx="73">
                  <c:v>3.9729999999999999</c:v>
                </c:pt>
                <c:pt idx="74">
                  <c:v>8.01</c:v>
                </c:pt>
                <c:pt idx="75">
                  <c:v>6.3659999999999997</c:v>
                </c:pt>
                <c:pt idx="76">
                  <c:v>5.7110000000000003</c:v>
                </c:pt>
                <c:pt idx="77">
                  <c:v>3.395</c:v>
                </c:pt>
                <c:pt idx="78">
                  <c:v>4.18</c:v>
                </c:pt>
                <c:pt idx="79">
                  <c:v>2.8109999999999999</c:v>
                </c:pt>
              </c:numCache>
            </c:numRef>
          </c:yVal>
          <c:smooth val="0"/>
          <c:extLst>
            <c:ext xmlns:c16="http://schemas.microsoft.com/office/drawing/2014/chart" uri="{C3380CC4-5D6E-409C-BE32-E72D297353CC}">
              <c16:uniqueId val="{00000000-73A3-46DE-B769-30AA273115FF}"/>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1"/>
        <c:axPos val="b"/>
        <c:numFmt formatCode="General" sourceLinked="1"/>
        <c:majorTickMark val="out"/>
        <c:minorTickMark val="none"/>
        <c:tickLblPos val="nextTo"/>
        <c:crossAx val="-2129643912"/>
        <c:crosses val="autoZero"/>
        <c:crossBetween val="midCat"/>
      </c:valAx>
      <c:valAx>
        <c:axId val="-2129643912"/>
        <c:scaling>
          <c:orientation val="minMax"/>
          <c:max val="10"/>
          <c:min val="0"/>
        </c:scaling>
        <c:delete val="1"/>
        <c:axPos val="l"/>
        <c:numFmt formatCode="General" sourceLinked="1"/>
        <c:majorTickMark val="out"/>
        <c:minorTickMark val="none"/>
        <c:tickLblPos val="nextTo"/>
        <c:crossAx val="-2128940872"/>
        <c:crosses val="autoZero"/>
        <c:crossBetween val="midCat"/>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Moderate positive</c:v>
                </c:pt>
              </c:strCache>
            </c:strRef>
          </c:tx>
          <c:spPr>
            <a:ln w="47625">
              <a:noFill/>
            </a:ln>
          </c:spPr>
          <c:marker>
            <c:symbol val="circle"/>
            <c:size val="5"/>
            <c:spPr>
              <a:solidFill>
                <a:srgbClr val="1F394D"/>
              </a:solidFill>
              <a:ln>
                <a:solidFill>
                  <a:srgbClr val="FFFFFF"/>
                </a:solidFill>
              </a:ln>
            </c:spPr>
          </c:marker>
          <c:xVal>
            <c:numRef>
              <c:f>Sheet1!$A$2:$A$81</c:f>
              <c:numCache>
                <c:formatCode>General</c:formatCode>
                <c:ptCount val="80"/>
                <c:pt idx="0">
                  <c:v>6.5</c:v>
                </c:pt>
                <c:pt idx="1">
                  <c:v>5.8550000000000004</c:v>
                </c:pt>
                <c:pt idx="2">
                  <c:v>5.5590000000000002</c:v>
                </c:pt>
                <c:pt idx="3">
                  <c:v>6.585</c:v>
                </c:pt>
                <c:pt idx="4">
                  <c:v>6.4660000000000002</c:v>
                </c:pt>
                <c:pt idx="5">
                  <c:v>6.234</c:v>
                </c:pt>
                <c:pt idx="6">
                  <c:v>3.165</c:v>
                </c:pt>
                <c:pt idx="7">
                  <c:v>3.4289999999999998</c:v>
                </c:pt>
                <c:pt idx="8">
                  <c:v>8.4120000000000008</c:v>
                </c:pt>
                <c:pt idx="9">
                  <c:v>4.3319999999999999</c:v>
                </c:pt>
                <c:pt idx="10">
                  <c:v>6.63</c:v>
                </c:pt>
                <c:pt idx="11">
                  <c:v>5.3760000000000003</c:v>
                </c:pt>
                <c:pt idx="12">
                  <c:v>6.4139999999999997</c:v>
                </c:pt>
                <c:pt idx="13">
                  <c:v>6.9160000000000004</c:v>
                </c:pt>
                <c:pt idx="14">
                  <c:v>8.3320000000000007</c:v>
                </c:pt>
                <c:pt idx="15">
                  <c:v>5.4690000000000003</c:v>
                </c:pt>
                <c:pt idx="16">
                  <c:v>5.1909999999999998</c:v>
                </c:pt>
                <c:pt idx="17">
                  <c:v>4.9009999999999998</c:v>
                </c:pt>
                <c:pt idx="18">
                  <c:v>3.0289999999999999</c:v>
                </c:pt>
                <c:pt idx="19">
                  <c:v>4.3479999999999999</c:v>
                </c:pt>
                <c:pt idx="20">
                  <c:v>4.5229999999999997</c:v>
                </c:pt>
                <c:pt idx="21">
                  <c:v>5.0999999999999996</c:v>
                </c:pt>
                <c:pt idx="22">
                  <c:v>5.8490000000000002</c:v>
                </c:pt>
                <c:pt idx="23">
                  <c:v>4.8540000000000001</c:v>
                </c:pt>
                <c:pt idx="24">
                  <c:v>2.875</c:v>
                </c:pt>
                <c:pt idx="25">
                  <c:v>7.9720000000000004</c:v>
                </c:pt>
                <c:pt idx="26">
                  <c:v>6.68</c:v>
                </c:pt>
                <c:pt idx="27">
                  <c:v>8.8849999999999998</c:v>
                </c:pt>
                <c:pt idx="28">
                  <c:v>10.093</c:v>
                </c:pt>
                <c:pt idx="29">
                  <c:v>4.2050000000000001</c:v>
                </c:pt>
                <c:pt idx="30">
                  <c:v>7.0110000000000001</c:v>
                </c:pt>
                <c:pt idx="31">
                  <c:v>6.17</c:v>
                </c:pt>
                <c:pt idx="32">
                  <c:v>3.5379999999999998</c:v>
                </c:pt>
                <c:pt idx="33">
                  <c:v>4.1340000000000003</c:v>
                </c:pt>
                <c:pt idx="34">
                  <c:v>6.0410000000000004</c:v>
                </c:pt>
                <c:pt idx="35">
                  <c:v>4.8150000000000004</c:v>
                </c:pt>
                <c:pt idx="36">
                  <c:v>5.266</c:v>
                </c:pt>
                <c:pt idx="37">
                  <c:v>5.1520000000000001</c:v>
                </c:pt>
                <c:pt idx="38">
                  <c:v>4.3710000000000004</c:v>
                </c:pt>
                <c:pt idx="39">
                  <c:v>7.1230000000000002</c:v>
                </c:pt>
                <c:pt idx="40">
                  <c:v>6.8470000000000004</c:v>
                </c:pt>
                <c:pt idx="41">
                  <c:v>5.5750000000000002</c:v>
                </c:pt>
                <c:pt idx="42">
                  <c:v>7.4889999999999999</c:v>
                </c:pt>
                <c:pt idx="43">
                  <c:v>5.2439999999999998</c:v>
                </c:pt>
                <c:pt idx="44">
                  <c:v>6.5179999999999998</c:v>
                </c:pt>
                <c:pt idx="45">
                  <c:v>6.5019999999999998</c:v>
                </c:pt>
                <c:pt idx="46">
                  <c:v>4.8140000000000001</c:v>
                </c:pt>
                <c:pt idx="47">
                  <c:v>5.9630000000000001</c:v>
                </c:pt>
                <c:pt idx="48">
                  <c:v>6.2249999999999996</c:v>
                </c:pt>
                <c:pt idx="49">
                  <c:v>6.4189999999999996</c:v>
                </c:pt>
                <c:pt idx="50">
                  <c:v>4.4530000000000003</c:v>
                </c:pt>
                <c:pt idx="51">
                  <c:v>3.9940000000000002</c:v>
                </c:pt>
                <c:pt idx="52">
                  <c:v>4.008</c:v>
                </c:pt>
                <c:pt idx="53">
                  <c:v>6.2990000000000004</c:v>
                </c:pt>
                <c:pt idx="54">
                  <c:v>4.2229999999999999</c:v>
                </c:pt>
                <c:pt idx="55">
                  <c:v>4.9989999999999997</c:v>
                </c:pt>
                <c:pt idx="56">
                  <c:v>7.141</c:v>
                </c:pt>
                <c:pt idx="57">
                  <c:v>5.79</c:v>
                </c:pt>
                <c:pt idx="58">
                  <c:v>4.96</c:v>
                </c:pt>
                <c:pt idx="59">
                  <c:v>8.2080000000000002</c:v>
                </c:pt>
                <c:pt idx="60">
                  <c:v>5.1040000000000001</c:v>
                </c:pt>
                <c:pt idx="61">
                  <c:v>5.3230000000000004</c:v>
                </c:pt>
                <c:pt idx="62">
                  <c:v>4.83</c:v>
                </c:pt>
                <c:pt idx="63">
                  <c:v>5.18</c:v>
                </c:pt>
                <c:pt idx="64">
                  <c:v>6.6779999999999999</c:v>
                </c:pt>
                <c:pt idx="65">
                  <c:v>6.4630000000000001</c:v>
                </c:pt>
                <c:pt idx="66">
                  <c:v>3.9609999999999999</c:v>
                </c:pt>
                <c:pt idx="67">
                  <c:v>9.3179999999999996</c:v>
                </c:pt>
                <c:pt idx="68">
                  <c:v>4.71</c:v>
                </c:pt>
                <c:pt idx="69">
                  <c:v>4.8819999999999997</c:v>
                </c:pt>
                <c:pt idx="70">
                  <c:v>3.843</c:v>
                </c:pt>
                <c:pt idx="71">
                  <c:v>5.7080000000000002</c:v>
                </c:pt>
                <c:pt idx="72">
                  <c:v>2.6579999999999999</c:v>
                </c:pt>
                <c:pt idx="73">
                  <c:v>5.1639999999999997</c:v>
                </c:pt>
                <c:pt idx="74">
                  <c:v>5.0330000000000004</c:v>
                </c:pt>
                <c:pt idx="75">
                  <c:v>2.2509999999999999</c:v>
                </c:pt>
                <c:pt idx="76">
                  <c:v>9.3919999999999995</c:v>
                </c:pt>
                <c:pt idx="77">
                  <c:v>6.407</c:v>
                </c:pt>
                <c:pt idx="78">
                  <c:v>4.4219999999999997</c:v>
                </c:pt>
                <c:pt idx="79">
                  <c:v>4.9989999999999997</c:v>
                </c:pt>
              </c:numCache>
            </c:numRef>
          </c:xVal>
          <c:yVal>
            <c:numRef>
              <c:f>Sheet1!$B$2:$B$81</c:f>
              <c:numCache>
                <c:formatCode>General</c:formatCode>
                <c:ptCount val="80"/>
                <c:pt idx="0">
                  <c:v>7.75</c:v>
                </c:pt>
                <c:pt idx="1">
                  <c:v>4.7510000000000003</c:v>
                </c:pt>
                <c:pt idx="2">
                  <c:v>7.9139999999999997</c:v>
                </c:pt>
                <c:pt idx="3">
                  <c:v>4.2270000000000003</c:v>
                </c:pt>
                <c:pt idx="4">
                  <c:v>5.7789999999999999</c:v>
                </c:pt>
                <c:pt idx="5">
                  <c:v>3.3959999999999999</c:v>
                </c:pt>
                <c:pt idx="6">
                  <c:v>5.9420000000000002</c:v>
                </c:pt>
                <c:pt idx="7">
                  <c:v>5.0570000000000004</c:v>
                </c:pt>
                <c:pt idx="8">
                  <c:v>5.7930000000000001</c:v>
                </c:pt>
                <c:pt idx="9">
                  <c:v>6.891</c:v>
                </c:pt>
                <c:pt idx="10">
                  <c:v>3.6659999999999999</c:v>
                </c:pt>
                <c:pt idx="11">
                  <c:v>4.9059999999999997</c:v>
                </c:pt>
                <c:pt idx="12">
                  <c:v>3.54</c:v>
                </c:pt>
                <c:pt idx="13">
                  <c:v>7.5519999999999996</c:v>
                </c:pt>
                <c:pt idx="14">
                  <c:v>6.2869999999999999</c:v>
                </c:pt>
                <c:pt idx="15">
                  <c:v>6.141</c:v>
                </c:pt>
                <c:pt idx="16">
                  <c:v>3.3559999999999999</c:v>
                </c:pt>
                <c:pt idx="17">
                  <c:v>5.2510000000000003</c:v>
                </c:pt>
                <c:pt idx="18">
                  <c:v>4.2089999999999996</c:v>
                </c:pt>
                <c:pt idx="19">
                  <c:v>4.1660000000000004</c:v>
                </c:pt>
                <c:pt idx="20">
                  <c:v>5.5339999999999998</c:v>
                </c:pt>
                <c:pt idx="21">
                  <c:v>5.5439999999999996</c:v>
                </c:pt>
                <c:pt idx="22">
                  <c:v>6.74</c:v>
                </c:pt>
                <c:pt idx="23">
                  <c:v>6.3470000000000004</c:v>
                </c:pt>
                <c:pt idx="24">
                  <c:v>4.8490000000000002</c:v>
                </c:pt>
                <c:pt idx="25">
                  <c:v>3.2069999999999999</c:v>
                </c:pt>
                <c:pt idx="26">
                  <c:v>5.3230000000000004</c:v>
                </c:pt>
                <c:pt idx="27">
                  <c:v>8.2080000000000002</c:v>
                </c:pt>
                <c:pt idx="28">
                  <c:v>7.7220000000000004</c:v>
                </c:pt>
                <c:pt idx="29">
                  <c:v>4.9139999999999997</c:v>
                </c:pt>
                <c:pt idx="30">
                  <c:v>7.016</c:v>
                </c:pt>
                <c:pt idx="31">
                  <c:v>3.9089999999999998</c:v>
                </c:pt>
                <c:pt idx="32">
                  <c:v>4.7249999999999996</c:v>
                </c:pt>
                <c:pt idx="33">
                  <c:v>5.1639999999999997</c:v>
                </c:pt>
                <c:pt idx="34">
                  <c:v>5.5670000000000002</c:v>
                </c:pt>
                <c:pt idx="35">
                  <c:v>4.8470000000000004</c:v>
                </c:pt>
                <c:pt idx="36">
                  <c:v>4.2880000000000003</c:v>
                </c:pt>
                <c:pt idx="37">
                  <c:v>5.0350000000000001</c:v>
                </c:pt>
                <c:pt idx="38">
                  <c:v>5.069</c:v>
                </c:pt>
                <c:pt idx="39">
                  <c:v>4.4420000000000002</c:v>
                </c:pt>
                <c:pt idx="40">
                  <c:v>4.2839999999999998</c:v>
                </c:pt>
                <c:pt idx="41">
                  <c:v>3.5920000000000001</c:v>
                </c:pt>
                <c:pt idx="42">
                  <c:v>7.08</c:v>
                </c:pt>
                <c:pt idx="43">
                  <c:v>3.843</c:v>
                </c:pt>
                <c:pt idx="44">
                  <c:v>4.6470000000000002</c:v>
                </c:pt>
                <c:pt idx="45">
                  <c:v>5.2869999999999999</c:v>
                </c:pt>
                <c:pt idx="46">
                  <c:v>4.468</c:v>
                </c:pt>
                <c:pt idx="47">
                  <c:v>5.93</c:v>
                </c:pt>
                <c:pt idx="48">
                  <c:v>5.2679999999999998</c:v>
                </c:pt>
                <c:pt idx="49">
                  <c:v>5.665</c:v>
                </c:pt>
                <c:pt idx="50">
                  <c:v>3.3079999999999998</c:v>
                </c:pt>
                <c:pt idx="51">
                  <c:v>6.3140000000000001</c:v>
                </c:pt>
                <c:pt idx="52">
                  <c:v>6.4359999999999999</c:v>
                </c:pt>
                <c:pt idx="53">
                  <c:v>4.6319999999999997</c:v>
                </c:pt>
                <c:pt idx="54">
                  <c:v>4.55</c:v>
                </c:pt>
                <c:pt idx="55">
                  <c:v>4.6020000000000003</c:v>
                </c:pt>
                <c:pt idx="56">
                  <c:v>7.46</c:v>
                </c:pt>
                <c:pt idx="57">
                  <c:v>6.9340000000000002</c:v>
                </c:pt>
                <c:pt idx="58">
                  <c:v>4.1429999999999998</c:v>
                </c:pt>
                <c:pt idx="59">
                  <c:v>5.9029999999999996</c:v>
                </c:pt>
                <c:pt idx="60">
                  <c:v>5.9770000000000003</c:v>
                </c:pt>
                <c:pt idx="61">
                  <c:v>2.4220000000000002</c:v>
                </c:pt>
                <c:pt idx="62">
                  <c:v>4.5019999999999998</c:v>
                </c:pt>
                <c:pt idx="63">
                  <c:v>5.26</c:v>
                </c:pt>
                <c:pt idx="64">
                  <c:v>7.3920000000000003</c:v>
                </c:pt>
                <c:pt idx="65">
                  <c:v>6.4530000000000003</c:v>
                </c:pt>
                <c:pt idx="66">
                  <c:v>5.4610000000000003</c:v>
                </c:pt>
                <c:pt idx="67">
                  <c:v>8.5879999999999992</c:v>
                </c:pt>
                <c:pt idx="68">
                  <c:v>4.016</c:v>
                </c:pt>
                <c:pt idx="69">
                  <c:v>5.83</c:v>
                </c:pt>
                <c:pt idx="70">
                  <c:v>5.8280000000000003</c:v>
                </c:pt>
                <c:pt idx="71">
                  <c:v>6.1429999999999998</c:v>
                </c:pt>
                <c:pt idx="72">
                  <c:v>4.3689999999999998</c:v>
                </c:pt>
                <c:pt idx="73">
                  <c:v>5.9820000000000002</c:v>
                </c:pt>
                <c:pt idx="74">
                  <c:v>4.3970000000000002</c:v>
                </c:pt>
                <c:pt idx="75">
                  <c:v>3.27</c:v>
                </c:pt>
                <c:pt idx="76">
                  <c:v>5.8310000000000004</c:v>
                </c:pt>
                <c:pt idx="77">
                  <c:v>5.0090000000000003</c:v>
                </c:pt>
                <c:pt idx="78">
                  <c:v>3.3730000000000002</c:v>
                </c:pt>
                <c:pt idx="79">
                  <c:v>3.1429999999999998</c:v>
                </c:pt>
              </c:numCache>
            </c:numRef>
          </c:yVal>
          <c:smooth val="0"/>
          <c:extLst>
            <c:ext xmlns:c16="http://schemas.microsoft.com/office/drawing/2014/chart" uri="{C3380CC4-5D6E-409C-BE32-E72D297353CC}">
              <c16:uniqueId val="{00000000-5643-48E7-B5EB-8C3DC04EEF85}"/>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1"/>
        <c:axPos val="b"/>
        <c:numFmt formatCode="General" sourceLinked="1"/>
        <c:majorTickMark val="out"/>
        <c:minorTickMark val="none"/>
        <c:tickLblPos val="nextTo"/>
        <c:crossAx val="-2129643912"/>
        <c:crosses val="autoZero"/>
        <c:crossBetween val="midCat"/>
      </c:valAx>
      <c:valAx>
        <c:axId val="-2129643912"/>
        <c:scaling>
          <c:orientation val="minMax"/>
          <c:max val="10"/>
          <c:min val="0"/>
        </c:scaling>
        <c:delete val="1"/>
        <c:axPos val="l"/>
        <c:numFmt formatCode="General" sourceLinked="1"/>
        <c:majorTickMark val="out"/>
        <c:minorTickMark val="none"/>
        <c:tickLblPos val="nextTo"/>
        <c:crossAx val="-2128940872"/>
        <c:crosses val="autoZero"/>
        <c:crossBetween val="midCat"/>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Strong positive</c:v>
                </c:pt>
              </c:strCache>
            </c:strRef>
          </c:tx>
          <c:spPr>
            <a:ln w="47625">
              <a:noFill/>
            </a:ln>
          </c:spPr>
          <c:marker>
            <c:symbol val="circle"/>
            <c:size val="5"/>
            <c:spPr>
              <a:solidFill>
                <a:srgbClr val="1F394D"/>
              </a:solidFill>
              <a:ln>
                <a:solidFill>
                  <a:srgbClr val="FFFFFF"/>
                </a:solidFill>
              </a:ln>
            </c:spPr>
          </c:marker>
          <c:xVal>
            <c:numRef>
              <c:f>Sheet1!$A$2:$A$81</c:f>
              <c:numCache>
                <c:formatCode>General</c:formatCode>
                <c:ptCount val="80"/>
                <c:pt idx="0">
                  <c:v>4.22</c:v>
                </c:pt>
                <c:pt idx="1">
                  <c:v>5.6779999999999999</c:v>
                </c:pt>
                <c:pt idx="2">
                  <c:v>6.391</c:v>
                </c:pt>
                <c:pt idx="3">
                  <c:v>4.8419999999999996</c:v>
                </c:pt>
                <c:pt idx="4">
                  <c:v>5.4790000000000001</c:v>
                </c:pt>
                <c:pt idx="5">
                  <c:v>2.1269999999999998</c:v>
                </c:pt>
                <c:pt idx="6">
                  <c:v>5.2910000000000004</c:v>
                </c:pt>
                <c:pt idx="7">
                  <c:v>4.117</c:v>
                </c:pt>
                <c:pt idx="8">
                  <c:v>7.7050000000000001</c:v>
                </c:pt>
                <c:pt idx="9">
                  <c:v>6.3159999999999998</c:v>
                </c:pt>
                <c:pt idx="10">
                  <c:v>4.9260000000000002</c:v>
                </c:pt>
                <c:pt idx="11">
                  <c:v>7.4089999999999998</c:v>
                </c:pt>
                <c:pt idx="12">
                  <c:v>3.641</c:v>
                </c:pt>
                <c:pt idx="13">
                  <c:v>5.6790000000000003</c:v>
                </c:pt>
                <c:pt idx="14">
                  <c:v>3.577</c:v>
                </c:pt>
                <c:pt idx="15">
                  <c:v>6.71</c:v>
                </c:pt>
                <c:pt idx="16">
                  <c:v>5.6020000000000003</c:v>
                </c:pt>
                <c:pt idx="17">
                  <c:v>3.56</c:v>
                </c:pt>
                <c:pt idx="18">
                  <c:v>7.29</c:v>
                </c:pt>
                <c:pt idx="19">
                  <c:v>3.5089999999999999</c:v>
                </c:pt>
                <c:pt idx="20">
                  <c:v>5.8179999999999996</c:v>
                </c:pt>
                <c:pt idx="21">
                  <c:v>2.6160000000000001</c:v>
                </c:pt>
                <c:pt idx="22">
                  <c:v>3.1789999999999998</c:v>
                </c:pt>
                <c:pt idx="23">
                  <c:v>6.3620000000000001</c:v>
                </c:pt>
                <c:pt idx="24">
                  <c:v>5.3159999999999998</c:v>
                </c:pt>
                <c:pt idx="25">
                  <c:v>6.4569999999999999</c:v>
                </c:pt>
                <c:pt idx="26">
                  <c:v>4.766</c:v>
                </c:pt>
                <c:pt idx="27">
                  <c:v>5.4619999999999997</c:v>
                </c:pt>
                <c:pt idx="28">
                  <c:v>4.9909999999999997</c:v>
                </c:pt>
                <c:pt idx="29">
                  <c:v>4.0970000000000004</c:v>
                </c:pt>
                <c:pt idx="30">
                  <c:v>7.0270000000000001</c:v>
                </c:pt>
                <c:pt idx="31">
                  <c:v>5.1349999999999998</c:v>
                </c:pt>
                <c:pt idx="32">
                  <c:v>2.399</c:v>
                </c:pt>
                <c:pt idx="33">
                  <c:v>4.4649999999999999</c:v>
                </c:pt>
                <c:pt idx="34">
                  <c:v>7.7759999999999998</c:v>
                </c:pt>
                <c:pt idx="35">
                  <c:v>3.2709999999999999</c:v>
                </c:pt>
                <c:pt idx="36">
                  <c:v>5.4930000000000003</c:v>
                </c:pt>
                <c:pt idx="37">
                  <c:v>1.802</c:v>
                </c:pt>
                <c:pt idx="38">
                  <c:v>3.2959999999999998</c:v>
                </c:pt>
                <c:pt idx="39">
                  <c:v>4.5679999999999996</c:v>
                </c:pt>
                <c:pt idx="40">
                  <c:v>6.117</c:v>
                </c:pt>
                <c:pt idx="41">
                  <c:v>5.1769999999999996</c:v>
                </c:pt>
                <c:pt idx="42">
                  <c:v>6.4450000000000003</c:v>
                </c:pt>
                <c:pt idx="43">
                  <c:v>4.3639999999999999</c:v>
                </c:pt>
                <c:pt idx="44">
                  <c:v>5.1029999999999998</c:v>
                </c:pt>
                <c:pt idx="45">
                  <c:v>6.6130000000000004</c:v>
                </c:pt>
                <c:pt idx="46">
                  <c:v>5.0750000000000002</c:v>
                </c:pt>
                <c:pt idx="47">
                  <c:v>6.4160000000000004</c:v>
                </c:pt>
                <c:pt idx="48">
                  <c:v>6.4870000000000001</c:v>
                </c:pt>
                <c:pt idx="49">
                  <c:v>4.0780000000000003</c:v>
                </c:pt>
                <c:pt idx="50">
                  <c:v>4.0640000000000001</c:v>
                </c:pt>
                <c:pt idx="51">
                  <c:v>5.1340000000000003</c:v>
                </c:pt>
                <c:pt idx="52">
                  <c:v>7.1420000000000003</c:v>
                </c:pt>
                <c:pt idx="53">
                  <c:v>6.367</c:v>
                </c:pt>
                <c:pt idx="54">
                  <c:v>4.6369999999999996</c:v>
                </c:pt>
                <c:pt idx="55">
                  <c:v>2.6850000000000001</c:v>
                </c:pt>
                <c:pt idx="56">
                  <c:v>5.7</c:v>
                </c:pt>
                <c:pt idx="57">
                  <c:v>7.8540000000000001</c:v>
                </c:pt>
                <c:pt idx="58">
                  <c:v>1.2989999999999999</c:v>
                </c:pt>
                <c:pt idx="59">
                  <c:v>7.7140000000000004</c:v>
                </c:pt>
                <c:pt idx="60">
                  <c:v>4.2140000000000004</c:v>
                </c:pt>
                <c:pt idx="61">
                  <c:v>5.367</c:v>
                </c:pt>
                <c:pt idx="62">
                  <c:v>5.1020000000000003</c:v>
                </c:pt>
                <c:pt idx="63">
                  <c:v>4.625</c:v>
                </c:pt>
                <c:pt idx="64">
                  <c:v>6.3719999999999999</c:v>
                </c:pt>
                <c:pt idx="65">
                  <c:v>2.57</c:v>
                </c:pt>
                <c:pt idx="66">
                  <c:v>5.1390000000000002</c:v>
                </c:pt>
                <c:pt idx="67">
                  <c:v>4.38</c:v>
                </c:pt>
                <c:pt idx="68">
                  <c:v>7.0709999999999997</c:v>
                </c:pt>
                <c:pt idx="69">
                  <c:v>8.9740000000000002</c:v>
                </c:pt>
                <c:pt idx="70">
                  <c:v>2.3839999999999999</c:v>
                </c:pt>
                <c:pt idx="71">
                  <c:v>4.4589999999999996</c:v>
                </c:pt>
                <c:pt idx="72">
                  <c:v>5.423</c:v>
                </c:pt>
                <c:pt idx="73">
                  <c:v>4.3209999999999997</c:v>
                </c:pt>
                <c:pt idx="74">
                  <c:v>4.3380000000000001</c:v>
                </c:pt>
                <c:pt idx="75">
                  <c:v>6.2389999999999999</c:v>
                </c:pt>
                <c:pt idx="76">
                  <c:v>3.9540000000000002</c:v>
                </c:pt>
                <c:pt idx="77">
                  <c:v>2.1890000000000001</c:v>
                </c:pt>
                <c:pt idx="78">
                  <c:v>3.1579999999999999</c:v>
                </c:pt>
                <c:pt idx="79">
                  <c:v>5.8</c:v>
                </c:pt>
              </c:numCache>
            </c:numRef>
          </c:xVal>
          <c:yVal>
            <c:numRef>
              <c:f>Sheet1!$B$2:$B$81</c:f>
              <c:numCache>
                <c:formatCode>General</c:formatCode>
                <c:ptCount val="80"/>
                <c:pt idx="0">
                  <c:v>4.3570000000000002</c:v>
                </c:pt>
                <c:pt idx="1">
                  <c:v>6.3360000000000003</c:v>
                </c:pt>
                <c:pt idx="2">
                  <c:v>7.7709999999999999</c:v>
                </c:pt>
                <c:pt idx="3">
                  <c:v>4.5170000000000003</c:v>
                </c:pt>
                <c:pt idx="4">
                  <c:v>6.0960000000000001</c:v>
                </c:pt>
                <c:pt idx="5">
                  <c:v>2.6920000000000002</c:v>
                </c:pt>
                <c:pt idx="6">
                  <c:v>4.4859999999999998</c:v>
                </c:pt>
                <c:pt idx="7">
                  <c:v>3.585</c:v>
                </c:pt>
                <c:pt idx="8">
                  <c:v>6.6970000000000001</c:v>
                </c:pt>
                <c:pt idx="9">
                  <c:v>7.1779999999999999</c:v>
                </c:pt>
                <c:pt idx="10">
                  <c:v>5.5330000000000004</c:v>
                </c:pt>
                <c:pt idx="11">
                  <c:v>6.9960000000000004</c:v>
                </c:pt>
                <c:pt idx="12">
                  <c:v>3.681</c:v>
                </c:pt>
                <c:pt idx="13">
                  <c:v>6.5380000000000003</c:v>
                </c:pt>
                <c:pt idx="14">
                  <c:v>3.7069999999999999</c:v>
                </c:pt>
                <c:pt idx="15">
                  <c:v>6.9279999999999999</c:v>
                </c:pt>
                <c:pt idx="16">
                  <c:v>4.78</c:v>
                </c:pt>
                <c:pt idx="17">
                  <c:v>4.3869999999999996</c:v>
                </c:pt>
                <c:pt idx="18">
                  <c:v>6.5039999999999996</c:v>
                </c:pt>
                <c:pt idx="19">
                  <c:v>3.0950000000000002</c:v>
                </c:pt>
                <c:pt idx="20">
                  <c:v>6.3090000000000002</c:v>
                </c:pt>
                <c:pt idx="21">
                  <c:v>1.736</c:v>
                </c:pt>
                <c:pt idx="22">
                  <c:v>3.895</c:v>
                </c:pt>
                <c:pt idx="23">
                  <c:v>6.8890000000000002</c:v>
                </c:pt>
                <c:pt idx="24">
                  <c:v>5.1059999999999999</c:v>
                </c:pt>
                <c:pt idx="25">
                  <c:v>6.6470000000000002</c:v>
                </c:pt>
                <c:pt idx="26">
                  <c:v>4.056</c:v>
                </c:pt>
                <c:pt idx="27">
                  <c:v>5.7839999999999998</c:v>
                </c:pt>
                <c:pt idx="28">
                  <c:v>5.4379999999999997</c:v>
                </c:pt>
                <c:pt idx="29">
                  <c:v>4.8129999999999997</c:v>
                </c:pt>
                <c:pt idx="30">
                  <c:v>6.73</c:v>
                </c:pt>
                <c:pt idx="31">
                  <c:v>5.274</c:v>
                </c:pt>
                <c:pt idx="32">
                  <c:v>3.028</c:v>
                </c:pt>
                <c:pt idx="33">
                  <c:v>4.1210000000000004</c:v>
                </c:pt>
                <c:pt idx="34">
                  <c:v>6.8860000000000001</c:v>
                </c:pt>
                <c:pt idx="35">
                  <c:v>3.5009999999999999</c:v>
                </c:pt>
                <c:pt idx="36">
                  <c:v>4.3559999999999999</c:v>
                </c:pt>
                <c:pt idx="37">
                  <c:v>2.0819999999999999</c:v>
                </c:pt>
                <c:pt idx="38">
                  <c:v>1.893</c:v>
                </c:pt>
                <c:pt idx="39">
                  <c:v>4.2160000000000002</c:v>
                </c:pt>
                <c:pt idx="40">
                  <c:v>6.9109999999999996</c:v>
                </c:pt>
                <c:pt idx="41">
                  <c:v>4.7880000000000003</c:v>
                </c:pt>
                <c:pt idx="42">
                  <c:v>5.718</c:v>
                </c:pt>
                <c:pt idx="43">
                  <c:v>4.5999999999999996</c:v>
                </c:pt>
                <c:pt idx="44">
                  <c:v>6.7210000000000001</c:v>
                </c:pt>
                <c:pt idx="45">
                  <c:v>6.601</c:v>
                </c:pt>
                <c:pt idx="46">
                  <c:v>5.0199999999999996</c:v>
                </c:pt>
                <c:pt idx="47">
                  <c:v>5.3579999999999997</c:v>
                </c:pt>
                <c:pt idx="48">
                  <c:v>6.6509999999999998</c:v>
                </c:pt>
                <c:pt idx="49">
                  <c:v>3.4180000000000001</c:v>
                </c:pt>
                <c:pt idx="50">
                  <c:v>3.472</c:v>
                </c:pt>
                <c:pt idx="51">
                  <c:v>5.2690000000000001</c:v>
                </c:pt>
                <c:pt idx="52">
                  <c:v>6.96</c:v>
                </c:pt>
                <c:pt idx="53">
                  <c:v>5.4989999999999997</c:v>
                </c:pt>
                <c:pt idx="54">
                  <c:v>4.9809999999999999</c:v>
                </c:pt>
                <c:pt idx="55">
                  <c:v>4.5469999999999997</c:v>
                </c:pt>
                <c:pt idx="56">
                  <c:v>5.6559999999999997</c:v>
                </c:pt>
                <c:pt idx="57">
                  <c:v>7.4850000000000003</c:v>
                </c:pt>
                <c:pt idx="58">
                  <c:v>1.591</c:v>
                </c:pt>
                <c:pt idx="59">
                  <c:v>7.266</c:v>
                </c:pt>
                <c:pt idx="60">
                  <c:v>5.15</c:v>
                </c:pt>
                <c:pt idx="61">
                  <c:v>3.871</c:v>
                </c:pt>
                <c:pt idx="62">
                  <c:v>5.3730000000000002</c:v>
                </c:pt>
                <c:pt idx="63">
                  <c:v>5.165</c:v>
                </c:pt>
                <c:pt idx="64">
                  <c:v>6.0570000000000004</c:v>
                </c:pt>
                <c:pt idx="65">
                  <c:v>1.9119999999999999</c:v>
                </c:pt>
                <c:pt idx="66">
                  <c:v>5.3310000000000004</c:v>
                </c:pt>
                <c:pt idx="67">
                  <c:v>4.6369999999999996</c:v>
                </c:pt>
                <c:pt idx="68">
                  <c:v>7.1459999999999999</c:v>
                </c:pt>
                <c:pt idx="69">
                  <c:v>9.0259999999999998</c:v>
                </c:pt>
                <c:pt idx="70">
                  <c:v>1.9710000000000001</c:v>
                </c:pt>
                <c:pt idx="71">
                  <c:v>5.2359999999999998</c:v>
                </c:pt>
                <c:pt idx="72">
                  <c:v>5.1609999999999996</c:v>
                </c:pt>
                <c:pt idx="73">
                  <c:v>3.7629999999999999</c:v>
                </c:pt>
                <c:pt idx="74">
                  <c:v>4.9939999999999998</c:v>
                </c:pt>
                <c:pt idx="75">
                  <c:v>5.5069999999999997</c:v>
                </c:pt>
                <c:pt idx="76">
                  <c:v>3.8210000000000002</c:v>
                </c:pt>
                <c:pt idx="77">
                  <c:v>3.8180000000000001</c:v>
                </c:pt>
                <c:pt idx="78">
                  <c:v>3.2029999999999998</c:v>
                </c:pt>
                <c:pt idx="79">
                  <c:v>5.1680000000000001</c:v>
                </c:pt>
              </c:numCache>
            </c:numRef>
          </c:yVal>
          <c:smooth val="0"/>
          <c:extLst>
            <c:ext xmlns:c16="http://schemas.microsoft.com/office/drawing/2014/chart" uri="{C3380CC4-5D6E-409C-BE32-E72D297353CC}">
              <c16:uniqueId val="{00000000-D2CF-4220-A309-EC2E0B3CCC2B}"/>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1"/>
        <c:axPos val="b"/>
        <c:numFmt formatCode="General" sourceLinked="1"/>
        <c:majorTickMark val="out"/>
        <c:minorTickMark val="none"/>
        <c:tickLblPos val="nextTo"/>
        <c:crossAx val="-2129643912"/>
        <c:crosses val="autoZero"/>
        <c:crossBetween val="midCat"/>
      </c:valAx>
      <c:valAx>
        <c:axId val="-2129643912"/>
        <c:scaling>
          <c:orientation val="minMax"/>
          <c:max val="10"/>
          <c:min val="0"/>
        </c:scaling>
        <c:delete val="1"/>
        <c:axPos val="l"/>
        <c:numFmt formatCode="General" sourceLinked="1"/>
        <c:majorTickMark val="out"/>
        <c:minorTickMark val="none"/>
        <c:tickLblPos val="nextTo"/>
        <c:crossAx val="-2128940872"/>
        <c:crosses val="autoZero"/>
        <c:crossBetween val="midCat"/>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cases</c:v>
                </c:pt>
              </c:strCache>
            </c:strRef>
          </c:tx>
          <c:spPr>
            <a:ln w="47625">
              <a:noFill/>
            </a:ln>
          </c:spPr>
          <c:marker>
            <c:symbol val="circle"/>
            <c:size val="7"/>
            <c:spPr>
              <a:solidFill>
                <a:srgbClr val="3F739B"/>
              </a:solidFill>
              <a:ln>
                <a:solidFill>
                  <a:srgbClr val="FFFFFF"/>
                </a:solidFill>
              </a:ln>
            </c:spPr>
          </c:marker>
          <c:xVal>
            <c:numRef>
              <c:f>Sheet1!$A$2:$A$81</c:f>
              <c:numCache>
                <c:formatCode>General</c:formatCode>
                <c:ptCount val="80"/>
                <c:pt idx="0">
                  <c:v>2</c:v>
                </c:pt>
                <c:pt idx="1">
                  <c:v>2.0760000000000001</c:v>
                </c:pt>
                <c:pt idx="2">
                  <c:v>2.1520000000000001</c:v>
                </c:pt>
                <c:pt idx="3">
                  <c:v>2.2280000000000002</c:v>
                </c:pt>
                <c:pt idx="4">
                  <c:v>2.3039999999999998</c:v>
                </c:pt>
                <c:pt idx="5">
                  <c:v>2.38</c:v>
                </c:pt>
                <c:pt idx="6">
                  <c:v>2.456</c:v>
                </c:pt>
                <c:pt idx="7">
                  <c:v>2.532</c:v>
                </c:pt>
                <c:pt idx="8">
                  <c:v>2.6080000000000001</c:v>
                </c:pt>
                <c:pt idx="9">
                  <c:v>2.6840000000000002</c:v>
                </c:pt>
                <c:pt idx="10">
                  <c:v>2.7589999999999999</c:v>
                </c:pt>
                <c:pt idx="11">
                  <c:v>2.835</c:v>
                </c:pt>
                <c:pt idx="12">
                  <c:v>2.911</c:v>
                </c:pt>
                <c:pt idx="13">
                  <c:v>2.9870000000000001</c:v>
                </c:pt>
                <c:pt idx="14">
                  <c:v>3.0630000000000002</c:v>
                </c:pt>
                <c:pt idx="15">
                  <c:v>3.1389999999999998</c:v>
                </c:pt>
                <c:pt idx="16">
                  <c:v>3.2149999999999999</c:v>
                </c:pt>
                <c:pt idx="17">
                  <c:v>3.2909999999999999</c:v>
                </c:pt>
                <c:pt idx="18">
                  <c:v>3.367</c:v>
                </c:pt>
                <c:pt idx="19">
                  <c:v>3.4430000000000001</c:v>
                </c:pt>
                <c:pt idx="20">
                  <c:v>3.5190000000000001</c:v>
                </c:pt>
                <c:pt idx="21">
                  <c:v>3.5950000000000002</c:v>
                </c:pt>
                <c:pt idx="22">
                  <c:v>3.6709999999999998</c:v>
                </c:pt>
                <c:pt idx="23">
                  <c:v>3.7469999999999999</c:v>
                </c:pt>
                <c:pt idx="24">
                  <c:v>3.823</c:v>
                </c:pt>
                <c:pt idx="25">
                  <c:v>3.899</c:v>
                </c:pt>
                <c:pt idx="26">
                  <c:v>3.9750000000000001</c:v>
                </c:pt>
                <c:pt idx="27">
                  <c:v>4.0510000000000002</c:v>
                </c:pt>
                <c:pt idx="28">
                  <c:v>4.1269999999999998</c:v>
                </c:pt>
                <c:pt idx="29">
                  <c:v>4.2030000000000003</c:v>
                </c:pt>
                <c:pt idx="30">
                  <c:v>4.2779999999999996</c:v>
                </c:pt>
                <c:pt idx="31">
                  <c:v>4.3540000000000001</c:v>
                </c:pt>
                <c:pt idx="32">
                  <c:v>4.43</c:v>
                </c:pt>
                <c:pt idx="33">
                  <c:v>4.5060000000000002</c:v>
                </c:pt>
                <c:pt idx="34">
                  <c:v>4.5819999999999999</c:v>
                </c:pt>
                <c:pt idx="35">
                  <c:v>4.6580000000000004</c:v>
                </c:pt>
                <c:pt idx="36">
                  <c:v>4.734</c:v>
                </c:pt>
                <c:pt idx="37">
                  <c:v>4.8099999999999996</c:v>
                </c:pt>
                <c:pt idx="38">
                  <c:v>4.8860000000000001</c:v>
                </c:pt>
                <c:pt idx="39">
                  <c:v>4.9619999999999997</c:v>
                </c:pt>
                <c:pt idx="40">
                  <c:v>5.0380000000000003</c:v>
                </c:pt>
                <c:pt idx="41">
                  <c:v>5.1139999999999999</c:v>
                </c:pt>
                <c:pt idx="42">
                  <c:v>5.19</c:v>
                </c:pt>
                <c:pt idx="43">
                  <c:v>5.266</c:v>
                </c:pt>
                <c:pt idx="44">
                  <c:v>5.3419999999999996</c:v>
                </c:pt>
                <c:pt idx="45">
                  <c:v>5.4180000000000001</c:v>
                </c:pt>
                <c:pt idx="46">
                  <c:v>5.4939999999999998</c:v>
                </c:pt>
                <c:pt idx="47">
                  <c:v>5.57</c:v>
                </c:pt>
                <c:pt idx="48">
                  <c:v>5.6459999999999999</c:v>
                </c:pt>
                <c:pt idx="49">
                  <c:v>5.7220000000000004</c:v>
                </c:pt>
                <c:pt idx="50">
                  <c:v>5.7969999999999997</c:v>
                </c:pt>
                <c:pt idx="51">
                  <c:v>5.8730000000000002</c:v>
                </c:pt>
                <c:pt idx="52">
                  <c:v>5.9489999999999998</c:v>
                </c:pt>
                <c:pt idx="53">
                  <c:v>6.0250000000000004</c:v>
                </c:pt>
                <c:pt idx="54">
                  <c:v>6.101</c:v>
                </c:pt>
                <c:pt idx="55">
                  <c:v>6.1769999999999996</c:v>
                </c:pt>
                <c:pt idx="56">
                  <c:v>6.2530000000000001</c:v>
                </c:pt>
                <c:pt idx="57">
                  <c:v>6.3289999999999997</c:v>
                </c:pt>
                <c:pt idx="58">
                  <c:v>6.4050000000000002</c:v>
                </c:pt>
                <c:pt idx="59">
                  <c:v>6.4809999999999999</c:v>
                </c:pt>
                <c:pt idx="60">
                  <c:v>6.5570000000000004</c:v>
                </c:pt>
                <c:pt idx="61">
                  <c:v>6.633</c:v>
                </c:pt>
                <c:pt idx="62">
                  <c:v>6.7089999999999996</c:v>
                </c:pt>
                <c:pt idx="63">
                  <c:v>6.7850000000000001</c:v>
                </c:pt>
                <c:pt idx="64">
                  <c:v>6.8609999999999998</c:v>
                </c:pt>
                <c:pt idx="65">
                  <c:v>6.9370000000000003</c:v>
                </c:pt>
                <c:pt idx="66">
                  <c:v>7.0129999999999999</c:v>
                </c:pt>
                <c:pt idx="67">
                  <c:v>7.0890000000000004</c:v>
                </c:pt>
                <c:pt idx="68">
                  <c:v>7.165</c:v>
                </c:pt>
                <c:pt idx="69">
                  <c:v>7.2409999999999997</c:v>
                </c:pt>
                <c:pt idx="70">
                  <c:v>7.3159999999999998</c:v>
                </c:pt>
                <c:pt idx="71">
                  <c:v>7.3920000000000003</c:v>
                </c:pt>
                <c:pt idx="72">
                  <c:v>7.468</c:v>
                </c:pt>
                <c:pt idx="73">
                  <c:v>7.5439999999999996</c:v>
                </c:pt>
                <c:pt idx="74">
                  <c:v>7.62</c:v>
                </c:pt>
                <c:pt idx="75">
                  <c:v>7.6959999999999997</c:v>
                </c:pt>
                <c:pt idx="76">
                  <c:v>7.7720000000000002</c:v>
                </c:pt>
                <c:pt idx="77">
                  <c:v>7.8479999999999999</c:v>
                </c:pt>
                <c:pt idx="78">
                  <c:v>7.9240000000000004</c:v>
                </c:pt>
                <c:pt idx="79">
                  <c:v>8</c:v>
                </c:pt>
              </c:numCache>
            </c:numRef>
          </c:xVal>
          <c:yVal>
            <c:numRef>
              <c:f>Sheet1!$B$2:$B$81</c:f>
              <c:numCache>
                <c:formatCode>General</c:formatCode>
                <c:ptCount val="80"/>
                <c:pt idx="0">
                  <c:v>8.8239999999999998</c:v>
                </c:pt>
                <c:pt idx="1">
                  <c:v>8.9499999999999993</c:v>
                </c:pt>
                <c:pt idx="2">
                  <c:v>7.9880000000000004</c:v>
                </c:pt>
                <c:pt idx="3">
                  <c:v>9.1050000000000004</c:v>
                </c:pt>
                <c:pt idx="4">
                  <c:v>8.0129999999999999</c:v>
                </c:pt>
                <c:pt idx="5">
                  <c:v>7</c:v>
                </c:pt>
                <c:pt idx="6">
                  <c:v>7.4710000000000001</c:v>
                </c:pt>
                <c:pt idx="7">
                  <c:v>7.3170000000000002</c:v>
                </c:pt>
                <c:pt idx="8">
                  <c:v>6.9240000000000004</c:v>
                </c:pt>
                <c:pt idx="9">
                  <c:v>6.11</c:v>
                </c:pt>
                <c:pt idx="10">
                  <c:v>6.923</c:v>
                </c:pt>
                <c:pt idx="11">
                  <c:v>5.9820000000000002</c:v>
                </c:pt>
                <c:pt idx="12">
                  <c:v>5.117</c:v>
                </c:pt>
                <c:pt idx="13">
                  <c:v>3.9119999999999999</c:v>
                </c:pt>
                <c:pt idx="14">
                  <c:v>5.6760000000000002</c:v>
                </c:pt>
                <c:pt idx="15">
                  <c:v>4.7430000000000003</c:v>
                </c:pt>
                <c:pt idx="16">
                  <c:v>4.5389999999999997</c:v>
                </c:pt>
                <c:pt idx="17">
                  <c:v>4.9020000000000001</c:v>
                </c:pt>
                <c:pt idx="18">
                  <c:v>4.6260000000000003</c:v>
                </c:pt>
                <c:pt idx="19">
                  <c:v>4.2960000000000003</c:v>
                </c:pt>
                <c:pt idx="20">
                  <c:v>4.306</c:v>
                </c:pt>
                <c:pt idx="21">
                  <c:v>4.0490000000000004</c:v>
                </c:pt>
                <c:pt idx="22">
                  <c:v>3.4580000000000002</c:v>
                </c:pt>
                <c:pt idx="23">
                  <c:v>2.0630000000000002</c:v>
                </c:pt>
                <c:pt idx="24">
                  <c:v>3.4809999999999999</c:v>
                </c:pt>
                <c:pt idx="25">
                  <c:v>2.9369999999999998</c:v>
                </c:pt>
                <c:pt idx="26">
                  <c:v>2.7480000000000002</c:v>
                </c:pt>
                <c:pt idx="27">
                  <c:v>1.839</c:v>
                </c:pt>
                <c:pt idx="28">
                  <c:v>2.323</c:v>
                </c:pt>
                <c:pt idx="29">
                  <c:v>2.76</c:v>
                </c:pt>
                <c:pt idx="30">
                  <c:v>3.2320000000000002</c:v>
                </c:pt>
                <c:pt idx="31">
                  <c:v>2.2719999999999998</c:v>
                </c:pt>
                <c:pt idx="32">
                  <c:v>2.492</c:v>
                </c:pt>
                <c:pt idx="33">
                  <c:v>2.1629999999999998</c:v>
                </c:pt>
                <c:pt idx="34">
                  <c:v>1.3129999999999999</c:v>
                </c:pt>
                <c:pt idx="35">
                  <c:v>1.8440000000000001</c:v>
                </c:pt>
                <c:pt idx="36">
                  <c:v>1.82</c:v>
                </c:pt>
                <c:pt idx="37">
                  <c:v>1.9930000000000001</c:v>
                </c:pt>
                <c:pt idx="38">
                  <c:v>2.67</c:v>
                </c:pt>
                <c:pt idx="39">
                  <c:v>2.4590000000000001</c:v>
                </c:pt>
                <c:pt idx="40">
                  <c:v>1.9019999999999999</c:v>
                </c:pt>
                <c:pt idx="41">
                  <c:v>1.8580000000000001</c:v>
                </c:pt>
                <c:pt idx="42">
                  <c:v>2.4470000000000001</c:v>
                </c:pt>
                <c:pt idx="43">
                  <c:v>2.391</c:v>
                </c:pt>
                <c:pt idx="44">
                  <c:v>1.68</c:v>
                </c:pt>
                <c:pt idx="45">
                  <c:v>1.7150000000000001</c:v>
                </c:pt>
                <c:pt idx="46">
                  <c:v>2.4140000000000001</c:v>
                </c:pt>
                <c:pt idx="47">
                  <c:v>2.7210000000000001</c:v>
                </c:pt>
                <c:pt idx="48">
                  <c:v>2.266</c:v>
                </c:pt>
                <c:pt idx="49">
                  <c:v>2.9449999999999998</c:v>
                </c:pt>
                <c:pt idx="50">
                  <c:v>2.7480000000000002</c:v>
                </c:pt>
                <c:pt idx="51">
                  <c:v>2.2429999999999999</c:v>
                </c:pt>
                <c:pt idx="52">
                  <c:v>2.9260000000000002</c:v>
                </c:pt>
                <c:pt idx="53">
                  <c:v>2.1629999999999998</c:v>
                </c:pt>
                <c:pt idx="54">
                  <c:v>3.83</c:v>
                </c:pt>
                <c:pt idx="55">
                  <c:v>4.2969999999999997</c:v>
                </c:pt>
                <c:pt idx="56">
                  <c:v>3.036</c:v>
                </c:pt>
                <c:pt idx="57">
                  <c:v>2.7869999999999999</c:v>
                </c:pt>
                <c:pt idx="58">
                  <c:v>3.9209999999999998</c:v>
                </c:pt>
                <c:pt idx="59">
                  <c:v>3.6739999999999999</c:v>
                </c:pt>
                <c:pt idx="60">
                  <c:v>5.38</c:v>
                </c:pt>
                <c:pt idx="61">
                  <c:v>4.1100000000000003</c:v>
                </c:pt>
                <c:pt idx="62">
                  <c:v>4.75</c:v>
                </c:pt>
                <c:pt idx="63">
                  <c:v>4.5650000000000004</c:v>
                </c:pt>
                <c:pt idx="64">
                  <c:v>4.3239999999999998</c:v>
                </c:pt>
                <c:pt idx="65">
                  <c:v>5.1139999999999999</c:v>
                </c:pt>
                <c:pt idx="66">
                  <c:v>4.1580000000000004</c:v>
                </c:pt>
                <c:pt idx="67">
                  <c:v>6.3689999999999998</c:v>
                </c:pt>
                <c:pt idx="68">
                  <c:v>5.84</c:v>
                </c:pt>
                <c:pt idx="69">
                  <c:v>7.319</c:v>
                </c:pt>
                <c:pt idx="70">
                  <c:v>6.5780000000000003</c:v>
                </c:pt>
                <c:pt idx="71">
                  <c:v>6.1529999999999996</c:v>
                </c:pt>
                <c:pt idx="72">
                  <c:v>7.2409999999999997</c:v>
                </c:pt>
                <c:pt idx="73">
                  <c:v>6.6180000000000003</c:v>
                </c:pt>
                <c:pt idx="74">
                  <c:v>6.74</c:v>
                </c:pt>
                <c:pt idx="75">
                  <c:v>7.99</c:v>
                </c:pt>
                <c:pt idx="76">
                  <c:v>7.8819999999999997</c:v>
                </c:pt>
                <c:pt idx="77">
                  <c:v>8.49</c:v>
                </c:pt>
                <c:pt idx="78">
                  <c:v>8.8849999999999998</c:v>
                </c:pt>
                <c:pt idx="79">
                  <c:v>8.8460000000000001</c:v>
                </c:pt>
              </c:numCache>
            </c:numRef>
          </c:yVal>
          <c:smooth val="0"/>
          <c:extLst>
            <c:ext xmlns:c16="http://schemas.microsoft.com/office/drawing/2014/chart" uri="{C3380CC4-5D6E-409C-BE32-E72D297353CC}">
              <c16:uniqueId val="{00000000-A13F-44AA-8DA3-237B2C33384D}"/>
            </c:ext>
          </c:extLst>
        </c:ser>
        <c:dLbls>
          <c:showLegendKey val="0"/>
          <c:showVal val="0"/>
          <c:showCatName val="0"/>
          <c:showSerName val="0"/>
          <c:showPercent val="0"/>
          <c:showBubbleSize val="0"/>
        </c:dLbls>
        <c:axId val="-2128940872"/>
        <c:axId val="-2129643912"/>
      </c:scatterChart>
      <c:valAx>
        <c:axId val="-2128940872"/>
        <c:scaling>
          <c:orientation val="minMax"/>
          <c:max val="8.5"/>
          <c:min val="1.5"/>
        </c:scaling>
        <c:delete val="0"/>
        <c:axPos val="b"/>
        <c:title>
          <c:tx>
            <c:rich>
              <a:bodyPr/>
              <a:lstStyle/>
              <a:p>
                <a:r>
                  <a:rPr lang="en-GB" sz="1300" b="0">
                    <a:solidFill>
                      <a:srgbClr val="55606B"/>
                    </a:solidFill>
                  </a:rPr>
                  <a:t>x</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9643912"/>
        <c:crosses val="autoZero"/>
        <c:crossBetween val="midCat"/>
        <c:majorUnit val="1"/>
      </c:valAx>
      <c:valAx>
        <c:axId val="-2129643912"/>
        <c:scaling>
          <c:orientation val="minMax"/>
          <c:max val="10"/>
          <c:min val="0"/>
        </c:scaling>
        <c:delete val="0"/>
        <c:axPos val="l"/>
        <c:majorGridlines>
          <c:spPr>
            <a:ln>
              <a:solidFill>
                <a:srgbClr val="DDE3E8"/>
              </a:solidFill>
            </a:ln>
          </c:spPr>
        </c:majorGridlines>
        <c:title>
          <c:tx>
            <c:rich>
              <a:bodyPr/>
              <a:lstStyle/>
              <a:p>
                <a:r>
                  <a:rPr lang="en-GB" sz="1300" b="0">
                    <a:solidFill>
                      <a:srgbClr val="55606B"/>
                    </a:solidFill>
                  </a:rPr>
                  <a:t>y</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8940872"/>
        <c:crosses val="autoZero"/>
        <c:crossBetween val="midCat"/>
        <c:majorUnit val="2"/>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Countries</c:v>
                </c:pt>
              </c:strCache>
            </c:strRef>
          </c:tx>
          <c:spPr>
            <a:ln w="47625">
              <a:noFill/>
            </a:ln>
          </c:spPr>
          <c:marker>
            <c:symbol val="circle"/>
            <c:size val="9"/>
            <c:spPr>
              <a:solidFill>
                <a:srgbClr val="1F394D"/>
              </a:solidFill>
              <a:ln>
                <a:solidFill>
                  <a:srgbClr val="FFFFFF"/>
                </a:solidFill>
              </a:ln>
            </c:spPr>
          </c:marker>
          <c:dLbls>
            <c:dLbl>
              <c:idx val="4"/>
              <c:tx>
                <c:rich>
                  <a:bodyPr/>
                  <a:lstStyle/>
                  <a:p>
                    <a:r>
                      <a:rPr lang="en-US" sz="1200">
                        <a:solidFill>
                          <a:srgbClr val="55606B"/>
                        </a:solidFill>
                      </a:rPr>
                      <a:t>Denmark</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4C5-47F8-B866-BE1DD362A611}"/>
                </c:ext>
              </c:extLst>
            </c:dLbl>
            <c:dLbl>
              <c:idx val="5"/>
              <c:tx>
                <c:rich>
                  <a:bodyPr/>
                  <a:lstStyle/>
                  <a:p>
                    <a:r>
                      <a:rPr lang="en-US" sz="1200">
                        <a:solidFill>
                          <a:srgbClr val="55606B"/>
                        </a:solidFill>
                      </a:rPr>
                      <a:t>Finland</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4C5-47F8-B866-BE1DD362A611}"/>
                </c:ext>
              </c:extLst>
            </c:dLbl>
            <c:dLbl>
              <c:idx val="6"/>
              <c:tx>
                <c:rich>
                  <a:bodyPr/>
                  <a:lstStyle/>
                  <a:p>
                    <a:r>
                      <a:rPr lang="en-US" sz="1200">
                        <a:solidFill>
                          <a:srgbClr val="55606B"/>
                        </a:solidFill>
                      </a:rPr>
                      <a:t>France</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4C5-47F8-B866-BE1DD362A611}"/>
                </c:ext>
              </c:extLst>
            </c:dLbl>
            <c:dLbl>
              <c:idx val="12"/>
              <c:tx>
                <c:rich>
                  <a:bodyPr/>
                  <a:lstStyle/>
                  <a:p>
                    <a:r>
                      <a:rPr lang="en-US" sz="1200">
                        <a:solidFill>
                          <a:srgbClr val="55606B"/>
                        </a:solidFill>
                      </a:rPr>
                      <a:t>Japan</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4C5-47F8-B866-BE1DD362A611}"/>
                </c:ext>
              </c:extLst>
            </c:dLbl>
            <c:dLbl>
              <c:idx val="13"/>
              <c:tx>
                <c:rich>
                  <a:bodyPr/>
                  <a:lstStyle/>
                  <a:p>
                    <a:r>
                      <a:rPr lang="en-US" sz="1200">
                        <a:solidFill>
                          <a:srgbClr val="55606B"/>
                        </a:solidFill>
                      </a:rPr>
                      <a:t>Netherlands</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4C5-47F8-B866-BE1DD362A611}"/>
                </c:ext>
              </c:extLst>
            </c:dLbl>
            <c:dLbl>
              <c:idx val="14"/>
              <c:tx>
                <c:rich>
                  <a:bodyPr/>
                  <a:lstStyle/>
                  <a:p>
                    <a:r>
                      <a:rPr lang="en-US" sz="1200">
                        <a:solidFill>
                          <a:srgbClr val="55606B"/>
                        </a:solidFill>
                      </a:rPr>
                      <a:t>New Zealand</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C4C5-47F8-B866-BE1DD362A611}"/>
                </c:ext>
              </c:extLst>
            </c:dLbl>
            <c:dLbl>
              <c:idx val="16"/>
              <c:tx>
                <c:rich>
                  <a:bodyPr/>
                  <a:lstStyle/>
                  <a:p>
                    <a:r>
                      <a:rPr lang="en-US" sz="1200">
                        <a:solidFill>
                          <a:srgbClr val="55606B"/>
                        </a:solidFill>
                      </a:rPr>
                      <a:t>Portugal</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C4C5-47F8-B866-BE1DD362A611}"/>
                </c:ext>
              </c:extLst>
            </c:dLbl>
            <c:dLbl>
              <c:idx val="17"/>
              <c:tx>
                <c:rich>
                  <a:bodyPr/>
                  <a:lstStyle/>
                  <a:p>
                    <a:r>
                      <a:rPr lang="en-US" sz="1200">
                        <a:solidFill>
                          <a:srgbClr val="55606B"/>
                        </a:solidFill>
                      </a:rPr>
                      <a:t>Singapore</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C4C5-47F8-B866-BE1DD362A611}"/>
                </c:ext>
              </c:extLst>
            </c:dLbl>
            <c:dLbl>
              <c:idx val="21"/>
              <c:tx>
                <c:rich>
                  <a:bodyPr/>
                  <a:lstStyle/>
                  <a:p>
                    <a:r>
                      <a:rPr lang="en-US" sz="1200">
                        <a:solidFill>
                          <a:srgbClr val="55606B"/>
                        </a:solidFill>
                      </a:rPr>
                      <a:t>UK</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C4C5-47F8-B866-BE1DD362A611}"/>
                </c:ext>
              </c:extLst>
            </c:dLbl>
            <c:dLbl>
              <c:idx val="22"/>
              <c:tx>
                <c:rich>
                  <a:bodyPr/>
                  <a:lstStyle/>
                  <a:p>
                    <a:r>
                      <a:rPr lang="en-US" sz="1200">
                        <a:solidFill>
                          <a:srgbClr val="55606B"/>
                        </a:solidFill>
                      </a:rPr>
                      <a:t>USA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C4C5-47F8-B866-BE1DD362A61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Sheet1!$A$2:$A$24</c:f>
              <c:numCache>
                <c:formatCode>General</c:formatCode>
                <c:ptCount val="23"/>
                <c:pt idx="0">
                  <c:v>7</c:v>
                </c:pt>
                <c:pt idx="1">
                  <c:v>4.8249998092651367</c:v>
                </c:pt>
                <c:pt idx="2">
                  <c:v>4.5999999046325684</c:v>
                </c:pt>
                <c:pt idx="3">
                  <c:v>5.625</c:v>
                </c:pt>
                <c:pt idx="4">
                  <c:v>4.3000001907348633</c:v>
                </c:pt>
                <c:pt idx="5">
                  <c:v>3.7249999046325679</c:v>
                </c:pt>
                <c:pt idx="6">
                  <c:v>5.5999999046325684</c:v>
                </c:pt>
                <c:pt idx="7">
                  <c:v>5.2000002861022949</c:v>
                </c:pt>
                <c:pt idx="8">
                  <c:v>6.1999998092651367</c:v>
                </c:pt>
                <c:pt idx="9">
                  <c:v>6.0500001907348633</c:v>
                </c:pt>
                <c:pt idx="10">
                  <c:v>6.7750000953674316</c:v>
                </c:pt>
                <c:pt idx="11">
                  <c:v>6.6500000953674316</c:v>
                </c:pt>
                <c:pt idx="12">
                  <c:v>3.4000000953674321</c:v>
                </c:pt>
                <c:pt idx="13">
                  <c:v>5.3000001907348633</c:v>
                </c:pt>
                <c:pt idx="14">
                  <c:v>6.8000001907348633</c:v>
                </c:pt>
                <c:pt idx="15">
                  <c:v>3.8500001430511479</c:v>
                </c:pt>
                <c:pt idx="16">
                  <c:v>8</c:v>
                </c:pt>
                <c:pt idx="17">
                  <c:v>9.6999998092651367</c:v>
                </c:pt>
                <c:pt idx="18">
                  <c:v>5.5500001907348633</c:v>
                </c:pt>
                <c:pt idx="19">
                  <c:v>3.9500000476837158</c:v>
                </c:pt>
                <c:pt idx="20">
                  <c:v>5.7250003814697266</c:v>
                </c:pt>
                <c:pt idx="21">
                  <c:v>7.1749997138977051</c:v>
                </c:pt>
                <c:pt idx="22">
                  <c:v>8.5499992370605469</c:v>
                </c:pt>
              </c:numCache>
            </c:numRef>
          </c:xVal>
          <c:yVal>
            <c:numRef>
              <c:f>Sheet1!$B$2:$B$24</c:f>
              <c:numCache>
                <c:formatCode>General</c:formatCode>
                <c:ptCount val="23"/>
                <c:pt idx="0">
                  <c:v>39.900001525878906</c:v>
                </c:pt>
                <c:pt idx="1">
                  <c:v>33.900001525878906</c:v>
                </c:pt>
                <c:pt idx="2">
                  <c:v>30.700000762939453</c:v>
                </c:pt>
                <c:pt idx="3">
                  <c:v>38.799999237060547</c:v>
                </c:pt>
                <c:pt idx="4">
                  <c:v>66.5</c:v>
                </c:pt>
                <c:pt idx="5">
                  <c:v>58</c:v>
                </c:pt>
                <c:pt idx="6">
                  <c:v>22.200000762939453</c:v>
                </c:pt>
                <c:pt idx="7">
                  <c:v>34.799999237060547</c:v>
                </c:pt>
                <c:pt idx="8">
                  <c:v>23.700000762939453</c:v>
                </c:pt>
                <c:pt idx="9">
                  <c:v>35.200000762939453</c:v>
                </c:pt>
                <c:pt idx="10">
                  <c:v>23.5</c:v>
                </c:pt>
                <c:pt idx="11">
                  <c:v>32.599998474121094</c:v>
                </c:pt>
                <c:pt idx="12">
                  <c:v>43.099998474121087</c:v>
                </c:pt>
                <c:pt idx="13">
                  <c:v>59.799999237060547</c:v>
                </c:pt>
                <c:pt idx="14">
                  <c:v>49.099998474121087</c:v>
                </c:pt>
                <c:pt idx="15">
                  <c:v>65.300003051757813</c:v>
                </c:pt>
                <c:pt idx="16">
                  <c:v>10</c:v>
                </c:pt>
                <c:pt idx="17">
                  <c:v>16.899999618530273</c:v>
                </c:pt>
                <c:pt idx="18">
                  <c:v>36.200000762939453</c:v>
                </c:pt>
                <c:pt idx="19">
                  <c:v>66.300003051757813</c:v>
                </c:pt>
                <c:pt idx="20">
                  <c:v>41</c:v>
                </c:pt>
                <c:pt idx="21">
                  <c:v>29.799999237060547</c:v>
                </c:pt>
                <c:pt idx="22">
                  <c:v>35.799999237060547</c:v>
                </c:pt>
              </c:numCache>
            </c:numRef>
          </c:yVal>
          <c:smooth val="0"/>
          <c:extLst>
            <c:ext xmlns:c16="http://schemas.microsoft.com/office/drawing/2014/chart" uri="{C3380CC4-5D6E-409C-BE32-E72D297353CC}">
              <c16:uniqueId val="{0000000A-C4C5-47F8-B866-BE1DD362A611}"/>
            </c:ext>
          </c:extLst>
        </c:ser>
        <c:ser>
          <c:idx val="1"/>
          <c:order val="1"/>
          <c:tx>
            <c:strRef>
              <c:f>Sheet1!$B$26</c:f>
              <c:strCache>
                <c:ptCount val="1"/>
                <c:pt idx="0">
                  <c:v>Straight-line fit</c:v>
                </c:pt>
              </c:strCache>
            </c:strRef>
          </c:tx>
          <c:spPr>
            <a:ln w="31750">
              <a:solidFill>
                <a:srgbClr val="B88C00"/>
              </a:solidFill>
              <a:prstDash val="dash"/>
            </a:ln>
          </c:spPr>
          <c:marker>
            <c:symbol val="none"/>
          </c:marker>
          <c:xVal>
            <c:numRef>
              <c:f>Sheet1!$A$27:$A$28</c:f>
              <c:numCache>
                <c:formatCode>General</c:formatCode>
                <c:ptCount val="2"/>
                <c:pt idx="0">
                  <c:v>3</c:v>
                </c:pt>
                <c:pt idx="1">
                  <c:v>10</c:v>
                </c:pt>
              </c:numCache>
            </c:numRef>
          </c:xVal>
          <c:yVal>
            <c:numRef>
              <c:f>Sheet1!$B$27:$B$28</c:f>
              <c:numCache>
                <c:formatCode>General</c:formatCode>
                <c:ptCount val="2"/>
                <c:pt idx="0">
                  <c:v>57.456233275691254</c:v>
                </c:pt>
                <c:pt idx="1">
                  <c:v>11.708658610741352</c:v>
                </c:pt>
              </c:numCache>
            </c:numRef>
          </c:yVal>
          <c:smooth val="0"/>
          <c:extLst>
            <c:ext xmlns:c16="http://schemas.microsoft.com/office/drawing/2014/chart" uri="{C3380CC4-5D6E-409C-BE32-E72D297353CC}">
              <c16:uniqueId val="{0000000B-C4C5-47F8-B866-BE1DD362A611}"/>
            </c:ext>
          </c:extLst>
        </c:ser>
        <c:dLbls>
          <c:showLegendKey val="0"/>
          <c:showVal val="0"/>
          <c:showCatName val="0"/>
          <c:showSerName val="0"/>
          <c:showPercent val="0"/>
          <c:showBubbleSize val="0"/>
        </c:dLbls>
        <c:axId val="-2128940872"/>
        <c:axId val="-2129643912"/>
      </c:scatterChart>
      <c:valAx>
        <c:axId val="-2128940872"/>
        <c:scaling>
          <c:orientation val="minMax"/>
          <c:max val="10"/>
          <c:min val="3"/>
        </c:scaling>
        <c:delete val="0"/>
        <c:axPos val="b"/>
        <c:title>
          <c:tx>
            <c:rich>
              <a:bodyPr/>
              <a:lstStyle/>
              <a:p>
                <a:r>
                  <a:rPr lang="en-GB" sz="1300" b="0">
                    <a:solidFill>
                      <a:srgbClr val="55606B"/>
                    </a:solidFill>
                  </a:rPr>
                  <a:t>Income inequality (richest fifth’s income ÷ poorest fifth’s)</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9643912"/>
        <c:crosses val="autoZero"/>
        <c:crossBetween val="midCat"/>
        <c:majorUnit val="1"/>
      </c:valAx>
      <c:valAx>
        <c:axId val="-2129643912"/>
        <c:scaling>
          <c:orientation val="minMax"/>
          <c:max val="70"/>
          <c:min val="0"/>
        </c:scaling>
        <c:delete val="0"/>
        <c:axPos val="l"/>
        <c:majorGridlines>
          <c:spPr>
            <a:ln>
              <a:solidFill>
                <a:srgbClr val="DDE3E8"/>
              </a:solidFill>
            </a:ln>
          </c:spPr>
        </c:majorGridlines>
        <c:title>
          <c:tx>
            <c:rich>
              <a:bodyPr/>
              <a:lstStyle/>
              <a:p>
                <a:r>
                  <a:rPr lang="en-GB" sz="1300" b="0">
                    <a:solidFill>
                      <a:srgbClr val="55606B"/>
                    </a:solidFill>
                  </a:rPr>
                  <a:t>% who say most people can be trusted</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8940872"/>
        <c:crosses val="autoZero"/>
        <c:crossBetween val="midCat"/>
        <c:majorUnit val="10"/>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Countries</c:v>
                </c:pt>
              </c:strCache>
            </c:strRef>
          </c:tx>
          <c:spPr>
            <a:ln w="47625">
              <a:noFill/>
            </a:ln>
          </c:spPr>
          <c:marker>
            <c:symbol val="circle"/>
            <c:size val="7"/>
            <c:spPr>
              <a:solidFill>
                <a:srgbClr val="3F739B"/>
              </a:solidFill>
              <a:ln>
                <a:solidFill>
                  <a:srgbClr val="FFFFFF"/>
                </a:solidFill>
              </a:ln>
            </c:spPr>
          </c:marker>
          <c:dLbls>
            <c:dLbl>
              <c:idx val="3"/>
              <c:tx>
                <c:rich>
                  <a:bodyPr/>
                  <a:lstStyle/>
                  <a:p>
                    <a:r>
                      <a:rPr lang="en-US" sz="1200">
                        <a:solidFill>
                          <a:srgbClr val="1F2A33"/>
                        </a:solidFill>
                      </a:rPr>
                      <a:t>Brazil</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AF3A-4E84-ABC2-5953289E2884}"/>
                </c:ext>
              </c:extLst>
            </c:dLbl>
            <c:dLbl>
              <c:idx val="7"/>
              <c:tx>
                <c:rich>
                  <a:bodyPr/>
                  <a:lstStyle/>
                  <a:p>
                    <a:r>
                      <a:rPr lang="en-US" sz="1200">
                        <a:solidFill>
                          <a:srgbClr val="1F2A33"/>
                        </a:solidFill>
                      </a:rPr>
                      <a:t>China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F3A-4E84-ABC2-5953289E2884}"/>
                </c:ext>
              </c:extLst>
            </c:dLbl>
            <c:dLbl>
              <c:idx val="10"/>
              <c:tx>
                <c:rich>
                  <a:bodyPr/>
                  <a:lstStyle/>
                  <a:p>
                    <a:r>
                      <a:rPr lang="en-US" sz="1200">
                        <a:solidFill>
                          <a:srgbClr val="1F2A33"/>
                        </a:solidFill>
                      </a:rPr>
                      <a:t>Denmark</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AF3A-4E84-ABC2-5953289E2884}"/>
                </c:ext>
              </c:extLst>
            </c:dLbl>
            <c:dLbl>
              <c:idx val="18"/>
              <c:tx>
                <c:rich>
                  <a:bodyPr/>
                  <a:lstStyle/>
                  <a:p>
                    <a:r>
                      <a:rPr lang="en-US" sz="1200">
                        <a:solidFill>
                          <a:srgbClr val="1F2A33"/>
                        </a:solidFill>
                      </a:rPr>
                      <a:t>India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F3A-4E84-ABC2-5953289E288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Sheet1!$A$2:$A$44</c:f>
              <c:numCache>
                <c:formatCode>General</c:formatCode>
                <c:ptCount val="43"/>
                <c:pt idx="0">
                  <c:v>0.32600000000000001</c:v>
                </c:pt>
                <c:pt idx="1">
                  <c:v>0.28007646448594198</c:v>
                </c:pt>
                <c:pt idx="2">
                  <c:v>0.26100000000000001</c:v>
                </c:pt>
                <c:pt idx="3">
                  <c:v>0.46234685599999997</c:v>
                </c:pt>
                <c:pt idx="4">
                  <c:v>0.35407555938777502</c:v>
                </c:pt>
                <c:pt idx="5">
                  <c:v>0.31900000000000001</c:v>
                </c:pt>
                <c:pt idx="6">
                  <c:v>0.46500000000000002</c:v>
                </c:pt>
                <c:pt idx="7">
                  <c:v>0.51426159999999999</c:v>
                </c:pt>
                <c:pt idx="8">
                  <c:v>0.295874999063655</c:v>
                </c:pt>
                <c:pt idx="9">
                  <c:v>0.25912320166137998</c:v>
                </c:pt>
                <c:pt idx="10">
                  <c:v>0.25390000000000001</c:v>
                </c:pt>
                <c:pt idx="11">
                  <c:v>0.35581370171769899</c:v>
                </c:pt>
                <c:pt idx="12">
                  <c:v>0.26168000000000002</c:v>
                </c:pt>
                <c:pt idx="13">
                  <c:v>0.29099999999999998</c:v>
                </c:pt>
                <c:pt idx="14">
                  <c:v>0.29215000000000002</c:v>
                </c:pt>
                <c:pt idx="15">
                  <c:v>0.34186564361708499</c:v>
                </c:pt>
                <c:pt idx="16">
                  <c:v>0.28586442351913399</c:v>
                </c:pt>
                <c:pt idx="17">
                  <c:v>0.24041213022951299</c:v>
                </c:pt>
                <c:pt idx="18">
                  <c:v>0.49479147899999998</c:v>
                </c:pt>
                <c:pt idx="19">
                  <c:v>0.31159139013674603</c:v>
                </c:pt>
                <c:pt idx="20">
                  <c:v>0.36031999999999997</c:v>
                </c:pt>
                <c:pt idx="21">
                  <c:v>0.32485283440402202</c:v>
                </c:pt>
                <c:pt idx="22">
                  <c:v>0.33</c:v>
                </c:pt>
                <c:pt idx="23">
                  <c:v>0.372</c:v>
                </c:pt>
                <c:pt idx="24">
                  <c:v>0.35105281033516</c:v>
                </c:pt>
                <c:pt idx="25">
                  <c:v>0.35094065836542998</c:v>
                </c:pt>
                <c:pt idx="26">
                  <c:v>0.27900000000000003</c:v>
                </c:pt>
                <c:pt idx="27">
                  <c:v>0.45720179999999999</c:v>
                </c:pt>
                <c:pt idx="28">
                  <c:v>0.28699999999999998</c:v>
                </c:pt>
                <c:pt idx="29">
                  <c:v>0.34100000000000003</c:v>
                </c:pt>
                <c:pt idx="30">
                  <c:v>0.252</c:v>
                </c:pt>
                <c:pt idx="31">
                  <c:v>0.299118744926543</c:v>
                </c:pt>
                <c:pt idx="32">
                  <c:v>0.34054795260978399</c:v>
                </c:pt>
                <c:pt idx="33">
                  <c:v>0.34741055959596001</c:v>
                </c:pt>
                <c:pt idx="34">
                  <c:v>0.376</c:v>
                </c:pt>
                <c:pt idx="35">
                  <c:v>0.26983320159476698</c:v>
                </c:pt>
                <c:pt idx="36">
                  <c:v>0.25445332897984002</c:v>
                </c:pt>
                <c:pt idx="37">
                  <c:v>0.34498011586199501</c:v>
                </c:pt>
                <c:pt idx="38">
                  <c:v>0.26700000000000002</c:v>
                </c:pt>
                <c:pt idx="39">
                  <c:v>0.29540265300000002</c:v>
                </c:pt>
                <c:pt idx="40">
                  <c:v>0.39</c:v>
                </c:pt>
                <c:pt idx="41">
                  <c:v>0.35799999999999998</c:v>
                </c:pt>
                <c:pt idx="42">
                  <c:v>0.39598480000000003</c:v>
                </c:pt>
              </c:numCache>
            </c:numRef>
          </c:xVal>
          <c:yVal>
            <c:numRef>
              <c:f>Sheet1!$B$2:$B$44</c:f>
              <c:numCache>
                <c:formatCode>General</c:formatCode>
                <c:ptCount val="43"/>
                <c:pt idx="0">
                  <c:v>54.02</c:v>
                </c:pt>
                <c:pt idx="1">
                  <c:v>48.46</c:v>
                </c:pt>
                <c:pt idx="2">
                  <c:v>34.65</c:v>
                </c:pt>
                <c:pt idx="3">
                  <c:v>6.65</c:v>
                </c:pt>
                <c:pt idx="4">
                  <c:v>18.05</c:v>
                </c:pt>
                <c:pt idx="5">
                  <c:v>49.5</c:v>
                </c:pt>
                <c:pt idx="6">
                  <c:v>14.27</c:v>
                </c:pt>
                <c:pt idx="7">
                  <c:v>65.44</c:v>
                </c:pt>
                <c:pt idx="8">
                  <c:v>17.600000000000001</c:v>
                </c:pt>
                <c:pt idx="9">
                  <c:v>37.28</c:v>
                </c:pt>
                <c:pt idx="10">
                  <c:v>77.42</c:v>
                </c:pt>
                <c:pt idx="11">
                  <c:v>33.9</c:v>
                </c:pt>
                <c:pt idx="12">
                  <c:v>72.22</c:v>
                </c:pt>
                <c:pt idx="13">
                  <c:v>28.09</c:v>
                </c:pt>
                <c:pt idx="14">
                  <c:v>45.95</c:v>
                </c:pt>
                <c:pt idx="15">
                  <c:v>8.42</c:v>
                </c:pt>
                <c:pt idx="16">
                  <c:v>28.46</c:v>
                </c:pt>
                <c:pt idx="17">
                  <c:v>65.77</c:v>
                </c:pt>
                <c:pt idx="18">
                  <c:v>17.690000000000001</c:v>
                </c:pt>
                <c:pt idx="19">
                  <c:v>38.92</c:v>
                </c:pt>
                <c:pt idx="20">
                  <c:v>23.46</c:v>
                </c:pt>
                <c:pt idx="21">
                  <c:v>28.48</c:v>
                </c:pt>
                <c:pt idx="22">
                  <c:v>35.6</c:v>
                </c:pt>
                <c:pt idx="23">
                  <c:v>32.93</c:v>
                </c:pt>
                <c:pt idx="24">
                  <c:v>22.58</c:v>
                </c:pt>
                <c:pt idx="25">
                  <c:v>32.79</c:v>
                </c:pt>
                <c:pt idx="26">
                  <c:v>31.07</c:v>
                </c:pt>
                <c:pt idx="27">
                  <c:v>10.3</c:v>
                </c:pt>
                <c:pt idx="28">
                  <c:v>61.21</c:v>
                </c:pt>
                <c:pt idx="29">
                  <c:v>59.5</c:v>
                </c:pt>
                <c:pt idx="30">
                  <c:v>75.11</c:v>
                </c:pt>
                <c:pt idx="31">
                  <c:v>25.49</c:v>
                </c:pt>
                <c:pt idx="32">
                  <c:v>16.82</c:v>
                </c:pt>
                <c:pt idx="33">
                  <c:v>11.87</c:v>
                </c:pt>
                <c:pt idx="34">
                  <c:v>23.91</c:v>
                </c:pt>
                <c:pt idx="35">
                  <c:v>21.6</c:v>
                </c:pt>
                <c:pt idx="36">
                  <c:v>27.17</c:v>
                </c:pt>
                <c:pt idx="37">
                  <c:v>41.04</c:v>
                </c:pt>
                <c:pt idx="38">
                  <c:v>67.38</c:v>
                </c:pt>
                <c:pt idx="39">
                  <c:v>60.81</c:v>
                </c:pt>
                <c:pt idx="40">
                  <c:v>14.26</c:v>
                </c:pt>
                <c:pt idx="41">
                  <c:v>45.84</c:v>
                </c:pt>
                <c:pt idx="42">
                  <c:v>39.74</c:v>
                </c:pt>
              </c:numCache>
            </c:numRef>
          </c:yVal>
          <c:smooth val="0"/>
          <c:extLst>
            <c:ext xmlns:c16="http://schemas.microsoft.com/office/drawing/2014/chart" uri="{C3380CC4-5D6E-409C-BE32-E72D297353CC}">
              <c16:uniqueId val="{00000004-AF3A-4E84-ABC2-5953289E2884}"/>
            </c:ext>
          </c:extLst>
        </c:ser>
        <c:dLbls>
          <c:showLegendKey val="0"/>
          <c:showVal val="0"/>
          <c:showCatName val="0"/>
          <c:showSerName val="0"/>
          <c:showPercent val="0"/>
          <c:showBubbleSize val="0"/>
        </c:dLbls>
        <c:axId val="-2128940872"/>
        <c:axId val="-2129643912"/>
      </c:scatterChart>
      <c:valAx>
        <c:axId val="-2128940872"/>
        <c:scaling>
          <c:orientation val="minMax"/>
          <c:max val="0.55000000000000004"/>
          <c:min val="0.2"/>
        </c:scaling>
        <c:delete val="0"/>
        <c:axPos val="b"/>
        <c:title>
          <c:tx>
            <c:rich>
              <a:bodyPr/>
              <a:lstStyle/>
              <a:p>
                <a:r>
                  <a:rPr lang="en-GB" sz="1300" b="0">
                    <a:solidFill>
                      <a:srgbClr val="55606B"/>
                    </a:solidFill>
                  </a:rPr>
                  <a:t>Gini coefficient</a:t>
                </a:r>
              </a:p>
            </c:rich>
          </c:tx>
          <c:overlay val="0"/>
        </c:title>
        <c:numFmt formatCode="0.0" sourceLinked="0"/>
        <c:majorTickMark val="out"/>
        <c:minorTickMark val="none"/>
        <c:tickLblPos val="nextTo"/>
        <c:spPr>
          <a:ln>
            <a:solidFill>
              <a:srgbClr val="BBC4CC"/>
            </a:solidFill>
          </a:ln>
        </c:spPr>
        <c:txPr>
          <a:bodyPr/>
          <a:lstStyle/>
          <a:p>
            <a:pPr>
              <a:defRPr sz="1300">
                <a:solidFill>
                  <a:srgbClr val="55606B"/>
                </a:solidFill>
              </a:defRPr>
            </a:pPr>
            <a:endParaRPr lang="en-US"/>
          </a:p>
        </c:txPr>
        <c:crossAx val="-2129643912"/>
        <c:crosses val="autoZero"/>
        <c:crossBetween val="midCat"/>
        <c:majorUnit val="0.1"/>
      </c:valAx>
      <c:valAx>
        <c:axId val="-2129643912"/>
        <c:scaling>
          <c:orientation val="minMax"/>
          <c:max val="80"/>
          <c:min val="0"/>
        </c:scaling>
        <c:delete val="0"/>
        <c:axPos val="l"/>
        <c:majorGridlines>
          <c:spPr>
            <a:ln>
              <a:solidFill>
                <a:srgbClr val="DDE3E8"/>
              </a:solidFill>
            </a:ln>
          </c:spPr>
        </c:majorGridlines>
        <c:title>
          <c:tx>
            <c:rich>
              <a:bodyPr/>
              <a:lstStyle/>
              <a:p>
                <a:r>
                  <a:rPr lang="en-GB" sz="1300" b="0">
                    <a:solidFill>
                      <a:srgbClr val="55606B"/>
                    </a:solidFill>
                  </a:rPr>
                  <a:t>% trusting</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8940872"/>
        <c:crosses val="autoZero"/>
        <c:crossBetween val="midCat"/>
        <c:majorUnit val="20"/>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Countries</c:v>
                </c:pt>
              </c:strCache>
            </c:strRef>
          </c:tx>
          <c:spPr>
            <a:ln w="47625">
              <a:noFill/>
            </a:ln>
          </c:spPr>
          <c:marker>
            <c:symbol val="circle"/>
            <c:size val="7"/>
            <c:spPr>
              <a:solidFill>
                <a:srgbClr val="3F739B"/>
              </a:solidFill>
              <a:ln>
                <a:solidFill>
                  <a:srgbClr val="FFFFFF"/>
                </a:solidFill>
              </a:ln>
            </c:spPr>
          </c:marker>
          <c:dLbls>
            <c:dLbl>
              <c:idx val="3"/>
              <c:tx>
                <c:rich>
                  <a:bodyPr/>
                  <a:lstStyle/>
                  <a:p>
                    <a:r>
                      <a:rPr lang="en-US" sz="1200">
                        <a:solidFill>
                          <a:srgbClr val="1F2A33"/>
                        </a:solidFill>
                      </a:rPr>
                      <a:t>Brazil</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CA3-466E-8C83-5FAB82E2783D}"/>
                </c:ext>
              </c:extLst>
            </c:dLbl>
            <c:dLbl>
              <c:idx val="7"/>
              <c:tx>
                <c:rich>
                  <a:bodyPr/>
                  <a:lstStyle/>
                  <a:p>
                    <a:r>
                      <a:rPr lang="en-US" sz="1200">
                        <a:solidFill>
                          <a:srgbClr val="1F2A33"/>
                        </a:solidFill>
                      </a:rPr>
                      <a:t>China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CA3-466E-8C83-5FAB82E2783D}"/>
                </c:ext>
              </c:extLst>
            </c:dLbl>
            <c:dLbl>
              <c:idx val="10"/>
              <c:tx>
                <c:rich>
                  <a:bodyPr/>
                  <a:lstStyle/>
                  <a:p>
                    <a:r>
                      <a:rPr lang="en-US" sz="1200">
                        <a:solidFill>
                          <a:srgbClr val="1F2A33"/>
                        </a:solidFill>
                      </a:rPr>
                      <a:t>Denmark</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CA3-466E-8C83-5FAB82E2783D}"/>
                </c:ext>
              </c:extLst>
            </c:dLbl>
            <c:dLbl>
              <c:idx val="18"/>
              <c:tx>
                <c:rich>
                  <a:bodyPr/>
                  <a:lstStyle/>
                  <a:p>
                    <a:r>
                      <a:rPr lang="en-US" sz="1200">
                        <a:solidFill>
                          <a:srgbClr val="1F2A33"/>
                        </a:solidFill>
                      </a:rPr>
                      <a:t>India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CA3-466E-8C83-5FAB82E2783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Sheet1!$A$2:$A$44</c:f>
              <c:numCache>
                <c:formatCode>General</c:formatCode>
                <c:ptCount val="43"/>
                <c:pt idx="0">
                  <c:v>5.4</c:v>
                </c:pt>
                <c:pt idx="1">
                  <c:v>4.2406072021749797</c:v>
                </c:pt>
                <c:pt idx="2">
                  <c:v>3.9</c:v>
                </c:pt>
                <c:pt idx="3">
                  <c:v>11.7954963068893</c:v>
                </c:pt>
                <c:pt idx="4">
                  <c:v>6.7497373835892303</c:v>
                </c:pt>
                <c:pt idx="5">
                  <c:v>5.4440279174667001</c:v>
                </c:pt>
                <c:pt idx="6">
                  <c:v>10.6337435256182</c:v>
                </c:pt>
                <c:pt idx="7">
                  <c:v>28.257543592266501</c:v>
                </c:pt>
                <c:pt idx="8">
                  <c:v>4.9132159297176701</c:v>
                </c:pt>
                <c:pt idx="9">
                  <c:v>3.7</c:v>
                </c:pt>
                <c:pt idx="10">
                  <c:v>3.5804332112371799</c:v>
                </c:pt>
                <c:pt idx="11">
                  <c:v>6.5</c:v>
                </c:pt>
                <c:pt idx="12">
                  <c:v>3.7704599976010602</c:v>
                </c:pt>
                <c:pt idx="13">
                  <c:v>4.3419034731619304</c:v>
                </c:pt>
                <c:pt idx="14">
                  <c:v>4.3964200477326996</c:v>
                </c:pt>
                <c:pt idx="15">
                  <c:v>6.3</c:v>
                </c:pt>
                <c:pt idx="16">
                  <c:v>4.2747829659228698</c:v>
                </c:pt>
                <c:pt idx="17">
                  <c:v>3.4</c:v>
                </c:pt>
                <c:pt idx="18">
                  <c:v>13.403769484150001</c:v>
                </c:pt>
                <c:pt idx="19">
                  <c:v>4.8</c:v>
                </c:pt>
                <c:pt idx="20">
                  <c:v>7.6007426614025002</c:v>
                </c:pt>
                <c:pt idx="21">
                  <c:v>5.8</c:v>
                </c:pt>
                <c:pt idx="22">
                  <c:v>6.1</c:v>
                </c:pt>
                <c:pt idx="23">
                  <c:v>7.6829896907216497</c:v>
                </c:pt>
                <c:pt idx="24">
                  <c:v>6.7</c:v>
                </c:pt>
                <c:pt idx="25">
                  <c:v>6.3</c:v>
                </c:pt>
                <c:pt idx="26">
                  <c:v>4.2</c:v>
                </c:pt>
                <c:pt idx="27">
                  <c:v>13.7</c:v>
                </c:pt>
                <c:pt idx="28">
                  <c:v>4.3305439330543898</c:v>
                </c:pt>
                <c:pt idx="29">
                  <c:v>6.1226469884868999</c:v>
                </c:pt>
                <c:pt idx="30">
                  <c:v>3.77148349866119</c:v>
                </c:pt>
                <c:pt idx="31">
                  <c:v>4.8</c:v>
                </c:pt>
                <c:pt idx="32">
                  <c:v>6.2</c:v>
                </c:pt>
                <c:pt idx="33">
                  <c:v>7.1103878789252102</c:v>
                </c:pt>
                <c:pt idx="34">
                  <c:v>7.1349514759606096</c:v>
                </c:pt>
                <c:pt idx="35">
                  <c:v>4</c:v>
                </c:pt>
                <c:pt idx="36">
                  <c:v>3.8</c:v>
                </c:pt>
                <c:pt idx="37">
                  <c:v>6.6250466438299096</c:v>
                </c:pt>
                <c:pt idx="38">
                  <c:v>3.9452284410252898</c:v>
                </c:pt>
                <c:pt idx="39">
                  <c:v>4.4380372071350003</c:v>
                </c:pt>
                <c:pt idx="40">
                  <c:v>7.4604181837095602</c:v>
                </c:pt>
                <c:pt idx="41">
                  <c:v>5.9649387160791996</c:v>
                </c:pt>
                <c:pt idx="42">
                  <c:v>8.63054269010029</c:v>
                </c:pt>
              </c:numCache>
            </c:numRef>
          </c:xVal>
          <c:yVal>
            <c:numRef>
              <c:f>Sheet1!$B$2:$B$44</c:f>
              <c:numCache>
                <c:formatCode>General</c:formatCode>
                <c:ptCount val="43"/>
                <c:pt idx="0">
                  <c:v>54.02</c:v>
                </c:pt>
                <c:pt idx="1">
                  <c:v>48.46</c:v>
                </c:pt>
                <c:pt idx="2">
                  <c:v>34.65</c:v>
                </c:pt>
                <c:pt idx="3">
                  <c:v>6.65</c:v>
                </c:pt>
                <c:pt idx="4">
                  <c:v>18.05</c:v>
                </c:pt>
                <c:pt idx="5">
                  <c:v>49.5</c:v>
                </c:pt>
                <c:pt idx="6">
                  <c:v>14.27</c:v>
                </c:pt>
                <c:pt idx="7">
                  <c:v>65.44</c:v>
                </c:pt>
                <c:pt idx="8">
                  <c:v>17.600000000000001</c:v>
                </c:pt>
                <c:pt idx="9">
                  <c:v>37.28</c:v>
                </c:pt>
                <c:pt idx="10">
                  <c:v>77.42</c:v>
                </c:pt>
                <c:pt idx="11">
                  <c:v>33.9</c:v>
                </c:pt>
                <c:pt idx="12">
                  <c:v>72.22</c:v>
                </c:pt>
                <c:pt idx="13">
                  <c:v>28.09</c:v>
                </c:pt>
                <c:pt idx="14">
                  <c:v>45.95</c:v>
                </c:pt>
                <c:pt idx="15">
                  <c:v>8.42</c:v>
                </c:pt>
                <c:pt idx="16">
                  <c:v>28.46</c:v>
                </c:pt>
                <c:pt idx="17">
                  <c:v>65.77</c:v>
                </c:pt>
                <c:pt idx="18">
                  <c:v>17.690000000000001</c:v>
                </c:pt>
                <c:pt idx="19">
                  <c:v>38.92</c:v>
                </c:pt>
                <c:pt idx="20">
                  <c:v>23.46</c:v>
                </c:pt>
                <c:pt idx="21">
                  <c:v>28.48</c:v>
                </c:pt>
                <c:pt idx="22">
                  <c:v>35.6</c:v>
                </c:pt>
                <c:pt idx="23">
                  <c:v>32.93</c:v>
                </c:pt>
                <c:pt idx="24">
                  <c:v>22.58</c:v>
                </c:pt>
                <c:pt idx="25">
                  <c:v>32.79</c:v>
                </c:pt>
                <c:pt idx="26">
                  <c:v>31.07</c:v>
                </c:pt>
                <c:pt idx="27">
                  <c:v>10.3</c:v>
                </c:pt>
                <c:pt idx="28">
                  <c:v>61.21</c:v>
                </c:pt>
                <c:pt idx="29">
                  <c:v>59.5</c:v>
                </c:pt>
                <c:pt idx="30">
                  <c:v>75.11</c:v>
                </c:pt>
                <c:pt idx="31">
                  <c:v>25.49</c:v>
                </c:pt>
                <c:pt idx="32">
                  <c:v>16.82</c:v>
                </c:pt>
                <c:pt idx="33">
                  <c:v>11.87</c:v>
                </c:pt>
                <c:pt idx="34">
                  <c:v>23.91</c:v>
                </c:pt>
                <c:pt idx="35">
                  <c:v>21.6</c:v>
                </c:pt>
                <c:pt idx="36">
                  <c:v>27.17</c:v>
                </c:pt>
                <c:pt idx="37">
                  <c:v>41.04</c:v>
                </c:pt>
                <c:pt idx="38">
                  <c:v>67.38</c:v>
                </c:pt>
                <c:pt idx="39">
                  <c:v>60.81</c:v>
                </c:pt>
                <c:pt idx="40">
                  <c:v>14.26</c:v>
                </c:pt>
                <c:pt idx="41">
                  <c:v>45.84</c:v>
                </c:pt>
                <c:pt idx="42">
                  <c:v>39.74</c:v>
                </c:pt>
              </c:numCache>
            </c:numRef>
          </c:yVal>
          <c:smooth val="0"/>
          <c:extLst>
            <c:ext xmlns:c16="http://schemas.microsoft.com/office/drawing/2014/chart" uri="{C3380CC4-5D6E-409C-BE32-E72D297353CC}">
              <c16:uniqueId val="{00000004-DCA3-466E-8C83-5FAB82E2783D}"/>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title>
          <c:tx>
            <c:rich>
              <a:bodyPr/>
              <a:lstStyle/>
              <a:p>
                <a:r>
                  <a:rPr lang="en-GB" sz="1300" b="0">
                    <a:solidFill>
                      <a:srgbClr val="55606B"/>
                    </a:solidFill>
                  </a:rPr>
                  <a:t>Richest ÷ poorest fifth</a:t>
                </a:r>
              </a:p>
            </c:rich>
          </c:tx>
          <c:overlay val="0"/>
        </c:title>
        <c:numFmt formatCode="0" sourceLinked="0"/>
        <c:majorTickMark val="out"/>
        <c:minorTickMark val="none"/>
        <c:tickLblPos val="nextTo"/>
        <c:spPr>
          <a:ln>
            <a:solidFill>
              <a:srgbClr val="BBC4CC"/>
            </a:solidFill>
          </a:ln>
        </c:spPr>
        <c:txPr>
          <a:bodyPr/>
          <a:lstStyle/>
          <a:p>
            <a:pPr>
              <a:defRPr sz="1300">
                <a:solidFill>
                  <a:srgbClr val="55606B"/>
                </a:solidFill>
              </a:defRPr>
            </a:pPr>
            <a:endParaRPr lang="en-US"/>
          </a:p>
        </c:txPr>
        <c:crossAx val="-2129643912"/>
        <c:crosses val="autoZero"/>
        <c:crossBetween val="midCat"/>
        <c:majorUnit val="5"/>
      </c:valAx>
      <c:valAx>
        <c:axId val="-2129643912"/>
        <c:scaling>
          <c:orientation val="minMax"/>
          <c:max val="80"/>
          <c:min val="0"/>
        </c:scaling>
        <c:delete val="0"/>
        <c:axPos val="l"/>
        <c:majorGridlines>
          <c:spPr>
            <a:ln>
              <a:solidFill>
                <a:srgbClr val="DDE3E8"/>
              </a:solidFill>
            </a:ln>
          </c:spPr>
        </c:majorGridlines>
        <c:title>
          <c:tx>
            <c:rich>
              <a:bodyPr/>
              <a:lstStyle/>
              <a:p>
                <a:r>
                  <a:rPr lang="en-GB" sz="1300" b="0">
                    <a:solidFill>
                      <a:srgbClr val="55606B"/>
                    </a:solidFill>
                  </a:rPr>
                  <a:t>% trusting</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8940872"/>
        <c:crosses val="autoZero"/>
        <c:crossBetween val="midCat"/>
        <c:majorUnit val="20"/>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Correlation with trust</c:v>
                </c:pt>
              </c:strCache>
            </c:strRef>
          </c:tx>
          <c:spPr>
            <a:solidFill>
              <a:srgbClr val="1F394D"/>
            </a:solidFill>
          </c:spPr>
          <c:invertIfNegative val="1"/>
          <c:dPt>
            <c:idx val="0"/>
            <c:invertIfNegative val="1"/>
            <c:bubble3D val="0"/>
            <c:extLst>
              <c:ext xmlns:c16="http://schemas.microsoft.com/office/drawing/2014/chart" uri="{C3380CC4-5D6E-409C-BE32-E72D297353CC}">
                <c16:uniqueId val="{00000001-5658-4CFE-B793-BACE6B983019}"/>
              </c:ext>
            </c:extLst>
          </c:dPt>
          <c:dPt>
            <c:idx val="1"/>
            <c:invertIfNegative val="1"/>
            <c:bubble3D val="0"/>
            <c:spPr>
              <a:solidFill>
                <a:srgbClr val="CCDDEA"/>
              </a:solidFill>
            </c:spPr>
            <c:extLst>
              <c:ext xmlns:c16="http://schemas.microsoft.com/office/drawing/2014/chart" uri="{C3380CC4-5D6E-409C-BE32-E72D297353CC}">
                <c16:uniqueId val="{00000003-5658-4CFE-B793-BACE6B983019}"/>
              </c:ext>
            </c:extLst>
          </c:dPt>
          <c:dPt>
            <c:idx val="2"/>
            <c:invertIfNegative val="1"/>
            <c:bubble3D val="0"/>
            <c:spPr>
              <a:solidFill>
                <a:srgbClr val="CCDDEA"/>
              </a:solidFill>
            </c:spPr>
            <c:extLst>
              <c:ext xmlns:c16="http://schemas.microsoft.com/office/drawing/2014/chart" uri="{C3380CC4-5D6E-409C-BE32-E72D297353CC}">
                <c16:uniqueId val="{00000005-5658-4CFE-B793-BACE6B983019}"/>
              </c:ext>
            </c:extLst>
          </c:dPt>
          <c:dPt>
            <c:idx val="3"/>
            <c:invertIfNegative val="1"/>
            <c:bubble3D val="0"/>
            <c:spPr>
              <a:solidFill>
                <a:srgbClr val="CCDDEA"/>
              </a:solidFill>
            </c:spPr>
            <c:extLst>
              <c:ext xmlns:c16="http://schemas.microsoft.com/office/drawing/2014/chart" uri="{C3380CC4-5D6E-409C-BE32-E72D297353CC}">
                <c16:uniqueId val="{00000007-5658-4CFE-B793-BACE6B983019}"/>
              </c:ext>
            </c:extLst>
          </c:dPt>
          <c:dPt>
            <c:idx val="4"/>
            <c:invertIfNegative val="1"/>
            <c:bubble3D val="0"/>
            <c:spPr>
              <a:solidFill>
                <a:srgbClr val="B88C00"/>
              </a:solidFill>
            </c:spPr>
            <c:extLst>
              <c:ext xmlns:c16="http://schemas.microsoft.com/office/drawing/2014/chart" uri="{C3380CC4-5D6E-409C-BE32-E72D297353CC}">
                <c16:uniqueId val="{00000009-5658-4CFE-B793-BACE6B983019}"/>
              </c:ext>
            </c:extLst>
          </c:dPt>
          <c:dLbls>
            <c:numFmt formatCode="0.00" sourceLinked="0"/>
            <c:spPr>
              <a:noFill/>
              <a:ln>
                <a:noFill/>
              </a:ln>
              <a:effectLst/>
            </c:spPr>
            <c:txPr>
              <a:bodyPr/>
              <a:lstStyle/>
              <a:p>
                <a:pPr>
                  <a:defRPr sz="1300" b="1">
                    <a:solidFill>
                      <a:srgbClr val="1F2A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Income inequality</c:v>
                </c:pt>
                <c:pt idx="1">
                  <c:v>Imprisonment rate (log)</c:v>
                </c:pt>
                <c:pt idx="2">
                  <c:v>Infant mortality</c:v>
                </c:pt>
                <c:pt idx="3">
                  <c:v>Homicide rate</c:v>
                </c:pt>
                <c:pt idx="4">
                  <c:v>Life expectancy</c:v>
                </c:pt>
              </c:strCache>
            </c:strRef>
          </c:cat>
          <c:val>
            <c:numRef>
              <c:f>Sheet1!$B$2:$B$6</c:f>
              <c:numCache>
                <c:formatCode>General</c:formatCode>
                <c:ptCount val="5"/>
                <c:pt idx="0">
                  <c:v>-0.66</c:v>
                </c:pt>
                <c:pt idx="1">
                  <c:v>-0.36</c:v>
                </c:pt>
                <c:pt idx="2">
                  <c:v>-0.26</c:v>
                </c:pt>
                <c:pt idx="3">
                  <c:v>-0.21</c:v>
                </c:pt>
                <c:pt idx="4">
                  <c:v>0.17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5658-4CFE-B793-BACE6B983019}"/>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low"/>
        <c:spPr>
          <a:ln>
            <a:solidFill>
              <a:srgbClr val="BBC4CC"/>
            </a:solidFill>
          </a:ln>
        </c:spPr>
        <c:txPr>
          <a:bodyPr/>
          <a:lstStyle/>
          <a:p>
            <a:pPr>
              <a:defRPr sz="1500">
                <a:solidFill>
                  <a:srgbClr val="55606B"/>
                </a:solidFill>
              </a:defRPr>
            </a:pPr>
            <a:endParaRPr lang="en-US"/>
          </a:p>
        </c:txPr>
        <c:crossAx val="-2113994440"/>
        <c:crosses val="autoZero"/>
        <c:auto val="1"/>
        <c:lblAlgn val="ctr"/>
        <c:lblOffset val="100"/>
        <c:noMultiLvlLbl val="0"/>
      </c:catAx>
      <c:valAx>
        <c:axId val="-2113994440"/>
        <c:scaling>
          <c:orientation val="minMax"/>
          <c:max val="1"/>
          <c:min val="-1"/>
        </c:scaling>
        <c:delete val="0"/>
        <c:axPos val="t"/>
        <c:majorGridlines>
          <c:spPr>
            <a:ln>
              <a:solidFill>
                <a:srgbClr val="DDE3E8"/>
              </a:solidFill>
            </a:ln>
          </c:spPr>
        </c:majorGridlines>
        <c:numFmt formatCode="0.0" sourceLinked="0"/>
        <c:majorTickMark val="out"/>
        <c:minorTickMark val="none"/>
        <c:tickLblPos val="nextTo"/>
        <c:spPr>
          <a:ln>
            <a:solidFill>
              <a:srgbClr val="BBC4CC"/>
            </a:solidFill>
          </a:ln>
        </c:spPr>
        <c:txPr>
          <a:bodyPr/>
          <a:lstStyle/>
          <a:p>
            <a:pPr>
              <a:defRPr sz="1300">
                <a:solidFill>
                  <a:srgbClr val="55606B"/>
                </a:solidFill>
              </a:defRPr>
            </a:pPr>
            <a:endParaRPr lang="en-US"/>
          </a:p>
        </c:txPr>
        <c:crossAx val="-2068027336"/>
        <c:crosses val="autoZero"/>
        <c:crossBetween val="between"/>
        <c:majorUnit val="0.5"/>
      </c:valAx>
    </c:plotArea>
    <c:plotVisOnly val="1"/>
    <c:dispBlanksAs val="gap"/>
    <c:showDLblsOverMax val="1"/>
  </c:chart>
  <c:txPr>
    <a:bodyPr/>
    <a:lstStyle/>
    <a:p>
      <a:pPr>
        <a:defRPr sz="1300">
          <a:solidFill>
            <a:srgbClr val="55606B"/>
          </a:solidFill>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2F7998-D03E-40A2-A7EF-8BD5A1A7FA69}"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A459A32B-D579-40CD-899A-71251E4E21A3}">
      <dgm:prSet/>
      <dgm:spPr/>
      <dgm:t>
        <a:bodyPr/>
        <a:lstStyle/>
        <a:p>
          <a:r>
            <a:rPr lang="en-GB"/>
            <a:t>A.  Are religious people more satisfied with life?</a:t>
          </a:r>
          <a:endParaRPr lang="en-US"/>
        </a:p>
      </dgm:t>
    </dgm:pt>
    <dgm:pt modelId="{8E71D417-AD31-448C-B401-CB008D81F5DC}" type="parTrans" cxnId="{ED687876-CBDF-4A39-8EC2-A18D5A2620F9}">
      <dgm:prSet/>
      <dgm:spPr/>
      <dgm:t>
        <a:bodyPr/>
        <a:lstStyle/>
        <a:p>
          <a:endParaRPr lang="en-US"/>
        </a:p>
      </dgm:t>
    </dgm:pt>
    <dgm:pt modelId="{0543C891-026A-421B-A516-D6E5742F2FD6}" type="sibTrans" cxnId="{ED687876-CBDF-4A39-8EC2-A18D5A2620F9}">
      <dgm:prSet/>
      <dgm:spPr/>
      <dgm:t>
        <a:bodyPr/>
        <a:lstStyle/>
        <a:p>
          <a:endParaRPr lang="en-US"/>
        </a:p>
      </dgm:t>
    </dgm:pt>
    <dgm:pt modelId="{E84A51BE-100B-401C-A81C-2A81CB934381}">
      <dgm:prSet/>
      <dgm:spPr/>
      <dgm:t>
        <a:bodyPr/>
        <a:lstStyle/>
        <a:p>
          <a:r>
            <a:rPr lang="en-GB"/>
            <a:t>B.  Are older people more likely to see the death penalty as justifiable?</a:t>
          </a:r>
          <a:endParaRPr lang="en-US"/>
        </a:p>
      </dgm:t>
    </dgm:pt>
    <dgm:pt modelId="{CD8CA50E-5089-4C3A-82D1-6F9D6F4C0283}" type="parTrans" cxnId="{EA585A99-DE72-468B-92B2-9EB71FA4F5B2}">
      <dgm:prSet/>
      <dgm:spPr/>
      <dgm:t>
        <a:bodyPr/>
        <a:lstStyle/>
        <a:p>
          <a:endParaRPr lang="en-US"/>
        </a:p>
      </dgm:t>
    </dgm:pt>
    <dgm:pt modelId="{A3AE5E9B-EEE5-40CD-ACBD-FE8995F44CD7}" type="sibTrans" cxnId="{EA585A99-DE72-468B-92B2-9EB71FA4F5B2}">
      <dgm:prSet/>
      <dgm:spPr/>
      <dgm:t>
        <a:bodyPr/>
        <a:lstStyle/>
        <a:p>
          <a:endParaRPr lang="en-US"/>
        </a:p>
      </dgm:t>
    </dgm:pt>
    <dgm:pt modelId="{75741C02-EE57-4A1A-9127-B6C9E88D436F}">
      <dgm:prSet/>
      <dgm:spPr/>
      <dgm:t>
        <a:bodyPr/>
        <a:lstStyle/>
        <a:p>
          <a:r>
            <a:rPr lang="en-GB"/>
            <a:t>C.  What factors are associated with opinions about future European Union enlargement among Europeans?</a:t>
          </a:r>
          <a:endParaRPr lang="en-US"/>
        </a:p>
      </dgm:t>
    </dgm:pt>
    <dgm:pt modelId="{C9A4ADB8-FE7D-4C4D-9697-B722A7630E4A}" type="parTrans" cxnId="{50F98E6E-71EC-44B9-BC5E-EE0554301124}">
      <dgm:prSet/>
      <dgm:spPr/>
      <dgm:t>
        <a:bodyPr/>
        <a:lstStyle/>
        <a:p>
          <a:endParaRPr lang="en-US"/>
        </a:p>
      </dgm:t>
    </dgm:pt>
    <dgm:pt modelId="{143A4F45-8163-4265-BC0A-D357E681CF63}" type="sibTrans" cxnId="{50F98E6E-71EC-44B9-BC5E-EE0554301124}">
      <dgm:prSet/>
      <dgm:spPr/>
      <dgm:t>
        <a:bodyPr/>
        <a:lstStyle/>
        <a:p>
          <a:endParaRPr lang="en-US"/>
        </a:p>
      </dgm:t>
    </dgm:pt>
    <dgm:pt modelId="{D499BED8-E4CF-4BE3-A2C4-0DDC8625DF01}">
      <dgm:prSet/>
      <dgm:spPr/>
      <dgm:t>
        <a:bodyPr/>
        <a:lstStyle/>
        <a:p>
          <a:r>
            <a:rPr lang="en-GB"/>
            <a:t>D.  Is higher internet use associated with stronger anti-immigrant sentiments?</a:t>
          </a:r>
          <a:endParaRPr lang="en-US"/>
        </a:p>
      </dgm:t>
    </dgm:pt>
    <dgm:pt modelId="{890B262A-408B-4EFF-AEFB-62CFA1167F03}" type="parTrans" cxnId="{0A70EEE1-F5AD-4169-85EC-51585912FFBF}">
      <dgm:prSet/>
      <dgm:spPr/>
      <dgm:t>
        <a:bodyPr/>
        <a:lstStyle/>
        <a:p>
          <a:endParaRPr lang="en-US"/>
        </a:p>
      </dgm:t>
    </dgm:pt>
    <dgm:pt modelId="{381A928A-A17B-494F-8852-66996F860A22}" type="sibTrans" cxnId="{0A70EEE1-F5AD-4169-85EC-51585912FFBF}">
      <dgm:prSet/>
      <dgm:spPr/>
      <dgm:t>
        <a:bodyPr/>
        <a:lstStyle/>
        <a:p>
          <a:endParaRPr lang="en-US"/>
        </a:p>
      </dgm:t>
    </dgm:pt>
    <dgm:pt modelId="{631ED48C-057C-4231-B964-7195910F6858}">
      <dgm:prSet/>
      <dgm:spPr/>
      <dgm:t>
        <a:bodyPr/>
        <a:lstStyle/>
        <a:p>
          <a:r>
            <a:rPr lang="en-GB"/>
            <a:t>E.  How does victimisation relate to trust in the police?</a:t>
          </a:r>
          <a:endParaRPr lang="en-US"/>
        </a:p>
      </dgm:t>
    </dgm:pt>
    <dgm:pt modelId="{D5C0C356-CFEE-4018-93D4-55396C07156E}" type="parTrans" cxnId="{EFB8B7ED-6E05-43A2-BD2C-A9E9DA68F9E1}">
      <dgm:prSet/>
      <dgm:spPr/>
      <dgm:t>
        <a:bodyPr/>
        <a:lstStyle/>
        <a:p>
          <a:endParaRPr lang="en-US"/>
        </a:p>
      </dgm:t>
    </dgm:pt>
    <dgm:pt modelId="{08A5C74F-C6DD-498D-A2E0-30D12B3FFF0E}" type="sibTrans" cxnId="{EFB8B7ED-6E05-43A2-BD2C-A9E9DA68F9E1}">
      <dgm:prSet/>
      <dgm:spPr/>
      <dgm:t>
        <a:bodyPr/>
        <a:lstStyle/>
        <a:p>
          <a:endParaRPr lang="en-US"/>
        </a:p>
      </dgm:t>
    </dgm:pt>
    <dgm:pt modelId="{80BEB204-CE55-4A48-8E46-BDD820A87094}">
      <dgm:prSet/>
      <dgm:spPr/>
      <dgm:t>
        <a:bodyPr/>
        <a:lstStyle/>
        <a:p>
          <a:r>
            <a:rPr lang="en-GB"/>
            <a:t>F.  What factors are associated with belief in life after death?</a:t>
          </a:r>
          <a:endParaRPr lang="en-US"/>
        </a:p>
      </dgm:t>
    </dgm:pt>
    <dgm:pt modelId="{959B5168-B6D8-4655-ACFE-A33892048ECA}" type="parTrans" cxnId="{87DE1ED2-1779-4C84-8073-034BA4DF224A}">
      <dgm:prSet/>
      <dgm:spPr/>
      <dgm:t>
        <a:bodyPr/>
        <a:lstStyle/>
        <a:p>
          <a:endParaRPr lang="en-US"/>
        </a:p>
      </dgm:t>
    </dgm:pt>
    <dgm:pt modelId="{787E2AB1-4F37-46A4-B7C9-9B5618642EE0}" type="sibTrans" cxnId="{87DE1ED2-1779-4C84-8073-034BA4DF224A}">
      <dgm:prSet/>
      <dgm:spPr/>
      <dgm:t>
        <a:bodyPr/>
        <a:lstStyle/>
        <a:p>
          <a:endParaRPr lang="en-US"/>
        </a:p>
      </dgm:t>
    </dgm:pt>
    <dgm:pt modelId="{3CE0C3A6-EC8D-4DAD-8CB8-38F8BCDD6726}">
      <dgm:prSet/>
      <dgm:spPr/>
      <dgm:t>
        <a:bodyPr/>
        <a:lstStyle/>
        <a:p>
          <a:r>
            <a:rPr lang="en-GB"/>
            <a:t>G.  Are government/public sector employees more inclined to perceive higher levels of corruption than those working in the private sector?</a:t>
          </a:r>
          <a:endParaRPr lang="en-US"/>
        </a:p>
      </dgm:t>
    </dgm:pt>
    <dgm:pt modelId="{553326A6-183A-4947-B891-4FE36A19E261}" type="parTrans" cxnId="{272C2449-26BB-4411-8E51-A083181E1CD5}">
      <dgm:prSet/>
      <dgm:spPr/>
      <dgm:t>
        <a:bodyPr/>
        <a:lstStyle/>
        <a:p>
          <a:endParaRPr lang="en-US"/>
        </a:p>
      </dgm:t>
    </dgm:pt>
    <dgm:pt modelId="{3A490C52-8A1A-4900-A81B-933C3DB915F0}" type="sibTrans" cxnId="{272C2449-26BB-4411-8E51-A083181E1CD5}">
      <dgm:prSet/>
      <dgm:spPr/>
      <dgm:t>
        <a:bodyPr/>
        <a:lstStyle/>
        <a:p>
          <a:endParaRPr lang="en-US"/>
        </a:p>
      </dgm:t>
    </dgm:pt>
    <dgm:pt modelId="{5DD842CF-4EC1-4E92-8EDA-62A2B1CDD830}" type="pres">
      <dgm:prSet presAssocID="{7F2F7998-D03E-40A2-A7EF-8BD5A1A7FA69}" presName="linear" presStyleCnt="0">
        <dgm:presLayoutVars>
          <dgm:animLvl val="lvl"/>
          <dgm:resizeHandles val="exact"/>
        </dgm:presLayoutVars>
      </dgm:prSet>
      <dgm:spPr/>
    </dgm:pt>
    <dgm:pt modelId="{DD623C84-A188-4CA3-B167-96938C6EDB24}" type="pres">
      <dgm:prSet presAssocID="{A459A32B-D579-40CD-899A-71251E4E21A3}" presName="parentText" presStyleLbl="node1" presStyleIdx="0" presStyleCnt="7">
        <dgm:presLayoutVars>
          <dgm:chMax val="0"/>
          <dgm:bulletEnabled val="1"/>
        </dgm:presLayoutVars>
      </dgm:prSet>
      <dgm:spPr/>
    </dgm:pt>
    <dgm:pt modelId="{D84E497C-64D5-4928-960A-E4A1106D5324}" type="pres">
      <dgm:prSet presAssocID="{0543C891-026A-421B-A516-D6E5742F2FD6}" presName="spacer" presStyleCnt="0"/>
      <dgm:spPr/>
    </dgm:pt>
    <dgm:pt modelId="{8B30CF31-AE74-4EC9-B6AC-46F241B0CBA5}" type="pres">
      <dgm:prSet presAssocID="{E84A51BE-100B-401C-A81C-2A81CB934381}" presName="parentText" presStyleLbl="node1" presStyleIdx="1" presStyleCnt="7">
        <dgm:presLayoutVars>
          <dgm:chMax val="0"/>
          <dgm:bulletEnabled val="1"/>
        </dgm:presLayoutVars>
      </dgm:prSet>
      <dgm:spPr/>
    </dgm:pt>
    <dgm:pt modelId="{9DF42FA6-F5A8-46DB-B24C-BE1FBBE575AF}" type="pres">
      <dgm:prSet presAssocID="{A3AE5E9B-EEE5-40CD-ACBD-FE8995F44CD7}" presName="spacer" presStyleCnt="0"/>
      <dgm:spPr/>
    </dgm:pt>
    <dgm:pt modelId="{06EDBFC5-AABF-428D-91ED-693DFAC8E2D5}" type="pres">
      <dgm:prSet presAssocID="{75741C02-EE57-4A1A-9127-B6C9E88D436F}" presName="parentText" presStyleLbl="node1" presStyleIdx="2" presStyleCnt="7">
        <dgm:presLayoutVars>
          <dgm:chMax val="0"/>
          <dgm:bulletEnabled val="1"/>
        </dgm:presLayoutVars>
      </dgm:prSet>
      <dgm:spPr/>
    </dgm:pt>
    <dgm:pt modelId="{A2BD9716-1AF0-4E94-9F31-668A3F21C2B5}" type="pres">
      <dgm:prSet presAssocID="{143A4F45-8163-4265-BC0A-D357E681CF63}" presName="spacer" presStyleCnt="0"/>
      <dgm:spPr/>
    </dgm:pt>
    <dgm:pt modelId="{98C711A9-0F4E-46FA-AC7C-0FEE5A776FEF}" type="pres">
      <dgm:prSet presAssocID="{D499BED8-E4CF-4BE3-A2C4-0DDC8625DF01}" presName="parentText" presStyleLbl="node1" presStyleIdx="3" presStyleCnt="7">
        <dgm:presLayoutVars>
          <dgm:chMax val="0"/>
          <dgm:bulletEnabled val="1"/>
        </dgm:presLayoutVars>
      </dgm:prSet>
      <dgm:spPr/>
    </dgm:pt>
    <dgm:pt modelId="{3037AB3E-46B3-4BCC-A353-13AB9D3DE219}" type="pres">
      <dgm:prSet presAssocID="{381A928A-A17B-494F-8852-66996F860A22}" presName="spacer" presStyleCnt="0"/>
      <dgm:spPr/>
    </dgm:pt>
    <dgm:pt modelId="{A9560091-8D5B-4A81-A498-550592551E2F}" type="pres">
      <dgm:prSet presAssocID="{631ED48C-057C-4231-B964-7195910F6858}" presName="parentText" presStyleLbl="node1" presStyleIdx="4" presStyleCnt="7">
        <dgm:presLayoutVars>
          <dgm:chMax val="0"/>
          <dgm:bulletEnabled val="1"/>
        </dgm:presLayoutVars>
      </dgm:prSet>
      <dgm:spPr/>
    </dgm:pt>
    <dgm:pt modelId="{71AC82A6-7411-4878-95DF-69185BF6F7CB}" type="pres">
      <dgm:prSet presAssocID="{08A5C74F-C6DD-498D-A2E0-30D12B3FFF0E}" presName="spacer" presStyleCnt="0"/>
      <dgm:spPr/>
    </dgm:pt>
    <dgm:pt modelId="{09A3BC0A-4477-4050-AD03-F0FF373800DF}" type="pres">
      <dgm:prSet presAssocID="{80BEB204-CE55-4A48-8E46-BDD820A87094}" presName="parentText" presStyleLbl="node1" presStyleIdx="5" presStyleCnt="7">
        <dgm:presLayoutVars>
          <dgm:chMax val="0"/>
          <dgm:bulletEnabled val="1"/>
        </dgm:presLayoutVars>
      </dgm:prSet>
      <dgm:spPr/>
    </dgm:pt>
    <dgm:pt modelId="{0FE1A2A3-1D84-47E1-B757-8D8C562A901E}" type="pres">
      <dgm:prSet presAssocID="{787E2AB1-4F37-46A4-B7C9-9B5618642EE0}" presName="spacer" presStyleCnt="0"/>
      <dgm:spPr/>
    </dgm:pt>
    <dgm:pt modelId="{36250CF9-6230-4B69-A540-D44C2950A4FB}" type="pres">
      <dgm:prSet presAssocID="{3CE0C3A6-EC8D-4DAD-8CB8-38F8BCDD6726}" presName="parentText" presStyleLbl="node1" presStyleIdx="6" presStyleCnt="7">
        <dgm:presLayoutVars>
          <dgm:chMax val="0"/>
          <dgm:bulletEnabled val="1"/>
        </dgm:presLayoutVars>
      </dgm:prSet>
      <dgm:spPr/>
    </dgm:pt>
  </dgm:ptLst>
  <dgm:cxnLst>
    <dgm:cxn modelId="{A6745F17-A604-4AC4-BD27-09EA61454364}" type="presOf" srcId="{80BEB204-CE55-4A48-8E46-BDD820A87094}" destId="{09A3BC0A-4477-4050-AD03-F0FF373800DF}" srcOrd="0" destOrd="0" presId="urn:microsoft.com/office/officeart/2005/8/layout/vList2"/>
    <dgm:cxn modelId="{B7B56F37-A5FC-4C35-A4FF-15091C1506CB}" type="presOf" srcId="{7F2F7998-D03E-40A2-A7EF-8BD5A1A7FA69}" destId="{5DD842CF-4EC1-4E92-8EDA-62A2B1CDD830}" srcOrd="0" destOrd="0" presId="urn:microsoft.com/office/officeart/2005/8/layout/vList2"/>
    <dgm:cxn modelId="{7983D737-2249-4E0D-ACDC-C66805DD43BB}" type="presOf" srcId="{A459A32B-D579-40CD-899A-71251E4E21A3}" destId="{DD623C84-A188-4CA3-B167-96938C6EDB24}" srcOrd="0" destOrd="0" presId="urn:microsoft.com/office/officeart/2005/8/layout/vList2"/>
    <dgm:cxn modelId="{ACFFFA65-ABA2-4382-9C20-DA4846B79F8A}" type="presOf" srcId="{3CE0C3A6-EC8D-4DAD-8CB8-38F8BCDD6726}" destId="{36250CF9-6230-4B69-A540-D44C2950A4FB}" srcOrd="0" destOrd="0" presId="urn:microsoft.com/office/officeart/2005/8/layout/vList2"/>
    <dgm:cxn modelId="{95D3BC48-6F81-4ADB-B8ED-9E27B2CACB37}" type="presOf" srcId="{D499BED8-E4CF-4BE3-A2C4-0DDC8625DF01}" destId="{98C711A9-0F4E-46FA-AC7C-0FEE5A776FEF}" srcOrd="0" destOrd="0" presId="urn:microsoft.com/office/officeart/2005/8/layout/vList2"/>
    <dgm:cxn modelId="{272C2449-26BB-4411-8E51-A083181E1CD5}" srcId="{7F2F7998-D03E-40A2-A7EF-8BD5A1A7FA69}" destId="{3CE0C3A6-EC8D-4DAD-8CB8-38F8BCDD6726}" srcOrd="6" destOrd="0" parTransId="{553326A6-183A-4947-B891-4FE36A19E261}" sibTransId="{3A490C52-8A1A-4900-A81B-933C3DB915F0}"/>
    <dgm:cxn modelId="{50F98E6E-71EC-44B9-BC5E-EE0554301124}" srcId="{7F2F7998-D03E-40A2-A7EF-8BD5A1A7FA69}" destId="{75741C02-EE57-4A1A-9127-B6C9E88D436F}" srcOrd="2" destOrd="0" parTransId="{C9A4ADB8-FE7D-4C4D-9697-B722A7630E4A}" sibTransId="{143A4F45-8163-4265-BC0A-D357E681CF63}"/>
    <dgm:cxn modelId="{ED687876-CBDF-4A39-8EC2-A18D5A2620F9}" srcId="{7F2F7998-D03E-40A2-A7EF-8BD5A1A7FA69}" destId="{A459A32B-D579-40CD-899A-71251E4E21A3}" srcOrd="0" destOrd="0" parTransId="{8E71D417-AD31-448C-B401-CB008D81F5DC}" sibTransId="{0543C891-026A-421B-A516-D6E5742F2FD6}"/>
    <dgm:cxn modelId="{8921CB84-33E1-40A2-9620-F84A594EE5A3}" type="presOf" srcId="{631ED48C-057C-4231-B964-7195910F6858}" destId="{A9560091-8D5B-4A81-A498-550592551E2F}" srcOrd="0" destOrd="0" presId="urn:microsoft.com/office/officeart/2005/8/layout/vList2"/>
    <dgm:cxn modelId="{EA585A99-DE72-468B-92B2-9EB71FA4F5B2}" srcId="{7F2F7998-D03E-40A2-A7EF-8BD5A1A7FA69}" destId="{E84A51BE-100B-401C-A81C-2A81CB934381}" srcOrd="1" destOrd="0" parTransId="{CD8CA50E-5089-4C3A-82D1-6F9D6F4C0283}" sibTransId="{A3AE5E9B-EEE5-40CD-ACBD-FE8995F44CD7}"/>
    <dgm:cxn modelId="{543F66A9-50B0-4570-8072-D2A31596FDC7}" type="presOf" srcId="{E84A51BE-100B-401C-A81C-2A81CB934381}" destId="{8B30CF31-AE74-4EC9-B6AC-46F241B0CBA5}" srcOrd="0" destOrd="0" presId="urn:microsoft.com/office/officeart/2005/8/layout/vList2"/>
    <dgm:cxn modelId="{A4DD24B8-5DD0-47EA-B35B-007C91CA43AA}" type="presOf" srcId="{75741C02-EE57-4A1A-9127-B6C9E88D436F}" destId="{06EDBFC5-AABF-428D-91ED-693DFAC8E2D5}" srcOrd="0" destOrd="0" presId="urn:microsoft.com/office/officeart/2005/8/layout/vList2"/>
    <dgm:cxn modelId="{87DE1ED2-1779-4C84-8073-034BA4DF224A}" srcId="{7F2F7998-D03E-40A2-A7EF-8BD5A1A7FA69}" destId="{80BEB204-CE55-4A48-8E46-BDD820A87094}" srcOrd="5" destOrd="0" parTransId="{959B5168-B6D8-4655-ACFE-A33892048ECA}" sibTransId="{787E2AB1-4F37-46A4-B7C9-9B5618642EE0}"/>
    <dgm:cxn modelId="{0A70EEE1-F5AD-4169-85EC-51585912FFBF}" srcId="{7F2F7998-D03E-40A2-A7EF-8BD5A1A7FA69}" destId="{D499BED8-E4CF-4BE3-A2C4-0DDC8625DF01}" srcOrd="3" destOrd="0" parTransId="{890B262A-408B-4EFF-AEFB-62CFA1167F03}" sibTransId="{381A928A-A17B-494F-8852-66996F860A22}"/>
    <dgm:cxn modelId="{EFB8B7ED-6E05-43A2-BD2C-A9E9DA68F9E1}" srcId="{7F2F7998-D03E-40A2-A7EF-8BD5A1A7FA69}" destId="{631ED48C-057C-4231-B964-7195910F6858}" srcOrd="4" destOrd="0" parTransId="{D5C0C356-CFEE-4018-93D4-55396C07156E}" sibTransId="{08A5C74F-C6DD-498D-A2E0-30D12B3FFF0E}"/>
    <dgm:cxn modelId="{BD0D6E91-7743-4EA0-939D-C3E191D83026}" type="presParOf" srcId="{5DD842CF-4EC1-4E92-8EDA-62A2B1CDD830}" destId="{DD623C84-A188-4CA3-B167-96938C6EDB24}" srcOrd="0" destOrd="0" presId="urn:microsoft.com/office/officeart/2005/8/layout/vList2"/>
    <dgm:cxn modelId="{754A64C2-CDE9-4F97-A897-D2B872DC5091}" type="presParOf" srcId="{5DD842CF-4EC1-4E92-8EDA-62A2B1CDD830}" destId="{D84E497C-64D5-4928-960A-E4A1106D5324}" srcOrd="1" destOrd="0" presId="urn:microsoft.com/office/officeart/2005/8/layout/vList2"/>
    <dgm:cxn modelId="{3A5FC35A-8C7C-48AC-B9A3-0D8280DD33BB}" type="presParOf" srcId="{5DD842CF-4EC1-4E92-8EDA-62A2B1CDD830}" destId="{8B30CF31-AE74-4EC9-B6AC-46F241B0CBA5}" srcOrd="2" destOrd="0" presId="urn:microsoft.com/office/officeart/2005/8/layout/vList2"/>
    <dgm:cxn modelId="{BDF03B59-3505-4FD4-B004-DB8E0122F8C6}" type="presParOf" srcId="{5DD842CF-4EC1-4E92-8EDA-62A2B1CDD830}" destId="{9DF42FA6-F5A8-46DB-B24C-BE1FBBE575AF}" srcOrd="3" destOrd="0" presId="urn:microsoft.com/office/officeart/2005/8/layout/vList2"/>
    <dgm:cxn modelId="{6F6783EA-D481-4574-A993-326E3EEF0A48}" type="presParOf" srcId="{5DD842CF-4EC1-4E92-8EDA-62A2B1CDD830}" destId="{06EDBFC5-AABF-428D-91ED-693DFAC8E2D5}" srcOrd="4" destOrd="0" presId="urn:microsoft.com/office/officeart/2005/8/layout/vList2"/>
    <dgm:cxn modelId="{4BF76FD7-0B35-472E-8886-841A27839D0C}" type="presParOf" srcId="{5DD842CF-4EC1-4E92-8EDA-62A2B1CDD830}" destId="{A2BD9716-1AF0-4E94-9F31-668A3F21C2B5}" srcOrd="5" destOrd="0" presId="urn:microsoft.com/office/officeart/2005/8/layout/vList2"/>
    <dgm:cxn modelId="{45BE2FE1-9EBC-4BAD-96A4-AD0D32714A46}" type="presParOf" srcId="{5DD842CF-4EC1-4E92-8EDA-62A2B1CDD830}" destId="{98C711A9-0F4E-46FA-AC7C-0FEE5A776FEF}" srcOrd="6" destOrd="0" presId="urn:microsoft.com/office/officeart/2005/8/layout/vList2"/>
    <dgm:cxn modelId="{C68B8760-02B9-417C-B25F-A6E7F459BDEE}" type="presParOf" srcId="{5DD842CF-4EC1-4E92-8EDA-62A2B1CDD830}" destId="{3037AB3E-46B3-4BCC-A353-13AB9D3DE219}" srcOrd="7" destOrd="0" presId="urn:microsoft.com/office/officeart/2005/8/layout/vList2"/>
    <dgm:cxn modelId="{67A6A6AF-BC4E-447F-A92C-572AC72C06C5}" type="presParOf" srcId="{5DD842CF-4EC1-4E92-8EDA-62A2B1CDD830}" destId="{A9560091-8D5B-4A81-A498-550592551E2F}" srcOrd="8" destOrd="0" presId="urn:microsoft.com/office/officeart/2005/8/layout/vList2"/>
    <dgm:cxn modelId="{69300091-1856-49BE-BD0C-F393345C3ADC}" type="presParOf" srcId="{5DD842CF-4EC1-4E92-8EDA-62A2B1CDD830}" destId="{71AC82A6-7411-4878-95DF-69185BF6F7CB}" srcOrd="9" destOrd="0" presId="urn:microsoft.com/office/officeart/2005/8/layout/vList2"/>
    <dgm:cxn modelId="{E6959C24-91AA-497A-9571-55D5FB2CDCD7}" type="presParOf" srcId="{5DD842CF-4EC1-4E92-8EDA-62A2B1CDD830}" destId="{09A3BC0A-4477-4050-AD03-F0FF373800DF}" srcOrd="10" destOrd="0" presId="urn:microsoft.com/office/officeart/2005/8/layout/vList2"/>
    <dgm:cxn modelId="{AC3B3B9C-3521-4B2B-BC4E-F6D1FC185CAB}" type="presParOf" srcId="{5DD842CF-4EC1-4E92-8EDA-62A2B1CDD830}" destId="{0FE1A2A3-1D84-47E1-B757-8D8C562A901E}" srcOrd="11" destOrd="0" presId="urn:microsoft.com/office/officeart/2005/8/layout/vList2"/>
    <dgm:cxn modelId="{7715920C-99ED-4DC8-BE19-9F284F45C5BE}" type="presParOf" srcId="{5DD842CF-4EC1-4E92-8EDA-62A2B1CDD830}" destId="{36250CF9-6230-4B69-A540-D44C2950A4FB}"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623C84-A188-4CA3-B167-96938C6EDB24}">
      <dsp:nvSpPr>
        <dsp:cNvPr id="0" name=""/>
        <dsp:cNvSpPr/>
      </dsp:nvSpPr>
      <dsp:spPr>
        <a:xfrm>
          <a:off x="0" y="118373"/>
          <a:ext cx="6492240" cy="675327"/>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A.  Are religious people more satisfied with life?</a:t>
          </a:r>
          <a:endParaRPr lang="en-US" sz="1700" kern="1200"/>
        </a:p>
      </dsp:txBody>
      <dsp:txXfrm>
        <a:off x="32967" y="151340"/>
        <a:ext cx="6426306" cy="609393"/>
      </dsp:txXfrm>
    </dsp:sp>
    <dsp:sp modelId="{8B30CF31-AE74-4EC9-B6AC-46F241B0CBA5}">
      <dsp:nvSpPr>
        <dsp:cNvPr id="0" name=""/>
        <dsp:cNvSpPr/>
      </dsp:nvSpPr>
      <dsp:spPr>
        <a:xfrm>
          <a:off x="0" y="842660"/>
          <a:ext cx="6492240" cy="675327"/>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B.  Are older people more likely to see the death penalty as justifiable?</a:t>
          </a:r>
          <a:endParaRPr lang="en-US" sz="1700" kern="1200"/>
        </a:p>
      </dsp:txBody>
      <dsp:txXfrm>
        <a:off x="32967" y="875627"/>
        <a:ext cx="6426306" cy="609393"/>
      </dsp:txXfrm>
    </dsp:sp>
    <dsp:sp modelId="{06EDBFC5-AABF-428D-91ED-693DFAC8E2D5}">
      <dsp:nvSpPr>
        <dsp:cNvPr id="0" name=""/>
        <dsp:cNvSpPr/>
      </dsp:nvSpPr>
      <dsp:spPr>
        <a:xfrm>
          <a:off x="0" y="1566948"/>
          <a:ext cx="6492240" cy="675327"/>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C.  What factors are associated with opinions about future European Union enlargement among Europeans?</a:t>
          </a:r>
          <a:endParaRPr lang="en-US" sz="1700" kern="1200"/>
        </a:p>
      </dsp:txBody>
      <dsp:txXfrm>
        <a:off x="32967" y="1599915"/>
        <a:ext cx="6426306" cy="609393"/>
      </dsp:txXfrm>
    </dsp:sp>
    <dsp:sp modelId="{98C711A9-0F4E-46FA-AC7C-0FEE5A776FEF}">
      <dsp:nvSpPr>
        <dsp:cNvPr id="0" name=""/>
        <dsp:cNvSpPr/>
      </dsp:nvSpPr>
      <dsp:spPr>
        <a:xfrm>
          <a:off x="0" y="2291236"/>
          <a:ext cx="6492240" cy="675327"/>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D.  Is higher internet use associated with stronger anti-immigrant sentiments?</a:t>
          </a:r>
          <a:endParaRPr lang="en-US" sz="1700" kern="1200"/>
        </a:p>
      </dsp:txBody>
      <dsp:txXfrm>
        <a:off x="32967" y="2324203"/>
        <a:ext cx="6426306" cy="609393"/>
      </dsp:txXfrm>
    </dsp:sp>
    <dsp:sp modelId="{A9560091-8D5B-4A81-A498-550592551E2F}">
      <dsp:nvSpPr>
        <dsp:cNvPr id="0" name=""/>
        <dsp:cNvSpPr/>
      </dsp:nvSpPr>
      <dsp:spPr>
        <a:xfrm>
          <a:off x="0" y="3015523"/>
          <a:ext cx="6492240" cy="675327"/>
        </a:xfrm>
        <a:prstGeom prst="round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E.  How does victimisation relate to trust in the police?</a:t>
          </a:r>
          <a:endParaRPr lang="en-US" sz="1700" kern="1200"/>
        </a:p>
      </dsp:txBody>
      <dsp:txXfrm>
        <a:off x="32967" y="3048490"/>
        <a:ext cx="6426306" cy="609393"/>
      </dsp:txXfrm>
    </dsp:sp>
    <dsp:sp modelId="{09A3BC0A-4477-4050-AD03-F0FF373800DF}">
      <dsp:nvSpPr>
        <dsp:cNvPr id="0" name=""/>
        <dsp:cNvSpPr/>
      </dsp:nvSpPr>
      <dsp:spPr>
        <a:xfrm>
          <a:off x="0" y="3739811"/>
          <a:ext cx="6492240" cy="675327"/>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F.  What factors are associated with belief in life after death?</a:t>
          </a:r>
          <a:endParaRPr lang="en-US" sz="1700" kern="1200"/>
        </a:p>
      </dsp:txBody>
      <dsp:txXfrm>
        <a:off x="32967" y="3772778"/>
        <a:ext cx="6426306" cy="609393"/>
      </dsp:txXfrm>
    </dsp:sp>
    <dsp:sp modelId="{36250CF9-6230-4B69-A540-D44C2950A4FB}">
      <dsp:nvSpPr>
        <dsp:cNvPr id="0" name=""/>
        <dsp:cNvSpPr/>
      </dsp:nvSpPr>
      <dsp:spPr>
        <a:xfrm>
          <a:off x="0" y="4464099"/>
          <a:ext cx="6492240" cy="675327"/>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G.  Are government/public sector employees more inclined to perceive higher levels of corruption than those working in the private sector?</a:t>
          </a:r>
          <a:endParaRPr lang="en-US" sz="1700" kern="1200"/>
        </a:p>
      </dsp:txBody>
      <dsp:txXfrm>
        <a:off x="32967" y="4497066"/>
        <a:ext cx="6426306" cy="60939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FBD195-041F-A9A0-1644-740C91990A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7D01E07-BD6F-76A0-E2F3-6F9E834A0E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3203E3-7C81-41A5-A697-954FF252F964}" type="datetimeFigureOut">
              <a:rPr lang="en-GB" smtClean="0"/>
              <a:t>19/10/2026</a:t>
            </a:fld>
            <a:endParaRPr lang="en-GB"/>
          </a:p>
        </p:txBody>
      </p:sp>
      <p:sp>
        <p:nvSpPr>
          <p:cNvPr id="4" name="Footer Placeholder 3">
            <a:extLst>
              <a:ext uri="{FF2B5EF4-FFF2-40B4-BE49-F238E27FC236}">
                <a16:creationId xmlns:a16="http://schemas.microsoft.com/office/drawing/2014/main" id="{DDFBD701-2DB0-B4B2-C5BD-0490DCBA57E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4251DA51-44A7-C88C-C39E-6DA6922B2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0050DA-C3C8-4D4F-9A52-26049FB521EA}" type="slidenum">
              <a:rPr lang="en-GB" smtClean="0"/>
              <a:t>‹#›</a:t>
            </a:fld>
            <a:endParaRPr lang="en-GB"/>
          </a:p>
        </p:txBody>
      </p:sp>
    </p:spTree>
    <p:extLst>
      <p:ext uri="{BB962C8B-B14F-4D97-AF65-F5344CB8AC3E}">
        <p14:creationId xmlns:p14="http://schemas.microsoft.com/office/powerpoint/2010/main" val="336818098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54BCB-1937-48CE-9F00-49B381FEB4E9}" type="datetimeFigureOut">
              <a:rPr lang="en-GB" smtClean="0"/>
              <a:t>19/10/2026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A333E-A95D-42FE-9CF0-D7FBE7CB01EA}" type="slidenum">
              <a:rPr lang="en-GB" smtClean="0"/>
              <a:t>‹#›</a:t>
            </a:fld>
            <a:endParaRPr lang="en-GB"/>
          </a:p>
        </p:txBody>
      </p:sp>
    </p:spTree>
    <p:extLst>
      <p:ext uri="{BB962C8B-B14F-4D97-AF65-F5344CB8AC3E}">
        <p14:creationId xmlns:p14="http://schemas.microsoft.com/office/powerpoint/2010/main" val="61144826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67504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59490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measurement level of the two variables decides the tool, exactly as it decided the univariate statistics last week. Each row is one section of today's lecture and one exercise in Worksheet 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Most bivariate descriptions assume a direction: one variable helps explain the other. That is a theoretical decision, not something the data tell us. The conventions follow from it: explanatory variable in the columns of a table (so we compare column percentages) and on the x-axis of a plot.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2 minutes in pairs. For each pair, which variable would you treat as the outcome, and why? Answers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Counts are hard to compare because the groups differ in size (more women than men answered). Dividing each count by its column total gives the percentage of men and of women in each answer category. That is the comparison we want: are men or women more trusting?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2068F-7332-BE00-9AB8-83E84124E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303E5-FE2E-28FA-0805-986E86D1AC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FBDEE96-68E6-4F0A-B99B-3E37E933245B}"/>
              </a:ext>
            </a:extLst>
          </p:cNvPr>
          <p:cNvSpPr>
            <a:spLocks noGrp="1"/>
          </p:cNvSpPr>
          <p:nvPr>
            <p:ph type="body" sz="quarter" idx="3"/>
          </p:nvPr>
        </p:nvSpPr>
        <p:spPr/>
        <p:txBody>
          <a:bodyPr/>
          <a:lstStyle/>
          <a:p>
            <a:r>
              <a:t>Counts are hard to compare because the groups differ in size (more women than men answered). Dividing each count by its column total gives the percentage of men and of women in each answer category. That is the comparison we want: are men or women more trusting?</a:t>
            </a:r>
          </a:p>
        </p:txBody>
      </p:sp>
      <p:sp>
        <p:nvSpPr>
          <p:cNvPr id="4" name="Slide Number Placeholder 3">
            <a:extLst>
              <a:ext uri="{FF2B5EF4-FFF2-40B4-BE49-F238E27FC236}">
                <a16:creationId xmlns:a16="http://schemas.microsoft.com/office/drawing/2014/main" id="{2534ACAA-5650-DAD9-840C-E5F4C612476C}"/>
              </a:ext>
            </a:extLst>
          </p:cNvPr>
          <p:cNvSpPr>
            <a:spLocks noGrp="1"/>
          </p:cNvSpPr>
          <p:nvPr>
            <p:ph type="sldNum" sz="quarter" idx="5"/>
          </p:nvPr>
        </p:nvSpPr>
        <p:spPr/>
      </p:sp>
    </p:spTree>
    <p:extLst>
      <p:ext uri="{BB962C8B-B14F-4D97-AF65-F5344CB8AC3E}">
        <p14:creationId xmlns:p14="http://schemas.microsoft.com/office/powerpoint/2010/main" val="2188387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B1C0B-FBDD-174E-74CF-523497911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355A2-8013-2DF0-D3A4-A9C45C80CB3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FEE22E-6504-7145-ACC0-C954B0BF4ACE}"/>
              </a:ext>
            </a:extLst>
          </p:cNvPr>
          <p:cNvSpPr>
            <a:spLocks noGrp="1"/>
          </p:cNvSpPr>
          <p:nvPr>
            <p:ph type="body" sz="quarter" idx="3"/>
          </p:nvPr>
        </p:nvSpPr>
        <p:spPr/>
        <p:txBody>
          <a:bodyPr/>
          <a:lstStyle/>
          <a:p>
            <a:r>
              <a:t>Counts are hard to compare because the groups differ in size (more women than men answered). Dividing each count by its column total gives the percentage of men and of women in each answer category. That is the comparison we want: are men or women more trusting?</a:t>
            </a:r>
          </a:p>
        </p:txBody>
      </p:sp>
      <p:sp>
        <p:nvSpPr>
          <p:cNvPr id="4" name="Slide Number Placeholder 3">
            <a:extLst>
              <a:ext uri="{FF2B5EF4-FFF2-40B4-BE49-F238E27FC236}">
                <a16:creationId xmlns:a16="http://schemas.microsoft.com/office/drawing/2014/main" id="{8F68EE63-F5AB-A63B-D4A3-34C50CE79194}"/>
              </a:ext>
            </a:extLst>
          </p:cNvPr>
          <p:cNvSpPr>
            <a:spLocks noGrp="1"/>
          </p:cNvSpPr>
          <p:nvPr>
            <p:ph type="sldNum" sz="quarter" idx="5"/>
          </p:nvPr>
        </p:nvSpPr>
        <p:spPr/>
      </p:sp>
    </p:spTree>
    <p:extLst>
      <p:ext uri="{BB962C8B-B14F-4D97-AF65-F5344CB8AC3E}">
        <p14:creationId xmlns:p14="http://schemas.microsoft.com/office/powerpoint/2010/main" val="412893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165C9-3769-D870-7465-AAC2AB5F8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DE6EB-666E-A516-592F-DECFCA75D97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04EA350-4C33-EE11-623B-B28B70AD2F31}"/>
              </a:ext>
            </a:extLst>
          </p:cNvPr>
          <p:cNvSpPr>
            <a:spLocks noGrp="1"/>
          </p:cNvSpPr>
          <p:nvPr>
            <p:ph type="body" sz="quarter" idx="3"/>
          </p:nvPr>
        </p:nvSpPr>
        <p:spPr/>
        <p:txBody>
          <a:bodyPr/>
          <a:lstStyle/>
          <a:p>
            <a:r>
              <a:t>Counts are hard to compare because the groups differ in size (more women than men answered). Dividing each count by its column total gives the percentage of men and of women in each answer category. That is the comparison we want: are men or women more trusting?</a:t>
            </a:r>
          </a:p>
        </p:txBody>
      </p:sp>
      <p:sp>
        <p:nvSpPr>
          <p:cNvPr id="4" name="Slide Number Placeholder 3">
            <a:extLst>
              <a:ext uri="{FF2B5EF4-FFF2-40B4-BE49-F238E27FC236}">
                <a16:creationId xmlns:a16="http://schemas.microsoft.com/office/drawing/2014/main" id="{28648BAB-BE95-0D21-8132-B89BF0DC1276}"/>
              </a:ext>
            </a:extLst>
          </p:cNvPr>
          <p:cNvSpPr>
            <a:spLocks noGrp="1"/>
          </p:cNvSpPr>
          <p:nvPr>
            <p:ph type="sldNum" sz="quarter" idx="5"/>
          </p:nvPr>
        </p:nvSpPr>
        <p:spPr/>
      </p:sp>
    </p:spTree>
    <p:extLst>
      <p:ext uri="{BB962C8B-B14F-4D97-AF65-F5344CB8AC3E}">
        <p14:creationId xmlns:p14="http://schemas.microsoft.com/office/powerpoint/2010/main" val="466051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100% stacked bar is the picture of the column percentages. The gap between the dark segments is the association.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JASP shows for Worksheet 2, Exercise 1.1, with only column percentages ticked. (1) Rows hold the outcome, trust on the 0 to 10 scale. (2) Columns hold the groups. (3) Each column adds up to 100%, so the comparison runs along a row: at 7, 21.9% of men and 18.5% of women. (4) The Total column is the overall distribution. (5) Summing rows makes the pattern easier to state: 40% of men and 36% of women answered 7 or more. (6) The chi-squared test asks whether a difference this size could arise by chance: Χ² = 16.1 with 10 df, p = 0.10. Week 5 explains how to read it; the worksheet hides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Citizenship Survey 2010-11, column percentages. 3 minutes in pairs. Answers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Real data. On </a:t>
            </a:r>
            <a:r>
              <a:rPr dirty="0" err="1"/>
              <a:t>ppltrst</a:t>
            </a:r>
            <a:r>
              <a:rPr dirty="0"/>
              <a:t> the three measures disagree: mean 5.40, median 6, mode 7. More people answer above the middle of the scale than below, but a tail of very low answers (0 to 2) pulls the mean down. This mild left skew is the same mechanism as the income example, in the opposite direction.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data rarely look like textbook curves. Age in the UK ESS sample is fairly flat from the early 30s to the late 70s, thins out at both ends, and mean and median are almost the same. Ask: why are there so few respondents under 25? (The ESS samples people aged 15+; young people are also harder to reach.)</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Synthetic example: two towns with the same mean income (£</a:t>
            </a:r>
            <a:r>
              <a:rPr dirty="0" err="1"/>
              <a:t>30k</a:t>
            </a:r>
            <a:r>
              <a:rPr dirty="0"/>
              <a:t>) but very different spread. Reporting only the average hides inequality. For sociologists, spread is often the story.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Synthetic example: five trust scores. Deviations always add up to zero, which is why we square them. We divide by n - 1 for a sample. The square root brings us back to the original units: a typical answer is about 2 points from the mean.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data. The box covers the middle half of respondents (25th to 75th percentile: 4 to 7); the line inside is the median (6). The whiskers run to the most extreme answers within 1.5 IQRs of the box, here the ends of the scale. The diamond marks the mean (5.4). In Week 2 we use box plots to compare groups.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ESS 0-10 trust by gender. Men score 0.27 points higher on average; the medians differ by a full point because the data are whole numbers. The bars show one standard deviation either side of each mean: the gap between groups is tiny compared with the spread within each group.</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Box plots for men and women on the 0-10 scale (whiskers to the most extreme values within 1.5 IQR, here the ends of the scale). Medians differ by one point, the boxes overlap almost completely. This is what you create in Worksheet 2, Exercise 1.2.</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Synthetic example. In both panels the group means differ by exactly one point. With little spread (left) the groups barely overlap and the gap is substantial; with wide spread (right) most members of both groups look alike. The real ESS gender gap (0.27 points, SD about 2.3) is even smaller relative to its spread than the right panel.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Community Life Survey 2023-24 (England), mean trust on 0-10 by age group. Ask for one sentence. Good answers: trust is lowest among people under 35 (about 5.4 to 5.6) and rises steadily from the mid-30s to about 7 among those 75+. Note that 16-24s are not lower than 25-34s. To answer 'are young people less trusting?' we must decide which groups to compare: we return to this exact question in Week 4.</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Synthetic example: four samples of 80 cases. Pearson's r runs from -1 to +1. The sign gives the direction (does the cloud go up or down?) and the size gives the strength (how tightly the points hug a straight line).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Synthetic example: y depends very strongly on x, but the relationship is U-shaped, so Pearson's r is almost exactly zero. r measures linear association only. Always look at the scatter plot before you trust a correlation.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8BDFEC3-8487-43E8-A154-7C12CBC1FFF2}" type="slidenum">
              <a:rPr lang="en-US" smtClean="0"/>
              <a:t>31</a:t>
            </a:fld>
            <a:endParaRPr lang="en-US"/>
          </a:p>
        </p:txBody>
      </p:sp>
    </p:spTree>
    <p:extLst>
      <p:ext uri="{BB962C8B-B14F-4D97-AF65-F5344CB8AC3E}">
        <p14:creationId xmlns:p14="http://schemas.microsoft.com/office/powerpoint/2010/main" val="41334589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8BDFEC3-8487-43E8-A154-7C12CBC1FFF2}" type="slidenum">
              <a:rPr lang="en-US" smtClean="0"/>
              <a:t>32</a:t>
            </a:fld>
            <a:endParaRPr lang="en-US"/>
          </a:p>
        </p:txBody>
      </p:sp>
    </p:spTree>
    <p:extLst>
      <p:ext uri="{BB962C8B-B14F-4D97-AF65-F5344CB8AC3E}">
        <p14:creationId xmlns:p14="http://schemas.microsoft.com/office/powerpoint/2010/main" val="9008535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Worksheet 2, Exercise 3: the data behind Figure 4.1 in Wilkinson and Pickett. Each dot is a country. Trust is the percentage who say most people can be trusted; inequality is how many times more income the richest fifth receives than the poorest fifth. The correlation is -0.66: strong and negative. Portugal and Singapore sit low right; the Nordic countries high left.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Worksheet 2, Exercise 3b: the 2024 update (Pickett et al.) covers 43 countries, including middle-income countries such as Brazil, India and China. With the Gini coefficient the correlation is moderate. With the quintile ratio it almost disappears, because of one country: China combines very high measured inequality (ratio 28) with high measured trust. Removing it brings r back to about -0.6. One case can change a correlation; and when a dataset adds very different countries, we are no longer studying the same population.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correlations with Trust in the 23-country Spirit Level data. Inequality stands out. Remember these are country-level associations: they say nothing directly about whether unequal individuals trust less (the ecological fallacy).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explanations for the same correlation. A: Wilkinson and Pickett's argument: inequality widens social distance and status competition, which erodes trust. B: trusting societies are more willing to support redistribution and welfare states, which reduce inequality. C: something else drives both, e.g. long histories of strong institutions, or religious traditions (Delhey &amp; Newton, Week 3). A correlation alone cannot tell them apart. Next week, regression lets us adjust for some third factors.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comparisons from the lecture written up as they might appear in the assignment: percentages within groups, a difference in means set against the spread, and a correlation with its direction and strength.</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Week 2 Interactive Explorer page (https://cgmoreh.github.io/SOC2069-QUANT-26/Materials/Explorers/explorer_w2.html) has interactive versions of ideas from this lecture. Students can scan the code or follow the link from the course site and try the three tasks on the slide.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9572702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5810384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s://github.com/CGMoreh" TargetMode="External"/><Relationship Id="rId13" Type="http://schemas.openxmlformats.org/officeDocument/2006/relationships/image" Target="../media/image6.png"/><Relationship Id="rId3" Type="http://schemas.openxmlformats.org/officeDocument/2006/relationships/hyperlink" Target="https://www.ncl.ac.uk/gps/staff/profile/chrismoreh.html" TargetMode="External"/><Relationship Id="rId7" Type="http://schemas.openxmlformats.org/officeDocument/2006/relationships/hyperlink" Target="https://www.chrismoreh.com/" TargetMode="External"/><Relationship Id="rId12"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mailto:chris.moreh@ncl.ac.uk" TargetMode="External"/><Relationship Id="rId11" Type="http://schemas.openxmlformats.org/officeDocument/2006/relationships/image" Target="../media/image4.png"/><Relationship Id="rId5" Type="http://schemas.openxmlformats.org/officeDocument/2006/relationships/image" Target="../media/image3.svg"/><Relationship Id="rId15" Type="http://schemas.openxmlformats.org/officeDocument/2006/relationships/image" Target="../media/image8.png"/><Relationship Id="rId10" Type="http://schemas.openxmlformats.org/officeDocument/2006/relationships/hyperlink" Target="https://www.linkedin.com/in/cgm-phd/" TargetMode="External"/><Relationship Id="rId4" Type="http://schemas.openxmlformats.org/officeDocument/2006/relationships/image" Target="../media/image2.png"/><Relationship Id="rId9" Type="http://schemas.openxmlformats.org/officeDocument/2006/relationships/hyperlink" Target="https://twitter.com/cgmoreh" TargetMode="External"/><Relationship Id="rId1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svg"/><Relationship Id="rId18" Type="http://schemas.openxmlformats.org/officeDocument/2006/relationships/image" Target="../media/image26.svg"/><Relationship Id="rId3" Type="http://schemas.openxmlformats.org/officeDocument/2006/relationships/image" Target="../media/image11.svg"/><Relationship Id="rId21" Type="http://schemas.openxmlformats.org/officeDocument/2006/relationships/image" Target="../media/image29.svg"/><Relationship Id="rId7" Type="http://schemas.openxmlformats.org/officeDocument/2006/relationships/image" Target="../media/image15.svg"/><Relationship Id="rId12" Type="http://schemas.openxmlformats.org/officeDocument/2006/relationships/image" Target="../media/image20.svg"/><Relationship Id="rId17" Type="http://schemas.openxmlformats.org/officeDocument/2006/relationships/image" Target="../media/image25.svg"/><Relationship Id="rId2" Type="http://schemas.openxmlformats.org/officeDocument/2006/relationships/image" Target="../media/image10.svg"/><Relationship Id="rId16" Type="http://schemas.openxmlformats.org/officeDocument/2006/relationships/image" Target="../media/image24.svg"/><Relationship Id="rId20" Type="http://schemas.openxmlformats.org/officeDocument/2006/relationships/image" Target="../media/image28.svg"/><Relationship Id="rId1" Type="http://schemas.openxmlformats.org/officeDocument/2006/relationships/slideMaster" Target="../slideMasters/slideMaster1.xml"/><Relationship Id="rId6" Type="http://schemas.openxmlformats.org/officeDocument/2006/relationships/image" Target="../media/image14.svg"/><Relationship Id="rId11" Type="http://schemas.openxmlformats.org/officeDocument/2006/relationships/image" Target="../media/image19.svg"/><Relationship Id="rId5" Type="http://schemas.openxmlformats.org/officeDocument/2006/relationships/image" Target="../media/image13.svg"/><Relationship Id="rId15" Type="http://schemas.openxmlformats.org/officeDocument/2006/relationships/image" Target="../media/image23.svg"/><Relationship Id="rId10" Type="http://schemas.openxmlformats.org/officeDocument/2006/relationships/image" Target="../media/image18.svg"/><Relationship Id="rId19" Type="http://schemas.openxmlformats.org/officeDocument/2006/relationships/image" Target="../media/image27.svg"/><Relationship Id="rId4" Type="http://schemas.openxmlformats.org/officeDocument/2006/relationships/image" Target="../media/image12.svg"/><Relationship Id="rId9" Type="http://schemas.openxmlformats.org/officeDocument/2006/relationships/image" Target="../media/image17.svg"/><Relationship Id="rId14" Type="http://schemas.openxmlformats.org/officeDocument/2006/relationships/image" Target="../media/image2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svg"/><Relationship Id="rId1" Type="http://schemas.openxmlformats.org/officeDocument/2006/relationships/slideMaster" Target="../slideMasters/slideMaster1.xml"/><Relationship Id="rId5" Type="http://schemas.openxmlformats.org/officeDocument/2006/relationships/image" Target="../media/image14.svg"/><Relationship Id="rId4" Type="http://schemas.openxmlformats.org/officeDocument/2006/relationships/image" Target="../media/image13.sv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6.svg"/><Relationship Id="rId7" Type="http://schemas.openxmlformats.org/officeDocument/2006/relationships/image" Target="../media/image18.svg"/><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image" Target="../media/image13.svg"/><Relationship Id="rId11" Type="http://schemas.openxmlformats.org/officeDocument/2006/relationships/image" Target="../media/image11.svg"/><Relationship Id="rId5" Type="http://schemas.openxmlformats.org/officeDocument/2006/relationships/image" Target="../media/image17.svg"/><Relationship Id="rId10" Type="http://schemas.openxmlformats.org/officeDocument/2006/relationships/image" Target="../media/image15.svg"/><Relationship Id="rId4" Type="http://schemas.openxmlformats.org/officeDocument/2006/relationships/image" Target="../media/image12.svg"/><Relationship Id="rId9" Type="http://schemas.openxmlformats.org/officeDocument/2006/relationships/image" Target="../media/image1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hyperlink" Target="https://www.chrismoreh.com/" TargetMode="External"/><Relationship Id="rId13" Type="http://schemas.openxmlformats.org/officeDocument/2006/relationships/image" Target="../media/image5.png"/><Relationship Id="rId3" Type="http://schemas.openxmlformats.org/officeDocument/2006/relationships/image" Target="../media/image30.png"/><Relationship Id="rId7" Type="http://schemas.openxmlformats.org/officeDocument/2006/relationships/hyperlink" Target="mailto:chris.moreh@ncl.ac.uk" TargetMode="External"/><Relationship Id="rId12" Type="http://schemas.openxmlformats.org/officeDocument/2006/relationships/image" Target="../media/image4.png"/><Relationship Id="rId17" Type="http://schemas.openxmlformats.org/officeDocument/2006/relationships/image" Target="../media/image32.png"/><Relationship Id="rId2" Type="http://schemas.openxmlformats.org/officeDocument/2006/relationships/image" Target="../media/image2.png"/><Relationship Id="rId16"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3.svg"/><Relationship Id="rId11" Type="http://schemas.openxmlformats.org/officeDocument/2006/relationships/hyperlink" Target="https://www.linkedin.com/in/cgm-phd/" TargetMode="External"/><Relationship Id="rId5" Type="http://schemas.openxmlformats.org/officeDocument/2006/relationships/image" Target="../media/image31.svg"/><Relationship Id="rId15" Type="http://schemas.openxmlformats.org/officeDocument/2006/relationships/image" Target="../media/image7.png"/><Relationship Id="rId10" Type="http://schemas.openxmlformats.org/officeDocument/2006/relationships/hyperlink" Target="https://twitter.com/cgmoreh" TargetMode="External"/><Relationship Id="rId4" Type="http://schemas.microsoft.com/office/2007/relationships/hdphoto" Target="../media/hdphoto1.wdp"/><Relationship Id="rId9" Type="http://schemas.openxmlformats.org/officeDocument/2006/relationships/hyperlink" Target="https://github.com/CGMoreh" TargetMode="External"/><Relationship Id="rId1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alphaModFix amt="80000"/>
            <a:lum/>
          </a:blip>
          <a:srcRect/>
          <a:stretch>
            <a:fillRect l="2000" r="2000" b="27000"/>
          </a:stretch>
        </a:blip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Date Placeholder 3"/>
          <p:cNvSpPr>
            <a:spLocks noGrp="1"/>
          </p:cNvSpPr>
          <p:nvPr>
            <p:ph type="dt" sz="half" idx="10"/>
          </p:nvPr>
        </p:nvSpPr>
        <p:spPr/>
        <p:txBody>
          <a:bodyPr/>
          <a:lstStyle/>
          <a:p>
            <a:fld id="{C3341B7A-765B-486D-9AD4-54099141EBE5}" type="datetimeyyyy">
              <a:rPr lang="en-US" smtClean="0"/>
              <a:t>2026</a:t>
            </a:fld>
            <a:endParaRPr lang="en-GB"/>
          </a:p>
        </p:txBody>
      </p:sp>
      <p:sp>
        <p:nvSpPr>
          <p:cNvPr id="5" name="Footer Placeholder 4"/>
          <p:cNvSpPr>
            <a:spLocks noGrp="1"/>
          </p:cNvSpPr>
          <p:nvPr>
            <p:ph type="ftr" sz="quarter" idx="11"/>
          </p:nvPr>
        </p:nvSpPr>
        <p:spPr/>
        <p:txBody>
          <a:bodyPr/>
          <a:lstStyle/>
          <a:p>
            <a:r>
              <a:rPr lang="en-GB"/>
              <a:t>Comparisons and Associations</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dirty="0"/>
          </a:p>
        </p:txBody>
      </p:sp>
      <p:cxnSp>
        <p:nvCxnSpPr>
          <p:cNvPr id="9" name="Straight Connector 8"/>
          <p:cNvCxnSpPr/>
          <p:nvPr/>
        </p:nvCxnSpPr>
        <p:spPr>
          <a:xfrm>
            <a:off x="1207658" y="4598116"/>
            <a:ext cx="987552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64B1F7A-19A6-1CF3-BEAB-784AD8D53EB1}"/>
              </a:ext>
            </a:extLst>
          </p:cNvPr>
          <p:cNvSpPr txBox="1"/>
          <p:nvPr userDrawn="1"/>
        </p:nvSpPr>
        <p:spPr>
          <a:xfrm>
            <a:off x="1076962" y="4981037"/>
            <a:ext cx="3298623" cy="892552"/>
          </a:xfrm>
          <a:prstGeom prst="rect">
            <a:avLst/>
          </a:prstGeom>
          <a:noFill/>
        </p:spPr>
        <p:txBody>
          <a:bodyPr wrap="square" rtlCol="0">
            <a:spAutoFit/>
          </a:bodyPr>
          <a:lstStyle/>
          <a:p>
            <a:pPr algn="ctr"/>
            <a:r>
              <a:rPr lang="en-GB" sz="2400" b="1" dirty="0">
                <a:hlinkClick r:id="rId3"/>
              </a:rPr>
              <a:t>Dr Chris Moreh</a:t>
            </a:r>
            <a:endParaRPr lang="en-GB" sz="2400" b="1" dirty="0"/>
          </a:p>
          <a:p>
            <a:pPr algn="ctr"/>
            <a:r>
              <a:rPr lang="en-GB" sz="1400" b="1" dirty="0">
                <a:solidFill>
                  <a:schemeClr val="tx1">
                    <a:lumMod val="50000"/>
                    <a:lumOff val="50000"/>
                  </a:schemeClr>
                </a:solidFill>
              </a:rPr>
              <a:t>Lecturer (Assistant Professor) in Sociology</a:t>
            </a:r>
          </a:p>
          <a:p>
            <a:pPr algn="ctr"/>
            <a:r>
              <a:rPr lang="en-GB" sz="1400" b="1" dirty="0">
                <a:solidFill>
                  <a:schemeClr val="tx1">
                    <a:lumMod val="50000"/>
                    <a:lumOff val="50000"/>
                  </a:schemeClr>
                </a:solidFill>
              </a:rPr>
              <a:t>Newcastle University (UK)</a:t>
            </a:r>
          </a:p>
        </p:txBody>
      </p:sp>
      <p:pic>
        <p:nvPicPr>
          <p:cNvPr id="17" name="Picture 12" descr="Partners; Sustaining Creative Economies ...">
            <a:extLst>
              <a:ext uri="{FF2B5EF4-FFF2-40B4-BE49-F238E27FC236}">
                <a16:creationId xmlns:a16="http://schemas.microsoft.com/office/drawing/2014/main" id="{5E3F19EF-7B80-6D97-E3A7-968224B76271}"/>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10275782" y="5643250"/>
            <a:ext cx="879898" cy="492743"/>
          </a:xfrm>
          <a:prstGeom prst="rect">
            <a:avLst/>
          </a:prstGeom>
          <a:noFill/>
          <a:extLst>
            <a:ext uri="{909E8E84-426E-40DD-AFC4-6F175D3DCCD1}">
              <a14:hiddenFill xmlns:a14="http://schemas.microsoft.com/office/drawing/2010/main">
                <a:solidFill>
                  <a:srgbClr val="FFFFFF"/>
                </a:solidFill>
              </a14:hiddenFill>
            </a:ext>
          </a:extLst>
        </p:spPr>
      </p:pic>
      <p:pic>
        <p:nvPicPr>
          <p:cNvPr id="18" name="Graphic 17">
            <a:extLst>
              <a:ext uri="{FF2B5EF4-FFF2-40B4-BE49-F238E27FC236}">
                <a16:creationId xmlns:a16="http://schemas.microsoft.com/office/drawing/2014/main" id="{D47E78DF-0172-CCB2-A101-66933B09714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616809" y="5001457"/>
            <a:ext cx="2466369" cy="811928"/>
          </a:xfrm>
          <a:prstGeom prst="rect">
            <a:avLst/>
          </a:prstGeom>
        </p:spPr>
      </p:pic>
      <p:sp>
        <p:nvSpPr>
          <p:cNvPr id="19" name="TextBox 18">
            <a:extLst>
              <a:ext uri="{FF2B5EF4-FFF2-40B4-BE49-F238E27FC236}">
                <a16:creationId xmlns:a16="http://schemas.microsoft.com/office/drawing/2014/main" id="{D366C7AD-815A-A77E-DFE5-343F532EBF9A}"/>
              </a:ext>
            </a:extLst>
          </p:cNvPr>
          <p:cNvSpPr txBox="1"/>
          <p:nvPr userDrawn="1"/>
        </p:nvSpPr>
        <p:spPr>
          <a:xfrm>
            <a:off x="5214979" y="4804497"/>
            <a:ext cx="2582537" cy="1323439"/>
          </a:xfrm>
          <a:prstGeom prst="rect">
            <a:avLst/>
          </a:prstGeom>
          <a:noFill/>
        </p:spPr>
        <p:txBody>
          <a:bodyPr wrap="square" rtlCol="0">
            <a:spAutoFit/>
          </a:bodyPr>
          <a:lstStyle/>
          <a:p>
            <a:pPr marL="180000">
              <a:spcBef>
                <a:spcPts val="0"/>
              </a:spcBef>
            </a:pPr>
            <a:r>
              <a:rPr lang="en-GB" sz="1600" b="0" dirty="0">
                <a:latin typeface="Arial Nova Cond Light" panose="020B0306020202020204" pitchFamily="34" charset="0"/>
                <a:cs typeface="Courier New" panose="02070309020205020404" pitchFamily="49" charset="0"/>
                <a:hlinkClick r:id="rId6"/>
              </a:rPr>
              <a:t>chris.moreh@ncl.ac.uk</a:t>
            </a:r>
            <a:endParaRPr lang="en-GB" sz="1600" b="0" dirty="0">
              <a:latin typeface="Arial Nova Cond Light" panose="020B0306020202020204" pitchFamily="34" charset="0"/>
              <a:cs typeface="Courier New" panose="02070309020205020404" pitchFamily="49" charset="0"/>
              <a:hlinkClick r:id="rId7"/>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7"/>
              </a:rPr>
              <a:t>chrismoreh.com</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8"/>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9"/>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0"/>
              </a:rPr>
              <a:t>Chris Moreh</a:t>
            </a:r>
            <a:endParaRPr lang="en-GB" sz="1600" b="0" dirty="0">
              <a:latin typeface="Arial Nova Cond Light" panose="020B0306020202020204" pitchFamily="34" charset="0"/>
              <a:cs typeface="Courier New" panose="02070309020205020404" pitchFamily="49" charset="0"/>
            </a:endParaRPr>
          </a:p>
        </p:txBody>
      </p:sp>
      <p:pic>
        <p:nvPicPr>
          <p:cNvPr id="20" name="Picture 19">
            <a:extLst>
              <a:ext uri="{FF2B5EF4-FFF2-40B4-BE49-F238E27FC236}">
                <a16:creationId xmlns:a16="http://schemas.microsoft.com/office/drawing/2014/main" id="{7149FC35-C474-B9EE-00BD-BC74BCEB8E9B}"/>
              </a:ext>
            </a:extLst>
          </p:cNvPr>
          <p:cNvPicPr>
            <a:picLocks noChangeAspect="1"/>
          </p:cNvPicPr>
          <p:nvPr userDrawn="1"/>
        </p:nvPicPr>
        <p:blipFill>
          <a:blip r:embed="rId11"/>
          <a:stretch>
            <a:fillRect/>
          </a:stretch>
        </p:blipFill>
        <p:spPr>
          <a:xfrm flipH="1">
            <a:off x="5230888" y="5140634"/>
            <a:ext cx="174474" cy="180000"/>
          </a:xfrm>
          <a:prstGeom prst="rect">
            <a:avLst/>
          </a:prstGeom>
        </p:spPr>
      </p:pic>
      <p:pic>
        <p:nvPicPr>
          <p:cNvPr id="21" name="Picture 4">
            <a:extLst>
              <a:ext uri="{FF2B5EF4-FFF2-40B4-BE49-F238E27FC236}">
                <a16:creationId xmlns:a16="http://schemas.microsoft.com/office/drawing/2014/main" id="{F9EC77A0-6416-6CCB-C929-DDC0F09623B6}"/>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5200359" y="5607125"/>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a:extLst>
              <a:ext uri="{FF2B5EF4-FFF2-40B4-BE49-F238E27FC236}">
                <a16:creationId xmlns:a16="http://schemas.microsoft.com/office/drawing/2014/main" id="{F971661E-6DFA-370A-89DD-D2BC0DED9D79}"/>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5225362" y="5875809"/>
            <a:ext cx="19125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
            <a:extLst>
              <a:ext uri="{FF2B5EF4-FFF2-40B4-BE49-F238E27FC236}">
                <a16:creationId xmlns:a16="http://schemas.microsoft.com/office/drawing/2014/main" id="{210423AF-0922-B2C9-F283-0DAD228B1889}"/>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194877" y="5353572"/>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Email Icon Clip Art , Royalty PNG Transparent Background, Free Download  #130 - FreeIconsPNG">
            <a:extLst>
              <a:ext uri="{FF2B5EF4-FFF2-40B4-BE49-F238E27FC236}">
                <a16:creationId xmlns:a16="http://schemas.microsoft.com/office/drawing/2014/main" id="{A29CD3B3-0963-AF7B-DAAC-629686F339AC}"/>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5225888" y="4898445"/>
            <a:ext cx="176400" cy="1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3529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E3F75-4629-998C-D4E2-8B503E840A60}"/>
              </a:ext>
            </a:extLst>
          </p:cNvPr>
          <p:cNvSpPr>
            <a:spLocks noGrp="1"/>
          </p:cNvSpPr>
          <p:nvPr>
            <p:ph type="title"/>
          </p:nvPr>
        </p:nvSpPr>
        <p:spPr>
          <a:xfrm>
            <a:off x="756746" y="286604"/>
            <a:ext cx="9578516" cy="911576"/>
          </a:xfrm>
        </p:spPr>
        <p:txBody>
          <a:bodyPr/>
          <a:lstStyle>
            <a:lvl1pPr>
              <a:defRPr b="1"/>
            </a:lvl1pPr>
          </a:lstStyle>
          <a:p>
            <a:r>
              <a:rPr lang="en-GB" dirty="0"/>
              <a:t>Click to edit Master title style</a:t>
            </a:r>
          </a:p>
        </p:txBody>
      </p:sp>
      <p:sp>
        <p:nvSpPr>
          <p:cNvPr id="3" name="Date Placeholder 2">
            <a:extLst>
              <a:ext uri="{FF2B5EF4-FFF2-40B4-BE49-F238E27FC236}">
                <a16:creationId xmlns:a16="http://schemas.microsoft.com/office/drawing/2014/main" id="{57160149-4935-39AC-F9A6-3A67DF92E54A}"/>
              </a:ext>
            </a:extLst>
          </p:cNvPr>
          <p:cNvSpPr>
            <a:spLocks noGrp="1"/>
          </p:cNvSpPr>
          <p:nvPr>
            <p:ph type="dt" sz="half" idx="10"/>
          </p:nvPr>
        </p:nvSpPr>
        <p:spPr/>
        <p:txBody>
          <a:bodyPr/>
          <a:lstStyle/>
          <a:p>
            <a:fld id="{397B0674-3846-44DE-B932-73AFFCB18132}" type="datetimeyyyy">
              <a:rPr lang="en-US" smtClean="0"/>
              <a:t>2026</a:t>
            </a:fld>
            <a:endParaRPr lang="en-GB"/>
          </a:p>
        </p:txBody>
      </p:sp>
      <p:sp>
        <p:nvSpPr>
          <p:cNvPr id="4" name="Footer Placeholder 3">
            <a:extLst>
              <a:ext uri="{FF2B5EF4-FFF2-40B4-BE49-F238E27FC236}">
                <a16:creationId xmlns:a16="http://schemas.microsoft.com/office/drawing/2014/main" id="{8DAF1058-E5AB-75EB-3440-399DB9E1D9B9}"/>
              </a:ext>
            </a:extLst>
          </p:cNvPr>
          <p:cNvSpPr>
            <a:spLocks noGrp="1"/>
          </p:cNvSpPr>
          <p:nvPr>
            <p:ph type="ftr" sz="quarter" idx="11"/>
          </p:nvPr>
        </p:nvSpPr>
        <p:spPr/>
        <p:txBody>
          <a:bodyPr/>
          <a:lstStyle/>
          <a:p>
            <a:r>
              <a:rPr lang="en-GB"/>
              <a:t>Comparisons and Associations</a:t>
            </a:r>
          </a:p>
        </p:txBody>
      </p:sp>
      <p:sp>
        <p:nvSpPr>
          <p:cNvPr id="5" name="Slide Number Placeholder 4">
            <a:extLst>
              <a:ext uri="{FF2B5EF4-FFF2-40B4-BE49-F238E27FC236}">
                <a16:creationId xmlns:a16="http://schemas.microsoft.com/office/drawing/2014/main" id="{0A3AAE89-1CB8-B1D2-4FC2-01A5F9359E58}"/>
              </a:ext>
            </a:extLst>
          </p:cNvPr>
          <p:cNvSpPr>
            <a:spLocks noGrp="1"/>
          </p:cNvSpPr>
          <p:nvPr>
            <p:ph type="sldNum" sz="quarter" idx="12"/>
          </p:nvPr>
        </p:nvSpPr>
        <p:spPr/>
        <p:txBody>
          <a:bodyPr/>
          <a:lstStyle/>
          <a:p>
            <a:fld id="{9FAA51BB-2FC0-4DB8-B50E-F52D50E733B6}" type="slidenum">
              <a:rPr lang="en-GB" smtClean="0"/>
              <a:t>‹#›</a:t>
            </a:fld>
            <a:endParaRPr lang="en-GB"/>
          </a:p>
        </p:txBody>
      </p:sp>
      <p:pic>
        <p:nvPicPr>
          <p:cNvPr id="6" name="Picture 5" descr="A black background with text and colorful dots&#10;&#10;Description automatically generated">
            <a:extLst>
              <a:ext uri="{FF2B5EF4-FFF2-40B4-BE49-F238E27FC236}">
                <a16:creationId xmlns:a16="http://schemas.microsoft.com/office/drawing/2014/main" id="{064384DD-349E-96E1-9F2A-86B3CB91ED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5261" y="286604"/>
            <a:ext cx="1640837" cy="911576"/>
          </a:xfrm>
          <a:prstGeom prst="rect">
            <a:avLst/>
          </a:prstGeom>
        </p:spPr>
      </p:pic>
    </p:spTree>
    <p:extLst>
      <p:ext uri="{BB962C8B-B14F-4D97-AF65-F5344CB8AC3E}">
        <p14:creationId xmlns:p14="http://schemas.microsoft.com/office/powerpoint/2010/main" val="29002772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745" y="286604"/>
            <a:ext cx="9448800" cy="911576"/>
          </a:xfrm>
        </p:spPr>
        <p:txBody>
          <a:bodyPr/>
          <a:lstStyle>
            <a:lvl1pPr marL="0">
              <a:defRPr b="1"/>
            </a:lvl1pPr>
          </a:lstStyle>
          <a:p>
            <a:r>
              <a:rPr lang="en-GB" dirty="0"/>
              <a:t>Click to edit Master title style</a:t>
            </a:r>
            <a:endParaRPr lang="en-US" dirty="0"/>
          </a:p>
        </p:txBody>
      </p:sp>
      <p:sp>
        <p:nvSpPr>
          <p:cNvPr id="3" name="Content Placeholder 2"/>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Date Placeholder 3"/>
          <p:cNvSpPr>
            <a:spLocks noGrp="1"/>
          </p:cNvSpPr>
          <p:nvPr>
            <p:ph type="dt" sz="half" idx="10"/>
          </p:nvPr>
        </p:nvSpPr>
        <p:spPr/>
        <p:txBody>
          <a:bodyPr/>
          <a:lstStyle>
            <a:lvl1pPr>
              <a:defRPr sz="1200"/>
            </a:lvl1pPr>
          </a:lstStyle>
          <a:p>
            <a:fld id="{51E9A2C8-4954-4917-95AD-C0FFB15EAFC5}" type="datetimeyyyy">
              <a:rPr lang="en-US" smtClean="0"/>
              <a:t>2026</a:t>
            </a:fld>
            <a:endParaRPr lang="en-GB"/>
          </a:p>
        </p:txBody>
      </p:sp>
      <p:sp>
        <p:nvSpPr>
          <p:cNvPr id="5" name="Footer Placeholder 4"/>
          <p:cNvSpPr>
            <a:spLocks noGrp="1"/>
          </p:cNvSpPr>
          <p:nvPr>
            <p:ph type="ftr" sz="quarter" idx="11"/>
          </p:nvPr>
        </p:nvSpPr>
        <p:spPr/>
        <p:txBody>
          <a:bodyPr/>
          <a:lstStyle/>
          <a:p>
            <a:r>
              <a:rPr lang="en-GB"/>
              <a:t>Comparisons and Associations</a:t>
            </a:r>
            <a:endParaRPr lang="en-GB" dirty="0"/>
          </a:p>
        </p:txBody>
      </p:sp>
      <p:sp>
        <p:nvSpPr>
          <p:cNvPr id="6" name="Slide Number Placeholder 5"/>
          <p:cNvSpPr>
            <a:spLocks noGrp="1"/>
          </p:cNvSpPr>
          <p:nvPr>
            <p:ph type="sldNum" sz="quarter" idx="12"/>
          </p:nvPr>
        </p:nvSpPr>
        <p:spPr/>
        <p:txBody>
          <a:bodyPr/>
          <a:lstStyle>
            <a:lvl1pPr>
              <a:defRPr sz="1200"/>
            </a:lvl1pPr>
          </a:lstStyle>
          <a:p>
            <a:fld id="{9FAA51BB-2FC0-4DB8-B50E-F52D50E733B6}" type="slidenum">
              <a:rPr lang="en-GB" smtClean="0"/>
              <a:pPr/>
              <a:t>‹#›</a:t>
            </a:fld>
            <a:endParaRPr lang="en-GB" dirty="0"/>
          </a:p>
        </p:txBody>
      </p:sp>
      <p:pic>
        <p:nvPicPr>
          <p:cNvPr id="8" name="Picture 7" descr="A black background with text and colorful dots&#10;&#10;Description automatically generated">
            <a:extLst>
              <a:ext uri="{FF2B5EF4-FFF2-40B4-BE49-F238E27FC236}">
                <a16:creationId xmlns:a16="http://schemas.microsoft.com/office/drawing/2014/main" id="{77856388-EE09-056A-2FE4-8DA8669CE6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5261" y="286604"/>
            <a:ext cx="1640837" cy="911576"/>
          </a:xfrm>
          <a:prstGeom prst="rect">
            <a:avLst/>
          </a:prstGeom>
        </p:spPr>
      </p:pic>
    </p:spTree>
    <p:extLst>
      <p:ext uri="{BB962C8B-B14F-4D97-AF65-F5344CB8AC3E}">
        <p14:creationId xmlns:p14="http://schemas.microsoft.com/office/powerpoint/2010/main" val="25952513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DB34FF4-3D70-4158-B811-7C8DA91C23B2}" type="datetimeyyyy">
              <a:rPr lang="en-US" smtClean="0"/>
              <a:t>2026</a:t>
            </a:fld>
            <a:endParaRPr lang="en-GB"/>
          </a:p>
        </p:txBody>
      </p:sp>
      <p:sp>
        <p:nvSpPr>
          <p:cNvPr id="5" name="Footer Placeholder 4"/>
          <p:cNvSpPr>
            <a:spLocks noGrp="1"/>
          </p:cNvSpPr>
          <p:nvPr>
            <p:ph type="ftr" sz="quarter" idx="11"/>
          </p:nvPr>
        </p:nvSpPr>
        <p:spPr/>
        <p:txBody>
          <a:bodyPr/>
          <a:lstStyle/>
          <a:p>
            <a:r>
              <a:rPr lang="en-GB"/>
              <a:t>Comparisons and Associations</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6910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57200" y="594359"/>
            <a:ext cx="3200400" cy="2286000"/>
          </a:xfrm>
        </p:spPr>
        <p:txBody>
          <a:bodyPr anchor="b">
            <a:normAutofit/>
          </a:bodyPr>
          <a:lstStyle>
            <a:lvl1pPr>
              <a:defRPr sz="3600" b="1">
                <a:solidFill>
                  <a:srgbClr val="FFFFFF"/>
                </a:solidFill>
              </a:defRPr>
            </a:lvl1pPr>
          </a:lstStyle>
          <a:p>
            <a:r>
              <a:rPr lang="en-GB" dirty="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79DE7DF-2722-4D58-9140-767B9146CBFF}" type="datetimeyyyy">
              <a:rPr lang="en-US" smtClean="0"/>
              <a:t>2026</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GB"/>
              <a:t>Comparisons and Associations</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FAA51BB-2FC0-4DB8-B50E-F52D50E733B6}" type="slidenum">
              <a:rPr lang="en-GB" smtClean="0"/>
              <a:t>‹#›</a:t>
            </a:fld>
            <a:endParaRPr lang="en-GB"/>
          </a:p>
        </p:txBody>
      </p:sp>
    </p:spTree>
    <p:extLst>
      <p:ext uri="{BB962C8B-B14F-4D97-AF65-F5344CB8AC3E}">
        <p14:creationId xmlns:p14="http://schemas.microsoft.com/office/powerpoint/2010/main" val="5297533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bg>
      <p:bgPr>
        <a:blipFill dpi="0" rotWithShape="1">
          <a:blip r:embed="rId2">
            <a:lum/>
          </a:blip>
          <a:srcRect/>
          <a:stretch>
            <a:fillRect l="-1000" r="-1000" b="6000"/>
          </a:stretch>
        </a:blipFill>
        <a:effectLst/>
      </p:bgPr>
    </p:bg>
    <p:spTree>
      <p:nvGrpSpPr>
        <p:cNvPr id="1" name=""/>
        <p:cNvGrpSpPr/>
        <p:nvPr/>
      </p:nvGrpSpPr>
      <p:grpSpPr>
        <a:xfrm>
          <a:off x="0" y="0"/>
          <a:ext cx="0" cy="0"/>
          <a:chOff x="0" y="0"/>
          <a:chExt cx="0" cy="0"/>
        </a:xfrm>
      </p:grpSpPr>
      <p:sp>
        <p:nvSpPr>
          <p:cNvPr id="8" name="Rectangle 7"/>
          <p:cNvSpPr/>
          <p:nvPr/>
        </p:nvSpPr>
        <p:spPr>
          <a:xfrm>
            <a:off x="5539630" y="1128947"/>
            <a:ext cx="6468395" cy="31162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5664452" y="1340856"/>
            <a:ext cx="6218753" cy="1475916"/>
          </a:xfrm>
        </p:spPr>
        <p:txBody>
          <a:bodyPr lIns="91440" tIns="0" rIns="91440" bIns="0" anchor="b">
            <a:noAutofit/>
          </a:bodyPr>
          <a:lstStyle>
            <a:lvl1pPr>
              <a:defRPr sz="5400" b="1">
                <a:solidFill>
                  <a:srgbClr val="FFFFFF"/>
                </a:solidFill>
              </a:defRPr>
            </a:lvl1pPr>
          </a:lstStyle>
          <a:p>
            <a:r>
              <a:rPr lang="en-GB" dirty="0"/>
              <a:t>Click to edit Master title style</a:t>
            </a:r>
            <a:endParaRPr lang="en-US" dirty="0"/>
          </a:p>
        </p:txBody>
      </p:sp>
      <p:sp>
        <p:nvSpPr>
          <p:cNvPr id="4" name="Text Placeholder 3"/>
          <p:cNvSpPr>
            <a:spLocks noGrp="1"/>
          </p:cNvSpPr>
          <p:nvPr>
            <p:ph type="body" sz="half" idx="2"/>
          </p:nvPr>
        </p:nvSpPr>
        <p:spPr>
          <a:xfrm>
            <a:off x="5664452" y="3094377"/>
            <a:ext cx="6218753" cy="972284"/>
          </a:xfrm>
        </p:spPr>
        <p:txBody>
          <a:bodyPr lIns="91440" tIns="0" rIns="91440" bIns="0">
            <a:normAutofit/>
          </a:bodyPr>
          <a:lstStyle>
            <a:lvl1pPr marL="0" indent="0">
              <a:spcBef>
                <a:spcPts val="0"/>
              </a:spcBef>
              <a:spcAft>
                <a:spcPts val="600"/>
              </a:spcAft>
              <a:buNone/>
              <a:defRPr sz="32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dirty="0"/>
              <a:t>Click to edit Master text styles</a:t>
            </a:r>
          </a:p>
        </p:txBody>
      </p:sp>
      <p:sp>
        <p:nvSpPr>
          <p:cNvPr id="5" name="Date Placeholder 4"/>
          <p:cNvSpPr>
            <a:spLocks noGrp="1"/>
          </p:cNvSpPr>
          <p:nvPr>
            <p:ph type="dt" sz="half" idx="10"/>
          </p:nvPr>
        </p:nvSpPr>
        <p:spPr/>
        <p:txBody>
          <a:bodyPr/>
          <a:lstStyle/>
          <a:p>
            <a:fld id="{54294BF6-D221-45F7-B93A-D9287680711C}" type="datetimeyyyy">
              <a:rPr lang="en-US" smtClean="0"/>
              <a:t>2026</a:t>
            </a:fld>
            <a:endParaRPr lang="en-GB"/>
          </a:p>
        </p:txBody>
      </p:sp>
      <p:sp>
        <p:nvSpPr>
          <p:cNvPr id="6" name="Footer Placeholder 5"/>
          <p:cNvSpPr>
            <a:spLocks noGrp="1"/>
          </p:cNvSpPr>
          <p:nvPr>
            <p:ph type="ftr" sz="quarter" idx="11"/>
          </p:nvPr>
        </p:nvSpPr>
        <p:spPr/>
        <p:txBody>
          <a:bodyPr/>
          <a:lstStyle/>
          <a:p>
            <a:r>
              <a:rPr lang="en-GB"/>
              <a:t>Comparisons and Associations</a:t>
            </a:r>
          </a:p>
        </p:txBody>
      </p:sp>
      <p:sp>
        <p:nvSpPr>
          <p:cNvPr id="7" name="Slide Number Placeholder 6"/>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2013173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lvl1pPr>
              <a:defRPr b="1"/>
            </a:lvl1pPr>
          </a:lstStyle>
          <a:p>
            <a:r>
              <a:rPr lang="en-GB" dirty="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EDB9474-1FA2-4BC0-BF8E-7469D28358E6}" type="datetimeyyyy">
              <a:rPr lang="en-US" smtClean="0"/>
              <a:t>2026</a:t>
            </a:fld>
            <a:endParaRPr lang="en-GB"/>
          </a:p>
        </p:txBody>
      </p:sp>
      <p:sp>
        <p:nvSpPr>
          <p:cNvPr id="6" name="Footer Placeholder 5"/>
          <p:cNvSpPr>
            <a:spLocks noGrp="1"/>
          </p:cNvSpPr>
          <p:nvPr>
            <p:ph type="ftr" sz="quarter" idx="11"/>
          </p:nvPr>
        </p:nvSpPr>
        <p:spPr/>
        <p:txBody>
          <a:bodyPr/>
          <a:lstStyle/>
          <a:p>
            <a:r>
              <a:rPr lang="en-GB"/>
              <a:t>Comparisons and Associations</a:t>
            </a:r>
          </a:p>
        </p:txBody>
      </p:sp>
      <p:sp>
        <p:nvSpPr>
          <p:cNvPr id="7" name="Slide Number Placeholder 6"/>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20003629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lvl1pPr>
              <a:defRPr b="1"/>
            </a:lvl1pPr>
          </a:lstStyle>
          <a:p>
            <a:r>
              <a:rPr lang="en-GB" dirty="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1697893-3790-45C4-9534-48F49FED37FC}" type="datetimeyyyy">
              <a:rPr lang="en-US" smtClean="0"/>
              <a:t>2026</a:t>
            </a:fld>
            <a:endParaRPr lang="en-GB"/>
          </a:p>
        </p:txBody>
      </p:sp>
      <p:sp>
        <p:nvSpPr>
          <p:cNvPr id="8" name="Footer Placeholder 7"/>
          <p:cNvSpPr>
            <a:spLocks noGrp="1"/>
          </p:cNvSpPr>
          <p:nvPr>
            <p:ph type="ftr" sz="quarter" idx="11"/>
          </p:nvPr>
        </p:nvSpPr>
        <p:spPr/>
        <p:txBody>
          <a:bodyPr/>
          <a:lstStyle/>
          <a:p>
            <a:r>
              <a:rPr lang="en-GB"/>
              <a:t>Comparisons and Associations</a:t>
            </a:r>
          </a:p>
        </p:txBody>
      </p:sp>
      <p:sp>
        <p:nvSpPr>
          <p:cNvPr id="9" name="Slide Number Placeholder 8"/>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0485576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GB" dirty="0"/>
              <a:t>Click to edit Master title style</a:t>
            </a:r>
            <a:endParaRPr lang="en-US" dirty="0"/>
          </a:p>
        </p:txBody>
      </p:sp>
      <p:sp>
        <p:nvSpPr>
          <p:cNvPr id="3" name="Date Placeholder 2"/>
          <p:cNvSpPr>
            <a:spLocks noGrp="1"/>
          </p:cNvSpPr>
          <p:nvPr>
            <p:ph type="dt" sz="half" idx="10"/>
          </p:nvPr>
        </p:nvSpPr>
        <p:spPr/>
        <p:txBody>
          <a:bodyPr/>
          <a:lstStyle/>
          <a:p>
            <a:fld id="{628A1337-C60E-4A63-A1E3-4A106F4610A4}" type="datetimeyyyy">
              <a:rPr lang="en-US" smtClean="0"/>
              <a:t>2026</a:t>
            </a:fld>
            <a:endParaRPr lang="en-GB"/>
          </a:p>
        </p:txBody>
      </p:sp>
      <p:sp>
        <p:nvSpPr>
          <p:cNvPr id="4" name="Footer Placeholder 3"/>
          <p:cNvSpPr>
            <a:spLocks noGrp="1"/>
          </p:cNvSpPr>
          <p:nvPr>
            <p:ph type="ftr" sz="quarter" idx="11"/>
          </p:nvPr>
        </p:nvSpPr>
        <p:spPr/>
        <p:txBody>
          <a:bodyPr/>
          <a:lstStyle/>
          <a:p>
            <a:r>
              <a:rPr lang="en-GB"/>
              <a:t>Comparisons and Associations</a:t>
            </a:r>
          </a:p>
        </p:txBody>
      </p:sp>
      <p:sp>
        <p:nvSpPr>
          <p:cNvPr id="5" name="Slide Number Placeholder 4"/>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2901765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9828485-6857-443E-ACED-151C971072B0}" type="datetimeyyyy">
              <a:rPr lang="en-US" smtClean="0"/>
              <a:t>2026</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GB"/>
              <a:t>Comparisons and Associations</a:t>
            </a:r>
          </a:p>
        </p:txBody>
      </p:sp>
      <p:sp>
        <p:nvSpPr>
          <p:cNvPr id="9" name="Slide Number Placeholder 8"/>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32694645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5E28854-50C7-416D-09D3-A8563C8533DC}"/>
              </a:ext>
            </a:extLst>
          </p:cNvPr>
          <p:cNvSpPr>
            <a:spLocks noGrp="1"/>
          </p:cNvSpPr>
          <p:nvPr>
            <p:ph type="dt" sz="half" idx="10"/>
          </p:nvPr>
        </p:nvSpPr>
        <p:spPr/>
        <p:txBody>
          <a:bodyPr/>
          <a:lstStyle/>
          <a:p>
            <a:fld id="{54A8A15F-5EDB-4365-9FF9-B2097F400F8F}" type="datetimeyyyy">
              <a:rPr lang="en-US" smtClean="0"/>
              <a:t>2026</a:t>
            </a:fld>
            <a:endParaRPr lang="en-GB" dirty="0"/>
          </a:p>
        </p:txBody>
      </p:sp>
      <p:sp>
        <p:nvSpPr>
          <p:cNvPr id="4" name="Footer Placeholder 3">
            <a:extLst>
              <a:ext uri="{FF2B5EF4-FFF2-40B4-BE49-F238E27FC236}">
                <a16:creationId xmlns:a16="http://schemas.microsoft.com/office/drawing/2014/main" id="{85343B67-CE49-0A0C-7F9C-757FF38AD817}"/>
              </a:ext>
            </a:extLst>
          </p:cNvPr>
          <p:cNvSpPr>
            <a:spLocks noGrp="1"/>
          </p:cNvSpPr>
          <p:nvPr>
            <p:ph type="ftr" sz="quarter" idx="11"/>
          </p:nvPr>
        </p:nvSpPr>
        <p:spPr/>
        <p:txBody>
          <a:bodyPr/>
          <a:lstStyle>
            <a:lvl1pPr>
              <a:defRPr/>
            </a:lvl1pPr>
          </a:lstStyle>
          <a:p>
            <a:r>
              <a:rPr lang="en-GB"/>
              <a:t>Comparisons and Associations</a:t>
            </a:r>
            <a:endParaRPr lang="en-GB" dirty="0"/>
          </a:p>
        </p:txBody>
      </p:sp>
      <p:sp>
        <p:nvSpPr>
          <p:cNvPr id="5" name="Slide Number Placeholder 4">
            <a:extLst>
              <a:ext uri="{FF2B5EF4-FFF2-40B4-BE49-F238E27FC236}">
                <a16:creationId xmlns:a16="http://schemas.microsoft.com/office/drawing/2014/main" id="{28470A5F-B5E2-79CD-FCA0-21992A61F920}"/>
              </a:ext>
            </a:extLst>
          </p:cNvPr>
          <p:cNvSpPr>
            <a:spLocks noGrp="1"/>
          </p:cNvSpPr>
          <p:nvPr>
            <p:ph type="sldNum" sz="quarter" idx="12"/>
          </p:nvPr>
        </p:nvSpPr>
        <p:spPr/>
        <p:txBody>
          <a:bodyPr/>
          <a:lstStyle/>
          <a:p>
            <a:fld id="{9FAA51BB-2FC0-4DB8-B50E-F52D50E733B6}" type="slidenum">
              <a:rPr lang="en-GB" smtClean="0"/>
              <a:pPr/>
              <a:t>‹#›</a:t>
            </a:fld>
            <a:endParaRPr lang="en-GB" dirty="0"/>
          </a:p>
        </p:txBody>
      </p:sp>
      <p:sp>
        <p:nvSpPr>
          <p:cNvPr id="6" name="Title 1">
            <a:extLst>
              <a:ext uri="{FF2B5EF4-FFF2-40B4-BE49-F238E27FC236}">
                <a16:creationId xmlns:a16="http://schemas.microsoft.com/office/drawing/2014/main" id="{904975CB-2B2F-AABC-1BEA-AC019045F8B6}"/>
              </a:ext>
            </a:extLst>
          </p:cNvPr>
          <p:cNvSpPr>
            <a:spLocks noGrp="1"/>
          </p:cNvSpPr>
          <p:nvPr>
            <p:ph type="title" hasCustomPrompt="1"/>
          </p:nvPr>
        </p:nvSpPr>
        <p:spPr>
          <a:xfrm>
            <a:off x="756745" y="286604"/>
            <a:ext cx="10398935" cy="911576"/>
          </a:xfrm>
        </p:spPr>
        <p:txBody>
          <a:bodyPr/>
          <a:lstStyle>
            <a:lvl1pPr>
              <a:defRPr/>
            </a:lvl1pPr>
          </a:lstStyle>
          <a:p>
            <a:r>
              <a:rPr lang="en-GB" b="1" dirty="0"/>
              <a:t>Numbered bullets</a:t>
            </a:r>
          </a:p>
        </p:txBody>
      </p:sp>
      <p:pic>
        <p:nvPicPr>
          <p:cNvPr id="7" name="Graphic 6" descr="Badge 1 with solid fill">
            <a:extLst>
              <a:ext uri="{FF2B5EF4-FFF2-40B4-BE49-F238E27FC236}">
                <a16:creationId xmlns:a16="http://schemas.microsoft.com/office/drawing/2014/main" id="{EEDCACCF-0446-119C-CB06-6CC1142E7E5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99836" y="1872658"/>
            <a:ext cx="468000" cy="468000"/>
          </a:xfrm>
          <a:prstGeom prst="rect">
            <a:avLst/>
          </a:prstGeom>
        </p:spPr>
      </p:pic>
      <p:pic>
        <p:nvPicPr>
          <p:cNvPr id="8" name="Graphic 7" descr="Badge 10 with solid fill">
            <a:extLst>
              <a:ext uri="{FF2B5EF4-FFF2-40B4-BE49-F238E27FC236}">
                <a16:creationId xmlns:a16="http://schemas.microsoft.com/office/drawing/2014/main" id="{7F8BE7BD-9E19-44BB-2FE3-12ED9FDF94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468331" y="1876667"/>
            <a:ext cx="468000" cy="468000"/>
          </a:xfrm>
          <a:prstGeom prst="rect">
            <a:avLst/>
          </a:prstGeom>
        </p:spPr>
      </p:pic>
      <p:pic>
        <p:nvPicPr>
          <p:cNvPr id="9" name="Graphic 8" descr="Badge with solid fill">
            <a:extLst>
              <a:ext uri="{FF2B5EF4-FFF2-40B4-BE49-F238E27FC236}">
                <a16:creationId xmlns:a16="http://schemas.microsoft.com/office/drawing/2014/main" id="{F9F887CA-CB36-8ED8-6315-DC7D01B4907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870601" y="1878489"/>
            <a:ext cx="468000" cy="468000"/>
          </a:xfrm>
          <a:prstGeom prst="rect">
            <a:avLst/>
          </a:prstGeom>
        </p:spPr>
      </p:pic>
      <p:pic>
        <p:nvPicPr>
          <p:cNvPr id="10" name="Graphic 9" descr="Badge 3 with solid fill">
            <a:extLst>
              <a:ext uri="{FF2B5EF4-FFF2-40B4-BE49-F238E27FC236}">
                <a16:creationId xmlns:a16="http://schemas.microsoft.com/office/drawing/2014/main" id="{825A6F75-9C1C-A95D-D6DA-109E9EBA520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37342" y="1872658"/>
            <a:ext cx="468000" cy="468000"/>
          </a:xfrm>
          <a:prstGeom prst="rect">
            <a:avLst/>
          </a:prstGeom>
        </p:spPr>
      </p:pic>
      <p:pic>
        <p:nvPicPr>
          <p:cNvPr id="11" name="Graphic 10" descr="Badge 4 with solid fill">
            <a:extLst>
              <a:ext uri="{FF2B5EF4-FFF2-40B4-BE49-F238E27FC236}">
                <a16:creationId xmlns:a16="http://schemas.microsoft.com/office/drawing/2014/main" id="{60351B4A-6BB3-B9DA-023E-187EE4E1634A}"/>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794542" y="1881516"/>
            <a:ext cx="468000" cy="468000"/>
          </a:xfrm>
          <a:prstGeom prst="rect">
            <a:avLst/>
          </a:prstGeom>
        </p:spPr>
      </p:pic>
      <p:pic>
        <p:nvPicPr>
          <p:cNvPr id="12" name="Graphic 11" descr="Badge 5 with solid fill">
            <a:extLst>
              <a:ext uri="{FF2B5EF4-FFF2-40B4-BE49-F238E27FC236}">
                <a16:creationId xmlns:a16="http://schemas.microsoft.com/office/drawing/2014/main" id="{1A300893-C177-035B-A219-FC6049E2DC7F}"/>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3250483" y="1880076"/>
            <a:ext cx="468000" cy="468000"/>
          </a:xfrm>
          <a:prstGeom prst="rect">
            <a:avLst/>
          </a:prstGeom>
        </p:spPr>
      </p:pic>
      <p:pic>
        <p:nvPicPr>
          <p:cNvPr id="13" name="Graphic 12" descr="Badge 6 with solid fill">
            <a:extLst>
              <a:ext uri="{FF2B5EF4-FFF2-40B4-BE49-F238E27FC236}">
                <a16:creationId xmlns:a16="http://schemas.microsoft.com/office/drawing/2014/main" id="{063091E7-A963-EF50-B2F2-C6CCFD335CF3}"/>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721248" y="1882631"/>
            <a:ext cx="468000" cy="468000"/>
          </a:xfrm>
          <a:prstGeom prst="rect">
            <a:avLst/>
          </a:prstGeom>
        </p:spPr>
      </p:pic>
      <p:pic>
        <p:nvPicPr>
          <p:cNvPr id="14" name="Graphic 13" descr="Badge 7 with solid fill">
            <a:extLst>
              <a:ext uri="{FF2B5EF4-FFF2-40B4-BE49-F238E27FC236}">
                <a16:creationId xmlns:a16="http://schemas.microsoft.com/office/drawing/2014/main" id="{7412FF20-691E-38CC-D8B3-456AF73DB554}"/>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63624" y="1884307"/>
            <a:ext cx="468000" cy="468000"/>
          </a:xfrm>
          <a:prstGeom prst="rect">
            <a:avLst/>
          </a:prstGeom>
        </p:spPr>
      </p:pic>
      <p:pic>
        <p:nvPicPr>
          <p:cNvPr id="15" name="Graphic 14" descr="Badge 8 with solid fill">
            <a:extLst>
              <a:ext uri="{FF2B5EF4-FFF2-40B4-BE49-F238E27FC236}">
                <a16:creationId xmlns:a16="http://schemas.microsoft.com/office/drawing/2014/main" id="{F71DD924-767F-6F93-1AF3-D96571DEC0C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606000" y="1883485"/>
            <a:ext cx="468000" cy="468000"/>
          </a:xfrm>
          <a:prstGeom prst="rect">
            <a:avLst/>
          </a:prstGeom>
        </p:spPr>
      </p:pic>
      <p:pic>
        <p:nvPicPr>
          <p:cNvPr id="16" name="Graphic 15" descr="Badge 9 with solid fill">
            <a:extLst>
              <a:ext uri="{FF2B5EF4-FFF2-40B4-BE49-F238E27FC236}">
                <a16:creationId xmlns:a16="http://schemas.microsoft.com/office/drawing/2014/main" id="{05746AA2-07AD-BB3D-8AC7-7E01AE9FFD64}"/>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5064706" y="1880076"/>
            <a:ext cx="468000" cy="468000"/>
          </a:xfrm>
          <a:prstGeom prst="rect">
            <a:avLst/>
          </a:prstGeom>
        </p:spPr>
      </p:pic>
      <p:pic>
        <p:nvPicPr>
          <p:cNvPr id="28" name="Graphic 27" descr="Badge 1 outline">
            <a:extLst>
              <a:ext uri="{FF2B5EF4-FFF2-40B4-BE49-F238E27FC236}">
                <a16:creationId xmlns:a16="http://schemas.microsoft.com/office/drawing/2014/main" id="{377A0617-1C4D-93A7-0816-74355CD2748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100935" y="2382047"/>
            <a:ext cx="914400" cy="914400"/>
          </a:xfrm>
          <a:prstGeom prst="rect">
            <a:avLst/>
          </a:prstGeom>
        </p:spPr>
      </p:pic>
      <p:pic>
        <p:nvPicPr>
          <p:cNvPr id="32" name="Graphic 31" descr="Badge outline">
            <a:extLst>
              <a:ext uri="{FF2B5EF4-FFF2-40B4-BE49-F238E27FC236}">
                <a16:creationId xmlns:a16="http://schemas.microsoft.com/office/drawing/2014/main" id="{328E83A1-A5CF-14CE-994B-9FC912A453D5}"/>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917798" y="2368814"/>
            <a:ext cx="914400" cy="914400"/>
          </a:xfrm>
          <a:prstGeom prst="rect">
            <a:avLst/>
          </a:prstGeom>
        </p:spPr>
      </p:pic>
      <p:pic>
        <p:nvPicPr>
          <p:cNvPr id="34" name="Graphic 33" descr="Badge 3 outline">
            <a:extLst>
              <a:ext uri="{FF2B5EF4-FFF2-40B4-BE49-F238E27FC236}">
                <a16:creationId xmlns:a16="http://schemas.microsoft.com/office/drawing/2014/main" id="{B8DB6A5A-BA59-B575-8EAE-1F62375C4821}"/>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2822942" y="2360054"/>
            <a:ext cx="914400" cy="914400"/>
          </a:xfrm>
          <a:prstGeom prst="rect">
            <a:avLst/>
          </a:prstGeom>
        </p:spPr>
      </p:pic>
      <p:pic>
        <p:nvPicPr>
          <p:cNvPr id="36" name="Graphic 35" descr="Badge 4 outline">
            <a:extLst>
              <a:ext uri="{FF2B5EF4-FFF2-40B4-BE49-F238E27FC236}">
                <a16:creationId xmlns:a16="http://schemas.microsoft.com/office/drawing/2014/main" id="{7D7894F2-405D-D537-E8CD-FFC2FD562CEA}"/>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3653533" y="2382047"/>
            <a:ext cx="914400" cy="914400"/>
          </a:xfrm>
          <a:prstGeom prst="rect">
            <a:avLst/>
          </a:prstGeom>
        </p:spPr>
      </p:pic>
      <p:pic>
        <p:nvPicPr>
          <p:cNvPr id="38" name="Graphic 37" descr="Badge 5 outline">
            <a:extLst>
              <a:ext uri="{FF2B5EF4-FFF2-40B4-BE49-F238E27FC236}">
                <a16:creationId xmlns:a16="http://schemas.microsoft.com/office/drawing/2014/main" id="{CCB95B5E-BCD4-CD6A-8DA0-49EF454DFC6B}"/>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4470396" y="2382047"/>
            <a:ext cx="914400" cy="914400"/>
          </a:xfrm>
          <a:prstGeom prst="rect">
            <a:avLst/>
          </a:prstGeom>
        </p:spPr>
      </p:pic>
      <p:pic>
        <p:nvPicPr>
          <p:cNvPr id="40" name="Graphic 39" descr="Badge 6 outline">
            <a:extLst>
              <a:ext uri="{FF2B5EF4-FFF2-40B4-BE49-F238E27FC236}">
                <a16:creationId xmlns:a16="http://schemas.microsoft.com/office/drawing/2014/main" id="{B2E42FE5-E882-BB0B-DF27-634BED68E17D}"/>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5287259" y="2360054"/>
            <a:ext cx="914400" cy="914400"/>
          </a:xfrm>
          <a:prstGeom prst="rect">
            <a:avLst/>
          </a:prstGeom>
        </p:spPr>
      </p:pic>
      <p:pic>
        <p:nvPicPr>
          <p:cNvPr id="42" name="Graphic 41" descr="Badge 7 outline">
            <a:extLst>
              <a:ext uri="{FF2B5EF4-FFF2-40B4-BE49-F238E27FC236}">
                <a16:creationId xmlns:a16="http://schemas.microsoft.com/office/drawing/2014/main" id="{4F474E09-0F6B-A545-A2FB-528D8342017C}"/>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6104122" y="2382047"/>
            <a:ext cx="914400" cy="914400"/>
          </a:xfrm>
          <a:prstGeom prst="rect">
            <a:avLst/>
          </a:prstGeom>
        </p:spPr>
      </p:pic>
      <p:pic>
        <p:nvPicPr>
          <p:cNvPr id="44" name="Graphic 43" descr="Badge 8 outline">
            <a:extLst>
              <a:ext uri="{FF2B5EF4-FFF2-40B4-BE49-F238E27FC236}">
                <a16:creationId xmlns:a16="http://schemas.microsoft.com/office/drawing/2014/main" id="{E3982124-D3D3-AC60-CDFE-68CC967AC2ED}"/>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6880662" y="2368814"/>
            <a:ext cx="914400" cy="914400"/>
          </a:xfrm>
          <a:prstGeom prst="rect">
            <a:avLst/>
          </a:prstGeom>
        </p:spPr>
      </p:pic>
      <p:pic>
        <p:nvPicPr>
          <p:cNvPr id="46" name="Graphic 45" descr="Badge 9 outline">
            <a:extLst>
              <a:ext uri="{FF2B5EF4-FFF2-40B4-BE49-F238E27FC236}">
                <a16:creationId xmlns:a16="http://schemas.microsoft.com/office/drawing/2014/main" id="{D98F73D0-5CF6-543B-2C7E-39B53C836163}"/>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7686300" y="2368814"/>
            <a:ext cx="914400" cy="914400"/>
          </a:xfrm>
          <a:prstGeom prst="rect">
            <a:avLst/>
          </a:prstGeom>
        </p:spPr>
      </p:pic>
      <p:pic>
        <p:nvPicPr>
          <p:cNvPr id="48" name="Graphic 47" descr="Badge 10 outline">
            <a:extLst>
              <a:ext uri="{FF2B5EF4-FFF2-40B4-BE49-F238E27FC236}">
                <a16:creationId xmlns:a16="http://schemas.microsoft.com/office/drawing/2014/main" id="{9596ECA7-08AD-60AD-126A-2D32F85555E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8474065" y="2363081"/>
            <a:ext cx="914400" cy="914400"/>
          </a:xfrm>
          <a:prstGeom prst="rect">
            <a:avLst/>
          </a:prstGeom>
        </p:spPr>
      </p:pic>
    </p:spTree>
    <p:extLst>
      <p:ext uri="{BB962C8B-B14F-4D97-AF65-F5344CB8AC3E}">
        <p14:creationId xmlns:p14="http://schemas.microsoft.com/office/powerpoint/2010/main" val="14778459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FB93-0A54-F0A3-44FD-9D6D98D41620}"/>
              </a:ext>
            </a:extLst>
          </p:cNvPr>
          <p:cNvSpPr>
            <a:spLocks noGrp="1"/>
          </p:cNvSpPr>
          <p:nvPr>
            <p:ph type="title" hasCustomPrompt="1"/>
          </p:nvPr>
        </p:nvSpPr>
        <p:spPr>
          <a:xfrm>
            <a:off x="1210283" y="606093"/>
            <a:ext cx="9876849" cy="911576"/>
          </a:xfrm>
        </p:spPr>
        <p:txBody>
          <a:bodyPr>
            <a:noAutofit/>
          </a:bodyPr>
          <a:lstStyle>
            <a:lvl1pPr algn="ctr">
              <a:defRPr sz="7200" b="1">
                <a:latin typeface="+mn-lt"/>
              </a:defRPr>
            </a:lvl1pPr>
          </a:lstStyle>
          <a:p>
            <a:r>
              <a:rPr lang="en-GB" dirty="0"/>
              <a:t>Add Outline title</a:t>
            </a:r>
          </a:p>
        </p:txBody>
      </p:sp>
      <p:sp>
        <p:nvSpPr>
          <p:cNvPr id="3" name="Date Placeholder 2">
            <a:extLst>
              <a:ext uri="{FF2B5EF4-FFF2-40B4-BE49-F238E27FC236}">
                <a16:creationId xmlns:a16="http://schemas.microsoft.com/office/drawing/2014/main" id="{9DFD10C5-6787-77AE-977F-D7E7083D0218}"/>
              </a:ext>
            </a:extLst>
          </p:cNvPr>
          <p:cNvSpPr>
            <a:spLocks noGrp="1"/>
          </p:cNvSpPr>
          <p:nvPr>
            <p:ph type="dt" sz="half" idx="10"/>
          </p:nvPr>
        </p:nvSpPr>
        <p:spPr/>
        <p:txBody>
          <a:bodyPr/>
          <a:lstStyle/>
          <a:p>
            <a:fld id="{779B58B1-896A-47D4-B443-E898FC8CE18E}" type="datetimeyyyy">
              <a:rPr lang="en-US" smtClean="0"/>
              <a:t>2026</a:t>
            </a:fld>
            <a:endParaRPr lang="en-GB" dirty="0"/>
          </a:p>
        </p:txBody>
      </p:sp>
      <p:sp>
        <p:nvSpPr>
          <p:cNvPr id="4" name="Footer Placeholder 3">
            <a:extLst>
              <a:ext uri="{FF2B5EF4-FFF2-40B4-BE49-F238E27FC236}">
                <a16:creationId xmlns:a16="http://schemas.microsoft.com/office/drawing/2014/main" id="{10E36E4D-BDDF-D97C-2EC6-0E974709B129}"/>
              </a:ext>
            </a:extLst>
          </p:cNvPr>
          <p:cNvSpPr>
            <a:spLocks noGrp="1"/>
          </p:cNvSpPr>
          <p:nvPr>
            <p:ph type="ftr" sz="quarter" idx="11"/>
          </p:nvPr>
        </p:nvSpPr>
        <p:spPr/>
        <p:txBody>
          <a:bodyPr/>
          <a:lstStyle/>
          <a:p>
            <a:r>
              <a:rPr lang="en-GB"/>
              <a:t>Comparisons and Associations</a:t>
            </a:r>
            <a:endParaRPr lang="en-GB" dirty="0"/>
          </a:p>
        </p:txBody>
      </p:sp>
      <p:sp>
        <p:nvSpPr>
          <p:cNvPr id="5" name="Slide Number Placeholder 4">
            <a:extLst>
              <a:ext uri="{FF2B5EF4-FFF2-40B4-BE49-F238E27FC236}">
                <a16:creationId xmlns:a16="http://schemas.microsoft.com/office/drawing/2014/main" id="{FFD1CEC6-7F83-2BE7-95A9-5DF472D2439E}"/>
              </a:ext>
            </a:extLst>
          </p:cNvPr>
          <p:cNvSpPr>
            <a:spLocks noGrp="1"/>
          </p:cNvSpPr>
          <p:nvPr>
            <p:ph type="sldNum" sz="quarter" idx="12"/>
          </p:nvPr>
        </p:nvSpPr>
        <p:spPr/>
        <p:txBody>
          <a:bodyPr/>
          <a:lstStyle/>
          <a:p>
            <a:fld id="{9FAA51BB-2FC0-4DB8-B50E-F52D50E733B6}" type="slidenum">
              <a:rPr lang="en-GB" smtClean="0"/>
              <a:pPr/>
              <a:t>‹#›</a:t>
            </a:fld>
            <a:endParaRPr lang="en-GB" dirty="0"/>
          </a:p>
        </p:txBody>
      </p:sp>
      <p:graphicFrame>
        <p:nvGraphicFramePr>
          <p:cNvPr id="6" name="Table 5">
            <a:extLst>
              <a:ext uri="{FF2B5EF4-FFF2-40B4-BE49-F238E27FC236}">
                <a16:creationId xmlns:a16="http://schemas.microsoft.com/office/drawing/2014/main" id="{A549E6D0-17C2-32B5-650D-F84097C07BFD}"/>
              </a:ext>
            </a:extLst>
          </p:cNvPr>
          <p:cNvGraphicFramePr>
            <a:graphicFrameLocks noGrp="1"/>
          </p:cNvGraphicFramePr>
          <p:nvPr userDrawn="1">
            <p:extLst>
              <p:ext uri="{D42A27DB-BD31-4B8C-83A1-F6EECF244321}">
                <p14:modId xmlns:p14="http://schemas.microsoft.com/office/powerpoint/2010/main" val="38952401"/>
              </p:ext>
            </p:extLst>
          </p:nvPr>
        </p:nvGraphicFramePr>
        <p:xfrm>
          <a:off x="1335634" y="1993748"/>
          <a:ext cx="9626149" cy="2571920"/>
        </p:xfrm>
        <a:graphic>
          <a:graphicData uri="http://schemas.openxmlformats.org/drawingml/2006/table">
            <a:tbl>
              <a:tblPr>
                <a:tableStyleId>{5C22544A-7EE6-4342-B048-85BDC9FD1C3A}</a:tableStyleId>
              </a:tblPr>
              <a:tblGrid>
                <a:gridCol w="540000">
                  <a:extLst>
                    <a:ext uri="{9D8B030D-6E8A-4147-A177-3AD203B41FA5}">
                      <a16:colId xmlns:a16="http://schemas.microsoft.com/office/drawing/2014/main" val="547184884"/>
                    </a:ext>
                  </a:extLst>
                </a:gridCol>
                <a:gridCol w="9086149">
                  <a:extLst>
                    <a:ext uri="{9D8B030D-6E8A-4147-A177-3AD203B41FA5}">
                      <a16:colId xmlns:a16="http://schemas.microsoft.com/office/drawing/2014/main" val="4258649048"/>
                    </a:ext>
                  </a:extLst>
                </a:gridCol>
              </a:tblGrid>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2"/>
                          </a:ext>
                        </a:extLst>
                      </a:blip>
                      <a:stretch>
                        <a:fillRect/>
                      </a:stretch>
                    </a:blipFill>
                  </a:tcPr>
                </a:tc>
                <a:tc rowSpan="2">
                  <a:txBody>
                    <a:bodyPr/>
                    <a:lstStyle/>
                    <a:p>
                      <a:r>
                        <a:rPr lang="en-GB" sz="2200" dirty="0"/>
                        <a:t>one</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083708"/>
                  </a:ext>
                </a:extLst>
              </a:tr>
              <a:tr h="0">
                <a:tc>
                  <a:txBody>
                    <a:bodyPr/>
                    <a:lstStyle/>
                    <a:p>
                      <a:endParaRPr lang="en-GB" sz="100" dirty="0"/>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3582230"/>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3"/>
                          </a:ext>
                        </a:extLst>
                      </a:blip>
                      <a:stretch>
                        <a:fillRect/>
                      </a:stretch>
                    </a:blipFill>
                  </a:tcPr>
                </a:tc>
                <a:tc rowSpan="2">
                  <a:txBody>
                    <a:bodyPr/>
                    <a:lstStyle/>
                    <a:p>
                      <a:r>
                        <a:rPr lang="en-GB" sz="2200" dirty="0"/>
                        <a:t>two</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9763730"/>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440128"/>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4"/>
                          </a:ext>
                        </a:extLst>
                      </a:blip>
                      <a:stretch>
                        <a:fillRect/>
                      </a:stretch>
                    </a:blipFill>
                  </a:tcPr>
                </a:tc>
                <a:tc rowSpan="2">
                  <a:txBody>
                    <a:bodyPr/>
                    <a:lstStyle/>
                    <a:p>
                      <a:r>
                        <a:rPr lang="en-GB" sz="2200" dirty="0"/>
                        <a:t>three</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106067"/>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7221841"/>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5"/>
                          </a:ext>
                        </a:extLst>
                      </a:blip>
                      <a:stretch>
                        <a:fillRect/>
                      </a:stretch>
                    </a:blipFill>
                  </a:tcPr>
                </a:tc>
                <a:tc rowSpan="2">
                  <a:txBody>
                    <a:bodyPr/>
                    <a:lstStyle/>
                    <a:p>
                      <a:r>
                        <a:rPr lang="en-GB" sz="2200" dirty="0"/>
                        <a:t>four</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1621608"/>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6066417"/>
                  </a:ext>
                </a:extLst>
              </a:tr>
            </a:tbl>
          </a:graphicData>
        </a:graphic>
      </p:graphicFrame>
    </p:spTree>
    <p:extLst>
      <p:ext uri="{BB962C8B-B14F-4D97-AF65-F5344CB8AC3E}">
        <p14:creationId xmlns:p14="http://schemas.microsoft.com/office/powerpoint/2010/main" val="12704940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FB93-0A54-F0A3-44FD-9D6D98D41620}"/>
              </a:ext>
            </a:extLst>
          </p:cNvPr>
          <p:cNvSpPr>
            <a:spLocks noGrp="1"/>
          </p:cNvSpPr>
          <p:nvPr>
            <p:ph type="title" hasCustomPrompt="1"/>
          </p:nvPr>
        </p:nvSpPr>
        <p:spPr>
          <a:xfrm>
            <a:off x="1038399" y="689938"/>
            <a:ext cx="10115202" cy="911576"/>
          </a:xfrm>
        </p:spPr>
        <p:txBody>
          <a:bodyPr>
            <a:noAutofit/>
          </a:bodyPr>
          <a:lstStyle>
            <a:lvl1pPr algn="ctr">
              <a:defRPr sz="7200" b="1">
                <a:latin typeface="+mn-lt"/>
              </a:defRPr>
            </a:lvl1pPr>
          </a:lstStyle>
          <a:p>
            <a:r>
              <a:rPr lang="en-GB" dirty="0"/>
              <a:t>Add Outline title</a:t>
            </a:r>
          </a:p>
        </p:txBody>
      </p:sp>
      <p:sp>
        <p:nvSpPr>
          <p:cNvPr id="3" name="Date Placeholder 2">
            <a:extLst>
              <a:ext uri="{FF2B5EF4-FFF2-40B4-BE49-F238E27FC236}">
                <a16:creationId xmlns:a16="http://schemas.microsoft.com/office/drawing/2014/main" id="{9DFD10C5-6787-77AE-977F-D7E7083D0218}"/>
              </a:ext>
            </a:extLst>
          </p:cNvPr>
          <p:cNvSpPr>
            <a:spLocks noGrp="1"/>
          </p:cNvSpPr>
          <p:nvPr>
            <p:ph type="dt" sz="half" idx="10"/>
          </p:nvPr>
        </p:nvSpPr>
        <p:spPr/>
        <p:txBody>
          <a:bodyPr/>
          <a:lstStyle/>
          <a:p>
            <a:fld id="{6E85A863-8D60-498A-8431-A25C6252F1D6}" type="datetimeyyyy">
              <a:rPr lang="en-US" smtClean="0"/>
              <a:t>2026</a:t>
            </a:fld>
            <a:endParaRPr lang="en-GB" dirty="0"/>
          </a:p>
        </p:txBody>
      </p:sp>
      <p:sp>
        <p:nvSpPr>
          <p:cNvPr id="4" name="Footer Placeholder 3">
            <a:extLst>
              <a:ext uri="{FF2B5EF4-FFF2-40B4-BE49-F238E27FC236}">
                <a16:creationId xmlns:a16="http://schemas.microsoft.com/office/drawing/2014/main" id="{10E36E4D-BDDF-D97C-2EC6-0E974709B129}"/>
              </a:ext>
            </a:extLst>
          </p:cNvPr>
          <p:cNvSpPr>
            <a:spLocks noGrp="1"/>
          </p:cNvSpPr>
          <p:nvPr>
            <p:ph type="ftr" sz="quarter" idx="11"/>
          </p:nvPr>
        </p:nvSpPr>
        <p:spPr/>
        <p:txBody>
          <a:bodyPr/>
          <a:lstStyle/>
          <a:p>
            <a:r>
              <a:rPr lang="en-GB"/>
              <a:t>Comparisons and Associations</a:t>
            </a:r>
            <a:endParaRPr lang="en-GB" dirty="0"/>
          </a:p>
        </p:txBody>
      </p:sp>
      <p:sp>
        <p:nvSpPr>
          <p:cNvPr id="5" name="Slide Number Placeholder 4">
            <a:extLst>
              <a:ext uri="{FF2B5EF4-FFF2-40B4-BE49-F238E27FC236}">
                <a16:creationId xmlns:a16="http://schemas.microsoft.com/office/drawing/2014/main" id="{FFD1CEC6-7F83-2BE7-95A9-5DF472D2439E}"/>
              </a:ext>
            </a:extLst>
          </p:cNvPr>
          <p:cNvSpPr>
            <a:spLocks noGrp="1"/>
          </p:cNvSpPr>
          <p:nvPr>
            <p:ph type="sldNum" sz="quarter" idx="12"/>
          </p:nvPr>
        </p:nvSpPr>
        <p:spPr/>
        <p:txBody>
          <a:bodyPr/>
          <a:lstStyle/>
          <a:p>
            <a:fld id="{9FAA51BB-2FC0-4DB8-B50E-F52D50E733B6}" type="slidenum">
              <a:rPr lang="en-GB" smtClean="0"/>
              <a:pPr/>
              <a:t>‹#›</a:t>
            </a:fld>
            <a:endParaRPr lang="en-GB" dirty="0"/>
          </a:p>
        </p:txBody>
      </p:sp>
      <p:graphicFrame>
        <p:nvGraphicFramePr>
          <p:cNvPr id="6" name="Table 5">
            <a:extLst>
              <a:ext uri="{FF2B5EF4-FFF2-40B4-BE49-F238E27FC236}">
                <a16:creationId xmlns:a16="http://schemas.microsoft.com/office/drawing/2014/main" id="{A549E6D0-17C2-32B5-650D-F84097C07BFD}"/>
              </a:ext>
            </a:extLst>
          </p:cNvPr>
          <p:cNvGraphicFramePr>
            <a:graphicFrameLocks noGrp="1"/>
          </p:cNvGraphicFramePr>
          <p:nvPr userDrawn="1">
            <p:extLst>
              <p:ext uri="{D42A27DB-BD31-4B8C-83A1-F6EECF244321}">
                <p14:modId xmlns:p14="http://schemas.microsoft.com/office/powerpoint/2010/main" val="2996315249"/>
              </p:ext>
            </p:extLst>
          </p:nvPr>
        </p:nvGraphicFramePr>
        <p:xfrm>
          <a:off x="726954" y="1971714"/>
          <a:ext cx="10440000" cy="3284200"/>
        </p:xfrm>
        <a:graphic>
          <a:graphicData uri="http://schemas.openxmlformats.org/drawingml/2006/table">
            <a:tbl>
              <a:tblPr>
                <a:tableStyleId>{5C22544A-7EE6-4342-B048-85BDC9FD1C3A}</a:tableStyleId>
              </a:tblPr>
              <a:tblGrid>
                <a:gridCol w="540000">
                  <a:extLst>
                    <a:ext uri="{9D8B030D-6E8A-4147-A177-3AD203B41FA5}">
                      <a16:colId xmlns:a16="http://schemas.microsoft.com/office/drawing/2014/main" val="547184884"/>
                    </a:ext>
                  </a:extLst>
                </a:gridCol>
                <a:gridCol w="4680000">
                  <a:extLst>
                    <a:ext uri="{9D8B030D-6E8A-4147-A177-3AD203B41FA5}">
                      <a16:colId xmlns:a16="http://schemas.microsoft.com/office/drawing/2014/main" val="4258649048"/>
                    </a:ext>
                  </a:extLst>
                </a:gridCol>
                <a:gridCol w="540000">
                  <a:extLst>
                    <a:ext uri="{9D8B030D-6E8A-4147-A177-3AD203B41FA5}">
                      <a16:colId xmlns:a16="http://schemas.microsoft.com/office/drawing/2014/main" val="2861192458"/>
                    </a:ext>
                  </a:extLst>
                </a:gridCol>
                <a:gridCol w="4680000">
                  <a:extLst>
                    <a:ext uri="{9D8B030D-6E8A-4147-A177-3AD203B41FA5}">
                      <a16:colId xmlns:a16="http://schemas.microsoft.com/office/drawing/2014/main" val="1996446775"/>
                    </a:ext>
                  </a:extLst>
                </a:gridCol>
              </a:tblGrid>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2"/>
                          </a:ext>
                        </a:extLst>
                      </a:blip>
                      <a:stretch>
                        <a:fillRect/>
                      </a:stretch>
                    </a:blip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200" dirty="0"/>
                        <a:t>Edit in Master slide view</a:t>
                      </a:r>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dpi="0" rotWithShape="0">
                      <a:blip>
                        <a:extLst>
                          <a:ext uri="{96DAC541-7B7A-43D3-8B79-37D633B846F1}">
                            <asvg:svgBlip xmlns:asvg="http://schemas.microsoft.com/office/drawing/2016/SVG/main" r:embed="rId3"/>
                          </a:ext>
                        </a:extLst>
                      </a:blip>
                      <a:srcRect/>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083708"/>
                  </a:ext>
                </a:extLst>
              </a:tr>
              <a:tr h="0">
                <a:tc>
                  <a:txBody>
                    <a:bodyPr/>
                    <a:lstStyle/>
                    <a:p>
                      <a:endParaRPr lang="en-GB" sz="100" dirty="0"/>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3582230"/>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4"/>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5"/>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9763730"/>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440128"/>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6"/>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7"/>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106067"/>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7221841"/>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8"/>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9"/>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1621608"/>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6066417"/>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10"/>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11"/>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105705"/>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5673635"/>
                  </a:ext>
                </a:extLst>
              </a:tr>
            </a:tbl>
          </a:graphicData>
        </a:graphic>
      </p:graphicFrame>
    </p:spTree>
    <p:extLst>
      <p:ext uri="{BB962C8B-B14F-4D97-AF65-F5344CB8AC3E}">
        <p14:creationId xmlns:p14="http://schemas.microsoft.com/office/powerpoint/2010/main" val="37248952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GB" dirty="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D8A88C0-654B-49B2-B74C-95724D533CDE}" type="datetimeyyyy">
              <a:rPr lang="en-US" smtClean="0"/>
              <a:t>2026</a:t>
            </a:fld>
            <a:endParaRPr lang="en-GB"/>
          </a:p>
        </p:txBody>
      </p:sp>
      <p:sp>
        <p:nvSpPr>
          <p:cNvPr id="5" name="Footer Placeholder 4"/>
          <p:cNvSpPr>
            <a:spLocks noGrp="1"/>
          </p:cNvSpPr>
          <p:nvPr>
            <p:ph type="ftr" sz="quarter" idx="11"/>
          </p:nvPr>
        </p:nvSpPr>
        <p:spPr/>
        <p:txBody>
          <a:bodyPr/>
          <a:lstStyle/>
          <a:p>
            <a:r>
              <a:rPr lang="en-GB"/>
              <a:t>Comparisons and Associations</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40344790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60B7688-A0B0-450D-B1FB-1B9BA9D1A9F9}" type="datetimeyyyy">
              <a:rPr lang="en-US" smtClean="0"/>
              <a:t>2026</a:t>
            </a:fld>
            <a:endParaRPr lang="en-GB"/>
          </a:p>
        </p:txBody>
      </p:sp>
      <p:sp>
        <p:nvSpPr>
          <p:cNvPr id="5" name="Footer Placeholder 4"/>
          <p:cNvSpPr>
            <a:spLocks noGrp="1"/>
          </p:cNvSpPr>
          <p:nvPr>
            <p:ph type="ftr" sz="quarter" idx="11"/>
          </p:nvPr>
        </p:nvSpPr>
        <p:spPr/>
        <p:txBody>
          <a:bodyPr/>
          <a:lstStyle/>
          <a:p>
            <a:r>
              <a:rPr lang="en-GB"/>
              <a:t>Comparisons and Associations</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40602672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4" name="Picture 12" descr="Partners; Sustaining Creative Economies ...">
            <a:extLst>
              <a:ext uri="{FF2B5EF4-FFF2-40B4-BE49-F238E27FC236}">
                <a16:creationId xmlns:a16="http://schemas.microsoft.com/office/drawing/2014/main" id="{C213A523-D735-8490-152A-23415FF25430}"/>
              </a:ext>
            </a:extLst>
          </p:cNvPr>
          <p:cNvPicPr>
            <a:picLocks noChangeAspect="1" noChangeArrowheads="1"/>
          </p:cNvPicPr>
          <p:nvPr userDrawn="1"/>
        </p:nvPicPr>
        <p:blipFill>
          <a:blip r:embed="rId2">
            <a:alphaModFix/>
            <a:extLst>
              <a:ext uri="{28A0092B-C50C-407E-A947-70E740481C1C}">
                <a14:useLocalDpi xmlns:a14="http://schemas.microsoft.com/office/drawing/2010/main" val="0"/>
              </a:ext>
            </a:extLst>
          </a:blip>
          <a:srcRect/>
          <a:stretch>
            <a:fillRect/>
          </a:stretch>
        </p:blipFill>
        <p:spPr bwMode="auto">
          <a:xfrm>
            <a:off x="9888991" y="5440123"/>
            <a:ext cx="1342114" cy="751584"/>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6139AE9B-1271-7638-B347-A5F464D2BE3C}"/>
              </a:ext>
            </a:extLst>
          </p:cNvPr>
          <p:cNvSpPr>
            <a:spLocks noGrp="1"/>
          </p:cNvSpPr>
          <p:nvPr>
            <p:ph type="dt" sz="half" idx="10"/>
          </p:nvPr>
        </p:nvSpPr>
        <p:spPr/>
        <p:txBody>
          <a:bodyPr/>
          <a:lstStyle/>
          <a:p>
            <a:fld id="{02D2F346-9996-4E42-813C-67E2DDB77CCB}" type="datetimeyyyy">
              <a:rPr lang="en-US" smtClean="0"/>
              <a:t>2026</a:t>
            </a:fld>
            <a:endParaRPr lang="en-GB"/>
          </a:p>
        </p:txBody>
      </p:sp>
      <p:sp>
        <p:nvSpPr>
          <p:cNvPr id="4" name="Footer Placeholder 3">
            <a:extLst>
              <a:ext uri="{FF2B5EF4-FFF2-40B4-BE49-F238E27FC236}">
                <a16:creationId xmlns:a16="http://schemas.microsoft.com/office/drawing/2014/main" id="{23A3BAF4-52A6-7AC7-8C6F-183586D9D88D}"/>
              </a:ext>
            </a:extLst>
          </p:cNvPr>
          <p:cNvSpPr>
            <a:spLocks noGrp="1"/>
          </p:cNvSpPr>
          <p:nvPr>
            <p:ph type="ftr" sz="quarter" idx="11"/>
          </p:nvPr>
        </p:nvSpPr>
        <p:spPr/>
        <p:txBody>
          <a:bodyPr/>
          <a:lstStyle/>
          <a:p>
            <a:r>
              <a:rPr lang="en-GB"/>
              <a:t>Comparisons and Associations</a:t>
            </a:r>
          </a:p>
        </p:txBody>
      </p:sp>
      <p:sp>
        <p:nvSpPr>
          <p:cNvPr id="5" name="Slide Number Placeholder 4">
            <a:extLst>
              <a:ext uri="{FF2B5EF4-FFF2-40B4-BE49-F238E27FC236}">
                <a16:creationId xmlns:a16="http://schemas.microsoft.com/office/drawing/2014/main" id="{F193AA3C-DFA6-2BE6-3BD0-0D6E60101593}"/>
              </a:ext>
            </a:extLst>
          </p:cNvPr>
          <p:cNvSpPr>
            <a:spLocks noGrp="1"/>
          </p:cNvSpPr>
          <p:nvPr>
            <p:ph type="sldNum" sz="quarter" idx="12"/>
          </p:nvPr>
        </p:nvSpPr>
        <p:spPr/>
        <p:txBody>
          <a:bodyPr/>
          <a:lstStyle/>
          <a:p>
            <a:fld id="{9FAA51BB-2FC0-4DB8-B50E-F52D50E733B6}" type="slidenum">
              <a:rPr lang="en-GB" smtClean="0"/>
              <a:t>‹#›</a:t>
            </a:fld>
            <a:endParaRPr lang="en-GB"/>
          </a:p>
        </p:txBody>
      </p:sp>
      <p:pic>
        <p:nvPicPr>
          <p:cNvPr id="6" name="Picture 10">
            <a:extLst>
              <a:ext uri="{FF2B5EF4-FFF2-40B4-BE49-F238E27FC236}">
                <a16:creationId xmlns:a16="http://schemas.microsoft.com/office/drawing/2014/main" id="{2A7E09F9-D2AF-737B-7EF3-D1714380AC3D}"/>
              </a:ext>
            </a:extLst>
          </p:cNvPr>
          <p:cNvPicPr>
            <a:picLocks noChangeAspect="1" noChangeArrowheads="1"/>
          </p:cNvPicPr>
          <p:nvPr userDrawn="1"/>
        </p:nvPicPr>
        <p:blipFill rotWithShape="1">
          <a:blip r:embed="rId3">
            <a:alphaModFix amt="35000"/>
            <a:extLst>
              <a:ext uri="{BEBA8EAE-BF5A-486C-A8C5-ECC9F3942E4B}">
                <a14:imgProps xmlns:a14="http://schemas.microsoft.com/office/drawing/2010/main">
                  <a14:imgLayer r:embed="rId4">
                    <a14:imgEffect>
                      <a14:backgroundRemoval t="7944" b="94860" l="9780" r="89976">
                        <a14:foregroundMark x1="25672" y1="20093" x2="32152" y2="70327"/>
                        <a14:foregroundMark x1="32152" y1="70327" x2="79829" y2="87383"/>
                        <a14:foregroundMark x1="79829" y1="87383" x2="79095" y2="36682"/>
                        <a14:foregroundMark x1="79095" y1="36682" x2="64914" y2="14720"/>
                        <a14:foregroundMark x1="64914" y1="14720" x2="48533" y2="7944"/>
                        <a14:foregroundMark x1="48533" y1="7944" x2="30196" y2="13084"/>
                        <a14:foregroundMark x1="30196" y1="13084" x2="25306" y2="20561"/>
                        <a14:foregroundMark x1="21760" y1="39486" x2="25061" y2="78505"/>
                        <a14:foregroundMark x1="25061" y1="78505" x2="64670" y2="92056"/>
                        <a14:foregroundMark x1="64670" y1="92056" x2="78851" y2="91822"/>
                        <a14:foregroundMark x1="82641" y1="15187" x2="86675" y2="62850"/>
                        <a14:foregroundMark x1="86675" y1="62850" x2="80196" y2="94626"/>
                        <a14:foregroundMark x1="80196" y1="94626" x2="78117" y2="94860"/>
                      </a14:backgroundRemoval>
                    </a14:imgEffect>
                  </a14:imgLayer>
                </a14:imgProps>
              </a:ext>
              <a:ext uri="{28A0092B-C50C-407E-A947-70E740481C1C}">
                <a14:useLocalDpi xmlns:a14="http://schemas.microsoft.com/office/drawing/2010/main" val="0"/>
              </a:ext>
            </a:extLst>
          </a:blip>
          <a:srcRect l="17245" t="2011" r="13041"/>
          <a:stretch/>
        </p:blipFill>
        <p:spPr bwMode="auto">
          <a:xfrm>
            <a:off x="3480620" y="-23164"/>
            <a:ext cx="8635320" cy="6350686"/>
          </a:xfrm>
          <a:prstGeom prst="rect">
            <a:avLst/>
          </a:prstGeom>
          <a:noFill/>
          <a:extLst>
            <a:ext uri="{909E8E84-426E-40DD-AFC4-6F175D3DCCD1}">
              <a14:hiddenFill xmlns:a14="http://schemas.microsoft.com/office/drawing/2010/main">
                <a:solidFill>
                  <a:srgbClr val="FFFFFF"/>
                </a:solidFill>
              </a14:hiddenFill>
            </a:ext>
          </a:extLst>
        </p:spPr>
      </p:pic>
      <p:pic>
        <p:nvPicPr>
          <p:cNvPr id="10" name="Graphic 9" descr="Advertising outline">
            <a:extLst>
              <a:ext uri="{FF2B5EF4-FFF2-40B4-BE49-F238E27FC236}">
                <a16:creationId xmlns:a16="http://schemas.microsoft.com/office/drawing/2014/main" id="{1EDC15B8-2173-9DC7-DB3B-645E07D8406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071" y="208195"/>
            <a:ext cx="7304134" cy="6756079"/>
          </a:xfrm>
          <a:prstGeom prst="rect">
            <a:avLst/>
          </a:prstGeom>
        </p:spPr>
      </p:pic>
      <p:pic>
        <p:nvPicPr>
          <p:cNvPr id="15" name="Graphic 14">
            <a:extLst>
              <a:ext uri="{FF2B5EF4-FFF2-40B4-BE49-F238E27FC236}">
                <a16:creationId xmlns:a16="http://schemas.microsoft.com/office/drawing/2014/main" id="{CD1C29E7-0246-1CD7-8A1F-30707B7E1852}"/>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394192" y="4729773"/>
            <a:ext cx="2851533" cy="938724"/>
          </a:xfrm>
          <a:prstGeom prst="rect">
            <a:avLst/>
          </a:prstGeom>
        </p:spPr>
      </p:pic>
      <p:sp>
        <p:nvSpPr>
          <p:cNvPr id="16" name="TextBox 15">
            <a:extLst>
              <a:ext uri="{FF2B5EF4-FFF2-40B4-BE49-F238E27FC236}">
                <a16:creationId xmlns:a16="http://schemas.microsoft.com/office/drawing/2014/main" id="{2B8C7C2A-22F2-9C49-D70E-5C8A22C35019}"/>
              </a:ext>
            </a:extLst>
          </p:cNvPr>
          <p:cNvSpPr txBox="1"/>
          <p:nvPr userDrawn="1"/>
        </p:nvSpPr>
        <p:spPr>
          <a:xfrm>
            <a:off x="2189351" y="4909434"/>
            <a:ext cx="2582537" cy="1323439"/>
          </a:xfrm>
          <a:prstGeom prst="rect">
            <a:avLst/>
          </a:prstGeom>
          <a:noFill/>
        </p:spPr>
        <p:txBody>
          <a:bodyPr wrap="square" rtlCol="0">
            <a:spAutoFit/>
          </a:bodyPr>
          <a:lstStyle/>
          <a:p>
            <a:pPr marL="180000">
              <a:spcBef>
                <a:spcPts val="0"/>
              </a:spcBef>
            </a:pPr>
            <a:r>
              <a:rPr lang="en-GB" sz="1600" b="0" dirty="0">
                <a:latin typeface="Arial Nova Cond Light" panose="020B0306020202020204" pitchFamily="34" charset="0"/>
                <a:cs typeface="Courier New" panose="02070309020205020404" pitchFamily="49" charset="0"/>
                <a:hlinkClick r:id="rId7"/>
              </a:rPr>
              <a:t>chris.moreh@ncl.ac.uk</a:t>
            </a:r>
            <a:endParaRPr lang="en-GB" sz="1600" b="0" dirty="0">
              <a:latin typeface="Arial Nova Cond Light" panose="020B0306020202020204" pitchFamily="34" charset="0"/>
              <a:cs typeface="Courier New" panose="02070309020205020404" pitchFamily="49" charset="0"/>
              <a:hlinkClick r:id="rId8"/>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8"/>
              </a:rPr>
              <a:t>chrismoreh.com</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9"/>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0"/>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1"/>
              </a:rPr>
              <a:t>Chris Moreh</a:t>
            </a:r>
            <a:endParaRPr lang="en-GB" sz="1600" b="0" dirty="0">
              <a:latin typeface="Arial Nova Cond Light" panose="020B0306020202020204" pitchFamily="34" charset="0"/>
              <a:cs typeface="Courier New" panose="02070309020205020404" pitchFamily="49" charset="0"/>
            </a:endParaRPr>
          </a:p>
        </p:txBody>
      </p:sp>
      <p:pic>
        <p:nvPicPr>
          <p:cNvPr id="17" name="Picture 16">
            <a:extLst>
              <a:ext uri="{FF2B5EF4-FFF2-40B4-BE49-F238E27FC236}">
                <a16:creationId xmlns:a16="http://schemas.microsoft.com/office/drawing/2014/main" id="{DD7CACF7-D679-73AB-9142-786DA076C3A7}"/>
              </a:ext>
            </a:extLst>
          </p:cNvPr>
          <p:cNvPicPr>
            <a:picLocks noChangeAspect="1"/>
          </p:cNvPicPr>
          <p:nvPr userDrawn="1"/>
        </p:nvPicPr>
        <p:blipFill>
          <a:blip r:embed="rId12"/>
          <a:stretch>
            <a:fillRect/>
          </a:stretch>
        </p:blipFill>
        <p:spPr>
          <a:xfrm flipH="1">
            <a:off x="2205260" y="5245571"/>
            <a:ext cx="174474" cy="180000"/>
          </a:xfrm>
          <a:prstGeom prst="rect">
            <a:avLst/>
          </a:prstGeom>
        </p:spPr>
      </p:pic>
      <p:pic>
        <p:nvPicPr>
          <p:cNvPr id="18" name="Picture 4">
            <a:extLst>
              <a:ext uri="{FF2B5EF4-FFF2-40B4-BE49-F238E27FC236}">
                <a16:creationId xmlns:a16="http://schemas.microsoft.com/office/drawing/2014/main" id="{F5D755EC-05C2-0884-2C2F-74A7297B707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174731" y="5712062"/>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40A42823-F60C-D577-74D9-FE8C3E3A623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199734" y="5980746"/>
            <a:ext cx="19125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
            <a:extLst>
              <a:ext uri="{FF2B5EF4-FFF2-40B4-BE49-F238E27FC236}">
                <a16:creationId xmlns:a16="http://schemas.microsoft.com/office/drawing/2014/main" id="{ECDBB212-ABA5-CE0D-7F0C-C37D656E0D6B}"/>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2169249" y="5458509"/>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Email Icon Clip Art , Royalty PNG Transparent Background, Free Download  #130 - FreeIconsPNG">
            <a:extLst>
              <a:ext uri="{FF2B5EF4-FFF2-40B4-BE49-F238E27FC236}">
                <a16:creationId xmlns:a16="http://schemas.microsoft.com/office/drawing/2014/main" id="{9AD65224-3024-068D-2B15-9BC765970543}"/>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210092" y="5003382"/>
            <a:ext cx="17640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D63504B0-8CB3-256C-EF50-E93FEF75ACFC}"/>
              </a:ext>
            </a:extLst>
          </p:cNvPr>
          <p:cNvPicPr>
            <a:picLocks noChangeAspect="1"/>
          </p:cNvPicPr>
          <p:nvPr userDrawn="1"/>
        </p:nvPicPr>
        <p:blipFill rotWithShape="1">
          <a:blip r:embed="rId17"/>
          <a:srcRect l="14262" t="5451" r="9231" b="22240"/>
          <a:stretch/>
        </p:blipFill>
        <p:spPr>
          <a:xfrm>
            <a:off x="851647" y="1470212"/>
            <a:ext cx="5629836" cy="2671482"/>
          </a:xfrm>
          <a:prstGeom prst="rect">
            <a:avLst/>
          </a:prstGeom>
        </p:spPr>
      </p:pic>
    </p:spTree>
    <p:extLst>
      <p:ext uri="{BB962C8B-B14F-4D97-AF65-F5344CB8AC3E}">
        <p14:creationId xmlns:p14="http://schemas.microsoft.com/office/powerpoint/2010/main" val="6913247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ECC6-7BD6-D9D0-DD8F-30FCF10DE4E6}"/>
              </a:ext>
            </a:extLst>
          </p:cNvPr>
          <p:cNvSpPr>
            <a:spLocks noGrp="1"/>
          </p:cNvSpPr>
          <p:nvPr>
            <p:ph type="title" hasCustomPrompt="1"/>
          </p:nvPr>
        </p:nvSpPr>
        <p:spPr/>
        <p:txBody>
          <a:bodyPr/>
          <a:lstStyle>
            <a:lvl1pPr>
              <a:defRPr/>
            </a:lvl1pPr>
          </a:lstStyle>
          <a:p>
            <a:r>
              <a:rPr lang="en-GB" dirty="0"/>
              <a:t>References</a:t>
            </a:r>
          </a:p>
        </p:txBody>
      </p:sp>
      <p:sp>
        <p:nvSpPr>
          <p:cNvPr id="3" name="Date Placeholder 2">
            <a:extLst>
              <a:ext uri="{FF2B5EF4-FFF2-40B4-BE49-F238E27FC236}">
                <a16:creationId xmlns:a16="http://schemas.microsoft.com/office/drawing/2014/main" id="{B9857D05-3B38-1245-894D-24581A24F27D}"/>
              </a:ext>
            </a:extLst>
          </p:cNvPr>
          <p:cNvSpPr>
            <a:spLocks noGrp="1"/>
          </p:cNvSpPr>
          <p:nvPr>
            <p:ph type="dt" sz="half" idx="10"/>
          </p:nvPr>
        </p:nvSpPr>
        <p:spPr/>
        <p:txBody>
          <a:bodyPr/>
          <a:lstStyle/>
          <a:p>
            <a:fld id="{FCFA4D05-365A-4B15-8B93-36C148EAB091}" type="datetimeyyyy">
              <a:rPr lang="en-US" smtClean="0"/>
              <a:t>2026</a:t>
            </a:fld>
            <a:endParaRPr lang="en-GB" dirty="0"/>
          </a:p>
        </p:txBody>
      </p:sp>
      <p:sp>
        <p:nvSpPr>
          <p:cNvPr id="4" name="Footer Placeholder 3">
            <a:extLst>
              <a:ext uri="{FF2B5EF4-FFF2-40B4-BE49-F238E27FC236}">
                <a16:creationId xmlns:a16="http://schemas.microsoft.com/office/drawing/2014/main" id="{F3C7BA36-6C3C-C811-3047-B251D5B25444}"/>
              </a:ext>
            </a:extLst>
          </p:cNvPr>
          <p:cNvSpPr>
            <a:spLocks noGrp="1"/>
          </p:cNvSpPr>
          <p:nvPr>
            <p:ph type="ftr" sz="quarter" idx="11"/>
          </p:nvPr>
        </p:nvSpPr>
        <p:spPr/>
        <p:txBody>
          <a:bodyPr/>
          <a:lstStyle/>
          <a:p>
            <a:r>
              <a:rPr lang="en-GB"/>
              <a:t>Comparisons and Associations</a:t>
            </a:r>
            <a:endParaRPr lang="en-GB" dirty="0"/>
          </a:p>
        </p:txBody>
      </p:sp>
      <p:sp>
        <p:nvSpPr>
          <p:cNvPr id="5" name="Slide Number Placeholder 4">
            <a:extLst>
              <a:ext uri="{FF2B5EF4-FFF2-40B4-BE49-F238E27FC236}">
                <a16:creationId xmlns:a16="http://schemas.microsoft.com/office/drawing/2014/main" id="{6589F523-D9FC-8E93-1712-1B6E3DE742AF}"/>
              </a:ext>
            </a:extLst>
          </p:cNvPr>
          <p:cNvSpPr>
            <a:spLocks noGrp="1"/>
          </p:cNvSpPr>
          <p:nvPr>
            <p:ph type="sldNum" sz="quarter" idx="12"/>
          </p:nvPr>
        </p:nvSpPr>
        <p:spPr/>
        <p:txBody>
          <a:bodyPr/>
          <a:lstStyle/>
          <a:p>
            <a:fld id="{9FAA51BB-2FC0-4DB8-B50E-F52D50E733B6}" type="slidenum">
              <a:rPr lang="en-GB" smtClean="0"/>
              <a:pPr/>
              <a:t>‹#›</a:t>
            </a:fld>
            <a:endParaRPr lang="en-GB" dirty="0"/>
          </a:p>
        </p:txBody>
      </p:sp>
      <p:sp>
        <p:nvSpPr>
          <p:cNvPr id="7" name="Text Placeholder 6">
            <a:extLst>
              <a:ext uri="{FF2B5EF4-FFF2-40B4-BE49-F238E27FC236}">
                <a16:creationId xmlns:a16="http://schemas.microsoft.com/office/drawing/2014/main" id="{C9FD4878-448B-C559-6183-304914140DFB}"/>
              </a:ext>
            </a:extLst>
          </p:cNvPr>
          <p:cNvSpPr>
            <a:spLocks noGrp="1"/>
          </p:cNvSpPr>
          <p:nvPr>
            <p:ph type="body" sz="quarter" idx="13"/>
          </p:nvPr>
        </p:nvSpPr>
        <p:spPr>
          <a:xfrm>
            <a:off x="757238" y="1431925"/>
            <a:ext cx="10455275" cy="46577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7463633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756746" y="286604"/>
            <a:ext cx="9578516" cy="911576"/>
          </a:xfrm>
          <a:prstGeom prst="rect">
            <a:avLst/>
          </a:prstGeom>
        </p:spPr>
        <p:txBody>
          <a:bodyPr vert="horz" lIns="91440" tIns="45720" rIns="91440" bIns="45720" rtlCol="0" anchor="b">
            <a:normAutofit/>
          </a:bodyPr>
          <a:lstStyle/>
          <a:p>
            <a:r>
              <a:rPr lang="en-GB" dirty="0"/>
              <a:t>Click to edit Master title style</a:t>
            </a:r>
            <a:endParaRPr lang="en-US" dirty="0"/>
          </a:p>
        </p:txBody>
      </p:sp>
      <p:sp>
        <p:nvSpPr>
          <p:cNvPr id="3" name="Text Placeholder 2"/>
          <p:cNvSpPr>
            <a:spLocks noGrp="1"/>
          </p:cNvSpPr>
          <p:nvPr>
            <p:ph type="body" idx="1"/>
          </p:nvPr>
        </p:nvSpPr>
        <p:spPr>
          <a:xfrm>
            <a:off x="756745" y="1477880"/>
            <a:ext cx="10398935" cy="4681181"/>
          </a:xfrm>
          <a:prstGeom prst="rect">
            <a:avLst/>
          </a:prstGeom>
        </p:spPr>
        <p:txBody>
          <a:bodyPr vert="horz" lIns="0" tIns="45720" rIns="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1200">
                <a:solidFill>
                  <a:srgbClr val="FFFFFF"/>
                </a:solidFill>
              </a:defRPr>
            </a:lvl1pPr>
          </a:lstStyle>
          <a:p>
            <a:fld id="{C152BAAC-95A2-4C37-A56A-05BD66A7CD55}" type="datetimeyyyy">
              <a:rPr lang="en-US" smtClean="0"/>
              <a:t>2026</a:t>
            </a:fld>
            <a:endParaRPr lang="en-GB"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1000" cap="all" baseline="0">
                <a:solidFill>
                  <a:srgbClr val="FFFFFF"/>
                </a:solidFill>
              </a:defRPr>
            </a:lvl1pPr>
          </a:lstStyle>
          <a:p>
            <a:r>
              <a:rPr lang="en-GB"/>
              <a:t>Comparisons and Associations</a:t>
            </a:r>
            <a:endParaRPr lang="en-GB"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200">
                <a:solidFill>
                  <a:srgbClr val="FFFFFF"/>
                </a:solidFill>
              </a:defRPr>
            </a:lvl1pPr>
          </a:lstStyle>
          <a:p>
            <a:fld id="{9FAA51BB-2FC0-4DB8-B50E-F52D50E733B6}" type="slidenum">
              <a:rPr lang="en-GB" smtClean="0"/>
              <a:pPr/>
              <a:t>‹#›</a:t>
            </a:fld>
            <a:endParaRPr lang="en-GB" dirty="0"/>
          </a:p>
        </p:txBody>
      </p:sp>
    </p:spTree>
    <p:extLst>
      <p:ext uri="{BB962C8B-B14F-4D97-AF65-F5344CB8AC3E}">
        <p14:creationId xmlns:p14="http://schemas.microsoft.com/office/powerpoint/2010/main" val="3120243165"/>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3" r:id="rId4"/>
    <p:sldLayoutId id="2147483668" r:id="rId5"/>
    <p:sldLayoutId id="2147483669" r:id="rId6"/>
    <p:sldLayoutId id="2147483664" r:id="rId7"/>
    <p:sldLayoutId id="2147483665" r:id="rId8"/>
    <p:sldLayoutId id="2147483666" r:id="rId9"/>
    <p:sldLayoutId id="2147483667" r:id="rId10"/>
    <p:sldLayoutId id="2147483674" r:id="rId11"/>
    <p:sldLayoutId id="2147483676" r:id="rId12"/>
    <p:sldLayoutId id="2147483675" r:id="rId13"/>
    <p:sldLayoutId id="2147483670" r:id="rId14"/>
    <p:sldLayoutId id="2147483671" r:id="rId15"/>
    <p:sldLayoutId id="2147483673" r:id="rId16"/>
    <p:sldLayoutId id="2147483677" r:id="rId17"/>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p:txStyles>
    <p:titleStyle>
      <a:lvl1pPr algn="l" defTabSz="914400" rtl="0" eaLnBrk="1" latinLnBrk="0" hangingPunct="1">
        <a:lnSpc>
          <a:spcPct val="100000"/>
        </a:lnSpc>
        <a:spcBef>
          <a:spcPct val="0"/>
        </a:spcBef>
        <a:buNone/>
        <a:defRPr sz="4000" b="1" kern="1200" spc="-50" baseline="0">
          <a:solidFill>
            <a:schemeClr val="accent1">
              <a:lumMod val="5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SzPct val="120000"/>
        <a:buFont typeface="Arial Narrow" panose="020B0606020202030204"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SzPct val="11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SzPct val="110000"/>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749808"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2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chart" Target="../charts/chart8.xml"/><Relationship Id="rId7" Type="http://schemas.openxmlformats.org/officeDocument/2006/relationships/hyperlink" Target="https://guessthecorrelation.com/"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chart" Target="../charts/chart9.xml"/></Relationships>
</file>

<file path=ppt/slides/_rels/slide29.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chart" Target="../charts/chart15.xml"/></Relationships>
</file>

<file path=ppt/slides/_rels/slide35.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a:extLst>
              <a:ext uri="{FF2B5EF4-FFF2-40B4-BE49-F238E27FC236}">
                <a16:creationId xmlns:a16="http://schemas.microsoft.com/office/drawing/2014/main" id="{8280CFAB-64B1-8AAB-08BA-B417B972F997}"/>
              </a:ext>
            </a:extLst>
          </p:cNvPr>
          <p:cNvPicPr>
            <a:picLocks noChangeAspect="1" noChangeArrowheads="1"/>
          </p:cNvPicPr>
          <p:nvPr/>
        </p:nvPicPr>
        <p:blipFill rotWithShape="1">
          <a:blip r:embed="rId3">
            <a:alphaModFix/>
            <a:extLst>
              <a:ext uri="{28A0092B-C50C-407E-A947-70E740481C1C}">
                <a14:useLocalDpi xmlns:a14="http://schemas.microsoft.com/office/drawing/2010/main" val="0"/>
              </a:ext>
            </a:extLst>
          </a:blip>
          <a:srcRect l="17245" t="2011" r="13041"/>
          <a:stretch/>
        </p:blipFill>
        <p:spPr bwMode="auto">
          <a:xfrm>
            <a:off x="9383756" y="5633884"/>
            <a:ext cx="841864" cy="619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6133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060982-6EE3-A8F1-75FE-C4BDB2FF3CBE}"/>
              </a:ext>
            </a:extLst>
          </p:cNvPr>
          <p:cNvSpPr>
            <a:spLocks noGrp="1"/>
          </p:cNvSpPr>
          <p:nvPr>
            <p:ph type="title"/>
          </p:nvPr>
        </p:nvSpPr>
        <p:spPr/>
        <p:txBody>
          <a:bodyPr/>
          <a:lstStyle/>
          <a:p>
            <a:r>
              <a:rPr lang="en-GB" sz="6000" b="1" dirty="0"/>
              <a:t>Week 2</a:t>
            </a:r>
          </a:p>
        </p:txBody>
      </p:sp>
      <p:sp>
        <p:nvSpPr>
          <p:cNvPr id="7" name="Text Placeholder 6">
            <a:extLst>
              <a:ext uri="{FF2B5EF4-FFF2-40B4-BE49-F238E27FC236}">
                <a16:creationId xmlns:a16="http://schemas.microsoft.com/office/drawing/2014/main" id="{E112B5B6-7C9E-9DE5-8D2C-13D42F1FBB68}"/>
              </a:ext>
            </a:extLst>
          </p:cNvPr>
          <p:cNvSpPr>
            <a:spLocks noGrp="1"/>
          </p:cNvSpPr>
          <p:nvPr>
            <p:ph type="body" sz="half" idx="2"/>
          </p:nvPr>
        </p:nvSpPr>
        <p:spPr/>
        <p:txBody>
          <a:bodyPr>
            <a:normAutofit/>
          </a:bodyPr>
          <a:lstStyle/>
          <a:p>
            <a:r>
              <a:rPr lang="en-GB" sz="3600" dirty="0"/>
              <a:t>Comparisons and Associations</a:t>
            </a:r>
          </a:p>
        </p:txBody>
      </p:sp>
      <p:sp>
        <p:nvSpPr>
          <p:cNvPr id="4" name="Footer Placeholder 3">
            <a:extLst>
              <a:ext uri="{FF2B5EF4-FFF2-40B4-BE49-F238E27FC236}">
                <a16:creationId xmlns:a16="http://schemas.microsoft.com/office/drawing/2014/main" id="{EC4BC908-4805-889D-BE4F-455E3A449AA4}"/>
              </a:ext>
            </a:extLst>
          </p:cNvPr>
          <p:cNvSpPr>
            <a:spLocks noGrp="1"/>
          </p:cNvSpPr>
          <p:nvPr>
            <p:ph type="ftr" sz="quarter" idx="11"/>
          </p:nvPr>
        </p:nvSpPr>
        <p:spPr/>
        <p:txBody>
          <a:bodyPr/>
          <a:lstStyle/>
          <a:p>
            <a:r>
              <a:rPr lang="en-GB"/>
              <a:t>Comparisons and Associations</a:t>
            </a:r>
          </a:p>
        </p:txBody>
      </p:sp>
      <p:sp>
        <p:nvSpPr>
          <p:cNvPr id="5" name="Slide Number Placeholder 4">
            <a:extLst>
              <a:ext uri="{FF2B5EF4-FFF2-40B4-BE49-F238E27FC236}">
                <a16:creationId xmlns:a16="http://schemas.microsoft.com/office/drawing/2014/main" id="{9E2F49CC-8A5A-2FB3-FD34-139202D1D593}"/>
              </a:ext>
            </a:extLst>
          </p:cNvPr>
          <p:cNvSpPr>
            <a:spLocks noGrp="1"/>
          </p:cNvSpPr>
          <p:nvPr>
            <p:ph type="sldNum" sz="quarter" idx="12"/>
          </p:nvPr>
        </p:nvSpPr>
        <p:spPr/>
        <p:txBody>
          <a:bodyPr/>
          <a:lstStyle/>
          <a:p>
            <a:fld id="{9FAA51BB-2FC0-4DB8-B50E-F52D50E733B6}" type="slidenum">
              <a:rPr lang="en-GB" smtClean="0"/>
              <a:t>2</a:t>
            </a:fld>
            <a:endParaRPr lang="en-GB"/>
          </a:p>
        </p:txBody>
      </p:sp>
      <p:sp>
        <p:nvSpPr>
          <p:cNvPr id="2" name="Date Placeholder 1">
            <a:extLst>
              <a:ext uri="{FF2B5EF4-FFF2-40B4-BE49-F238E27FC236}">
                <a16:creationId xmlns:a16="http://schemas.microsoft.com/office/drawing/2014/main" id="{557DF13B-E798-0B03-A01C-3CC9B2D9B47D}"/>
              </a:ext>
            </a:extLst>
          </p:cNvPr>
          <p:cNvSpPr>
            <a:spLocks noGrp="1"/>
          </p:cNvSpPr>
          <p:nvPr>
            <p:ph type="dt" sz="half" idx="10"/>
          </p:nvPr>
        </p:nvSpPr>
        <p:spPr/>
        <p:txBody>
          <a:bodyPr/>
          <a:lstStyle/>
          <a:p>
            <a:fld id="{F82512CF-A77F-4E47-9FDF-B35245022CEE}" type="datetimeyyyy">
              <a:rPr lang="en-US" smtClean="0"/>
              <a:t>2026</a:t>
            </a:fld>
            <a:endParaRPr lang="en-GB"/>
          </a:p>
        </p:txBody>
      </p:sp>
    </p:spTree>
    <p:extLst>
      <p:ext uri="{BB962C8B-B14F-4D97-AF65-F5344CB8AC3E}">
        <p14:creationId xmlns:p14="http://schemas.microsoft.com/office/powerpoint/2010/main" val="38144591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Today</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3</a:t>
            </a:fld>
            <a:endParaRPr lang="en-GB"/>
          </a:p>
        </p:txBody>
      </p:sp>
      <p:sp>
        <p:nvSpPr>
          <p:cNvPr id="7" name="Step 1"/>
          <p:cNvSpPr/>
          <p:nvPr/>
        </p:nvSpPr>
        <p:spPr>
          <a:xfrm>
            <a:off x="758952" y="1463040"/>
            <a:ext cx="2144268" cy="2103120"/>
          </a:xfrm>
          <a:prstGeom prst="roundRect">
            <a:avLst>
              <a:gd name="adj" fmla="val 8000"/>
            </a:avLst>
          </a:prstGeom>
          <a:solidFill>
            <a:srgbClr val="EEF3F7"/>
          </a:solidFill>
          <a:ln>
            <a:noFill/>
          </a:ln>
        </p:spPr>
        <p:txBody>
          <a:bodyPr rtlCol="0" anchor="ctr"/>
          <a:lstStyle/>
          <a:p>
            <a:endParaRPr/>
          </a:p>
        </p:txBody>
      </p:sp>
      <p:sp>
        <p:nvSpPr>
          <p:cNvPr id="8" name="TextBox 7"/>
          <p:cNvSpPr txBox="1"/>
          <p:nvPr/>
        </p:nvSpPr>
        <p:spPr>
          <a:xfrm>
            <a:off x="896112" y="1554480"/>
            <a:ext cx="1869948" cy="1920239"/>
          </a:xfrm>
          <a:prstGeom prst="rect">
            <a:avLst/>
          </a:prstGeom>
          <a:noFill/>
        </p:spPr>
        <p:txBody>
          <a:bodyPr wrap="square" lIns="0" tIns="0" rIns="0" bIns="0" anchor="ctr">
            <a:spAutoFit/>
          </a:bodyPr>
          <a:lstStyle/>
          <a:p>
            <a:pPr algn="l">
              <a:spcAft>
                <a:spcPts val="300"/>
              </a:spcAft>
            </a:pPr>
            <a:r>
              <a:rPr sz="2200" b="1" i="0">
                <a:solidFill>
                  <a:srgbClr val="1F394D"/>
                </a:solidFill>
              </a:rPr>
              <a:t>One variable</a:t>
            </a:r>
          </a:p>
          <a:p>
            <a:pPr algn="l"/>
            <a:r>
              <a:rPr sz="1800" b="0" i="0">
                <a:solidFill>
                  <a:srgbClr val="55606B"/>
                </a:solidFill>
              </a:rPr>
              <a:t>Last week: frequencies, centre and spread</a:t>
            </a:r>
          </a:p>
        </p:txBody>
      </p:sp>
      <p:sp>
        <p:nvSpPr>
          <p:cNvPr id="9" name="Right Arrow 8"/>
          <p:cNvSpPr/>
          <p:nvPr/>
        </p:nvSpPr>
        <p:spPr>
          <a:xfrm>
            <a:off x="3012948" y="2350008"/>
            <a:ext cx="457200" cy="329184"/>
          </a:xfrm>
          <a:prstGeom prst="rightArrow">
            <a:avLst/>
          </a:prstGeom>
          <a:solidFill>
            <a:srgbClr val="3F739B"/>
          </a:solidFill>
          <a:ln>
            <a:noFill/>
          </a:ln>
        </p:spPr>
        <p:txBody>
          <a:bodyPr rtlCol="0" anchor="ctr"/>
          <a:lstStyle/>
          <a:p>
            <a:pPr algn="ctr"/>
            <a:endParaRPr/>
          </a:p>
        </p:txBody>
      </p:sp>
      <p:sp>
        <p:nvSpPr>
          <p:cNvPr id="10" name="Step 2"/>
          <p:cNvSpPr/>
          <p:nvPr/>
        </p:nvSpPr>
        <p:spPr>
          <a:xfrm>
            <a:off x="3579876" y="1463040"/>
            <a:ext cx="2144268" cy="210312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3717036" y="1772089"/>
            <a:ext cx="1869948" cy="1485022"/>
          </a:xfrm>
          <a:prstGeom prst="rect">
            <a:avLst/>
          </a:prstGeom>
          <a:noFill/>
        </p:spPr>
        <p:txBody>
          <a:bodyPr wrap="square" lIns="0" tIns="0" rIns="0" bIns="0" anchor="ctr">
            <a:spAutoFit/>
          </a:bodyPr>
          <a:lstStyle/>
          <a:p>
            <a:pPr algn="l">
              <a:spcAft>
                <a:spcPts val="300"/>
              </a:spcAft>
            </a:pPr>
            <a:r>
              <a:rPr sz="2200" b="1" i="0" dirty="0">
                <a:solidFill>
                  <a:srgbClr val="1F394D"/>
                </a:solidFill>
              </a:rPr>
              <a:t>Two variables</a:t>
            </a:r>
          </a:p>
          <a:p>
            <a:pPr algn="l"/>
            <a:r>
              <a:rPr sz="1800" b="0" i="0" dirty="0">
                <a:solidFill>
                  <a:srgbClr val="55606B"/>
                </a:solidFill>
              </a:rPr>
              <a:t>Do the values of one </a:t>
            </a:r>
            <a:r>
              <a:rPr lang="en-GB" dirty="0">
                <a:solidFill>
                  <a:srgbClr val="55606B"/>
                </a:solidFill>
              </a:rPr>
              <a:t>“rhyme” </a:t>
            </a:r>
            <a:r>
              <a:rPr sz="1800" b="0" i="0" dirty="0">
                <a:solidFill>
                  <a:srgbClr val="55606B"/>
                </a:solidFill>
              </a:rPr>
              <a:t>with the values of another?</a:t>
            </a:r>
          </a:p>
        </p:txBody>
      </p:sp>
      <p:sp>
        <p:nvSpPr>
          <p:cNvPr id="12" name="Right Arrow 11"/>
          <p:cNvSpPr/>
          <p:nvPr/>
        </p:nvSpPr>
        <p:spPr>
          <a:xfrm>
            <a:off x="5833872" y="2350008"/>
            <a:ext cx="457200" cy="329184"/>
          </a:xfrm>
          <a:prstGeom prst="rightArrow">
            <a:avLst/>
          </a:prstGeom>
          <a:solidFill>
            <a:srgbClr val="3F739B"/>
          </a:solidFill>
          <a:ln>
            <a:noFill/>
          </a:ln>
        </p:spPr>
        <p:txBody>
          <a:bodyPr rtlCol="0" anchor="ctr"/>
          <a:lstStyle/>
          <a:p>
            <a:pPr algn="ctr"/>
            <a:endParaRPr/>
          </a:p>
        </p:txBody>
      </p:sp>
      <p:sp>
        <p:nvSpPr>
          <p:cNvPr id="13" name="Step 3"/>
          <p:cNvSpPr/>
          <p:nvPr/>
        </p:nvSpPr>
        <p:spPr>
          <a:xfrm>
            <a:off x="6400800" y="1463040"/>
            <a:ext cx="2144268" cy="2103120"/>
          </a:xfrm>
          <a:prstGeom prst="roundRect">
            <a:avLst>
              <a:gd name="adj" fmla="val 8000"/>
            </a:avLst>
          </a:prstGeom>
          <a:solidFill>
            <a:srgbClr val="EEF3F7"/>
          </a:solidFill>
          <a:ln>
            <a:noFill/>
          </a:ln>
        </p:spPr>
        <p:txBody>
          <a:bodyPr rtlCol="0" anchor="ctr"/>
          <a:lstStyle/>
          <a:p>
            <a:endParaRPr/>
          </a:p>
        </p:txBody>
      </p:sp>
      <p:sp>
        <p:nvSpPr>
          <p:cNvPr id="14" name="TextBox 13"/>
          <p:cNvSpPr txBox="1"/>
          <p:nvPr/>
        </p:nvSpPr>
        <p:spPr>
          <a:xfrm>
            <a:off x="6537960" y="1554480"/>
            <a:ext cx="1869948" cy="1920239"/>
          </a:xfrm>
          <a:prstGeom prst="rect">
            <a:avLst/>
          </a:prstGeom>
          <a:noFill/>
        </p:spPr>
        <p:txBody>
          <a:bodyPr wrap="square" lIns="0" tIns="0" rIns="0" bIns="0" anchor="ctr">
            <a:spAutoFit/>
          </a:bodyPr>
          <a:lstStyle/>
          <a:p>
            <a:pPr algn="l">
              <a:spcAft>
                <a:spcPts val="300"/>
              </a:spcAft>
            </a:pPr>
            <a:r>
              <a:rPr sz="2200" b="1" i="0">
                <a:solidFill>
                  <a:srgbClr val="1F394D"/>
                </a:solidFill>
              </a:rPr>
              <a:t>Pick the tool</a:t>
            </a:r>
          </a:p>
          <a:p>
            <a:pPr algn="l"/>
            <a:r>
              <a:rPr sz="1800" b="0" i="0">
                <a:solidFill>
                  <a:srgbClr val="55606B"/>
                </a:solidFill>
              </a:rPr>
              <a:t>Contingency tables, group comparisons, scatter plots</a:t>
            </a:r>
          </a:p>
        </p:txBody>
      </p:sp>
      <p:sp>
        <p:nvSpPr>
          <p:cNvPr id="15" name="Right Arrow 14"/>
          <p:cNvSpPr/>
          <p:nvPr/>
        </p:nvSpPr>
        <p:spPr>
          <a:xfrm>
            <a:off x="8654795" y="2350008"/>
            <a:ext cx="457200" cy="329184"/>
          </a:xfrm>
          <a:prstGeom prst="rightArrow">
            <a:avLst/>
          </a:prstGeom>
          <a:solidFill>
            <a:srgbClr val="3F739B"/>
          </a:solidFill>
          <a:ln>
            <a:noFill/>
          </a:ln>
        </p:spPr>
        <p:txBody>
          <a:bodyPr rtlCol="0" anchor="ctr"/>
          <a:lstStyle/>
          <a:p>
            <a:pPr algn="ctr"/>
            <a:endParaRPr/>
          </a:p>
        </p:txBody>
      </p:sp>
      <p:sp>
        <p:nvSpPr>
          <p:cNvPr id="16" name="Step 4"/>
          <p:cNvSpPr/>
          <p:nvPr/>
        </p:nvSpPr>
        <p:spPr>
          <a:xfrm>
            <a:off x="9221724" y="1463040"/>
            <a:ext cx="2144268" cy="2103120"/>
          </a:xfrm>
          <a:prstGeom prst="roundRect">
            <a:avLst>
              <a:gd name="adj" fmla="val 8000"/>
            </a:avLst>
          </a:prstGeom>
          <a:solidFill>
            <a:srgbClr val="1F394D"/>
          </a:solidFill>
          <a:ln>
            <a:noFill/>
          </a:ln>
        </p:spPr>
        <p:txBody>
          <a:bodyPr rtlCol="0" anchor="ctr"/>
          <a:lstStyle/>
          <a:p>
            <a:endParaRPr/>
          </a:p>
        </p:txBody>
      </p:sp>
      <p:sp>
        <p:nvSpPr>
          <p:cNvPr id="17" name="TextBox 16"/>
          <p:cNvSpPr txBox="1"/>
          <p:nvPr/>
        </p:nvSpPr>
        <p:spPr>
          <a:xfrm>
            <a:off x="9358884" y="1554480"/>
            <a:ext cx="1869948" cy="1920239"/>
          </a:xfrm>
          <a:prstGeom prst="rect">
            <a:avLst/>
          </a:prstGeom>
          <a:noFill/>
        </p:spPr>
        <p:txBody>
          <a:bodyPr wrap="square" lIns="0" tIns="0" rIns="0" bIns="0" anchor="ctr">
            <a:spAutoFit/>
          </a:bodyPr>
          <a:lstStyle/>
          <a:p>
            <a:pPr algn="l">
              <a:spcAft>
                <a:spcPts val="300"/>
              </a:spcAft>
            </a:pPr>
            <a:r>
              <a:rPr sz="2200" b="1" i="0">
                <a:solidFill>
                  <a:srgbClr val="FFFFFF"/>
                </a:solidFill>
              </a:rPr>
              <a:t>Workshop</a:t>
            </a:r>
          </a:p>
          <a:p>
            <a:pPr algn="l"/>
            <a:r>
              <a:rPr sz="1800" b="0" i="0">
                <a:solidFill>
                  <a:srgbClr val="CCDDEA"/>
                </a:solidFill>
              </a:rPr>
              <a:t>Trust by sex, age and inequality in JASP</a:t>
            </a:r>
          </a:p>
        </p:txBody>
      </p:sp>
      <p:sp>
        <p:nvSpPr>
          <p:cNvPr id="18" name="Rounded Rectangle 17"/>
          <p:cNvSpPr/>
          <p:nvPr/>
        </p:nvSpPr>
        <p:spPr>
          <a:xfrm>
            <a:off x="792480" y="3911600"/>
            <a:ext cx="10607040" cy="1737360"/>
          </a:xfrm>
          <a:prstGeom prst="roundRect">
            <a:avLst>
              <a:gd name="adj" fmla="val 8000"/>
            </a:avLst>
          </a:prstGeom>
          <a:solidFill>
            <a:srgbClr val="EEF3F7"/>
          </a:solidFill>
          <a:ln>
            <a:noFill/>
          </a:ln>
        </p:spPr>
        <p:txBody>
          <a:bodyPr rtlCol="0" anchor="ctr"/>
          <a:lstStyle/>
          <a:p>
            <a:endParaRPr dirty="0"/>
          </a:p>
        </p:txBody>
      </p:sp>
      <p:sp>
        <p:nvSpPr>
          <p:cNvPr id="19" name="TextBox 18"/>
          <p:cNvSpPr txBox="1"/>
          <p:nvPr/>
        </p:nvSpPr>
        <p:spPr>
          <a:xfrm>
            <a:off x="960120" y="4092854"/>
            <a:ext cx="10204704" cy="964367"/>
          </a:xfrm>
          <a:prstGeom prst="rect">
            <a:avLst/>
          </a:prstGeom>
          <a:noFill/>
        </p:spPr>
        <p:txBody>
          <a:bodyPr wrap="square" lIns="0" tIns="0" rIns="0" bIns="0" anchor="t">
            <a:spAutoFit/>
          </a:bodyPr>
          <a:lstStyle/>
          <a:p>
            <a:pPr algn="l">
              <a:spcAft>
                <a:spcPts val="400"/>
              </a:spcAft>
            </a:pPr>
            <a:r>
              <a:rPr sz="2000" b="1" i="0" dirty="0">
                <a:solidFill>
                  <a:srgbClr val="1F394D"/>
                </a:solidFill>
              </a:rPr>
              <a:t>This week’s </a:t>
            </a:r>
            <a:r>
              <a:rPr lang="en-GB" sz="2000" b="1" i="0" dirty="0">
                <a:solidFill>
                  <a:srgbClr val="1F394D"/>
                </a:solidFill>
              </a:rPr>
              <a:t>application </a:t>
            </a:r>
            <a:r>
              <a:rPr sz="2000" b="1" i="0" dirty="0">
                <a:solidFill>
                  <a:srgbClr val="1F394D"/>
                </a:solidFill>
              </a:rPr>
              <a:t>questions</a:t>
            </a:r>
          </a:p>
          <a:p>
            <a:pPr algn="l">
              <a:spcAft>
                <a:spcPts val="400"/>
              </a:spcAft>
            </a:pPr>
            <a:r>
              <a:rPr sz="1800" b="0" i="0" dirty="0">
                <a:solidFill>
                  <a:srgbClr val="1F2A33"/>
                </a:solidFill>
              </a:rPr>
              <a:t>Do men and women differ in social trust? Do older people trust more?</a:t>
            </a:r>
          </a:p>
          <a:p>
            <a:pPr algn="l">
              <a:spcAft>
                <a:spcPts val="400"/>
              </a:spcAft>
            </a:pPr>
            <a:r>
              <a:rPr sz="1800" b="0" i="0" dirty="0">
                <a:solidFill>
                  <a:srgbClr val="1F2A33"/>
                </a:solidFill>
              </a:rPr>
              <a:t>Are more unequal countries less trusting?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Which tool for which pair of variables?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4</a:t>
            </a:fld>
            <a:endParaRPr lang="en-GB"/>
          </a:p>
        </p:txBody>
      </p:sp>
      <p:graphicFrame>
        <p:nvGraphicFramePr>
          <p:cNvPr id="7" name="Table 6"/>
          <p:cNvGraphicFramePr>
            <a:graphicFrameLocks noGrp="1"/>
          </p:cNvGraphicFramePr>
          <p:nvPr>
            <p:extLst>
              <p:ext uri="{D42A27DB-BD31-4B8C-83A1-F6EECF244321}">
                <p14:modId xmlns:p14="http://schemas.microsoft.com/office/powerpoint/2010/main" val="1007493768"/>
              </p:ext>
            </p:extLst>
          </p:nvPr>
        </p:nvGraphicFramePr>
        <p:xfrm>
          <a:off x="758952" y="1463040"/>
          <a:ext cx="10607040" cy="3840480"/>
        </p:xfrm>
        <a:graphic>
          <a:graphicData uri="http://schemas.openxmlformats.org/drawingml/2006/table">
            <a:tbl>
              <a:tblPr firstRow="1">
                <a:tableStyleId>{5C22544A-7EE6-4342-B048-85BDC9FD1C3A}</a:tableStyleId>
              </a:tblPr>
              <a:tblGrid>
                <a:gridCol w="2651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960120">
                <a:tc>
                  <a:txBody>
                    <a:bodyPr/>
                    <a:lstStyle/>
                    <a:p>
                      <a:pPr algn="l"/>
                      <a:r>
                        <a:rPr sz="1600" b="1">
                          <a:solidFill>
                            <a:srgbClr val="FFFFFF"/>
                          </a:solidFill>
                        </a:rPr>
                        <a:t>Two variables that are …</a:t>
                      </a:r>
                    </a:p>
                  </a:txBody>
                  <a:tcPr marT="27432" marB="27432" anchor="ctr">
                    <a:solidFill>
                      <a:srgbClr val="1F394D"/>
                    </a:solidFill>
                  </a:tcPr>
                </a:tc>
                <a:tc>
                  <a:txBody>
                    <a:bodyPr/>
                    <a:lstStyle/>
                    <a:p>
                      <a:pPr algn="l"/>
                      <a:r>
                        <a:rPr sz="1600" b="1">
                          <a:solidFill>
                            <a:srgbClr val="FFFFFF"/>
                          </a:solidFill>
                        </a:rPr>
                        <a:t>Tool</a:t>
                      </a:r>
                    </a:p>
                  </a:txBody>
                  <a:tcPr marT="27432" marB="27432" anchor="ctr">
                    <a:solidFill>
                      <a:srgbClr val="1F394D"/>
                    </a:solidFill>
                  </a:tcPr>
                </a:tc>
                <a:tc>
                  <a:txBody>
                    <a:bodyPr/>
                    <a:lstStyle/>
                    <a:p>
                      <a:pPr algn="l"/>
                      <a:r>
                        <a:rPr sz="1600" b="1" dirty="0">
                          <a:solidFill>
                            <a:srgbClr val="FFFFFF"/>
                          </a:solidFill>
                        </a:rPr>
                        <a:t>Example from the </a:t>
                      </a:r>
                      <a:r>
                        <a:rPr lang="en-GB" sz="1600" b="1" dirty="0">
                          <a:solidFill>
                            <a:srgbClr val="FFFFFF"/>
                          </a:solidFill>
                        </a:rPr>
                        <a:t>module</a:t>
                      </a:r>
                      <a:r>
                        <a:rPr sz="1600" b="1" dirty="0">
                          <a:solidFill>
                            <a:srgbClr val="FFFFFF"/>
                          </a:solidFill>
                        </a:rPr>
                        <a:t> data</a:t>
                      </a:r>
                    </a:p>
                  </a:txBody>
                  <a:tcPr marT="27432" marB="27432" anchor="ctr">
                    <a:solidFill>
                      <a:srgbClr val="1F394D"/>
                    </a:solidFill>
                  </a:tcPr>
                </a:tc>
                <a:tc>
                  <a:txBody>
                    <a:bodyPr/>
                    <a:lstStyle/>
                    <a:p>
                      <a:pPr algn="l"/>
                      <a:r>
                        <a:rPr sz="1600" b="1">
                          <a:solidFill>
                            <a:srgbClr val="FFFFFF"/>
                          </a:solidFill>
                        </a:rPr>
                        <a:t>Size of the association</a:t>
                      </a:r>
                    </a:p>
                  </a:txBody>
                  <a:tcPr marT="27432" marB="27432" anchor="ctr">
                    <a:solidFill>
                      <a:srgbClr val="1F394D"/>
                    </a:solidFill>
                  </a:tcPr>
                </a:tc>
                <a:extLst>
                  <a:ext uri="{0D108BD9-81ED-4DB2-BD59-A6C34878D82A}">
                    <a16:rowId xmlns:a16="http://schemas.microsoft.com/office/drawing/2014/main" val="10000"/>
                  </a:ext>
                </a:extLst>
              </a:tr>
              <a:tr h="960120">
                <a:tc>
                  <a:txBody>
                    <a:bodyPr/>
                    <a:lstStyle/>
                    <a:p>
                      <a:pPr algn="l"/>
                      <a:r>
                        <a:rPr sz="1600" b="1">
                          <a:solidFill>
                            <a:srgbClr val="1F2A33"/>
                          </a:solidFill>
                        </a:rPr>
                        <a:t>Categorical × categorical</a:t>
                      </a:r>
                    </a:p>
                  </a:txBody>
                  <a:tcPr marT="27432" marB="27432" anchor="ctr">
                    <a:solidFill>
                      <a:srgbClr val="FFFFFF"/>
                    </a:solidFill>
                  </a:tcPr>
                </a:tc>
                <a:tc>
                  <a:txBody>
                    <a:bodyPr/>
                    <a:lstStyle/>
                    <a:p>
                      <a:pPr algn="l"/>
                      <a:r>
                        <a:rPr sz="1600" b="0">
                          <a:solidFill>
                            <a:srgbClr val="1F2A33"/>
                          </a:solidFill>
                        </a:rPr>
                        <a:t>Contingency table with % within groups</a:t>
                      </a:r>
                    </a:p>
                  </a:txBody>
                  <a:tcPr marT="27432" marB="27432" anchor="ctr">
                    <a:solidFill>
                      <a:srgbClr val="FFFFFF"/>
                    </a:solidFill>
                  </a:tcPr>
                </a:tc>
                <a:tc>
                  <a:txBody>
                    <a:bodyPr/>
                    <a:lstStyle/>
                    <a:p>
                      <a:pPr algn="l"/>
                      <a:r>
                        <a:rPr sz="1600" b="0">
                          <a:solidFill>
                            <a:srgbClr val="1F2A33"/>
                          </a:solidFill>
                        </a:rPr>
                        <a:t>Trust (trusted / careful) by sex, BSA 2010</a:t>
                      </a:r>
                    </a:p>
                  </a:txBody>
                  <a:tcPr marT="27432" marB="27432" anchor="ctr">
                    <a:solidFill>
                      <a:srgbClr val="FFFFFF"/>
                    </a:solidFill>
                  </a:tcPr>
                </a:tc>
                <a:tc>
                  <a:txBody>
                    <a:bodyPr/>
                    <a:lstStyle/>
                    <a:p>
                      <a:pPr algn="l"/>
                      <a:r>
                        <a:rPr sz="1600" b="0">
                          <a:solidFill>
                            <a:srgbClr val="1F2A33"/>
                          </a:solidFill>
                        </a:rPr>
                        <a:t>Difference in percentage points</a:t>
                      </a:r>
                    </a:p>
                  </a:txBody>
                  <a:tcPr marT="27432" marB="27432" anchor="ctr">
                    <a:solidFill>
                      <a:srgbClr val="FFFFFF"/>
                    </a:solidFill>
                  </a:tcPr>
                </a:tc>
                <a:extLst>
                  <a:ext uri="{0D108BD9-81ED-4DB2-BD59-A6C34878D82A}">
                    <a16:rowId xmlns:a16="http://schemas.microsoft.com/office/drawing/2014/main" val="10001"/>
                  </a:ext>
                </a:extLst>
              </a:tr>
              <a:tr h="960120">
                <a:tc>
                  <a:txBody>
                    <a:bodyPr/>
                    <a:lstStyle/>
                    <a:p>
                      <a:pPr algn="l"/>
                      <a:r>
                        <a:rPr sz="1600" b="1">
                          <a:solidFill>
                            <a:srgbClr val="1F2A33"/>
                          </a:solidFill>
                        </a:rPr>
                        <a:t>Categorical × scale</a:t>
                      </a:r>
                    </a:p>
                  </a:txBody>
                  <a:tcPr marT="27432" marB="27432" anchor="ctr">
                    <a:solidFill>
                      <a:srgbClr val="EEF3F7"/>
                    </a:solidFill>
                  </a:tcPr>
                </a:tc>
                <a:tc>
                  <a:txBody>
                    <a:bodyPr/>
                    <a:lstStyle/>
                    <a:p>
                      <a:pPr algn="l"/>
                      <a:r>
                        <a:rPr sz="1600" b="0">
                          <a:solidFill>
                            <a:srgbClr val="1F2A33"/>
                          </a:solidFill>
                        </a:rPr>
                        <a:t>Group means and medians; box plots</a:t>
                      </a:r>
                    </a:p>
                  </a:txBody>
                  <a:tcPr marT="27432" marB="27432" anchor="ctr">
                    <a:solidFill>
                      <a:srgbClr val="EEF3F7"/>
                    </a:solidFill>
                  </a:tcPr>
                </a:tc>
                <a:tc>
                  <a:txBody>
                    <a:bodyPr/>
                    <a:lstStyle/>
                    <a:p>
                      <a:pPr algn="l"/>
                      <a:r>
                        <a:rPr sz="1600" b="0">
                          <a:solidFill>
                            <a:srgbClr val="1F2A33"/>
                          </a:solidFill>
                        </a:rPr>
                        <a:t>Trust (0 to 10) by gender, ESS 2023-24</a:t>
                      </a:r>
                    </a:p>
                  </a:txBody>
                  <a:tcPr marT="27432" marB="27432" anchor="ctr">
                    <a:solidFill>
                      <a:srgbClr val="EEF3F7"/>
                    </a:solidFill>
                  </a:tcPr>
                </a:tc>
                <a:tc>
                  <a:txBody>
                    <a:bodyPr/>
                    <a:lstStyle/>
                    <a:p>
                      <a:pPr algn="l"/>
                      <a:r>
                        <a:rPr sz="1600" b="0">
                          <a:solidFill>
                            <a:srgbClr val="1F2A33"/>
                          </a:solidFill>
                        </a:rPr>
                        <a:t>Difference in means</a:t>
                      </a:r>
                    </a:p>
                  </a:txBody>
                  <a:tcPr marT="27432" marB="27432" anchor="ctr">
                    <a:solidFill>
                      <a:srgbClr val="EEF3F7"/>
                    </a:solidFill>
                  </a:tcPr>
                </a:tc>
                <a:extLst>
                  <a:ext uri="{0D108BD9-81ED-4DB2-BD59-A6C34878D82A}">
                    <a16:rowId xmlns:a16="http://schemas.microsoft.com/office/drawing/2014/main" val="10002"/>
                  </a:ext>
                </a:extLst>
              </a:tr>
              <a:tr h="960120">
                <a:tc>
                  <a:txBody>
                    <a:bodyPr/>
                    <a:lstStyle/>
                    <a:p>
                      <a:pPr algn="l"/>
                      <a:r>
                        <a:rPr sz="1600" b="1">
                          <a:solidFill>
                            <a:srgbClr val="1F2A33"/>
                          </a:solidFill>
                        </a:rPr>
                        <a:t>Scale × scale</a:t>
                      </a:r>
                    </a:p>
                  </a:txBody>
                  <a:tcPr marT="27432" marB="27432" anchor="ctr">
                    <a:solidFill>
                      <a:srgbClr val="FFFFFF"/>
                    </a:solidFill>
                  </a:tcPr>
                </a:tc>
                <a:tc>
                  <a:txBody>
                    <a:bodyPr/>
                    <a:lstStyle/>
                    <a:p>
                      <a:pPr algn="l"/>
                      <a:r>
                        <a:rPr sz="1600" b="0">
                          <a:solidFill>
                            <a:srgbClr val="1F2A33"/>
                          </a:solidFill>
                        </a:rPr>
                        <a:t>Scatter plot; correlation</a:t>
                      </a:r>
                    </a:p>
                  </a:txBody>
                  <a:tcPr marT="27432" marB="27432" anchor="ctr">
                    <a:solidFill>
                      <a:srgbClr val="FFFFFF"/>
                    </a:solidFill>
                  </a:tcPr>
                </a:tc>
                <a:tc>
                  <a:txBody>
                    <a:bodyPr/>
                    <a:lstStyle/>
                    <a:p>
                      <a:pPr algn="l"/>
                      <a:r>
                        <a:rPr sz="1600" b="0">
                          <a:solidFill>
                            <a:srgbClr val="1F2A33"/>
                          </a:solidFill>
                        </a:rPr>
                        <a:t>Trust by income inequality, 23 countries</a:t>
                      </a:r>
                    </a:p>
                  </a:txBody>
                  <a:tcPr marT="27432" marB="27432" anchor="ctr">
                    <a:solidFill>
                      <a:srgbClr val="FFFFFF"/>
                    </a:solidFill>
                  </a:tcPr>
                </a:tc>
                <a:tc>
                  <a:txBody>
                    <a:bodyPr/>
                    <a:lstStyle/>
                    <a:p>
                      <a:pPr algn="l"/>
                      <a:r>
                        <a:rPr sz="1600" b="0" dirty="0">
                          <a:solidFill>
                            <a:srgbClr val="1F2A33"/>
                          </a:solidFill>
                        </a:rPr>
                        <a:t>Pearson’s r (−1 to +1)</a:t>
                      </a:r>
                    </a:p>
                  </a:txBody>
                  <a:tcPr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BSA = British Social Attitudes; ESS = European Social Survey.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Outcome and explanatory variables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5</a:t>
            </a:fld>
            <a:endParaRPr lang="en-GB"/>
          </a:p>
        </p:txBody>
      </p:sp>
      <p:sp>
        <p:nvSpPr>
          <p:cNvPr id="7" name="Rounded Rectangle 6"/>
          <p:cNvSpPr/>
          <p:nvPr/>
        </p:nvSpPr>
        <p:spPr>
          <a:xfrm>
            <a:off x="758952" y="1463040"/>
            <a:ext cx="4206240" cy="1691640"/>
          </a:xfrm>
          <a:prstGeom prst="roundRect">
            <a:avLst>
              <a:gd name="adj" fmla="val 8000"/>
            </a:avLst>
          </a:prstGeom>
          <a:solidFill>
            <a:srgbClr val="EEF3F7"/>
          </a:solidFill>
          <a:ln>
            <a:noFill/>
          </a:ln>
        </p:spPr>
        <p:txBody>
          <a:bodyPr rtlCol="0" anchor="ctr"/>
          <a:lstStyle/>
          <a:p>
            <a:endParaRPr/>
          </a:p>
        </p:txBody>
      </p:sp>
      <p:sp>
        <p:nvSpPr>
          <p:cNvPr id="8" name="TextBox 7"/>
          <p:cNvSpPr txBox="1"/>
          <p:nvPr/>
        </p:nvSpPr>
        <p:spPr>
          <a:xfrm>
            <a:off x="960120" y="1623974"/>
            <a:ext cx="3803903" cy="1369771"/>
          </a:xfrm>
          <a:prstGeom prst="rect">
            <a:avLst/>
          </a:prstGeom>
          <a:noFill/>
        </p:spPr>
        <p:txBody>
          <a:bodyPr wrap="square" lIns="0" tIns="0" rIns="0" bIns="0" anchor="t">
            <a:spAutoFit/>
          </a:bodyPr>
          <a:lstStyle/>
          <a:p>
            <a:pPr algn="l">
              <a:spcAft>
                <a:spcPts val="400"/>
              </a:spcAft>
            </a:pPr>
            <a:r>
              <a:rPr sz="2200" b="1" i="0">
                <a:solidFill>
                  <a:srgbClr val="1F394D"/>
                </a:solidFill>
              </a:rPr>
              <a:t>Explanatory variable</a:t>
            </a:r>
          </a:p>
          <a:p>
            <a:pPr algn="l">
              <a:spcAft>
                <a:spcPts val="400"/>
              </a:spcAft>
            </a:pPr>
            <a:r>
              <a:rPr sz="1700" b="0" i="0">
                <a:solidFill>
                  <a:srgbClr val="1F2A33"/>
                </a:solidFill>
              </a:rPr>
              <a:t>also: independent, predictor</a:t>
            </a:r>
          </a:p>
          <a:p>
            <a:pPr algn="l">
              <a:spcAft>
                <a:spcPts val="400"/>
              </a:spcAft>
            </a:pPr>
            <a:r>
              <a:rPr sz="1700" b="0" i="0">
                <a:solidFill>
                  <a:srgbClr val="1F2A33"/>
                </a:solidFill>
              </a:rPr>
              <a:t>e.g. sex, age, a country’s inequality</a:t>
            </a:r>
          </a:p>
        </p:txBody>
      </p:sp>
      <p:sp>
        <p:nvSpPr>
          <p:cNvPr id="9" name="Right Arrow 8"/>
          <p:cNvSpPr/>
          <p:nvPr/>
        </p:nvSpPr>
        <p:spPr>
          <a:xfrm>
            <a:off x="5120640" y="2075688"/>
            <a:ext cx="914400" cy="457200"/>
          </a:xfrm>
          <a:prstGeom prst="rightArrow">
            <a:avLst/>
          </a:prstGeom>
          <a:solidFill>
            <a:srgbClr val="3F739B"/>
          </a:solidFill>
          <a:ln>
            <a:noFill/>
          </a:ln>
        </p:spPr>
        <p:txBody>
          <a:bodyPr rtlCol="0" anchor="ctr"/>
          <a:lstStyle/>
          <a:p>
            <a:pPr algn="ctr"/>
            <a:endParaRPr/>
          </a:p>
        </p:txBody>
      </p:sp>
      <p:sp>
        <p:nvSpPr>
          <p:cNvPr id="10" name="Rounded Rectangle 9"/>
          <p:cNvSpPr/>
          <p:nvPr/>
        </p:nvSpPr>
        <p:spPr>
          <a:xfrm>
            <a:off x="6172200" y="1463040"/>
            <a:ext cx="5193792" cy="1691640"/>
          </a:xfrm>
          <a:prstGeom prst="roundRect">
            <a:avLst>
              <a:gd name="adj" fmla="val 8000"/>
            </a:avLst>
          </a:prstGeom>
          <a:solidFill>
            <a:srgbClr val="1F394D"/>
          </a:solidFill>
          <a:ln>
            <a:noFill/>
          </a:ln>
        </p:spPr>
        <p:txBody>
          <a:bodyPr rtlCol="0" anchor="ctr"/>
          <a:lstStyle/>
          <a:p>
            <a:endParaRPr/>
          </a:p>
        </p:txBody>
      </p:sp>
      <p:sp>
        <p:nvSpPr>
          <p:cNvPr id="11" name="TextBox 10"/>
          <p:cNvSpPr txBox="1"/>
          <p:nvPr/>
        </p:nvSpPr>
        <p:spPr>
          <a:xfrm>
            <a:off x="6373368" y="1623974"/>
            <a:ext cx="4791455" cy="1369771"/>
          </a:xfrm>
          <a:prstGeom prst="rect">
            <a:avLst/>
          </a:prstGeom>
          <a:noFill/>
        </p:spPr>
        <p:txBody>
          <a:bodyPr wrap="square" lIns="0" tIns="0" rIns="0" bIns="0" anchor="t">
            <a:spAutoFit/>
          </a:bodyPr>
          <a:lstStyle/>
          <a:p>
            <a:pPr algn="l">
              <a:spcAft>
                <a:spcPts val="400"/>
              </a:spcAft>
            </a:pPr>
            <a:r>
              <a:rPr sz="2200" b="1" i="0">
                <a:solidFill>
                  <a:srgbClr val="FFFFFF"/>
                </a:solidFill>
              </a:rPr>
              <a:t>Outcome variable</a:t>
            </a:r>
          </a:p>
          <a:p>
            <a:pPr algn="l">
              <a:spcAft>
                <a:spcPts val="400"/>
              </a:spcAft>
            </a:pPr>
            <a:r>
              <a:rPr sz="1700" b="0" i="0">
                <a:solidFill>
                  <a:srgbClr val="CCDDEA"/>
                </a:solidFill>
              </a:rPr>
              <a:t>also: dependent, response</a:t>
            </a:r>
          </a:p>
          <a:p>
            <a:pPr algn="l">
              <a:spcAft>
                <a:spcPts val="400"/>
              </a:spcAft>
            </a:pPr>
            <a:r>
              <a:rPr sz="1700" b="0" i="0">
                <a:solidFill>
                  <a:srgbClr val="CCDDEA"/>
                </a:solidFill>
              </a:rPr>
              <a:t>e.g. social trust</a:t>
            </a:r>
          </a:p>
        </p:txBody>
      </p:sp>
      <p:sp>
        <p:nvSpPr>
          <p:cNvPr id="12" name="Rounded Rectangle 11"/>
          <p:cNvSpPr/>
          <p:nvPr/>
        </p:nvSpPr>
        <p:spPr>
          <a:xfrm>
            <a:off x="758952" y="3520440"/>
            <a:ext cx="3429000" cy="2103120"/>
          </a:xfrm>
          <a:prstGeom prst="roundRect">
            <a:avLst>
              <a:gd name="adj" fmla="val 8000"/>
            </a:avLst>
          </a:prstGeom>
          <a:solidFill>
            <a:srgbClr val="EEF3F7"/>
          </a:solidFill>
          <a:ln>
            <a:noFill/>
          </a:ln>
        </p:spPr>
        <p:txBody>
          <a:bodyPr rtlCol="0" anchor="ctr"/>
          <a:lstStyle/>
          <a:p>
            <a:endParaRPr/>
          </a:p>
        </p:txBody>
      </p:sp>
      <p:sp>
        <p:nvSpPr>
          <p:cNvPr id="13" name="TextBox 12"/>
          <p:cNvSpPr txBox="1"/>
          <p:nvPr/>
        </p:nvSpPr>
        <p:spPr>
          <a:xfrm>
            <a:off x="960120" y="3681374"/>
            <a:ext cx="3026664" cy="1781251"/>
          </a:xfrm>
          <a:prstGeom prst="rect">
            <a:avLst/>
          </a:prstGeom>
          <a:noFill/>
        </p:spPr>
        <p:txBody>
          <a:bodyPr wrap="square" lIns="0" tIns="0" rIns="0" bIns="0" anchor="t">
            <a:spAutoFit/>
          </a:bodyPr>
          <a:lstStyle/>
          <a:p>
            <a:pPr algn="l">
              <a:spcAft>
                <a:spcPts val="400"/>
              </a:spcAft>
            </a:pPr>
            <a:r>
              <a:rPr sz="1900" b="1" i="0" dirty="0">
                <a:solidFill>
                  <a:srgbClr val="1F394D"/>
                </a:solidFill>
              </a:rPr>
              <a:t>In a contingency table</a:t>
            </a:r>
          </a:p>
          <a:p>
            <a:pPr algn="l">
              <a:spcAft>
                <a:spcPts val="400"/>
              </a:spcAft>
            </a:pPr>
            <a:r>
              <a:rPr sz="1600" b="0" i="0" dirty="0">
                <a:solidFill>
                  <a:srgbClr val="1F2A33"/>
                </a:solidFill>
              </a:rPr>
              <a:t>Explanatory variable in the columns, outcome in the rows: compare column percentages.</a:t>
            </a:r>
          </a:p>
        </p:txBody>
      </p:sp>
      <p:sp>
        <p:nvSpPr>
          <p:cNvPr id="14" name="Rounded Rectangle 13"/>
          <p:cNvSpPr/>
          <p:nvPr/>
        </p:nvSpPr>
        <p:spPr>
          <a:xfrm>
            <a:off x="4370832" y="3520440"/>
            <a:ext cx="3429000" cy="2103120"/>
          </a:xfrm>
          <a:prstGeom prst="roundRect">
            <a:avLst>
              <a:gd name="adj" fmla="val 8000"/>
            </a:avLst>
          </a:prstGeom>
          <a:solidFill>
            <a:srgbClr val="EEF3F7"/>
          </a:solidFill>
          <a:ln>
            <a:noFill/>
          </a:ln>
        </p:spPr>
        <p:txBody>
          <a:bodyPr rtlCol="0" anchor="ctr"/>
          <a:lstStyle/>
          <a:p>
            <a:endParaRPr/>
          </a:p>
        </p:txBody>
      </p:sp>
      <p:sp>
        <p:nvSpPr>
          <p:cNvPr id="15" name="TextBox 14"/>
          <p:cNvSpPr txBox="1"/>
          <p:nvPr/>
        </p:nvSpPr>
        <p:spPr>
          <a:xfrm>
            <a:off x="4572000" y="3681374"/>
            <a:ext cx="3026664" cy="1781251"/>
          </a:xfrm>
          <a:prstGeom prst="rect">
            <a:avLst/>
          </a:prstGeom>
          <a:noFill/>
        </p:spPr>
        <p:txBody>
          <a:bodyPr wrap="square" lIns="0" tIns="0" rIns="0" bIns="0" anchor="t">
            <a:spAutoFit/>
          </a:bodyPr>
          <a:lstStyle/>
          <a:p>
            <a:pPr algn="l">
              <a:spcAft>
                <a:spcPts val="400"/>
              </a:spcAft>
            </a:pPr>
            <a:r>
              <a:rPr sz="1900" b="1" i="0">
                <a:solidFill>
                  <a:srgbClr val="1F394D"/>
                </a:solidFill>
              </a:rPr>
              <a:t>In a scatter plot</a:t>
            </a:r>
          </a:p>
          <a:p>
            <a:pPr algn="l">
              <a:spcAft>
                <a:spcPts val="400"/>
              </a:spcAft>
            </a:pPr>
            <a:r>
              <a:rPr sz="1600" b="0" i="0">
                <a:solidFill>
                  <a:srgbClr val="1F2A33"/>
                </a:solidFill>
              </a:rPr>
              <a:t>Explanatory variable on the x-axis, outcome on the y-axis.</a:t>
            </a:r>
          </a:p>
        </p:txBody>
      </p:sp>
      <p:sp>
        <p:nvSpPr>
          <p:cNvPr id="16" name="Rounded Rectangle 15"/>
          <p:cNvSpPr/>
          <p:nvPr/>
        </p:nvSpPr>
        <p:spPr>
          <a:xfrm>
            <a:off x="7982712" y="3520440"/>
            <a:ext cx="3429000" cy="2103120"/>
          </a:xfrm>
          <a:prstGeom prst="roundRect">
            <a:avLst>
              <a:gd name="adj" fmla="val 8000"/>
            </a:avLst>
          </a:prstGeom>
          <a:solidFill>
            <a:srgbClr val="FFFFFF"/>
          </a:solidFill>
          <a:ln w="15875">
            <a:solidFill>
              <a:srgbClr val="B88C00"/>
            </a:solidFill>
          </a:ln>
        </p:spPr>
        <p:txBody>
          <a:bodyPr rtlCol="0" anchor="ctr"/>
          <a:lstStyle/>
          <a:p>
            <a:endParaRPr/>
          </a:p>
        </p:txBody>
      </p:sp>
      <p:sp>
        <p:nvSpPr>
          <p:cNvPr id="17" name="TextBox 16"/>
          <p:cNvSpPr txBox="1"/>
          <p:nvPr/>
        </p:nvSpPr>
        <p:spPr>
          <a:xfrm>
            <a:off x="8183880" y="3681374"/>
            <a:ext cx="3026664" cy="1082348"/>
          </a:xfrm>
          <a:prstGeom prst="rect">
            <a:avLst/>
          </a:prstGeom>
          <a:noFill/>
        </p:spPr>
        <p:txBody>
          <a:bodyPr wrap="square" lIns="0" tIns="0" rIns="0" bIns="0" anchor="t">
            <a:spAutoFit/>
          </a:bodyPr>
          <a:lstStyle/>
          <a:p>
            <a:pPr algn="l">
              <a:spcAft>
                <a:spcPts val="400"/>
              </a:spcAft>
            </a:pPr>
            <a:r>
              <a:rPr sz="1900" b="1" i="0" dirty="0">
                <a:solidFill>
                  <a:srgbClr val="1F394D"/>
                </a:solidFill>
              </a:rPr>
              <a:t>Direction is a choice</a:t>
            </a:r>
          </a:p>
          <a:p>
            <a:pPr algn="l">
              <a:spcAft>
                <a:spcPts val="400"/>
              </a:spcAft>
            </a:pPr>
            <a:r>
              <a:rPr sz="1600" b="1" i="0" dirty="0">
                <a:solidFill>
                  <a:srgbClr val="1F2A33"/>
                </a:solidFill>
              </a:rPr>
              <a:t>Theory</a:t>
            </a:r>
            <a:r>
              <a:rPr sz="1600" b="0" i="0" dirty="0">
                <a:solidFill>
                  <a:srgbClr val="1F2A33"/>
                </a:solidFill>
              </a:rPr>
              <a:t> decides which way the arrow points. The </a:t>
            </a:r>
            <a:r>
              <a:rPr sz="1600" b="1" i="0" dirty="0">
                <a:solidFill>
                  <a:srgbClr val="1F2A33"/>
                </a:solidFill>
              </a:rPr>
              <a:t>data</a:t>
            </a:r>
            <a:r>
              <a:rPr sz="1600" b="0" i="0" dirty="0">
                <a:solidFill>
                  <a:srgbClr val="1F2A33"/>
                </a:solidFill>
              </a:rPr>
              <a:t> alone cannot.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Activity: which is the outcome?</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6</a:t>
            </a:fld>
            <a:endParaRPr lang="en-GB"/>
          </a:p>
        </p:txBody>
      </p:sp>
      <p:sp>
        <p:nvSpPr>
          <p:cNvPr id="7" name="Question card 1"/>
          <p:cNvSpPr/>
          <p:nvPr/>
        </p:nvSpPr>
        <p:spPr>
          <a:xfrm>
            <a:off x="758952" y="1371600"/>
            <a:ext cx="5212080" cy="1417320"/>
          </a:xfrm>
          <a:prstGeom prst="roundRect">
            <a:avLst>
              <a:gd name="adj" fmla="val 8000"/>
            </a:avLst>
          </a:prstGeom>
          <a:solidFill>
            <a:srgbClr val="EEF3F7"/>
          </a:solidFill>
          <a:ln>
            <a:noFill/>
          </a:ln>
        </p:spPr>
        <p:txBody>
          <a:bodyPr rtlCol="0" anchor="ctr"/>
          <a:lstStyle/>
          <a:p>
            <a:endParaRPr/>
          </a:p>
        </p:txBody>
      </p:sp>
      <p:sp>
        <p:nvSpPr>
          <p:cNvPr id="8" name="Oval 7"/>
          <p:cNvSpPr/>
          <p:nvPr/>
        </p:nvSpPr>
        <p:spPr>
          <a:xfrm>
            <a:off x="96012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1</a:t>
            </a:r>
          </a:p>
        </p:txBody>
      </p:sp>
      <p:sp>
        <p:nvSpPr>
          <p:cNvPr id="9" name="TextBox 8"/>
          <p:cNvSpPr txBox="1"/>
          <p:nvPr/>
        </p:nvSpPr>
        <p:spPr>
          <a:xfrm>
            <a:off x="1581912" y="1554480"/>
            <a:ext cx="4206240" cy="1097280"/>
          </a:xfrm>
          <a:prstGeom prst="rect">
            <a:avLst/>
          </a:prstGeom>
          <a:noFill/>
        </p:spPr>
        <p:txBody>
          <a:bodyPr wrap="square" lIns="0" tIns="0" rIns="0" bIns="0" anchor="t">
            <a:spAutoFit/>
          </a:bodyPr>
          <a:lstStyle/>
          <a:p>
            <a:pPr algn="l"/>
            <a:r>
              <a:rPr sz="1800" b="0" i="0">
                <a:solidFill>
                  <a:srgbClr val="1F2A33"/>
                </a:solidFill>
              </a:rPr>
              <a:t>Age and social trust</a:t>
            </a:r>
          </a:p>
        </p:txBody>
      </p:sp>
      <p:sp>
        <p:nvSpPr>
          <p:cNvPr id="10" name="Question card 2"/>
          <p:cNvSpPr/>
          <p:nvPr/>
        </p:nvSpPr>
        <p:spPr>
          <a:xfrm>
            <a:off x="6153912" y="1371600"/>
            <a:ext cx="5212080" cy="1417320"/>
          </a:xfrm>
          <a:prstGeom prst="roundRect">
            <a:avLst>
              <a:gd name="adj" fmla="val 8000"/>
            </a:avLst>
          </a:prstGeom>
          <a:solidFill>
            <a:srgbClr val="EEF3F7"/>
          </a:solidFill>
          <a:ln>
            <a:noFill/>
          </a:ln>
        </p:spPr>
        <p:txBody>
          <a:bodyPr rtlCol="0" anchor="ctr"/>
          <a:lstStyle/>
          <a:p>
            <a:endParaRPr/>
          </a:p>
        </p:txBody>
      </p:sp>
      <p:sp>
        <p:nvSpPr>
          <p:cNvPr id="11" name="Oval 10"/>
          <p:cNvSpPr/>
          <p:nvPr/>
        </p:nvSpPr>
        <p:spPr>
          <a:xfrm>
            <a:off x="635508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2</a:t>
            </a:r>
          </a:p>
        </p:txBody>
      </p:sp>
      <p:sp>
        <p:nvSpPr>
          <p:cNvPr id="12" name="TextBox 11"/>
          <p:cNvSpPr txBox="1"/>
          <p:nvPr/>
        </p:nvSpPr>
        <p:spPr>
          <a:xfrm>
            <a:off x="6976872" y="1554480"/>
            <a:ext cx="4206240" cy="1097280"/>
          </a:xfrm>
          <a:prstGeom prst="rect">
            <a:avLst/>
          </a:prstGeom>
          <a:noFill/>
        </p:spPr>
        <p:txBody>
          <a:bodyPr wrap="square" lIns="0" tIns="0" rIns="0" bIns="0" anchor="t">
            <a:spAutoFit/>
          </a:bodyPr>
          <a:lstStyle/>
          <a:p>
            <a:pPr algn="l"/>
            <a:r>
              <a:rPr sz="1800" b="0" i="0">
                <a:solidFill>
                  <a:srgbClr val="1F2A33"/>
                </a:solidFill>
              </a:rPr>
              <a:t>Sex and social trust</a:t>
            </a:r>
          </a:p>
        </p:txBody>
      </p:sp>
      <p:sp>
        <p:nvSpPr>
          <p:cNvPr id="13" name="Question card 3"/>
          <p:cNvSpPr/>
          <p:nvPr/>
        </p:nvSpPr>
        <p:spPr>
          <a:xfrm>
            <a:off x="758952" y="2971800"/>
            <a:ext cx="5212080" cy="1417320"/>
          </a:xfrm>
          <a:prstGeom prst="roundRect">
            <a:avLst>
              <a:gd name="adj" fmla="val 8000"/>
            </a:avLst>
          </a:prstGeom>
          <a:solidFill>
            <a:srgbClr val="EEF3F7"/>
          </a:solidFill>
          <a:ln>
            <a:noFill/>
          </a:ln>
        </p:spPr>
        <p:txBody>
          <a:bodyPr rtlCol="0" anchor="ctr"/>
          <a:lstStyle/>
          <a:p>
            <a:endParaRPr/>
          </a:p>
        </p:txBody>
      </p:sp>
      <p:sp>
        <p:nvSpPr>
          <p:cNvPr id="14" name="Oval 13"/>
          <p:cNvSpPr/>
          <p:nvPr/>
        </p:nvSpPr>
        <p:spPr>
          <a:xfrm>
            <a:off x="960120" y="31729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3</a:t>
            </a:r>
          </a:p>
        </p:txBody>
      </p:sp>
      <p:sp>
        <p:nvSpPr>
          <p:cNvPr id="15" name="TextBox 14"/>
          <p:cNvSpPr txBox="1"/>
          <p:nvPr/>
        </p:nvSpPr>
        <p:spPr>
          <a:xfrm>
            <a:off x="1581912" y="3154680"/>
            <a:ext cx="4206240" cy="1097280"/>
          </a:xfrm>
          <a:prstGeom prst="rect">
            <a:avLst/>
          </a:prstGeom>
          <a:noFill/>
        </p:spPr>
        <p:txBody>
          <a:bodyPr wrap="square" lIns="0" tIns="0" rIns="0" bIns="0" anchor="t">
            <a:spAutoFit/>
          </a:bodyPr>
          <a:lstStyle/>
          <a:p>
            <a:pPr algn="l"/>
            <a:r>
              <a:rPr sz="1800" b="0" i="0">
                <a:solidFill>
                  <a:srgbClr val="1F2A33"/>
                </a:solidFill>
              </a:rPr>
              <a:t>A country’s income inequality and its level of trust</a:t>
            </a:r>
          </a:p>
        </p:txBody>
      </p:sp>
      <p:sp>
        <p:nvSpPr>
          <p:cNvPr id="16" name="Question card 4"/>
          <p:cNvSpPr/>
          <p:nvPr/>
        </p:nvSpPr>
        <p:spPr>
          <a:xfrm>
            <a:off x="6153912" y="2971800"/>
            <a:ext cx="5212080" cy="1417320"/>
          </a:xfrm>
          <a:prstGeom prst="roundRect">
            <a:avLst>
              <a:gd name="adj" fmla="val 8000"/>
            </a:avLst>
          </a:prstGeom>
          <a:solidFill>
            <a:srgbClr val="EEF3F7"/>
          </a:solidFill>
          <a:ln>
            <a:noFill/>
          </a:ln>
        </p:spPr>
        <p:txBody>
          <a:bodyPr rtlCol="0" anchor="ctr"/>
          <a:lstStyle/>
          <a:p>
            <a:endParaRPr/>
          </a:p>
        </p:txBody>
      </p:sp>
      <p:sp>
        <p:nvSpPr>
          <p:cNvPr id="17" name="Oval 16"/>
          <p:cNvSpPr/>
          <p:nvPr/>
        </p:nvSpPr>
        <p:spPr>
          <a:xfrm>
            <a:off x="6355080" y="31729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4</a:t>
            </a:r>
          </a:p>
        </p:txBody>
      </p:sp>
      <p:sp>
        <p:nvSpPr>
          <p:cNvPr id="18" name="TextBox 17"/>
          <p:cNvSpPr txBox="1"/>
          <p:nvPr/>
        </p:nvSpPr>
        <p:spPr>
          <a:xfrm>
            <a:off x="6976872" y="3154680"/>
            <a:ext cx="4206240" cy="1097280"/>
          </a:xfrm>
          <a:prstGeom prst="rect">
            <a:avLst/>
          </a:prstGeom>
          <a:noFill/>
        </p:spPr>
        <p:txBody>
          <a:bodyPr wrap="square" lIns="0" tIns="0" rIns="0" bIns="0" anchor="t">
            <a:spAutoFit/>
          </a:bodyPr>
          <a:lstStyle/>
          <a:p>
            <a:pPr algn="l"/>
            <a:r>
              <a:rPr sz="1800" b="0" i="0">
                <a:solidFill>
                  <a:srgbClr val="1F2A33"/>
                </a:solidFill>
              </a:rPr>
              <a:t>Volunteering and social trust</a:t>
            </a:r>
          </a:p>
        </p:txBody>
      </p:sp>
      <p:sp>
        <p:nvSpPr>
          <p:cNvPr id="19" name="Question card 5"/>
          <p:cNvSpPr/>
          <p:nvPr/>
        </p:nvSpPr>
        <p:spPr>
          <a:xfrm>
            <a:off x="758952" y="4572000"/>
            <a:ext cx="5212080" cy="1417320"/>
          </a:xfrm>
          <a:prstGeom prst="roundRect">
            <a:avLst>
              <a:gd name="adj" fmla="val 8000"/>
            </a:avLst>
          </a:prstGeom>
          <a:solidFill>
            <a:srgbClr val="EEF3F7"/>
          </a:solidFill>
          <a:ln>
            <a:noFill/>
          </a:ln>
        </p:spPr>
        <p:txBody>
          <a:bodyPr rtlCol="0" anchor="ctr"/>
          <a:lstStyle/>
          <a:p>
            <a:endParaRPr/>
          </a:p>
        </p:txBody>
      </p:sp>
      <p:sp>
        <p:nvSpPr>
          <p:cNvPr id="20" name="Oval 19"/>
          <p:cNvSpPr/>
          <p:nvPr/>
        </p:nvSpPr>
        <p:spPr>
          <a:xfrm>
            <a:off x="960120" y="47731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5</a:t>
            </a:r>
          </a:p>
        </p:txBody>
      </p:sp>
      <p:sp>
        <p:nvSpPr>
          <p:cNvPr id="21" name="TextBox 20"/>
          <p:cNvSpPr txBox="1"/>
          <p:nvPr/>
        </p:nvSpPr>
        <p:spPr>
          <a:xfrm>
            <a:off x="1581912" y="4754880"/>
            <a:ext cx="4206240" cy="1097280"/>
          </a:xfrm>
          <a:prstGeom prst="rect">
            <a:avLst/>
          </a:prstGeom>
          <a:noFill/>
        </p:spPr>
        <p:txBody>
          <a:bodyPr wrap="square" lIns="0" tIns="0" rIns="0" bIns="0" anchor="t">
            <a:spAutoFit/>
          </a:bodyPr>
          <a:lstStyle/>
          <a:p>
            <a:pPr algn="l"/>
            <a:r>
              <a:rPr sz="1800" b="0" i="0">
                <a:solidFill>
                  <a:srgbClr val="1F2A33"/>
                </a:solidFill>
              </a:rPr>
              <a:t>Education and social trust</a:t>
            </a:r>
          </a:p>
        </p:txBody>
      </p:sp>
      <p:sp>
        <p:nvSpPr>
          <p:cNvPr id="22" name="Question card 6"/>
          <p:cNvSpPr/>
          <p:nvPr/>
        </p:nvSpPr>
        <p:spPr>
          <a:xfrm>
            <a:off x="6153912" y="4572000"/>
            <a:ext cx="5212080" cy="1417320"/>
          </a:xfrm>
          <a:prstGeom prst="roundRect">
            <a:avLst>
              <a:gd name="adj" fmla="val 8000"/>
            </a:avLst>
          </a:prstGeom>
          <a:solidFill>
            <a:srgbClr val="EEF3F7"/>
          </a:solidFill>
          <a:ln>
            <a:noFill/>
          </a:ln>
        </p:spPr>
        <p:txBody>
          <a:bodyPr rtlCol="0" anchor="ctr"/>
          <a:lstStyle/>
          <a:p>
            <a:endParaRPr/>
          </a:p>
        </p:txBody>
      </p:sp>
      <p:sp>
        <p:nvSpPr>
          <p:cNvPr id="23" name="Oval 22"/>
          <p:cNvSpPr/>
          <p:nvPr/>
        </p:nvSpPr>
        <p:spPr>
          <a:xfrm>
            <a:off x="6355080" y="47731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6</a:t>
            </a:r>
          </a:p>
        </p:txBody>
      </p:sp>
      <p:sp>
        <p:nvSpPr>
          <p:cNvPr id="24" name="TextBox 23"/>
          <p:cNvSpPr txBox="1"/>
          <p:nvPr/>
        </p:nvSpPr>
        <p:spPr>
          <a:xfrm>
            <a:off x="6976872" y="4754880"/>
            <a:ext cx="4206240" cy="1097280"/>
          </a:xfrm>
          <a:prstGeom prst="rect">
            <a:avLst/>
          </a:prstGeom>
          <a:noFill/>
        </p:spPr>
        <p:txBody>
          <a:bodyPr wrap="square" lIns="0" tIns="0" rIns="0" bIns="0" anchor="t">
            <a:spAutoFit/>
          </a:bodyPr>
          <a:lstStyle/>
          <a:p>
            <a:pPr algn="l"/>
            <a:r>
              <a:rPr sz="1800" b="0" i="0">
                <a:solidFill>
                  <a:srgbClr val="1F2A33"/>
                </a:solidFill>
              </a:rPr>
              <a:t>Being a victim of crime and trust in the police (assignment question 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is the outcome? Answers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7</a:t>
            </a:fld>
            <a:endParaRPr lang="en-GB"/>
          </a:p>
        </p:txBody>
      </p:sp>
      <p:sp>
        <p:nvSpPr>
          <p:cNvPr id="7" name="Question card 1"/>
          <p:cNvSpPr/>
          <p:nvPr/>
        </p:nvSpPr>
        <p:spPr>
          <a:xfrm>
            <a:off x="758952" y="1371600"/>
            <a:ext cx="5212080" cy="1417320"/>
          </a:xfrm>
          <a:prstGeom prst="roundRect">
            <a:avLst>
              <a:gd name="adj" fmla="val 8000"/>
            </a:avLst>
          </a:prstGeom>
          <a:solidFill>
            <a:srgbClr val="EEF3F7"/>
          </a:solidFill>
          <a:ln>
            <a:noFill/>
          </a:ln>
        </p:spPr>
        <p:txBody>
          <a:bodyPr rtlCol="0" anchor="ctr"/>
          <a:lstStyle/>
          <a:p>
            <a:endParaRPr/>
          </a:p>
        </p:txBody>
      </p:sp>
      <p:sp>
        <p:nvSpPr>
          <p:cNvPr id="8" name="Oval 7"/>
          <p:cNvSpPr/>
          <p:nvPr/>
        </p:nvSpPr>
        <p:spPr>
          <a:xfrm>
            <a:off x="96012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1</a:t>
            </a:r>
          </a:p>
        </p:txBody>
      </p:sp>
      <p:sp>
        <p:nvSpPr>
          <p:cNvPr id="9" name="TextBox 8"/>
          <p:cNvSpPr txBox="1"/>
          <p:nvPr/>
        </p:nvSpPr>
        <p:spPr>
          <a:xfrm>
            <a:off x="1581912" y="1554480"/>
            <a:ext cx="4206240" cy="1097280"/>
          </a:xfrm>
          <a:prstGeom prst="rect">
            <a:avLst/>
          </a:prstGeom>
          <a:noFill/>
        </p:spPr>
        <p:txBody>
          <a:bodyPr wrap="square" lIns="0" tIns="0" rIns="0" bIns="0" anchor="t">
            <a:spAutoFit/>
          </a:bodyPr>
          <a:lstStyle/>
          <a:p>
            <a:pPr algn="l"/>
            <a:r>
              <a:rPr sz="1800" b="0" i="0">
                <a:solidFill>
                  <a:srgbClr val="1F2A33"/>
                </a:solidFill>
              </a:rPr>
              <a:t>Age and social trust</a:t>
            </a:r>
          </a:p>
          <a:p>
            <a:pPr algn="l">
              <a:spcBef>
                <a:spcPts val="400"/>
              </a:spcBef>
            </a:pPr>
            <a:r>
              <a:rPr sz="1800" b="1" i="0">
                <a:solidFill>
                  <a:srgbClr val="2E6B45"/>
                </a:solidFill>
              </a:rPr>
              <a:t>Trust: age can shape trust, but trust cannot change age</a:t>
            </a:r>
          </a:p>
        </p:txBody>
      </p:sp>
      <p:sp>
        <p:nvSpPr>
          <p:cNvPr id="10" name="Question card 2"/>
          <p:cNvSpPr/>
          <p:nvPr/>
        </p:nvSpPr>
        <p:spPr>
          <a:xfrm>
            <a:off x="6153912" y="1371600"/>
            <a:ext cx="5212080" cy="1417320"/>
          </a:xfrm>
          <a:prstGeom prst="roundRect">
            <a:avLst>
              <a:gd name="adj" fmla="val 8000"/>
            </a:avLst>
          </a:prstGeom>
          <a:solidFill>
            <a:srgbClr val="EEF3F7"/>
          </a:solidFill>
          <a:ln>
            <a:noFill/>
          </a:ln>
        </p:spPr>
        <p:txBody>
          <a:bodyPr rtlCol="0" anchor="ctr"/>
          <a:lstStyle/>
          <a:p>
            <a:endParaRPr/>
          </a:p>
        </p:txBody>
      </p:sp>
      <p:sp>
        <p:nvSpPr>
          <p:cNvPr id="11" name="Oval 10"/>
          <p:cNvSpPr/>
          <p:nvPr/>
        </p:nvSpPr>
        <p:spPr>
          <a:xfrm>
            <a:off x="635508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2</a:t>
            </a:r>
          </a:p>
        </p:txBody>
      </p:sp>
      <p:sp>
        <p:nvSpPr>
          <p:cNvPr id="12" name="TextBox 11"/>
          <p:cNvSpPr txBox="1"/>
          <p:nvPr/>
        </p:nvSpPr>
        <p:spPr>
          <a:xfrm>
            <a:off x="6976872" y="1554480"/>
            <a:ext cx="4206240" cy="1097280"/>
          </a:xfrm>
          <a:prstGeom prst="rect">
            <a:avLst/>
          </a:prstGeom>
          <a:noFill/>
        </p:spPr>
        <p:txBody>
          <a:bodyPr wrap="square" lIns="0" tIns="0" rIns="0" bIns="0" anchor="t">
            <a:spAutoFit/>
          </a:bodyPr>
          <a:lstStyle/>
          <a:p>
            <a:pPr algn="l"/>
            <a:r>
              <a:rPr sz="1800" b="0" i="0">
                <a:solidFill>
                  <a:srgbClr val="1F2A33"/>
                </a:solidFill>
              </a:rPr>
              <a:t>Sex and social trust</a:t>
            </a:r>
          </a:p>
          <a:p>
            <a:pPr algn="l">
              <a:spcBef>
                <a:spcPts val="400"/>
              </a:spcBef>
            </a:pPr>
            <a:r>
              <a:rPr sz="1800" b="1" i="0">
                <a:solidFill>
                  <a:srgbClr val="2E6B45"/>
                </a:solidFill>
              </a:rPr>
              <a:t>Trust</a:t>
            </a:r>
          </a:p>
        </p:txBody>
      </p:sp>
      <p:sp>
        <p:nvSpPr>
          <p:cNvPr id="13" name="Question card 3"/>
          <p:cNvSpPr/>
          <p:nvPr/>
        </p:nvSpPr>
        <p:spPr>
          <a:xfrm>
            <a:off x="758952" y="2971800"/>
            <a:ext cx="5212080" cy="1417320"/>
          </a:xfrm>
          <a:prstGeom prst="roundRect">
            <a:avLst>
              <a:gd name="adj" fmla="val 8000"/>
            </a:avLst>
          </a:prstGeom>
          <a:solidFill>
            <a:srgbClr val="EEF3F7"/>
          </a:solidFill>
          <a:ln>
            <a:noFill/>
          </a:ln>
        </p:spPr>
        <p:txBody>
          <a:bodyPr rtlCol="0" anchor="ctr"/>
          <a:lstStyle/>
          <a:p>
            <a:endParaRPr/>
          </a:p>
        </p:txBody>
      </p:sp>
      <p:sp>
        <p:nvSpPr>
          <p:cNvPr id="14" name="Oval 13"/>
          <p:cNvSpPr/>
          <p:nvPr/>
        </p:nvSpPr>
        <p:spPr>
          <a:xfrm>
            <a:off x="960120" y="31729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3</a:t>
            </a:r>
          </a:p>
        </p:txBody>
      </p:sp>
      <p:sp>
        <p:nvSpPr>
          <p:cNvPr id="15" name="TextBox 14"/>
          <p:cNvSpPr txBox="1"/>
          <p:nvPr/>
        </p:nvSpPr>
        <p:spPr>
          <a:xfrm>
            <a:off x="1581912" y="3154680"/>
            <a:ext cx="4206240" cy="1097280"/>
          </a:xfrm>
          <a:prstGeom prst="rect">
            <a:avLst/>
          </a:prstGeom>
          <a:noFill/>
        </p:spPr>
        <p:txBody>
          <a:bodyPr wrap="square" lIns="0" tIns="0" rIns="0" bIns="0" anchor="t">
            <a:spAutoFit/>
          </a:bodyPr>
          <a:lstStyle/>
          <a:p>
            <a:pPr algn="l"/>
            <a:r>
              <a:rPr sz="1800" b="0" i="0">
                <a:solidFill>
                  <a:srgbClr val="1F2A33"/>
                </a:solidFill>
              </a:rPr>
              <a:t>A country’s income inequality and its level of trust</a:t>
            </a:r>
          </a:p>
          <a:p>
            <a:pPr algn="l">
              <a:spcBef>
                <a:spcPts val="400"/>
              </a:spcBef>
            </a:pPr>
            <a:r>
              <a:rPr sz="1800" b="1" i="0">
                <a:solidFill>
                  <a:srgbClr val="2E6B45"/>
                </a:solidFill>
              </a:rPr>
              <a:t>Usually trust, but trust may also shape support for redistribution: theory decides</a:t>
            </a:r>
          </a:p>
        </p:txBody>
      </p:sp>
      <p:sp>
        <p:nvSpPr>
          <p:cNvPr id="16" name="Question card 4"/>
          <p:cNvSpPr/>
          <p:nvPr/>
        </p:nvSpPr>
        <p:spPr>
          <a:xfrm>
            <a:off x="6153912" y="2971800"/>
            <a:ext cx="5212080" cy="1417320"/>
          </a:xfrm>
          <a:prstGeom prst="roundRect">
            <a:avLst>
              <a:gd name="adj" fmla="val 8000"/>
            </a:avLst>
          </a:prstGeom>
          <a:solidFill>
            <a:srgbClr val="EEF3F7"/>
          </a:solidFill>
          <a:ln>
            <a:noFill/>
          </a:ln>
        </p:spPr>
        <p:txBody>
          <a:bodyPr rtlCol="0" anchor="ctr"/>
          <a:lstStyle/>
          <a:p>
            <a:endParaRPr/>
          </a:p>
        </p:txBody>
      </p:sp>
      <p:sp>
        <p:nvSpPr>
          <p:cNvPr id="17" name="Oval 16"/>
          <p:cNvSpPr/>
          <p:nvPr/>
        </p:nvSpPr>
        <p:spPr>
          <a:xfrm>
            <a:off x="6355080" y="31729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4</a:t>
            </a:r>
          </a:p>
        </p:txBody>
      </p:sp>
      <p:sp>
        <p:nvSpPr>
          <p:cNvPr id="18" name="TextBox 17"/>
          <p:cNvSpPr txBox="1"/>
          <p:nvPr/>
        </p:nvSpPr>
        <p:spPr>
          <a:xfrm>
            <a:off x="6976872" y="3154680"/>
            <a:ext cx="4206240" cy="1097280"/>
          </a:xfrm>
          <a:prstGeom prst="rect">
            <a:avLst/>
          </a:prstGeom>
          <a:noFill/>
        </p:spPr>
        <p:txBody>
          <a:bodyPr wrap="square" lIns="0" tIns="0" rIns="0" bIns="0" anchor="t">
            <a:spAutoFit/>
          </a:bodyPr>
          <a:lstStyle/>
          <a:p>
            <a:pPr algn="l"/>
            <a:r>
              <a:rPr sz="1800" b="0" i="0">
                <a:solidFill>
                  <a:srgbClr val="1F2A33"/>
                </a:solidFill>
              </a:rPr>
              <a:t>Volunteering and social trust</a:t>
            </a:r>
          </a:p>
          <a:p>
            <a:pPr algn="l">
              <a:spcBef>
                <a:spcPts val="400"/>
              </a:spcBef>
            </a:pPr>
            <a:r>
              <a:rPr sz="1800" b="1" i="0">
                <a:solidFill>
                  <a:srgbClr val="2E6B45"/>
                </a:solidFill>
              </a:rPr>
              <a:t>Either: trust may lead to volunteering, and volunteering may build trust</a:t>
            </a:r>
          </a:p>
        </p:txBody>
      </p:sp>
      <p:sp>
        <p:nvSpPr>
          <p:cNvPr id="19" name="Question card 5"/>
          <p:cNvSpPr/>
          <p:nvPr/>
        </p:nvSpPr>
        <p:spPr>
          <a:xfrm>
            <a:off x="758952" y="4572000"/>
            <a:ext cx="5212080" cy="1417320"/>
          </a:xfrm>
          <a:prstGeom prst="roundRect">
            <a:avLst>
              <a:gd name="adj" fmla="val 8000"/>
            </a:avLst>
          </a:prstGeom>
          <a:solidFill>
            <a:srgbClr val="EEF3F7"/>
          </a:solidFill>
          <a:ln>
            <a:noFill/>
          </a:ln>
        </p:spPr>
        <p:txBody>
          <a:bodyPr rtlCol="0" anchor="ctr"/>
          <a:lstStyle/>
          <a:p>
            <a:endParaRPr/>
          </a:p>
        </p:txBody>
      </p:sp>
      <p:sp>
        <p:nvSpPr>
          <p:cNvPr id="20" name="Oval 19"/>
          <p:cNvSpPr/>
          <p:nvPr/>
        </p:nvSpPr>
        <p:spPr>
          <a:xfrm>
            <a:off x="960120" y="47731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5</a:t>
            </a:r>
          </a:p>
        </p:txBody>
      </p:sp>
      <p:sp>
        <p:nvSpPr>
          <p:cNvPr id="21" name="TextBox 20"/>
          <p:cNvSpPr txBox="1"/>
          <p:nvPr/>
        </p:nvSpPr>
        <p:spPr>
          <a:xfrm>
            <a:off x="1581912" y="4754880"/>
            <a:ext cx="4206240" cy="1097280"/>
          </a:xfrm>
          <a:prstGeom prst="rect">
            <a:avLst/>
          </a:prstGeom>
          <a:noFill/>
        </p:spPr>
        <p:txBody>
          <a:bodyPr wrap="square" lIns="0" tIns="0" rIns="0" bIns="0" anchor="t">
            <a:spAutoFit/>
          </a:bodyPr>
          <a:lstStyle/>
          <a:p>
            <a:pPr algn="l"/>
            <a:r>
              <a:rPr sz="1800" b="0" i="0">
                <a:solidFill>
                  <a:srgbClr val="1F2A33"/>
                </a:solidFill>
              </a:rPr>
              <a:t>Education and social trust</a:t>
            </a:r>
          </a:p>
          <a:p>
            <a:pPr algn="l">
              <a:spcBef>
                <a:spcPts val="400"/>
              </a:spcBef>
            </a:pPr>
            <a:r>
              <a:rPr sz="1800" b="1" i="0">
                <a:solidFill>
                  <a:srgbClr val="2E6B45"/>
                </a:solidFill>
              </a:rPr>
              <a:t>Trust: education usually comes earlier in life</a:t>
            </a:r>
          </a:p>
        </p:txBody>
      </p:sp>
      <p:sp>
        <p:nvSpPr>
          <p:cNvPr id="22" name="Question card 6"/>
          <p:cNvSpPr/>
          <p:nvPr/>
        </p:nvSpPr>
        <p:spPr>
          <a:xfrm>
            <a:off x="6153912" y="4572000"/>
            <a:ext cx="5212080" cy="1417320"/>
          </a:xfrm>
          <a:prstGeom prst="roundRect">
            <a:avLst>
              <a:gd name="adj" fmla="val 8000"/>
            </a:avLst>
          </a:prstGeom>
          <a:solidFill>
            <a:srgbClr val="EEF3F7"/>
          </a:solidFill>
          <a:ln>
            <a:noFill/>
          </a:ln>
        </p:spPr>
        <p:txBody>
          <a:bodyPr rtlCol="0" anchor="ctr"/>
          <a:lstStyle/>
          <a:p>
            <a:endParaRPr/>
          </a:p>
        </p:txBody>
      </p:sp>
      <p:sp>
        <p:nvSpPr>
          <p:cNvPr id="23" name="Oval 22"/>
          <p:cNvSpPr/>
          <p:nvPr/>
        </p:nvSpPr>
        <p:spPr>
          <a:xfrm>
            <a:off x="6355080" y="47731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6</a:t>
            </a:r>
          </a:p>
        </p:txBody>
      </p:sp>
      <p:sp>
        <p:nvSpPr>
          <p:cNvPr id="24" name="TextBox 23"/>
          <p:cNvSpPr txBox="1"/>
          <p:nvPr/>
        </p:nvSpPr>
        <p:spPr>
          <a:xfrm>
            <a:off x="6976872" y="4754880"/>
            <a:ext cx="4206240" cy="1097280"/>
          </a:xfrm>
          <a:prstGeom prst="rect">
            <a:avLst/>
          </a:prstGeom>
          <a:noFill/>
        </p:spPr>
        <p:txBody>
          <a:bodyPr wrap="square" lIns="0" tIns="0" rIns="0" bIns="0" anchor="t">
            <a:spAutoFit/>
          </a:bodyPr>
          <a:lstStyle/>
          <a:p>
            <a:pPr algn="l"/>
            <a:r>
              <a:rPr sz="1800" b="0" i="0">
                <a:solidFill>
                  <a:srgbClr val="1F2A33"/>
                </a:solidFill>
              </a:rPr>
              <a:t>Being a victim of crime and trust in the police (assignment question E)</a:t>
            </a:r>
          </a:p>
          <a:p>
            <a:pPr algn="l">
              <a:spcBef>
                <a:spcPts val="400"/>
              </a:spcBef>
            </a:pPr>
            <a:r>
              <a:rPr sz="1800" b="1" i="0">
                <a:solidFill>
                  <a:srgbClr val="2E6B45"/>
                </a:solidFill>
              </a:rPr>
              <a:t>Trust in police, though trust may also affect whether crimes are reported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Two categorical</a:t>
            </a:r>
          </a:p>
          <a:p>
            <a:r>
              <a:rPr sz="4000"/>
              <a:t>variables</a:t>
            </a:r>
          </a:p>
        </p:txBody>
      </p:sp>
      <p:sp>
        <p:nvSpPr>
          <p:cNvPr id="3" name="Text Placeholder 2"/>
          <p:cNvSpPr>
            <a:spLocks noGrp="1"/>
          </p:cNvSpPr>
          <p:nvPr>
            <p:ph type="body" sz="half" idx="2"/>
          </p:nvPr>
        </p:nvSpPr>
        <p:spPr/>
        <p:txBody>
          <a:bodyPr/>
          <a:lstStyle/>
          <a:p>
            <a:r>
              <a:rPr sz="2400"/>
              <a:t>Contingency tables</a:t>
            </a:r>
          </a:p>
        </p:txBody>
      </p:sp>
      <p:sp>
        <p:nvSpPr>
          <p:cNvPr id="4"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Building a contingency table</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9</a:t>
            </a:fld>
            <a:endParaRPr lang="en-GB"/>
          </a:p>
        </p:txBody>
      </p:sp>
      <p:sp>
        <p:nvSpPr>
          <p:cNvPr id="7" name="TextBox 6"/>
          <p:cNvSpPr txBox="1"/>
          <p:nvPr/>
        </p:nvSpPr>
        <p:spPr>
          <a:xfrm>
            <a:off x="758952" y="1216152"/>
            <a:ext cx="10607040" cy="457200"/>
          </a:xfrm>
          <a:prstGeom prst="rect">
            <a:avLst/>
          </a:prstGeom>
          <a:noFill/>
        </p:spPr>
        <p:txBody>
          <a:bodyPr wrap="square" lIns="0" tIns="0" rIns="0" bIns="0" anchor="t">
            <a:spAutoFit/>
          </a:bodyPr>
          <a:lstStyle/>
          <a:p>
            <a:pPr algn="l"/>
            <a:r>
              <a:rPr sz="2000" b="0" i="0">
                <a:solidFill>
                  <a:srgbClr val="55606B"/>
                </a:solidFill>
              </a:rPr>
              <a:t>BSA 2010: “Would you say that most people can be trusted, or that you can’t be too careful?” by sex</a:t>
            </a:r>
          </a:p>
        </p:txBody>
      </p:sp>
      <p:graphicFrame>
        <p:nvGraphicFramePr>
          <p:cNvPr id="8" name="Table 7"/>
          <p:cNvGraphicFramePr>
            <a:graphicFrameLocks noGrp="1"/>
          </p:cNvGraphicFramePr>
          <p:nvPr/>
        </p:nvGraphicFramePr>
        <p:xfrm>
          <a:off x="758952" y="1874519"/>
          <a:ext cx="4937760" cy="2267712"/>
        </p:xfrm>
        <a:graphic>
          <a:graphicData uri="http://schemas.openxmlformats.org/drawingml/2006/table">
            <a:tbl>
              <a:tblPr firstRow="1">
                <a:tableStyleId>{5C22544A-7EE6-4342-B048-85BDC9FD1C3A}</a:tableStyleId>
              </a:tblPr>
              <a:tblGrid>
                <a:gridCol w="23774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566928">
                <a:tc>
                  <a:txBody>
                    <a:bodyPr/>
                    <a:lstStyle/>
                    <a:p>
                      <a:pPr algn="l"/>
                      <a:r>
                        <a:rPr sz="1600" b="1" dirty="0">
                          <a:solidFill>
                            <a:srgbClr val="FFFFFF"/>
                          </a:solidFill>
                        </a:rPr>
                        <a:t>Counts</a:t>
                      </a:r>
                    </a:p>
                  </a:txBody>
                  <a:tcPr marT="27432" marB="27432" anchor="ctr">
                    <a:solidFill>
                      <a:srgbClr val="1F394D"/>
                    </a:solidFill>
                  </a:tcPr>
                </a:tc>
                <a:tc>
                  <a:txBody>
                    <a:bodyPr/>
                    <a:lstStyle/>
                    <a:p>
                      <a:pPr algn="r"/>
                      <a:r>
                        <a:rPr sz="1600" b="1">
                          <a:solidFill>
                            <a:srgbClr val="FFFFFF"/>
                          </a:solidFill>
                        </a:rPr>
                        <a:t>Men</a:t>
                      </a:r>
                    </a:p>
                  </a:txBody>
                  <a:tcPr marT="27432" marB="27432" anchor="ctr">
                    <a:solidFill>
                      <a:srgbClr val="1F394D"/>
                    </a:solidFill>
                  </a:tcPr>
                </a:tc>
                <a:tc>
                  <a:txBody>
                    <a:bodyPr/>
                    <a:lstStyle/>
                    <a:p>
                      <a:pPr algn="r"/>
                      <a:r>
                        <a:rPr sz="1600" b="1">
                          <a:solidFill>
                            <a:srgbClr val="FFFFFF"/>
                          </a:solidFill>
                        </a:rPr>
                        <a:t>Women</a:t>
                      </a:r>
                    </a:p>
                  </a:txBody>
                  <a:tcPr marT="27432" marB="27432" anchor="ctr">
                    <a:solidFill>
                      <a:srgbClr val="1F394D"/>
                    </a:solidFill>
                  </a:tcPr>
                </a:tc>
                <a:tc>
                  <a:txBody>
                    <a:bodyPr/>
                    <a:lstStyle/>
                    <a:p>
                      <a:pPr algn="r"/>
                      <a:r>
                        <a:rPr sz="1600" b="1">
                          <a:solidFill>
                            <a:srgbClr val="FFFFFF"/>
                          </a:solidFill>
                        </a:rPr>
                        <a:t>Total</a:t>
                      </a:r>
                    </a:p>
                  </a:txBody>
                  <a:tcPr marT="27432" marB="27432" anchor="ctr">
                    <a:solidFill>
                      <a:srgbClr val="1F394D"/>
                    </a:solidFill>
                  </a:tcPr>
                </a:tc>
                <a:extLst>
                  <a:ext uri="{0D108BD9-81ED-4DB2-BD59-A6C34878D82A}">
                    <a16:rowId xmlns:a16="http://schemas.microsoft.com/office/drawing/2014/main" val="10000"/>
                  </a:ext>
                </a:extLst>
              </a:tr>
              <a:tr h="566928">
                <a:tc>
                  <a:txBody>
                    <a:bodyPr/>
                    <a:lstStyle/>
                    <a:p>
                      <a:pPr algn="l"/>
                      <a:r>
                        <a:rPr sz="1600" b="1">
                          <a:solidFill>
                            <a:srgbClr val="1F2A33"/>
                          </a:solidFill>
                        </a:rPr>
                        <a:t>Most people can be trusted</a:t>
                      </a:r>
                    </a:p>
                  </a:txBody>
                  <a:tcPr marT="27432" marB="27432" anchor="ctr">
                    <a:solidFill>
                      <a:srgbClr val="FFFFFF"/>
                    </a:solidFill>
                  </a:tcPr>
                </a:tc>
                <a:tc>
                  <a:txBody>
                    <a:bodyPr/>
                    <a:lstStyle/>
                    <a:p>
                      <a:pPr algn="r"/>
                      <a:r>
                        <a:rPr sz="1600" b="0">
                          <a:solidFill>
                            <a:srgbClr val="1F2A33"/>
                          </a:solidFill>
                        </a:rPr>
                        <a:t>240</a:t>
                      </a:r>
                    </a:p>
                  </a:txBody>
                  <a:tcPr marT="27432" marB="27432" anchor="ctr">
                    <a:solidFill>
                      <a:srgbClr val="FFFFFF"/>
                    </a:solidFill>
                  </a:tcPr>
                </a:tc>
                <a:tc>
                  <a:txBody>
                    <a:bodyPr/>
                    <a:lstStyle/>
                    <a:p>
                      <a:pPr algn="r"/>
                      <a:r>
                        <a:rPr sz="1600" b="0">
                          <a:solidFill>
                            <a:srgbClr val="1F2A33"/>
                          </a:solidFill>
                        </a:rPr>
                        <a:t>244</a:t>
                      </a:r>
                    </a:p>
                  </a:txBody>
                  <a:tcPr marT="27432" marB="27432" anchor="ctr">
                    <a:solidFill>
                      <a:srgbClr val="FFFFFF"/>
                    </a:solidFill>
                  </a:tcPr>
                </a:tc>
                <a:tc>
                  <a:txBody>
                    <a:bodyPr/>
                    <a:lstStyle/>
                    <a:p>
                      <a:pPr algn="r"/>
                      <a:r>
                        <a:rPr sz="1600" b="0">
                          <a:solidFill>
                            <a:srgbClr val="1F2A33"/>
                          </a:solidFill>
                        </a:rPr>
                        <a:t>484</a:t>
                      </a:r>
                    </a:p>
                  </a:txBody>
                  <a:tcPr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1600" b="1">
                          <a:solidFill>
                            <a:srgbClr val="1F2A33"/>
                          </a:solidFill>
                        </a:rPr>
                        <a:t>Can’t be too careful</a:t>
                      </a:r>
                    </a:p>
                  </a:txBody>
                  <a:tcPr marT="27432" marB="27432" anchor="ctr">
                    <a:solidFill>
                      <a:srgbClr val="EEF3F7"/>
                    </a:solidFill>
                  </a:tcPr>
                </a:tc>
                <a:tc>
                  <a:txBody>
                    <a:bodyPr/>
                    <a:lstStyle/>
                    <a:p>
                      <a:pPr algn="r"/>
                      <a:r>
                        <a:rPr sz="1600" b="0">
                          <a:solidFill>
                            <a:srgbClr val="1F2A33"/>
                          </a:solidFill>
                        </a:rPr>
                        <a:t>224</a:t>
                      </a:r>
                    </a:p>
                  </a:txBody>
                  <a:tcPr marT="27432" marB="27432" anchor="ctr">
                    <a:solidFill>
                      <a:srgbClr val="EEF3F7"/>
                    </a:solidFill>
                  </a:tcPr>
                </a:tc>
                <a:tc>
                  <a:txBody>
                    <a:bodyPr/>
                    <a:lstStyle/>
                    <a:p>
                      <a:pPr algn="r"/>
                      <a:r>
                        <a:rPr sz="1600" b="0">
                          <a:solidFill>
                            <a:srgbClr val="1F2A33"/>
                          </a:solidFill>
                        </a:rPr>
                        <a:t>356</a:t>
                      </a:r>
                    </a:p>
                  </a:txBody>
                  <a:tcPr marT="27432" marB="27432" anchor="ctr">
                    <a:solidFill>
                      <a:srgbClr val="EEF3F7"/>
                    </a:solidFill>
                  </a:tcPr>
                </a:tc>
                <a:tc>
                  <a:txBody>
                    <a:bodyPr/>
                    <a:lstStyle/>
                    <a:p>
                      <a:pPr algn="r"/>
                      <a:r>
                        <a:rPr sz="1600" b="0">
                          <a:solidFill>
                            <a:srgbClr val="1F2A33"/>
                          </a:solidFill>
                        </a:rPr>
                        <a:t>580</a:t>
                      </a:r>
                    </a:p>
                  </a:txBody>
                  <a:tcPr marT="27432" marB="27432" anchor="ctr">
                    <a:solidFill>
                      <a:srgbClr val="EEF3F7"/>
                    </a:solidFill>
                  </a:tcPr>
                </a:tc>
                <a:extLst>
                  <a:ext uri="{0D108BD9-81ED-4DB2-BD59-A6C34878D82A}">
                    <a16:rowId xmlns:a16="http://schemas.microsoft.com/office/drawing/2014/main" val="10002"/>
                  </a:ext>
                </a:extLst>
              </a:tr>
              <a:tr h="566928">
                <a:tc>
                  <a:txBody>
                    <a:bodyPr/>
                    <a:lstStyle/>
                    <a:p>
                      <a:pPr algn="l"/>
                      <a:r>
                        <a:rPr sz="1600" b="1">
                          <a:solidFill>
                            <a:srgbClr val="1F2A33"/>
                          </a:solidFill>
                        </a:rPr>
                        <a:t>Total</a:t>
                      </a:r>
                    </a:p>
                  </a:txBody>
                  <a:tcPr marT="27432" marB="27432" anchor="ctr">
                    <a:solidFill>
                      <a:srgbClr val="FFFFFF"/>
                    </a:solidFill>
                  </a:tcPr>
                </a:tc>
                <a:tc>
                  <a:txBody>
                    <a:bodyPr/>
                    <a:lstStyle/>
                    <a:p>
                      <a:pPr algn="r"/>
                      <a:r>
                        <a:rPr sz="1600" b="0">
                          <a:solidFill>
                            <a:srgbClr val="1F2A33"/>
                          </a:solidFill>
                        </a:rPr>
                        <a:t>464</a:t>
                      </a:r>
                    </a:p>
                  </a:txBody>
                  <a:tcPr marT="27432" marB="27432" anchor="ctr">
                    <a:solidFill>
                      <a:srgbClr val="FFFFFF"/>
                    </a:solidFill>
                  </a:tcPr>
                </a:tc>
                <a:tc>
                  <a:txBody>
                    <a:bodyPr/>
                    <a:lstStyle/>
                    <a:p>
                      <a:pPr algn="r"/>
                      <a:r>
                        <a:rPr sz="1600" b="0">
                          <a:solidFill>
                            <a:srgbClr val="1F2A33"/>
                          </a:solidFill>
                        </a:rPr>
                        <a:t>600</a:t>
                      </a:r>
                    </a:p>
                  </a:txBody>
                  <a:tcPr marT="27432" marB="27432" anchor="ctr">
                    <a:solidFill>
                      <a:srgbClr val="FFFFFF"/>
                    </a:solidFill>
                  </a:tcPr>
                </a:tc>
                <a:tc>
                  <a:txBody>
                    <a:bodyPr/>
                    <a:lstStyle/>
                    <a:p>
                      <a:pPr algn="r"/>
                      <a:r>
                        <a:rPr sz="1600" b="0" dirty="0">
                          <a:solidFill>
                            <a:srgbClr val="1F2A33"/>
                          </a:solidFill>
                        </a:rPr>
                        <a:t>1,064</a:t>
                      </a:r>
                    </a:p>
                  </a:txBody>
                  <a:tcPr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4" name="TextBox 13"/>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respondents with a substantive answer, n = 1,064.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0D05A-60D6-6E02-056B-DD1A0F8DC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18F09-8514-25CD-67F1-09AF52A92DE0}"/>
              </a:ext>
            </a:extLst>
          </p:cNvPr>
          <p:cNvSpPr>
            <a:spLocks noGrp="1"/>
          </p:cNvSpPr>
          <p:nvPr>
            <p:ph type="title"/>
          </p:nvPr>
        </p:nvSpPr>
        <p:spPr/>
        <p:txBody>
          <a:bodyPr/>
          <a:lstStyle/>
          <a:p>
            <a:r>
              <a:rPr lang="en-GB" dirty="0"/>
              <a:t>Column percentages</a:t>
            </a:r>
          </a:p>
        </p:txBody>
      </p:sp>
      <p:sp>
        <p:nvSpPr>
          <p:cNvPr id="3" name="Date Placeholder 1">
            <a:extLst>
              <a:ext uri="{FF2B5EF4-FFF2-40B4-BE49-F238E27FC236}">
                <a16:creationId xmlns:a16="http://schemas.microsoft.com/office/drawing/2014/main" id="{1EEABE28-9682-2253-7A5E-7A37C4DDFE06}"/>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1C02DD6A-A14D-319D-C1D6-6CD8228D8008}"/>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EC49EEC7-6313-850D-EEBC-280D105B4568}"/>
              </a:ext>
            </a:extLst>
          </p:cNvPr>
          <p:cNvSpPr>
            <a:spLocks noGrp="1"/>
          </p:cNvSpPr>
          <p:nvPr>
            <p:ph type="sldNum" sz="quarter" idx="12"/>
          </p:nvPr>
        </p:nvSpPr>
        <p:spPr/>
        <p:txBody>
          <a:bodyPr/>
          <a:lstStyle/>
          <a:p>
            <a:fld id="{9FAA51BB-2FC0-4DB8-B50E-F52D50E733B6}" type="slidenum">
              <a:rPr lang="en-GB" smtClean="0"/>
              <a:t>10</a:t>
            </a:fld>
            <a:endParaRPr lang="en-GB"/>
          </a:p>
        </p:txBody>
      </p:sp>
      <p:sp>
        <p:nvSpPr>
          <p:cNvPr id="7" name="TextBox 6">
            <a:extLst>
              <a:ext uri="{FF2B5EF4-FFF2-40B4-BE49-F238E27FC236}">
                <a16:creationId xmlns:a16="http://schemas.microsoft.com/office/drawing/2014/main" id="{57F3B6E4-8745-66C6-A149-ABB8C84FF3C7}"/>
              </a:ext>
            </a:extLst>
          </p:cNvPr>
          <p:cNvSpPr txBox="1"/>
          <p:nvPr/>
        </p:nvSpPr>
        <p:spPr>
          <a:xfrm>
            <a:off x="758952" y="1216152"/>
            <a:ext cx="10607040" cy="307777"/>
          </a:xfrm>
          <a:prstGeom prst="rect">
            <a:avLst/>
          </a:prstGeom>
          <a:noFill/>
        </p:spPr>
        <p:txBody>
          <a:bodyPr wrap="square" lIns="0" tIns="0" rIns="0" bIns="0" anchor="t">
            <a:spAutoFit/>
          </a:bodyPr>
          <a:lstStyle/>
          <a:p>
            <a:pPr algn="l"/>
            <a:r>
              <a:rPr lang="en-GB" sz="2000" b="0" i="0" dirty="0">
                <a:solidFill>
                  <a:srgbClr val="55606B"/>
                </a:solidFill>
              </a:rPr>
              <a:t>“Are men or women more trusting?”</a:t>
            </a:r>
          </a:p>
        </p:txBody>
      </p:sp>
      <p:graphicFrame>
        <p:nvGraphicFramePr>
          <p:cNvPr id="8" name="Table 7">
            <a:extLst>
              <a:ext uri="{FF2B5EF4-FFF2-40B4-BE49-F238E27FC236}">
                <a16:creationId xmlns:a16="http://schemas.microsoft.com/office/drawing/2014/main" id="{388EDCB6-5CD6-011F-7DF0-C109743D0466}"/>
              </a:ext>
            </a:extLst>
          </p:cNvPr>
          <p:cNvGraphicFramePr>
            <a:graphicFrameLocks noGrp="1"/>
          </p:cNvGraphicFramePr>
          <p:nvPr>
            <p:extLst>
              <p:ext uri="{D42A27DB-BD31-4B8C-83A1-F6EECF244321}">
                <p14:modId xmlns:p14="http://schemas.microsoft.com/office/powerpoint/2010/main" val="2955942426"/>
              </p:ext>
            </p:extLst>
          </p:nvPr>
        </p:nvGraphicFramePr>
        <p:xfrm>
          <a:off x="758952" y="1874519"/>
          <a:ext cx="4937760" cy="2267712"/>
        </p:xfrm>
        <a:graphic>
          <a:graphicData uri="http://schemas.openxmlformats.org/drawingml/2006/table">
            <a:tbl>
              <a:tblPr firstRow="1">
                <a:tableStyleId>{5C22544A-7EE6-4342-B048-85BDC9FD1C3A}</a:tableStyleId>
              </a:tblPr>
              <a:tblGrid>
                <a:gridCol w="23774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566928">
                <a:tc>
                  <a:txBody>
                    <a:bodyPr/>
                    <a:lstStyle/>
                    <a:p>
                      <a:pPr algn="l"/>
                      <a:r>
                        <a:rPr sz="1600" b="1">
                          <a:solidFill>
                            <a:srgbClr val="FFFFFF"/>
                          </a:solidFill>
                        </a:rPr>
                        <a:t>Counts</a:t>
                      </a:r>
                    </a:p>
                  </a:txBody>
                  <a:tcPr marT="27432" marB="27432" anchor="ctr">
                    <a:solidFill>
                      <a:srgbClr val="1F394D"/>
                    </a:solidFill>
                  </a:tcPr>
                </a:tc>
                <a:tc>
                  <a:txBody>
                    <a:bodyPr/>
                    <a:lstStyle/>
                    <a:p>
                      <a:pPr algn="r"/>
                      <a:r>
                        <a:rPr sz="1600" b="1">
                          <a:solidFill>
                            <a:srgbClr val="FFFFFF"/>
                          </a:solidFill>
                        </a:rPr>
                        <a:t>Men</a:t>
                      </a:r>
                    </a:p>
                  </a:txBody>
                  <a:tcPr marT="27432" marB="27432" anchor="ctr">
                    <a:solidFill>
                      <a:srgbClr val="1F394D"/>
                    </a:solidFill>
                  </a:tcPr>
                </a:tc>
                <a:tc>
                  <a:txBody>
                    <a:bodyPr/>
                    <a:lstStyle/>
                    <a:p>
                      <a:pPr algn="r"/>
                      <a:r>
                        <a:rPr sz="1600" b="1">
                          <a:solidFill>
                            <a:srgbClr val="FFFFFF"/>
                          </a:solidFill>
                        </a:rPr>
                        <a:t>Women</a:t>
                      </a:r>
                    </a:p>
                  </a:txBody>
                  <a:tcPr marT="27432" marB="27432" anchor="ctr">
                    <a:solidFill>
                      <a:srgbClr val="1F394D"/>
                    </a:solidFill>
                  </a:tcPr>
                </a:tc>
                <a:tc>
                  <a:txBody>
                    <a:bodyPr/>
                    <a:lstStyle/>
                    <a:p>
                      <a:pPr algn="r"/>
                      <a:r>
                        <a:rPr sz="1600" b="1">
                          <a:solidFill>
                            <a:srgbClr val="FFFFFF"/>
                          </a:solidFill>
                        </a:rPr>
                        <a:t>Total</a:t>
                      </a:r>
                    </a:p>
                  </a:txBody>
                  <a:tcPr marT="27432" marB="27432" anchor="ctr">
                    <a:solidFill>
                      <a:srgbClr val="1F394D"/>
                    </a:solidFill>
                  </a:tcPr>
                </a:tc>
                <a:extLst>
                  <a:ext uri="{0D108BD9-81ED-4DB2-BD59-A6C34878D82A}">
                    <a16:rowId xmlns:a16="http://schemas.microsoft.com/office/drawing/2014/main" val="10000"/>
                  </a:ext>
                </a:extLst>
              </a:tr>
              <a:tr h="566928">
                <a:tc>
                  <a:txBody>
                    <a:bodyPr/>
                    <a:lstStyle/>
                    <a:p>
                      <a:pPr algn="l"/>
                      <a:r>
                        <a:rPr sz="1600" b="1">
                          <a:solidFill>
                            <a:srgbClr val="1F2A33"/>
                          </a:solidFill>
                        </a:rPr>
                        <a:t>Most people can be trusted</a:t>
                      </a:r>
                    </a:p>
                  </a:txBody>
                  <a:tcPr marT="27432" marB="27432" anchor="ctr">
                    <a:solidFill>
                      <a:srgbClr val="FFFFFF"/>
                    </a:solidFill>
                  </a:tcPr>
                </a:tc>
                <a:tc>
                  <a:txBody>
                    <a:bodyPr/>
                    <a:lstStyle/>
                    <a:p>
                      <a:pPr algn="r"/>
                      <a:r>
                        <a:rPr sz="1600" b="0">
                          <a:solidFill>
                            <a:srgbClr val="1F2A33"/>
                          </a:solidFill>
                        </a:rPr>
                        <a:t>240</a:t>
                      </a:r>
                    </a:p>
                  </a:txBody>
                  <a:tcPr marT="27432" marB="27432" anchor="ctr">
                    <a:solidFill>
                      <a:srgbClr val="FFFFFF"/>
                    </a:solidFill>
                  </a:tcPr>
                </a:tc>
                <a:tc>
                  <a:txBody>
                    <a:bodyPr/>
                    <a:lstStyle/>
                    <a:p>
                      <a:pPr algn="r"/>
                      <a:r>
                        <a:rPr sz="1600" b="0">
                          <a:solidFill>
                            <a:srgbClr val="1F2A33"/>
                          </a:solidFill>
                        </a:rPr>
                        <a:t>244</a:t>
                      </a:r>
                    </a:p>
                  </a:txBody>
                  <a:tcPr marT="27432" marB="27432" anchor="ctr">
                    <a:solidFill>
                      <a:srgbClr val="FFFFFF"/>
                    </a:solidFill>
                  </a:tcPr>
                </a:tc>
                <a:tc>
                  <a:txBody>
                    <a:bodyPr/>
                    <a:lstStyle/>
                    <a:p>
                      <a:pPr algn="r"/>
                      <a:r>
                        <a:rPr sz="1600" b="0">
                          <a:solidFill>
                            <a:srgbClr val="1F2A33"/>
                          </a:solidFill>
                        </a:rPr>
                        <a:t>484</a:t>
                      </a:r>
                    </a:p>
                  </a:txBody>
                  <a:tcPr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1600" b="1">
                          <a:solidFill>
                            <a:srgbClr val="1F2A33"/>
                          </a:solidFill>
                        </a:rPr>
                        <a:t>Can’t be too careful</a:t>
                      </a:r>
                    </a:p>
                  </a:txBody>
                  <a:tcPr marT="27432" marB="27432" anchor="ctr">
                    <a:solidFill>
                      <a:srgbClr val="EEF3F7"/>
                    </a:solidFill>
                  </a:tcPr>
                </a:tc>
                <a:tc>
                  <a:txBody>
                    <a:bodyPr/>
                    <a:lstStyle/>
                    <a:p>
                      <a:pPr algn="r"/>
                      <a:r>
                        <a:rPr sz="1600" b="0">
                          <a:solidFill>
                            <a:srgbClr val="1F2A33"/>
                          </a:solidFill>
                        </a:rPr>
                        <a:t>224</a:t>
                      </a:r>
                    </a:p>
                  </a:txBody>
                  <a:tcPr marT="27432" marB="27432" anchor="ctr">
                    <a:solidFill>
                      <a:srgbClr val="EEF3F7"/>
                    </a:solidFill>
                  </a:tcPr>
                </a:tc>
                <a:tc>
                  <a:txBody>
                    <a:bodyPr/>
                    <a:lstStyle/>
                    <a:p>
                      <a:pPr algn="r"/>
                      <a:r>
                        <a:rPr sz="1600" b="0">
                          <a:solidFill>
                            <a:srgbClr val="1F2A33"/>
                          </a:solidFill>
                        </a:rPr>
                        <a:t>356</a:t>
                      </a:r>
                    </a:p>
                  </a:txBody>
                  <a:tcPr marT="27432" marB="27432" anchor="ctr">
                    <a:solidFill>
                      <a:srgbClr val="EEF3F7"/>
                    </a:solidFill>
                  </a:tcPr>
                </a:tc>
                <a:tc>
                  <a:txBody>
                    <a:bodyPr/>
                    <a:lstStyle/>
                    <a:p>
                      <a:pPr algn="r"/>
                      <a:r>
                        <a:rPr sz="1600" b="0">
                          <a:solidFill>
                            <a:srgbClr val="1F2A33"/>
                          </a:solidFill>
                        </a:rPr>
                        <a:t>580</a:t>
                      </a:r>
                    </a:p>
                  </a:txBody>
                  <a:tcPr marT="27432" marB="27432" anchor="ctr">
                    <a:solidFill>
                      <a:srgbClr val="EEF3F7"/>
                    </a:solidFill>
                  </a:tcPr>
                </a:tc>
                <a:extLst>
                  <a:ext uri="{0D108BD9-81ED-4DB2-BD59-A6C34878D82A}">
                    <a16:rowId xmlns:a16="http://schemas.microsoft.com/office/drawing/2014/main" val="10002"/>
                  </a:ext>
                </a:extLst>
              </a:tr>
              <a:tr h="566928">
                <a:tc>
                  <a:txBody>
                    <a:bodyPr/>
                    <a:lstStyle/>
                    <a:p>
                      <a:pPr algn="l"/>
                      <a:r>
                        <a:rPr sz="1600" b="1">
                          <a:solidFill>
                            <a:srgbClr val="1F2A33"/>
                          </a:solidFill>
                        </a:rPr>
                        <a:t>Total</a:t>
                      </a:r>
                    </a:p>
                  </a:txBody>
                  <a:tcPr marT="27432" marB="27432" anchor="ctr">
                    <a:solidFill>
                      <a:srgbClr val="FFFFFF"/>
                    </a:solidFill>
                  </a:tcPr>
                </a:tc>
                <a:tc>
                  <a:txBody>
                    <a:bodyPr/>
                    <a:lstStyle/>
                    <a:p>
                      <a:pPr algn="r"/>
                      <a:r>
                        <a:rPr sz="1600" b="0" dirty="0">
                          <a:solidFill>
                            <a:srgbClr val="1F2A33"/>
                          </a:solidFill>
                        </a:rPr>
                        <a:t>464</a:t>
                      </a:r>
                    </a:p>
                  </a:txBody>
                  <a:tcPr marT="27432" marB="27432" anchor="ctr">
                    <a:solidFill>
                      <a:srgbClr val="F6E7B8"/>
                    </a:solidFill>
                  </a:tcPr>
                </a:tc>
                <a:tc>
                  <a:txBody>
                    <a:bodyPr/>
                    <a:lstStyle/>
                    <a:p>
                      <a:pPr algn="r"/>
                      <a:r>
                        <a:rPr sz="1600" b="0" dirty="0">
                          <a:solidFill>
                            <a:srgbClr val="1F2A33"/>
                          </a:solidFill>
                        </a:rPr>
                        <a:t>600</a:t>
                      </a:r>
                    </a:p>
                  </a:txBody>
                  <a:tcPr marT="27432" marB="27432" anchor="ctr">
                    <a:solidFill>
                      <a:srgbClr val="F6E7B8"/>
                    </a:solidFill>
                  </a:tcPr>
                </a:tc>
                <a:tc>
                  <a:txBody>
                    <a:bodyPr/>
                    <a:lstStyle/>
                    <a:p>
                      <a:pPr algn="r"/>
                      <a:r>
                        <a:rPr sz="1600" b="0" dirty="0">
                          <a:solidFill>
                            <a:srgbClr val="1F2A33"/>
                          </a:solidFill>
                        </a:rPr>
                        <a:t>1,064</a:t>
                      </a:r>
                    </a:p>
                  </a:txBody>
                  <a:tcPr marT="27432" marB="27432" anchor="ctr">
                    <a:solidFill>
                      <a:srgbClr val="F6E7B8"/>
                    </a:solidFill>
                  </a:tcPr>
                </a:tc>
                <a:extLst>
                  <a:ext uri="{0D108BD9-81ED-4DB2-BD59-A6C34878D82A}">
                    <a16:rowId xmlns:a16="http://schemas.microsoft.com/office/drawing/2014/main" val="10003"/>
                  </a:ext>
                </a:extLst>
              </a:tr>
            </a:tbl>
          </a:graphicData>
        </a:graphic>
      </p:graphicFrame>
      <p:sp>
        <p:nvSpPr>
          <p:cNvPr id="9" name="Right Arrow 8">
            <a:extLst>
              <a:ext uri="{FF2B5EF4-FFF2-40B4-BE49-F238E27FC236}">
                <a16:creationId xmlns:a16="http://schemas.microsoft.com/office/drawing/2014/main" id="{141C4DEB-4032-2A10-6505-C440DA8BA7AB}"/>
              </a:ext>
            </a:extLst>
          </p:cNvPr>
          <p:cNvSpPr/>
          <p:nvPr/>
        </p:nvSpPr>
        <p:spPr>
          <a:xfrm>
            <a:off x="5852160" y="2697480"/>
            <a:ext cx="640080" cy="457200"/>
          </a:xfrm>
          <a:prstGeom prst="rightArrow">
            <a:avLst/>
          </a:prstGeom>
          <a:solidFill>
            <a:srgbClr val="3F739B"/>
          </a:solidFill>
          <a:ln>
            <a:noFill/>
          </a:ln>
        </p:spPr>
        <p:txBody>
          <a:bodyPr rtlCol="0" anchor="ctr"/>
          <a:lstStyle/>
          <a:p>
            <a:pPr algn="ctr"/>
            <a:endParaRPr/>
          </a:p>
        </p:txBody>
      </p:sp>
      <p:sp>
        <p:nvSpPr>
          <p:cNvPr id="10" name="TextBox 9">
            <a:extLst>
              <a:ext uri="{FF2B5EF4-FFF2-40B4-BE49-F238E27FC236}">
                <a16:creationId xmlns:a16="http://schemas.microsoft.com/office/drawing/2014/main" id="{516E02E2-55AF-C29C-B1B4-D5B642FE0D34}"/>
              </a:ext>
            </a:extLst>
          </p:cNvPr>
          <p:cNvSpPr txBox="1"/>
          <p:nvPr/>
        </p:nvSpPr>
        <p:spPr>
          <a:xfrm>
            <a:off x="5760720" y="3200400"/>
            <a:ext cx="822960" cy="731520"/>
          </a:xfrm>
          <a:prstGeom prst="rect">
            <a:avLst/>
          </a:prstGeom>
          <a:noFill/>
        </p:spPr>
        <p:txBody>
          <a:bodyPr wrap="square" lIns="0" tIns="0" rIns="0" bIns="0" anchor="t">
            <a:spAutoFit/>
          </a:bodyPr>
          <a:lstStyle/>
          <a:p>
            <a:pPr algn="ctr"/>
            <a:r>
              <a:rPr sz="1300" b="1" i="0">
                <a:solidFill>
                  <a:srgbClr val="3F739B"/>
                </a:solidFill>
              </a:rPr>
              <a:t>÷ column total</a:t>
            </a:r>
          </a:p>
        </p:txBody>
      </p:sp>
      <p:graphicFrame>
        <p:nvGraphicFramePr>
          <p:cNvPr id="11" name="Table 10">
            <a:extLst>
              <a:ext uri="{FF2B5EF4-FFF2-40B4-BE49-F238E27FC236}">
                <a16:creationId xmlns:a16="http://schemas.microsoft.com/office/drawing/2014/main" id="{B7A216C5-CFE1-119D-18A0-958125CED610}"/>
              </a:ext>
            </a:extLst>
          </p:cNvPr>
          <p:cNvGraphicFramePr>
            <a:graphicFrameLocks noGrp="1"/>
          </p:cNvGraphicFramePr>
          <p:nvPr>
            <p:extLst>
              <p:ext uri="{D42A27DB-BD31-4B8C-83A1-F6EECF244321}">
                <p14:modId xmlns:p14="http://schemas.microsoft.com/office/powerpoint/2010/main" val="333952022"/>
              </p:ext>
            </p:extLst>
          </p:nvPr>
        </p:nvGraphicFramePr>
        <p:xfrm>
          <a:off x="6675120" y="1874519"/>
          <a:ext cx="4690872" cy="2267712"/>
        </p:xfrm>
        <a:graphic>
          <a:graphicData uri="http://schemas.openxmlformats.org/drawingml/2006/table">
            <a:tbl>
              <a:tblPr firstRow="1">
                <a:tableStyleId>{5C22544A-7EE6-4342-B048-85BDC9FD1C3A}</a:tableStyleId>
              </a:tblPr>
              <a:tblGrid>
                <a:gridCol w="21031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804672">
                  <a:extLst>
                    <a:ext uri="{9D8B030D-6E8A-4147-A177-3AD203B41FA5}">
                      <a16:colId xmlns:a16="http://schemas.microsoft.com/office/drawing/2014/main" val="20003"/>
                    </a:ext>
                  </a:extLst>
                </a:gridCol>
              </a:tblGrid>
              <a:tr h="566928">
                <a:tc>
                  <a:txBody>
                    <a:bodyPr/>
                    <a:lstStyle/>
                    <a:p>
                      <a:pPr algn="l"/>
                      <a:r>
                        <a:rPr sz="1600" b="1">
                          <a:solidFill>
                            <a:srgbClr val="FFFFFF"/>
                          </a:solidFill>
                        </a:rPr>
                        <a:t>Column %</a:t>
                      </a:r>
                    </a:p>
                  </a:txBody>
                  <a:tcPr marT="27432" marB="27432" anchor="ctr">
                    <a:solidFill>
                      <a:srgbClr val="1F394D"/>
                    </a:solidFill>
                  </a:tcPr>
                </a:tc>
                <a:tc>
                  <a:txBody>
                    <a:bodyPr/>
                    <a:lstStyle/>
                    <a:p>
                      <a:pPr algn="r"/>
                      <a:r>
                        <a:rPr sz="1600" b="1">
                          <a:solidFill>
                            <a:srgbClr val="FFFFFF"/>
                          </a:solidFill>
                        </a:rPr>
                        <a:t>Men</a:t>
                      </a:r>
                    </a:p>
                  </a:txBody>
                  <a:tcPr marT="27432" marB="27432" anchor="ctr">
                    <a:solidFill>
                      <a:srgbClr val="1F394D"/>
                    </a:solidFill>
                  </a:tcPr>
                </a:tc>
                <a:tc>
                  <a:txBody>
                    <a:bodyPr/>
                    <a:lstStyle/>
                    <a:p>
                      <a:pPr algn="r"/>
                      <a:r>
                        <a:rPr sz="1600" b="1">
                          <a:solidFill>
                            <a:srgbClr val="FFFFFF"/>
                          </a:solidFill>
                        </a:rPr>
                        <a:t>Women</a:t>
                      </a:r>
                    </a:p>
                  </a:txBody>
                  <a:tcPr marT="27432" marB="27432" anchor="ctr">
                    <a:solidFill>
                      <a:srgbClr val="1F394D"/>
                    </a:solidFill>
                  </a:tcPr>
                </a:tc>
                <a:tc>
                  <a:txBody>
                    <a:bodyPr/>
                    <a:lstStyle/>
                    <a:p>
                      <a:pPr algn="r"/>
                      <a:r>
                        <a:rPr sz="1600" b="1">
                          <a:solidFill>
                            <a:srgbClr val="FFFFFF"/>
                          </a:solidFill>
                        </a:rPr>
                        <a:t>All</a:t>
                      </a:r>
                    </a:p>
                  </a:txBody>
                  <a:tcPr marT="27432" marB="27432" anchor="ctr">
                    <a:solidFill>
                      <a:srgbClr val="1F394D"/>
                    </a:solidFill>
                  </a:tcPr>
                </a:tc>
                <a:extLst>
                  <a:ext uri="{0D108BD9-81ED-4DB2-BD59-A6C34878D82A}">
                    <a16:rowId xmlns:a16="http://schemas.microsoft.com/office/drawing/2014/main" val="10000"/>
                  </a:ext>
                </a:extLst>
              </a:tr>
              <a:tr h="566928">
                <a:tc>
                  <a:txBody>
                    <a:bodyPr/>
                    <a:lstStyle/>
                    <a:p>
                      <a:pPr algn="l"/>
                      <a:r>
                        <a:rPr sz="1600" b="1" dirty="0">
                          <a:solidFill>
                            <a:srgbClr val="1F2A33"/>
                          </a:solidFill>
                        </a:rPr>
                        <a:t>Most people can be trusted</a:t>
                      </a:r>
                    </a:p>
                  </a:txBody>
                  <a:tcPr marT="27432" marB="27432" anchor="ctr">
                    <a:solidFill>
                      <a:srgbClr val="F6E7B8"/>
                    </a:solidFill>
                  </a:tcPr>
                </a:tc>
                <a:tc>
                  <a:txBody>
                    <a:bodyPr/>
                    <a:lstStyle/>
                    <a:p>
                      <a:pPr algn="r"/>
                      <a:r>
                        <a:rPr sz="1600" b="0">
                          <a:solidFill>
                            <a:srgbClr val="1F2A33"/>
                          </a:solidFill>
                        </a:rPr>
                        <a:t>51.7</a:t>
                      </a:r>
                    </a:p>
                  </a:txBody>
                  <a:tcPr marT="27432" marB="27432" anchor="ctr">
                    <a:solidFill>
                      <a:srgbClr val="F6E7B8"/>
                    </a:solidFill>
                  </a:tcPr>
                </a:tc>
                <a:tc>
                  <a:txBody>
                    <a:bodyPr/>
                    <a:lstStyle/>
                    <a:p>
                      <a:pPr algn="r"/>
                      <a:r>
                        <a:rPr sz="1600" b="0">
                          <a:solidFill>
                            <a:srgbClr val="1F2A33"/>
                          </a:solidFill>
                        </a:rPr>
                        <a:t>40.7</a:t>
                      </a:r>
                    </a:p>
                  </a:txBody>
                  <a:tcPr marT="27432" marB="27432" anchor="ctr">
                    <a:solidFill>
                      <a:srgbClr val="F6E7B8"/>
                    </a:solidFill>
                  </a:tcPr>
                </a:tc>
                <a:tc>
                  <a:txBody>
                    <a:bodyPr/>
                    <a:lstStyle/>
                    <a:p>
                      <a:pPr algn="r"/>
                      <a:r>
                        <a:rPr sz="1600" b="0">
                          <a:solidFill>
                            <a:srgbClr val="1F2A33"/>
                          </a:solidFill>
                        </a:rPr>
                        <a:t>45.5</a:t>
                      </a:r>
                    </a:p>
                  </a:txBody>
                  <a:tcPr marT="27432" marB="27432" anchor="ctr">
                    <a:solidFill>
                      <a:srgbClr val="F6E7B8"/>
                    </a:solidFill>
                  </a:tcPr>
                </a:tc>
                <a:extLst>
                  <a:ext uri="{0D108BD9-81ED-4DB2-BD59-A6C34878D82A}">
                    <a16:rowId xmlns:a16="http://schemas.microsoft.com/office/drawing/2014/main" val="10001"/>
                  </a:ext>
                </a:extLst>
              </a:tr>
              <a:tr h="566928">
                <a:tc>
                  <a:txBody>
                    <a:bodyPr/>
                    <a:lstStyle/>
                    <a:p>
                      <a:pPr algn="l"/>
                      <a:r>
                        <a:rPr sz="1600" b="1">
                          <a:solidFill>
                            <a:srgbClr val="1F2A33"/>
                          </a:solidFill>
                        </a:rPr>
                        <a:t>Can’t be too careful</a:t>
                      </a:r>
                    </a:p>
                  </a:txBody>
                  <a:tcPr marT="27432" marB="27432" anchor="ctr">
                    <a:solidFill>
                      <a:srgbClr val="EEF3F7"/>
                    </a:solidFill>
                  </a:tcPr>
                </a:tc>
                <a:tc>
                  <a:txBody>
                    <a:bodyPr/>
                    <a:lstStyle/>
                    <a:p>
                      <a:pPr algn="r"/>
                      <a:r>
                        <a:rPr sz="1600" b="0">
                          <a:solidFill>
                            <a:srgbClr val="1F2A33"/>
                          </a:solidFill>
                        </a:rPr>
                        <a:t>48.3</a:t>
                      </a:r>
                    </a:p>
                  </a:txBody>
                  <a:tcPr marT="27432" marB="27432" anchor="ctr">
                    <a:solidFill>
                      <a:srgbClr val="EEF3F7"/>
                    </a:solidFill>
                  </a:tcPr>
                </a:tc>
                <a:tc>
                  <a:txBody>
                    <a:bodyPr/>
                    <a:lstStyle/>
                    <a:p>
                      <a:pPr algn="r"/>
                      <a:r>
                        <a:rPr sz="1600" b="0">
                          <a:solidFill>
                            <a:srgbClr val="1F2A33"/>
                          </a:solidFill>
                        </a:rPr>
                        <a:t>59.3</a:t>
                      </a:r>
                    </a:p>
                  </a:txBody>
                  <a:tcPr marT="27432" marB="27432" anchor="ctr">
                    <a:solidFill>
                      <a:srgbClr val="EEF3F7"/>
                    </a:solidFill>
                  </a:tcPr>
                </a:tc>
                <a:tc>
                  <a:txBody>
                    <a:bodyPr/>
                    <a:lstStyle/>
                    <a:p>
                      <a:pPr algn="r"/>
                      <a:r>
                        <a:rPr sz="1600" b="0">
                          <a:solidFill>
                            <a:srgbClr val="1F2A33"/>
                          </a:solidFill>
                        </a:rPr>
                        <a:t>54.5</a:t>
                      </a:r>
                    </a:p>
                  </a:txBody>
                  <a:tcPr marT="27432" marB="27432" anchor="ctr">
                    <a:solidFill>
                      <a:srgbClr val="EEF3F7"/>
                    </a:solidFill>
                  </a:tcPr>
                </a:tc>
                <a:extLst>
                  <a:ext uri="{0D108BD9-81ED-4DB2-BD59-A6C34878D82A}">
                    <a16:rowId xmlns:a16="http://schemas.microsoft.com/office/drawing/2014/main" val="10002"/>
                  </a:ext>
                </a:extLst>
              </a:tr>
              <a:tr h="566928">
                <a:tc>
                  <a:txBody>
                    <a:bodyPr/>
                    <a:lstStyle/>
                    <a:p>
                      <a:pPr algn="l"/>
                      <a:r>
                        <a:rPr sz="1600" b="1">
                          <a:solidFill>
                            <a:srgbClr val="1F2A33"/>
                          </a:solidFill>
                        </a:rPr>
                        <a:t>Total</a:t>
                      </a:r>
                    </a:p>
                  </a:txBody>
                  <a:tcPr marT="27432" marB="27432" anchor="ctr">
                    <a:solidFill>
                      <a:srgbClr val="FFFFFF"/>
                    </a:solidFill>
                  </a:tcPr>
                </a:tc>
                <a:tc>
                  <a:txBody>
                    <a:bodyPr/>
                    <a:lstStyle/>
                    <a:p>
                      <a:pPr algn="r"/>
                      <a:r>
                        <a:rPr sz="1600" b="0">
                          <a:solidFill>
                            <a:srgbClr val="1F2A33"/>
                          </a:solidFill>
                        </a:rPr>
                        <a:t>100</a:t>
                      </a:r>
                    </a:p>
                  </a:txBody>
                  <a:tcPr marT="27432" marB="27432" anchor="ctr">
                    <a:solidFill>
                      <a:srgbClr val="FFFFFF"/>
                    </a:solidFill>
                  </a:tcPr>
                </a:tc>
                <a:tc>
                  <a:txBody>
                    <a:bodyPr/>
                    <a:lstStyle/>
                    <a:p>
                      <a:pPr algn="r"/>
                      <a:r>
                        <a:rPr sz="1600" b="0">
                          <a:solidFill>
                            <a:srgbClr val="1F2A33"/>
                          </a:solidFill>
                        </a:rPr>
                        <a:t>100</a:t>
                      </a:r>
                    </a:p>
                  </a:txBody>
                  <a:tcPr marT="27432" marB="27432" anchor="ctr">
                    <a:solidFill>
                      <a:srgbClr val="FFFFFF"/>
                    </a:solidFill>
                  </a:tcPr>
                </a:tc>
                <a:tc>
                  <a:txBody>
                    <a:bodyPr/>
                    <a:lstStyle/>
                    <a:p>
                      <a:pPr algn="r"/>
                      <a:r>
                        <a:rPr sz="1600" b="0" dirty="0">
                          <a:solidFill>
                            <a:srgbClr val="1F2A33"/>
                          </a:solidFill>
                        </a:rPr>
                        <a:t>100</a:t>
                      </a:r>
                    </a:p>
                  </a:txBody>
                  <a:tcPr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2" name="Gap box">
            <a:extLst>
              <a:ext uri="{FF2B5EF4-FFF2-40B4-BE49-F238E27FC236}">
                <a16:creationId xmlns:a16="http://schemas.microsoft.com/office/drawing/2014/main" id="{BAE52F79-11AA-0A01-B66C-C157F889C47D}"/>
              </a:ext>
            </a:extLst>
          </p:cNvPr>
          <p:cNvSpPr/>
          <p:nvPr/>
        </p:nvSpPr>
        <p:spPr>
          <a:xfrm>
            <a:off x="758952" y="4434840"/>
            <a:ext cx="10607040" cy="1143000"/>
          </a:xfrm>
          <a:prstGeom prst="roundRect">
            <a:avLst>
              <a:gd name="adj" fmla="val 8000"/>
            </a:avLst>
          </a:prstGeom>
          <a:solidFill>
            <a:srgbClr val="1F394D"/>
          </a:solidFill>
          <a:ln>
            <a:noFill/>
          </a:ln>
        </p:spPr>
        <p:txBody>
          <a:bodyPr rtlCol="0" anchor="ctr"/>
          <a:lstStyle/>
          <a:p>
            <a:endParaRPr/>
          </a:p>
        </p:txBody>
      </p:sp>
      <p:sp>
        <p:nvSpPr>
          <p:cNvPr id="13" name="TextBox 12">
            <a:extLst>
              <a:ext uri="{FF2B5EF4-FFF2-40B4-BE49-F238E27FC236}">
                <a16:creationId xmlns:a16="http://schemas.microsoft.com/office/drawing/2014/main" id="{047A57BF-A4A5-FF91-2FCB-259329C3F9C9}"/>
              </a:ext>
            </a:extLst>
          </p:cNvPr>
          <p:cNvSpPr txBox="1"/>
          <p:nvPr/>
        </p:nvSpPr>
        <p:spPr>
          <a:xfrm>
            <a:off x="1066800" y="4485513"/>
            <a:ext cx="10058400" cy="1143000"/>
          </a:xfrm>
          <a:prstGeom prst="rect">
            <a:avLst/>
          </a:prstGeom>
          <a:noFill/>
        </p:spPr>
        <p:txBody>
          <a:bodyPr wrap="square" lIns="0" tIns="0" rIns="0" bIns="0" anchor="ctr">
            <a:spAutoFit/>
          </a:bodyPr>
          <a:lstStyle/>
          <a:p>
            <a:pPr algn="l"/>
            <a:r>
              <a:rPr sz="2000" b="0" i="0">
                <a:solidFill>
                  <a:srgbClr val="FFFFFF"/>
                </a:solidFill>
              </a:rPr>
              <a:t>Men </a:t>
            </a:r>
            <a:r>
              <a:rPr sz="2000" b="1" i="0">
                <a:solidFill>
                  <a:srgbClr val="B88C00"/>
                </a:solidFill>
              </a:rPr>
              <a:t>51.7%</a:t>
            </a:r>
            <a:r>
              <a:rPr sz="2000" b="0" i="0">
                <a:solidFill>
                  <a:srgbClr val="FFFFFF"/>
                </a:solidFill>
              </a:rPr>
              <a:t> vs women </a:t>
            </a:r>
            <a:r>
              <a:rPr sz="2000" b="1" i="0">
                <a:solidFill>
                  <a:srgbClr val="B88C00"/>
                </a:solidFill>
              </a:rPr>
              <a:t>40.7%</a:t>
            </a:r>
            <a:r>
              <a:rPr sz="2000" b="0" i="0">
                <a:solidFill>
                  <a:srgbClr val="FFFFFF"/>
                </a:solidFill>
              </a:rPr>
              <a:t>: a gap of about </a:t>
            </a:r>
            <a:r>
              <a:rPr sz="2000" b="1" i="0">
                <a:solidFill>
                  <a:srgbClr val="B88C00"/>
                </a:solidFill>
              </a:rPr>
              <a:t>11 percentage points</a:t>
            </a:r>
            <a:r>
              <a:rPr sz="2000" b="0" i="0">
                <a:solidFill>
                  <a:srgbClr val="FFFFFF"/>
                </a:solidFill>
              </a:rPr>
              <a:t>. The bigger the gap, the stronger the association.</a:t>
            </a:r>
          </a:p>
        </p:txBody>
      </p:sp>
      <p:sp>
        <p:nvSpPr>
          <p:cNvPr id="14" name="TextBox 13">
            <a:extLst>
              <a:ext uri="{FF2B5EF4-FFF2-40B4-BE49-F238E27FC236}">
                <a16:creationId xmlns:a16="http://schemas.microsoft.com/office/drawing/2014/main" id="{9772A7AD-F8F2-F36C-D550-5F6C837ABA4F}"/>
              </a:ext>
            </a:extLst>
          </p:cNvPr>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respondents with a substantive answer, n = 1,064.</a:t>
            </a:r>
          </a:p>
        </p:txBody>
      </p:sp>
    </p:spTree>
    <p:extLst>
      <p:ext uri="{BB962C8B-B14F-4D97-AF65-F5344CB8AC3E}">
        <p14:creationId xmlns:p14="http://schemas.microsoft.com/office/powerpoint/2010/main" val="8840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39386-AD10-5A01-E589-B654BECDC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757025-A06A-C943-E5B9-12C181005100}"/>
              </a:ext>
            </a:extLst>
          </p:cNvPr>
          <p:cNvSpPr>
            <a:spLocks noGrp="1"/>
          </p:cNvSpPr>
          <p:nvPr>
            <p:ph type="title"/>
          </p:nvPr>
        </p:nvSpPr>
        <p:spPr/>
        <p:txBody>
          <a:bodyPr/>
          <a:lstStyle/>
          <a:p>
            <a:r>
              <a:rPr lang="en-GB" dirty="0"/>
              <a:t>Row percentages</a:t>
            </a:r>
          </a:p>
        </p:txBody>
      </p:sp>
      <p:sp>
        <p:nvSpPr>
          <p:cNvPr id="3" name="Date Placeholder 1">
            <a:extLst>
              <a:ext uri="{FF2B5EF4-FFF2-40B4-BE49-F238E27FC236}">
                <a16:creationId xmlns:a16="http://schemas.microsoft.com/office/drawing/2014/main" id="{6C0B934D-D68D-3C99-1AFE-73F2E5CD333F}"/>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6F671EE8-9C93-CEA4-890A-025DE08BE5C1}"/>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288A139E-3E9F-CD09-0283-0ABFA3FD01DB}"/>
              </a:ext>
            </a:extLst>
          </p:cNvPr>
          <p:cNvSpPr>
            <a:spLocks noGrp="1"/>
          </p:cNvSpPr>
          <p:nvPr>
            <p:ph type="sldNum" sz="quarter" idx="12"/>
          </p:nvPr>
        </p:nvSpPr>
        <p:spPr/>
        <p:txBody>
          <a:bodyPr/>
          <a:lstStyle/>
          <a:p>
            <a:fld id="{9FAA51BB-2FC0-4DB8-B50E-F52D50E733B6}" type="slidenum">
              <a:rPr lang="en-GB" smtClean="0"/>
              <a:t>11</a:t>
            </a:fld>
            <a:endParaRPr lang="en-GB"/>
          </a:p>
        </p:txBody>
      </p:sp>
      <p:sp>
        <p:nvSpPr>
          <p:cNvPr id="7" name="TextBox 6">
            <a:extLst>
              <a:ext uri="{FF2B5EF4-FFF2-40B4-BE49-F238E27FC236}">
                <a16:creationId xmlns:a16="http://schemas.microsoft.com/office/drawing/2014/main" id="{B3A4A7D2-BDCF-84EE-8DCA-69DD273C33D6}"/>
              </a:ext>
            </a:extLst>
          </p:cNvPr>
          <p:cNvSpPr txBox="1"/>
          <p:nvPr/>
        </p:nvSpPr>
        <p:spPr>
          <a:xfrm>
            <a:off x="758952" y="1216152"/>
            <a:ext cx="10607040" cy="307777"/>
          </a:xfrm>
          <a:prstGeom prst="rect">
            <a:avLst/>
          </a:prstGeom>
          <a:noFill/>
        </p:spPr>
        <p:txBody>
          <a:bodyPr wrap="square" lIns="0" tIns="0" rIns="0" bIns="0" anchor="t">
            <a:spAutoFit/>
          </a:bodyPr>
          <a:lstStyle/>
          <a:p>
            <a:pPr algn="l"/>
            <a:r>
              <a:rPr lang="en-GB" sz="2000" b="0" i="0" dirty="0">
                <a:solidFill>
                  <a:srgbClr val="55606B"/>
                </a:solidFill>
              </a:rPr>
              <a:t>“Who are the trusting?”</a:t>
            </a:r>
          </a:p>
        </p:txBody>
      </p:sp>
      <p:graphicFrame>
        <p:nvGraphicFramePr>
          <p:cNvPr id="8" name="Table 7">
            <a:extLst>
              <a:ext uri="{FF2B5EF4-FFF2-40B4-BE49-F238E27FC236}">
                <a16:creationId xmlns:a16="http://schemas.microsoft.com/office/drawing/2014/main" id="{3C73DA7B-A2AB-999F-599E-805F2F6F2623}"/>
              </a:ext>
            </a:extLst>
          </p:cNvPr>
          <p:cNvGraphicFramePr>
            <a:graphicFrameLocks noGrp="1"/>
          </p:cNvGraphicFramePr>
          <p:nvPr>
            <p:extLst>
              <p:ext uri="{D42A27DB-BD31-4B8C-83A1-F6EECF244321}">
                <p14:modId xmlns:p14="http://schemas.microsoft.com/office/powerpoint/2010/main" val="2229162443"/>
              </p:ext>
            </p:extLst>
          </p:nvPr>
        </p:nvGraphicFramePr>
        <p:xfrm>
          <a:off x="758952" y="1874519"/>
          <a:ext cx="4937760" cy="2267712"/>
        </p:xfrm>
        <a:graphic>
          <a:graphicData uri="http://schemas.openxmlformats.org/drawingml/2006/table">
            <a:tbl>
              <a:tblPr firstRow="1">
                <a:tableStyleId>{5C22544A-7EE6-4342-B048-85BDC9FD1C3A}</a:tableStyleId>
              </a:tblPr>
              <a:tblGrid>
                <a:gridCol w="23774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566928">
                <a:tc>
                  <a:txBody>
                    <a:bodyPr/>
                    <a:lstStyle/>
                    <a:p>
                      <a:pPr algn="l"/>
                      <a:r>
                        <a:rPr sz="1600" b="1">
                          <a:solidFill>
                            <a:srgbClr val="FFFFFF"/>
                          </a:solidFill>
                        </a:rPr>
                        <a:t>Counts</a:t>
                      </a:r>
                    </a:p>
                  </a:txBody>
                  <a:tcPr marT="27432" marB="27432" anchor="ctr">
                    <a:solidFill>
                      <a:srgbClr val="1F394D"/>
                    </a:solidFill>
                  </a:tcPr>
                </a:tc>
                <a:tc>
                  <a:txBody>
                    <a:bodyPr/>
                    <a:lstStyle/>
                    <a:p>
                      <a:pPr algn="r"/>
                      <a:r>
                        <a:rPr sz="1600" b="1">
                          <a:solidFill>
                            <a:srgbClr val="FFFFFF"/>
                          </a:solidFill>
                        </a:rPr>
                        <a:t>Men</a:t>
                      </a:r>
                    </a:p>
                  </a:txBody>
                  <a:tcPr marT="27432" marB="27432" anchor="ctr">
                    <a:solidFill>
                      <a:srgbClr val="1F394D"/>
                    </a:solidFill>
                  </a:tcPr>
                </a:tc>
                <a:tc>
                  <a:txBody>
                    <a:bodyPr/>
                    <a:lstStyle/>
                    <a:p>
                      <a:pPr algn="r"/>
                      <a:r>
                        <a:rPr sz="1600" b="1">
                          <a:solidFill>
                            <a:srgbClr val="FFFFFF"/>
                          </a:solidFill>
                        </a:rPr>
                        <a:t>Women</a:t>
                      </a:r>
                    </a:p>
                  </a:txBody>
                  <a:tcPr marT="27432" marB="27432" anchor="ctr">
                    <a:solidFill>
                      <a:srgbClr val="1F394D"/>
                    </a:solidFill>
                  </a:tcPr>
                </a:tc>
                <a:tc>
                  <a:txBody>
                    <a:bodyPr/>
                    <a:lstStyle/>
                    <a:p>
                      <a:pPr algn="r"/>
                      <a:r>
                        <a:rPr sz="1600" b="1">
                          <a:solidFill>
                            <a:srgbClr val="FFFFFF"/>
                          </a:solidFill>
                        </a:rPr>
                        <a:t>Total</a:t>
                      </a:r>
                    </a:p>
                  </a:txBody>
                  <a:tcPr marT="27432" marB="27432" anchor="ctr">
                    <a:solidFill>
                      <a:srgbClr val="1F394D"/>
                    </a:solidFill>
                  </a:tcPr>
                </a:tc>
                <a:extLst>
                  <a:ext uri="{0D108BD9-81ED-4DB2-BD59-A6C34878D82A}">
                    <a16:rowId xmlns:a16="http://schemas.microsoft.com/office/drawing/2014/main" val="10000"/>
                  </a:ext>
                </a:extLst>
              </a:tr>
              <a:tr h="566928">
                <a:tc>
                  <a:txBody>
                    <a:bodyPr/>
                    <a:lstStyle/>
                    <a:p>
                      <a:pPr algn="l"/>
                      <a:r>
                        <a:rPr sz="1600" b="1">
                          <a:solidFill>
                            <a:srgbClr val="1F2A33"/>
                          </a:solidFill>
                        </a:rPr>
                        <a:t>Most people can be trusted</a:t>
                      </a:r>
                    </a:p>
                  </a:txBody>
                  <a:tcPr marT="27432" marB="27432" anchor="ctr">
                    <a:solidFill>
                      <a:srgbClr val="FFFFFF"/>
                    </a:solidFill>
                  </a:tcPr>
                </a:tc>
                <a:tc>
                  <a:txBody>
                    <a:bodyPr/>
                    <a:lstStyle/>
                    <a:p>
                      <a:pPr algn="r"/>
                      <a:r>
                        <a:rPr sz="1600" b="0">
                          <a:solidFill>
                            <a:srgbClr val="1F2A33"/>
                          </a:solidFill>
                        </a:rPr>
                        <a:t>240</a:t>
                      </a:r>
                    </a:p>
                  </a:txBody>
                  <a:tcPr marT="27432" marB="27432" anchor="ctr">
                    <a:solidFill>
                      <a:srgbClr val="FFFFFF"/>
                    </a:solidFill>
                  </a:tcPr>
                </a:tc>
                <a:tc>
                  <a:txBody>
                    <a:bodyPr/>
                    <a:lstStyle/>
                    <a:p>
                      <a:pPr algn="r"/>
                      <a:r>
                        <a:rPr sz="1600" b="0">
                          <a:solidFill>
                            <a:srgbClr val="1F2A33"/>
                          </a:solidFill>
                        </a:rPr>
                        <a:t>244</a:t>
                      </a:r>
                    </a:p>
                  </a:txBody>
                  <a:tcPr marT="27432" marB="27432" anchor="ctr">
                    <a:solidFill>
                      <a:srgbClr val="FFFFFF"/>
                    </a:solidFill>
                  </a:tcPr>
                </a:tc>
                <a:tc>
                  <a:txBody>
                    <a:bodyPr/>
                    <a:lstStyle/>
                    <a:p>
                      <a:pPr algn="r"/>
                      <a:r>
                        <a:rPr sz="1600" b="0" dirty="0">
                          <a:solidFill>
                            <a:srgbClr val="1F2A33"/>
                          </a:solidFill>
                        </a:rPr>
                        <a:t>484</a:t>
                      </a:r>
                    </a:p>
                  </a:txBody>
                  <a:tcPr marT="27432" marB="27432" anchor="ctr">
                    <a:solidFill>
                      <a:srgbClr val="F6E7B8"/>
                    </a:solidFill>
                  </a:tcPr>
                </a:tc>
                <a:extLst>
                  <a:ext uri="{0D108BD9-81ED-4DB2-BD59-A6C34878D82A}">
                    <a16:rowId xmlns:a16="http://schemas.microsoft.com/office/drawing/2014/main" val="10001"/>
                  </a:ext>
                </a:extLst>
              </a:tr>
              <a:tr h="566928">
                <a:tc>
                  <a:txBody>
                    <a:bodyPr/>
                    <a:lstStyle/>
                    <a:p>
                      <a:pPr algn="l"/>
                      <a:r>
                        <a:rPr sz="1600" b="1">
                          <a:solidFill>
                            <a:srgbClr val="1F2A33"/>
                          </a:solidFill>
                        </a:rPr>
                        <a:t>Can’t be too careful</a:t>
                      </a:r>
                    </a:p>
                  </a:txBody>
                  <a:tcPr marT="27432" marB="27432" anchor="ctr">
                    <a:solidFill>
                      <a:srgbClr val="EEF3F7"/>
                    </a:solidFill>
                  </a:tcPr>
                </a:tc>
                <a:tc>
                  <a:txBody>
                    <a:bodyPr/>
                    <a:lstStyle/>
                    <a:p>
                      <a:pPr algn="r"/>
                      <a:r>
                        <a:rPr sz="1600" b="0">
                          <a:solidFill>
                            <a:srgbClr val="1F2A33"/>
                          </a:solidFill>
                        </a:rPr>
                        <a:t>224</a:t>
                      </a:r>
                    </a:p>
                  </a:txBody>
                  <a:tcPr marT="27432" marB="27432" anchor="ctr">
                    <a:solidFill>
                      <a:srgbClr val="EEF3F7"/>
                    </a:solidFill>
                  </a:tcPr>
                </a:tc>
                <a:tc>
                  <a:txBody>
                    <a:bodyPr/>
                    <a:lstStyle/>
                    <a:p>
                      <a:pPr algn="r"/>
                      <a:r>
                        <a:rPr sz="1600" b="0">
                          <a:solidFill>
                            <a:srgbClr val="1F2A33"/>
                          </a:solidFill>
                        </a:rPr>
                        <a:t>356</a:t>
                      </a:r>
                    </a:p>
                  </a:txBody>
                  <a:tcPr marT="27432" marB="27432" anchor="ctr">
                    <a:solidFill>
                      <a:srgbClr val="EEF3F7"/>
                    </a:solidFill>
                  </a:tcPr>
                </a:tc>
                <a:tc>
                  <a:txBody>
                    <a:bodyPr/>
                    <a:lstStyle/>
                    <a:p>
                      <a:pPr algn="r"/>
                      <a:r>
                        <a:rPr sz="1600" b="0" dirty="0">
                          <a:solidFill>
                            <a:srgbClr val="1F2A33"/>
                          </a:solidFill>
                        </a:rPr>
                        <a:t>580</a:t>
                      </a:r>
                    </a:p>
                  </a:txBody>
                  <a:tcPr marT="27432" marB="27432" anchor="ctr">
                    <a:solidFill>
                      <a:srgbClr val="F6E7B8"/>
                    </a:solidFill>
                  </a:tcPr>
                </a:tc>
                <a:extLst>
                  <a:ext uri="{0D108BD9-81ED-4DB2-BD59-A6C34878D82A}">
                    <a16:rowId xmlns:a16="http://schemas.microsoft.com/office/drawing/2014/main" val="10002"/>
                  </a:ext>
                </a:extLst>
              </a:tr>
              <a:tr h="566928">
                <a:tc>
                  <a:txBody>
                    <a:bodyPr/>
                    <a:lstStyle/>
                    <a:p>
                      <a:pPr algn="l"/>
                      <a:r>
                        <a:rPr sz="1600" b="1">
                          <a:solidFill>
                            <a:srgbClr val="1F2A33"/>
                          </a:solidFill>
                        </a:rPr>
                        <a:t>Total</a:t>
                      </a:r>
                    </a:p>
                  </a:txBody>
                  <a:tcPr marT="27432" marB="27432" anchor="ctr">
                    <a:solidFill>
                      <a:srgbClr val="FFFFFF"/>
                    </a:solidFill>
                  </a:tcPr>
                </a:tc>
                <a:tc>
                  <a:txBody>
                    <a:bodyPr/>
                    <a:lstStyle/>
                    <a:p>
                      <a:pPr algn="r"/>
                      <a:r>
                        <a:rPr sz="1600" b="0" dirty="0">
                          <a:solidFill>
                            <a:srgbClr val="1F2A33"/>
                          </a:solidFill>
                        </a:rPr>
                        <a:t>464</a:t>
                      </a:r>
                    </a:p>
                  </a:txBody>
                  <a:tcPr marT="27432" marB="27432" anchor="ctr">
                    <a:noFill/>
                  </a:tcPr>
                </a:tc>
                <a:tc>
                  <a:txBody>
                    <a:bodyPr/>
                    <a:lstStyle/>
                    <a:p>
                      <a:pPr algn="r"/>
                      <a:r>
                        <a:rPr sz="1600" b="0" dirty="0">
                          <a:solidFill>
                            <a:srgbClr val="1F2A33"/>
                          </a:solidFill>
                        </a:rPr>
                        <a:t>600</a:t>
                      </a:r>
                    </a:p>
                  </a:txBody>
                  <a:tcPr marT="27432" marB="27432" anchor="ctr">
                    <a:noFill/>
                  </a:tcPr>
                </a:tc>
                <a:tc>
                  <a:txBody>
                    <a:bodyPr/>
                    <a:lstStyle/>
                    <a:p>
                      <a:pPr algn="r"/>
                      <a:r>
                        <a:rPr sz="1600" b="0" dirty="0">
                          <a:solidFill>
                            <a:srgbClr val="1F2A33"/>
                          </a:solidFill>
                        </a:rPr>
                        <a:t>1,064</a:t>
                      </a:r>
                    </a:p>
                  </a:txBody>
                  <a:tcPr marT="27432" marB="27432" anchor="ctr">
                    <a:solidFill>
                      <a:srgbClr val="F6E7B8"/>
                    </a:solidFill>
                  </a:tcPr>
                </a:tc>
                <a:extLst>
                  <a:ext uri="{0D108BD9-81ED-4DB2-BD59-A6C34878D82A}">
                    <a16:rowId xmlns:a16="http://schemas.microsoft.com/office/drawing/2014/main" val="10003"/>
                  </a:ext>
                </a:extLst>
              </a:tr>
            </a:tbl>
          </a:graphicData>
        </a:graphic>
      </p:graphicFrame>
      <p:sp>
        <p:nvSpPr>
          <p:cNvPr id="9" name="Right Arrow 8">
            <a:extLst>
              <a:ext uri="{FF2B5EF4-FFF2-40B4-BE49-F238E27FC236}">
                <a16:creationId xmlns:a16="http://schemas.microsoft.com/office/drawing/2014/main" id="{68650E3A-1EA6-A515-88AD-F83A938D1C57}"/>
              </a:ext>
            </a:extLst>
          </p:cNvPr>
          <p:cNvSpPr/>
          <p:nvPr/>
        </p:nvSpPr>
        <p:spPr>
          <a:xfrm>
            <a:off x="5852160" y="2697480"/>
            <a:ext cx="640080" cy="457200"/>
          </a:xfrm>
          <a:prstGeom prst="rightArrow">
            <a:avLst/>
          </a:prstGeom>
          <a:solidFill>
            <a:srgbClr val="3F739B"/>
          </a:solidFill>
          <a:ln>
            <a:noFill/>
          </a:ln>
        </p:spPr>
        <p:txBody>
          <a:bodyPr rtlCol="0" anchor="ctr"/>
          <a:lstStyle/>
          <a:p>
            <a:pPr algn="ctr"/>
            <a:endParaRPr/>
          </a:p>
        </p:txBody>
      </p:sp>
      <p:sp>
        <p:nvSpPr>
          <p:cNvPr id="10" name="TextBox 9">
            <a:extLst>
              <a:ext uri="{FF2B5EF4-FFF2-40B4-BE49-F238E27FC236}">
                <a16:creationId xmlns:a16="http://schemas.microsoft.com/office/drawing/2014/main" id="{5409AB36-BFD3-8FC9-7EAB-91CD65B71338}"/>
              </a:ext>
            </a:extLst>
          </p:cNvPr>
          <p:cNvSpPr txBox="1"/>
          <p:nvPr/>
        </p:nvSpPr>
        <p:spPr>
          <a:xfrm>
            <a:off x="5760720" y="3200400"/>
            <a:ext cx="822960" cy="200055"/>
          </a:xfrm>
          <a:prstGeom prst="rect">
            <a:avLst/>
          </a:prstGeom>
          <a:noFill/>
        </p:spPr>
        <p:txBody>
          <a:bodyPr wrap="square" lIns="0" tIns="0" rIns="0" bIns="0" anchor="t">
            <a:spAutoFit/>
          </a:bodyPr>
          <a:lstStyle/>
          <a:p>
            <a:pPr algn="ctr"/>
            <a:r>
              <a:rPr sz="1300" b="1" i="0" dirty="0">
                <a:solidFill>
                  <a:srgbClr val="3F739B"/>
                </a:solidFill>
              </a:rPr>
              <a:t>÷ </a:t>
            </a:r>
            <a:r>
              <a:rPr lang="en-GB" sz="1300" b="1" i="0" dirty="0">
                <a:solidFill>
                  <a:srgbClr val="3F739B"/>
                </a:solidFill>
              </a:rPr>
              <a:t>row</a:t>
            </a:r>
            <a:r>
              <a:rPr sz="1300" b="1" i="0" dirty="0">
                <a:solidFill>
                  <a:srgbClr val="3F739B"/>
                </a:solidFill>
              </a:rPr>
              <a:t> total</a:t>
            </a:r>
          </a:p>
        </p:txBody>
      </p:sp>
      <p:sp>
        <p:nvSpPr>
          <p:cNvPr id="12" name="Gap box">
            <a:extLst>
              <a:ext uri="{FF2B5EF4-FFF2-40B4-BE49-F238E27FC236}">
                <a16:creationId xmlns:a16="http://schemas.microsoft.com/office/drawing/2014/main" id="{F23D0C15-CA51-6BA2-4903-5EF4B46B2EBF}"/>
              </a:ext>
            </a:extLst>
          </p:cNvPr>
          <p:cNvSpPr/>
          <p:nvPr/>
        </p:nvSpPr>
        <p:spPr>
          <a:xfrm>
            <a:off x="758952" y="4434840"/>
            <a:ext cx="10607040" cy="1143000"/>
          </a:xfrm>
          <a:prstGeom prst="roundRect">
            <a:avLst>
              <a:gd name="adj" fmla="val 8000"/>
            </a:avLst>
          </a:prstGeom>
          <a:solidFill>
            <a:srgbClr val="1F394D"/>
          </a:solidFill>
          <a:ln>
            <a:noFill/>
          </a:ln>
        </p:spPr>
        <p:txBody>
          <a:bodyPr rtlCol="0" anchor="ctr"/>
          <a:lstStyle/>
          <a:p>
            <a:endParaRPr/>
          </a:p>
        </p:txBody>
      </p:sp>
      <p:sp>
        <p:nvSpPr>
          <p:cNvPr id="13" name="TextBox 12">
            <a:extLst>
              <a:ext uri="{FF2B5EF4-FFF2-40B4-BE49-F238E27FC236}">
                <a16:creationId xmlns:a16="http://schemas.microsoft.com/office/drawing/2014/main" id="{1A115B0F-843A-66B6-06E2-7C1A5C2A1D86}"/>
              </a:ext>
            </a:extLst>
          </p:cNvPr>
          <p:cNvSpPr txBox="1"/>
          <p:nvPr/>
        </p:nvSpPr>
        <p:spPr>
          <a:xfrm>
            <a:off x="1033272" y="4513526"/>
            <a:ext cx="10058400" cy="307777"/>
          </a:xfrm>
          <a:prstGeom prst="rect">
            <a:avLst/>
          </a:prstGeom>
          <a:noFill/>
        </p:spPr>
        <p:txBody>
          <a:bodyPr wrap="square" lIns="0" tIns="0" rIns="0" bIns="0" anchor="ctr">
            <a:spAutoFit/>
          </a:bodyPr>
          <a:lstStyle/>
          <a:p>
            <a:pPr algn="l"/>
            <a:r>
              <a:rPr lang="en-GB" sz="2000" b="0" i="0" dirty="0">
                <a:solidFill>
                  <a:srgbClr val="FFFFFF"/>
                </a:solidFill>
              </a:rPr>
              <a:t>Among the “trusting”, men and women are distributed almost equally.</a:t>
            </a:r>
            <a:endParaRPr sz="2000" b="0" i="0" dirty="0">
              <a:solidFill>
                <a:srgbClr val="FFFFFF"/>
              </a:solidFill>
            </a:endParaRPr>
          </a:p>
        </p:txBody>
      </p:sp>
      <p:sp>
        <p:nvSpPr>
          <p:cNvPr id="14" name="TextBox 13">
            <a:extLst>
              <a:ext uri="{FF2B5EF4-FFF2-40B4-BE49-F238E27FC236}">
                <a16:creationId xmlns:a16="http://schemas.microsoft.com/office/drawing/2014/main" id="{146E465A-52F9-E26F-351F-B5B01F477108}"/>
              </a:ext>
            </a:extLst>
          </p:cNvPr>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respondents with a substantive answer, n = 1,064.</a:t>
            </a:r>
          </a:p>
        </p:txBody>
      </p:sp>
      <p:graphicFrame>
        <p:nvGraphicFramePr>
          <p:cNvPr id="4" name="Table 3">
            <a:extLst>
              <a:ext uri="{FF2B5EF4-FFF2-40B4-BE49-F238E27FC236}">
                <a16:creationId xmlns:a16="http://schemas.microsoft.com/office/drawing/2014/main" id="{A4EF4BDD-8367-6551-16F9-08E12A313BC0}"/>
              </a:ext>
            </a:extLst>
          </p:cNvPr>
          <p:cNvGraphicFramePr>
            <a:graphicFrameLocks noGrp="1"/>
          </p:cNvGraphicFramePr>
          <p:nvPr>
            <p:extLst>
              <p:ext uri="{D42A27DB-BD31-4B8C-83A1-F6EECF244321}">
                <p14:modId xmlns:p14="http://schemas.microsoft.com/office/powerpoint/2010/main" val="3220320513"/>
              </p:ext>
            </p:extLst>
          </p:nvPr>
        </p:nvGraphicFramePr>
        <p:xfrm>
          <a:off x="6647688" y="2212467"/>
          <a:ext cx="4663440" cy="1426464"/>
        </p:xfrm>
        <a:graphic>
          <a:graphicData uri="http://schemas.openxmlformats.org/drawingml/2006/table">
            <a:tbl>
              <a:tblPr firstRow="1">
                <a:tableStyleId>{5C22544A-7EE6-4342-B048-85BDC9FD1C3A}</a:tableStyleId>
              </a:tblPr>
              <a:tblGrid>
                <a:gridCol w="146304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75488">
                <a:tc>
                  <a:txBody>
                    <a:bodyPr/>
                    <a:lstStyle/>
                    <a:p>
                      <a:pPr algn="l"/>
                      <a:endParaRPr dirty="0"/>
                    </a:p>
                  </a:txBody>
                  <a:tcPr marT="27432" marB="27432" anchor="ctr">
                    <a:solidFill>
                      <a:srgbClr val="1F394D"/>
                    </a:solidFill>
                  </a:tcPr>
                </a:tc>
                <a:tc>
                  <a:txBody>
                    <a:bodyPr/>
                    <a:lstStyle/>
                    <a:p>
                      <a:pPr algn="r"/>
                      <a:r>
                        <a:rPr sz="1600" b="1">
                          <a:solidFill>
                            <a:srgbClr val="FFFFFF"/>
                          </a:solidFill>
                        </a:rPr>
                        <a:t>Men</a:t>
                      </a:r>
                    </a:p>
                  </a:txBody>
                  <a:tcPr marT="27432" marB="27432" anchor="ctr">
                    <a:solidFill>
                      <a:srgbClr val="1F394D"/>
                    </a:solidFill>
                  </a:tcPr>
                </a:tc>
                <a:tc>
                  <a:txBody>
                    <a:bodyPr/>
                    <a:lstStyle/>
                    <a:p>
                      <a:pPr algn="r"/>
                      <a:r>
                        <a:rPr sz="1600" b="1">
                          <a:solidFill>
                            <a:srgbClr val="FFFFFF"/>
                          </a:solidFill>
                        </a:rPr>
                        <a:t>Women</a:t>
                      </a:r>
                    </a:p>
                  </a:txBody>
                  <a:tcPr marT="27432" marB="27432" anchor="ctr">
                    <a:solidFill>
                      <a:srgbClr val="1F394D"/>
                    </a:solidFill>
                  </a:tcPr>
                </a:tc>
                <a:tc>
                  <a:txBody>
                    <a:bodyPr/>
                    <a:lstStyle/>
                    <a:p>
                      <a:pPr algn="r"/>
                      <a:r>
                        <a:rPr sz="1600" b="1">
                          <a:solidFill>
                            <a:srgbClr val="FFFFFF"/>
                          </a:solidFill>
                        </a:rPr>
                        <a:t>Total</a:t>
                      </a:r>
                    </a:p>
                  </a:txBody>
                  <a:tcPr marT="27432" marB="27432" anchor="ctr">
                    <a:solidFill>
                      <a:srgbClr val="1F394D"/>
                    </a:solidFill>
                  </a:tcPr>
                </a:tc>
                <a:extLst>
                  <a:ext uri="{0D108BD9-81ED-4DB2-BD59-A6C34878D82A}">
                    <a16:rowId xmlns:a16="http://schemas.microsoft.com/office/drawing/2014/main" val="10000"/>
                  </a:ext>
                </a:extLst>
              </a:tr>
              <a:tr h="475488">
                <a:tc>
                  <a:txBody>
                    <a:bodyPr/>
                    <a:lstStyle/>
                    <a:p>
                      <a:pPr algn="l"/>
                      <a:r>
                        <a:rPr sz="1600" b="1" dirty="0">
                          <a:solidFill>
                            <a:srgbClr val="1F2A33"/>
                          </a:solidFill>
                        </a:rPr>
                        <a:t>Trusted</a:t>
                      </a:r>
                    </a:p>
                  </a:txBody>
                  <a:tcPr marT="27432" marB="27432" anchor="ctr">
                    <a:solidFill>
                      <a:srgbClr val="FFFFFF"/>
                    </a:solidFill>
                  </a:tcPr>
                </a:tc>
                <a:tc>
                  <a:txBody>
                    <a:bodyPr/>
                    <a:lstStyle/>
                    <a:p>
                      <a:pPr algn="r"/>
                      <a:r>
                        <a:rPr sz="1600" b="0" dirty="0">
                          <a:solidFill>
                            <a:srgbClr val="1F2A33"/>
                          </a:solidFill>
                        </a:rPr>
                        <a:t>49.6</a:t>
                      </a:r>
                    </a:p>
                  </a:txBody>
                  <a:tcPr marT="27432" marB="27432" anchor="ctr">
                    <a:solidFill>
                      <a:srgbClr val="F6E7B8"/>
                    </a:solidFill>
                  </a:tcPr>
                </a:tc>
                <a:tc>
                  <a:txBody>
                    <a:bodyPr/>
                    <a:lstStyle/>
                    <a:p>
                      <a:pPr algn="r"/>
                      <a:r>
                        <a:rPr sz="1600" b="0" dirty="0">
                          <a:solidFill>
                            <a:srgbClr val="1F2A33"/>
                          </a:solidFill>
                        </a:rPr>
                        <a:t>50.4</a:t>
                      </a:r>
                    </a:p>
                  </a:txBody>
                  <a:tcPr marT="27432" marB="27432" anchor="ctr">
                    <a:solidFill>
                      <a:srgbClr val="F6E7B8"/>
                    </a:solidFill>
                  </a:tcPr>
                </a:tc>
                <a:tc>
                  <a:txBody>
                    <a:bodyPr/>
                    <a:lstStyle/>
                    <a:p>
                      <a:pPr algn="r"/>
                      <a:r>
                        <a:rPr sz="1600" b="0" dirty="0">
                          <a:solidFill>
                            <a:srgbClr val="1F2A33"/>
                          </a:solidFill>
                        </a:rPr>
                        <a:t>100</a:t>
                      </a:r>
                    </a:p>
                  </a:txBody>
                  <a:tcPr marT="27432" marB="27432" anchor="ctr">
                    <a:solidFill>
                      <a:srgbClr val="F6E7B8"/>
                    </a:solidFill>
                  </a:tcPr>
                </a:tc>
                <a:extLst>
                  <a:ext uri="{0D108BD9-81ED-4DB2-BD59-A6C34878D82A}">
                    <a16:rowId xmlns:a16="http://schemas.microsoft.com/office/drawing/2014/main" val="10001"/>
                  </a:ext>
                </a:extLst>
              </a:tr>
              <a:tr h="475488">
                <a:tc>
                  <a:txBody>
                    <a:bodyPr/>
                    <a:lstStyle/>
                    <a:p>
                      <a:pPr algn="l"/>
                      <a:r>
                        <a:rPr sz="1600" b="1" dirty="0">
                          <a:solidFill>
                            <a:srgbClr val="1F2A33"/>
                          </a:solidFill>
                        </a:rPr>
                        <a:t>Careful</a:t>
                      </a:r>
                    </a:p>
                  </a:txBody>
                  <a:tcPr marT="27432" marB="27432" anchor="ctr">
                    <a:solidFill>
                      <a:srgbClr val="EEF3F7"/>
                    </a:solidFill>
                  </a:tcPr>
                </a:tc>
                <a:tc>
                  <a:txBody>
                    <a:bodyPr/>
                    <a:lstStyle/>
                    <a:p>
                      <a:pPr algn="r"/>
                      <a:r>
                        <a:rPr sz="1600" b="0" dirty="0">
                          <a:solidFill>
                            <a:srgbClr val="1F2A33"/>
                          </a:solidFill>
                        </a:rPr>
                        <a:t>38.6</a:t>
                      </a:r>
                    </a:p>
                  </a:txBody>
                  <a:tcPr marT="27432" marB="27432" anchor="ctr">
                    <a:solidFill>
                      <a:srgbClr val="EEF3F7"/>
                    </a:solidFill>
                  </a:tcPr>
                </a:tc>
                <a:tc>
                  <a:txBody>
                    <a:bodyPr/>
                    <a:lstStyle/>
                    <a:p>
                      <a:pPr algn="r"/>
                      <a:r>
                        <a:rPr sz="1600" b="0" dirty="0">
                          <a:solidFill>
                            <a:srgbClr val="1F2A33"/>
                          </a:solidFill>
                        </a:rPr>
                        <a:t>61.4</a:t>
                      </a:r>
                    </a:p>
                  </a:txBody>
                  <a:tcPr marT="27432" marB="27432" anchor="ctr">
                    <a:solidFill>
                      <a:srgbClr val="EEF3F7"/>
                    </a:solidFill>
                  </a:tcPr>
                </a:tc>
                <a:tc>
                  <a:txBody>
                    <a:bodyPr/>
                    <a:lstStyle/>
                    <a:p>
                      <a:pPr algn="r"/>
                      <a:r>
                        <a:rPr sz="1600" b="0" dirty="0">
                          <a:solidFill>
                            <a:srgbClr val="1F2A33"/>
                          </a:solidFill>
                        </a:rPr>
                        <a:t>100</a:t>
                      </a:r>
                    </a:p>
                  </a:txBody>
                  <a:tcPr marT="27432" marB="27432" anchor="ctr">
                    <a:solidFill>
                      <a:srgbClr val="EEF3F7"/>
                    </a:solidFill>
                  </a:tcPr>
                </a:tc>
                <a:extLst>
                  <a:ext uri="{0D108BD9-81ED-4DB2-BD59-A6C34878D82A}">
                    <a16:rowId xmlns:a16="http://schemas.microsoft.com/office/drawing/2014/main" val="10002"/>
                  </a:ext>
                </a:extLst>
              </a:tr>
            </a:tbl>
          </a:graphicData>
        </a:graphic>
      </p:graphicFrame>
      <p:sp>
        <p:nvSpPr>
          <p:cNvPr id="15" name="TextBox 14">
            <a:extLst>
              <a:ext uri="{FF2B5EF4-FFF2-40B4-BE49-F238E27FC236}">
                <a16:creationId xmlns:a16="http://schemas.microsoft.com/office/drawing/2014/main" id="{5464B8FA-0D21-D8F3-45C7-6292F8B0A68B}"/>
              </a:ext>
            </a:extLst>
          </p:cNvPr>
          <p:cNvSpPr txBox="1"/>
          <p:nvPr/>
        </p:nvSpPr>
        <p:spPr>
          <a:xfrm>
            <a:off x="1033272" y="4852451"/>
            <a:ext cx="10058400" cy="307777"/>
          </a:xfrm>
          <a:prstGeom prst="rect">
            <a:avLst/>
          </a:prstGeom>
          <a:noFill/>
        </p:spPr>
        <p:txBody>
          <a:bodyPr wrap="square" lIns="0" tIns="0" rIns="0" bIns="0" anchor="ctr">
            <a:spAutoFit/>
          </a:bodyPr>
          <a:lstStyle/>
          <a:p>
            <a:pPr algn="l"/>
            <a:r>
              <a:rPr lang="en-GB" sz="2000" b="1" i="0" dirty="0">
                <a:solidFill>
                  <a:srgbClr val="FF0000"/>
                </a:solidFill>
              </a:rPr>
              <a:t>But:</a:t>
            </a:r>
            <a:endParaRPr sz="2000" b="1" i="0" dirty="0">
              <a:solidFill>
                <a:srgbClr val="FF0000"/>
              </a:solidFill>
            </a:endParaRPr>
          </a:p>
        </p:txBody>
      </p:sp>
      <p:sp>
        <p:nvSpPr>
          <p:cNvPr id="16" name="TextBox 15">
            <a:extLst>
              <a:ext uri="{FF2B5EF4-FFF2-40B4-BE49-F238E27FC236}">
                <a16:creationId xmlns:a16="http://schemas.microsoft.com/office/drawing/2014/main" id="{CE342B6B-E65A-3338-99B8-C54B3EACC8C9}"/>
              </a:ext>
            </a:extLst>
          </p:cNvPr>
          <p:cNvSpPr txBox="1"/>
          <p:nvPr/>
        </p:nvSpPr>
        <p:spPr>
          <a:xfrm>
            <a:off x="1033272" y="5184607"/>
            <a:ext cx="10058400" cy="307777"/>
          </a:xfrm>
          <a:prstGeom prst="rect">
            <a:avLst/>
          </a:prstGeom>
          <a:noFill/>
        </p:spPr>
        <p:txBody>
          <a:bodyPr wrap="square" lIns="0" tIns="0" rIns="0" bIns="0" anchor="ctr">
            <a:spAutoFit/>
          </a:bodyPr>
          <a:lstStyle/>
          <a:p>
            <a:pPr algn="l"/>
            <a:r>
              <a:rPr lang="en-GB" sz="2000" b="0" i="0" dirty="0">
                <a:solidFill>
                  <a:srgbClr val="FF0000"/>
                </a:solidFill>
              </a:rPr>
              <a:t>Women are overrepresented in th</a:t>
            </a:r>
            <a:r>
              <a:rPr lang="en-GB" sz="2000" dirty="0">
                <a:solidFill>
                  <a:srgbClr val="FF0000"/>
                </a:solidFill>
              </a:rPr>
              <a:t>e whole sample!</a:t>
            </a:r>
            <a:endParaRPr sz="2000" b="0" i="0" dirty="0">
              <a:solidFill>
                <a:srgbClr val="FF0000"/>
              </a:solidFill>
            </a:endParaRPr>
          </a:p>
        </p:txBody>
      </p:sp>
      <p:sp>
        <p:nvSpPr>
          <p:cNvPr id="17" name="Rectangle 16">
            <a:extLst>
              <a:ext uri="{FF2B5EF4-FFF2-40B4-BE49-F238E27FC236}">
                <a16:creationId xmlns:a16="http://schemas.microsoft.com/office/drawing/2014/main" id="{26CE9A0B-D6C5-98CD-6544-ADDE6D4BE950}"/>
              </a:ext>
            </a:extLst>
          </p:cNvPr>
          <p:cNvSpPr/>
          <p:nvPr/>
        </p:nvSpPr>
        <p:spPr>
          <a:xfrm>
            <a:off x="3124199" y="3562349"/>
            <a:ext cx="1704975" cy="57988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7376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5" grpId="0"/>
      <p:bldP spid="16" grpId="0"/>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3DF25-AE81-EE8C-2261-E6003663C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27816-40D3-CAD1-21A5-64F292F9C973}"/>
              </a:ext>
            </a:extLst>
          </p:cNvPr>
          <p:cNvSpPr>
            <a:spLocks noGrp="1"/>
          </p:cNvSpPr>
          <p:nvPr>
            <p:ph type="title"/>
          </p:nvPr>
        </p:nvSpPr>
        <p:spPr/>
        <p:txBody>
          <a:bodyPr/>
          <a:lstStyle/>
          <a:p>
            <a:r>
              <a:rPr lang="en-GB" dirty="0">
                <a:solidFill>
                  <a:srgbClr val="FF0000"/>
                </a:solidFill>
              </a:rPr>
              <a:t>Row percentages - beware</a:t>
            </a:r>
          </a:p>
        </p:txBody>
      </p:sp>
      <p:sp>
        <p:nvSpPr>
          <p:cNvPr id="3" name="Date Placeholder 1">
            <a:extLst>
              <a:ext uri="{FF2B5EF4-FFF2-40B4-BE49-F238E27FC236}">
                <a16:creationId xmlns:a16="http://schemas.microsoft.com/office/drawing/2014/main" id="{D1CCB63F-D4D9-1E98-33D8-7547F4F0AB29}"/>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5ECF8778-1971-E36E-625C-488D8D377AAB}"/>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A7732302-3E3C-8415-EE06-F16132B663C7}"/>
              </a:ext>
            </a:extLst>
          </p:cNvPr>
          <p:cNvSpPr>
            <a:spLocks noGrp="1"/>
          </p:cNvSpPr>
          <p:nvPr>
            <p:ph type="sldNum" sz="quarter" idx="12"/>
          </p:nvPr>
        </p:nvSpPr>
        <p:spPr/>
        <p:txBody>
          <a:bodyPr/>
          <a:lstStyle/>
          <a:p>
            <a:fld id="{9FAA51BB-2FC0-4DB8-B50E-F52D50E733B6}" type="slidenum">
              <a:rPr lang="en-GB" smtClean="0"/>
              <a:t>12</a:t>
            </a:fld>
            <a:endParaRPr lang="en-GB"/>
          </a:p>
        </p:txBody>
      </p:sp>
      <p:graphicFrame>
        <p:nvGraphicFramePr>
          <p:cNvPr id="8" name="Table 7">
            <a:extLst>
              <a:ext uri="{FF2B5EF4-FFF2-40B4-BE49-F238E27FC236}">
                <a16:creationId xmlns:a16="http://schemas.microsoft.com/office/drawing/2014/main" id="{75E87B94-20DB-FC6B-8B7D-FEC686D01BB4}"/>
              </a:ext>
            </a:extLst>
          </p:cNvPr>
          <p:cNvGraphicFramePr>
            <a:graphicFrameLocks noGrp="1"/>
          </p:cNvGraphicFramePr>
          <p:nvPr>
            <p:extLst>
              <p:ext uri="{D42A27DB-BD31-4B8C-83A1-F6EECF244321}">
                <p14:modId xmlns:p14="http://schemas.microsoft.com/office/powerpoint/2010/main" val="772418012"/>
              </p:ext>
            </p:extLst>
          </p:nvPr>
        </p:nvGraphicFramePr>
        <p:xfrm>
          <a:off x="758952" y="1874519"/>
          <a:ext cx="4937760" cy="2267712"/>
        </p:xfrm>
        <a:graphic>
          <a:graphicData uri="http://schemas.openxmlformats.org/drawingml/2006/table">
            <a:tbl>
              <a:tblPr firstRow="1">
                <a:tableStyleId>{5C22544A-7EE6-4342-B048-85BDC9FD1C3A}</a:tableStyleId>
              </a:tblPr>
              <a:tblGrid>
                <a:gridCol w="23774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566928">
                <a:tc>
                  <a:txBody>
                    <a:bodyPr/>
                    <a:lstStyle/>
                    <a:p>
                      <a:pPr algn="l"/>
                      <a:r>
                        <a:rPr sz="1600" b="1">
                          <a:solidFill>
                            <a:srgbClr val="FFFFFF"/>
                          </a:solidFill>
                        </a:rPr>
                        <a:t>Counts</a:t>
                      </a:r>
                    </a:p>
                  </a:txBody>
                  <a:tcPr marT="27432" marB="27432" anchor="ctr">
                    <a:solidFill>
                      <a:srgbClr val="1F394D"/>
                    </a:solidFill>
                  </a:tcPr>
                </a:tc>
                <a:tc>
                  <a:txBody>
                    <a:bodyPr/>
                    <a:lstStyle/>
                    <a:p>
                      <a:pPr algn="r"/>
                      <a:r>
                        <a:rPr sz="1600" b="1">
                          <a:solidFill>
                            <a:srgbClr val="FFFFFF"/>
                          </a:solidFill>
                        </a:rPr>
                        <a:t>Men</a:t>
                      </a:r>
                    </a:p>
                  </a:txBody>
                  <a:tcPr marT="27432" marB="27432" anchor="ctr">
                    <a:solidFill>
                      <a:srgbClr val="1F394D"/>
                    </a:solidFill>
                  </a:tcPr>
                </a:tc>
                <a:tc>
                  <a:txBody>
                    <a:bodyPr/>
                    <a:lstStyle/>
                    <a:p>
                      <a:pPr algn="r"/>
                      <a:r>
                        <a:rPr sz="1600" b="1">
                          <a:solidFill>
                            <a:srgbClr val="FFFFFF"/>
                          </a:solidFill>
                        </a:rPr>
                        <a:t>Women</a:t>
                      </a:r>
                    </a:p>
                  </a:txBody>
                  <a:tcPr marT="27432" marB="27432" anchor="ctr">
                    <a:solidFill>
                      <a:srgbClr val="1F394D"/>
                    </a:solidFill>
                  </a:tcPr>
                </a:tc>
                <a:tc>
                  <a:txBody>
                    <a:bodyPr/>
                    <a:lstStyle/>
                    <a:p>
                      <a:pPr algn="r"/>
                      <a:r>
                        <a:rPr sz="1600" b="1">
                          <a:solidFill>
                            <a:srgbClr val="FFFFFF"/>
                          </a:solidFill>
                        </a:rPr>
                        <a:t>Total</a:t>
                      </a:r>
                    </a:p>
                  </a:txBody>
                  <a:tcPr marT="27432" marB="27432" anchor="ctr">
                    <a:solidFill>
                      <a:srgbClr val="1F394D"/>
                    </a:solidFill>
                  </a:tcPr>
                </a:tc>
                <a:extLst>
                  <a:ext uri="{0D108BD9-81ED-4DB2-BD59-A6C34878D82A}">
                    <a16:rowId xmlns:a16="http://schemas.microsoft.com/office/drawing/2014/main" val="10000"/>
                  </a:ext>
                </a:extLst>
              </a:tr>
              <a:tr h="566928">
                <a:tc>
                  <a:txBody>
                    <a:bodyPr/>
                    <a:lstStyle/>
                    <a:p>
                      <a:pPr algn="l"/>
                      <a:r>
                        <a:rPr sz="1600" b="1">
                          <a:solidFill>
                            <a:srgbClr val="1F2A33"/>
                          </a:solidFill>
                        </a:rPr>
                        <a:t>Most people can be trusted</a:t>
                      </a:r>
                    </a:p>
                  </a:txBody>
                  <a:tcPr marT="27432" marB="27432" anchor="ctr">
                    <a:solidFill>
                      <a:srgbClr val="FFFFFF"/>
                    </a:solidFill>
                  </a:tcPr>
                </a:tc>
                <a:tc>
                  <a:txBody>
                    <a:bodyPr/>
                    <a:lstStyle/>
                    <a:p>
                      <a:pPr algn="r"/>
                      <a:r>
                        <a:rPr sz="1600" b="0">
                          <a:solidFill>
                            <a:srgbClr val="1F2A33"/>
                          </a:solidFill>
                        </a:rPr>
                        <a:t>240</a:t>
                      </a:r>
                    </a:p>
                  </a:txBody>
                  <a:tcPr marT="27432" marB="27432" anchor="ctr">
                    <a:solidFill>
                      <a:srgbClr val="FFFFFF"/>
                    </a:solidFill>
                  </a:tcPr>
                </a:tc>
                <a:tc>
                  <a:txBody>
                    <a:bodyPr/>
                    <a:lstStyle/>
                    <a:p>
                      <a:pPr algn="r"/>
                      <a:r>
                        <a:rPr sz="1600" b="0" dirty="0">
                          <a:solidFill>
                            <a:srgbClr val="1F2A33"/>
                          </a:solidFill>
                        </a:rPr>
                        <a:t>244</a:t>
                      </a:r>
                      <a:r>
                        <a:rPr lang="en-GB" sz="1600" b="0" dirty="0">
                          <a:solidFill>
                            <a:srgbClr val="FF0000"/>
                          </a:solidFill>
                        </a:rPr>
                        <a:t>0</a:t>
                      </a:r>
                      <a:endParaRPr sz="1600" b="0" dirty="0">
                        <a:solidFill>
                          <a:srgbClr val="FF0000"/>
                        </a:solidFill>
                      </a:endParaRPr>
                    </a:p>
                  </a:txBody>
                  <a:tcPr marT="27432" marB="27432" anchor="ctr">
                    <a:solidFill>
                      <a:srgbClr val="FFFFFF"/>
                    </a:solidFill>
                  </a:tcPr>
                </a:tc>
                <a:tc>
                  <a:txBody>
                    <a:bodyPr/>
                    <a:lstStyle/>
                    <a:p>
                      <a:pPr algn="r"/>
                      <a:r>
                        <a:rPr lang="en-GB" sz="1600" b="0" dirty="0">
                          <a:solidFill>
                            <a:srgbClr val="FF0000"/>
                          </a:solidFill>
                        </a:rPr>
                        <a:t>2,680</a:t>
                      </a:r>
                      <a:endParaRPr sz="1600" b="0" dirty="0">
                        <a:solidFill>
                          <a:srgbClr val="FF0000"/>
                        </a:solidFill>
                      </a:endParaRPr>
                    </a:p>
                  </a:txBody>
                  <a:tcPr marT="27432" marB="27432" anchor="ctr">
                    <a:solidFill>
                      <a:srgbClr val="F6E7B8"/>
                    </a:solidFill>
                  </a:tcPr>
                </a:tc>
                <a:extLst>
                  <a:ext uri="{0D108BD9-81ED-4DB2-BD59-A6C34878D82A}">
                    <a16:rowId xmlns:a16="http://schemas.microsoft.com/office/drawing/2014/main" val="10001"/>
                  </a:ext>
                </a:extLst>
              </a:tr>
              <a:tr h="566928">
                <a:tc>
                  <a:txBody>
                    <a:bodyPr/>
                    <a:lstStyle/>
                    <a:p>
                      <a:pPr algn="l"/>
                      <a:r>
                        <a:rPr sz="1600" b="1">
                          <a:solidFill>
                            <a:srgbClr val="1F2A33"/>
                          </a:solidFill>
                        </a:rPr>
                        <a:t>Can’t be too careful</a:t>
                      </a:r>
                    </a:p>
                  </a:txBody>
                  <a:tcPr marT="27432" marB="27432" anchor="ctr">
                    <a:solidFill>
                      <a:srgbClr val="EEF3F7"/>
                    </a:solidFill>
                  </a:tcPr>
                </a:tc>
                <a:tc>
                  <a:txBody>
                    <a:bodyPr/>
                    <a:lstStyle/>
                    <a:p>
                      <a:pPr algn="r"/>
                      <a:r>
                        <a:rPr sz="1600" b="0">
                          <a:solidFill>
                            <a:srgbClr val="1F2A33"/>
                          </a:solidFill>
                        </a:rPr>
                        <a:t>224</a:t>
                      </a:r>
                    </a:p>
                  </a:txBody>
                  <a:tcPr marT="27432" marB="27432" anchor="ctr">
                    <a:solidFill>
                      <a:srgbClr val="EEF3F7"/>
                    </a:solidFill>
                  </a:tcPr>
                </a:tc>
                <a:tc>
                  <a:txBody>
                    <a:bodyPr/>
                    <a:lstStyle/>
                    <a:p>
                      <a:pPr algn="r"/>
                      <a:r>
                        <a:rPr sz="1600" b="0" dirty="0">
                          <a:solidFill>
                            <a:srgbClr val="1F2A33"/>
                          </a:solidFill>
                        </a:rPr>
                        <a:t>356</a:t>
                      </a:r>
                      <a:r>
                        <a:rPr lang="en-GB" sz="1600" b="0" dirty="0">
                          <a:solidFill>
                            <a:srgbClr val="FF0000"/>
                          </a:solidFill>
                        </a:rPr>
                        <a:t>0</a:t>
                      </a:r>
                      <a:endParaRPr sz="1600" b="0" dirty="0">
                        <a:solidFill>
                          <a:srgbClr val="FF0000"/>
                        </a:solidFill>
                      </a:endParaRPr>
                    </a:p>
                  </a:txBody>
                  <a:tcPr marT="27432" marB="27432" anchor="ctr">
                    <a:solidFill>
                      <a:srgbClr val="EEF3F7"/>
                    </a:solidFill>
                  </a:tcPr>
                </a:tc>
                <a:tc>
                  <a:txBody>
                    <a:bodyPr/>
                    <a:lstStyle/>
                    <a:p>
                      <a:pPr algn="r"/>
                      <a:r>
                        <a:rPr lang="en-GB" sz="1600" b="0" dirty="0">
                          <a:solidFill>
                            <a:srgbClr val="FF0000"/>
                          </a:solidFill>
                        </a:rPr>
                        <a:t>3,784</a:t>
                      </a:r>
                      <a:endParaRPr sz="1600" b="0" dirty="0">
                        <a:solidFill>
                          <a:srgbClr val="FF0000"/>
                        </a:solidFill>
                      </a:endParaRPr>
                    </a:p>
                  </a:txBody>
                  <a:tcPr marT="27432" marB="27432" anchor="ctr">
                    <a:solidFill>
                      <a:srgbClr val="F6E7B8"/>
                    </a:solidFill>
                  </a:tcPr>
                </a:tc>
                <a:extLst>
                  <a:ext uri="{0D108BD9-81ED-4DB2-BD59-A6C34878D82A}">
                    <a16:rowId xmlns:a16="http://schemas.microsoft.com/office/drawing/2014/main" val="10002"/>
                  </a:ext>
                </a:extLst>
              </a:tr>
              <a:tr h="566928">
                <a:tc>
                  <a:txBody>
                    <a:bodyPr/>
                    <a:lstStyle/>
                    <a:p>
                      <a:pPr algn="l"/>
                      <a:r>
                        <a:rPr sz="1600" b="1">
                          <a:solidFill>
                            <a:srgbClr val="1F2A33"/>
                          </a:solidFill>
                        </a:rPr>
                        <a:t>Total</a:t>
                      </a:r>
                    </a:p>
                  </a:txBody>
                  <a:tcPr marT="27432" marB="27432" anchor="ctr">
                    <a:solidFill>
                      <a:srgbClr val="FFFFFF"/>
                    </a:solidFill>
                  </a:tcPr>
                </a:tc>
                <a:tc>
                  <a:txBody>
                    <a:bodyPr/>
                    <a:lstStyle/>
                    <a:p>
                      <a:pPr algn="r"/>
                      <a:r>
                        <a:rPr sz="1600" b="0" dirty="0">
                          <a:solidFill>
                            <a:srgbClr val="1F2A33"/>
                          </a:solidFill>
                        </a:rPr>
                        <a:t>464</a:t>
                      </a:r>
                    </a:p>
                  </a:txBody>
                  <a:tcPr marT="27432" marB="27432" anchor="ctr">
                    <a:noFill/>
                  </a:tcPr>
                </a:tc>
                <a:tc>
                  <a:txBody>
                    <a:bodyPr/>
                    <a:lstStyle/>
                    <a:p>
                      <a:pPr algn="r"/>
                      <a:r>
                        <a:rPr sz="1600" b="0" dirty="0">
                          <a:solidFill>
                            <a:srgbClr val="1F2A33"/>
                          </a:solidFill>
                        </a:rPr>
                        <a:t>600</a:t>
                      </a:r>
                      <a:r>
                        <a:rPr lang="en-GB" sz="1600" b="0" dirty="0">
                          <a:solidFill>
                            <a:srgbClr val="FF0000"/>
                          </a:solidFill>
                        </a:rPr>
                        <a:t>0</a:t>
                      </a:r>
                      <a:endParaRPr sz="1600" b="0" dirty="0">
                        <a:solidFill>
                          <a:srgbClr val="FF0000"/>
                        </a:solidFill>
                      </a:endParaRPr>
                    </a:p>
                  </a:txBody>
                  <a:tcPr marT="27432" marB="27432" anchor="ctr">
                    <a:noFill/>
                  </a:tcPr>
                </a:tc>
                <a:tc>
                  <a:txBody>
                    <a:bodyPr/>
                    <a:lstStyle/>
                    <a:p>
                      <a:pPr algn="r"/>
                      <a:r>
                        <a:rPr lang="en-GB" sz="1600" b="0" dirty="0">
                          <a:solidFill>
                            <a:srgbClr val="FF0000"/>
                          </a:solidFill>
                        </a:rPr>
                        <a:t>6,464</a:t>
                      </a:r>
                      <a:endParaRPr sz="1600" b="0" dirty="0">
                        <a:solidFill>
                          <a:srgbClr val="FF0000"/>
                        </a:solidFill>
                      </a:endParaRPr>
                    </a:p>
                  </a:txBody>
                  <a:tcPr marT="27432" marB="27432" anchor="ctr">
                    <a:solidFill>
                      <a:srgbClr val="F6E7B8"/>
                    </a:solidFill>
                  </a:tcPr>
                </a:tc>
                <a:extLst>
                  <a:ext uri="{0D108BD9-81ED-4DB2-BD59-A6C34878D82A}">
                    <a16:rowId xmlns:a16="http://schemas.microsoft.com/office/drawing/2014/main" val="10003"/>
                  </a:ext>
                </a:extLst>
              </a:tr>
            </a:tbl>
          </a:graphicData>
        </a:graphic>
      </p:graphicFrame>
      <p:sp>
        <p:nvSpPr>
          <p:cNvPr id="9" name="Right Arrow 8">
            <a:extLst>
              <a:ext uri="{FF2B5EF4-FFF2-40B4-BE49-F238E27FC236}">
                <a16:creationId xmlns:a16="http://schemas.microsoft.com/office/drawing/2014/main" id="{173BA674-E6E0-F001-B653-6BF013BA01DD}"/>
              </a:ext>
            </a:extLst>
          </p:cNvPr>
          <p:cNvSpPr/>
          <p:nvPr/>
        </p:nvSpPr>
        <p:spPr>
          <a:xfrm>
            <a:off x="5852160" y="2697480"/>
            <a:ext cx="640080" cy="457200"/>
          </a:xfrm>
          <a:prstGeom prst="rightArrow">
            <a:avLst/>
          </a:prstGeom>
          <a:solidFill>
            <a:srgbClr val="3F739B"/>
          </a:solidFill>
          <a:ln>
            <a:noFill/>
          </a:ln>
        </p:spPr>
        <p:txBody>
          <a:bodyPr rtlCol="0" anchor="ctr"/>
          <a:lstStyle/>
          <a:p>
            <a:pPr algn="ctr"/>
            <a:endParaRPr/>
          </a:p>
        </p:txBody>
      </p:sp>
      <p:sp>
        <p:nvSpPr>
          <p:cNvPr id="10" name="TextBox 9">
            <a:extLst>
              <a:ext uri="{FF2B5EF4-FFF2-40B4-BE49-F238E27FC236}">
                <a16:creationId xmlns:a16="http://schemas.microsoft.com/office/drawing/2014/main" id="{AD4DDC6F-968E-CC85-5CFC-75C79768E430}"/>
              </a:ext>
            </a:extLst>
          </p:cNvPr>
          <p:cNvSpPr txBox="1"/>
          <p:nvPr/>
        </p:nvSpPr>
        <p:spPr>
          <a:xfrm>
            <a:off x="5760720" y="3200400"/>
            <a:ext cx="822960" cy="200055"/>
          </a:xfrm>
          <a:prstGeom prst="rect">
            <a:avLst/>
          </a:prstGeom>
          <a:noFill/>
        </p:spPr>
        <p:txBody>
          <a:bodyPr wrap="square" lIns="0" tIns="0" rIns="0" bIns="0" anchor="t">
            <a:spAutoFit/>
          </a:bodyPr>
          <a:lstStyle/>
          <a:p>
            <a:pPr algn="ctr"/>
            <a:r>
              <a:rPr sz="1300" b="1" i="0" dirty="0">
                <a:solidFill>
                  <a:srgbClr val="3F739B"/>
                </a:solidFill>
              </a:rPr>
              <a:t>÷ </a:t>
            </a:r>
            <a:r>
              <a:rPr lang="en-GB" sz="1300" b="1" i="0" dirty="0">
                <a:solidFill>
                  <a:srgbClr val="3F739B"/>
                </a:solidFill>
              </a:rPr>
              <a:t>row</a:t>
            </a:r>
            <a:r>
              <a:rPr sz="1300" b="1" i="0" dirty="0">
                <a:solidFill>
                  <a:srgbClr val="3F739B"/>
                </a:solidFill>
              </a:rPr>
              <a:t> total</a:t>
            </a:r>
          </a:p>
        </p:txBody>
      </p:sp>
      <p:sp>
        <p:nvSpPr>
          <p:cNvPr id="12" name="Gap box">
            <a:extLst>
              <a:ext uri="{FF2B5EF4-FFF2-40B4-BE49-F238E27FC236}">
                <a16:creationId xmlns:a16="http://schemas.microsoft.com/office/drawing/2014/main" id="{7AC8ED7A-9FB4-8CC3-9F78-04FDFF13D2C1}"/>
              </a:ext>
            </a:extLst>
          </p:cNvPr>
          <p:cNvSpPr/>
          <p:nvPr/>
        </p:nvSpPr>
        <p:spPr>
          <a:xfrm>
            <a:off x="758952" y="4434840"/>
            <a:ext cx="10607040" cy="1143000"/>
          </a:xfrm>
          <a:prstGeom prst="roundRect">
            <a:avLst>
              <a:gd name="adj" fmla="val 8000"/>
            </a:avLst>
          </a:prstGeom>
          <a:solidFill>
            <a:srgbClr val="1F394D"/>
          </a:solidFill>
          <a:ln>
            <a:noFill/>
          </a:ln>
        </p:spPr>
        <p:txBody>
          <a:bodyPr rtlCol="0" anchor="ctr"/>
          <a:lstStyle/>
          <a:p>
            <a:endParaRPr/>
          </a:p>
        </p:txBody>
      </p:sp>
      <p:sp>
        <p:nvSpPr>
          <p:cNvPr id="13" name="TextBox 12">
            <a:extLst>
              <a:ext uri="{FF2B5EF4-FFF2-40B4-BE49-F238E27FC236}">
                <a16:creationId xmlns:a16="http://schemas.microsoft.com/office/drawing/2014/main" id="{EF21C726-BA5A-89D5-5448-CDA35B6A9A6D}"/>
              </a:ext>
            </a:extLst>
          </p:cNvPr>
          <p:cNvSpPr txBox="1"/>
          <p:nvPr/>
        </p:nvSpPr>
        <p:spPr>
          <a:xfrm>
            <a:off x="1033272" y="4513526"/>
            <a:ext cx="10058400" cy="307777"/>
          </a:xfrm>
          <a:prstGeom prst="rect">
            <a:avLst/>
          </a:prstGeom>
          <a:noFill/>
        </p:spPr>
        <p:txBody>
          <a:bodyPr wrap="square" lIns="0" tIns="0" rIns="0" bIns="0" anchor="ctr">
            <a:spAutoFit/>
          </a:bodyPr>
          <a:lstStyle/>
          <a:p>
            <a:pPr algn="l"/>
            <a:r>
              <a:rPr lang="en-GB" sz="2000" b="0" i="0" strike="sngStrike" dirty="0">
                <a:solidFill>
                  <a:srgbClr val="FFFFFF"/>
                </a:solidFill>
              </a:rPr>
              <a:t>Among the “trusting”, men and women are distributed almost equally.</a:t>
            </a:r>
            <a:endParaRPr sz="2000" b="0" i="0" strike="sngStrike" dirty="0">
              <a:solidFill>
                <a:srgbClr val="FFFFFF"/>
              </a:solidFill>
            </a:endParaRPr>
          </a:p>
        </p:txBody>
      </p:sp>
      <p:graphicFrame>
        <p:nvGraphicFramePr>
          <p:cNvPr id="4" name="Table 3">
            <a:extLst>
              <a:ext uri="{FF2B5EF4-FFF2-40B4-BE49-F238E27FC236}">
                <a16:creationId xmlns:a16="http://schemas.microsoft.com/office/drawing/2014/main" id="{2E031280-F757-6645-A65E-37F142C52DA8}"/>
              </a:ext>
            </a:extLst>
          </p:cNvPr>
          <p:cNvGraphicFramePr>
            <a:graphicFrameLocks noGrp="1"/>
          </p:cNvGraphicFramePr>
          <p:nvPr>
            <p:extLst>
              <p:ext uri="{D42A27DB-BD31-4B8C-83A1-F6EECF244321}">
                <p14:modId xmlns:p14="http://schemas.microsoft.com/office/powerpoint/2010/main" val="213739499"/>
              </p:ext>
            </p:extLst>
          </p:nvPr>
        </p:nvGraphicFramePr>
        <p:xfrm>
          <a:off x="6647688" y="2212467"/>
          <a:ext cx="4663440" cy="1426464"/>
        </p:xfrm>
        <a:graphic>
          <a:graphicData uri="http://schemas.openxmlformats.org/drawingml/2006/table">
            <a:tbl>
              <a:tblPr firstRow="1">
                <a:tableStyleId>{5C22544A-7EE6-4342-B048-85BDC9FD1C3A}</a:tableStyleId>
              </a:tblPr>
              <a:tblGrid>
                <a:gridCol w="146304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475488">
                <a:tc>
                  <a:txBody>
                    <a:bodyPr/>
                    <a:lstStyle/>
                    <a:p>
                      <a:pPr algn="l"/>
                      <a:endParaRPr dirty="0"/>
                    </a:p>
                  </a:txBody>
                  <a:tcPr marT="27432" marB="27432" anchor="ctr">
                    <a:solidFill>
                      <a:srgbClr val="1F394D"/>
                    </a:solidFill>
                  </a:tcPr>
                </a:tc>
                <a:tc>
                  <a:txBody>
                    <a:bodyPr/>
                    <a:lstStyle/>
                    <a:p>
                      <a:pPr algn="r"/>
                      <a:r>
                        <a:rPr sz="1600" b="1">
                          <a:solidFill>
                            <a:srgbClr val="FFFFFF"/>
                          </a:solidFill>
                        </a:rPr>
                        <a:t>Men</a:t>
                      </a:r>
                    </a:p>
                  </a:txBody>
                  <a:tcPr marT="27432" marB="27432" anchor="ctr">
                    <a:solidFill>
                      <a:srgbClr val="1F394D"/>
                    </a:solidFill>
                  </a:tcPr>
                </a:tc>
                <a:tc>
                  <a:txBody>
                    <a:bodyPr/>
                    <a:lstStyle/>
                    <a:p>
                      <a:pPr algn="r"/>
                      <a:r>
                        <a:rPr sz="1600" b="1">
                          <a:solidFill>
                            <a:srgbClr val="FFFFFF"/>
                          </a:solidFill>
                        </a:rPr>
                        <a:t>Women</a:t>
                      </a:r>
                    </a:p>
                  </a:txBody>
                  <a:tcPr marT="27432" marB="27432" anchor="ctr">
                    <a:solidFill>
                      <a:srgbClr val="1F394D"/>
                    </a:solidFill>
                  </a:tcPr>
                </a:tc>
                <a:tc>
                  <a:txBody>
                    <a:bodyPr/>
                    <a:lstStyle/>
                    <a:p>
                      <a:pPr algn="r"/>
                      <a:r>
                        <a:rPr sz="1600" b="1">
                          <a:solidFill>
                            <a:srgbClr val="FFFFFF"/>
                          </a:solidFill>
                        </a:rPr>
                        <a:t>Total</a:t>
                      </a:r>
                    </a:p>
                  </a:txBody>
                  <a:tcPr marT="27432" marB="27432" anchor="ctr">
                    <a:solidFill>
                      <a:srgbClr val="1F394D"/>
                    </a:solidFill>
                  </a:tcPr>
                </a:tc>
                <a:extLst>
                  <a:ext uri="{0D108BD9-81ED-4DB2-BD59-A6C34878D82A}">
                    <a16:rowId xmlns:a16="http://schemas.microsoft.com/office/drawing/2014/main" val="10000"/>
                  </a:ext>
                </a:extLst>
              </a:tr>
              <a:tr h="475488">
                <a:tc>
                  <a:txBody>
                    <a:bodyPr/>
                    <a:lstStyle/>
                    <a:p>
                      <a:pPr algn="l"/>
                      <a:r>
                        <a:rPr sz="1600" b="1" dirty="0">
                          <a:solidFill>
                            <a:srgbClr val="1F2A33"/>
                          </a:solidFill>
                        </a:rPr>
                        <a:t>Trusted</a:t>
                      </a:r>
                    </a:p>
                  </a:txBody>
                  <a:tcPr marT="27432" marB="27432" anchor="ctr">
                    <a:solidFill>
                      <a:srgbClr val="FFFFFF"/>
                    </a:solidFill>
                  </a:tcPr>
                </a:tc>
                <a:tc>
                  <a:txBody>
                    <a:bodyPr/>
                    <a:lstStyle/>
                    <a:p>
                      <a:pPr algn="r"/>
                      <a:r>
                        <a:rPr lang="en-GB" sz="1600" b="0" dirty="0">
                          <a:solidFill>
                            <a:srgbClr val="FF0000"/>
                          </a:solidFill>
                        </a:rPr>
                        <a:t>9.0</a:t>
                      </a:r>
                      <a:endParaRPr sz="1600" b="0" dirty="0">
                        <a:solidFill>
                          <a:srgbClr val="FF0000"/>
                        </a:solidFill>
                      </a:endParaRPr>
                    </a:p>
                  </a:txBody>
                  <a:tcPr marT="27432" marB="27432" anchor="ctr">
                    <a:solidFill>
                      <a:srgbClr val="F6E7B8"/>
                    </a:solidFill>
                  </a:tcPr>
                </a:tc>
                <a:tc>
                  <a:txBody>
                    <a:bodyPr/>
                    <a:lstStyle/>
                    <a:p>
                      <a:pPr algn="r"/>
                      <a:r>
                        <a:rPr lang="en-GB" sz="1600" b="0" dirty="0">
                          <a:solidFill>
                            <a:srgbClr val="FF0000"/>
                          </a:solidFill>
                        </a:rPr>
                        <a:t>91.0</a:t>
                      </a:r>
                      <a:endParaRPr sz="1600" b="0" dirty="0">
                        <a:solidFill>
                          <a:srgbClr val="FF0000"/>
                        </a:solidFill>
                      </a:endParaRPr>
                    </a:p>
                  </a:txBody>
                  <a:tcPr marT="27432" marB="27432" anchor="ctr">
                    <a:solidFill>
                      <a:srgbClr val="F6E7B8"/>
                    </a:solidFill>
                  </a:tcPr>
                </a:tc>
                <a:tc>
                  <a:txBody>
                    <a:bodyPr/>
                    <a:lstStyle/>
                    <a:p>
                      <a:pPr algn="r"/>
                      <a:r>
                        <a:rPr sz="1600" b="0" dirty="0">
                          <a:solidFill>
                            <a:srgbClr val="FF0000"/>
                          </a:solidFill>
                        </a:rPr>
                        <a:t>100</a:t>
                      </a:r>
                    </a:p>
                  </a:txBody>
                  <a:tcPr marT="27432" marB="27432" anchor="ctr">
                    <a:solidFill>
                      <a:srgbClr val="F6E7B8"/>
                    </a:solidFill>
                  </a:tcPr>
                </a:tc>
                <a:extLst>
                  <a:ext uri="{0D108BD9-81ED-4DB2-BD59-A6C34878D82A}">
                    <a16:rowId xmlns:a16="http://schemas.microsoft.com/office/drawing/2014/main" val="10001"/>
                  </a:ext>
                </a:extLst>
              </a:tr>
              <a:tr h="475488">
                <a:tc>
                  <a:txBody>
                    <a:bodyPr/>
                    <a:lstStyle/>
                    <a:p>
                      <a:pPr algn="l"/>
                      <a:r>
                        <a:rPr sz="1600" b="1" dirty="0">
                          <a:solidFill>
                            <a:srgbClr val="1F2A33"/>
                          </a:solidFill>
                        </a:rPr>
                        <a:t>Careful</a:t>
                      </a:r>
                    </a:p>
                  </a:txBody>
                  <a:tcPr marT="27432" marB="27432" anchor="ctr">
                    <a:solidFill>
                      <a:srgbClr val="EEF3F7"/>
                    </a:solidFill>
                  </a:tcPr>
                </a:tc>
                <a:tc>
                  <a:txBody>
                    <a:bodyPr/>
                    <a:lstStyle/>
                    <a:p>
                      <a:pPr algn="r"/>
                      <a:r>
                        <a:rPr lang="en-GB" sz="1600" b="0" dirty="0">
                          <a:solidFill>
                            <a:srgbClr val="FF0000"/>
                          </a:solidFill>
                        </a:rPr>
                        <a:t>5.9</a:t>
                      </a:r>
                      <a:endParaRPr sz="1600" b="0" dirty="0">
                        <a:solidFill>
                          <a:srgbClr val="FF0000"/>
                        </a:solidFill>
                      </a:endParaRPr>
                    </a:p>
                  </a:txBody>
                  <a:tcPr marT="27432" marB="27432" anchor="ctr">
                    <a:solidFill>
                      <a:srgbClr val="EEF3F7"/>
                    </a:solidFill>
                  </a:tcPr>
                </a:tc>
                <a:tc>
                  <a:txBody>
                    <a:bodyPr/>
                    <a:lstStyle/>
                    <a:p>
                      <a:pPr algn="r"/>
                      <a:r>
                        <a:rPr lang="en-GB" sz="1600" b="0" dirty="0">
                          <a:solidFill>
                            <a:srgbClr val="FF0000"/>
                          </a:solidFill>
                        </a:rPr>
                        <a:t>94.1</a:t>
                      </a:r>
                      <a:endParaRPr sz="1600" b="0" dirty="0">
                        <a:solidFill>
                          <a:srgbClr val="FF0000"/>
                        </a:solidFill>
                      </a:endParaRPr>
                    </a:p>
                  </a:txBody>
                  <a:tcPr marT="27432" marB="27432" anchor="ctr">
                    <a:solidFill>
                      <a:srgbClr val="EEF3F7"/>
                    </a:solidFill>
                  </a:tcPr>
                </a:tc>
                <a:tc>
                  <a:txBody>
                    <a:bodyPr/>
                    <a:lstStyle/>
                    <a:p>
                      <a:pPr algn="r"/>
                      <a:r>
                        <a:rPr sz="1600" b="0" dirty="0">
                          <a:solidFill>
                            <a:srgbClr val="FF0000"/>
                          </a:solidFill>
                        </a:rPr>
                        <a:t>100</a:t>
                      </a:r>
                    </a:p>
                  </a:txBody>
                  <a:tcPr marT="27432" marB="27432" anchor="ctr">
                    <a:solidFill>
                      <a:srgbClr val="EEF3F7"/>
                    </a:solidFill>
                  </a:tcPr>
                </a:tc>
                <a:extLst>
                  <a:ext uri="{0D108BD9-81ED-4DB2-BD59-A6C34878D82A}">
                    <a16:rowId xmlns:a16="http://schemas.microsoft.com/office/drawing/2014/main" val="10002"/>
                  </a:ext>
                </a:extLst>
              </a:tr>
            </a:tbl>
          </a:graphicData>
        </a:graphic>
      </p:graphicFrame>
      <p:sp>
        <p:nvSpPr>
          <p:cNvPr id="16" name="TextBox 15">
            <a:extLst>
              <a:ext uri="{FF2B5EF4-FFF2-40B4-BE49-F238E27FC236}">
                <a16:creationId xmlns:a16="http://schemas.microsoft.com/office/drawing/2014/main" id="{97F7FC81-A186-8EEE-3BDE-70F6C2667573}"/>
              </a:ext>
            </a:extLst>
          </p:cNvPr>
          <p:cNvSpPr txBox="1"/>
          <p:nvPr/>
        </p:nvSpPr>
        <p:spPr>
          <a:xfrm>
            <a:off x="1033272" y="5184607"/>
            <a:ext cx="10058400" cy="307777"/>
          </a:xfrm>
          <a:prstGeom prst="rect">
            <a:avLst/>
          </a:prstGeom>
          <a:noFill/>
        </p:spPr>
        <p:txBody>
          <a:bodyPr wrap="square" lIns="0" tIns="0" rIns="0" bIns="0" anchor="ctr">
            <a:spAutoFit/>
          </a:bodyPr>
          <a:lstStyle/>
          <a:p>
            <a:pPr algn="l"/>
            <a:r>
              <a:rPr lang="en-GB" sz="2000" b="0" i="0" dirty="0">
                <a:solidFill>
                  <a:srgbClr val="FF0000"/>
                </a:solidFill>
              </a:rPr>
              <a:t>Women are </a:t>
            </a:r>
            <a:r>
              <a:rPr lang="en-GB" sz="2000" b="1" i="0" dirty="0">
                <a:solidFill>
                  <a:srgbClr val="FF0000"/>
                </a:solidFill>
              </a:rPr>
              <a:t>heavily</a:t>
            </a:r>
            <a:r>
              <a:rPr lang="en-GB" sz="2000" b="0" i="0" dirty="0">
                <a:solidFill>
                  <a:srgbClr val="FF0000"/>
                </a:solidFill>
              </a:rPr>
              <a:t> overrepresented in th</a:t>
            </a:r>
            <a:r>
              <a:rPr lang="en-GB" sz="2000" dirty="0">
                <a:solidFill>
                  <a:srgbClr val="FF0000"/>
                </a:solidFill>
              </a:rPr>
              <a:t>e whole sample!</a:t>
            </a:r>
            <a:endParaRPr sz="2000" b="0" i="0" dirty="0">
              <a:solidFill>
                <a:srgbClr val="FF0000"/>
              </a:solidFill>
            </a:endParaRPr>
          </a:p>
        </p:txBody>
      </p:sp>
      <p:sp>
        <p:nvSpPr>
          <p:cNvPr id="17" name="Rectangle 16">
            <a:extLst>
              <a:ext uri="{FF2B5EF4-FFF2-40B4-BE49-F238E27FC236}">
                <a16:creationId xmlns:a16="http://schemas.microsoft.com/office/drawing/2014/main" id="{24EFBA7F-6F33-50A3-D74B-6B133463E216}"/>
              </a:ext>
            </a:extLst>
          </p:cNvPr>
          <p:cNvSpPr/>
          <p:nvPr/>
        </p:nvSpPr>
        <p:spPr>
          <a:xfrm>
            <a:off x="3978442" y="2423161"/>
            <a:ext cx="1704975" cy="17190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F0BAD354-617E-EFC5-CE92-92B3E994A22C}"/>
              </a:ext>
            </a:extLst>
          </p:cNvPr>
          <p:cNvSpPr txBox="1"/>
          <p:nvPr/>
        </p:nvSpPr>
        <p:spPr>
          <a:xfrm>
            <a:off x="758952" y="1216152"/>
            <a:ext cx="10607040" cy="307777"/>
          </a:xfrm>
          <a:prstGeom prst="rect">
            <a:avLst/>
          </a:prstGeom>
          <a:noFill/>
        </p:spPr>
        <p:txBody>
          <a:bodyPr wrap="square" lIns="0" tIns="0" rIns="0" bIns="0" anchor="t">
            <a:spAutoFit/>
          </a:bodyPr>
          <a:lstStyle/>
          <a:p>
            <a:pPr algn="l"/>
            <a:r>
              <a:rPr lang="en-GB" sz="2000" b="0" i="0" strike="sngStrike" dirty="0">
                <a:solidFill>
                  <a:srgbClr val="FF0000"/>
                </a:solidFill>
              </a:rPr>
              <a:t>“Who are the trusting?”</a:t>
            </a:r>
          </a:p>
        </p:txBody>
      </p:sp>
    </p:spTree>
    <p:extLst>
      <p:ext uri="{BB962C8B-B14F-4D97-AF65-F5344CB8AC3E}">
        <p14:creationId xmlns:p14="http://schemas.microsoft.com/office/powerpoint/2010/main" val="2549819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Visualising</a:t>
            </a:r>
            <a:r>
              <a:rPr dirty="0"/>
              <a:t> the comparison</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13</a:t>
            </a:fld>
            <a:endParaRPr lang="en-GB"/>
          </a:p>
        </p:txBody>
      </p:sp>
      <p:graphicFrame>
        <p:nvGraphicFramePr>
          <p:cNvPr id="7" name="Stacked bars"/>
          <p:cNvGraphicFramePr>
            <a:graphicFrameLocks noGrp="1"/>
          </p:cNvGraphicFramePr>
          <p:nvPr/>
        </p:nvGraphicFramePr>
        <p:xfrm>
          <a:off x="758952" y="1325880"/>
          <a:ext cx="75895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10" name="Rounded Rectangle 9"/>
          <p:cNvSpPr/>
          <p:nvPr/>
        </p:nvSpPr>
        <p:spPr>
          <a:xfrm>
            <a:off x="8662416" y="2105025"/>
            <a:ext cx="2770632" cy="201168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8863584" y="2265959"/>
            <a:ext cx="2368296" cy="1689811"/>
          </a:xfrm>
          <a:prstGeom prst="rect">
            <a:avLst/>
          </a:prstGeom>
          <a:noFill/>
        </p:spPr>
        <p:txBody>
          <a:bodyPr wrap="square" lIns="0" tIns="0" rIns="0" bIns="0" anchor="t">
            <a:spAutoFit/>
          </a:bodyPr>
          <a:lstStyle/>
          <a:p>
            <a:pPr algn="l">
              <a:spcAft>
                <a:spcPts val="400"/>
              </a:spcAft>
            </a:pPr>
            <a:r>
              <a:rPr sz="1800" b="1" i="0" dirty="0">
                <a:solidFill>
                  <a:srgbClr val="1F394D"/>
                </a:solidFill>
              </a:rPr>
              <a:t>In the workshop</a:t>
            </a:r>
          </a:p>
          <a:p>
            <a:pPr algn="l">
              <a:spcAft>
                <a:spcPts val="400"/>
              </a:spcAft>
            </a:pPr>
            <a:r>
              <a:rPr sz="1500" b="0" i="0" dirty="0">
                <a:solidFill>
                  <a:srgbClr val="1F2A33"/>
                </a:solidFill>
              </a:rPr>
              <a:t>Worksheet 2, Exercise 1.1: the same table with the ESS 0 to 10 trust scale.</a:t>
            </a:r>
          </a:p>
        </p:txBody>
      </p:sp>
      <p:sp>
        <p:nvSpPr>
          <p:cNvPr id="12" name="TextBox 11"/>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British Social Attitudes 2010 (gb-bsa10-trust.sav), respondents with a substantive answer, n = 1,064.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the JASP output: contingency table</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14</a:t>
            </a:fld>
            <a:endParaRPr lang="en-GB"/>
          </a:p>
        </p:txBody>
      </p:sp>
      <p:sp>
        <p:nvSpPr>
          <p:cNvPr id="7" name="TextBox 6"/>
          <p:cNvSpPr txBox="1"/>
          <p:nvPr/>
        </p:nvSpPr>
        <p:spPr>
          <a:xfrm>
            <a:off x="758952" y="1261872"/>
            <a:ext cx="5623559" cy="274320"/>
          </a:xfrm>
          <a:prstGeom prst="rect">
            <a:avLst/>
          </a:prstGeom>
          <a:noFill/>
        </p:spPr>
        <p:txBody>
          <a:bodyPr wrap="square" lIns="0" tIns="0" rIns="0" bIns="0" anchor="t">
            <a:spAutoFit/>
          </a:bodyPr>
          <a:lstStyle/>
          <a:p>
            <a:pPr algn="l"/>
            <a:r>
              <a:rPr sz="1400" b="1" i="0">
                <a:solidFill>
                  <a:srgbClr val="222222"/>
                </a:solidFill>
              </a:rPr>
              <a:t>Contingency Tables</a:t>
            </a:r>
            <a:endParaRPr sz="1400"/>
          </a:p>
        </p:txBody>
      </p:sp>
      <p:graphicFrame>
        <p:nvGraphicFramePr>
          <p:cNvPr id="8" name="Table 7"/>
          <p:cNvGraphicFramePr>
            <a:graphicFrameLocks noGrp="1"/>
          </p:cNvGraphicFramePr>
          <p:nvPr/>
        </p:nvGraphicFramePr>
        <p:xfrm>
          <a:off x="758952" y="1563624"/>
          <a:ext cx="5623560" cy="3447288"/>
        </p:xfrm>
        <a:graphic>
          <a:graphicData uri="http://schemas.openxmlformats.org/drawingml/2006/table">
            <a:tbl>
              <a:tblPr>
                <a:tableStyleId>{2D5ABB26-0587-4C30-8999-92F81FD0307C}</a:tableStyleId>
              </a:tblPr>
              <a:tblGrid>
                <a:gridCol w="23317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65176">
                <a:tc>
                  <a:txBody>
                    <a:bodyPr/>
                    <a:lstStyle/>
                    <a:p>
                      <a:pPr algn="l"/>
                      <a:r>
                        <a:rPr sz="1200" b="1" i="0">
                          <a:solidFill>
                            <a:srgbClr val="222222"/>
                          </a:solidFill>
                        </a:rPr>
                        <a:t>ppltrst</a:t>
                      </a:r>
                      <a:endParaRPr sz="1200"/>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Male</a:t>
                      </a:r>
                      <a:endParaRPr sz="1200"/>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Female</a:t>
                      </a:r>
                      <a:endParaRPr sz="1200"/>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Total</a:t>
                      </a:r>
                      <a:endParaRPr sz="1200"/>
                    </a:p>
                  </a:txBody>
                  <a:tcPr marL="73152" marR="73152" marT="27432" marB="27432" anchor="ctr">
                    <a:lnL w="0">
                      <a:noFill/>
                    </a:lnL>
                    <a:lnR w="0">
                      <a:noFill/>
                    </a:lnR>
                    <a:lnT w="12700">
                      <a:solidFill>
                        <a:srgbClr val="222222"/>
                      </a:solidFill>
                    </a:lnT>
                    <a:lnB w="9525">
                      <a:solidFill>
                        <a:srgbClr val="222222"/>
                      </a:solidFill>
                    </a:lnB>
                    <a:noFill/>
                  </a:tcPr>
                </a:tc>
                <a:extLst>
                  <a:ext uri="{0D108BD9-81ED-4DB2-BD59-A6C34878D82A}">
                    <a16:rowId xmlns:a16="http://schemas.microsoft.com/office/drawing/2014/main" val="10000"/>
                  </a:ext>
                </a:extLst>
              </a:tr>
              <a:tr h="265176">
                <a:tc>
                  <a:txBody>
                    <a:bodyPr/>
                    <a:lstStyle/>
                    <a:p>
                      <a:pPr algn="l"/>
                      <a:r>
                        <a:rPr sz="1200" b="0" i="0">
                          <a:solidFill>
                            <a:srgbClr val="222222"/>
                          </a:solidFill>
                        </a:rPr>
                        <a:t>You can’t be too careful</a:t>
                      </a:r>
                      <a:endParaRPr sz="1200"/>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3.4 %</a:t>
                      </a:r>
                      <a:endParaRPr sz="1200"/>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3.6 %</a:t>
                      </a:r>
                      <a:endParaRPr sz="1200"/>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3.5 %</a:t>
                      </a:r>
                      <a:endParaRPr sz="1200"/>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265176">
                <a:tc>
                  <a:txBody>
                    <a:bodyPr/>
                    <a:lstStyle/>
                    <a:p>
                      <a:pPr algn="l"/>
                      <a:r>
                        <a:rPr sz="1200" b="0" i="0">
                          <a:solidFill>
                            <a:srgbClr val="222222"/>
                          </a:solidFill>
                        </a:rPr>
                        <a:t>1</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2.4 %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4.4 %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3.5 %</a:t>
                      </a:r>
                      <a:endParaRPr sz="1200"/>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02"/>
                  </a:ext>
                </a:extLst>
              </a:tr>
              <a:tr h="265176">
                <a:tc>
                  <a:txBody>
                    <a:bodyPr/>
                    <a:lstStyle/>
                    <a:p>
                      <a:pPr algn="l"/>
                      <a:r>
                        <a:rPr sz="1200" b="0" i="0">
                          <a:solidFill>
                            <a:srgbClr val="222222"/>
                          </a:solidFill>
                        </a:rPr>
                        <a:t>2</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5.2 %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6.9 %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6.1 %</a:t>
                      </a:r>
                      <a:endParaRPr sz="1200"/>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03"/>
                  </a:ext>
                </a:extLst>
              </a:tr>
              <a:tr h="265176">
                <a:tc>
                  <a:txBody>
                    <a:bodyPr/>
                    <a:lstStyle/>
                    <a:p>
                      <a:pPr algn="l"/>
                      <a:r>
                        <a:rPr sz="1200" b="0" i="0">
                          <a:solidFill>
                            <a:srgbClr val="222222"/>
                          </a:solidFill>
                        </a:rPr>
                        <a:t>3</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8.3 %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9.1 %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8.7 %</a:t>
                      </a:r>
                      <a:endParaRPr sz="1200"/>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04"/>
                  </a:ext>
                </a:extLst>
              </a:tr>
              <a:tr h="265176">
                <a:tc>
                  <a:txBody>
                    <a:bodyPr/>
                    <a:lstStyle/>
                    <a:p>
                      <a:pPr algn="l"/>
                      <a:r>
                        <a:rPr sz="1200" b="0" i="0">
                          <a:solidFill>
                            <a:srgbClr val="222222"/>
                          </a:solidFill>
                        </a:rPr>
                        <a:t>4</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7.5 %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6.4 %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7.0 %</a:t>
                      </a:r>
                      <a:endParaRPr sz="1200"/>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05"/>
                  </a:ext>
                </a:extLst>
              </a:tr>
              <a:tr h="265176">
                <a:tc>
                  <a:txBody>
                    <a:bodyPr/>
                    <a:lstStyle/>
                    <a:p>
                      <a:pPr algn="l"/>
                      <a:r>
                        <a:rPr sz="1200" b="0" i="0">
                          <a:solidFill>
                            <a:srgbClr val="222222"/>
                          </a:solidFill>
                        </a:rPr>
                        <a:t>5</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17.8 %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21.3 %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19.6 %</a:t>
                      </a:r>
                      <a:endParaRPr sz="1200"/>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06"/>
                  </a:ext>
                </a:extLst>
              </a:tr>
              <a:tr h="265176">
                <a:tc>
                  <a:txBody>
                    <a:bodyPr/>
                    <a:lstStyle/>
                    <a:p>
                      <a:pPr algn="l"/>
                      <a:r>
                        <a:rPr sz="1200" b="0" i="0">
                          <a:solidFill>
                            <a:srgbClr val="222222"/>
                          </a:solidFill>
                        </a:rPr>
                        <a:t>6</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15.2 %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12.4 %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13.8 %</a:t>
                      </a:r>
                      <a:endParaRPr sz="1200"/>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07"/>
                  </a:ext>
                </a:extLst>
              </a:tr>
              <a:tr h="265176">
                <a:tc>
                  <a:txBody>
                    <a:bodyPr/>
                    <a:lstStyle/>
                    <a:p>
                      <a:pPr algn="l"/>
                      <a:r>
                        <a:rPr sz="1200" b="0" i="0">
                          <a:solidFill>
                            <a:srgbClr val="222222"/>
                          </a:solidFill>
                        </a:rPr>
                        <a:t>7</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21.9 %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18.5 %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20.2 %</a:t>
                      </a:r>
                      <a:endParaRPr sz="1200"/>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08"/>
                  </a:ext>
                </a:extLst>
              </a:tr>
              <a:tr h="265176">
                <a:tc>
                  <a:txBody>
                    <a:bodyPr/>
                    <a:lstStyle/>
                    <a:p>
                      <a:pPr algn="l"/>
                      <a:r>
                        <a:rPr sz="1200" b="0" i="0">
                          <a:solidFill>
                            <a:srgbClr val="222222"/>
                          </a:solidFill>
                        </a:rPr>
                        <a:t>8</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13.4 %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12.7 %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13.0 %</a:t>
                      </a:r>
                      <a:endParaRPr sz="1200"/>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09"/>
                  </a:ext>
                </a:extLst>
              </a:tr>
              <a:tr h="265176">
                <a:tc>
                  <a:txBody>
                    <a:bodyPr/>
                    <a:lstStyle/>
                    <a:p>
                      <a:pPr algn="l"/>
                      <a:r>
                        <a:rPr sz="1200" b="0" i="0">
                          <a:solidFill>
                            <a:srgbClr val="222222"/>
                          </a:solidFill>
                        </a:rPr>
                        <a:t>9</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2.8 %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3.0 %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2.9 %</a:t>
                      </a:r>
                      <a:endParaRPr sz="1200"/>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10"/>
                  </a:ext>
                </a:extLst>
              </a:tr>
              <a:tr h="265176">
                <a:tc>
                  <a:txBody>
                    <a:bodyPr/>
                    <a:lstStyle/>
                    <a:p>
                      <a:pPr algn="l"/>
                      <a:r>
                        <a:rPr sz="1200" b="0" i="0">
                          <a:solidFill>
                            <a:srgbClr val="222222"/>
                          </a:solidFill>
                        </a:rPr>
                        <a:t>Most people can be trusted</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2.1 %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1.6 %</a:t>
                      </a:r>
                      <a:endParaRPr sz="1200"/>
                    </a:p>
                  </a:txBody>
                  <a:tcPr marL="73152" marR="73152" marT="27432" marB="27432" anchor="ctr">
                    <a:lnL w="0">
                      <a:noFill/>
                    </a:lnL>
                    <a:lnR w="0">
                      <a:noFill/>
                    </a:lnR>
                    <a:lnT w="0">
                      <a:noFill/>
                    </a:lnT>
                    <a:lnB w="0">
                      <a:noFill/>
                    </a:lnB>
                    <a:noFill/>
                  </a:tcPr>
                </a:tc>
                <a:tc>
                  <a:txBody>
                    <a:bodyPr/>
                    <a:lstStyle/>
                    <a:p>
                      <a:pPr algn="r"/>
                      <a:r>
                        <a:rPr sz="1200" b="0" i="0">
                          <a:solidFill>
                            <a:srgbClr val="222222"/>
                          </a:solidFill>
                        </a:rPr>
                        <a:t>1.8 %</a:t>
                      </a:r>
                      <a:endParaRPr sz="1200"/>
                    </a:p>
                  </a:txBody>
                  <a:tcPr marL="73152" marR="73152" marT="27432" marB="27432" anchor="ctr">
                    <a:lnL w="0">
                      <a:noFill/>
                    </a:lnL>
                    <a:lnR w="0">
                      <a:noFill/>
                    </a:lnR>
                    <a:lnT w="0">
                      <a:noFill/>
                    </a:lnT>
                    <a:lnB w="0">
                      <a:noFill/>
                    </a:lnB>
                    <a:noFill/>
                  </a:tcPr>
                </a:tc>
                <a:extLst>
                  <a:ext uri="{0D108BD9-81ED-4DB2-BD59-A6C34878D82A}">
                    <a16:rowId xmlns:a16="http://schemas.microsoft.com/office/drawing/2014/main" val="10011"/>
                  </a:ext>
                </a:extLst>
              </a:tr>
              <a:tr h="265176">
                <a:tc>
                  <a:txBody>
                    <a:bodyPr/>
                    <a:lstStyle/>
                    <a:p>
                      <a:pPr algn="l"/>
                      <a:r>
                        <a:rPr sz="1200" b="0" i="0">
                          <a:solidFill>
                            <a:srgbClr val="222222"/>
                          </a:solidFill>
                        </a:rPr>
                        <a:t>Total</a:t>
                      </a:r>
                      <a:endParaRPr sz="1200"/>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100.0 %</a:t>
                      </a:r>
                      <a:endParaRPr sz="1200"/>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100.0 %</a:t>
                      </a:r>
                      <a:endParaRPr sz="1200"/>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100.0 %</a:t>
                      </a:r>
                      <a:endParaRPr sz="1200"/>
                    </a:p>
                  </a:txBody>
                  <a:tcPr marL="73152" marR="73152" marT="27432" marB="27432" anchor="ctr">
                    <a:lnL w="0">
                      <a:noFill/>
                    </a:lnL>
                    <a:lnR w="0">
                      <a:noFill/>
                    </a:lnR>
                    <a:lnT w="0">
                      <a:noFill/>
                    </a:lnT>
                    <a:lnB w="12700">
                      <a:solidFill>
                        <a:srgbClr val="222222"/>
                      </a:solidFill>
                    </a:lnB>
                    <a:noFill/>
                  </a:tcPr>
                </a:tc>
                <a:extLst>
                  <a:ext uri="{0D108BD9-81ED-4DB2-BD59-A6C34878D82A}">
                    <a16:rowId xmlns:a16="http://schemas.microsoft.com/office/drawing/2014/main" val="10012"/>
                  </a:ext>
                </a:extLst>
              </a:tr>
            </a:tbl>
          </a:graphicData>
        </a:graphic>
      </p:graphicFrame>
      <p:sp>
        <p:nvSpPr>
          <p:cNvPr id="9" name="TextBox 8"/>
          <p:cNvSpPr txBox="1"/>
          <p:nvPr/>
        </p:nvSpPr>
        <p:spPr>
          <a:xfrm>
            <a:off x="758952" y="5047488"/>
            <a:ext cx="5623559" cy="237744"/>
          </a:xfrm>
          <a:prstGeom prst="rect">
            <a:avLst/>
          </a:prstGeom>
          <a:noFill/>
        </p:spPr>
        <p:txBody>
          <a:bodyPr wrap="square" lIns="0" tIns="0" rIns="0" bIns="0" anchor="t">
            <a:spAutoFit/>
          </a:bodyPr>
          <a:lstStyle/>
          <a:p>
            <a:pPr algn="l"/>
            <a:r>
              <a:rPr sz="1100" b="0" i="1">
                <a:solidFill>
                  <a:srgbClr val="222222"/>
                </a:solidFill>
              </a:rPr>
              <a:t>Note. </a:t>
            </a:r>
            <a:r>
              <a:rPr sz="1100" b="0" i="0">
                <a:solidFill>
                  <a:srgbClr val="222222"/>
                </a:solidFill>
              </a:rPr>
              <a:t>Each cell shows the % within column.</a:t>
            </a:r>
            <a:endParaRPr sz="1100"/>
          </a:p>
        </p:txBody>
      </p:sp>
      <p:sp>
        <p:nvSpPr>
          <p:cNvPr id="10" name="TextBox 9"/>
          <p:cNvSpPr txBox="1"/>
          <p:nvPr/>
        </p:nvSpPr>
        <p:spPr>
          <a:xfrm>
            <a:off x="6720840" y="1261872"/>
            <a:ext cx="3474720" cy="274320"/>
          </a:xfrm>
          <a:prstGeom prst="rect">
            <a:avLst/>
          </a:prstGeom>
          <a:noFill/>
        </p:spPr>
        <p:txBody>
          <a:bodyPr wrap="square" lIns="0" tIns="0" rIns="0" bIns="0" anchor="t">
            <a:spAutoFit/>
          </a:bodyPr>
          <a:lstStyle/>
          <a:p>
            <a:pPr algn="l"/>
            <a:r>
              <a:rPr sz="1400" b="1" i="0">
                <a:solidFill>
                  <a:srgbClr val="222222"/>
                </a:solidFill>
              </a:rPr>
              <a:t>Chi-Squared Tests</a:t>
            </a:r>
            <a:endParaRPr sz="1400"/>
          </a:p>
        </p:txBody>
      </p:sp>
      <p:graphicFrame>
        <p:nvGraphicFramePr>
          <p:cNvPr id="11" name="Table 10"/>
          <p:cNvGraphicFramePr>
            <a:graphicFrameLocks noGrp="1"/>
          </p:cNvGraphicFramePr>
          <p:nvPr/>
        </p:nvGraphicFramePr>
        <p:xfrm>
          <a:off x="6720840" y="1563624"/>
          <a:ext cx="3474720" cy="795528"/>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65176">
                <a:tc>
                  <a:txBody>
                    <a:bodyPr/>
                    <a:lstStyle/>
                    <a:p>
                      <a:pPr algn="l"/>
                      <a:endParaRPr sz="1200"/>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Value</a:t>
                      </a:r>
                      <a:endParaRPr sz="1200"/>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df</a:t>
                      </a:r>
                      <a:endParaRPr sz="1200"/>
                    </a:p>
                  </a:txBody>
                  <a:tcPr marL="73152" marR="73152" marT="27432" marB="27432" anchor="ctr">
                    <a:lnL w="0">
                      <a:noFill/>
                    </a:lnL>
                    <a:lnR w="0">
                      <a:noFill/>
                    </a:lnR>
                    <a:lnT w="12700">
                      <a:solidFill>
                        <a:srgbClr val="222222"/>
                      </a:solidFill>
                    </a:lnT>
                    <a:lnB w="9525">
                      <a:solidFill>
                        <a:srgbClr val="222222"/>
                      </a:solidFill>
                    </a:lnB>
                    <a:noFill/>
                  </a:tcPr>
                </a:tc>
                <a:tc>
                  <a:txBody>
                    <a:bodyPr/>
                    <a:lstStyle/>
                    <a:p>
                      <a:pPr algn="r"/>
                      <a:r>
                        <a:rPr sz="1200" b="1" i="0">
                          <a:solidFill>
                            <a:srgbClr val="222222"/>
                          </a:solidFill>
                        </a:rPr>
                        <a:t>p</a:t>
                      </a:r>
                      <a:endParaRPr sz="1200"/>
                    </a:p>
                  </a:txBody>
                  <a:tcPr marL="73152" marR="73152" marT="27432" marB="27432" anchor="ctr">
                    <a:lnL w="0">
                      <a:noFill/>
                    </a:lnL>
                    <a:lnR w="0">
                      <a:noFill/>
                    </a:lnR>
                    <a:lnT w="12700">
                      <a:solidFill>
                        <a:srgbClr val="222222"/>
                      </a:solidFill>
                    </a:lnT>
                    <a:lnB w="9525">
                      <a:solidFill>
                        <a:srgbClr val="222222"/>
                      </a:solidFill>
                    </a:lnB>
                    <a:noFill/>
                  </a:tcPr>
                </a:tc>
                <a:extLst>
                  <a:ext uri="{0D108BD9-81ED-4DB2-BD59-A6C34878D82A}">
                    <a16:rowId xmlns:a16="http://schemas.microsoft.com/office/drawing/2014/main" val="10000"/>
                  </a:ext>
                </a:extLst>
              </a:tr>
              <a:tr h="265176">
                <a:tc>
                  <a:txBody>
                    <a:bodyPr/>
                    <a:lstStyle/>
                    <a:p>
                      <a:pPr algn="l"/>
                      <a:r>
                        <a:rPr sz="1200" b="0" i="0">
                          <a:solidFill>
                            <a:srgbClr val="222222"/>
                          </a:solidFill>
                        </a:rPr>
                        <a:t>Χ²</a:t>
                      </a:r>
                      <a:endParaRPr sz="1200"/>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16.092</a:t>
                      </a:r>
                      <a:endParaRPr sz="1200"/>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10</a:t>
                      </a:r>
                      <a:endParaRPr sz="1200"/>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tc>
                  <a:txBody>
                    <a:bodyPr/>
                    <a:lstStyle/>
                    <a:p>
                      <a:pPr algn="r"/>
                      <a:r>
                        <a:rPr sz="1200" b="0" i="0">
                          <a:solidFill>
                            <a:srgbClr val="222222"/>
                          </a:solidFill>
                        </a:rPr>
                        <a:t>0.097</a:t>
                      </a:r>
                      <a:endParaRPr sz="1200"/>
                    </a:p>
                  </a:txBody>
                  <a:tcPr marL="73152" marR="73152" marT="27432" marB="27432" anchor="ctr">
                    <a:lnL w="0">
                      <a:noFill/>
                    </a:lnL>
                    <a:lnR w="0">
                      <a:noFill/>
                    </a:lnR>
                    <a:lnT w="9525" cap="flat" cmpd="sng" algn="ctr">
                      <a:solidFill>
                        <a:srgbClr val="222222"/>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265176">
                <a:tc>
                  <a:txBody>
                    <a:bodyPr/>
                    <a:lstStyle/>
                    <a:p>
                      <a:pPr algn="l"/>
                      <a:r>
                        <a:rPr sz="1200" b="0" i="0">
                          <a:solidFill>
                            <a:srgbClr val="222222"/>
                          </a:solidFill>
                        </a:rPr>
                        <a:t>N</a:t>
                      </a:r>
                      <a:endParaRPr sz="1200"/>
                    </a:p>
                  </a:txBody>
                  <a:tcPr marL="73152" marR="73152" marT="27432" marB="27432" anchor="ctr">
                    <a:lnL w="0">
                      <a:noFill/>
                    </a:lnL>
                    <a:lnR w="0">
                      <a:noFill/>
                    </a:lnR>
                    <a:lnT w="0">
                      <a:noFill/>
                    </a:lnT>
                    <a:lnB w="12700">
                      <a:solidFill>
                        <a:srgbClr val="222222"/>
                      </a:solidFill>
                    </a:lnB>
                    <a:noFill/>
                  </a:tcPr>
                </a:tc>
                <a:tc>
                  <a:txBody>
                    <a:bodyPr/>
                    <a:lstStyle/>
                    <a:p>
                      <a:pPr algn="r"/>
                      <a:r>
                        <a:rPr sz="1200" b="0" i="0">
                          <a:solidFill>
                            <a:srgbClr val="222222"/>
                          </a:solidFill>
                        </a:rPr>
                        <a:t>1680</a:t>
                      </a:r>
                      <a:endParaRPr sz="1200"/>
                    </a:p>
                  </a:txBody>
                  <a:tcPr marL="73152" marR="73152" marT="27432" marB="27432" anchor="ctr">
                    <a:lnL w="0">
                      <a:noFill/>
                    </a:lnL>
                    <a:lnR w="0">
                      <a:noFill/>
                    </a:lnR>
                    <a:lnT w="0">
                      <a:noFill/>
                    </a:lnT>
                    <a:lnB w="12700">
                      <a:solidFill>
                        <a:srgbClr val="222222"/>
                      </a:solidFill>
                    </a:lnB>
                    <a:noFill/>
                  </a:tcPr>
                </a:tc>
                <a:tc>
                  <a:txBody>
                    <a:bodyPr/>
                    <a:lstStyle/>
                    <a:p>
                      <a:pPr algn="r"/>
                      <a:endParaRPr sz="1200"/>
                    </a:p>
                  </a:txBody>
                  <a:tcPr marL="73152" marR="73152" marT="27432" marB="27432" anchor="ctr">
                    <a:lnL w="0">
                      <a:noFill/>
                    </a:lnL>
                    <a:lnR w="0">
                      <a:noFill/>
                    </a:lnR>
                    <a:lnT w="0">
                      <a:noFill/>
                    </a:lnT>
                    <a:lnB w="12700">
                      <a:solidFill>
                        <a:srgbClr val="222222"/>
                      </a:solidFill>
                    </a:lnB>
                    <a:noFill/>
                  </a:tcPr>
                </a:tc>
                <a:tc>
                  <a:txBody>
                    <a:bodyPr/>
                    <a:lstStyle/>
                    <a:p>
                      <a:pPr algn="r"/>
                      <a:endParaRPr sz="1200"/>
                    </a:p>
                  </a:txBody>
                  <a:tcPr marL="73152" marR="73152" marT="27432" marB="27432" anchor="ctr">
                    <a:lnL w="0">
                      <a:noFill/>
                    </a:lnL>
                    <a:lnR w="0">
                      <a:noFill/>
                    </a:lnR>
                    <a:lnT w="0">
                      <a:noFill/>
                    </a:lnT>
                    <a:lnB w="12700">
                      <a:solidFill>
                        <a:srgbClr val="222222"/>
                      </a:solidFill>
                    </a:lnB>
                    <a:noFill/>
                  </a:tcPr>
                </a:tc>
                <a:extLst>
                  <a:ext uri="{0D108BD9-81ED-4DB2-BD59-A6C34878D82A}">
                    <a16:rowId xmlns:a16="http://schemas.microsoft.com/office/drawing/2014/main" val="10002"/>
                  </a:ext>
                </a:extLst>
              </a:tr>
            </a:tbl>
          </a:graphicData>
        </a:graphic>
      </p:graphicFrame>
      <p:sp>
        <p:nvSpPr>
          <p:cNvPr id="12" name="Oval 11"/>
          <p:cNvSpPr/>
          <p:nvPr/>
        </p:nvSpPr>
        <p:spPr>
          <a:xfrm>
            <a:off x="402335" y="1549908"/>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1</a:t>
            </a:r>
            <a:endParaRPr sz="1200"/>
          </a:p>
        </p:txBody>
      </p:sp>
      <p:sp>
        <p:nvSpPr>
          <p:cNvPr id="13" name="Oval 12"/>
          <p:cNvSpPr/>
          <p:nvPr/>
        </p:nvSpPr>
        <p:spPr>
          <a:xfrm>
            <a:off x="4041648" y="1261872"/>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2</a:t>
            </a:r>
            <a:endParaRPr sz="1200"/>
          </a:p>
        </p:txBody>
      </p:sp>
      <p:sp>
        <p:nvSpPr>
          <p:cNvPr id="14" name="Oval 13"/>
          <p:cNvSpPr/>
          <p:nvPr/>
        </p:nvSpPr>
        <p:spPr>
          <a:xfrm>
            <a:off x="3081527" y="4732019"/>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3</a:t>
            </a:r>
            <a:endParaRPr sz="1200"/>
          </a:p>
        </p:txBody>
      </p:sp>
      <p:sp>
        <p:nvSpPr>
          <p:cNvPr id="15" name="Oval 14"/>
          <p:cNvSpPr/>
          <p:nvPr/>
        </p:nvSpPr>
        <p:spPr>
          <a:xfrm>
            <a:off x="5687567" y="1261872"/>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4</a:t>
            </a:r>
            <a:endParaRPr sz="1200"/>
          </a:p>
        </p:txBody>
      </p:sp>
      <p:sp>
        <p:nvSpPr>
          <p:cNvPr id="16" name="Oval 15"/>
          <p:cNvSpPr/>
          <p:nvPr/>
        </p:nvSpPr>
        <p:spPr>
          <a:xfrm>
            <a:off x="2670048" y="3936491"/>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5</a:t>
            </a:r>
            <a:endParaRPr sz="1200"/>
          </a:p>
        </p:txBody>
      </p:sp>
      <p:sp>
        <p:nvSpPr>
          <p:cNvPr id="17" name="Oval 16"/>
          <p:cNvSpPr/>
          <p:nvPr/>
        </p:nvSpPr>
        <p:spPr>
          <a:xfrm>
            <a:off x="10277855" y="1815084"/>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6</a:t>
            </a:r>
            <a:endParaRPr sz="1200"/>
          </a:p>
        </p:txBody>
      </p:sp>
      <p:sp>
        <p:nvSpPr>
          <p:cNvPr id="18" name="Oval 17"/>
          <p:cNvSpPr/>
          <p:nvPr/>
        </p:nvSpPr>
        <p:spPr>
          <a:xfrm>
            <a:off x="6720840" y="2660904"/>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1</a:t>
            </a:r>
            <a:endParaRPr sz="1200"/>
          </a:p>
        </p:txBody>
      </p:sp>
      <p:sp>
        <p:nvSpPr>
          <p:cNvPr id="19" name="TextBox 18"/>
          <p:cNvSpPr txBox="1"/>
          <p:nvPr/>
        </p:nvSpPr>
        <p:spPr>
          <a:xfrm>
            <a:off x="7132320" y="2542032"/>
            <a:ext cx="4233672" cy="530352"/>
          </a:xfrm>
          <a:prstGeom prst="rect">
            <a:avLst/>
          </a:prstGeom>
          <a:noFill/>
        </p:spPr>
        <p:txBody>
          <a:bodyPr wrap="square" lIns="0" tIns="0" rIns="0" bIns="0" anchor="ctr">
            <a:spAutoFit/>
          </a:bodyPr>
          <a:lstStyle/>
          <a:p>
            <a:pPr algn="l"/>
            <a:r>
              <a:rPr sz="1300" b="0" i="0">
                <a:solidFill>
                  <a:srgbClr val="1F2A33"/>
                </a:solidFill>
              </a:rPr>
              <a:t>Rows: the outcome, trust from 0 to 10</a:t>
            </a:r>
            <a:endParaRPr sz="1300"/>
          </a:p>
        </p:txBody>
      </p:sp>
      <p:sp>
        <p:nvSpPr>
          <p:cNvPr id="20" name="Oval 19"/>
          <p:cNvSpPr/>
          <p:nvPr/>
        </p:nvSpPr>
        <p:spPr>
          <a:xfrm>
            <a:off x="6720840" y="3191256"/>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2</a:t>
            </a:r>
            <a:endParaRPr sz="1200"/>
          </a:p>
        </p:txBody>
      </p:sp>
      <p:sp>
        <p:nvSpPr>
          <p:cNvPr id="21" name="TextBox 20"/>
          <p:cNvSpPr txBox="1"/>
          <p:nvPr/>
        </p:nvSpPr>
        <p:spPr>
          <a:xfrm>
            <a:off x="7132320" y="3072384"/>
            <a:ext cx="4233672" cy="530352"/>
          </a:xfrm>
          <a:prstGeom prst="rect">
            <a:avLst/>
          </a:prstGeom>
          <a:noFill/>
        </p:spPr>
        <p:txBody>
          <a:bodyPr wrap="square" lIns="0" tIns="0" rIns="0" bIns="0" anchor="ctr">
            <a:spAutoFit/>
          </a:bodyPr>
          <a:lstStyle/>
          <a:p>
            <a:pPr algn="l"/>
            <a:r>
              <a:rPr sz="1300" b="0" i="0">
                <a:solidFill>
                  <a:srgbClr val="1F2A33"/>
                </a:solidFill>
              </a:rPr>
              <a:t>Columns: the groups being compared, men and women</a:t>
            </a:r>
            <a:endParaRPr sz="1300"/>
          </a:p>
        </p:txBody>
      </p:sp>
      <p:sp>
        <p:nvSpPr>
          <p:cNvPr id="22" name="Oval 21"/>
          <p:cNvSpPr/>
          <p:nvPr/>
        </p:nvSpPr>
        <p:spPr>
          <a:xfrm>
            <a:off x="6720840" y="3721608"/>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3</a:t>
            </a:r>
            <a:endParaRPr sz="1200"/>
          </a:p>
        </p:txBody>
      </p:sp>
      <p:sp>
        <p:nvSpPr>
          <p:cNvPr id="23" name="TextBox 22"/>
          <p:cNvSpPr txBox="1"/>
          <p:nvPr/>
        </p:nvSpPr>
        <p:spPr>
          <a:xfrm>
            <a:off x="7132320" y="3602736"/>
            <a:ext cx="4233672" cy="530352"/>
          </a:xfrm>
          <a:prstGeom prst="rect">
            <a:avLst/>
          </a:prstGeom>
          <a:noFill/>
        </p:spPr>
        <p:txBody>
          <a:bodyPr wrap="square" lIns="0" tIns="0" rIns="0" bIns="0" anchor="ctr">
            <a:spAutoFit/>
          </a:bodyPr>
          <a:lstStyle/>
          <a:p>
            <a:pPr algn="l"/>
            <a:r>
              <a:rPr sz="1300" b="0" i="0">
                <a:solidFill>
                  <a:srgbClr val="1F2A33"/>
                </a:solidFill>
              </a:rPr>
              <a:t>Column percentages: each column adds up to 100%, so compare along a row</a:t>
            </a:r>
            <a:endParaRPr sz="1300"/>
          </a:p>
        </p:txBody>
      </p:sp>
      <p:sp>
        <p:nvSpPr>
          <p:cNvPr id="24" name="Oval 23"/>
          <p:cNvSpPr/>
          <p:nvPr/>
        </p:nvSpPr>
        <p:spPr>
          <a:xfrm>
            <a:off x="6720840" y="4251959"/>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4</a:t>
            </a:r>
            <a:endParaRPr sz="1200"/>
          </a:p>
        </p:txBody>
      </p:sp>
      <p:sp>
        <p:nvSpPr>
          <p:cNvPr id="25" name="TextBox 24"/>
          <p:cNvSpPr txBox="1"/>
          <p:nvPr/>
        </p:nvSpPr>
        <p:spPr>
          <a:xfrm>
            <a:off x="7132320" y="4133087"/>
            <a:ext cx="4233672" cy="530352"/>
          </a:xfrm>
          <a:prstGeom prst="rect">
            <a:avLst/>
          </a:prstGeom>
          <a:noFill/>
        </p:spPr>
        <p:txBody>
          <a:bodyPr wrap="square" lIns="0" tIns="0" rIns="0" bIns="0" anchor="ctr">
            <a:spAutoFit/>
          </a:bodyPr>
          <a:lstStyle/>
          <a:p>
            <a:pPr algn="l"/>
            <a:r>
              <a:rPr sz="1300" b="0" i="0">
                <a:solidFill>
                  <a:srgbClr val="1F2A33"/>
                </a:solidFill>
              </a:rPr>
              <a:t>Total: everyone together, the distribution from Week 1</a:t>
            </a:r>
            <a:endParaRPr sz="1300"/>
          </a:p>
        </p:txBody>
      </p:sp>
      <p:sp>
        <p:nvSpPr>
          <p:cNvPr id="26" name="Oval 25"/>
          <p:cNvSpPr/>
          <p:nvPr/>
        </p:nvSpPr>
        <p:spPr>
          <a:xfrm>
            <a:off x="6720840" y="4782312"/>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5</a:t>
            </a:r>
            <a:endParaRPr sz="1200"/>
          </a:p>
        </p:txBody>
      </p:sp>
      <p:sp>
        <p:nvSpPr>
          <p:cNvPr id="27" name="TextBox 26"/>
          <p:cNvSpPr txBox="1"/>
          <p:nvPr/>
        </p:nvSpPr>
        <p:spPr>
          <a:xfrm>
            <a:off x="7132320" y="4663440"/>
            <a:ext cx="4233672" cy="530352"/>
          </a:xfrm>
          <a:prstGeom prst="rect">
            <a:avLst/>
          </a:prstGeom>
          <a:noFill/>
        </p:spPr>
        <p:txBody>
          <a:bodyPr wrap="square" lIns="0" tIns="0" rIns="0" bIns="0" anchor="ctr">
            <a:spAutoFit/>
          </a:bodyPr>
          <a:lstStyle/>
          <a:p>
            <a:pPr algn="l"/>
            <a:r>
              <a:rPr sz="1300" b="0" i="0">
                <a:solidFill>
                  <a:srgbClr val="1F2A33"/>
                </a:solidFill>
              </a:rPr>
              <a:t>Read groups of rows: 40% of men and 36% of women answered 7 or more</a:t>
            </a:r>
            <a:endParaRPr sz="1300"/>
          </a:p>
        </p:txBody>
      </p:sp>
      <p:sp>
        <p:nvSpPr>
          <p:cNvPr id="28" name="Oval 27"/>
          <p:cNvSpPr/>
          <p:nvPr/>
        </p:nvSpPr>
        <p:spPr>
          <a:xfrm>
            <a:off x="6720840" y="5312664"/>
            <a:ext cx="292608" cy="292608"/>
          </a:xfrm>
          <a:prstGeom prst="ellipse">
            <a:avLst/>
          </a:prstGeom>
          <a:solidFill>
            <a:srgbClr val="B88C00"/>
          </a:solidFill>
          <a:ln>
            <a:noFill/>
          </a:ln>
        </p:spPr>
        <p:txBody>
          <a:bodyPr wrap="square" lIns="0" tIns="18288" rIns="0" bIns="18288" rtlCol="0" anchor="ctr"/>
          <a:lstStyle/>
          <a:p>
            <a:pPr algn="ctr"/>
            <a:r>
              <a:rPr sz="1200" b="1" i="0">
                <a:solidFill>
                  <a:srgbClr val="FFFFFF"/>
                </a:solidFill>
              </a:rPr>
              <a:t>6</a:t>
            </a:r>
            <a:endParaRPr sz="1200"/>
          </a:p>
        </p:txBody>
      </p:sp>
      <p:sp>
        <p:nvSpPr>
          <p:cNvPr id="29" name="TextBox 28"/>
          <p:cNvSpPr txBox="1"/>
          <p:nvPr/>
        </p:nvSpPr>
        <p:spPr>
          <a:xfrm>
            <a:off x="7132320" y="5193792"/>
            <a:ext cx="4233672" cy="530352"/>
          </a:xfrm>
          <a:prstGeom prst="rect">
            <a:avLst/>
          </a:prstGeom>
          <a:noFill/>
        </p:spPr>
        <p:txBody>
          <a:bodyPr wrap="square" lIns="0" tIns="0" rIns="0" bIns="0" anchor="ctr">
            <a:spAutoFit/>
          </a:bodyPr>
          <a:lstStyle/>
          <a:p>
            <a:pPr algn="l"/>
            <a:r>
              <a:rPr sz="1300" b="0" i="0">
                <a:solidFill>
                  <a:srgbClr val="1F2A33"/>
                </a:solidFill>
              </a:rPr>
              <a:t>Chi-squared test: could a difference like this arise by chance? (Week 5)</a:t>
            </a:r>
            <a:endParaRPr sz="1300"/>
          </a:p>
        </p:txBody>
      </p:sp>
      <p:sp>
        <p:nvSpPr>
          <p:cNvPr id="30" name="TextBox 29"/>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ESS Round 11 (2023–24), UK, n = 1,680. JASP: Contingency Tables; ppltrst in Rows, gndr in Columns; Cells: column percentages only.</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Activity: read this table</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15</a:t>
            </a:fld>
            <a:endParaRPr lang="en-GB"/>
          </a:p>
        </p:txBody>
      </p:sp>
      <p:graphicFrame>
        <p:nvGraphicFramePr>
          <p:cNvPr id="7" name="Table 6"/>
          <p:cNvGraphicFramePr>
            <a:graphicFrameLocks noGrp="1"/>
          </p:cNvGraphicFramePr>
          <p:nvPr/>
        </p:nvGraphicFramePr>
        <p:xfrm>
          <a:off x="758952" y="1417320"/>
          <a:ext cx="5120640" cy="3401568"/>
        </p:xfrm>
        <a:graphic>
          <a:graphicData uri="http://schemas.openxmlformats.org/drawingml/2006/table">
            <a:tbl>
              <a:tblPr firstRow="1">
                <a:tableStyleId>{5C22544A-7EE6-4342-B048-85BDC9FD1C3A}</a:tableStyleId>
              </a:tblPr>
              <a:tblGrid>
                <a:gridCol w="31089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566928">
                <a:tc>
                  <a:txBody>
                    <a:bodyPr/>
                    <a:lstStyle/>
                    <a:p>
                      <a:pPr algn="l"/>
                      <a:r>
                        <a:rPr sz="1600" b="1">
                          <a:solidFill>
                            <a:srgbClr val="FFFFFF"/>
                          </a:solidFill>
                        </a:rPr>
                        <a:t>Citizenship Survey 2010-11 (column %)</a:t>
                      </a:r>
                    </a:p>
                  </a:txBody>
                  <a:tcPr marT="27432" marB="27432" anchor="ctr">
                    <a:solidFill>
                      <a:srgbClr val="1F394D"/>
                    </a:solidFill>
                  </a:tcPr>
                </a:tc>
                <a:tc>
                  <a:txBody>
                    <a:bodyPr/>
                    <a:lstStyle/>
                    <a:p>
                      <a:pPr algn="r"/>
                      <a:r>
                        <a:rPr sz="1600" b="1">
                          <a:solidFill>
                            <a:srgbClr val="FFFFFF"/>
                          </a:solidFill>
                        </a:rPr>
                        <a:t>Men</a:t>
                      </a:r>
                    </a:p>
                  </a:txBody>
                  <a:tcPr marT="27432" marB="27432" anchor="ctr">
                    <a:solidFill>
                      <a:srgbClr val="1F394D"/>
                    </a:solidFill>
                  </a:tcPr>
                </a:tc>
                <a:tc>
                  <a:txBody>
                    <a:bodyPr/>
                    <a:lstStyle/>
                    <a:p>
                      <a:pPr algn="r"/>
                      <a:r>
                        <a:rPr sz="1600" b="1">
                          <a:solidFill>
                            <a:srgbClr val="FFFFFF"/>
                          </a:solidFill>
                        </a:rPr>
                        <a:t>Women</a:t>
                      </a:r>
                    </a:p>
                  </a:txBody>
                  <a:tcPr marT="27432" marB="27432" anchor="ctr">
                    <a:solidFill>
                      <a:srgbClr val="1F394D"/>
                    </a:solidFill>
                  </a:tcPr>
                </a:tc>
                <a:extLst>
                  <a:ext uri="{0D108BD9-81ED-4DB2-BD59-A6C34878D82A}">
                    <a16:rowId xmlns:a16="http://schemas.microsoft.com/office/drawing/2014/main" val="10000"/>
                  </a:ext>
                </a:extLst>
              </a:tr>
              <a:tr h="566928">
                <a:tc>
                  <a:txBody>
                    <a:bodyPr/>
                    <a:lstStyle/>
                    <a:p>
                      <a:pPr algn="l"/>
                      <a:r>
                        <a:rPr sz="1600" b="1">
                          <a:solidFill>
                            <a:srgbClr val="1F2A33"/>
                          </a:solidFill>
                        </a:rPr>
                        <a:t>People can be trusted</a:t>
                      </a:r>
                    </a:p>
                  </a:txBody>
                  <a:tcPr marT="27432" marB="27432" anchor="ctr">
                    <a:solidFill>
                      <a:srgbClr val="FFFFFF"/>
                    </a:solidFill>
                  </a:tcPr>
                </a:tc>
                <a:tc>
                  <a:txBody>
                    <a:bodyPr/>
                    <a:lstStyle/>
                    <a:p>
                      <a:pPr algn="r"/>
                      <a:r>
                        <a:rPr sz="1600" b="0">
                          <a:solidFill>
                            <a:srgbClr val="1F2A33"/>
                          </a:solidFill>
                        </a:rPr>
                        <a:t>39.0</a:t>
                      </a:r>
                    </a:p>
                  </a:txBody>
                  <a:tcPr marT="27432" marB="27432" anchor="ctr">
                    <a:solidFill>
                      <a:srgbClr val="FFFFFF"/>
                    </a:solidFill>
                  </a:tcPr>
                </a:tc>
                <a:tc>
                  <a:txBody>
                    <a:bodyPr/>
                    <a:lstStyle/>
                    <a:p>
                      <a:pPr algn="r"/>
                      <a:r>
                        <a:rPr sz="1600" b="0">
                          <a:solidFill>
                            <a:srgbClr val="1F2A33"/>
                          </a:solidFill>
                        </a:rPr>
                        <a:t>35.0</a:t>
                      </a:r>
                    </a:p>
                  </a:txBody>
                  <a:tcPr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1600" b="1">
                          <a:solidFill>
                            <a:srgbClr val="1F2A33"/>
                          </a:solidFill>
                        </a:rPr>
                        <a:t>You can’t be too careful</a:t>
                      </a:r>
                    </a:p>
                  </a:txBody>
                  <a:tcPr marT="27432" marB="27432" anchor="ctr">
                    <a:solidFill>
                      <a:srgbClr val="EEF3F7"/>
                    </a:solidFill>
                  </a:tcPr>
                </a:tc>
                <a:tc>
                  <a:txBody>
                    <a:bodyPr/>
                    <a:lstStyle/>
                    <a:p>
                      <a:pPr algn="r"/>
                      <a:r>
                        <a:rPr sz="1600" b="0">
                          <a:solidFill>
                            <a:srgbClr val="1F2A33"/>
                          </a:solidFill>
                        </a:rPr>
                        <a:t>48.2</a:t>
                      </a:r>
                    </a:p>
                  </a:txBody>
                  <a:tcPr marT="27432" marB="27432" anchor="ctr">
                    <a:solidFill>
                      <a:srgbClr val="EEF3F7"/>
                    </a:solidFill>
                  </a:tcPr>
                </a:tc>
                <a:tc>
                  <a:txBody>
                    <a:bodyPr/>
                    <a:lstStyle/>
                    <a:p>
                      <a:pPr algn="r"/>
                      <a:r>
                        <a:rPr sz="1600" b="0">
                          <a:solidFill>
                            <a:srgbClr val="1F2A33"/>
                          </a:solidFill>
                        </a:rPr>
                        <a:t>52.6</a:t>
                      </a:r>
                    </a:p>
                  </a:txBody>
                  <a:tcPr marT="27432" marB="27432" anchor="ctr">
                    <a:solidFill>
                      <a:srgbClr val="EEF3F7"/>
                    </a:solidFill>
                  </a:tcPr>
                </a:tc>
                <a:extLst>
                  <a:ext uri="{0D108BD9-81ED-4DB2-BD59-A6C34878D82A}">
                    <a16:rowId xmlns:a16="http://schemas.microsoft.com/office/drawing/2014/main" val="10002"/>
                  </a:ext>
                </a:extLst>
              </a:tr>
              <a:tr h="566928">
                <a:tc>
                  <a:txBody>
                    <a:bodyPr/>
                    <a:lstStyle/>
                    <a:p>
                      <a:pPr algn="l"/>
                      <a:r>
                        <a:rPr sz="1600" b="1">
                          <a:solidFill>
                            <a:srgbClr val="1F2A33"/>
                          </a:solidFill>
                        </a:rPr>
                        <a:t>Depends (volunteered)</a:t>
                      </a:r>
                    </a:p>
                  </a:txBody>
                  <a:tcPr marT="27432" marB="27432" anchor="ctr">
                    <a:solidFill>
                      <a:srgbClr val="FFFFFF"/>
                    </a:solidFill>
                  </a:tcPr>
                </a:tc>
                <a:tc>
                  <a:txBody>
                    <a:bodyPr/>
                    <a:lstStyle/>
                    <a:p>
                      <a:pPr algn="r"/>
                      <a:r>
                        <a:rPr sz="1600" b="0">
                          <a:solidFill>
                            <a:srgbClr val="1F2A33"/>
                          </a:solidFill>
                        </a:rPr>
                        <a:t>12.8</a:t>
                      </a:r>
                    </a:p>
                  </a:txBody>
                  <a:tcPr marT="27432" marB="27432" anchor="ctr">
                    <a:solidFill>
                      <a:srgbClr val="FFFFFF"/>
                    </a:solidFill>
                  </a:tcPr>
                </a:tc>
                <a:tc>
                  <a:txBody>
                    <a:bodyPr/>
                    <a:lstStyle/>
                    <a:p>
                      <a:pPr algn="r"/>
                      <a:r>
                        <a:rPr sz="1600" b="0">
                          <a:solidFill>
                            <a:srgbClr val="1F2A33"/>
                          </a:solidFill>
                        </a:rPr>
                        <a:t>12.4</a:t>
                      </a:r>
                    </a:p>
                  </a:txBody>
                  <a:tcPr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sz="1600" b="1">
                          <a:solidFill>
                            <a:srgbClr val="1F2A33"/>
                          </a:solidFill>
                        </a:rPr>
                        <a:t>Total</a:t>
                      </a:r>
                    </a:p>
                  </a:txBody>
                  <a:tcPr marT="27432" marB="27432" anchor="ctr">
                    <a:solidFill>
                      <a:srgbClr val="EEF3F7"/>
                    </a:solidFill>
                  </a:tcPr>
                </a:tc>
                <a:tc>
                  <a:txBody>
                    <a:bodyPr/>
                    <a:lstStyle/>
                    <a:p>
                      <a:pPr algn="r"/>
                      <a:r>
                        <a:rPr sz="1600" b="0">
                          <a:solidFill>
                            <a:srgbClr val="1F2A33"/>
                          </a:solidFill>
                        </a:rPr>
                        <a:t>100</a:t>
                      </a:r>
                    </a:p>
                  </a:txBody>
                  <a:tcPr marT="27432" marB="27432" anchor="ctr">
                    <a:solidFill>
                      <a:srgbClr val="EEF3F7"/>
                    </a:solidFill>
                  </a:tcPr>
                </a:tc>
                <a:tc>
                  <a:txBody>
                    <a:bodyPr/>
                    <a:lstStyle/>
                    <a:p>
                      <a:pPr algn="r"/>
                      <a:r>
                        <a:rPr sz="1600" b="0">
                          <a:solidFill>
                            <a:srgbClr val="1F2A33"/>
                          </a:solidFill>
                        </a:rPr>
                        <a:t>100</a:t>
                      </a:r>
                    </a:p>
                  </a:txBody>
                  <a:tcPr marT="27432" marB="27432" anchor="ctr">
                    <a:solidFill>
                      <a:srgbClr val="EEF3F7"/>
                    </a:solidFill>
                  </a:tcPr>
                </a:tc>
                <a:extLst>
                  <a:ext uri="{0D108BD9-81ED-4DB2-BD59-A6C34878D82A}">
                    <a16:rowId xmlns:a16="http://schemas.microsoft.com/office/drawing/2014/main" val="10004"/>
                  </a:ext>
                </a:extLst>
              </a:tr>
              <a:tr h="566928">
                <a:tc>
                  <a:txBody>
                    <a:bodyPr/>
                    <a:lstStyle/>
                    <a:p>
                      <a:pPr algn="l"/>
                      <a:r>
                        <a:rPr sz="1600" b="1">
                          <a:solidFill>
                            <a:srgbClr val="1F2A33"/>
                          </a:solidFill>
                        </a:rPr>
                        <a:t>n</a:t>
                      </a:r>
                    </a:p>
                  </a:txBody>
                  <a:tcPr marT="27432" marB="27432" anchor="ctr">
                    <a:solidFill>
                      <a:srgbClr val="FFFFFF"/>
                    </a:solidFill>
                  </a:tcPr>
                </a:tc>
                <a:tc>
                  <a:txBody>
                    <a:bodyPr/>
                    <a:lstStyle/>
                    <a:p>
                      <a:pPr algn="r"/>
                      <a:r>
                        <a:rPr sz="1600" b="0">
                          <a:solidFill>
                            <a:srgbClr val="1F2A33"/>
                          </a:solidFill>
                        </a:rPr>
                        <a:t>7,815</a:t>
                      </a:r>
                    </a:p>
                  </a:txBody>
                  <a:tcPr marT="27432" marB="27432" anchor="ctr">
                    <a:solidFill>
                      <a:srgbClr val="FFFFFF"/>
                    </a:solidFill>
                  </a:tcPr>
                </a:tc>
                <a:tc>
                  <a:txBody>
                    <a:bodyPr/>
                    <a:lstStyle/>
                    <a:p>
                      <a:pPr algn="r"/>
                      <a:r>
                        <a:rPr sz="1600" b="0">
                          <a:solidFill>
                            <a:srgbClr val="1F2A33"/>
                          </a:solidFill>
                        </a:rPr>
                        <a:t>9,111</a:t>
                      </a:r>
                    </a:p>
                  </a:txBody>
                  <a:tcPr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8" name="Q1"/>
          <p:cNvSpPr/>
          <p:nvPr/>
        </p:nvSpPr>
        <p:spPr>
          <a:xfrm>
            <a:off x="6126480" y="1417320"/>
            <a:ext cx="5239512" cy="969264"/>
          </a:xfrm>
          <a:prstGeom prst="roundRect">
            <a:avLst>
              <a:gd name="adj" fmla="val 8000"/>
            </a:avLst>
          </a:prstGeom>
          <a:solidFill>
            <a:srgbClr val="EEF3F7"/>
          </a:solidFill>
          <a:ln>
            <a:noFill/>
          </a:ln>
        </p:spPr>
        <p:txBody>
          <a:bodyPr rtlCol="0" anchor="ctr"/>
          <a:lstStyle/>
          <a:p>
            <a:endParaRPr/>
          </a:p>
        </p:txBody>
      </p:sp>
      <p:sp>
        <p:nvSpPr>
          <p:cNvPr id="9" name="Oval 8"/>
          <p:cNvSpPr/>
          <p:nvPr/>
        </p:nvSpPr>
        <p:spPr>
          <a:xfrm>
            <a:off x="6263640" y="1664208"/>
            <a:ext cx="457200" cy="457200"/>
          </a:xfrm>
          <a:prstGeom prst="ellipse">
            <a:avLst/>
          </a:prstGeom>
          <a:solidFill>
            <a:srgbClr val="1F394D"/>
          </a:solidFill>
          <a:ln>
            <a:noFill/>
          </a:ln>
        </p:spPr>
        <p:txBody>
          <a:bodyPr lIns="0" tIns="0" rIns="0" bIns="0" rtlCol="0" anchor="ctr"/>
          <a:lstStyle/>
          <a:p>
            <a:pPr algn="ctr"/>
            <a:r>
              <a:rPr sz="1600" b="1">
                <a:solidFill>
                  <a:srgbClr val="FFFFFF"/>
                </a:solidFill>
              </a:rPr>
              <a:t>1</a:t>
            </a:r>
          </a:p>
        </p:txBody>
      </p:sp>
      <p:sp>
        <p:nvSpPr>
          <p:cNvPr id="10" name="TextBox 9"/>
          <p:cNvSpPr txBox="1"/>
          <p:nvPr/>
        </p:nvSpPr>
        <p:spPr>
          <a:xfrm>
            <a:off x="6858000" y="1490472"/>
            <a:ext cx="4389120" cy="868680"/>
          </a:xfrm>
          <a:prstGeom prst="rect">
            <a:avLst/>
          </a:prstGeom>
          <a:noFill/>
        </p:spPr>
        <p:txBody>
          <a:bodyPr wrap="square" lIns="0" tIns="0" rIns="0" bIns="0" anchor="ctr">
            <a:spAutoFit/>
          </a:bodyPr>
          <a:lstStyle/>
          <a:p>
            <a:pPr algn="l"/>
            <a:r>
              <a:rPr sz="1600" b="0" i="0">
                <a:solidFill>
                  <a:srgbClr val="1F2A33"/>
                </a:solidFill>
              </a:rPr>
              <a:t>What percentage of men say people can be trusted?</a:t>
            </a:r>
          </a:p>
        </p:txBody>
      </p:sp>
      <p:sp>
        <p:nvSpPr>
          <p:cNvPr id="11" name="Q2"/>
          <p:cNvSpPr/>
          <p:nvPr/>
        </p:nvSpPr>
        <p:spPr>
          <a:xfrm>
            <a:off x="6126480" y="2496312"/>
            <a:ext cx="5239512" cy="969264"/>
          </a:xfrm>
          <a:prstGeom prst="roundRect">
            <a:avLst>
              <a:gd name="adj" fmla="val 8000"/>
            </a:avLst>
          </a:prstGeom>
          <a:solidFill>
            <a:srgbClr val="EEF3F7"/>
          </a:solidFill>
          <a:ln>
            <a:noFill/>
          </a:ln>
        </p:spPr>
        <p:txBody>
          <a:bodyPr rtlCol="0" anchor="ctr"/>
          <a:lstStyle/>
          <a:p>
            <a:endParaRPr/>
          </a:p>
        </p:txBody>
      </p:sp>
      <p:sp>
        <p:nvSpPr>
          <p:cNvPr id="12" name="Oval 11"/>
          <p:cNvSpPr/>
          <p:nvPr/>
        </p:nvSpPr>
        <p:spPr>
          <a:xfrm>
            <a:off x="6263640" y="2743200"/>
            <a:ext cx="457200" cy="457200"/>
          </a:xfrm>
          <a:prstGeom prst="ellipse">
            <a:avLst/>
          </a:prstGeom>
          <a:solidFill>
            <a:srgbClr val="1F394D"/>
          </a:solidFill>
          <a:ln>
            <a:noFill/>
          </a:ln>
        </p:spPr>
        <p:txBody>
          <a:bodyPr lIns="0" tIns="0" rIns="0" bIns="0" rtlCol="0" anchor="ctr"/>
          <a:lstStyle/>
          <a:p>
            <a:pPr algn="ctr"/>
            <a:r>
              <a:rPr sz="1600" b="1">
                <a:solidFill>
                  <a:srgbClr val="FFFFFF"/>
                </a:solidFill>
              </a:rPr>
              <a:t>2</a:t>
            </a:r>
          </a:p>
        </p:txBody>
      </p:sp>
      <p:sp>
        <p:nvSpPr>
          <p:cNvPr id="13" name="TextBox 12"/>
          <p:cNvSpPr txBox="1"/>
          <p:nvPr/>
        </p:nvSpPr>
        <p:spPr>
          <a:xfrm>
            <a:off x="6858000" y="2569464"/>
            <a:ext cx="4389120" cy="868680"/>
          </a:xfrm>
          <a:prstGeom prst="rect">
            <a:avLst/>
          </a:prstGeom>
          <a:noFill/>
        </p:spPr>
        <p:txBody>
          <a:bodyPr wrap="square" lIns="0" tIns="0" rIns="0" bIns="0" anchor="ctr">
            <a:spAutoFit/>
          </a:bodyPr>
          <a:lstStyle/>
          <a:p>
            <a:pPr algn="l"/>
            <a:r>
              <a:rPr sz="1600" b="0" i="0">
                <a:solidFill>
                  <a:srgbClr val="1F2A33"/>
                </a:solidFill>
              </a:rPr>
              <a:t>How big is the gap between men and women in trusting?</a:t>
            </a:r>
          </a:p>
        </p:txBody>
      </p:sp>
      <p:sp>
        <p:nvSpPr>
          <p:cNvPr id="14" name="Q3"/>
          <p:cNvSpPr/>
          <p:nvPr/>
        </p:nvSpPr>
        <p:spPr>
          <a:xfrm>
            <a:off x="6126480" y="3575304"/>
            <a:ext cx="5239512" cy="969264"/>
          </a:xfrm>
          <a:prstGeom prst="roundRect">
            <a:avLst>
              <a:gd name="adj" fmla="val 8000"/>
            </a:avLst>
          </a:prstGeom>
          <a:solidFill>
            <a:srgbClr val="EEF3F7"/>
          </a:solidFill>
          <a:ln>
            <a:noFill/>
          </a:ln>
        </p:spPr>
        <p:txBody>
          <a:bodyPr rtlCol="0" anchor="ctr"/>
          <a:lstStyle/>
          <a:p>
            <a:endParaRPr/>
          </a:p>
        </p:txBody>
      </p:sp>
      <p:sp>
        <p:nvSpPr>
          <p:cNvPr id="15" name="Oval 14"/>
          <p:cNvSpPr/>
          <p:nvPr/>
        </p:nvSpPr>
        <p:spPr>
          <a:xfrm>
            <a:off x="6263640" y="3822191"/>
            <a:ext cx="457200" cy="457200"/>
          </a:xfrm>
          <a:prstGeom prst="ellipse">
            <a:avLst/>
          </a:prstGeom>
          <a:solidFill>
            <a:srgbClr val="1F394D"/>
          </a:solidFill>
          <a:ln>
            <a:noFill/>
          </a:ln>
        </p:spPr>
        <p:txBody>
          <a:bodyPr lIns="0" tIns="0" rIns="0" bIns="0" rtlCol="0" anchor="ctr"/>
          <a:lstStyle/>
          <a:p>
            <a:pPr algn="ctr"/>
            <a:r>
              <a:rPr sz="1600" b="1">
                <a:solidFill>
                  <a:srgbClr val="FFFFFF"/>
                </a:solidFill>
              </a:rPr>
              <a:t>3</a:t>
            </a:r>
          </a:p>
        </p:txBody>
      </p:sp>
      <p:sp>
        <p:nvSpPr>
          <p:cNvPr id="16" name="TextBox 15"/>
          <p:cNvSpPr txBox="1"/>
          <p:nvPr/>
        </p:nvSpPr>
        <p:spPr>
          <a:xfrm>
            <a:off x="6858000" y="3648456"/>
            <a:ext cx="4389120" cy="868680"/>
          </a:xfrm>
          <a:prstGeom prst="rect">
            <a:avLst/>
          </a:prstGeom>
          <a:noFill/>
        </p:spPr>
        <p:txBody>
          <a:bodyPr wrap="square" lIns="0" tIns="0" rIns="0" bIns="0" anchor="ctr">
            <a:spAutoFit/>
          </a:bodyPr>
          <a:lstStyle/>
          <a:p>
            <a:pPr algn="l"/>
            <a:r>
              <a:rPr sz="1600" b="0" i="0">
                <a:solidFill>
                  <a:srgbClr val="1F2A33"/>
                </a:solidFill>
              </a:rPr>
              <a:t>Do men and women differ in answering “it depends”?</a:t>
            </a:r>
          </a:p>
        </p:txBody>
      </p:sp>
      <p:sp>
        <p:nvSpPr>
          <p:cNvPr id="17" name="Q4"/>
          <p:cNvSpPr/>
          <p:nvPr/>
        </p:nvSpPr>
        <p:spPr>
          <a:xfrm>
            <a:off x="6126480" y="4654296"/>
            <a:ext cx="5239512" cy="969264"/>
          </a:xfrm>
          <a:prstGeom prst="roundRect">
            <a:avLst>
              <a:gd name="adj" fmla="val 8000"/>
            </a:avLst>
          </a:prstGeom>
          <a:solidFill>
            <a:srgbClr val="EEF3F7"/>
          </a:solidFill>
          <a:ln>
            <a:noFill/>
          </a:ln>
        </p:spPr>
        <p:txBody>
          <a:bodyPr rtlCol="0" anchor="ctr"/>
          <a:lstStyle/>
          <a:p>
            <a:endParaRPr/>
          </a:p>
        </p:txBody>
      </p:sp>
      <p:sp>
        <p:nvSpPr>
          <p:cNvPr id="18" name="Oval 17"/>
          <p:cNvSpPr/>
          <p:nvPr/>
        </p:nvSpPr>
        <p:spPr>
          <a:xfrm>
            <a:off x="6263640" y="4901183"/>
            <a:ext cx="457200" cy="457200"/>
          </a:xfrm>
          <a:prstGeom prst="ellipse">
            <a:avLst/>
          </a:prstGeom>
          <a:solidFill>
            <a:srgbClr val="1F394D"/>
          </a:solidFill>
          <a:ln>
            <a:noFill/>
          </a:ln>
        </p:spPr>
        <p:txBody>
          <a:bodyPr lIns="0" tIns="0" rIns="0" bIns="0" rtlCol="0" anchor="ctr"/>
          <a:lstStyle/>
          <a:p>
            <a:pPr algn="ctr"/>
            <a:r>
              <a:rPr sz="1600" b="1">
                <a:solidFill>
                  <a:srgbClr val="FFFFFF"/>
                </a:solidFill>
              </a:rPr>
              <a:t>4</a:t>
            </a:r>
          </a:p>
        </p:txBody>
      </p:sp>
      <p:sp>
        <p:nvSpPr>
          <p:cNvPr id="19" name="TextBox 18"/>
          <p:cNvSpPr txBox="1"/>
          <p:nvPr/>
        </p:nvSpPr>
        <p:spPr>
          <a:xfrm>
            <a:off x="6858000" y="4727448"/>
            <a:ext cx="4389120" cy="868680"/>
          </a:xfrm>
          <a:prstGeom prst="rect">
            <a:avLst/>
          </a:prstGeom>
          <a:noFill/>
        </p:spPr>
        <p:txBody>
          <a:bodyPr wrap="square" lIns="0" tIns="0" rIns="0" bIns="0" anchor="ctr">
            <a:spAutoFit/>
          </a:bodyPr>
          <a:lstStyle/>
          <a:p>
            <a:pPr algn="l"/>
            <a:r>
              <a:rPr sz="1600" b="0" i="0">
                <a:solidFill>
                  <a:srgbClr val="1F2A33"/>
                </a:solidFill>
              </a:rPr>
              <a:t>The BSA 2010 gap was 11 points. Why might this one differ?</a:t>
            </a:r>
          </a:p>
        </p:txBody>
      </p:sp>
      <p:sp>
        <p:nvSpPr>
          <p:cNvPr id="20" name="TextBox 19"/>
          <p:cNvSpPr txBox="1"/>
          <p:nvPr/>
        </p:nvSpPr>
        <p:spPr>
          <a:xfrm>
            <a:off x="758952" y="5997571"/>
            <a:ext cx="10607040" cy="184666"/>
          </a:xfrm>
          <a:prstGeom prst="rect">
            <a:avLst/>
          </a:prstGeom>
          <a:noFill/>
        </p:spPr>
        <p:txBody>
          <a:bodyPr wrap="square" lIns="0" tIns="0" rIns="0" bIns="0" anchor="ctr">
            <a:spAutoFit/>
          </a:bodyPr>
          <a:lstStyle/>
          <a:p>
            <a:pPr algn="l"/>
            <a:r>
              <a:rPr sz="1200" b="0" i="0" dirty="0">
                <a:solidFill>
                  <a:schemeClr val="bg1"/>
                </a:solidFill>
              </a:rPr>
              <a:t>Data: Citizenship Survey 2010-11, England and Wales (</a:t>
            </a:r>
            <a:r>
              <a:rPr sz="1200" b="0" i="0" dirty="0" err="1">
                <a:solidFill>
                  <a:schemeClr val="bg1"/>
                </a:solidFill>
              </a:rPr>
              <a:t>gb-cs10-trust.sav</a:t>
            </a:r>
            <a:r>
              <a:rPr sz="1200" b="0" i="0" dirty="0">
                <a:solidFill>
                  <a:schemeClr val="bg1"/>
                </a:solidFill>
              </a:rPr>
              <a:t>), n = 16,926.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a table: answers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16</a:t>
            </a:fld>
            <a:endParaRPr lang="en-GB"/>
          </a:p>
        </p:txBody>
      </p:sp>
      <p:graphicFrame>
        <p:nvGraphicFramePr>
          <p:cNvPr id="7" name="Table 6"/>
          <p:cNvGraphicFramePr>
            <a:graphicFrameLocks noGrp="1"/>
          </p:cNvGraphicFramePr>
          <p:nvPr/>
        </p:nvGraphicFramePr>
        <p:xfrm>
          <a:off x="758952" y="1417320"/>
          <a:ext cx="5120640" cy="3401568"/>
        </p:xfrm>
        <a:graphic>
          <a:graphicData uri="http://schemas.openxmlformats.org/drawingml/2006/table">
            <a:tbl>
              <a:tblPr firstRow="1">
                <a:tableStyleId>{5C22544A-7EE6-4342-B048-85BDC9FD1C3A}</a:tableStyleId>
              </a:tblPr>
              <a:tblGrid>
                <a:gridCol w="31089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566928">
                <a:tc>
                  <a:txBody>
                    <a:bodyPr/>
                    <a:lstStyle/>
                    <a:p>
                      <a:pPr algn="l"/>
                      <a:r>
                        <a:rPr sz="1600" b="1">
                          <a:solidFill>
                            <a:srgbClr val="FFFFFF"/>
                          </a:solidFill>
                        </a:rPr>
                        <a:t>Citizenship Survey 2010-11 (column %)</a:t>
                      </a:r>
                    </a:p>
                  </a:txBody>
                  <a:tcPr marT="27432" marB="27432" anchor="ctr">
                    <a:solidFill>
                      <a:srgbClr val="1F394D"/>
                    </a:solidFill>
                  </a:tcPr>
                </a:tc>
                <a:tc>
                  <a:txBody>
                    <a:bodyPr/>
                    <a:lstStyle/>
                    <a:p>
                      <a:pPr algn="r"/>
                      <a:r>
                        <a:rPr sz="1600" b="1">
                          <a:solidFill>
                            <a:srgbClr val="FFFFFF"/>
                          </a:solidFill>
                        </a:rPr>
                        <a:t>Men</a:t>
                      </a:r>
                    </a:p>
                  </a:txBody>
                  <a:tcPr marT="27432" marB="27432" anchor="ctr">
                    <a:solidFill>
                      <a:srgbClr val="1F394D"/>
                    </a:solidFill>
                  </a:tcPr>
                </a:tc>
                <a:tc>
                  <a:txBody>
                    <a:bodyPr/>
                    <a:lstStyle/>
                    <a:p>
                      <a:pPr algn="r"/>
                      <a:r>
                        <a:rPr sz="1600" b="1">
                          <a:solidFill>
                            <a:srgbClr val="FFFFFF"/>
                          </a:solidFill>
                        </a:rPr>
                        <a:t>Women</a:t>
                      </a:r>
                    </a:p>
                  </a:txBody>
                  <a:tcPr marT="27432" marB="27432" anchor="ctr">
                    <a:solidFill>
                      <a:srgbClr val="1F394D"/>
                    </a:solidFill>
                  </a:tcPr>
                </a:tc>
                <a:extLst>
                  <a:ext uri="{0D108BD9-81ED-4DB2-BD59-A6C34878D82A}">
                    <a16:rowId xmlns:a16="http://schemas.microsoft.com/office/drawing/2014/main" val="10000"/>
                  </a:ext>
                </a:extLst>
              </a:tr>
              <a:tr h="566928">
                <a:tc>
                  <a:txBody>
                    <a:bodyPr/>
                    <a:lstStyle/>
                    <a:p>
                      <a:pPr algn="l"/>
                      <a:r>
                        <a:rPr sz="1600" b="1">
                          <a:solidFill>
                            <a:srgbClr val="1F2A33"/>
                          </a:solidFill>
                        </a:rPr>
                        <a:t>People can be trusted</a:t>
                      </a:r>
                    </a:p>
                  </a:txBody>
                  <a:tcPr marT="27432" marB="27432" anchor="ctr">
                    <a:solidFill>
                      <a:srgbClr val="FFFFFF"/>
                    </a:solidFill>
                  </a:tcPr>
                </a:tc>
                <a:tc>
                  <a:txBody>
                    <a:bodyPr/>
                    <a:lstStyle/>
                    <a:p>
                      <a:pPr algn="r"/>
                      <a:r>
                        <a:rPr sz="1600" b="0">
                          <a:solidFill>
                            <a:srgbClr val="1F2A33"/>
                          </a:solidFill>
                        </a:rPr>
                        <a:t>39.0</a:t>
                      </a:r>
                    </a:p>
                  </a:txBody>
                  <a:tcPr marT="27432" marB="27432" anchor="ctr">
                    <a:solidFill>
                      <a:srgbClr val="FFFFFF"/>
                    </a:solidFill>
                  </a:tcPr>
                </a:tc>
                <a:tc>
                  <a:txBody>
                    <a:bodyPr/>
                    <a:lstStyle/>
                    <a:p>
                      <a:pPr algn="r"/>
                      <a:r>
                        <a:rPr sz="1600" b="0">
                          <a:solidFill>
                            <a:srgbClr val="1F2A33"/>
                          </a:solidFill>
                        </a:rPr>
                        <a:t>35.0</a:t>
                      </a:r>
                    </a:p>
                  </a:txBody>
                  <a:tcPr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1600" b="1">
                          <a:solidFill>
                            <a:srgbClr val="1F2A33"/>
                          </a:solidFill>
                        </a:rPr>
                        <a:t>You can’t be too careful</a:t>
                      </a:r>
                    </a:p>
                  </a:txBody>
                  <a:tcPr marT="27432" marB="27432" anchor="ctr">
                    <a:solidFill>
                      <a:srgbClr val="EEF3F7"/>
                    </a:solidFill>
                  </a:tcPr>
                </a:tc>
                <a:tc>
                  <a:txBody>
                    <a:bodyPr/>
                    <a:lstStyle/>
                    <a:p>
                      <a:pPr algn="r"/>
                      <a:r>
                        <a:rPr sz="1600" b="0">
                          <a:solidFill>
                            <a:srgbClr val="1F2A33"/>
                          </a:solidFill>
                        </a:rPr>
                        <a:t>48.2</a:t>
                      </a:r>
                    </a:p>
                  </a:txBody>
                  <a:tcPr marT="27432" marB="27432" anchor="ctr">
                    <a:solidFill>
                      <a:srgbClr val="EEF3F7"/>
                    </a:solidFill>
                  </a:tcPr>
                </a:tc>
                <a:tc>
                  <a:txBody>
                    <a:bodyPr/>
                    <a:lstStyle/>
                    <a:p>
                      <a:pPr algn="r"/>
                      <a:r>
                        <a:rPr sz="1600" b="0">
                          <a:solidFill>
                            <a:srgbClr val="1F2A33"/>
                          </a:solidFill>
                        </a:rPr>
                        <a:t>52.6</a:t>
                      </a:r>
                    </a:p>
                  </a:txBody>
                  <a:tcPr marT="27432" marB="27432" anchor="ctr">
                    <a:solidFill>
                      <a:srgbClr val="EEF3F7"/>
                    </a:solidFill>
                  </a:tcPr>
                </a:tc>
                <a:extLst>
                  <a:ext uri="{0D108BD9-81ED-4DB2-BD59-A6C34878D82A}">
                    <a16:rowId xmlns:a16="http://schemas.microsoft.com/office/drawing/2014/main" val="10002"/>
                  </a:ext>
                </a:extLst>
              </a:tr>
              <a:tr h="566928">
                <a:tc>
                  <a:txBody>
                    <a:bodyPr/>
                    <a:lstStyle/>
                    <a:p>
                      <a:pPr algn="l"/>
                      <a:r>
                        <a:rPr sz="1600" b="1">
                          <a:solidFill>
                            <a:srgbClr val="1F2A33"/>
                          </a:solidFill>
                        </a:rPr>
                        <a:t>Depends (volunteered)</a:t>
                      </a:r>
                    </a:p>
                  </a:txBody>
                  <a:tcPr marT="27432" marB="27432" anchor="ctr">
                    <a:solidFill>
                      <a:srgbClr val="FFFFFF"/>
                    </a:solidFill>
                  </a:tcPr>
                </a:tc>
                <a:tc>
                  <a:txBody>
                    <a:bodyPr/>
                    <a:lstStyle/>
                    <a:p>
                      <a:pPr algn="r"/>
                      <a:r>
                        <a:rPr sz="1600" b="0">
                          <a:solidFill>
                            <a:srgbClr val="1F2A33"/>
                          </a:solidFill>
                        </a:rPr>
                        <a:t>12.8</a:t>
                      </a:r>
                    </a:p>
                  </a:txBody>
                  <a:tcPr marT="27432" marB="27432" anchor="ctr">
                    <a:solidFill>
                      <a:srgbClr val="FFFFFF"/>
                    </a:solidFill>
                  </a:tcPr>
                </a:tc>
                <a:tc>
                  <a:txBody>
                    <a:bodyPr/>
                    <a:lstStyle/>
                    <a:p>
                      <a:pPr algn="r"/>
                      <a:r>
                        <a:rPr sz="1600" b="0">
                          <a:solidFill>
                            <a:srgbClr val="1F2A33"/>
                          </a:solidFill>
                        </a:rPr>
                        <a:t>12.4</a:t>
                      </a:r>
                    </a:p>
                  </a:txBody>
                  <a:tcPr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sz="1600" b="1">
                          <a:solidFill>
                            <a:srgbClr val="1F2A33"/>
                          </a:solidFill>
                        </a:rPr>
                        <a:t>Total</a:t>
                      </a:r>
                    </a:p>
                  </a:txBody>
                  <a:tcPr marT="27432" marB="27432" anchor="ctr">
                    <a:solidFill>
                      <a:srgbClr val="EEF3F7"/>
                    </a:solidFill>
                  </a:tcPr>
                </a:tc>
                <a:tc>
                  <a:txBody>
                    <a:bodyPr/>
                    <a:lstStyle/>
                    <a:p>
                      <a:pPr algn="r"/>
                      <a:r>
                        <a:rPr sz="1600" b="0">
                          <a:solidFill>
                            <a:srgbClr val="1F2A33"/>
                          </a:solidFill>
                        </a:rPr>
                        <a:t>100</a:t>
                      </a:r>
                    </a:p>
                  </a:txBody>
                  <a:tcPr marT="27432" marB="27432" anchor="ctr">
                    <a:solidFill>
                      <a:srgbClr val="EEF3F7"/>
                    </a:solidFill>
                  </a:tcPr>
                </a:tc>
                <a:tc>
                  <a:txBody>
                    <a:bodyPr/>
                    <a:lstStyle/>
                    <a:p>
                      <a:pPr algn="r"/>
                      <a:r>
                        <a:rPr sz="1600" b="0">
                          <a:solidFill>
                            <a:srgbClr val="1F2A33"/>
                          </a:solidFill>
                        </a:rPr>
                        <a:t>100</a:t>
                      </a:r>
                    </a:p>
                  </a:txBody>
                  <a:tcPr marT="27432" marB="27432" anchor="ctr">
                    <a:solidFill>
                      <a:srgbClr val="EEF3F7"/>
                    </a:solidFill>
                  </a:tcPr>
                </a:tc>
                <a:extLst>
                  <a:ext uri="{0D108BD9-81ED-4DB2-BD59-A6C34878D82A}">
                    <a16:rowId xmlns:a16="http://schemas.microsoft.com/office/drawing/2014/main" val="10004"/>
                  </a:ext>
                </a:extLst>
              </a:tr>
              <a:tr h="566928">
                <a:tc>
                  <a:txBody>
                    <a:bodyPr/>
                    <a:lstStyle/>
                    <a:p>
                      <a:pPr algn="l"/>
                      <a:r>
                        <a:rPr sz="1600" b="1">
                          <a:solidFill>
                            <a:srgbClr val="1F2A33"/>
                          </a:solidFill>
                        </a:rPr>
                        <a:t>n</a:t>
                      </a:r>
                    </a:p>
                  </a:txBody>
                  <a:tcPr marT="27432" marB="27432" anchor="ctr">
                    <a:solidFill>
                      <a:srgbClr val="FFFFFF"/>
                    </a:solidFill>
                  </a:tcPr>
                </a:tc>
                <a:tc>
                  <a:txBody>
                    <a:bodyPr/>
                    <a:lstStyle/>
                    <a:p>
                      <a:pPr algn="r"/>
                      <a:r>
                        <a:rPr sz="1600" b="0">
                          <a:solidFill>
                            <a:srgbClr val="1F2A33"/>
                          </a:solidFill>
                        </a:rPr>
                        <a:t>7,815</a:t>
                      </a:r>
                    </a:p>
                  </a:txBody>
                  <a:tcPr marT="27432" marB="27432" anchor="ctr">
                    <a:solidFill>
                      <a:srgbClr val="FFFFFF"/>
                    </a:solidFill>
                  </a:tcPr>
                </a:tc>
                <a:tc>
                  <a:txBody>
                    <a:bodyPr/>
                    <a:lstStyle/>
                    <a:p>
                      <a:pPr algn="r"/>
                      <a:r>
                        <a:rPr sz="1600" b="0">
                          <a:solidFill>
                            <a:srgbClr val="1F2A33"/>
                          </a:solidFill>
                        </a:rPr>
                        <a:t>9,111</a:t>
                      </a:r>
                    </a:p>
                  </a:txBody>
                  <a:tcPr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8" name="Q1"/>
          <p:cNvSpPr/>
          <p:nvPr/>
        </p:nvSpPr>
        <p:spPr>
          <a:xfrm>
            <a:off x="6126480" y="1417320"/>
            <a:ext cx="5239512" cy="969264"/>
          </a:xfrm>
          <a:prstGeom prst="roundRect">
            <a:avLst>
              <a:gd name="adj" fmla="val 8000"/>
            </a:avLst>
          </a:prstGeom>
          <a:solidFill>
            <a:srgbClr val="EEF3F7"/>
          </a:solidFill>
          <a:ln>
            <a:noFill/>
          </a:ln>
        </p:spPr>
        <p:txBody>
          <a:bodyPr rtlCol="0" anchor="ctr"/>
          <a:lstStyle/>
          <a:p>
            <a:endParaRPr/>
          </a:p>
        </p:txBody>
      </p:sp>
      <p:sp>
        <p:nvSpPr>
          <p:cNvPr id="9" name="Oval 8"/>
          <p:cNvSpPr/>
          <p:nvPr/>
        </p:nvSpPr>
        <p:spPr>
          <a:xfrm>
            <a:off x="6263640" y="1664208"/>
            <a:ext cx="457200" cy="457200"/>
          </a:xfrm>
          <a:prstGeom prst="ellipse">
            <a:avLst/>
          </a:prstGeom>
          <a:solidFill>
            <a:srgbClr val="1F394D"/>
          </a:solidFill>
          <a:ln>
            <a:noFill/>
          </a:ln>
        </p:spPr>
        <p:txBody>
          <a:bodyPr lIns="0" tIns="0" rIns="0" bIns="0" rtlCol="0" anchor="ctr"/>
          <a:lstStyle/>
          <a:p>
            <a:pPr algn="ctr"/>
            <a:r>
              <a:rPr sz="1600" b="1">
                <a:solidFill>
                  <a:srgbClr val="FFFFFF"/>
                </a:solidFill>
              </a:rPr>
              <a:t>1</a:t>
            </a:r>
          </a:p>
        </p:txBody>
      </p:sp>
      <p:sp>
        <p:nvSpPr>
          <p:cNvPr id="10" name="TextBox 9"/>
          <p:cNvSpPr txBox="1"/>
          <p:nvPr/>
        </p:nvSpPr>
        <p:spPr>
          <a:xfrm>
            <a:off x="6858000" y="1490472"/>
            <a:ext cx="4389120" cy="868680"/>
          </a:xfrm>
          <a:prstGeom prst="rect">
            <a:avLst/>
          </a:prstGeom>
          <a:noFill/>
        </p:spPr>
        <p:txBody>
          <a:bodyPr wrap="square" lIns="0" tIns="0" rIns="0" bIns="0" anchor="ctr">
            <a:spAutoFit/>
          </a:bodyPr>
          <a:lstStyle/>
          <a:p>
            <a:pPr algn="l"/>
            <a:r>
              <a:rPr sz="1600" b="0" i="0">
                <a:solidFill>
                  <a:srgbClr val="1F2A33"/>
                </a:solidFill>
              </a:rPr>
              <a:t>What percentage of men say people can be trusted?</a:t>
            </a:r>
          </a:p>
          <a:p>
            <a:pPr algn="l"/>
            <a:r>
              <a:rPr sz="1600" b="1" i="0">
                <a:solidFill>
                  <a:srgbClr val="2E6B45"/>
                </a:solidFill>
              </a:rPr>
              <a:t>39.0%</a:t>
            </a:r>
          </a:p>
        </p:txBody>
      </p:sp>
      <p:sp>
        <p:nvSpPr>
          <p:cNvPr id="11" name="Q2"/>
          <p:cNvSpPr/>
          <p:nvPr/>
        </p:nvSpPr>
        <p:spPr>
          <a:xfrm>
            <a:off x="6126480" y="2496312"/>
            <a:ext cx="5239512" cy="969264"/>
          </a:xfrm>
          <a:prstGeom prst="roundRect">
            <a:avLst>
              <a:gd name="adj" fmla="val 8000"/>
            </a:avLst>
          </a:prstGeom>
          <a:solidFill>
            <a:srgbClr val="EEF3F7"/>
          </a:solidFill>
          <a:ln>
            <a:noFill/>
          </a:ln>
        </p:spPr>
        <p:txBody>
          <a:bodyPr rtlCol="0" anchor="ctr"/>
          <a:lstStyle/>
          <a:p>
            <a:endParaRPr/>
          </a:p>
        </p:txBody>
      </p:sp>
      <p:sp>
        <p:nvSpPr>
          <p:cNvPr id="12" name="Oval 11"/>
          <p:cNvSpPr/>
          <p:nvPr/>
        </p:nvSpPr>
        <p:spPr>
          <a:xfrm>
            <a:off x="6263640" y="2743200"/>
            <a:ext cx="457200" cy="457200"/>
          </a:xfrm>
          <a:prstGeom prst="ellipse">
            <a:avLst/>
          </a:prstGeom>
          <a:solidFill>
            <a:srgbClr val="1F394D"/>
          </a:solidFill>
          <a:ln>
            <a:noFill/>
          </a:ln>
        </p:spPr>
        <p:txBody>
          <a:bodyPr lIns="0" tIns="0" rIns="0" bIns="0" rtlCol="0" anchor="ctr"/>
          <a:lstStyle/>
          <a:p>
            <a:pPr algn="ctr"/>
            <a:r>
              <a:rPr sz="1600" b="1">
                <a:solidFill>
                  <a:srgbClr val="FFFFFF"/>
                </a:solidFill>
              </a:rPr>
              <a:t>2</a:t>
            </a:r>
          </a:p>
        </p:txBody>
      </p:sp>
      <p:sp>
        <p:nvSpPr>
          <p:cNvPr id="13" name="TextBox 12"/>
          <p:cNvSpPr txBox="1"/>
          <p:nvPr/>
        </p:nvSpPr>
        <p:spPr>
          <a:xfrm>
            <a:off x="6858000" y="2569464"/>
            <a:ext cx="4389120" cy="868680"/>
          </a:xfrm>
          <a:prstGeom prst="rect">
            <a:avLst/>
          </a:prstGeom>
          <a:noFill/>
        </p:spPr>
        <p:txBody>
          <a:bodyPr wrap="square" lIns="0" tIns="0" rIns="0" bIns="0" anchor="ctr">
            <a:spAutoFit/>
          </a:bodyPr>
          <a:lstStyle/>
          <a:p>
            <a:pPr algn="l"/>
            <a:r>
              <a:rPr sz="1600" b="0" i="0">
                <a:solidFill>
                  <a:srgbClr val="1F2A33"/>
                </a:solidFill>
              </a:rPr>
              <a:t>How big is the gap between men and women in trusting?</a:t>
            </a:r>
          </a:p>
          <a:p>
            <a:pPr algn="l"/>
            <a:r>
              <a:rPr sz="1600" b="1" i="0">
                <a:solidFill>
                  <a:srgbClr val="2E6B45"/>
                </a:solidFill>
              </a:rPr>
              <a:t>4.0 points (39.0% vs 35.0%)</a:t>
            </a:r>
          </a:p>
        </p:txBody>
      </p:sp>
      <p:sp>
        <p:nvSpPr>
          <p:cNvPr id="14" name="Q3"/>
          <p:cNvSpPr/>
          <p:nvPr/>
        </p:nvSpPr>
        <p:spPr>
          <a:xfrm>
            <a:off x="6126480" y="3575304"/>
            <a:ext cx="5239512" cy="969264"/>
          </a:xfrm>
          <a:prstGeom prst="roundRect">
            <a:avLst>
              <a:gd name="adj" fmla="val 8000"/>
            </a:avLst>
          </a:prstGeom>
          <a:solidFill>
            <a:srgbClr val="EEF3F7"/>
          </a:solidFill>
          <a:ln>
            <a:noFill/>
          </a:ln>
        </p:spPr>
        <p:txBody>
          <a:bodyPr rtlCol="0" anchor="ctr"/>
          <a:lstStyle/>
          <a:p>
            <a:endParaRPr/>
          </a:p>
        </p:txBody>
      </p:sp>
      <p:sp>
        <p:nvSpPr>
          <p:cNvPr id="15" name="Oval 14"/>
          <p:cNvSpPr/>
          <p:nvPr/>
        </p:nvSpPr>
        <p:spPr>
          <a:xfrm>
            <a:off x="6263640" y="3822191"/>
            <a:ext cx="457200" cy="457200"/>
          </a:xfrm>
          <a:prstGeom prst="ellipse">
            <a:avLst/>
          </a:prstGeom>
          <a:solidFill>
            <a:srgbClr val="1F394D"/>
          </a:solidFill>
          <a:ln>
            <a:noFill/>
          </a:ln>
        </p:spPr>
        <p:txBody>
          <a:bodyPr lIns="0" tIns="0" rIns="0" bIns="0" rtlCol="0" anchor="ctr"/>
          <a:lstStyle/>
          <a:p>
            <a:pPr algn="ctr"/>
            <a:r>
              <a:rPr sz="1600" b="1">
                <a:solidFill>
                  <a:srgbClr val="FFFFFF"/>
                </a:solidFill>
              </a:rPr>
              <a:t>3</a:t>
            </a:r>
          </a:p>
        </p:txBody>
      </p:sp>
      <p:sp>
        <p:nvSpPr>
          <p:cNvPr id="16" name="TextBox 15"/>
          <p:cNvSpPr txBox="1"/>
          <p:nvPr/>
        </p:nvSpPr>
        <p:spPr>
          <a:xfrm>
            <a:off x="6858000" y="3648456"/>
            <a:ext cx="4389120" cy="868680"/>
          </a:xfrm>
          <a:prstGeom prst="rect">
            <a:avLst/>
          </a:prstGeom>
          <a:noFill/>
        </p:spPr>
        <p:txBody>
          <a:bodyPr wrap="square" lIns="0" tIns="0" rIns="0" bIns="0" anchor="ctr">
            <a:spAutoFit/>
          </a:bodyPr>
          <a:lstStyle/>
          <a:p>
            <a:pPr algn="l"/>
            <a:r>
              <a:rPr sz="1600" b="0" i="0">
                <a:solidFill>
                  <a:srgbClr val="1F2A33"/>
                </a:solidFill>
              </a:rPr>
              <a:t>Do men and women differ in answering “it depends”?</a:t>
            </a:r>
          </a:p>
          <a:p>
            <a:pPr algn="l"/>
            <a:r>
              <a:rPr sz="1600" b="1" i="0">
                <a:solidFill>
                  <a:srgbClr val="2E6B45"/>
                </a:solidFill>
              </a:rPr>
              <a:t>Hardly: 12.8% vs 12.4%</a:t>
            </a:r>
          </a:p>
        </p:txBody>
      </p:sp>
      <p:sp>
        <p:nvSpPr>
          <p:cNvPr id="17" name="Q4"/>
          <p:cNvSpPr/>
          <p:nvPr/>
        </p:nvSpPr>
        <p:spPr>
          <a:xfrm>
            <a:off x="6126480" y="4654296"/>
            <a:ext cx="5239512" cy="969264"/>
          </a:xfrm>
          <a:prstGeom prst="roundRect">
            <a:avLst>
              <a:gd name="adj" fmla="val 8000"/>
            </a:avLst>
          </a:prstGeom>
          <a:solidFill>
            <a:srgbClr val="EEF3F7"/>
          </a:solidFill>
          <a:ln>
            <a:noFill/>
          </a:ln>
        </p:spPr>
        <p:txBody>
          <a:bodyPr rtlCol="0" anchor="ctr"/>
          <a:lstStyle/>
          <a:p>
            <a:endParaRPr/>
          </a:p>
        </p:txBody>
      </p:sp>
      <p:sp>
        <p:nvSpPr>
          <p:cNvPr id="18" name="Oval 17"/>
          <p:cNvSpPr/>
          <p:nvPr/>
        </p:nvSpPr>
        <p:spPr>
          <a:xfrm>
            <a:off x="6263640" y="4901183"/>
            <a:ext cx="457200" cy="457200"/>
          </a:xfrm>
          <a:prstGeom prst="ellipse">
            <a:avLst/>
          </a:prstGeom>
          <a:solidFill>
            <a:srgbClr val="1F394D"/>
          </a:solidFill>
          <a:ln>
            <a:noFill/>
          </a:ln>
        </p:spPr>
        <p:txBody>
          <a:bodyPr lIns="0" tIns="0" rIns="0" bIns="0" rtlCol="0" anchor="ctr"/>
          <a:lstStyle/>
          <a:p>
            <a:pPr algn="ctr"/>
            <a:r>
              <a:rPr sz="1600" b="1">
                <a:solidFill>
                  <a:srgbClr val="FFFFFF"/>
                </a:solidFill>
              </a:rPr>
              <a:t>4</a:t>
            </a:r>
          </a:p>
        </p:txBody>
      </p:sp>
      <p:sp>
        <p:nvSpPr>
          <p:cNvPr id="19" name="TextBox 18"/>
          <p:cNvSpPr txBox="1"/>
          <p:nvPr/>
        </p:nvSpPr>
        <p:spPr>
          <a:xfrm>
            <a:off x="6858000" y="4727448"/>
            <a:ext cx="4389120" cy="868680"/>
          </a:xfrm>
          <a:prstGeom prst="rect">
            <a:avLst/>
          </a:prstGeom>
          <a:noFill/>
        </p:spPr>
        <p:txBody>
          <a:bodyPr wrap="square" lIns="0" tIns="0" rIns="0" bIns="0" anchor="ctr">
            <a:spAutoFit/>
          </a:bodyPr>
          <a:lstStyle/>
          <a:p>
            <a:pPr algn="l"/>
            <a:r>
              <a:rPr sz="1600" b="0" i="0">
                <a:solidFill>
                  <a:srgbClr val="1F2A33"/>
                </a:solidFill>
              </a:rPr>
              <a:t>The BSA 2010 gap was 11 points. Why might this one differ?</a:t>
            </a:r>
          </a:p>
          <a:p>
            <a:pPr algn="l"/>
            <a:r>
              <a:rPr sz="1600" b="1" i="0">
                <a:solidFill>
                  <a:srgbClr val="2E6B45"/>
                </a:solidFill>
              </a:rPr>
              <a:t>Different answer options (“depends”), samples and coverage; and chance (Week 5)</a:t>
            </a:r>
          </a:p>
        </p:txBody>
      </p:sp>
      <p:sp>
        <p:nvSpPr>
          <p:cNvPr id="20" name="TextBox 19"/>
          <p:cNvSpPr txBox="1"/>
          <p:nvPr/>
        </p:nvSpPr>
        <p:spPr>
          <a:xfrm>
            <a:off x="758952" y="5997571"/>
            <a:ext cx="10607040" cy="184666"/>
          </a:xfrm>
          <a:prstGeom prst="rect">
            <a:avLst/>
          </a:prstGeom>
          <a:noFill/>
        </p:spPr>
        <p:txBody>
          <a:bodyPr wrap="square" lIns="0" tIns="0" rIns="0" bIns="0" anchor="ctr">
            <a:spAutoFit/>
          </a:bodyPr>
          <a:lstStyle/>
          <a:p>
            <a:pPr algn="l"/>
            <a:r>
              <a:rPr sz="1200" b="0" i="0" dirty="0">
                <a:solidFill>
                  <a:schemeClr val="bg1"/>
                </a:solidFill>
              </a:rPr>
              <a:t>Data: Citizenship Survey 2010-11, England and Wales (</a:t>
            </a:r>
            <a:r>
              <a:rPr sz="1200" b="0" i="0" dirty="0" err="1">
                <a:solidFill>
                  <a:schemeClr val="bg1"/>
                </a:solidFill>
              </a:rPr>
              <a:t>gb-cs10-trust.sav</a:t>
            </a:r>
            <a:r>
              <a:rPr sz="1200" b="0" i="0" dirty="0">
                <a:solidFill>
                  <a:schemeClr val="bg1"/>
                </a:solidFill>
              </a:rPr>
              <a:t>), n = 16,926.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 categorical and</a:t>
            </a:r>
          </a:p>
          <a:p>
            <a:r>
              <a:rPr sz="4000"/>
              <a:t>a scale variable</a:t>
            </a:r>
          </a:p>
        </p:txBody>
      </p:sp>
      <p:sp>
        <p:nvSpPr>
          <p:cNvPr id="3" name="Text Placeholder 2"/>
          <p:cNvSpPr>
            <a:spLocks noGrp="1"/>
          </p:cNvSpPr>
          <p:nvPr>
            <p:ph type="body" sz="half" idx="2"/>
          </p:nvPr>
        </p:nvSpPr>
        <p:spPr/>
        <p:txBody>
          <a:bodyPr/>
          <a:lstStyle/>
          <a:p>
            <a:r>
              <a:rPr sz="2400"/>
              <a:t>Comparing groups</a:t>
            </a:r>
          </a:p>
        </p:txBody>
      </p:sp>
      <p:sp>
        <p:nvSpPr>
          <p:cNvPr id="4"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17</a:t>
            </a:fld>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400" dirty="0"/>
              <a:t>Recall</a:t>
            </a:r>
            <a:r>
              <a:rPr sz="3400" dirty="0"/>
              <a:t>: mean, median and mode</a:t>
            </a:r>
          </a:p>
        </p:txBody>
      </p:sp>
      <p:sp>
        <p:nvSpPr>
          <p:cNvPr id="5" name="Footer Placeholder 4">
            <a:extLst>
              <a:ext uri="{FF2B5EF4-FFF2-40B4-BE49-F238E27FC236}">
                <a16:creationId xmlns:a16="http://schemas.microsoft.com/office/drawing/2014/main" id="{6772CAAB-9C32-D830-FF00-86600C487E94}"/>
              </a:ext>
            </a:extLst>
          </p:cNvPr>
          <p:cNvSpPr>
            <a:spLocks noGrp="1"/>
          </p:cNvSpPr>
          <p:nvPr>
            <p:ph type="ftr" sz="quarter" idx="11"/>
          </p:nvPr>
        </p:nvSpPr>
        <p:spPr/>
        <p:txBody>
          <a:bodyPr/>
          <a:lstStyle/>
          <a:p>
            <a:r>
              <a:rPr lang="en-GB"/>
              <a:t>Measurement and Description</a:t>
            </a:r>
          </a:p>
        </p:txBody>
      </p:sp>
      <p:sp>
        <p:nvSpPr>
          <p:cNvPr id="6" name="Slide Number Placeholder 5">
            <a:extLst>
              <a:ext uri="{FF2B5EF4-FFF2-40B4-BE49-F238E27FC236}">
                <a16:creationId xmlns:a16="http://schemas.microsoft.com/office/drawing/2014/main" id="{953B9D79-309D-D507-17FF-67827394EFDB}"/>
              </a:ext>
            </a:extLst>
          </p:cNvPr>
          <p:cNvSpPr>
            <a:spLocks noGrp="1"/>
          </p:cNvSpPr>
          <p:nvPr>
            <p:ph type="sldNum" sz="quarter" idx="12"/>
          </p:nvPr>
        </p:nvSpPr>
        <p:spPr/>
        <p:txBody>
          <a:bodyPr/>
          <a:lstStyle/>
          <a:p>
            <a:fld id="{9FAA51BB-2FC0-4DB8-B50E-F52D50E733B6}" type="slidenum">
              <a:rPr lang="en-GB" smtClean="0"/>
              <a:t>18</a:t>
            </a:fld>
            <a:endParaRPr lang="en-GB"/>
          </a:p>
        </p:txBody>
      </p:sp>
      <p:graphicFrame>
        <p:nvGraphicFramePr>
          <p:cNvPr id="7" name="ppltrst centre chart"/>
          <p:cNvGraphicFramePr>
            <a:graphicFrameLocks noGrp="1"/>
          </p:cNvGraphicFramePr>
          <p:nvPr/>
        </p:nvGraphicFramePr>
        <p:xfrm>
          <a:off x="758952" y="128016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8001000" y="1371600"/>
            <a:ext cx="3364992" cy="868680"/>
          </a:xfrm>
          <a:prstGeom prst="roundRect">
            <a:avLst>
              <a:gd name="adj" fmla="val 8000"/>
            </a:avLst>
          </a:prstGeom>
          <a:solidFill>
            <a:srgbClr val="EEF3F7"/>
          </a:solidFill>
          <a:ln>
            <a:noFill/>
          </a:ln>
        </p:spPr>
        <p:txBody>
          <a:bodyPr rtlCol="0" anchor="ctr"/>
          <a:lstStyle/>
          <a:p>
            <a:endParaRPr/>
          </a:p>
        </p:txBody>
      </p:sp>
      <p:sp>
        <p:nvSpPr>
          <p:cNvPr id="9" name="TextBox 8"/>
          <p:cNvSpPr txBox="1"/>
          <p:nvPr/>
        </p:nvSpPr>
        <p:spPr>
          <a:xfrm>
            <a:off x="8183879" y="1517904"/>
            <a:ext cx="2999232" cy="576071"/>
          </a:xfrm>
          <a:prstGeom prst="rect">
            <a:avLst/>
          </a:prstGeom>
          <a:noFill/>
        </p:spPr>
        <p:txBody>
          <a:bodyPr wrap="square" lIns="0" tIns="0" rIns="0" bIns="0" anchor="t">
            <a:spAutoFit/>
          </a:bodyPr>
          <a:lstStyle/>
          <a:p>
            <a:pPr algn="l">
              <a:spcAft>
                <a:spcPts val="400"/>
              </a:spcAft>
            </a:pPr>
            <a:r>
              <a:rPr sz="2400" b="1" i="0">
                <a:solidFill>
                  <a:srgbClr val="1F394D"/>
                </a:solidFill>
              </a:rPr>
              <a:t>Mean:  5.40</a:t>
            </a:r>
          </a:p>
        </p:txBody>
      </p:sp>
      <p:sp>
        <p:nvSpPr>
          <p:cNvPr id="10" name="Rounded Rectangle 9"/>
          <p:cNvSpPr/>
          <p:nvPr/>
        </p:nvSpPr>
        <p:spPr>
          <a:xfrm>
            <a:off x="8001000" y="2377440"/>
            <a:ext cx="3364992" cy="86868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8183879" y="2523744"/>
            <a:ext cx="2999232" cy="576071"/>
          </a:xfrm>
          <a:prstGeom prst="rect">
            <a:avLst/>
          </a:prstGeom>
          <a:noFill/>
        </p:spPr>
        <p:txBody>
          <a:bodyPr wrap="square" lIns="0" tIns="0" rIns="0" bIns="0" anchor="t">
            <a:spAutoFit/>
          </a:bodyPr>
          <a:lstStyle/>
          <a:p>
            <a:pPr algn="l">
              <a:spcAft>
                <a:spcPts val="400"/>
              </a:spcAft>
            </a:pPr>
            <a:r>
              <a:rPr sz="2400" b="1" i="0">
                <a:solidFill>
                  <a:srgbClr val="3F739B"/>
                </a:solidFill>
              </a:rPr>
              <a:t>Median:  6</a:t>
            </a:r>
          </a:p>
        </p:txBody>
      </p:sp>
      <p:sp>
        <p:nvSpPr>
          <p:cNvPr id="12" name="Rounded Rectangle 11"/>
          <p:cNvSpPr/>
          <p:nvPr/>
        </p:nvSpPr>
        <p:spPr>
          <a:xfrm>
            <a:off x="8001000" y="3383280"/>
            <a:ext cx="3364992" cy="868680"/>
          </a:xfrm>
          <a:prstGeom prst="roundRect">
            <a:avLst>
              <a:gd name="adj" fmla="val 8000"/>
            </a:avLst>
          </a:prstGeom>
          <a:solidFill>
            <a:srgbClr val="EEF3F7"/>
          </a:solidFill>
          <a:ln>
            <a:noFill/>
          </a:ln>
        </p:spPr>
        <p:txBody>
          <a:bodyPr rtlCol="0" anchor="ctr"/>
          <a:lstStyle/>
          <a:p>
            <a:endParaRPr/>
          </a:p>
        </p:txBody>
      </p:sp>
      <p:sp>
        <p:nvSpPr>
          <p:cNvPr id="13" name="TextBox 12"/>
          <p:cNvSpPr txBox="1"/>
          <p:nvPr/>
        </p:nvSpPr>
        <p:spPr>
          <a:xfrm>
            <a:off x="8183879" y="3529584"/>
            <a:ext cx="2999232" cy="576071"/>
          </a:xfrm>
          <a:prstGeom prst="rect">
            <a:avLst/>
          </a:prstGeom>
          <a:noFill/>
        </p:spPr>
        <p:txBody>
          <a:bodyPr wrap="square" lIns="0" tIns="0" rIns="0" bIns="0" anchor="t">
            <a:spAutoFit/>
          </a:bodyPr>
          <a:lstStyle/>
          <a:p>
            <a:pPr algn="l">
              <a:spcAft>
                <a:spcPts val="400"/>
              </a:spcAft>
            </a:pPr>
            <a:r>
              <a:rPr sz="2400" b="1" i="0">
                <a:solidFill>
                  <a:srgbClr val="7A5C00"/>
                </a:solidFill>
              </a:rPr>
              <a:t>Mode:  7</a:t>
            </a:r>
          </a:p>
        </p:txBody>
      </p:sp>
      <p:sp>
        <p:nvSpPr>
          <p:cNvPr id="14" name="Rounded Rectangle 13"/>
          <p:cNvSpPr/>
          <p:nvPr/>
        </p:nvSpPr>
        <p:spPr>
          <a:xfrm>
            <a:off x="8001000" y="4434840"/>
            <a:ext cx="3364992" cy="1371600"/>
          </a:xfrm>
          <a:prstGeom prst="roundRect">
            <a:avLst>
              <a:gd name="adj" fmla="val 8000"/>
            </a:avLst>
          </a:prstGeom>
          <a:solidFill>
            <a:srgbClr val="1F394D"/>
          </a:solidFill>
          <a:ln>
            <a:noFill/>
          </a:ln>
        </p:spPr>
        <p:txBody>
          <a:bodyPr rtlCol="0" anchor="ctr"/>
          <a:lstStyle/>
          <a:p>
            <a:endParaRPr/>
          </a:p>
        </p:txBody>
      </p:sp>
      <p:sp>
        <p:nvSpPr>
          <p:cNvPr id="15" name="TextBox 14"/>
          <p:cNvSpPr txBox="1"/>
          <p:nvPr/>
        </p:nvSpPr>
        <p:spPr>
          <a:xfrm>
            <a:off x="8202168" y="4595774"/>
            <a:ext cx="2962656" cy="1049731"/>
          </a:xfrm>
          <a:prstGeom prst="rect">
            <a:avLst/>
          </a:prstGeom>
          <a:noFill/>
        </p:spPr>
        <p:txBody>
          <a:bodyPr wrap="square" lIns="0" tIns="0" rIns="0" bIns="0" anchor="t">
            <a:spAutoFit/>
          </a:bodyPr>
          <a:lstStyle/>
          <a:p>
            <a:pPr algn="l">
              <a:spcAft>
                <a:spcPts val="400"/>
              </a:spcAft>
            </a:pPr>
            <a:r>
              <a:rPr sz="1800" b="1" i="0">
                <a:solidFill>
                  <a:srgbClr val="FFFFFF"/>
                </a:solidFill>
              </a:rPr>
              <a:t>Slight left skew</a:t>
            </a:r>
          </a:p>
          <a:p>
            <a:pPr algn="l">
              <a:spcAft>
                <a:spcPts val="400"/>
              </a:spcAft>
            </a:pPr>
            <a:r>
              <a:rPr sz="1500" b="0" i="0">
                <a:solidFill>
                  <a:srgbClr val="CCDDEA"/>
                </a:solidFill>
              </a:rPr>
              <a:t>A tail of low answers pulls the mean below the median.</a:t>
            </a:r>
          </a:p>
        </p:txBody>
      </p:sp>
      <p:sp>
        <p:nvSpPr>
          <p:cNvPr id="16" name="TextBox 15"/>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European Social Survey Round 11 (2023-24), UK sample, valid n = 1,680 (gb-ess11-trust.sav).</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400" dirty="0"/>
              <a:t>Recall: range and standard deviation</a:t>
            </a:r>
            <a:endParaRPr sz="3400" dirty="0"/>
          </a:p>
        </p:txBody>
      </p:sp>
      <p:sp>
        <p:nvSpPr>
          <p:cNvPr id="5" name="Footer Placeholder 4">
            <a:extLst>
              <a:ext uri="{FF2B5EF4-FFF2-40B4-BE49-F238E27FC236}">
                <a16:creationId xmlns:a16="http://schemas.microsoft.com/office/drawing/2014/main" id="{6772CAAB-9C32-D830-FF00-86600C487E94}"/>
              </a:ext>
            </a:extLst>
          </p:cNvPr>
          <p:cNvSpPr>
            <a:spLocks noGrp="1"/>
          </p:cNvSpPr>
          <p:nvPr>
            <p:ph type="ftr" sz="quarter" idx="11"/>
          </p:nvPr>
        </p:nvSpPr>
        <p:spPr/>
        <p:txBody>
          <a:bodyPr/>
          <a:lstStyle/>
          <a:p>
            <a:r>
              <a:rPr lang="en-GB"/>
              <a:t>Measurement and Description</a:t>
            </a:r>
          </a:p>
        </p:txBody>
      </p:sp>
      <p:sp>
        <p:nvSpPr>
          <p:cNvPr id="6" name="Slide Number Placeholder 5">
            <a:extLst>
              <a:ext uri="{FF2B5EF4-FFF2-40B4-BE49-F238E27FC236}">
                <a16:creationId xmlns:a16="http://schemas.microsoft.com/office/drawing/2014/main" id="{953B9D79-309D-D507-17FF-67827394EFDB}"/>
              </a:ext>
            </a:extLst>
          </p:cNvPr>
          <p:cNvSpPr>
            <a:spLocks noGrp="1"/>
          </p:cNvSpPr>
          <p:nvPr>
            <p:ph type="sldNum" sz="quarter" idx="12"/>
          </p:nvPr>
        </p:nvSpPr>
        <p:spPr/>
        <p:txBody>
          <a:bodyPr/>
          <a:lstStyle/>
          <a:p>
            <a:fld id="{9FAA51BB-2FC0-4DB8-B50E-F52D50E733B6}" type="slidenum">
              <a:rPr lang="en-GB" smtClean="0"/>
              <a:t>19</a:t>
            </a:fld>
            <a:endParaRPr lang="en-GB"/>
          </a:p>
        </p:txBody>
      </p:sp>
      <p:graphicFrame>
        <p:nvGraphicFramePr>
          <p:cNvPr id="7" name="ESS age histogram"/>
          <p:cNvGraphicFramePr>
            <a:graphicFrameLocks noGrp="1"/>
          </p:cNvGraphicFramePr>
          <p:nvPr/>
        </p:nvGraphicFramePr>
        <p:xfrm>
          <a:off x="758952" y="1280160"/>
          <a:ext cx="7498079"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8549640" y="1371600"/>
            <a:ext cx="2816352" cy="960120"/>
          </a:xfrm>
          <a:prstGeom prst="roundRect">
            <a:avLst>
              <a:gd name="adj" fmla="val 8000"/>
            </a:avLst>
          </a:prstGeom>
          <a:solidFill>
            <a:srgbClr val="EEF3F7"/>
          </a:solidFill>
          <a:ln>
            <a:noFill/>
          </a:ln>
        </p:spPr>
        <p:txBody>
          <a:bodyPr rtlCol="0" anchor="ctr"/>
          <a:lstStyle/>
          <a:p>
            <a:endParaRPr/>
          </a:p>
        </p:txBody>
      </p:sp>
      <p:sp>
        <p:nvSpPr>
          <p:cNvPr id="9" name="TextBox 8"/>
          <p:cNvSpPr txBox="1"/>
          <p:nvPr/>
        </p:nvSpPr>
        <p:spPr>
          <a:xfrm>
            <a:off x="8714232" y="1503273"/>
            <a:ext cx="2487168" cy="696772"/>
          </a:xfrm>
          <a:prstGeom prst="rect">
            <a:avLst/>
          </a:prstGeom>
          <a:noFill/>
        </p:spPr>
        <p:txBody>
          <a:bodyPr wrap="square" lIns="0" tIns="0" rIns="0" bIns="0" anchor="t">
            <a:spAutoFit/>
          </a:bodyPr>
          <a:lstStyle/>
          <a:p>
            <a:pPr algn="l">
              <a:spcAft>
                <a:spcPts val="400"/>
              </a:spcAft>
            </a:pPr>
            <a:r>
              <a:rPr sz="2400" b="1" i="0">
                <a:solidFill>
                  <a:srgbClr val="1F394D"/>
                </a:solidFill>
              </a:rPr>
              <a:t>53.6</a:t>
            </a:r>
          </a:p>
          <a:p>
            <a:pPr algn="l">
              <a:spcAft>
                <a:spcPts val="400"/>
              </a:spcAft>
            </a:pPr>
            <a:r>
              <a:rPr sz="1400" b="0" i="0">
                <a:solidFill>
                  <a:srgbClr val="1F2A33"/>
                </a:solidFill>
              </a:rPr>
              <a:t>Mean age</a:t>
            </a:r>
          </a:p>
        </p:txBody>
      </p:sp>
      <p:sp>
        <p:nvSpPr>
          <p:cNvPr id="10" name="Rounded Rectangle 9"/>
          <p:cNvSpPr/>
          <p:nvPr/>
        </p:nvSpPr>
        <p:spPr>
          <a:xfrm>
            <a:off x="8549640" y="2468880"/>
            <a:ext cx="2816352" cy="96012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8714232" y="2600553"/>
            <a:ext cx="2487168" cy="696772"/>
          </a:xfrm>
          <a:prstGeom prst="rect">
            <a:avLst/>
          </a:prstGeom>
          <a:noFill/>
        </p:spPr>
        <p:txBody>
          <a:bodyPr wrap="square" lIns="0" tIns="0" rIns="0" bIns="0" anchor="t">
            <a:spAutoFit/>
          </a:bodyPr>
          <a:lstStyle/>
          <a:p>
            <a:pPr algn="l">
              <a:spcAft>
                <a:spcPts val="400"/>
              </a:spcAft>
            </a:pPr>
            <a:r>
              <a:rPr sz="2400" b="1" i="0">
                <a:solidFill>
                  <a:srgbClr val="1F394D"/>
                </a:solidFill>
              </a:rPr>
              <a:t>54</a:t>
            </a:r>
          </a:p>
          <a:p>
            <a:pPr algn="l">
              <a:spcAft>
                <a:spcPts val="400"/>
              </a:spcAft>
            </a:pPr>
            <a:r>
              <a:rPr sz="1400" b="0" i="0">
                <a:solidFill>
                  <a:srgbClr val="1F2A33"/>
                </a:solidFill>
              </a:rPr>
              <a:t>Median age</a:t>
            </a:r>
          </a:p>
        </p:txBody>
      </p:sp>
      <p:sp>
        <p:nvSpPr>
          <p:cNvPr id="12" name="Rounded Rectangle 11"/>
          <p:cNvSpPr/>
          <p:nvPr/>
        </p:nvSpPr>
        <p:spPr>
          <a:xfrm>
            <a:off x="8549640" y="3566160"/>
            <a:ext cx="2816352" cy="960120"/>
          </a:xfrm>
          <a:prstGeom prst="roundRect">
            <a:avLst>
              <a:gd name="adj" fmla="val 8000"/>
            </a:avLst>
          </a:prstGeom>
          <a:solidFill>
            <a:srgbClr val="EEF3F7"/>
          </a:solidFill>
          <a:ln>
            <a:noFill/>
          </a:ln>
        </p:spPr>
        <p:txBody>
          <a:bodyPr rtlCol="0" anchor="ctr"/>
          <a:lstStyle/>
          <a:p>
            <a:endParaRPr/>
          </a:p>
        </p:txBody>
      </p:sp>
      <p:sp>
        <p:nvSpPr>
          <p:cNvPr id="13" name="TextBox 12"/>
          <p:cNvSpPr txBox="1"/>
          <p:nvPr/>
        </p:nvSpPr>
        <p:spPr>
          <a:xfrm>
            <a:off x="8714232" y="3697833"/>
            <a:ext cx="2487168" cy="696772"/>
          </a:xfrm>
          <a:prstGeom prst="rect">
            <a:avLst/>
          </a:prstGeom>
          <a:noFill/>
        </p:spPr>
        <p:txBody>
          <a:bodyPr wrap="square" lIns="0" tIns="0" rIns="0" bIns="0" anchor="t">
            <a:spAutoFit/>
          </a:bodyPr>
          <a:lstStyle/>
          <a:p>
            <a:pPr algn="l">
              <a:spcAft>
                <a:spcPts val="400"/>
              </a:spcAft>
            </a:pPr>
            <a:r>
              <a:rPr sz="2400" b="1" i="0">
                <a:solidFill>
                  <a:srgbClr val="1F394D"/>
                </a:solidFill>
              </a:rPr>
              <a:t>19.0</a:t>
            </a:r>
          </a:p>
          <a:p>
            <a:pPr algn="l">
              <a:spcAft>
                <a:spcPts val="400"/>
              </a:spcAft>
            </a:pPr>
            <a:r>
              <a:rPr sz="1400" b="0" i="0">
                <a:solidFill>
                  <a:srgbClr val="1F2A33"/>
                </a:solidFill>
              </a:rPr>
              <a:t>Standard deviation</a:t>
            </a:r>
          </a:p>
        </p:txBody>
      </p:sp>
      <p:sp>
        <p:nvSpPr>
          <p:cNvPr id="14" name="Rounded Rectangle 13"/>
          <p:cNvSpPr/>
          <p:nvPr/>
        </p:nvSpPr>
        <p:spPr>
          <a:xfrm>
            <a:off x="8549640" y="4663440"/>
            <a:ext cx="2816352" cy="960120"/>
          </a:xfrm>
          <a:prstGeom prst="roundRect">
            <a:avLst>
              <a:gd name="adj" fmla="val 8000"/>
            </a:avLst>
          </a:prstGeom>
          <a:solidFill>
            <a:srgbClr val="EEF3F7"/>
          </a:solidFill>
          <a:ln>
            <a:noFill/>
          </a:ln>
        </p:spPr>
        <p:txBody>
          <a:bodyPr rtlCol="0" anchor="ctr"/>
          <a:lstStyle/>
          <a:p>
            <a:endParaRPr/>
          </a:p>
        </p:txBody>
      </p:sp>
      <p:sp>
        <p:nvSpPr>
          <p:cNvPr id="15" name="TextBox 14"/>
          <p:cNvSpPr txBox="1"/>
          <p:nvPr/>
        </p:nvSpPr>
        <p:spPr>
          <a:xfrm>
            <a:off x="8714232" y="4795113"/>
            <a:ext cx="2487168" cy="696772"/>
          </a:xfrm>
          <a:prstGeom prst="rect">
            <a:avLst/>
          </a:prstGeom>
          <a:noFill/>
        </p:spPr>
        <p:txBody>
          <a:bodyPr wrap="square" lIns="0" tIns="0" rIns="0" bIns="0" anchor="t">
            <a:spAutoFit/>
          </a:bodyPr>
          <a:lstStyle/>
          <a:p>
            <a:pPr algn="l">
              <a:spcAft>
                <a:spcPts val="400"/>
              </a:spcAft>
            </a:pPr>
            <a:r>
              <a:rPr sz="2400" b="1" i="0">
                <a:solidFill>
                  <a:srgbClr val="1F394D"/>
                </a:solidFill>
              </a:rPr>
              <a:t>15 to 90</a:t>
            </a:r>
          </a:p>
          <a:p>
            <a:pPr algn="l">
              <a:spcAft>
                <a:spcPts val="400"/>
              </a:spcAft>
            </a:pPr>
            <a:r>
              <a:rPr sz="1400" b="0" i="0">
                <a:solidFill>
                  <a:srgbClr val="1F2A33"/>
                </a:solidFill>
              </a:rPr>
              <a:t>Range</a:t>
            </a:r>
          </a:p>
        </p:txBody>
      </p:sp>
      <p:sp>
        <p:nvSpPr>
          <p:cNvPr id="16" name="TextBox 15"/>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European Social Survey Round 11 (2023-24), UK sample, n = 1,647 with a valid age (agea).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400" dirty="0"/>
              <a:t>Recall: s</a:t>
            </a:r>
            <a:r>
              <a:rPr sz="3400" dirty="0" err="1"/>
              <a:t>ame</a:t>
            </a:r>
            <a:r>
              <a:rPr sz="3400" dirty="0"/>
              <a:t> average, very different societies</a:t>
            </a:r>
          </a:p>
        </p:txBody>
      </p:sp>
      <p:sp>
        <p:nvSpPr>
          <p:cNvPr id="5" name="Footer Placeholder 4">
            <a:extLst>
              <a:ext uri="{FF2B5EF4-FFF2-40B4-BE49-F238E27FC236}">
                <a16:creationId xmlns:a16="http://schemas.microsoft.com/office/drawing/2014/main" id="{6772CAAB-9C32-D830-FF00-86600C487E94}"/>
              </a:ext>
            </a:extLst>
          </p:cNvPr>
          <p:cNvSpPr>
            <a:spLocks noGrp="1"/>
          </p:cNvSpPr>
          <p:nvPr>
            <p:ph type="ftr" sz="quarter" idx="11"/>
          </p:nvPr>
        </p:nvSpPr>
        <p:spPr/>
        <p:txBody>
          <a:bodyPr/>
          <a:lstStyle/>
          <a:p>
            <a:r>
              <a:rPr lang="en-GB"/>
              <a:t>Measurement and Description</a:t>
            </a:r>
          </a:p>
        </p:txBody>
      </p:sp>
      <p:sp>
        <p:nvSpPr>
          <p:cNvPr id="6" name="Slide Number Placeholder 5">
            <a:extLst>
              <a:ext uri="{FF2B5EF4-FFF2-40B4-BE49-F238E27FC236}">
                <a16:creationId xmlns:a16="http://schemas.microsoft.com/office/drawing/2014/main" id="{953B9D79-309D-D507-17FF-67827394EFDB}"/>
              </a:ext>
            </a:extLst>
          </p:cNvPr>
          <p:cNvSpPr>
            <a:spLocks noGrp="1"/>
          </p:cNvSpPr>
          <p:nvPr>
            <p:ph type="sldNum" sz="quarter" idx="12"/>
          </p:nvPr>
        </p:nvSpPr>
        <p:spPr/>
        <p:txBody>
          <a:bodyPr/>
          <a:lstStyle/>
          <a:p>
            <a:fld id="{9FAA51BB-2FC0-4DB8-B50E-F52D50E733B6}" type="slidenum">
              <a:rPr lang="en-GB" smtClean="0"/>
              <a:t>20</a:t>
            </a:fld>
            <a:endParaRPr lang="en-GB"/>
          </a:p>
        </p:txBody>
      </p:sp>
      <p:graphicFrame>
        <p:nvGraphicFramePr>
          <p:cNvPr id="7" name="Two towns chart"/>
          <p:cNvGraphicFramePr>
            <a:graphicFrameLocks noGrp="1"/>
          </p:cNvGraphicFramePr>
          <p:nvPr/>
        </p:nvGraphicFramePr>
        <p:xfrm>
          <a:off x="758952" y="1325880"/>
          <a:ext cx="676656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7772400" y="1371600"/>
            <a:ext cx="3593592" cy="1325880"/>
          </a:xfrm>
          <a:prstGeom prst="roundRect">
            <a:avLst>
              <a:gd name="adj" fmla="val 8000"/>
            </a:avLst>
          </a:prstGeom>
          <a:solidFill>
            <a:srgbClr val="EEF3F7"/>
          </a:solidFill>
          <a:ln>
            <a:noFill/>
          </a:ln>
        </p:spPr>
        <p:txBody>
          <a:bodyPr rtlCol="0" anchor="ctr"/>
          <a:lstStyle/>
          <a:p>
            <a:endParaRPr/>
          </a:p>
        </p:txBody>
      </p:sp>
      <p:sp>
        <p:nvSpPr>
          <p:cNvPr id="9" name="TextBox 8"/>
          <p:cNvSpPr txBox="1"/>
          <p:nvPr/>
        </p:nvSpPr>
        <p:spPr>
          <a:xfrm>
            <a:off x="7973568" y="1532534"/>
            <a:ext cx="3191256" cy="1004011"/>
          </a:xfrm>
          <a:prstGeom prst="rect">
            <a:avLst/>
          </a:prstGeom>
          <a:noFill/>
        </p:spPr>
        <p:txBody>
          <a:bodyPr wrap="square" lIns="0" tIns="0" rIns="0" bIns="0" anchor="t">
            <a:spAutoFit/>
          </a:bodyPr>
          <a:lstStyle/>
          <a:p>
            <a:pPr algn="l">
              <a:spcAft>
                <a:spcPts val="400"/>
              </a:spcAft>
            </a:pPr>
            <a:r>
              <a:rPr sz="1900" b="1" i="0">
                <a:solidFill>
                  <a:srgbClr val="1F394D"/>
                </a:solidFill>
              </a:rPr>
              <a:t>Range</a:t>
            </a:r>
          </a:p>
          <a:p>
            <a:pPr algn="l">
              <a:spcAft>
                <a:spcPts val="400"/>
              </a:spcAft>
            </a:pPr>
            <a:r>
              <a:rPr sz="1600" b="0" i="0">
                <a:solidFill>
                  <a:srgbClr val="1F2A33"/>
                </a:solidFill>
              </a:rPr>
              <a:t>Highest minus lowest. Set by just two cases.</a:t>
            </a:r>
          </a:p>
        </p:txBody>
      </p:sp>
      <p:sp>
        <p:nvSpPr>
          <p:cNvPr id="10" name="Rounded Rectangle 9"/>
          <p:cNvSpPr/>
          <p:nvPr/>
        </p:nvSpPr>
        <p:spPr>
          <a:xfrm>
            <a:off x="7772400" y="2852928"/>
            <a:ext cx="3593592" cy="132588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7973568" y="3013862"/>
            <a:ext cx="3191256" cy="1004011"/>
          </a:xfrm>
          <a:prstGeom prst="rect">
            <a:avLst/>
          </a:prstGeom>
          <a:noFill/>
        </p:spPr>
        <p:txBody>
          <a:bodyPr wrap="square" lIns="0" tIns="0" rIns="0" bIns="0" anchor="t">
            <a:spAutoFit/>
          </a:bodyPr>
          <a:lstStyle/>
          <a:p>
            <a:pPr algn="l">
              <a:spcAft>
                <a:spcPts val="400"/>
              </a:spcAft>
            </a:pPr>
            <a:r>
              <a:rPr sz="1900" b="1" i="0">
                <a:solidFill>
                  <a:srgbClr val="1F394D"/>
                </a:solidFill>
              </a:rPr>
              <a:t>Interquartile range</a:t>
            </a:r>
          </a:p>
          <a:p>
            <a:pPr algn="l">
              <a:spcAft>
                <a:spcPts val="400"/>
              </a:spcAft>
            </a:pPr>
            <a:r>
              <a:rPr sz="1600" b="0" i="0">
                <a:solidFill>
                  <a:srgbClr val="1F2A33"/>
                </a:solidFill>
              </a:rPr>
              <a:t>Spread of the middle 50%. Ignores the extremes.</a:t>
            </a:r>
          </a:p>
        </p:txBody>
      </p:sp>
      <p:sp>
        <p:nvSpPr>
          <p:cNvPr id="12" name="Rounded Rectangle 11"/>
          <p:cNvSpPr/>
          <p:nvPr/>
        </p:nvSpPr>
        <p:spPr>
          <a:xfrm>
            <a:off x="7772400" y="4334256"/>
            <a:ext cx="3593592" cy="1325880"/>
          </a:xfrm>
          <a:prstGeom prst="roundRect">
            <a:avLst>
              <a:gd name="adj" fmla="val 8000"/>
            </a:avLst>
          </a:prstGeom>
          <a:solidFill>
            <a:srgbClr val="EEF3F7"/>
          </a:solidFill>
          <a:ln>
            <a:noFill/>
          </a:ln>
        </p:spPr>
        <p:txBody>
          <a:bodyPr rtlCol="0" anchor="ctr"/>
          <a:lstStyle/>
          <a:p>
            <a:endParaRPr/>
          </a:p>
        </p:txBody>
      </p:sp>
      <p:sp>
        <p:nvSpPr>
          <p:cNvPr id="13" name="TextBox 12"/>
          <p:cNvSpPr txBox="1"/>
          <p:nvPr/>
        </p:nvSpPr>
        <p:spPr>
          <a:xfrm>
            <a:off x="7973568" y="4495190"/>
            <a:ext cx="3191256" cy="1004011"/>
          </a:xfrm>
          <a:prstGeom prst="rect">
            <a:avLst/>
          </a:prstGeom>
          <a:noFill/>
        </p:spPr>
        <p:txBody>
          <a:bodyPr wrap="square" lIns="0" tIns="0" rIns="0" bIns="0" anchor="t">
            <a:spAutoFit/>
          </a:bodyPr>
          <a:lstStyle/>
          <a:p>
            <a:pPr algn="l">
              <a:spcAft>
                <a:spcPts val="400"/>
              </a:spcAft>
            </a:pPr>
            <a:r>
              <a:rPr sz="1900" b="1" i="0">
                <a:solidFill>
                  <a:srgbClr val="1F394D"/>
                </a:solidFill>
              </a:rPr>
              <a:t>Standard deviation</a:t>
            </a:r>
          </a:p>
          <a:p>
            <a:pPr algn="l">
              <a:spcAft>
                <a:spcPts val="400"/>
              </a:spcAft>
            </a:pPr>
            <a:r>
              <a:rPr sz="1600" b="0" i="0">
                <a:solidFill>
                  <a:srgbClr val="1F2A33"/>
                </a:solidFill>
              </a:rPr>
              <a:t>Typical distance from the mean.</a:t>
            </a:r>
          </a:p>
        </p:txBody>
      </p:sp>
      <p:sp>
        <p:nvSpPr>
          <p:cNvPr id="14" name="Rounded Rectangle 13"/>
          <p:cNvSpPr/>
          <p:nvPr/>
        </p:nvSpPr>
        <p:spPr>
          <a:xfrm>
            <a:off x="758952" y="5943600"/>
            <a:ext cx="2514600" cy="292608"/>
          </a:xfrm>
          <a:prstGeom prst="roundRect">
            <a:avLst>
              <a:gd name="adj" fmla="val 50000"/>
            </a:avLst>
          </a:prstGeom>
          <a:solidFill>
            <a:srgbClr val="FFFFFF"/>
          </a:solidFill>
          <a:ln w="15875">
            <a:solidFill>
              <a:srgbClr val="B88C00"/>
            </a:solidFill>
          </a:ln>
        </p:spPr>
        <p:txBody>
          <a:bodyPr rtlCol="0" anchor="ctr"/>
          <a:lstStyle/>
          <a:p>
            <a:endParaRPr/>
          </a:p>
        </p:txBody>
      </p:sp>
      <p:sp>
        <p:nvSpPr>
          <p:cNvPr id="15" name="TextBox 14"/>
          <p:cNvSpPr txBox="1"/>
          <p:nvPr/>
        </p:nvSpPr>
        <p:spPr>
          <a:xfrm>
            <a:off x="758952" y="5943600"/>
            <a:ext cx="2514600" cy="292608"/>
          </a:xfrm>
          <a:prstGeom prst="rect">
            <a:avLst/>
          </a:prstGeom>
          <a:noFill/>
        </p:spPr>
        <p:txBody>
          <a:bodyPr wrap="square" lIns="0" tIns="0" rIns="0" bIns="0" anchor="ctr">
            <a:spAutoFit/>
          </a:bodyPr>
          <a:lstStyle/>
          <a:p>
            <a:pPr algn="ctr"/>
            <a:r>
              <a:rPr sz="1200" b="1" i="0">
                <a:solidFill>
                  <a:srgbClr val="7A5C00"/>
                </a:solidFill>
              </a:rPr>
              <a:t>SYNTHETIC EXAMPLE DATA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The standard deviation, step by step</a:t>
            </a:r>
          </a:p>
        </p:txBody>
      </p:sp>
      <p:sp>
        <p:nvSpPr>
          <p:cNvPr id="5" name="Footer Placeholder 4">
            <a:extLst>
              <a:ext uri="{FF2B5EF4-FFF2-40B4-BE49-F238E27FC236}">
                <a16:creationId xmlns:a16="http://schemas.microsoft.com/office/drawing/2014/main" id="{6772CAAB-9C32-D830-FF00-86600C487E94}"/>
              </a:ext>
            </a:extLst>
          </p:cNvPr>
          <p:cNvSpPr>
            <a:spLocks noGrp="1"/>
          </p:cNvSpPr>
          <p:nvPr>
            <p:ph type="ftr" sz="quarter" idx="11"/>
          </p:nvPr>
        </p:nvSpPr>
        <p:spPr/>
        <p:txBody>
          <a:bodyPr/>
          <a:lstStyle/>
          <a:p>
            <a:r>
              <a:rPr lang="en-GB"/>
              <a:t>Measurement and Description</a:t>
            </a:r>
          </a:p>
        </p:txBody>
      </p:sp>
      <p:sp>
        <p:nvSpPr>
          <p:cNvPr id="6" name="Slide Number Placeholder 5">
            <a:extLst>
              <a:ext uri="{FF2B5EF4-FFF2-40B4-BE49-F238E27FC236}">
                <a16:creationId xmlns:a16="http://schemas.microsoft.com/office/drawing/2014/main" id="{953B9D79-309D-D507-17FF-67827394EFDB}"/>
              </a:ext>
            </a:extLst>
          </p:cNvPr>
          <p:cNvSpPr>
            <a:spLocks noGrp="1"/>
          </p:cNvSpPr>
          <p:nvPr>
            <p:ph type="sldNum" sz="quarter" idx="12"/>
          </p:nvPr>
        </p:nvSpPr>
        <p:spPr/>
        <p:txBody>
          <a:bodyPr/>
          <a:lstStyle/>
          <a:p>
            <a:fld id="{9FAA51BB-2FC0-4DB8-B50E-F52D50E733B6}" type="slidenum">
              <a:rPr lang="en-GB" smtClean="0"/>
              <a:t>21</a:t>
            </a:fld>
            <a:endParaRPr lang="en-GB"/>
          </a:p>
        </p:txBody>
      </p:sp>
      <p:graphicFrame>
        <p:nvGraphicFramePr>
          <p:cNvPr id="7" name="Table 6"/>
          <p:cNvGraphicFramePr>
            <a:graphicFrameLocks noGrp="1"/>
          </p:cNvGraphicFramePr>
          <p:nvPr/>
        </p:nvGraphicFramePr>
        <p:xfrm>
          <a:off x="758952" y="1371600"/>
          <a:ext cx="5486400" cy="3840480"/>
        </p:xfrm>
        <a:graphic>
          <a:graphicData uri="http://schemas.openxmlformats.org/drawingml/2006/table">
            <a:tbl>
              <a:tblPr firstRow="1">
                <a:tableStyleId>{5C22544A-7EE6-4342-B048-85BDC9FD1C3A}</a:tableStyleId>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48640">
                <a:tc>
                  <a:txBody>
                    <a:bodyPr/>
                    <a:lstStyle/>
                    <a:p>
                      <a:pPr algn="l"/>
                      <a:r>
                        <a:rPr sz="1700" b="1">
                          <a:solidFill>
                            <a:srgbClr val="FFFFFF"/>
                          </a:solidFill>
                        </a:rPr>
                        <a:t>Person</a:t>
                      </a:r>
                    </a:p>
                  </a:txBody>
                  <a:tcPr marT="27432" marB="27432" anchor="ctr">
                    <a:solidFill>
                      <a:srgbClr val="1F394D"/>
                    </a:solidFill>
                  </a:tcPr>
                </a:tc>
                <a:tc>
                  <a:txBody>
                    <a:bodyPr/>
                    <a:lstStyle/>
                    <a:p>
                      <a:pPr algn="r"/>
                      <a:r>
                        <a:rPr sz="1700" b="1">
                          <a:solidFill>
                            <a:srgbClr val="FFFFFF"/>
                          </a:solidFill>
                        </a:rPr>
                        <a:t>Trust (x)</a:t>
                      </a:r>
                    </a:p>
                  </a:txBody>
                  <a:tcPr marT="27432" marB="27432" anchor="ctr">
                    <a:solidFill>
                      <a:srgbClr val="1F394D"/>
                    </a:solidFill>
                  </a:tcPr>
                </a:tc>
                <a:tc>
                  <a:txBody>
                    <a:bodyPr/>
                    <a:lstStyle/>
                    <a:p>
                      <a:pPr algn="r"/>
                      <a:r>
                        <a:rPr sz="1700" b="1">
                          <a:solidFill>
                            <a:srgbClr val="FFFFFF"/>
                          </a:solidFill>
                        </a:rPr>
                        <a:t>x − mean</a:t>
                      </a:r>
                    </a:p>
                  </a:txBody>
                  <a:tcPr marT="27432" marB="27432" anchor="ctr">
                    <a:solidFill>
                      <a:srgbClr val="1F394D"/>
                    </a:solidFill>
                  </a:tcPr>
                </a:tc>
                <a:tc>
                  <a:txBody>
                    <a:bodyPr/>
                    <a:lstStyle/>
                    <a:p>
                      <a:pPr algn="r"/>
                      <a:r>
                        <a:rPr sz="1700" b="1">
                          <a:solidFill>
                            <a:srgbClr val="FFFFFF"/>
                          </a:solidFill>
                        </a:rPr>
                        <a:t>(x − mean)²</a:t>
                      </a:r>
                    </a:p>
                  </a:txBody>
                  <a:tcPr marT="27432" marB="27432" anchor="ctr">
                    <a:solidFill>
                      <a:srgbClr val="1F394D"/>
                    </a:solidFill>
                  </a:tcPr>
                </a:tc>
                <a:extLst>
                  <a:ext uri="{0D108BD9-81ED-4DB2-BD59-A6C34878D82A}">
                    <a16:rowId xmlns:a16="http://schemas.microsoft.com/office/drawing/2014/main" val="10000"/>
                  </a:ext>
                </a:extLst>
              </a:tr>
              <a:tr h="548640">
                <a:tc>
                  <a:txBody>
                    <a:bodyPr/>
                    <a:lstStyle/>
                    <a:p>
                      <a:pPr algn="l"/>
                      <a:r>
                        <a:rPr sz="1700" b="1">
                          <a:solidFill>
                            <a:srgbClr val="1F2A33"/>
                          </a:solidFill>
                        </a:rPr>
                        <a:t>A</a:t>
                      </a:r>
                    </a:p>
                  </a:txBody>
                  <a:tcPr marT="27432" marB="27432" anchor="ctr">
                    <a:solidFill>
                      <a:srgbClr val="FFFFFF"/>
                    </a:solidFill>
                  </a:tcPr>
                </a:tc>
                <a:tc>
                  <a:txBody>
                    <a:bodyPr/>
                    <a:lstStyle/>
                    <a:p>
                      <a:pPr algn="r"/>
                      <a:r>
                        <a:rPr sz="1700" b="0">
                          <a:solidFill>
                            <a:srgbClr val="1F2A33"/>
                          </a:solidFill>
                        </a:rPr>
                        <a:t>2</a:t>
                      </a:r>
                    </a:p>
                  </a:txBody>
                  <a:tcPr marT="27432" marB="27432" anchor="ctr">
                    <a:solidFill>
                      <a:srgbClr val="FFFFFF"/>
                    </a:solidFill>
                  </a:tcPr>
                </a:tc>
                <a:tc>
                  <a:txBody>
                    <a:bodyPr/>
                    <a:lstStyle/>
                    <a:p>
                      <a:pPr algn="r"/>
                      <a:r>
                        <a:rPr sz="1700" b="0">
                          <a:solidFill>
                            <a:srgbClr val="1F2A33"/>
                          </a:solidFill>
                        </a:rPr>
                        <a:t>−3</a:t>
                      </a:r>
                    </a:p>
                  </a:txBody>
                  <a:tcPr marT="27432" marB="27432" anchor="ctr">
                    <a:solidFill>
                      <a:srgbClr val="FFFFFF"/>
                    </a:solidFill>
                  </a:tcPr>
                </a:tc>
                <a:tc>
                  <a:txBody>
                    <a:bodyPr/>
                    <a:lstStyle/>
                    <a:p>
                      <a:pPr algn="r"/>
                      <a:r>
                        <a:rPr sz="1700" b="0">
                          <a:solidFill>
                            <a:srgbClr val="1F2A33"/>
                          </a:solidFill>
                        </a:rPr>
                        <a:t>9</a:t>
                      </a:r>
                    </a:p>
                  </a:txBody>
                  <a:tcPr marT="27432" marB="27432" anchor="ctr">
                    <a:solidFill>
                      <a:srgbClr val="FFFFFF"/>
                    </a:solidFill>
                  </a:tcPr>
                </a:tc>
                <a:extLst>
                  <a:ext uri="{0D108BD9-81ED-4DB2-BD59-A6C34878D82A}">
                    <a16:rowId xmlns:a16="http://schemas.microsoft.com/office/drawing/2014/main" val="10001"/>
                  </a:ext>
                </a:extLst>
              </a:tr>
              <a:tr h="548640">
                <a:tc>
                  <a:txBody>
                    <a:bodyPr/>
                    <a:lstStyle/>
                    <a:p>
                      <a:pPr algn="l"/>
                      <a:r>
                        <a:rPr sz="1700" b="1">
                          <a:solidFill>
                            <a:srgbClr val="1F2A33"/>
                          </a:solidFill>
                        </a:rPr>
                        <a:t>B</a:t>
                      </a:r>
                    </a:p>
                  </a:txBody>
                  <a:tcPr marT="27432" marB="27432" anchor="ctr">
                    <a:solidFill>
                      <a:srgbClr val="EEF3F7"/>
                    </a:solidFill>
                  </a:tcPr>
                </a:tc>
                <a:tc>
                  <a:txBody>
                    <a:bodyPr/>
                    <a:lstStyle/>
                    <a:p>
                      <a:pPr algn="r"/>
                      <a:r>
                        <a:rPr sz="1700" b="0">
                          <a:solidFill>
                            <a:srgbClr val="1F2A33"/>
                          </a:solidFill>
                        </a:rPr>
                        <a:t>4</a:t>
                      </a:r>
                    </a:p>
                  </a:txBody>
                  <a:tcPr marT="27432" marB="27432" anchor="ctr">
                    <a:solidFill>
                      <a:srgbClr val="EEF3F7"/>
                    </a:solidFill>
                  </a:tcPr>
                </a:tc>
                <a:tc>
                  <a:txBody>
                    <a:bodyPr/>
                    <a:lstStyle/>
                    <a:p>
                      <a:pPr algn="r"/>
                      <a:r>
                        <a:rPr sz="1700" b="0">
                          <a:solidFill>
                            <a:srgbClr val="1F2A33"/>
                          </a:solidFill>
                        </a:rPr>
                        <a:t>−1</a:t>
                      </a:r>
                    </a:p>
                  </a:txBody>
                  <a:tcPr marT="27432" marB="27432" anchor="ctr">
                    <a:solidFill>
                      <a:srgbClr val="EEF3F7"/>
                    </a:solidFill>
                  </a:tcPr>
                </a:tc>
                <a:tc>
                  <a:txBody>
                    <a:bodyPr/>
                    <a:lstStyle/>
                    <a:p>
                      <a:pPr algn="r"/>
                      <a:r>
                        <a:rPr sz="1700" b="0">
                          <a:solidFill>
                            <a:srgbClr val="1F2A33"/>
                          </a:solidFill>
                        </a:rPr>
                        <a:t>1</a:t>
                      </a:r>
                    </a:p>
                  </a:txBody>
                  <a:tcPr marT="27432" marB="27432" anchor="ctr">
                    <a:solidFill>
                      <a:srgbClr val="EEF3F7"/>
                    </a:solidFill>
                  </a:tcPr>
                </a:tc>
                <a:extLst>
                  <a:ext uri="{0D108BD9-81ED-4DB2-BD59-A6C34878D82A}">
                    <a16:rowId xmlns:a16="http://schemas.microsoft.com/office/drawing/2014/main" val="10002"/>
                  </a:ext>
                </a:extLst>
              </a:tr>
              <a:tr h="548640">
                <a:tc>
                  <a:txBody>
                    <a:bodyPr/>
                    <a:lstStyle/>
                    <a:p>
                      <a:pPr algn="l"/>
                      <a:r>
                        <a:rPr sz="1700" b="1">
                          <a:solidFill>
                            <a:srgbClr val="1F2A33"/>
                          </a:solidFill>
                        </a:rPr>
                        <a:t>C</a:t>
                      </a:r>
                    </a:p>
                  </a:txBody>
                  <a:tcPr marT="27432" marB="27432" anchor="ctr">
                    <a:solidFill>
                      <a:srgbClr val="FFFFFF"/>
                    </a:solidFill>
                  </a:tcPr>
                </a:tc>
                <a:tc>
                  <a:txBody>
                    <a:bodyPr/>
                    <a:lstStyle/>
                    <a:p>
                      <a:pPr algn="r"/>
                      <a:r>
                        <a:rPr sz="1700" b="0">
                          <a:solidFill>
                            <a:srgbClr val="1F2A33"/>
                          </a:solidFill>
                        </a:rPr>
                        <a:t>5</a:t>
                      </a:r>
                    </a:p>
                  </a:txBody>
                  <a:tcPr marT="27432" marB="27432" anchor="ctr">
                    <a:solidFill>
                      <a:srgbClr val="FFFFFF"/>
                    </a:solidFill>
                  </a:tcPr>
                </a:tc>
                <a:tc>
                  <a:txBody>
                    <a:bodyPr/>
                    <a:lstStyle/>
                    <a:p>
                      <a:pPr algn="r"/>
                      <a:r>
                        <a:rPr sz="1700" b="0">
                          <a:solidFill>
                            <a:srgbClr val="1F2A33"/>
                          </a:solidFill>
                        </a:rPr>
                        <a:t>0</a:t>
                      </a:r>
                    </a:p>
                  </a:txBody>
                  <a:tcPr marT="27432" marB="27432" anchor="ctr">
                    <a:solidFill>
                      <a:srgbClr val="FFFFFF"/>
                    </a:solidFill>
                  </a:tcPr>
                </a:tc>
                <a:tc>
                  <a:txBody>
                    <a:bodyPr/>
                    <a:lstStyle/>
                    <a:p>
                      <a:pPr algn="r"/>
                      <a:r>
                        <a:rPr sz="1700" b="0">
                          <a:solidFill>
                            <a:srgbClr val="1F2A33"/>
                          </a:solidFill>
                        </a:rPr>
                        <a:t>0</a:t>
                      </a:r>
                    </a:p>
                  </a:txBody>
                  <a:tcPr marT="27432" marB="27432" anchor="ctr">
                    <a:solidFill>
                      <a:srgbClr val="FFFFFF"/>
                    </a:solidFill>
                  </a:tcPr>
                </a:tc>
                <a:extLst>
                  <a:ext uri="{0D108BD9-81ED-4DB2-BD59-A6C34878D82A}">
                    <a16:rowId xmlns:a16="http://schemas.microsoft.com/office/drawing/2014/main" val="10003"/>
                  </a:ext>
                </a:extLst>
              </a:tr>
              <a:tr h="548640">
                <a:tc>
                  <a:txBody>
                    <a:bodyPr/>
                    <a:lstStyle/>
                    <a:p>
                      <a:pPr algn="l"/>
                      <a:r>
                        <a:rPr sz="1700" b="1">
                          <a:solidFill>
                            <a:srgbClr val="1F2A33"/>
                          </a:solidFill>
                        </a:rPr>
                        <a:t>D</a:t>
                      </a:r>
                    </a:p>
                  </a:txBody>
                  <a:tcPr marT="27432" marB="27432" anchor="ctr">
                    <a:solidFill>
                      <a:srgbClr val="EEF3F7"/>
                    </a:solidFill>
                  </a:tcPr>
                </a:tc>
                <a:tc>
                  <a:txBody>
                    <a:bodyPr/>
                    <a:lstStyle/>
                    <a:p>
                      <a:pPr algn="r"/>
                      <a:r>
                        <a:rPr sz="1700" b="0">
                          <a:solidFill>
                            <a:srgbClr val="1F2A33"/>
                          </a:solidFill>
                        </a:rPr>
                        <a:t>7</a:t>
                      </a:r>
                    </a:p>
                  </a:txBody>
                  <a:tcPr marT="27432" marB="27432" anchor="ctr">
                    <a:solidFill>
                      <a:srgbClr val="EEF3F7"/>
                    </a:solidFill>
                  </a:tcPr>
                </a:tc>
                <a:tc>
                  <a:txBody>
                    <a:bodyPr/>
                    <a:lstStyle/>
                    <a:p>
                      <a:pPr algn="r"/>
                      <a:r>
                        <a:rPr sz="1700" b="0">
                          <a:solidFill>
                            <a:srgbClr val="1F2A33"/>
                          </a:solidFill>
                        </a:rPr>
                        <a:t>2</a:t>
                      </a:r>
                    </a:p>
                  </a:txBody>
                  <a:tcPr marT="27432" marB="27432" anchor="ctr">
                    <a:solidFill>
                      <a:srgbClr val="EEF3F7"/>
                    </a:solidFill>
                  </a:tcPr>
                </a:tc>
                <a:tc>
                  <a:txBody>
                    <a:bodyPr/>
                    <a:lstStyle/>
                    <a:p>
                      <a:pPr algn="r"/>
                      <a:r>
                        <a:rPr sz="1700" b="0">
                          <a:solidFill>
                            <a:srgbClr val="1F2A33"/>
                          </a:solidFill>
                        </a:rPr>
                        <a:t>4</a:t>
                      </a:r>
                    </a:p>
                  </a:txBody>
                  <a:tcPr marT="27432" marB="27432" anchor="ctr">
                    <a:solidFill>
                      <a:srgbClr val="EEF3F7"/>
                    </a:solidFill>
                  </a:tcPr>
                </a:tc>
                <a:extLst>
                  <a:ext uri="{0D108BD9-81ED-4DB2-BD59-A6C34878D82A}">
                    <a16:rowId xmlns:a16="http://schemas.microsoft.com/office/drawing/2014/main" val="10004"/>
                  </a:ext>
                </a:extLst>
              </a:tr>
              <a:tr h="548640">
                <a:tc>
                  <a:txBody>
                    <a:bodyPr/>
                    <a:lstStyle/>
                    <a:p>
                      <a:pPr algn="l"/>
                      <a:r>
                        <a:rPr sz="1700" b="1">
                          <a:solidFill>
                            <a:srgbClr val="1F2A33"/>
                          </a:solidFill>
                        </a:rPr>
                        <a:t>E</a:t>
                      </a:r>
                    </a:p>
                  </a:txBody>
                  <a:tcPr marT="27432" marB="27432" anchor="ctr">
                    <a:solidFill>
                      <a:srgbClr val="FFFFFF"/>
                    </a:solidFill>
                  </a:tcPr>
                </a:tc>
                <a:tc>
                  <a:txBody>
                    <a:bodyPr/>
                    <a:lstStyle/>
                    <a:p>
                      <a:pPr algn="r"/>
                      <a:r>
                        <a:rPr sz="1700" b="0">
                          <a:solidFill>
                            <a:srgbClr val="1F2A33"/>
                          </a:solidFill>
                        </a:rPr>
                        <a:t>7</a:t>
                      </a:r>
                    </a:p>
                  </a:txBody>
                  <a:tcPr marT="27432" marB="27432" anchor="ctr">
                    <a:solidFill>
                      <a:srgbClr val="FFFFFF"/>
                    </a:solidFill>
                  </a:tcPr>
                </a:tc>
                <a:tc>
                  <a:txBody>
                    <a:bodyPr/>
                    <a:lstStyle/>
                    <a:p>
                      <a:pPr algn="r"/>
                      <a:r>
                        <a:rPr sz="1700" b="0">
                          <a:solidFill>
                            <a:srgbClr val="1F2A33"/>
                          </a:solidFill>
                        </a:rPr>
                        <a:t>2</a:t>
                      </a:r>
                    </a:p>
                  </a:txBody>
                  <a:tcPr marT="27432" marB="27432" anchor="ctr">
                    <a:solidFill>
                      <a:srgbClr val="FFFFFF"/>
                    </a:solidFill>
                  </a:tcPr>
                </a:tc>
                <a:tc>
                  <a:txBody>
                    <a:bodyPr/>
                    <a:lstStyle/>
                    <a:p>
                      <a:pPr algn="r"/>
                      <a:r>
                        <a:rPr sz="1700" b="0">
                          <a:solidFill>
                            <a:srgbClr val="1F2A33"/>
                          </a:solidFill>
                        </a:rPr>
                        <a:t>4</a:t>
                      </a:r>
                    </a:p>
                  </a:txBody>
                  <a:tcPr marT="27432" marB="27432" anchor="ctr">
                    <a:solidFill>
                      <a:srgbClr val="FFFFFF"/>
                    </a:solidFill>
                  </a:tcPr>
                </a:tc>
                <a:extLst>
                  <a:ext uri="{0D108BD9-81ED-4DB2-BD59-A6C34878D82A}">
                    <a16:rowId xmlns:a16="http://schemas.microsoft.com/office/drawing/2014/main" val="10005"/>
                  </a:ext>
                </a:extLst>
              </a:tr>
              <a:tr h="548640">
                <a:tc>
                  <a:txBody>
                    <a:bodyPr/>
                    <a:lstStyle/>
                    <a:p>
                      <a:pPr algn="l"/>
                      <a:r>
                        <a:rPr sz="1700" b="1">
                          <a:solidFill>
                            <a:srgbClr val="1F2A33"/>
                          </a:solidFill>
                        </a:rPr>
                        <a:t>Sum</a:t>
                      </a:r>
                    </a:p>
                  </a:txBody>
                  <a:tcPr marT="27432" marB="27432" anchor="ctr">
                    <a:solidFill>
                      <a:srgbClr val="F6E7B8"/>
                    </a:solidFill>
                  </a:tcPr>
                </a:tc>
                <a:tc>
                  <a:txBody>
                    <a:bodyPr/>
                    <a:lstStyle/>
                    <a:p>
                      <a:pPr algn="r"/>
                      <a:r>
                        <a:rPr sz="1700" b="0">
                          <a:solidFill>
                            <a:srgbClr val="1F2A33"/>
                          </a:solidFill>
                        </a:rPr>
                        <a:t>25</a:t>
                      </a:r>
                    </a:p>
                  </a:txBody>
                  <a:tcPr marT="27432" marB="27432" anchor="ctr">
                    <a:solidFill>
                      <a:srgbClr val="F6E7B8"/>
                    </a:solidFill>
                  </a:tcPr>
                </a:tc>
                <a:tc>
                  <a:txBody>
                    <a:bodyPr/>
                    <a:lstStyle/>
                    <a:p>
                      <a:pPr algn="r"/>
                      <a:r>
                        <a:rPr sz="1700" b="0">
                          <a:solidFill>
                            <a:srgbClr val="1F2A33"/>
                          </a:solidFill>
                        </a:rPr>
                        <a:t>0</a:t>
                      </a:r>
                    </a:p>
                  </a:txBody>
                  <a:tcPr marT="27432" marB="27432" anchor="ctr">
                    <a:solidFill>
                      <a:srgbClr val="F6E7B8"/>
                    </a:solidFill>
                  </a:tcPr>
                </a:tc>
                <a:tc>
                  <a:txBody>
                    <a:bodyPr/>
                    <a:lstStyle/>
                    <a:p>
                      <a:pPr algn="r"/>
                      <a:r>
                        <a:rPr sz="1700" b="0">
                          <a:solidFill>
                            <a:srgbClr val="1F2A33"/>
                          </a:solidFill>
                        </a:rPr>
                        <a:t>18</a:t>
                      </a:r>
                    </a:p>
                  </a:txBody>
                  <a:tcPr marT="27432" marB="27432" anchor="ctr">
                    <a:solidFill>
                      <a:srgbClr val="F6E7B8"/>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6629400" y="1371600"/>
            <a:ext cx="4736592" cy="868680"/>
          </a:xfrm>
          <a:prstGeom prst="roundRect">
            <a:avLst>
              <a:gd name="adj" fmla="val 8000"/>
            </a:avLst>
          </a:prstGeom>
          <a:solidFill>
            <a:srgbClr val="EEF3F7"/>
          </a:solidFill>
          <a:ln>
            <a:noFill/>
          </a:ln>
        </p:spPr>
        <p:txBody>
          <a:bodyPr rtlCol="0" anchor="ctr"/>
          <a:lstStyle/>
          <a:p>
            <a:endParaRPr/>
          </a:p>
        </p:txBody>
      </p:sp>
      <p:sp>
        <p:nvSpPr>
          <p:cNvPr id="9" name="TextBox 8"/>
          <p:cNvSpPr txBox="1"/>
          <p:nvPr/>
        </p:nvSpPr>
        <p:spPr>
          <a:xfrm>
            <a:off x="6766560" y="1481328"/>
            <a:ext cx="4462272" cy="649224"/>
          </a:xfrm>
          <a:prstGeom prst="rect">
            <a:avLst/>
          </a:prstGeom>
          <a:noFill/>
        </p:spPr>
        <p:txBody>
          <a:bodyPr wrap="square" lIns="0" tIns="0" rIns="0" bIns="0" anchor="t">
            <a:spAutoFit/>
          </a:bodyPr>
          <a:lstStyle/>
          <a:p>
            <a:pPr algn="l">
              <a:spcAft>
                <a:spcPts val="400"/>
              </a:spcAft>
            </a:pPr>
            <a:r>
              <a:rPr sz="1800" b="1" i="0">
                <a:solidFill>
                  <a:srgbClr val="1F394D"/>
                </a:solidFill>
              </a:rPr>
              <a:t>1  Mean</a:t>
            </a:r>
          </a:p>
          <a:p>
            <a:pPr algn="l">
              <a:spcAft>
                <a:spcPts val="400"/>
              </a:spcAft>
            </a:pPr>
            <a:r>
              <a:rPr sz="1600" b="0" i="0">
                <a:solidFill>
                  <a:srgbClr val="1F2A33"/>
                </a:solidFill>
              </a:rPr>
              <a:t>25 ÷ 5 = 5</a:t>
            </a:r>
          </a:p>
        </p:txBody>
      </p:sp>
      <p:sp>
        <p:nvSpPr>
          <p:cNvPr id="10" name="Rounded Rectangle 9"/>
          <p:cNvSpPr/>
          <p:nvPr/>
        </p:nvSpPr>
        <p:spPr>
          <a:xfrm>
            <a:off x="6629400" y="2359152"/>
            <a:ext cx="4736592" cy="86868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6766560" y="2468880"/>
            <a:ext cx="4462272" cy="649224"/>
          </a:xfrm>
          <a:prstGeom prst="rect">
            <a:avLst/>
          </a:prstGeom>
          <a:noFill/>
        </p:spPr>
        <p:txBody>
          <a:bodyPr wrap="square" lIns="0" tIns="0" rIns="0" bIns="0" anchor="t">
            <a:spAutoFit/>
          </a:bodyPr>
          <a:lstStyle/>
          <a:p>
            <a:pPr algn="l">
              <a:spcAft>
                <a:spcPts val="400"/>
              </a:spcAft>
            </a:pPr>
            <a:r>
              <a:rPr sz="1800" b="1" i="0">
                <a:solidFill>
                  <a:srgbClr val="1F394D"/>
                </a:solidFill>
              </a:rPr>
              <a:t>2  Deviations</a:t>
            </a:r>
          </a:p>
          <a:p>
            <a:pPr algn="l">
              <a:spcAft>
                <a:spcPts val="400"/>
              </a:spcAft>
            </a:pPr>
            <a:r>
              <a:rPr sz="1600" b="0" i="0">
                <a:solidFill>
                  <a:srgbClr val="1F2A33"/>
                </a:solidFill>
              </a:rPr>
              <a:t>subtract the mean from each value</a:t>
            </a:r>
          </a:p>
        </p:txBody>
      </p:sp>
      <p:sp>
        <p:nvSpPr>
          <p:cNvPr id="12" name="Rounded Rectangle 11"/>
          <p:cNvSpPr/>
          <p:nvPr/>
        </p:nvSpPr>
        <p:spPr>
          <a:xfrm>
            <a:off x="6629400" y="3346704"/>
            <a:ext cx="4736592" cy="868680"/>
          </a:xfrm>
          <a:prstGeom prst="roundRect">
            <a:avLst>
              <a:gd name="adj" fmla="val 8000"/>
            </a:avLst>
          </a:prstGeom>
          <a:solidFill>
            <a:srgbClr val="EEF3F7"/>
          </a:solidFill>
          <a:ln>
            <a:noFill/>
          </a:ln>
        </p:spPr>
        <p:txBody>
          <a:bodyPr rtlCol="0" anchor="ctr"/>
          <a:lstStyle/>
          <a:p>
            <a:endParaRPr/>
          </a:p>
        </p:txBody>
      </p:sp>
      <p:sp>
        <p:nvSpPr>
          <p:cNvPr id="13" name="TextBox 12"/>
          <p:cNvSpPr txBox="1"/>
          <p:nvPr/>
        </p:nvSpPr>
        <p:spPr>
          <a:xfrm>
            <a:off x="6766560" y="3456432"/>
            <a:ext cx="4462272" cy="649224"/>
          </a:xfrm>
          <a:prstGeom prst="rect">
            <a:avLst/>
          </a:prstGeom>
          <a:noFill/>
        </p:spPr>
        <p:txBody>
          <a:bodyPr wrap="square" lIns="0" tIns="0" rIns="0" bIns="0" anchor="t">
            <a:spAutoFit/>
          </a:bodyPr>
          <a:lstStyle/>
          <a:p>
            <a:pPr algn="l">
              <a:spcAft>
                <a:spcPts val="400"/>
              </a:spcAft>
            </a:pPr>
            <a:r>
              <a:rPr sz="1800" b="1" i="0">
                <a:solidFill>
                  <a:srgbClr val="1F394D"/>
                </a:solidFill>
              </a:rPr>
              <a:t>3  Variance</a:t>
            </a:r>
          </a:p>
          <a:p>
            <a:pPr algn="l">
              <a:spcAft>
                <a:spcPts val="400"/>
              </a:spcAft>
            </a:pPr>
            <a:r>
              <a:rPr sz="1600" b="0" i="0">
                <a:solidFill>
                  <a:srgbClr val="1F2A33"/>
                </a:solidFill>
              </a:rPr>
              <a:t>18 ÷ (5 − 1) = 4.5</a:t>
            </a:r>
          </a:p>
        </p:txBody>
      </p:sp>
      <p:sp>
        <p:nvSpPr>
          <p:cNvPr id="14" name="Rounded Rectangle 13"/>
          <p:cNvSpPr/>
          <p:nvPr/>
        </p:nvSpPr>
        <p:spPr>
          <a:xfrm>
            <a:off x="6629400" y="4334256"/>
            <a:ext cx="4736592" cy="868680"/>
          </a:xfrm>
          <a:prstGeom prst="roundRect">
            <a:avLst>
              <a:gd name="adj" fmla="val 8000"/>
            </a:avLst>
          </a:prstGeom>
          <a:solidFill>
            <a:srgbClr val="1F394D"/>
          </a:solidFill>
          <a:ln>
            <a:noFill/>
          </a:ln>
        </p:spPr>
        <p:txBody>
          <a:bodyPr rtlCol="0" anchor="ctr"/>
          <a:lstStyle/>
          <a:p>
            <a:endParaRPr/>
          </a:p>
        </p:txBody>
      </p:sp>
      <p:sp>
        <p:nvSpPr>
          <p:cNvPr id="15" name="TextBox 14"/>
          <p:cNvSpPr txBox="1"/>
          <p:nvPr/>
        </p:nvSpPr>
        <p:spPr>
          <a:xfrm>
            <a:off x="6766560" y="4443984"/>
            <a:ext cx="4462272" cy="649224"/>
          </a:xfrm>
          <a:prstGeom prst="rect">
            <a:avLst/>
          </a:prstGeom>
          <a:noFill/>
        </p:spPr>
        <p:txBody>
          <a:bodyPr wrap="square" lIns="0" tIns="0" rIns="0" bIns="0" anchor="t">
            <a:spAutoFit/>
          </a:bodyPr>
          <a:lstStyle/>
          <a:p>
            <a:pPr algn="l">
              <a:spcAft>
                <a:spcPts val="400"/>
              </a:spcAft>
            </a:pPr>
            <a:r>
              <a:rPr sz="1800" b="1" i="0">
                <a:solidFill>
                  <a:srgbClr val="FFFFFF"/>
                </a:solidFill>
              </a:rPr>
              <a:t>4  Standard deviation</a:t>
            </a:r>
          </a:p>
          <a:p>
            <a:pPr algn="l">
              <a:spcAft>
                <a:spcPts val="400"/>
              </a:spcAft>
            </a:pPr>
            <a:r>
              <a:rPr sz="1600" b="0" i="0">
                <a:solidFill>
                  <a:srgbClr val="CCDDEA"/>
                </a:solidFill>
              </a:rPr>
              <a:t>√4.5 ≈ 2.12</a:t>
            </a:r>
          </a:p>
        </p:txBody>
      </p:sp>
      <p:sp>
        <p:nvSpPr>
          <p:cNvPr id="16" name="TextBox 15"/>
          <p:cNvSpPr txBox="1"/>
          <p:nvPr/>
        </p:nvSpPr>
        <p:spPr>
          <a:xfrm>
            <a:off x="758952" y="5349240"/>
            <a:ext cx="10607040" cy="457200"/>
          </a:xfrm>
          <a:prstGeom prst="rect">
            <a:avLst/>
          </a:prstGeom>
          <a:noFill/>
        </p:spPr>
        <p:txBody>
          <a:bodyPr wrap="square" lIns="0" tIns="0" rIns="0" bIns="0" anchor="t">
            <a:spAutoFit/>
          </a:bodyPr>
          <a:lstStyle/>
          <a:p>
            <a:pPr algn="l"/>
            <a:r>
              <a:rPr sz="1600" b="1" i="0">
                <a:solidFill>
                  <a:srgbClr val="1F394D"/>
                </a:solidFill>
              </a:rPr>
              <a:t>In the real ESS data the SD of ppltrst is 2.30: a typical answer lies about 2.3 points from the mean of 5.4.</a:t>
            </a:r>
          </a:p>
        </p:txBody>
      </p:sp>
      <p:sp>
        <p:nvSpPr>
          <p:cNvPr id="17" name="Rounded Rectangle 16"/>
          <p:cNvSpPr/>
          <p:nvPr/>
        </p:nvSpPr>
        <p:spPr>
          <a:xfrm>
            <a:off x="758952" y="5943600"/>
            <a:ext cx="2514600" cy="292608"/>
          </a:xfrm>
          <a:prstGeom prst="roundRect">
            <a:avLst>
              <a:gd name="adj" fmla="val 50000"/>
            </a:avLst>
          </a:prstGeom>
          <a:solidFill>
            <a:srgbClr val="FFFFFF"/>
          </a:solidFill>
          <a:ln w="15875">
            <a:solidFill>
              <a:srgbClr val="B88C00"/>
            </a:solidFill>
          </a:ln>
        </p:spPr>
        <p:txBody>
          <a:bodyPr rtlCol="0" anchor="ctr"/>
          <a:lstStyle/>
          <a:p>
            <a:endParaRPr/>
          </a:p>
        </p:txBody>
      </p:sp>
      <p:sp>
        <p:nvSpPr>
          <p:cNvPr id="18" name="TextBox 17"/>
          <p:cNvSpPr txBox="1"/>
          <p:nvPr/>
        </p:nvSpPr>
        <p:spPr>
          <a:xfrm>
            <a:off x="758952" y="5943600"/>
            <a:ext cx="2514600" cy="292608"/>
          </a:xfrm>
          <a:prstGeom prst="rect">
            <a:avLst/>
          </a:prstGeom>
          <a:noFill/>
        </p:spPr>
        <p:txBody>
          <a:bodyPr wrap="square" lIns="0" tIns="0" rIns="0" bIns="0" anchor="ctr">
            <a:spAutoFit/>
          </a:bodyPr>
          <a:lstStyle/>
          <a:p>
            <a:pPr algn="ctr"/>
            <a:r>
              <a:rPr sz="1200" b="1" i="0">
                <a:solidFill>
                  <a:srgbClr val="7A5C00"/>
                </a:solidFill>
              </a:rPr>
              <a:t>SYNTHETIC EXAMPLE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400" dirty="0"/>
              <a:t>Recall</a:t>
            </a:r>
            <a:r>
              <a:rPr sz="3400" dirty="0"/>
              <a:t>: the box plot</a:t>
            </a:r>
          </a:p>
        </p:txBody>
      </p:sp>
      <p:sp>
        <p:nvSpPr>
          <p:cNvPr id="5" name="Footer Placeholder 4">
            <a:extLst>
              <a:ext uri="{FF2B5EF4-FFF2-40B4-BE49-F238E27FC236}">
                <a16:creationId xmlns:a16="http://schemas.microsoft.com/office/drawing/2014/main" id="{6772CAAB-9C32-D830-FF00-86600C487E94}"/>
              </a:ext>
            </a:extLst>
          </p:cNvPr>
          <p:cNvSpPr>
            <a:spLocks noGrp="1"/>
          </p:cNvSpPr>
          <p:nvPr>
            <p:ph type="ftr" sz="quarter" idx="11"/>
          </p:nvPr>
        </p:nvSpPr>
        <p:spPr/>
        <p:txBody>
          <a:bodyPr/>
          <a:lstStyle/>
          <a:p>
            <a:r>
              <a:rPr lang="en-GB"/>
              <a:t>Measurement and Description</a:t>
            </a:r>
          </a:p>
        </p:txBody>
      </p:sp>
      <p:sp>
        <p:nvSpPr>
          <p:cNvPr id="6" name="Slide Number Placeholder 5">
            <a:extLst>
              <a:ext uri="{FF2B5EF4-FFF2-40B4-BE49-F238E27FC236}">
                <a16:creationId xmlns:a16="http://schemas.microsoft.com/office/drawing/2014/main" id="{953B9D79-309D-D507-17FF-67827394EFDB}"/>
              </a:ext>
            </a:extLst>
          </p:cNvPr>
          <p:cNvSpPr>
            <a:spLocks noGrp="1"/>
          </p:cNvSpPr>
          <p:nvPr>
            <p:ph type="sldNum" sz="quarter" idx="12"/>
          </p:nvPr>
        </p:nvSpPr>
        <p:spPr/>
        <p:txBody>
          <a:bodyPr/>
          <a:lstStyle/>
          <a:p>
            <a:fld id="{9FAA51BB-2FC0-4DB8-B50E-F52D50E733B6}" type="slidenum">
              <a:rPr lang="en-GB" smtClean="0"/>
              <a:t>22</a:t>
            </a:fld>
            <a:endParaRPr lang="en-GB"/>
          </a:p>
        </p:txBody>
      </p:sp>
      <p:cxnSp>
        <p:nvCxnSpPr>
          <p:cNvPr id="7" name="Connector 6"/>
          <p:cNvCxnSpPr/>
          <p:nvPr/>
        </p:nvCxnSpPr>
        <p:spPr>
          <a:xfrm>
            <a:off x="1033271" y="4206240"/>
            <a:ext cx="10058401" cy="0"/>
          </a:xfrm>
          <a:prstGeom prst="line">
            <a:avLst/>
          </a:prstGeom>
          <a:ln w="15875">
            <a:solidFill>
              <a:srgbClr val="BBC4CC"/>
            </a:solidFill>
          </a:ln>
        </p:spPr>
      </p:cxnSp>
      <p:cxnSp>
        <p:nvCxnSpPr>
          <p:cNvPr id="8" name="Connector 7"/>
          <p:cNvCxnSpPr/>
          <p:nvPr/>
        </p:nvCxnSpPr>
        <p:spPr>
          <a:xfrm>
            <a:off x="1490472" y="4206240"/>
            <a:ext cx="0" cy="64008"/>
          </a:xfrm>
          <a:prstGeom prst="line">
            <a:avLst/>
          </a:prstGeom>
          <a:ln w="15875">
            <a:solidFill>
              <a:srgbClr val="BBC4CC"/>
            </a:solidFill>
          </a:ln>
        </p:spPr>
      </p:cxnSp>
      <p:sp>
        <p:nvSpPr>
          <p:cNvPr id="9" name="TextBox 8"/>
          <p:cNvSpPr txBox="1"/>
          <p:nvPr/>
        </p:nvSpPr>
        <p:spPr>
          <a:xfrm>
            <a:off x="941831" y="4279392"/>
            <a:ext cx="1097280" cy="274320"/>
          </a:xfrm>
          <a:prstGeom prst="rect">
            <a:avLst/>
          </a:prstGeom>
          <a:noFill/>
        </p:spPr>
        <p:txBody>
          <a:bodyPr wrap="square" lIns="0" tIns="0" rIns="0" bIns="0" anchor="t">
            <a:spAutoFit/>
          </a:bodyPr>
          <a:lstStyle/>
          <a:p>
            <a:pPr algn="ctr"/>
            <a:r>
              <a:rPr sz="1300" b="0" i="0">
                <a:solidFill>
                  <a:srgbClr val="55606B"/>
                </a:solidFill>
              </a:rPr>
              <a:t>0</a:t>
            </a:r>
          </a:p>
        </p:txBody>
      </p:sp>
      <p:cxnSp>
        <p:nvCxnSpPr>
          <p:cNvPr id="10" name="Connector 9"/>
          <p:cNvCxnSpPr/>
          <p:nvPr/>
        </p:nvCxnSpPr>
        <p:spPr>
          <a:xfrm>
            <a:off x="2404872" y="4206240"/>
            <a:ext cx="0" cy="64008"/>
          </a:xfrm>
          <a:prstGeom prst="line">
            <a:avLst/>
          </a:prstGeom>
          <a:ln w="15875">
            <a:solidFill>
              <a:srgbClr val="BBC4CC"/>
            </a:solidFill>
          </a:ln>
        </p:spPr>
      </p:cxnSp>
      <p:sp>
        <p:nvSpPr>
          <p:cNvPr id="11" name="TextBox 10"/>
          <p:cNvSpPr txBox="1"/>
          <p:nvPr/>
        </p:nvSpPr>
        <p:spPr>
          <a:xfrm>
            <a:off x="1856231" y="4279392"/>
            <a:ext cx="1097280" cy="274320"/>
          </a:xfrm>
          <a:prstGeom prst="rect">
            <a:avLst/>
          </a:prstGeom>
          <a:noFill/>
        </p:spPr>
        <p:txBody>
          <a:bodyPr wrap="square" lIns="0" tIns="0" rIns="0" bIns="0" anchor="t">
            <a:spAutoFit/>
          </a:bodyPr>
          <a:lstStyle/>
          <a:p>
            <a:pPr algn="ctr"/>
            <a:r>
              <a:rPr sz="1300" b="0" i="0">
                <a:solidFill>
                  <a:srgbClr val="55606B"/>
                </a:solidFill>
              </a:rPr>
              <a:t>1</a:t>
            </a:r>
          </a:p>
        </p:txBody>
      </p:sp>
      <p:cxnSp>
        <p:nvCxnSpPr>
          <p:cNvPr id="12" name="Connector 11"/>
          <p:cNvCxnSpPr/>
          <p:nvPr/>
        </p:nvCxnSpPr>
        <p:spPr>
          <a:xfrm>
            <a:off x="3319272" y="4206240"/>
            <a:ext cx="0" cy="64008"/>
          </a:xfrm>
          <a:prstGeom prst="line">
            <a:avLst/>
          </a:prstGeom>
          <a:ln w="15875">
            <a:solidFill>
              <a:srgbClr val="BBC4CC"/>
            </a:solidFill>
          </a:ln>
        </p:spPr>
      </p:cxnSp>
      <p:sp>
        <p:nvSpPr>
          <p:cNvPr id="13" name="TextBox 12"/>
          <p:cNvSpPr txBox="1"/>
          <p:nvPr/>
        </p:nvSpPr>
        <p:spPr>
          <a:xfrm>
            <a:off x="2770632" y="4279392"/>
            <a:ext cx="1097280" cy="274320"/>
          </a:xfrm>
          <a:prstGeom prst="rect">
            <a:avLst/>
          </a:prstGeom>
          <a:noFill/>
        </p:spPr>
        <p:txBody>
          <a:bodyPr wrap="square" lIns="0" tIns="0" rIns="0" bIns="0" anchor="t">
            <a:spAutoFit/>
          </a:bodyPr>
          <a:lstStyle/>
          <a:p>
            <a:pPr algn="ctr"/>
            <a:r>
              <a:rPr sz="1300" b="0" i="0">
                <a:solidFill>
                  <a:srgbClr val="55606B"/>
                </a:solidFill>
              </a:rPr>
              <a:t>2</a:t>
            </a:r>
          </a:p>
        </p:txBody>
      </p:sp>
      <p:cxnSp>
        <p:nvCxnSpPr>
          <p:cNvPr id="14" name="Connector 13"/>
          <p:cNvCxnSpPr/>
          <p:nvPr/>
        </p:nvCxnSpPr>
        <p:spPr>
          <a:xfrm>
            <a:off x="4233672" y="4206240"/>
            <a:ext cx="0" cy="64008"/>
          </a:xfrm>
          <a:prstGeom prst="line">
            <a:avLst/>
          </a:prstGeom>
          <a:ln w="15875">
            <a:solidFill>
              <a:srgbClr val="BBC4CC"/>
            </a:solidFill>
          </a:ln>
        </p:spPr>
      </p:cxnSp>
      <p:sp>
        <p:nvSpPr>
          <p:cNvPr id="15" name="TextBox 14"/>
          <p:cNvSpPr txBox="1"/>
          <p:nvPr/>
        </p:nvSpPr>
        <p:spPr>
          <a:xfrm>
            <a:off x="3685032" y="4279392"/>
            <a:ext cx="1097280" cy="274320"/>
          </a:xfrm>
          <a:prstGeom prst="rect">
            <a:avLst/>
          </a:prstGeom>
          <a:noFill/>
        </p:spPr>
        <p:txBody>
          <a:bodyPr wrap="square" lIns="0" tIns="0" rIns="0" bIns="0" anchor="t">
            <a:spAutoFit/>
          </a:bodyPr>
          <a:lstStyle/>
          <a:p>
            <a:pPr algn="ctr"/>
            <a:r>
              <a:rPr sz="1300" b="0" i="0">
                <a:solidFill>
                  <a:srgbClr val="55606B"/>
                </a:solidFill>
              </a:rPr>
              <a:t>3</a:t>
            </a:r>
          </a:p>
        </p:txBody>
      </p:sp>
      <p:cxnSp>
        <p:nvCxnSpPr>
          <p:cNvPr id="16" name="Connector 15"/>
          <p:cNvCxnSpPr/>
          <p:nvPr/>
        </p:nvCxnSpPr>
        <p:spPr>
          <a:xfrm>
            <a:off x="5148072" y="4206240"/>
            <a:ext cx="0" cy="64008"/>
          </a:xfrm>
          <a:prstGeom prst="line">
            <a:avLst/>
          </a:prstGeom>
          <a:ln w="15875">
            <a:solidFill>
              <a:srgbClr val="BBC4CC"/>
            </a:solidFill>
          </a:ln>
        </p:spPr>
      </p:cxnSp>
      <p:sp>
        <p:nvSpPr>
          <p:cNvPr id="17" name="TextBox 16"/>
          <p:cNvSpPr txBox="1"/>
          <p:nvPr/>
        </p:nvSpPr>
        <p:spPr>
          <a:xfrm>
            <a:off x="4599432" y="4279392"/>
            <a:ext cx="1097280" cy="274320"/>
          </a:xfrm>
          <a:prstGeom prst="rect">
            <a:avLst/>
          </a:prstGeom>
          <a:noFill/>
        </p:spPr>
        <p:txBody>
          <a:bodyPr wrap="square" lIns="0" tIns="0" rIns="0" bIns="0" anchor="t">
            <a:spAutoFit/>
          </a:bodyPr>
          <a:lstStyle/>
          <a:p>
            <a:pPr algn="ctr"/>
            <a:r>
              <a:rPr sz="1300" b="0" i="0">
                <a:solidFill>
                  <a:srgbClr val="55606B"/>
                </a:solidFill>
              </a:rPr>
              <a:t>4</a:t>
            </a:r>
          </a:p>
        </p:txBody>
      </p:sp>
      <p:cxnSp>
        <p:nvCxnSpPr>
          <p:cNvPr id="18" name="Connector 17"/>
          <p:cNvCxnSpPr/>
          <p:nvPr/>
        </p:nvCxnSpPr>
        <p:spPr>
          <a:xfrm>
            <a:off x="6062472" y="4206240"/>
            <a:ext cx="0" cy="64008"/>
          </a:xfrm>
          <a:prstGeom prst="line">
            <a:avLst/>
          </a:prstGeom>
          <a:ln w="15875">
            <a:solidFill>
              <a:srgbClr val="BBC4CC"/>
            </a:solidFill>
          </a:ln>
        </p:spPr>
      </p:cxnSp>
      <p:sp>
        <p:nvSpPr>
          <p:cNvPr id="19" name="TextBox 18"/>
          <p:cNvSpPr txBox="1"/>
          <p:nvPr/>
        </p:nvSpPr>
        <p:spPr>
          <a:xfrm>
            <a:off x="5513832" y="4279392"/>
            <a:ext cx="1097280" cy="274320"/>
          </a:xfrm>
          <a:prstGeom prst="rect">
            <a:avLst/>
          </a:prstGeom>
          <a:noFill/>
        </p:spPr>
        <p:txBody>
          <a:bodyPr wrap="square" lIns="0" tIns="0" rIns="0" bIns="0" anchor="t">
            <a:spAutoFit/>
          </a:bodyPr>
          <a:lstStyle/>
          <a:p>
            <a:pPr algn="ctr"/>
            <a:r>
              <a:rPr sz="1300" b="0" i="0">
                <a:solidFill>
                  <a:srgbClr val="55606B"/>
                </a:solidFill>
              </a:rPr>
              <a:t>5</a:t>
            </a:r>
          </a:p>
        </p:txBody>
      </p:sp>
      <p:cxnSp>
        <p:nvCxnSpPr>
          <p:cNvPr id="20" name="Connector 19"/>
          <p:cNvCxnSpPr/>
          <p:nvPr/>
        </p:nvCxnSpPr>
        <p:spPr>
          <a:xfrm>
            <a:off x="6976872" y="4206240"/>
            <a:ext cx="0" cy="64008"/>
          </a:xfrm>
          <a:prstGeom prst="line">
            <a:avLst/>
          </a:prstGeom>
          <a:ln w="15875">
            <a:solidFill>
              <a:srgbClr val="BBC4CC"/>
            </a:solidFill>
          </a:ln>
        </p:spPr>
      </p:cxnSp>
      <p:sp>
        <p:nvSpPr>
          <p:cNvPr id="21" name="TextBox 20"/>
          <p:cNvSpPr txBox="1"/>
          <p:nvPr/>
        </p:nvSpPr>
        <p:spPr>
          <a:xfrm>
            <a:off x="6428232" y="4279392"/>
            <a:ext cx="1097280" cy="274320"/>
          </a:xfrm>
          <a:prstGeom prst="rect">
            <a:avLst/>
          </a:prstGeom>
          <a:noFill/>
        </p:spPr>
        <p:txBody>
          <a:bodyPr wrap="square" lIns="0" tIns="0" rIns="0" bIns="0" anchor="t">
            <a:spAutoFit/>
          </a:bodyPr>
          <a:lstStyle/>
          <a:p>
            <a:pPr algn="ctr"/>
            <a:r>
              <a:rPr sz="1300" b="0" i="0">
                <a:solidFill>
                  <a:srgbClr val="55606B"/>
                </a:solidFill>
              </a:rPr>
              <a:t>6</a:t>
            </a:r>
          </a:p>
        </p:txBody>
      </p:sp>
      <p:cxnSp>
        <p:nvCxnSpPr>
          <p:cNvPr id="22" name="Connector 21"/>
          <p:cNvCxnSpPr/>
          <p:nvPr/>
        </p:nvCxnSpPr>
        <p:spPr>
          <a:xfrm>
            <a:off x="7891271" y="4206240"/>
            <a:ext cx="0" cy="64008"/>
          </a:xfrm>
          <a:prstGeom prst="line">
            <a:avLst/>
          </a:prstGeom>
          <a:ln w="15875">
            <a:solidFill>
              <a:srgbClr val="BBC4CC"/>
            </a:solidFill>
          </a:ln>
        </p:spPr>
      </p:cxnSp>
      <p:sp>
        <p:nvSpPr>
          <p:cNvPr id="23" name="TextBox 22"/>
          <p:cNvSpPr txBox="1"/>
          <p:nvPr/>
        </p:nvSpPr>
        <p:spPr>
          <a:xfrm>
            <a:off x="7342631" y="4279392"/>
            <a:ext cx="1097280" cy="274320"/>
          </a:xfrm>
          <a:prstGeom prst="rect">
            <a:avLst/>
          </a:prstGeom>
          <a:noFill/>
        </p:spPr>
        <p:txBody>
          <a:bodyPr wrap="square" lIns="0" tIns="0" rIns="0" bIns="0" anchor="t">
            <a:spAutoFit/>
          </a:bodyPr>
          <a:lstStyle/>
          <a:p>
            <a:pPr algn="ctr"/>
            <a:r>
              <a:rPr sz="1300" b="0" i="0">
                <a:solidFill>
                  <a:srgbClr val="55606B"/>
                </a:solidFill>
              </a:rPr>
              <a:t>7</a:t>
            </a:r>
          </a:p>
        </p:txBody>
      </p:sp>
      <p:cxnSp>
        <p:nvCxnSpPr>
          <p:cNvPr id="24" name="Connector 23"/>
          <p:cNvCxnSpPr/>
          <p:nvPr/>
        </p:nvCxnSpPr>
        <p:spPr>
          <a:xfrm>
            <a:off x="8805672" y="4206240"/>
            <a:ext cx="0" cy="64008"/>
          </a:xfrm>
          <a:prstGeom prst="line">
            <a:avLst/>
          </a:prstGeom>
          <a:ln w="15875">
            <a:solidFill>
              <a:srgbClr val="BBC4CC"/>
            </a:solidFill>
          </a:ln>
        </p:spPr>
      </p:cxnSp>
      <p:sp>
        <p:nvSpPr>
          <p:cNvPr id="25" name="TextBox 24"/>
          <p:cNvSpPr txBox="1"/>
          <p:nvPr/>
        </p:nvSpPr>
        <p:spPr>
          <a:xfrm>
            <a:off x="8257031" y="4279392"/>
            <a:ext cx="1097280" cy="274320"/>
          </a:xfrm>
          <a:prstGeom prst="rect">
            <a:avLst/>
          </a:prstGeom>
          <a:noFill/>
        </p:spPr>
        <p:txBody>
          <a:bodyPr wrap="square" lIns="0" tIns="0" rIns="0" bIns="0" anchor="t">
            <a:spAutoFit/>
          </a:bodyPr>
          <a:lstStyle/>
          <a:p>
            <a:pPr algn="ctr"/>
            <a:r>
              <a:rPr sz="1300" b="0" i="0">
                <a:solidFill>
                  <a:srgbClr val="55606B"/>
                </a:solidFill>
              </a:rPr>
              <a:t>8</a:t>
            </a:r>
          </a:p>
        </p:txBody>
      </p:sp>
      <p:cxnSp>
        <p:nvCxnSpPr>
          <p:cNvPr id="26" name="Connector 25"/>
          <p:cNvCxnSpPr/>
          <p:nvPr/>
        </p:nvCxnSpPr>
        <p:spPr>
          <a:xfrm>
            <a:off x="9720072" y="4206240"/>
            <a:ext cx="0" cy="64008"/>
          </a:xfrm>
          <a:prstGeom prst="line">
            <a:avLst/>
          </a:prstGeom>
          <a:ln w="15875">
            <a:solidFill>
              <a:srgbClr val="BBC4CC"/>
            </a:solidFill>
          </a:ln>
        </p:spPr>
      </p:cxnSp>
      <p:sp>
        <p:nvSpPr>
          <p:cNvPr id="27" name="TextBox 26"/>
          <p:cNvSpPr txBox="1"/>
          <p:nvPr/>
        </p:nvSpPr>
        <p:spPr>
          <a:xfrm>
            <a:off x="9171432" y="4279392"/>
            <a:ext cx="1097280" cy="274320"/>
          </a:xfrm>
          <a:prstGeom prst="rect">
            <a:avLst/>
          </a:prstGeom>
          <a:noFill/>
        </p:spPr>
        <p:txBody>
          <a:bodyPr wrap="square" lIns="0" tIns="0" rIns="0" bIns="0" anchor="t">
            <a:spAutoFit/>
          </a:bodyPr>
          <a:lstStyle/>
          <a:p>
            <a:pPr algn="ctr"/>
            <a:r>
              <a:rPr sz="1300" b="0" i="0">
                <a:solidFill>
                  <a:srgbClr val="55606B"/>
                </a:solidFill>
              </a:rPr>
              <a:t>9</a:t>
            </a:r>
          </a:p>
        </p:txBody>
      </p:sp>
      <p:cxnSp>
        <p:nvCxnSpPr>
          <p:cNvPr id="28" name="Connector 27"/>
          <p:cNvCxnSpPr/>
          <p:nvPr/>
        </p:nvCxnSpPr>
        <p:spPr>
          <a:xfrm>
            <a:off x="10634472" y="4206240"/>
            <a:ext cx="0" cy="64008"/>
          </a:xfrm>
          <a:prstGeom prst="line">
            <a:avLst/>
          </a:prstGeom>
          <a:ln w="15875">
            <a:solidFill>
              <a:srgbClr val="BBC4CC"/>
            </a:solidFill>
          </a:ln>
        </p:spPr>
      </p:cxnSp>
      <p:sp>
        <p:nvSpPr>
          <p:cNvPr id="29" name="TextBox 28"/>
          <p:cNvSpPr txBox="1"/>
          <p:nvPr/>
        </p:nvSpPr>
        <p:spPr>
          <a:xfrm>
            <a:off x="10085832" y="4279392"/>
            <a:ext cx="1097280" cy="274320"/>
          </a:xfrm>
          <a:prstGeom prst="rect">
            <a:avLst/>
          </a:prstGeom>
          <a:noFill/>
        </p:spPr>
        <p:txBody>
          <a:bodyPr wrap="square" lIns="0" tIns="0" rIns="0" bIns="0" anchor="t">
            <a:spAutoFit/>
          </a:bodyPr>
          <a:lstStyle/>
          <a:p>
            <a:pPr algn="ctr"/>
            <a:r>
              <a:rPr sz="1300" b="0" i="0">
                <a:solidFill>
                  <a:srgbClr val="55606B"/>
                </a:solidFill>
              </a:rPr>
              <a:t>10</a:t>
            </a:r>
          </a:p>
        </p:txBody>
      </p:sp>
      <p:sp>
        <p:nvSpPr>
          <p:cNvPr id="30" name="TextBox 29"/>
          <p:cNvSpPr txBox="1"/>
          <p:nvPr/>
        </p:nvSpPr>
        <p:spPr>
          <a:xfrm>
            <a:off x="1033271" y="4553712"/>
            <a:ext cx="10058400" cy="274320"/>
          </a:xfrm>
          <a:prstGeom prst="rect">
            <a:avLst/>
          </a:prstGeom>
          <a:noFill/>
        </p:spPr>
        <p:txBody>
          <a:bodyPr wrap="square" lIns="0" tIns="0" rIns="0" bIns="0" anchor="t">
            <a:spAutoFit/>
          </a:bodyPr>
          <a:lstStyle/>
          <a:p>
            <a:pPr algn="ctr"/>
            <a:r>
              <a:rPr sz="1300" b="0" i="0">
                <a:solidFill>
                  <a:srgbClr val="55606B"/>
                </a:solidFill>
              </a:rPr>
              <a:t>Trust in most people (0 to 10)</a:t>
            </a:r>
          </a:p>
        </p:txBody>
      </p:sp>
      <p:cxnSp>
        <p:nvCxnSpPr>
          <p:cNvPr id="31" name="Connector 30"/>
          <p:cNvCxnSpPr/>
          <p:nvPr/>
        </p:nvCxnSpPr>
        <p:spPr>
          <a:xfrm>
            <a:off x="1490472" y="3200399"/>
            <a:ext cx="3657600" cy="0"/>
          </a:xfrm>
          <a:prstGeom prst="line">
            <a:avLst/>
          </a:prstGeom>
          <a:ln w="25400">
            <a:solidFill>
              <a:srgbClr val="1F394D"/>
            </a:solidFill>
          </a:ln>
        </p:spPr>
      </p:cxnSp>
      <p:cxnSp>
        <p:nvCxnSpPr>
          <p:cNvPr id="32" name="Connector 31"/>
          <p:cNvCxnSpPr/>
          <p:nvPr/>
        </p:nvCxnSpPr>
        <p:spPr>
          <a:xfrm>
            <a:off x="7891271" y="3200399"/>
            <a:ext cx="2743201" cy="0"/>
          </a:xfrm>
          <a:prstGeom prst="line">
            <a:avLst/>
          </a:prstGeom>
          <a:ln w="25400">
            <a:solidFill>
              <a:srgbClr val="1F394D"/>
            </a:solidFill>
          </a:ln>
        </p:spPr>
      </p:cxnSp>
      <p:cxnSp>
        <p:nvCxnSpPr>
          <p:cNvPr id="33" name="Connector 32"/>
          <p:cNvCxnSpPr/>
          <p:nvPr/>
        </p:nvCxnSpPr>
        <p:spPr>
          <a:xfrm flipV="1">
            <a:off x="1490472" y="2926079"/>
            <a:ext cx="0" cy="548641"/>
          </a:xfrm>
          <a:prstGeom prst="line">
            <a:avLst/>
          </a:prstGeom>
          <a:ln w="25400">
            <a:solidFill>
              <a:srgbClr val="1F394D"/>
            </a:solidFill>
          </a:ln>
        </p:spPr>
      </p:cxnSp>
      <p:cxnSp>
        <p:nvCxnSpPr>
          <p:cNvPr id="34" name="Connector 33"/>
          <p:cNvCxnSpPr/>
          <p:nvPr/>
        </p:nvCxnSpPr>
        <p:spPr>
          <a:xfrm flipV="1">
            <a:off x="10634472" y="2926079"/>
            <a:ext cx="0" cy="548641"/>
          </a:xfrm>
          <a:prstGeom prst="line">
            <a:avLst/>
          </a:prstGeom>
          <a:ln w="25400">
            <a:solidFill>
              <a:srgbClr val="1F394D"/>
            </a:solidFill>
          </a:ln>
        </p:spPr>
      </p:cxnSp>
      <p:sp>
        <p:nvSpPr>
          <p:cNvPr id="35" name="Rectangle 34"/>
          <p:cNvSpPr/>
          <p:nvPr/>
        </p:nvSpPr>
        <p:spPr>
          <a:xfrm>
            <a:off x="5148072" y="2651759"/>
            <a:ext cx="2743199" cy="1097280"/>
          </a:xfrm>
          <a:prstGeom prst="rect">
            <a:avLst/>
          </a:prstGeom>
          <a:solidFill>
            <a:srgbClr val="CCDDEA"/>
          </a:solidFill>
          <a:ln w="15875">
            <a:solidFill>
              <a:srgbClr val="1F394D"/>
            </a:solidFill>
          </a:ln>
        </p:spPr>
        <p:txBody>
          <a:bodyPr rtlCol="0" anchor="ctr"/>
          <a:lstStyle/>
          <a:p>
            <a:endParaRPr/>
          </a:p>
        </p:txBody>
      </p:sp>
      <p:cxnSp>
        <p:nvCxnSpPr>
          <p:cNvPr id="36" name="Connector 35"/>
          <p:cNvCxnSpPr/>
          <p:nvPr/>
        </p:nvCxnSpPr>
        <p:spPr>
          <a:xfrm flipV="1">
            <a:off x="6976872" y="2651759"/>
            <a:ext cx="0" cy="1097280"/>
          </a:xfrm>
          <a:prstGeom prst="line">
            <a:avLst/>
          </a:prstGeom>
          <a:ln w="50800">
            <a:solidFill>
              <a:srgbClr val="1F394D"/>
            </a:solidFill>
          </a:ln>
        </p:spPr>
      </p:cxnSp>
      <p:sp>
        <p:nvSpPr>
          <p:cNvPr id="37" name="Diamond 36"/>
          <p:cNvSpPr/>
          <p:nvPr/>
        </p:nvSpPr>
        <p:spPr>
          <a:xfrm>
            <a:off x="6329280" y="3099815"/>
            <a:ext cx="201168" cy="201168"/>
          </a:xfrm>
          <a:prstGeom prst="diamond">
            <a:avLst/>
          </a:prstGeom>
          <a:solidFill>
            <a:srgbClr val="B88C00"/>
          </a:solidFill>
          <a:ln>
            <a:noFill/>
          </a:ln>
        </p:spPr>
        <p:txBody>
          <a:bodyPr rtlCol="0" anchor="ctr"/>
          <a:lstStyle/>
          <a:p>
            <a:pPr algn="ctr"/>
            <a:endParaRPr/>
          </a:p>
        </p:txBody>
      </p:sp>
      <p:sp>
        <p:nvSpPr>
          <p:cNvPr id="38" name="TextBox 37"/>
          <p:cNvSpPr txBox="1"/>
          <p:nvPr/>
        </p:nvSpPr>
        <p:spPr>
          <a:xfrm>
            <a:off x="301751" y="2148839"/>
            <a:ext cx="2377440" cy="292608"/>
          </a:xfrm>
          <a:prstGeom prst="rect">
            <a:avLst/>
          </a:prstGeom>
          <a:noFill/>
        </p:spPr>
        <p:txBody>
          <a:bodyPr wrap="square" lIns="0" tIns="0" rIns="0" bIns="0" anchor="t">
            <a:spAutoFit/>
          </a:bodyPr>
          <a:lstStyle/>
          <a:p>
            <a:pPr algn="ctr"/>
            <a:r>
              <a:rPr sz="1400" b="1" i="0">
                <a:solidFill>
                  <a:srgbClr val="1F394D"/>
                </a:solidFill>
              </a:rPr>
              <a:t>Minimum 0</a:t>
            </a:r>
          </a:p>
        </p:txBody>
      </p:sp>
      <p:sp>
        <p:nvSpPr>
          <p:cNvPr id="39" name="TextBox 38"/>
          <p:cNvSpPr txBox="1"/>
          <p:nvPr/>
        </p:nvSpPr>
        <p:spPr>
          <a:xfrm>
            <a:off x="3959352" y="1828799"/>
            <a:ext cx="2377440" cy="292608"/>
          </a:xfrm>
          <a:prstGeom prst="rect">
            <a:avLst/>
          </a:prstGeom>
          <a:noFill/>
        </p:spPr>
        <p:txBody>
          <a:bodyPr wrap="square" lIns="0" tIns="0" rIns="0" bIns="0" anchor="t">
            <a:spAutoFit/>
          </a:bodyPr>
          <a:lstStyle/>
          <a:p>
            <a:pPr algn="ctr"/>
            <a:r>
              <a:rPr sz="1400" b="1" i="0">
                <a:solidFill>
                  <a:srgbClr val="1F394D"/>
                </a:solidFill>
              </a:rPr>
              <a:t>25th percentile (Q1) = 4</a:t>
            </a:r>
          </a:p>
        </p:txBody>
      </p:sp>
      <p:sp>
        <p:nvSpPr>
          <p:cNvPr id="40" name="TextBox 39"/>
          <p:cNvSpPr txBox="1"/>
          <p:nvPr/>
        </p:nvSpPr>
        <p:spPr>
          <a:xfrm>
            <a:off x="5788152" y="1508759"/>
            <a:ext cx="2377440" cy="292608"/>
          </a:xfrm>
          <a:prstGeom prst="rect">
            <a:avLst/>
          </a:prstGeom>
          <a:noFill/>
        </p:spPr>
        <p:txBody>
          <a:bodyPr wrap="square" lIns="0" tIns="0" rIns="0" bIns="0" anchor="t">
            <a:spAutoFit/>
          </a:bodyPr>
          <a:lstStyle/>
          <a:p>
            <a:pPr algn="ctr"/>
            <a:r>
              <a:rPr sz="1400" b="1" i="0">
                <a:solidFill>
                  <a:srgbClr val="1F394D"/>
                </a:solidFill>
              </a:rPr>
              <a:t>Median = 6</a:t>
            </a:r>
          </a:p>
        </p:txBody>
      </p:sp>
      <p:sp>
        <p:nvSpPr>
          <p:cNvPr id="41" name="TextBox 40"/>
          <p:cNvSpPr txBox="1"/>
          <p:nvPr/>
        </p:nvSpPr>
        <p:spPr>
          <a:xfrm>
            <a:off x="6702551" y="1828799"/>
            <a:ext cx="2377440" cy="292608"/>
          </a:xfrm>
          <a:prstGeom prst="rect">
            <a:avLst/>
          </a:prstGeom>
          <a:noFill/>
        </p:spPr>
        <p:txBody>
          <a:bodyPr wrap="square" lIns="0" tIns="0" rIns="0" bIns="0" anchor="t">
            <a:spAutoFit/>
          </a:bodyPr>
          <a:lstStyle/>
          <a:p>
            <a:pPr algn="ctr"/>
            <a:r>
              <a:rPr sz="1400" b="1" i="0">
                <a:solidFill>
                  <a:srgbClr val="1F394D"/>
                </a:solidFill>
              </a:rPr>
              <a:t>75th percentile (Q3) = 7</a:t>
            </a:r>
          </a:p>
        </p:txBody>
      </p:sp>
      <p:sp>
        <p:nvSpPr>
          <p:cNvPr id="42" name="TextBox 41"/>
          <p:cNvSpPr txBox="1"/>
          <p:nvPr/>
        </p:nvSpPr>
        <p:spPr>
          <a:xfrm>
            <a:off x="9445751" y="2148839"/>
            <a:ext cx="2377440" cy="292608"/>
          </a:xfrm>
          <a:prstGeom prst="rect">
            <a:avLst/>
          </a:prstGeom>
          <a:noFill/>
        </p:spPr>
        <p:txBody>
          <a:bodyPr wrap="square" lIns="0" tIns="0" rIns="0" bIns="0" anchor="t">
            <a:spAutoFit/>
          </a:bodyPr>
          <a:lstStyle/>
          <a:p>
            <a:pPr algn="ctr"/>
            <a:r>
              <a:rPr sz="1400" b="1" i="0">
                <a:solidFill>
                  <a:srgbClr val="1F394D"/>
                </a:solidFill>
              </a:rPr>
              <a:t>Maximum 10</a:t>
            </a:r>
          </a:p>
        </p:txBody>
      </p:sp>
      <p:sp>
        <p:nvSpPr>
          <p:cNvPr id="43" name="TextBox 42"/>
          <p:cNvSpPr txBox="1"/>
          <p:nvPr/>
        </p:nvSpPr>
        <p:spPr>
          <a:xfrm>
            <a:off x="5698344" y="3858768"/>
            <a:ext cx="1463040" cy="292608"/>
          </a:xfrm>
          <a:prstGeom prst="rect">
            <a:avLst/>
          </a:prstGeom>
          <a:noFill/>
        </p:spPr>
        <p:txBody>
          <a:bodyPr wrap="square" lIns="0" tIns="0" rIns="0" bIns="0" anchor="t">
            <a:spAutoFit/>
          </a:bodyPr>
          <a:lstStyle/>
          <a:p>
            <a:pPr algn="ctr"/>
            <a:r>
              <a:rPr sz="1400" b="1" i="0">
                <a:solidFill>
                  <a:srgbClr val="7A5C00"/>
                </a:solidFill>
              </a:rPr>
              <a:t>mean = 5.4</a:t>
            </a:r>
          </a:p>
        </p:txBody>
      </p:sp>
      <p:sp>
        <p:nvSpPr>
          <p:cNvPr id="44" name="Rounded Rectangle 43"/>
          <p:cNvSpPr/>
          <p:nvPr/>
        </p:nvSpPr>
        <p:spPr>
          <a:xfrm>
            <a:off x="758952" y="4937760"/>
            <a:ext cx="3429000" cy="914400"/>
          </a:xfrm>
          <a:prstGeom prst="roundRect">
            <a:avLst>
              <a:gd name="adj" fmla="val 8000"/>
            </a:avLst>
          </a:prstGeom>
          <a:solidFill>
            <a:srgbClr val="EEF3F7"/>
          </a:solidFill>
          <a:ln>
            <a:noFill/>
          </a:ln>
        </p:spPr>
        <p:txBody>
          <a:bodyPr rtlCol="0" anchor="ctr"/>
          <a:lstStyle/>
          <a:p>
            <a:endParaRPr/>
          </a:p>
        </p:txBody>
      </p:sp>
      <p:sp>
        <p:nvSpPr>
          <p:cNvPr id="45" name="TextBox 44"/>
          <p:cNvSpPr txBox="1"/>
          <p:nvPr/>
        </p:nvSpPr>
        <p:spPr>
          <a:xfrm>
            <a:off x="896112" y="5047488"/>
            <a:ext cx="3154680" cy="694944"/>
          </a:xfrm>
          <a:prstGeom prst="rect">
            <a:avLst/>
          </a:prstGeom>
          <a:noFill/>
        </p:spPr>
        <p:txBody>
          <a:bodyPr wrap="square" lIns="0" tIns="0" rIns="0" bIns="0" anchor="t">
            <a:spAutoFit/>
          </a:bodyPr>
          <a:lstStyle/>
          <a:p>
            <a:pPr algn="l">
              <a:spcAft>
                <a:spcPts val="400"/>
              </a:spcAft>
            </a:pPr>
            <a:r>
              <a:rPr sz="1800" b="1" i="0">
                <a:solidFill>
                  <a:srgbClr val="1F394D"/>
                </a:solidFill>
              </a:rPr>
              <a:t>IQR = 3</a:t>
            </a:r>
          </a:p>
          <a:p>
            <a:pPr algn="l">
              <a:spcAft>
                <a:spcPts val="400"/>
              </a:spcAft>
            </a:pPr>
            <a:r>
              <a:rPr sz="1400" b="0" i="0">
                <a:solidFill>
                  <a:srgbClr val="1F2A33"/>
                </a:solidFill>
              </a:rPr>
              <a:t>The middle half of respondents answered between 4 and 7.</a:t>
            </a:r>
          </a:p>
        </p:txBody>
      </p:sp>
      <p:sp>
        <p:nvSpPr>
          <p:cNvPr id="46" name="Rounded Rectangle 45"/>
          <p:cNvSpPr/>
          <p:nvPr/>
        </p:nvSpPr>
        <p:spPr>
          <a:xfrm>
            <a:off x="4370832" y="4937760"/>
            <a:ext cx="3429000" cy="914400"/>
          </a:xfrm>
          <a:prstGeom prst="roundRect">
            <a:avLst>
              <a:gd name="adj" fmla="val 8000"/>
            </a:avLst>
          </a:prstGeom>
          <a:solidFill>
            <a:srgbClr val="EEF3F7"/>
          </a:solidFill>
          <a:ln>
            <a:noFill/>
          </a:ln>
        </p:spPr>
        <p:txBody>
          <a:bodyPr rtlCol="0" anchor="ctr"/>
          <a:lstStyle/>
          <a:p>
            <a:endParaRPr/>
          </a:p>
        </p:txBody>
      </p:sp>
      <p:sp>
        <p:nvSpPr>
          <p:cNvPr id="47" name="TextBox 46"/>
          <p:cNvSpPr txBox="1"/>
          <p:nvPr/>
        </p:nvSpPr>
        <p:spPr>
          <a:xfrm>
            <a:off x="4507992" y="5047488"/>
            <a:ext cx="3154680" cy="694944"/>
          </a:xfrm>
          <a:prstGeom prst="rect">
            <a:avLst/>
          </a:prstGeom>
          <a:noFill/>
        </p:spPr>
        <p:txBody>
          <a:bodyPr wrap="square" lIns="0" tIns="0" rIns="0" bIns="0" anchor="t">
            <a:spAutoFit/>
          </a:bodyPr>
          <a:lstStyle/>
          <a:p>
            <a:pPr algn="l">
              <a:spcAft>
                <a:spcPts val="400"/>
              </a:spcAft>
            </a:pPr>
            <a:r>
              <a:rPr sz="1800" b="1" i="0">
                <a:solidFill>
                  <a:srgbClr val="1F394D"/>
                </a:solidFill>
              </a:rPr>
              <a:t>SD = 2.30</a:t>
            </a:r>
          </a:p>
          <a:p>
            <a:pPr algn="l">
              <a:spcAft>
                <a:spcPts val="400"/>
              </a:spcAft>
            </a:pPr>
            <a:r>
              <a:rPr sz="1400" b="0" i="0">
                <a:solidFill>
                  <a:srgbClr val="1F2A33"/>
                </a:solidFill>
              </a:rPr>
              <a:t>Typical distance of an answer from the mean.</a:t>
            </a:r>
          </a:p>
        </p:txBody>
      </p:sp>
      <p:sp>
        <p:nvSpPr>
          <p:cNvPr id="48" name="Rounded Rectangle 47"/>
          <p:cNvSpPr/>
          <p:nvPr/>
        </p:nvSpPr>
        <p:spPr>
          <a:xfrm>
            <a:off x="7982712" y="4937760"/>
            <a:ext cx="3429000" cy="914400"/>
          </a:xfrm>
          <a:prstGeom prst="roundRect">
            <a:avLst>
              <a:gd name="adj" fmla="val 8000"/>
            </a:avLst>
          </a:prstGeom>
          <a:solidFill>
            <a:srgbClr val="EEF3F7"/>
          </a:solidFill>
          <a:ln>
            <a:noFill/>
          </a:ln>
        </p:spPr>
        <p:txBody>
          <a:bodyPr rtlCol="0" anchor="ctr"/>
          <a:lstStyle/>
          <a:p>
            <a:endParaRPr/>
          </a:p>
        </p:txBody>
      </p:sp>
      <p:sp>
        <p:nvSpPr>
          <p:cNvPr id="49" name="TextBox 48"/>
          <p:cNvSpPr txBox="1"/>
          <p:nvPr/>
        </p:nvSpPr>
        <p:spPr>
          <a:xfrm>
            <a:off x="8119872" y="5047488"/>
            <a:ext cx="3154680" cy="694944"/>
          </a:xfrm>
          <a:prstGeom prst="rect">
            <a:avLst/>
          </a:prstGeom>
          <a:noFill/>
        </p:spPr>
        <p:txBody>
          <a:bodyPr wrap="square" lIns="0" tIns="0" rIns="0" bIns="0" anchor="t">
            <a:spAutoFit/>
          </a:bodyPr>
          <a:lstStyle/>
          <a:p>
            <a:pPr algn="l">
              <a:spcAft>
                <a:spcPts val="400"/>
              </a:spcAft>
            </a:pPr>
            <a:r>
              <a:rPr sz="1800" b="1" i="0">
                <a:solidFill>
                  <a:srgbClr val="1F394D"/>
                </a:solidFill>
              </a:rPr>
              <a:t>60% in the box</a:t>
            </a:r>
          </a:p>
          <a:p>
            <a:pPr algn="l">
              <a:spcAft>
                <a:spcPts val="400"/>
              </a:spcAft>
            </a:pPr>
            <a:r>
              <a:rPr sz="1400" b="0" i="0">
                <a:solidFill>
                  <a:srgbClr val="1F2A33"/>
                </a:solidFill>
              </a:rPr>
              <a:t>With whole-number answers the box holds a bit more than half.</a:t>
            </a:r>
          </a:p>
        </p:txBody>
      </p:sp>
      <p:sp>
        <p:nvSpPr>
          <p:cNvPr id="50" name="TextBox 49"/>
          <p:cNvSpPr txBox="1"/>
          <p:nvPr/>
        </p:nvSpPr>
        <p:spPr>
          <a:xfrm>
            <a:off x="758952" y="5997571"/>
            <a:ext cx="10607040" cy="184666"/>
          </a:xfrm>
          <a:prstGeom prst="rect">
            <a:avLst/>
          </a:prstGeom>
          <a:noFill/>
        </p:spPr>
        <p:txBody>
          <a:bodyPr wrap="square" lIns="0" tIns="0" rIns="0" bIns="0" anchor="ctr">
            <a:spAutoFit/>
          </a:bodyPr>
          <a:lstStyle/>
          <a:p>
            <a:pPr algn="l"/>
            <a:r>
              <a:rPr sz="1200" b="0" i="0" dirty="0">
                <a:solidFill>
                  <a:srgbClr val="55606B"/>
                </a:solidFill>
              </a:rPr>
              <a:t>Data: European Social Survey Round 11 (2023-24), UK sample, n = 1,680 (</a:t>
            </a:r>
            <a:r>
              <a:rPr sz="1200" b="0" i="0" dirty="0" err="1">
                <a:solidFill>
                  <a:srgbClr val="55606B"/>
                </a:solidFill>
              </a:rPr>
              <a:t>gb-ess11-trust.sav</a:t>
            </a:r>
            <a:r>
              <a:rPr sz="1200" b="0" i="0" dirty="0">
                <a:solidFill>
                  <a:srgbClr val="55606B"/>
                </a:solidFill>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Comparing group averages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23</a:t>
            </a:fld>
            <a:endParaRPr lang="en-GB"/>
          </a:p>
        </p:txBody>
      </p:sp>
      <p:graphicFrame>
        <p:nvGraphicFramePr>
          <p:cNvPr id="7" name="Table 6"/>
          <p:cNvGraphicFramePr>
            <a:graphicFrameLocks noGrp="1"/>
          </p:cNvGraphicFramePr>
          <p:nvPr/>
        </p:nvGraphicFramePr>
        <p:xfrm>
          <a:off x="758952" y="1417320"/>
          <a:ext cx="5120640" cy="2267712"/>
        </p:xfrm>
        <a:graphic>
          <a:graphicData uri="http://schemas.openxmlformats.org/drawingml/2006/table">
            <a:tbl>
              <a:tblPr firstRow="1">
                <a:tableStyleId>{5C22544A-7EE6-4342-B048-85BDC9FD1C3A}</a:tableStyleId>
              </a:tblPr>
              <a:tblGrid>
                <a:gridCol w="16459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566928">
                <a:tc>
                  <a:txBody>
                    <a:bodyPr/>
                    <a:lstStyle/>
                    <a:p>
                      <a:pPr algn="l"/>
                      <a:r>
                        <a:rPr sz="1700" b="1">
                          <a:solidFill>
                            <a:srgbClr val="FFFFFF"/>
                          </a:solidFill>
                        </a:rPr>
                        <a:t>ESS 2023-24</a:t>
                      </a:r>
                    </a:p>
                  </a:txBody>
                  <a:tcPr marT="27432" marB="27432" anchor="ctr">
                    <a:solidFill>
                      <a:srgbClr val="1F394D"/>
                    </a:solidFill>
                  </a:tcPr>
                </a:tc>
                <a:tc>
                  <a:txBody>
                    <a:bodyPr/>
                    <a:lstStyle/>
                    <a:p>
                      <a:pPr algn="r"/>
                      <a:r>
                        <a:rPr sz="1700" b="1">
                          <a:solidFill>
                            <a:srgbClr val="FFFFFF"/>
                          </a:solidFill>
                        </a:rPr>
                        <a:t>n</a:t>
                      </a:r>
                    </a:p>
                  </a:txBody>
                  <a:tcPr marT="27432" marB="27432" anchor="ctr">
                    <a:solidFill>
                      <a:srgbClr val="1F394D"/>
                    </a:solidFill>
                  </a:tcPr>
                </a:tc>
                <a:tc>
                  <a:txBody>
                    <a:bodyPr/>
                    <a:lstStyle/>
                    <a:p>
                      <a:pPr algn="r"/>
                      <a:r>
                        <a:rPr sz="1700" b="1">
                          <a:solidFill>
                            <a:srgbClr val="FFFFFF"/>
                          </a:solidFill>
                        </a:rPr>
                        <a:t>Mean</a:t>
                      </a:r>
                    </a:p>
                  </a:txBody>
                  <a:tcPr marT="27432" marB="27432" anchor="ctr">
                    <a:solidFill>
                      <a:srgbClr val="1F394D"/>
                    </a:solidFill>
                  </a:tcPr>
                </a:tc>
                <a:tc>
                  <a:txBody>
                    <a:bodyPr/>
                    <a:lstStyle/>
                    <a:p>
                      <a:pPr algn="r"/>
                      <a:r>
                        <a:rPr sz="1700" b="1">
                          <a:solidFill>
                            <a:srgbClr val="FFFFFF"/>
                          </a:solidFill>
                        </a:rPr>
                        <a:t>Median</a:t>
                      </a:r>
                    </a:p>
                  </a:txBody>
                  <a:tcPr marT="27432" marB="27432" anchor="ctr">
                    <a:solidFill>
                      <a:srgbClr val="1F394D"/>
                    </a:solidFill>
                  </a:tcPr>
                </a:tc>
                <a:tc>
                  <a:txBody>
                    <a:bodyPr/>
                    <a:lstStyle/>
                    <a:p>
                      <a:pPr algn="r"/>
                      <a:r>
                        <a:rPr sz="1700" b="1">
                          <a:solidFill>
                            <a:srgbClr val="FFFFFF"/>
                          </a:solidFill>
                        </a:rPr>
                        <a:t>SD</a:t>
                      </a:r>
                    </a:p>
                  </a:txBody>
                  <a:tcPr marT="27432" marB="27432" anchor="ctr">
                    <a:solidFill>
                      <a:srgbClr val="1F394D"/>
                    </a:solidFill>
                  </a:tcPr>
                </a:tc>
                <a:extLst>
                  <a:ext uri="{0D108BD9-81ED-4DB2-BD59-A6C34878D82A}">
                    <a16:rowId xmlns:a16="http://schemas.microsoft.com/office/drawing/2014/main" val="10000"/>
                  </a:ext>
                </a:extLst>
              </a:tr>
              <a:tr h="566928">
                <a:tc>
                  <a:txBody>
                    <a:bodyPr/>
                    <a:lstStyle/>
                    <a:p>
                      <a:pPr algn="l"/>
                      <a:r>
                        <a:rPr sz="1700" b="1">
                          <a:solidFill>
                            <a:srgbClr val="1F2A33"/>
                          </a:solidFill>
                        </a:rPr>
                        <a:t>Men</a:t>
                      </a:r>
                    </a:p>
                  </a:txBody>
                  <a:tcPr marT="27432" marB="27432" anchor="ctr">
                    <a:solidFill>
                      <a:srgbClr val="FFFFFF"/>
                    </a:solidFill>
                  </a:tcPr>
                </a:tc>
                <a:tc>
                  <a:txBody>
                    <a:bodyPr/>
                    <a:lstStyle/>
                    <a:p>
                      <a:pPr algn="r"/>
                      <a:r>
                        <a:rPr sz="1700" b="0">
                          <a:solidFill>
                            <a:srgbClr val="1F2A33"/>
                          </a:solidFill>
                        </a:rPr>
                        <a:t>822</a:t>
                      </a:r>
                    </a:p>
                  </a:txBody>
                  <a:tcPr marT="27432" marB="27432" anchor="ctr">
                    <a:solidFill>
                      <a:srgbClr val="FFFFFF"/>
                    </a:solidFill>
                  </a:tcPr>
                </a:tc>
                <a:tc>
                  <a:txBody>
                    <a:bodyPr/>
                    <a:lstStyle/>
                    <a:p>
                      <a:pPr algn="r"/>
                      <a:r>
                        <a:rPr sz="1700" b="0">
                          <a:solidFill>
                            <a:srgbClr val="1F2A33"/>
                          </a:solidFill>
                        </a:rPr>
                        <a:t>5.54</a:t>
                      </a:r>
                    </a:p>
                  </a:txBody>
                  <a:tcPr marT="27432" marB="27432" anchor="ctr">
                    <a:solidFill>
                      <a:srgbClr val="FFFFFF"/>
                    </a:solidFill>
                  </a:tcPr>
                </a:tc>
                <a:tc>
                  <a:txBody>
                    <a:bodyPr/>
                    <a:lstStyle/>
                    <a:p>
                      <a:pPr algn="r"/>
                      <a:r>
                        <a:rPr sz="1700" b="0">
                          <a:solidFill>
                            <a:srgbClr val="1F2A33"/>
                          </a:solidFill>
                        </a:rPr>
                        <a:t>6</a:t>
                      </a:r>
                    </a:p>
                  </a:txBody>
                  <a:tcPr marT="27432" marB="27432" anchor="ctr">
                    <a:solidFill>
                      <a:srgbClr val="FFFFFF"/>
                    </a:solidFill>
                  </a:tcPr>
                </a:tc>
                <a:tc>
                  <a:txBody>
                    <a:bodyPr/>
                    <a:lstStyle/>
                    <a:p>
                      <a:pPr algn="r"/>
                      <a:r>
                        <a:rPr sz="1700" b="0">
                          <a:solidFill>
                            <a:srgbClr val="1F2A33"/>
                          </a:solidFill>
                        </a:rPr>
                        <a:t>2.24</a:t>
                      </a:r>
                    </a:p>
                  </a:txBody>
                  <a:tcPr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1700" b="1">
                          <a:solidFill>
                            <a:srgbClr val="1F2A33"/>
                          </a:solidFill>
                        </a:rPr>
                        <a:t>Women</a:t>
                      </a:r>
                    </a:p>
                  </a:txBody>
                  <a:tcPr marT="27432" marB="27432" anchor="ctr">
                    <a:solidFill>
                      <a:srgbClr val="EEF3F7"/>
                    </a:solidFill>
                  </a:tcPr>
                </a:tc>
                <a:tc>
                  <a:txBody>
                    <a:bodyPr/>
                    <a:lstStyle/>
                    <a:p>
                      <a:pPr algn="r"/>
                      <a:r>
                        <a:rPr sz="1700" b="0">
                          <a:solidFill>
                            <a:srgbClr val="1F2A33"/>
                          </a:solidFill>
                        </a:rPr>
                        <a:t>858</a:t>
                      </a:r>
                    </a:p>
                  </a:txBody>
                  <a:tcPr marT="27432" marB="27432" anchor="ctr">
                    <a:solidFill>
                      <a:srgbClr val="EEF3F7"/>
                    </a:solidFill>
                  </a:tcPr>
                </a:tc>
                <a:tc>
                  <a:txBody>
                    <a:bodyPr/>
                    <a:lstStyle/>
                    <a:p>
                      <a:pPr algn="r"/>
                      <a:r>
                        <a:rPr sz="1700" b="0">
                          <a:solidFill>
                            <a:srgbClr val="1F2A33"/>
                          </a:solidFill>
                        </a:rPr>
                        <a:t>5.27</a:t>
                      </a:r>
                    </a:p>
                  </a:txBody>
                  <a:tcPr marT="27432" marB="27432" anchor="ctr">
                    <a:solidFill>
                      <a:srgbClr val="EEF3F7"/>
                    </a:solidFill>
                  </a:tcPr>
                </a:tc>
                <a:tc>
                  <a:txBody>
                    <a:bodyPr/>
                    <a:lstStyle/>
                    <a:p>
                      <a:pPr algn="r"/>
                      <a:r>
                        <a:rPr sz="1700" b="0">
                          <a:solidFill>
                            <a:srgbClr val="1F2A33"/>
                          </a:solidFill>
                        </a:rPr>
                        <a:t>5</a:t>
                      </a:r>
                    </a:p>
                  </a:txBody>
                  <a:tcPr marT="27432" marB="27432" anchor="ctr">
                    <a:solidFill>
                      <a:srgbClr val="EEF3F7"/>
                    </a:solidFill>
                  </a:tcPr>
                </a:tc>
                <a:tc>
                  <a:txBody>
                    <a:bodyPr/>
                    <a:lstStyle/>
                    <a:p>
                      <a:pPr algn="r"/>
                      <a:r>
                        <a:rPr sz="1700" b="0">
                          <a:solidFill>
                            <a:srgbClr val="1F2A33"/>
                          </a:solidFill>
                        </a:rPr>
                        <a:t>2.34</a:t>
                      </a:r>
                    </a:p>
                  </a:txBody>
                  <a:tcPr marT="27432" marB="27432" anchor="ctr">
                    <a:solidFill>
                      <a:srgbClr val="EEF3F7"/>
                    </a:solidFill>
                  </a:tcPr>
                </a:tc>
                <a:extLst>
                  <a:ext uri="{0D108BD9-81ED-4DB2-BD59-A6C34878D82A}">
                    <a16:rowId xmlns:a16="http://schemas.microsoft.com/office/drawing/2014/main" val="10002"/>
                  </a:ext>
                </a:extLst>
              </a:tr>
              <a:tr h="566928">
                <a:tc>
                  <a:txBody>
                    <a:bodyPr/>
                    <a:lstStyle/>
                    <a:p>
                      <a:pPr algn="l"/>
                      <a:r>
                        <a:rPr sz="1700" b="1">
                          <a:solidFill>
                            <a:srgbClr val="1F2A33"/>
                          </a:solidFill>
                        </a:rPr>
                        <a:t>Men − women</a:t>
                      </a:r>
                    </a:p>
                  </a:txBody>
                  <a:tcPr marT="27432" marB="27432" anchor="ctr">
                    <a:solidFill>
                      <a:srgbClr val="F6E7B8"/>
                    </a:solidFill>
                  </a:tcPr>
                </a:tc>
                <a:tc>
                  <a:txBody>
                    <a:bodyPr/>
                    <a:lstStyle/>
                    <a:p>
                      <a:pPr algn="r"/>
                      <a:endParaRPr/>
                    </a:p>
                  </a:txBody>
                  <a:tcPr marT="27432" marB="27432" anchor="ctr">
                    <a:solidFill>
                      <a:srgbClr val="F6E7B8"/>
                    </a:solidFill>
                  </a:tcPr>
                </a:tc>
                <a:tc>
                  <a:txBody>
                    <a:bodyPr/>
                    <a:lstStyle/>
                    <a:p>
                      <a:pPr algn="r"/>
                      <a:r>
                        <a:rPr sz="1700" b="0">
                          <a:solidFill>
                            <a:srgbClr val="1F2A33"/>
                          </a:solidFill>
                        </a:rPr>
                        <a:t>0.27</a:t>
                      </a:r>
                    </a:p>
                  </a:txBody>
                  <a:tcPr marT="27432" marB="27432" anchor="ctr">
                    <a:solidFill>
                      <a:srgbClr val="F6E7B8"/>
                    </a:solidFill>
                  </a:tcPr>
                </a:tc>
                <a:tc>
                  <a:txBody>
                    <a:bodyPr/>
                    <a:lstStyle/>
                    <a:p>
                      <a:pPr algn="r"/>
                      <a:r>
                        <a:rPr sz="1700" b="0">
                          <a:solidFill>
                            <a:srgbClr val="1F2A33"/>
                          </a:solidFill>
                        </a:rPr>
                        <a:t>1</a:t>
                      </a:r>
                    </a:p>
                  </a:txBody>
                  <a:tcPr marT="27432" marB="27432" anchor="ctr">
                    <a:solidFill>
                      <a:srgbClr val="F6E7B8"/>
                    </a:solidFill>
                  </a:tcPr>
                </a:tc>
                <a:tc>
                  <a:txBody>
                    <a:bodyPr/>
                    <a:lstStyle/>
                    <a:p>
                      <a:pPr algn="r"/>
                      <a:endParaRPr/>
                    </a:p>
                  </a:txBody>
                  <a:tcPr marT="27432" marB="27432" anchor="ctr">
                    <a:solidFill>
                      <a:srgbClr val="F6E7B8"/>
                    </a:solidFill>
                  </a:tcPr>
                </a:tc>
                <a:extLst>
                  <a:ext uri="{0D108BD9-81ED-4DB2-BD59-A6C34878D82A}">
                    <a16:rowId xmlns:a16="http://schemas.microsoft.com/office/drawing/2014/main" val="10003"/>
                  </a:ext>
                </a:extLst>
              </a:tr>
            </a:tbl>
          </a:graphicData>
        </a:graphic>
      </p:graphicFrame>
      <p:cxnSp>
        <p:nvCxnSpPr>
          <p:cNvPr id="8" name="Connector 7"/>
          <p:cNvCxnSpPr/>
          <p:nvPr/>
        </p:nvCxnSpPr>
        <p:spPr>
          <a:xfrm>
            <a:off x="6766560" y="4526280"/>
            <a:ext cx="4389120" cy="0"/>
          </a:xfrm>
          <a:prstGeom prst="line">
            <a:avLst/>
          </a:prstGeom>
          <a:ln w="15875">
            <a:solidFill>
              <a:srgbClr val="BBC4CC"/>
            </a:solidFill>
          </a:ln>
        </p:spPr>
      </p:cxnSp>
      <p:cxnSp>
        <p:nvCxnSpPr>
          <p:cNvPr id="9" name="Connector 8"/>
          <p:cNvCxnSpPr/>
          <p:nvPr/>
        </p:nvCxnSpPr>
        <p:spPr>
          <a:xfrm>
            <a:off x="6766560" y="4526280"/>
            <a:ext cx="0" cy="64008"/>
          </a:xfrm>
          <a:prstGeom prst="line">
            <a:avLst/>
          </a:prstGeom>
          <a:ln w="15875">
            <a:solidFill>
              <a:srgbClr val="BBC4CC"/>
            </a:solidFill>
          </a:ln>
        </p:spPr>
      </p:cxnSp>
      <p:sp>
        <p:nvSpPr>
          <p:cNvPr id="10" name="TextBox 9"/>
          <p:cNvSpPr txBox="1"/>
          <p:nvPr/>
        </p:nvSpPr>
        <p:spPr>
          <a:xfrm>
            <a:off x="6217920" y="4599432"/>
            <a:ext cx="1097280" cy="274320"/>
          </a:xfrm>
          <a:prstGeom prst="rect">
            <a:avLst/>
          </a:prstGeom>
          <a:noFill/>
        </p:spPr>
        <p:txBody>
          <a:bodyPr wrap="square" lIns="0" tIns="0" rIns="0" bIns="0" anchor="t">
            <a:spAutoFit/>
          </a:bodyPr>
          <a:lstStyle/>
          <a:p>
            <a:pPr algn="ctr"/>
            <a:r>
              <a:rPr sz="1300" b="0" i="0">
                <a:solidFill>
                  <a:srgbClr val="55606B"/>
                </a:solidFill>
              </a:rPr>
              <a:t>0</a:t>
            </a:r>
          </a:p>
        </p:txBody>
      </p:sp>
      <p:cxnSp>
        <p:nvCxnSpPr>
          <p:cNvPr id="11" name="Connector 10"/>
          <p:cNvCxnSpPr/>
          <p:nvPr/>
        </p:nvCxnSpPr>
        <p:spPr>
          <a:xfrm>
            <a:off x="7644383" y="4526280"/>
            <a:ext cx="0" cy="64008"/>
          </a:xfrm>
          <a:prstGeom prst="line">
            <a:avLst/>
          </a:prstGeom>
          <a:ln w="15875">
            <a:solidFill>
              <a:srgbClr val="BBC4CC"/>
            </a:solidFill>
          </a:ln>
        </p:spPr>
      </p:cxnSp>
      <p:sp>
        <p:nvSpPr>
          <p:cNvPr id="12" name="TextBox 11"/>
          <p:cNvSpPr txBox="1"/>
          <p:nvPr/>
        </p:nvSpPr>
        <p:spPr>
          <a:xfrm>
            <a:off x="7095744" y="4599432"/>
            <a:ext cx="1097280" cy="274320"/>
          </a:xfrm>
          <a:prstGeom prst="rect">
            <a:avLst/>
          </a:prstGeom>
          <a:noFill/>
        </p:spPr>
        <p:txBody>
          <a:bodyPr wrap="square" lIns="0" tIns="0" rIns="0" bIns="0" anchor="t">
            <a:spAutoFit/>
          </a:bodyPr>
          <a:lstStyle/>
          <a:p>
            <a:pPr algn="ctr"/>
            <a:r>
              <a:rPr sz="1300" b="0" i="0">
                <a:solidFill>
                  <a:srgbClr val="55606B"/>
                </a:solidFill>
              </a:rPr>
              <a:t>2</a:t>
            </a:r>
          </a:p>
        </p:txBody>
      </p:sp>
      <p:cxnSp>
        <p:nvCxnSpPr>
          <p:cNvPr id="13" name="Connector 12"/>
          <p:cNvCxnSpPr/>
          <p:nvPr/>
        </p:nvCxnSpPr>
        <p:spPr>
          <a:xfrm>
            <a:off x="8522208" y="4526280"/>
            <a:ext cx="0" cy="64008"/>
          </a:xfrm>
          <a:prstGeom prst="line">
            <a:avLst/>
          </a:prstGeom>
          <a:ln w="15875">
            <a:solidFill>
              <a:srgbClr val="BBC4CC"/>
            </a:solidFill>
          </a:ln>
        </p:spPr>
      </p:cxnSp>
      <p:sp>
        <p:nvSpPr>
          <p:cNvPr id="14" name="TextBox 13"/>
          <p:cNvSpPr txBox="1"/>
          <p:nvPr/>
        </p:nvSpPr>
        <p:spPr>
          <a:xfrm>
            <a:off x="7973568" y="4599432"/>
            <a:ext cx="1097280" cy="274320"/>
          </a:xfrm>
          <a:prstGeom prst="rect">
            <a:avLst/>
          </a:prstGeom>
          <a:noFill/>
        </p:spPr>
        <p:txBody>
          <a:bodyPr wrap="square" lIns="0" tIns="0" rIns="0" bIns="0" anchor="t">
            <a:spAutoFit/>
          </a:bodyPr>
          <a:lstStyle/>
          <a:p>
            <a:pPr algn="ctr"/>
            <a:r>
              <a:rPr sz="1300" b="0" i="0">
                <a:solidFill>
                  <a:srgbClr val="55606B"/>
                </a:solidFill>
              </a:rPr>
              <a:t>4</a:t>
            </a:r>
          </a:p>
        </p:txBody>
      </p:sp>
      <p:cxnSp>
        <p:nvCxnSpPr>
          <p:cNvPr id="15" name="Connector 14"/>
          <p:cNvCxnSpPr/>
          <p:nvPr/>
        </p:nvCxnSpPr>
        <p:spPr>
          <a:xfrm>
            <a:off x="9400032" y="4526280"/>
            <a:ext cx="0" cy="64008"/>
          </a:xfrm>
          <a:prstGeom prst="line">
            <a:avLst/>
          </a:prstGeom>
          <a:ln w="15875">
            <a:solidFill>
              <a:srgbClr val="BBC4CC"/>
            </a:solidFill>
          </a:ln>
        </p:spPr>
      </p:cxnSp>
      <p:sp>
        <p:nvSpPr>
          <p:cNvPr id="16" name="TextBox 15"/>
          <p:cNvSpPr txBox="1"/>
          <p:nvPr/>
        </p:nvSpPr>
        <p:spPr>
          <a:xfrm>
            <a:off x="8851392" y="4599432"/>
            <a:ext cx="1097280" cy="274320"/>
          </a:xfrm>
          <a:prstGeom prst="rect">
            <a:avLst/>
          </a:prstGeom>
          <a:noFill/>
        </p:spPr>
        <p:txBody>
          <a:bodyPr wrap="square" lIns="0" tIns="0" rIns="0" bIns="0" anchor="t">
            <a:spAutoFit/>
          </a:bodyPr>
          <a:lstStyle/>
          <a:p>
            <a:pPr algn="ctr"/>
            <a:r>
              <a:rPr sz="1300" b="0" i="0">
                <a:solidFill>
                  <a:srgbClr val="55606B"/>
                </a:solidFill>
              </a:rPr>
              <a:t>6</a:t>
            </a:r>
          </a:p>
        </p:txBody>
      </p:sp>
      <p:cxnSp>
        <p:nvCxnSpPr>
          <p:cNvPr id="17" name="Connector 16"/>
          <p:cNvCxnSpPr/>
          <p:nvPr/>
        </p:nvCxnSpPr>
        <p:spPr>
          <a:xfrm>
            <a:off x="10277856" y="4526280"/>
            <a:ext cx="0" cy="64008"/>
          </a:xfrm>
          <a:prstGeom prst="line">
            <a:avLst/>
          </a:prstGeom>
          <a:ln w="15875">
            <a:solidFill>
              <a:srgbClr val="BBC4CC"/>
            </a:solidFill>
          </a:ln>
        </p:spPr>
      </p:cxnSp>
      <p:sp>
        <p:nvSpPr>
          <p:cNvPr id="18" name="TextBox 17"/>
          <p:cNvSpPr txBox="1"/>
          <p:nvPr/>
        </p:nvSpPr>
        <p:spPr>
          <a:xfrm>
            <a:off x="9729216" y="4599432"/>
            <a:ext cx="1097280" cy="274320"/>
          </a:xfrm>
          <a:prstGeom prst="rect">
            <a:avLst/>
          </a:prstGeom>
          <a:noFill/>
        </p:spPr>
        <p:txBody>
          <a:bodyPr wrap="square" lIns="0" tIns="0" rIns="0" bIns="0" anchor="t">
            <a:spAutoFit/>
          </a:bodyPr>
          <a:lstStyle/>
          <a:p>
            <a:pPr algn="ctr"/>
            <a:r>
              <a:rPr sz="1300" b="0" i="0">
                <a:solidFill>
                  <a:srgbClr val="55606B"/>
                </a:solidFill>
              </a:rPr>
              <a:t>8</a:t>
            </a:r>
          </a:p>
        </p:txBody>
      </p:sp>
      <p:cxnSp>
        <p:nvCxnSpPr>
          <p:cNvPr id="19" name="Connector 18"/>
          <p:cNvCxnSpPr/>
          <p:nvPr/>
        </p:nvCxnSpPr>
        <p:spPr>
          <a:xfrm>
            <a:off x="11155680" y="4526280"/>
            <a:ext cx="0" cy="64008"/>
          </a:xfrm>
          <a:prstGeom prst="line">
            <a:avLst/>
          </a:prstGeom>
          <a:ln w="15875">
            <a:solidFill>
              <a:srgbClr val="BBC4CC"/>
            </a:solidFill>
          </a:ln>
        </p:spPr>
      </p:cxnSp>
      <p:sp>
        <p:nvSpPr>
          <p:cNvPr id="20" name="TextBox 19"/>
          <p:cNvSpPr txBox="1"/>
          <p:nvPr/>
        </p:nvSpPr>
        <p:spPr>
          <a:xfrm>
            <a:off x="10607040" y="4599432"/>
            <a:ext cx="1097280" cy="274320"/>
          </a:xfrm>
          <a:prstGeom prst="rect">
            <a:avLst/>
          </a:prstGeom>
          <a:noFill/>
        </p:spPr>
        <p:txBody>
          <a:bodyPr wrap="square" lIns="0" tIns="0" rIns="0" bIns="0" anchor="t">
            <a:spAutoFit/>
          </a:bodyPr>
          <a:lstStyle/>
          <a:p>
            <a:pPr algn="ctr"/>
            <a:r>
              <a:rPr sz="1300" b="0" i="0">
                <a:solidFill>
                  <a:srgbClr val="55606B"/>
                </a:solidFill>
              </a:rPr>
              <a:t>10</a:t>
            </a:r>
          </a:p>
        </p:txBody>
      </p:sp>
      <p:sp>
        <p:nvSpPr>
          <p:cNvPr id="21" name="TextBox 20"/>
          <p:cNvSpPr txBox="1"/>
          <p:nvPr/>
        </p:nvSpPr>
        <p:spPr>
          <a:xfrm>
            <a:off x="6766560" y="4873752"/>
            <a:ext cx="4389120" cy="274320"/>
          </a:xfrm>
          <a:prstGeom prst="rect">
            <a:avLst/>
          </a:prstGeom>
          <a:noFill/>
        </p:spPr>
        <p:txBody>
          <a:bodyPr wrap="square" lIns="0" tIns="0" rIns="0" bIns="0" anchor="t">
            <a:spAutoFit/>
          </a:bodyPr>
          <a:lstStyle/>
          <a:p>
            <a:pPr algn="ctr"/>
            <a:r>
              <a:rPr sz="1300" b="0" i="0">
                <a:solidFill>
                  <a:srgbClr val="55606B"/>
                </a:solidFill>
              </a:rPr>
              <a:t>Trust (0 to 10)</a:t>
            </a:r>
          </a:p>
        </p:txBody>
      </p:sp>
      <p:cxnSp>
        <p:nvCxnSpPr>
          <p:cNvPr id="22" name="Connector 21"/>
          <p:cNvCxnSpPr/>
          <p:nvPr/>
        </p:nvCxnSpPr>
        <p:spPr>
          <a:xfrm>
            <a:off x="8214536" y="2575560"/>
            <a:ext cx="1968388" cy="0"/>
          </a:xfrm>
          <a:prstGeom prst="line">
            <a:avLst/>
          </a:prstGeom>
          <a:ln w="38100">
            <a:solidFill>
              <a:srgbClr val="1F394D"/>
            </a:solidFill>
          </a:ln>
        </p:spPr>
      </p:cxnSp>
      <p:sp>
        <p:nvSpPr>
          <p:cNvPr id="23" name="Oval 22"/>
          <p:cNvSpPr/>
          <p:nvPr/>
        </p:nvSpPr>
        <p:spPr>
          <a:xfrm>
            <a:off x="9089002" y="2465832"/>
            <a:ext cx="219456" cy="219456"/>
          </a:xfrm>
          <a:prstGeom prst="ellipse">
            <a:avLst/>
          </a:prstGeom>
          <a:solidFill>
            <a:srgbClr val="1F394D"/>
          </a:solidFill>
          <a:ln>
            <a:noFill/>
          </a:ln>
        </p:spPr>
        <p:txBody>
          <a:bodyPr rtlCol="0" anchor="ctr"/>
          <a:lstStyle/>
          <a:p>
            <a:pPr algn="ctr"/>
            <a:endParaRPr/>
          </a:p>
        </p:txBody>
      </p:sp>
      <p:sp>
        <p:nvSpPr>
          <p:cNvPr id="24" name="TextBox 23"/>
          <p:cNvSpPr txBox="1"/>
          <p:nvPr/>
        </p:nvSpPr>
        <p:spPr>
          <a:xfrm>
            <a:off x="6720840" y="2118360"/>
            <a:ext cx="1097280" cy="292608"/>
          </a:xfrm>
          <a:prstGeom prst="rect">
            <a:avLst/>
          </a:prstGeom>
          <a:noFill/>
        </p:spPr>
        <p:txBody>
          <a:bodyPr wrap="square" lIns="0" tIns="0" rIns="0" bIns="0" anchor="t">
            <a:spAutoFit/>
          </a:bodyPr>
          <a:lstStyle/>
          <a:p>
            <a:pPr algn="l"/>
            <a:r>
              <a:rPr sz="1600" b="1" i="0">
                <a:solidFill>
                  <a:srgbClr val="1F394D"/>
                </a:solidFill>
              </a:rPr>
              <a:t>Men</a:t>
            </a:r>
          </a:p>
        </p:txBody>
      </p:sp>
      <p:sp>
        <p:nvSpPr>
          <p:cNvPr id="25" name="TextBox 24"/>
          <p:cNvSpPr txBox="1"/>
          <p:nvPr/>
        </p:nvSpPr>
        <p:spPr>
          <a:xfrm>
            <a:off x="8741530" y="2712720"/>
            <a:ext cx="914400" cy="292608"/>
          </a:xfrm>
          <a:prstGeom prst="rect">
            <a:avLst/>
          </a:prstGeom>
          <a:noFill/>
        </p:spPr>
        <p:txBody>
          <a:bodyPr wrap="square" lIns="0" tIns="0" rIns="0" bIns="0" anchor="t">
            <a:spAutoFit/>
          </a:bodyPr>
          <a:lstStyle/>
          <a:p>
            <a:pPr algn="ctr"/>
            <a:r>
              <a:rPr sz="1400" b="1" i="0">
                <a:solidFill>
                  <a:srgbClr val="1F394D"/>
                </a:solidFill>
              </a:rPr>
              <a:t>5.54</a:t>
            </a:r>
          </a:p>
        </p:txBody>
      </p:sp>
      <p:cxnSp>
        <p:nvCxnSpPr>
          <p:cNvPr id="26" name="Connector 25"/>
          <p:cNvCxnSpPr/>
          <p:nvPr/>
        </p:nvCxnSpPr>
        <p:spPr>
          <a:xfrm>
            <a:off x="8050000" y="3550920"/>
            <a:ext cx="2057553" cy="0"/>
          </a:xfrm>
          <a:prstGeom prst="line">
            <a:avLst/>
          </a:prstGeom>
          <a:ln w="38100">
            <a:solidFill>
              <a:srgbClr val="B88C00"/>
            </a:solidFill>
          </a:ln>
        </p:spPr>
      </p:cxnSp>
      <p:sp>
        <p:nvSpPr>
          <p:cNvPr id="27" name="Oval 26"/>
          <p:cNvSpPr/>
          <p:nvPr/>
        </p:nvSpPr>
        <p:spPr>
          <a:xfrm>
            <a:off x="8969049" y="3441192"/>
            <a:ext cx="219456" cy="219456"/>
          </a:xfrm>
          <a:prstGeom prst="ellipse">
            <a:avLst/>
          </a:prstGeom>
          <a:solidFill>
            <a:srgbClr val="B88C00"/>
          </a:solidFill>
          <a:ln>
            <a:noFill/>
          </a:ln>
        </p:spPr>
        <p:txBody>
          <a:bodyPr rtlCol="0" anchor="ctr"/>
          <a:lstStyle/>
          <a:p>
            <a:pPr algn="ctr"/>
            <a:endParaRPr/>
          </a:p>
        </p:txBody>
      </p:sp>
      <p:sp>
        <p:nvSpPr>
          <p:cNvPr id="28" name="TextBox 27"/>
          <p:cNvSpPr txBox="1"/>
          <p:nvPr/>
        </p:nvSpPr>
        <p:spPr>
          <a:xfrm>
            <a:off x="6720840" y="3093720"/>
            <a:ext cx="1097280" cy="292608"/>
          </a:xfrm>
          <a:prstGeom prst="rect">
            <a:avLst/>
          </a:prstGeom>
          <a:noFill/>
        </p:spPr>
        <p:txBody>
          <a:bodyPr wrap="square" lIns="0" tIns="0" rIns="0" bIns="0" anchor="t">
            <a:spAutoFit/>
          </a:bodyPr>
          <a:lstStyle/>
          <a:p>
            <a:pPr algn="l"/>
            <a:r>
              <a:rPr sz="1600" b="1" i="0">
                <a:solidFill>
                  <a:srgbClr val="B88C00"/>
                </a:solidFill>
              </a:rPr>
              <a:t>Women</a:t>
            </a:r>
          </a:p>
        </p:txBody>
      </p:sp>
      <p:sp>
        <p:nvSpPr>
          <p:cNvPr id="29" name="TextBox 28"/>
          <p:cNvSpPr txBox="1"/>
          <p:nvPr/>
        </p:nvSpPr>
        <p:spPr>
          <a:xfrm>
            <a:off x="8621577" y="3688080"/>
            <a:ext cx="914400" cy="292608"/>
          </a:xfrm>
          <a:prstGeom prst="rect">
            <a:avLst/>
          </a:prstGeom>
          <a:noFill/>
        </p:spPr>
        <p:txBody>
          <a:bodyPr wrap="square" lIns="0" tIns="0" rIns="0" bIns="0" anchor="t">
            <a:spAutoFit/>
          </a:bodyPr>
          <a:lstStyle/>
          <a:p>
            <a:pPr algn="ctr"/>
            <a:r>
              <a:rPr sz="1400" b="1" i="0">
                <a:solidFill>
                  <a:srgbClr val="B88C00"/>
                </a:solidFill>
              </a:rPr>
              <a:t>5.27</a:t>
            </a:r>
          </a:p>
        </p:txBody>
      </p:sp>
      <p:sp>
        <p:nvSpPr>
          <p:cNvPr id="30" name="TextBox 29"/>
          <p:cNvSpPr txBox="1"/>
          <p:nvPr/>
        </p:nvSpPr>
        <p:spPr>
          <a:xfrm>
            <a:off x="6766560" y="5074920"/>
            <a:ext cx="4389120" cy="640080"/>
          </a:xfrm>
          <a:prstGeom prst="rect">
            <a:avLst/>
          </a:prstGeom>
          <a:noFill/>
        </p:spPr>
        <p:txBody>
          <a:bodyPr wrap="square" lIns="0" tIns="0" rIns="0" bIns="0" anchor="t">
            <a:spAutoFit/>
          </a:bodyPr>
          <a:lstStyle/>
          <a:p>
            <a:pPr algn="ctr"/>
            <a:r>
              <a:rPr sz="1400" b="0" i="0">
                <a:solidFill>
                  <a:srgbClr val="55606B"/>
                </a:solidFill>
              </a:rPr>
              <a:t>Dot = mean; line = ± 1 standard deviation</a:t>
            </a:r>
          </a:p>
        </p:txBody>
      </p:sp>
      <p:sp>
        <p:nvSpPr>
          <p:cNvPr id="31" name="Rounded Rectangle 30"/>
          <p:cNvSpPr/>
          <p:nvPr/>
        </p:nvSpPr>
        <p:spPr>
          <a:xfrm>
            <a:off x="758952" y="4069080"/>
            <a:ext cx="5120640" cy="1691640"/>
          </a:xfrm>
          <a:prstGeom prst="roundRect">
            <a:avLst>
              <a:gd name="adj" fmla="val 8000"/>
            </a:avLst>
          </a:prstGeom>
          <a:solidFill>
            <a:srgbClr val="1F394D"/>
          </a:solidFill>
          <a:ln>
            <a:noFill/>
          </a:ln>
        </p:spPr>
        <p:txBody>
          <a:bodyPr rtlCol="0" anchor="ctr"/>
          <a:lstStyle/>
          <a:p>
            <a:endParaRPr/>
          </a:p>
        </p:txBody>
      </p:sp>
      <p:sp>
        <p:nvSpPr>
          <p:cNvPr id="32" name="TextBox 31"/>
          <p:cNvSpPr txBox="1"/>
          <p:nvPr/>
        </p:nvSpPr>
        <p:spPr>
          <a:xfrm>
            <a:off x="960120" y="4230014"/>
            <a:ext cx="4718303" cy="1369771"/>
          </a:xfrm>
          <a:prstGeom prst="rect">
            <a:avLst/>
          </a:prstGeom>
          <a:noFill/>
        </p:spPr>
        <p:txBody>
          <a:bodyPr wrap="square" lIns="0" tIns="0" rIns="0" bIns="0" anchor="t">
            <a:spAutoFit/>
          </a:bodyPr>
          <a:lstStyle/>
          <a:p>
            <a:pPr algn="l">
              <a:spcAft>
                <a:spcPts val="400"/>
              </a:spcAft>
            </a:pPr>
            <a:r>
              <a:rPr sz="1900" b="1" i="0">
                <a:solidFill>
                  <a:srgbClr val="FFFFFF"/>
                </a:solidFill>
              </a:rPr>
              <a:t>Small gap, wide spread</a:t>
            </a:r>
          </a:p>
          <a:p>
            <a:pPr algn="l">
              <a:spcAft>
                <a:spcPts val="400"/>
              </a:spcAft>
            </a:pPr>
            <a:r>
              <a:rPr sz="1600" b="0" i="0">
                <a:solidFill>
                  <a:srgbClr val="CCDDEA"/>
                </a:solidFill>
              </a:rPr>
              <a:t>The gap (0.27) is about a tenth of one standard deviation (≈ 2.3).</a:t>
            </a:r>
          </a:p>
        </p:txBody>
      </p:sp>
      <p:sp>
        <p:nvSpPr>
          <p:cNvPr id="33" name="TextBox 32"/>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European Social Survey Round 11 (2023-24), UK sample, n = 1,680 (gb-ess11-trust.sav).</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Box plots compare whole distributions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24</a:t>
            </a:fld>
            <a:endParaRPr lang="en-GB"/>
          </a:p>
        </p:txBody>
      </p:sp>
      <p:cxnSp>
        <p:nvCxnSpPr>
          <p:cNvPr id="7" name="Connector 6"/>
          <p:cNvCxnSpPr/>
          <p:nvPr/>
        </p:nvCxnSpPr>
        <p:spPr>
          <a:xfrm>
            <a:off x="2039112" y="4846320"/>
            <a:ext cx="9052560" cy="0"/>
          </a:xfrm>
          <a:prstGeom prst="line">
            <a:avLst/>
          </a:prstGeom>
          <a:ln w="15875">
            <a:solidFill>
              <a:srgbClr val="BBC4CC"/>
            </a:solidFill>
          </a:ln>
        </p:spPr>
      </p:cxnSp>
      <p:cxnSp>
        <p:nvCxnSpPr>
          <p:cNvPr id="8" name="Connector 7"/>
          <p:cNvCxnSpPr/>
          <p:nvPr/>
        </p:nvCxnSpPr>
        <p:spPr>
          <a:xfrm>
            <a:off x="2295316" y="4846320"/>
            <a:ext cx="0" cy="64008"/>
          </a:xfrm>
          <a:prstGeom prst="line">
            <a:avLst/>
          </a:prstGeom>
          <a:ln w="15875">
            <a:solidFill>
              <a:srgbClr val="BBC4CC"/>
            </a:solidFill>
          </a:ln>
        </p:spPr>
      </p:cxnSp>
      <p:sp>
        <p:nvSpPr>
          <p:cNvPr id="9" name="TextBox 8"/>
          <p:cNvSpPr txBox="1"/>
          <p:nvPr/>
        </p:nvSpPr>
        <p:spPr>
          <a:xfrm>
            <a:off x="1746676" y="4919472"/>
            <a:ext cx="1097280" cy="274320"/>
          </a:xfrm>
          <a:prstGeom prst="rect">
            <a:avLst/>
          </a:prstGeom>
          <a:noFill/>
        </p:spPr>
        <p:txBody>
          <a:bodyPr wrap="square" lIns="0" tIns="0" rIns="0" bIns="0" anchor="t">
            <a:spAutoFit/>
          </a:bodyPr>
          <a:lstStyle/>
          <a:p>
            <a:pPr algn="ctr"/>
            <a:r>
              <a:rPr sz="1300" b="0" i="0">
                <a:solidFill>
                  <a:srgbClr val="55606B"/>
                </a:solidFill>
              </a:rPr>
              <a:t>0</a:t>
            </a:r>
          </a:p>
        </p:txBody>
      </p:sp>
      <p:cxnSp>
        <p:nvCxnSpPr>
          <p:cNvPr id="10" name="Connector 9"/>
          <p:cNvCxnSpPr/>
          <p:nvPr/>
        </p:nvCxnSpPr>
        <p:spPr>
          <a:xfrm>
            <a:off x="3149331" y="4846320"/>
            <a:ext cx="0" cy="64008"/>
          </a:xfrm>
          <a:prstGeom prst="line">
            <a:avLst/>
          </a:prstGeom>
          <a:ln w="15875">
            <a:solidFill>
              <a:srgbClr val="BBC4CC"/>
            </a:solidFill>
          </a:ln>
        </p:spPr>
      </p:cxnSp>
      <p:sp>
        <p:nvSpPr>
          <p:cNvPr id="11" name="TextBox 10"/>
          <p:cNvSpPr txBox="1"/>
          <p:nvPr/>
        </p:nvSpPr>
        <p:spPr>
          <a:xfrm>
            <a:off x="2600691" y="4919472"/>
            <a:ext cx="1097280" cy="274320"/>
          </a:xfrm>
          <a:prstGeom prst="rect">
            <a:avLst/>
          </a:prstGeom>
          <a:noFill/>
        </p:spPr>
        <p:txBody>
          <a:bodyPr wrap="square" lIns="0" tIns="0" rIns="0" bIns="0" anchor="t">
            <a:spAutoFit/>
          </a:bodyPr>
          <a:lstStyle/>
          <a:p>
            <a:pPr algn="ctr"/>
            <a:r>
              <a:rPr sz="1300" b="0" i="0">
                <a:solidFill>
                  <a:srgbClr val="55606B"/>
                </a:solidFill>
              </a:rPr>
              <a:t>1</a:t>
            </a:r>
          </a:p>
        </p:txBody>
      </p:sp>
      <p:cxnSp>
        <p:nvCxnSpPr>
          <p:cNvPr id="12" name="Connector 11"/>
          <p:cNvCxnSpPr/>
          <p:nvPr/>
        </p:nvCxnSpPr>
        <p:spPr>
          <a:xfrm>
            <a:off x="4003346" y="4846320"/>
            <a:ext cx="0" cy="64008"/>
          </a:xfrm>
          <a:prstGeom prst="line">
            <a:avLst/>
          </a:prstGeom>
          <a:ln w="15875">
            <a:solidFill>
              <a:srgbClr val="BBC4CC"/>
            </a:solidFill>
          </a:ln>
        </p:spPr>
      </p:cxnSp>
      <p:sp>
        <p:nvSpPr>
          <p:cNvPr id="13" name="TextBox 12"/>
          <p:cNvSpPr txBox="1"/>
          <p:nvPr/>
        </p:nvSpPr>
        <p:spPr>
          <a:xfrm>
            <a:off x="3454706" y="4919472"/>
            <a:ext cx="1097280" cy="274320"/>
          </a:xfrm>
          <a:prstGeom prst="rect">
            <a:avLst/>
          </a:prstGeom>
          <a:noFill/>
        </p:spPr>
        <p:txBody>
          <a:bodyPr wrap="square" lIns="0" tIns="0" rIns="0" bIns="0" anchor="t">
            <a:spAutoFit/>
          </a:bodyPr>
          <a:lstStyle/>
          <a:p>
            <a:pPr algn="ctr"/>
            <a:r>
              <a:rPr sz="1300" b="0" i="0">
                <a:solidFill>
                  <a:srgbClr val="55606B"/>
                </a:solidFill>
              </a:rPr>
              <a:t>2</a:t>
            </a:r>
          </a:p>
        </p:txBody>
      </p:sp>
      <p:cxnSp>
        <p:nvCxnSpPr>
          <p:cNvPr id="14" name="Connector 13"/>
          <p:cNvCxnSpPr/>
          <p:nvPr/>
        </p:nvCxnSpPr>
        <p:spPr>
          <a:xfrm>
            <a:off x="4857361" y="4846320"/>
            <a:ext cx="0" cy="64008"/>
          </a:xfrm>
          <a:prstGeom prst="line">
            <a:avLst/>
          </a:prstGeom>
          <a:ln w="15875">
            <a:solidFill>
              <a:srgbClr val="BBC4CC"/>
            </a:solidFill>
          </a:ln>
        </p:spPr>
      </p:cxnSp>
      <p:sp>
        <p:nvSpPr>
          <p:cNvPr id="15" name="TextBox 14"/>
          <p:cNvSpPr txBox="1"/>
          <p:nvPr/>
        </p:nvSpPr>
        <p:spPr>
          <a:xfrm>
            <a:off x="4308721" y="4919472"/>
            <a:ext cx="1097280" cy="274320"/>
          </a:xfrm>
          <a:prstGeom prst="rect">
            <a:avLst/>
          </a:prstGeom>
          <a:noFill/>
        </p:spPr>
        <p:txBody>
          <a:bodyPr wrap="square" lIns="0" tIns="0" rIns="0" bIns="0" anchor="t">
            <a:spAutoFit/>
          </a:bodyPr>
          <a:lstStyle/>
          <a:p>
            <a:pPr algn="ctr"/>
            <a:r>
              <a:rPr sz="1300" b="0" i="0">
                <a:solidFill>
                  <a:srgbClr val="55606B"/>
                </a:solidFill>
              </a:rPr>
              <a:t>3</a:t>
            </a:r>
          </a:p>
        </p:txBody>
      </p:sp>
      <p:cxnSp>
        <p:nvCxnSpPr>
          <p:cNvPr id="16" name="Connector 15"/>
          <p:cNvCxnSpPr/>
          <p:nvPr/>
        </p:nvCxnSpPr>
        <p:spPr>
          <a:xfrm>
            <a:off x="5711376" y="4846320"/>
            <a:ext cx="0" cy="64008"/>
          </a:xfrm>
          <a:prstGeom prst="line">
            <a:avLst/>
          </a:prstGeom>
          <a:ln w="15875">
            <a:solidFill>
              <a:srgbClr val="BBC4CC"/>
            </a:solidFill>
          </a:ln>
        </p:spPr>
      </p:cxnSp>
      <p:sp>
        <p:nvSpPr>
          <p:cNvPr id="17" name="TextBox 16"/>
          <p:cNvSpPr txBox="1"/>
          <p:nvPr/>
        </p:nvSpPr>
        <p:spPr>
          <a:xfrm>
            <a:off x="5162736" y="4919472"/>
            <a:ext cx="1097280" cy="274320"/>
          </a:xfrm>
          <a:prstGeom prst="rect">
            <a:avLst/>
          </a:prstGeom>
          <a:noFill/>
        </p:spPr>
        <p:txBody>
          <a:bodyPr wrap="square" lIns="0" tIns="0" rIns="0" bIns="0" anchor="t">
            <a:spAutoFit/>
          </a:bodyPr>
          <a:lstStyle/>
          <a:p>
            <a:pPr algn="ctr"/>
            <a:r>
              <a:rPr sz="1300" b="0" i="0">
                <a:solidFill>
                  <a:srgbClr val="55606B"/>
                </a:solidFill>
              </a:rPr>
              <a:t>4</a:t>
            </a:r>
          </a:p>
        </p:txBody>
      </p:sp>
      <p:cxnSp>
        <p:nvCxnSpPr>
          <p:cNvPr id="18" name="Connector 17"/>
          <p:cNvCxnSpPr/>
          <p:nvPr/>
        </p:nvCxnSpPr>
        <p:spPr>
          <a:xfrm>
            <a:off x="6565392" y="4846320"/>
            <a:ext cx="0" cy="64008"/>
          </a:xfrm>
          <a:prstGeom prst="line">
            <a:avLst/>
          </a:prstGeom>
          <a:ln w="15875">
            <a:solidFill>
              <a:srgbClr val="BBC4CC"/>
            </a:solidFill>
          </a:ln>
        </p:spPr>
      </p:cxnSp>
      <p:sp>
        <p:nvSpPr>
          <p:cNvPr id="19" name="TextBox 18"/>
          <p:cNvSpPr txBox="1"/>
          <p:nvPr/>
        </p:nvSpPr>
        <p:spPr>
          <a:xfrm>
            <a:off x="6016752" y="4919472"/>
            <a:ext cx="1097280" cy="274320"/>
          </a:xfrm>
          <a:prstGeom prst="rect">
            <a:avLst/>
          </a:prstGeom>
          <a:noFill/>
        </p:spPr>
        <p:txBody>
          <a:bodyPr wrap="square" lIns="0" tIns="0" rIns="0" bIns="0" anchor="t">
            <a:spAutoFit/>
          </a:bodyPr>
          <a:lstStyle/>
          <a:p>
            <a:pPr algn="ctr"/>
            <a:r>
              <a:rPr sz="1300" b="0" i="0">
                <a:solidFill>
                  <a:srgbClr val="55606B"/>
                </a:solidFill>
              </a:rPr>
              <a:t>5</a:t>
            </a:r>
          </a:p>
        </p:txBody>
      </p:sp>
      <p:cxnSp>
        <p:nvCxnSpPr>
          <p:cNvPr id="20" name="Connector 19"/>
          <p:cNvCxnSpPr/>
          <p:nvPr/>
        </p:nvCxnSpPr>
        <p:spPr>
          <a:xfrm>
            <a:off x="7419407" y="4846320"/>
            <a:ext cx="0" cy="64008"/>
          </a:xfrm>
          <a:prstGeom prst="line">
            <a:avLst/>
          </a:prstGeom>
          <a:ln w="15875">
            <a:solidFill>
              <a:srgbClr val="BBC4CC"/>
            </a:solidFill>
          </a:ln>
        </p:spPr>
      </p:cxnSp>
      <p:sp>
        <p:nvSpPr>
          <p:cNvPr id="21" name="TextBox 20"/>
          <p:cNvSpPr txBox="1"/>
          <p:nvPr/>
        </p:nvSpPr>
        <p:spPr>
          <a:xfrm>
            <a:off x="6870767" y="4919472"/>
            <a:ext cx="1097280" cy="274320"/>
          </a:xfrm>
          <a:prstGeom prst="rect">
            <a:avLst/>
          </a:prstGeom>
          <a:noFill/>
        </p:spPr>
        <p:txBody>
          <a:bodyPr wrap="square" lIns="0" tIns="0" rIns="0" bIns="0" anchor="t">
            <a:spAutoFit/>
          </a:bodyPr>
          <a:lstStyle/>
          <a:p>
            <a:pPr algn="ctr"/>
            <a:r>
              <a:rPr sz="1300" b="0" i="0">
                <a:solidFill>
                  <a:srgbClr val="55606B"/>
                </a:solidFill>
              </a:rPr>
              <a:t>6</a:t>
            </a:r>
          </a:p>
        </p:txBody>
      </p:sp>
      <p:cxnSp>
        <p:nvCxnSpPr>
          <p:cNvPr id="22" name="Connector 21"/>
          <p:cNvCxnSpPr/>
          <p:nvPr/>
        </p:nvCxnSpPr>
        <p:spPr>
          <a:xfrm>
            <a:off x="8273422" y="4846320"/>
            <a:ext cx="0" cy="64008"/>
          </a:xfrm>
          <a:prstGeom prst="line">
            <a:avLst/>
          </a:prstGeom>
          <a:ln w="15875">
            <a:solidFill>
              <a:srgbClr val="BBC4CC"/>
            </a:solidFill>
          </a:ln>
        </p:spPr>
      </p:cxnSp>
      <p:sp>
        <p:nvSpPr>
          <p:cNvPr id="23" name="TextBox 22"/>
          <p:cNvSpPr txBox="1"/>
          <p:nvPr/>
        </p:nvSpPr>
        <p:spPr>
          <a:xfrm>
            <a:off x="7724782" y="4919472"/>
            <a:ext cx="1097280" cy="274320"/>
          </a:xfrm>
          <a:prstGeom prst="rect">
            <a:avLst/>
          </a:prstGeom>
          <a:noFill/>
        </p:spPr>
        <p:txBody>
          <a:bodyPr wrap="square" lIns="0" tIns="0" rIns="0" bIns="0" anchor="t">
            <a:spAutoFit/>
          </a:bodyPr>
          <a:lstStyle/>
          <a:p>
            <a:pPr algn="ctr"/>
            <a:r>
              <a:rPr sz="1300" b="0" i="0">
                <a:solidFill>
                  <a:srgbClr val="55606B"/>
                </a:solidFill>
              </a:rPr>
              <a:t>7</a:t>
            </a:r>
          </a:p>
        </p:txBody>
      </p:sp>
      <p:cxnSp>
        <p:nvCxnSpPr>
          <p:cNvPr id="24" name="Connector 23"/>
          <p:cNvCxnSpPr/>
          <p:nvPr/>
        </p:nvCxnSpPr>
        <p:spPr>
          <a:xfrm>
            <a:off x="9127437" y="4846320"/>
            <a:ext cx="0" cy="64008"/>
          </a:xfrm>
          <a:prstGeom prst="line">
            <a:avLst/>
          </a:prstGeom>
          <a:ln w="15875">
            <a:solidFill>
              <a:srgbClr val="BBC4CC"/>
            </a:solidFill>
          </a:ln>
        </p:spPr>
      </p:cxnSp>
      <p:sp>
        <p:nvSpPr>
          <p:cNvPr id="25" name="TextBox 24"/>
          <p:cNvSpPr txBox="1"/>
          <p:nvPr/>
        </p:nvSpPr>
        <p:spPr>
          <a:xfrm>
            <a:off x="8578797" y="4919472"/>
            <a:ext cx="1097280" cy="274320"/>
          </a:xfrm>
          <a:prstGeom prst="rect">
            <a:avLst/>
          </a:prstGeom>
          <a:noFill/>
        </p:spPr>
        <p:txBody>
          <a:bodyPr wrap="square" lIns="0" tIns="0" rIns="0" bIns="0" anchor="t">
            <a:spAutoFit/>
          </a:bodyPr>
          <a:lstStyle/>
          <a:p>
            <a:pPr algn="ctr"/>
            <a:r>
              <a:rPr sz="1300" b="0" i="0">
                <a:solidFill>
                  <a:srgbClr val="55606B"/>
                </a:solidFill>
              </a:rPr>
              <a:t>8</a:t>
            </a:r>
          </a:p>
        </p:txBody>
      </p:sp>
      <p:cxnSp>
        <p:nvCxnSpPr>
          <p:cNvPr id="26" name="Connector 25"/>
          <p:cNvCxnSpPr/>
          <p:nvPr/>
        </p:nvCxnSpPr>
        <p:spPr>
          <a:xfrm>
            <a:off x="9981452" y="4846320"/>
            <a:ext cx="0" cy="64008"/>
          </a:xfrm>
          <a:prstGeom prst="line">
            <a:avLst/>
          </a:prstGeom>
          <a:ln w="15875">
            <a:solidFill>
              <a:srgbClr val="BBC4CC"/>
            </a:solidFill>
          </a:ln>
        </p:spPr>
      </p:cxnSp>
      <p:sp>
        <p:nvSpPr>
          <p:cNvPr id="27" name="TextBox 26"/>
          <p:cNvSpPr txBox="1"/>
          <p:nvPr/>
        </p:nvSpPr>
        <p:spPr>
          <a:xfrm>
            <a:off x="9432812" y="4919472"/>
            <a:ext cx="1097280" cy="274320"/>
          </a:xfrm>
          <a:prstGeom prst="rect">
            <a:avLst/>
          </a:prstGeom>
          <a:noFill/>
        </p:spPr>
        <p:txBody>
          <a:bodyPr wrap="square" lIns="0" tIns="0" rIns="0" bIns="0" anchor="t">
            <a:spAutoFit/>
          </a:bodyPr>
          <a:lstStyle/>
          <a:p>
            <a:pPr algn="ctr"/>
            <a:r>
              <a:rPr sz="1300" b="0" i="0">
                <a:solidFill>
                  <a:srgbClr val="55606B"/>
                </a:solidFill>
              </a:rPr>
              <a:t>9</a:t>
            </a:r>
          </a:p>
        </p:txBody>
      </p:sp>
      <p:cxnSp>
        <p:nvCxnSpPr>
          <p:cNvPr id="28" name="Connector 27"/>
          <p:cNvCxnSpPr/>
          <p:nvPr/>
        </p:nvCxnSpPr>
        <p:spPr>
          <a:xfrm>
            <a:off x="10835467" y="4846320"/>
            <a:ext cx="0" cy="64008"/>
          </a:xfrm>
          <a:prstGeom prst="line">
            <a:avLst/>
          </a:prstGeom>
          <a:ln w="15875">
            <a:solidFill>
              <a:srgbClr val="BBC4CC"/>
            </a:solidFill>
          </a:ln>
        </p:spPr>
      </p:cxnSp>
      <p:sp>
        <p:nvSpPr>
          <p:cNvPr id="29" name="TextBox 28"/>
          <p:cNvSpPr txBox="1"/>
          <p:nvPr/>
        </p:nvSpPr>
        <p:spPr>
          <a:xfrm>
            <a:off x="10286827" y="4919472"/>
            <a:ext cx="1097280" cy="274320"/>
          </a:xfrm>
          <a:prstGeom prst="rect">
            <a:avLst/>
          </a:prstGeom>
          <a:noFill/>
        </p:spPr>
        <p:txBody>
          <a:bodyPr wrap="square" lIns="0" tIns="0" rIns="0" bIns="0" anchor="t">
            <a:spAutoFit/>
          </a:bodyPr>
          <a:lstStyle/>
          <a:p>
            <a:pPr algn="ctr"/>
            <a:r>
              <a:rPr sz="1300" b="0" i="0">
                <a:solidFill>
                  <a:srgbClr val="55606B"/>
                </a:solidFill>
              </a:rPr>
              <a:t>10</a:t>
            </a:r>
          </a:p>
        </p:txBody>
      </p:sp>
      <p:sp>
        <p:nvSpPr>
          <p:cNvPr id="30" name="TextBox 29"/>
          <p:cNvSpPr txBox="1"/>
          <p:nvPr/>
        </p:nvSpPr>
        <p:spPr>
          <a:xfrm>
            <a:off x="2039112" y="5193792"/>
            <a:ext cx="9052560" cy="274320"/>
          </a:xfrm>
          <a:prstGeom prst="rect">
            <a:avLst/>
          </a:prstGeom>
          <a:noFill/>
        </p:spPr>
        <p:txBody>
          <a:bodyPr wrap="square" lIns="0" tIns="0" rIns="0" bIns="0" anchor="t">
            <a:spAutoFit/>
          </a:bodyPr>
          <a:lstStyle/>
          <a:p>
            <a:pPr algn="ctr"/>
            <a:r>
              <a:rPr sz="1300" b="0" i="0">
                <a:solidFill>
                  <a:srgbClr val="55606B"/>
                </a:solidFill>
              </a:rPr>
              <a:t>Trust in most people (0 to 10)</a:t>
            </a:r>
          </a:p>
        </p:txBody>
      </p:sp>
      <p:cxnSp>
        <p:nvCxnSpPr>
          <p:cNvPr id="31" name="Connector 30"/>
          <p:cNvCxnSpPr/>
          <p:nvPr/>
        </p:nvCxnSpPr>
        <p:spPr>
          <a:xfrm>
            <a:off x="2295316" y="2432303"/>
            <a:ext cx="3416060" cy="0"/>
          </a:xfrm>
          <a:prstGeom prst="line">
            <a:avLst/>
          </a:prstGeom>
          <a:ln w="25400">
            <a:solidFill>
              <a:srgbClr val="1F394D"/>
            </a:solidFill>
          </a:ln>
        </p:spPr>
      </p:cxnSp>
      <p:cxnSp>
        <p:nvCxnSpPr>
          <p:cNvPr id="32" name="Connector 31"/>
          <p:cNvCxnSpPr/>
          <p:nvPr/>
        </p:nvCxnSpPr>
        <p:spPr>
          <a:xfrm>
            <a:off x="8273422" y="2432303"/>
            <a:ext cx="2562045" cy="0"/>
          </a:xfrm>
          <a:prstGeom prst="line">
            <a:avLst/>
          </a:prstGeom>
          <a:ln w="25400">
            <a:solidFill>
              <a:srgbClr val="1F394D"/>
            </a:solidFill>
          </a:ln>
        </p:spPr>
      </p:cxnSp>
      <p:cxnSp>
        <p:nvCxnSpPr>
          <p:cNvPr id="33" name="Connector 32"/>
          <p:cNvCxnSpPr/>
          <p:nvPr/>
        </p:nvCxnSpPr>
        <p:spPr>
          <a:xfrm flipV="1">
            <a:off x="2295316" y="2212847"/>
            <a:ext cx="0" cy="438913"/>
          </a:xfrm>
          <a:prstGeom prst="line">
            <a:avLst/>
          </a:prstGeom>
          <a:ln w="25400">
            <a:solidFill>
              <a:srgbClr val="1F394D"/>
            </a:solidFill>
          </a:ln>
        </p:spPr>
      </p:cxnSp>
      <p:cxnSp>
        <p:nvCxnSpPr>
          <p:cNvPr id="34" name="Connector 33"/>
          <p:cNvCxnSpPr/>
          <p:nvPr/>
        </p:nvCxnSpPr>
        <p:spPr>
          <a:xfrm flipV="1">
            <a:off x="10835467" y="2212847"/>
            <a:ext cx="0" cy="438913"/>
          </a:xfrm>
          <a:prstGeom prst="line">
            <a:avLst/>
          </a:prstGeom>
          <a:ln w="25400">
            <a:solidFill>
              <a:srgbClr val="1F394D"/>
            </a:solidFill>
          </a:ln>
        </p:spPr>
      </p:cxnSp>
      <p:sp>
        <p:nvSpPr>
          <p:cNvPr id="35" name="Rectangle 34"/>
          <p:cNvSpPr/>
          <p:nvPr/>
        </p:nvSpPr>
        <p:spPr>
          <a:xfrm>
            <a:off x="5711376" y="2015337"/>
            <a:ext cx="2562045" cy="833932"/>
          </a:xfrm>
          <a:prstGeom prst="rect">
            <a:avLst/>
          </a:prstGeom>
          <a:solidFill>
            <a:srgbClr val="CCDDEA"/>
          </a:solidFill>
          <a:ln w="15875">
            <a:solidFill>
              <a:srgbClr val="1F394D"/>
            </a:solidFill>
          </a:ln>
        </p:spPr>
        <p:txBody>
          <a:bodyPr rtlCol="0" anchor="ctr"/>
          <a:lstStyle/>
          <a:p>
            <a:endParaRPr/>
          </a:p>
        </p:txBody>
      </p:sp>
      <p:cxnSp>
        <p:nvCxnSpPr>
          <p:cNvPr id="36" name="Connector 35"/>
          <p:cNvCxnSpPr/>
          <p:nvPr/>
        </p:nvCxnSpPr>
        <p:spPr>
          <a:xfrm flipV="1">
            <a:off x="7419407" y="2015337"/>
            <a:ext cx="0" cy="833933"/>
          </a:xfrm>
          <a:prstGeom prst="line">
            <a:avLst/>
          </a:prstGeom>
          <a:ln w="50800">
            <a:solidFill>
              <a:srgbClr val="1F394D"/>
            </a:solidFill>
          </a:ln>
        </p:spPr>
      </p:cxnSp>
      <p:sp>
        <p:nvSpPr>
          <p:cNvPr id="37" name="Diamond 36"/>
          <p:cNvSpPr/>
          <p:nvPr/>
        </p:nvSpPr>
        <p:spPr>
          <a:xfrm>
            <a:off x="6936283" y="2340863"/>
            <a:ext cx="182880" cy="182880"/>
          </a:xfrm>
          <a:prstGeom prst="diamond">
            <a:avLst/>
          </a:prstGeom>
          <a:solidFill>
            <a:srgbClr val="1F394D"/>
          </a:solidFill>
          <a:ln>
            <a:noFill/>
          </a:ln>
        </p:spPr>
        <p:txBody>
          <a:bodyPr rtlCol="0" anchor="ctr"/>
          <a:lstStyle/>
          <a:p>
            <a:pPr algn="ctr"/>
            <a:endParaRPr/>
          </a:p>
        </p:txBody>
      </p:sp>
      <p:sp>
        <p:nvSpPr>
          <p:cNvPr id="38" name="TextBox 37"/>
          <p:cNvSpPr txBox="1"/>
          <p:nvPr/>
        </p:nvSpPr>
        <p:spPr>
          <a:xfrm>
            <a:off x="758952" y="2249423"/>
            <a:ext cx="1188720" cy="365760"/>
          </a:xfrm>
          <a:prstGeom prst="rect">
            <a:avLst/>
          </a:prstGeom>
          <a:noFill/>
        </p:spPr>
        <p:txBody>
          <a:bodyPr wrap="square" lIns="0" tIns="0" rIns="0" bIns="0" anchor="t">
            <a:spAutoFit/>
          </a:bodyPr>
          <a:lstStyle/>
          <a:p>
            <a:pPr algn="l"/>
            <a:r>
              <a:rPr sz="1800" b="1" i="0">
                <a:solidFill>
                  <a:srgbClr val="1F394D"/>
                </a:solidFill>
              </a:rPr>
              <a:t>Men</a:t>
            </a:r>
          </a:p>
        </p:txBody>
      </p:sp>
      <p:sp>
        <p:nvSpPr>
          <p:cNvPr id="39" name="TextBox 38"/>
          <p:cNvSpPr txBox="1"/>
          <p:nvPr/>
        </p:nvSpPr>
        <p:spPr>
          <a:xfrm>
            <a:off x="6779327" y="1713585"/>
            <a:ext cx="1280160" cy="292608"/>
          </a:xfrm>
          <a:prstGeom prst="rect">
            <a:avLst/>
          </a:prstGeom>
          <a:noFill/>
        </p:spPr>
        <p:txBody>
          <a:bodyPr wrap="square" lIns="0" tIns="0" rIns="0" bIns="0" anchor="t">
            <a:spAutoFit/>
          </a:bodyPr>
          <a:lstStyle/>
          <a:p>
            <a:pPr algn="ctr"/>
            <a:r>
              <a:rPr sz="1300" b="1" i="0">
                <a:solidFill>
                  <a:srgbClr val="1F394D"/>
                </a:solidFill>
              </a:rPr>
              <a:t>median 6</a:t>
            </a:r>
          </a:p>
        </p:txBody>
      </p:sp>
      <p:cxnSp>
        <p:nvCxnSpPr>
          <p:cNvPr id="40" name="Connector 39"/>
          <p:cNvCxnSpPr/>
          <p:nvPr/>
        </p:nvCxnSpPr>
        <p:spPr>
          <a:xfrm>
            <a:off x="2295316" y="3803904"/>
            <a:ext cx="3416060" cy="0"/>
          </a:xfrm>
          <a:prstGeom prst="line">
            <a:avLst/>
          </a:prstGeom>
          <a:ln w="25400">
            <a:solidFill>
              <a:srgbClr val="7A5C00"/>
            </a:solidFill>
          </a:ln>
        </p:spPr>
      </p:cxnSp>
      <p:cxnSp>
        <p:nvCxnSpPr>
          <p:cNvPr id="41" name="Connector 40"/>
          <p:cNvCxnSpPr/>
          <p:nvPr/>
        </p:nvCxnSpPr>
        <p:spPr>
          <a:xfrm>
            <a:off x="8273422" y="3803904"/>
            <a:ext cx="2562045" cy="0"/>
          </a:xfrm>
          <a:prstGeom prst="line">
            <a:avLst/>
          </a:prstGeom>
          <a:ln w="25400">
            <a:solidFill>
              <a:srgbClr val="7A5C00"/>
            </a:solidFill>
          </a:ln>
        </p:spPr>
      </p:cxnSp>
      <p:cxnSp>
        <p:nvCxnSpPr>
          <p:cNvPr id="42" name="Connector 41"/>
          <p:cNvCxnSpPr/>
          <p:nvPr/>
        </p:nvCxnSpPr>
        <p:spPr>
          <a:xfrm flipV="1">
            <a:off x="2295316" y="3584448"/>
            <a:ext cx="0" cy="438911"/>
          </a:xfrm>
          <a:prstGeom prst="line">
            <a:avLst/>
          </a:prstGeom>
          <a:ln w="25400">
            <a:solidFill>
              <a:srgbClr val="7A5C00"/>
            </a:solidFill>
          </a:ln>
        </p:spPr>
      </p:cxnSp>
      <p:cxnSp>
        <p:nvCxnSpPr>
          <p:cNvPr id="43" name="Connector 42"/>
          <p:cNvCxnSpPr/>
          <p:nvPr/>
        </p:nvCxnSpPr>
        <p:spPr>
          <a:xfrm flipV="1">
            <a:off x="10835467" y="3584448"/>
            <a:ext cx="0" cy="438911"/>
          </a:xfrm>
          <a:prstGeom prst="line">
            <a:avLst/>
          </a:prstGeom>
          <a:ln w="25400">
            <a:solidFill>
              <a:srgbClr val="7A5C00"/>
            </a:solidFill>
          </a:ln>
        </p:spPr>
      </p:cxnSp>
      <p:sp>
        <p:nvSpPr>
          <p:cNvPr id="44" name="Rectangle 43"/>
          <p:cNvSpPr/>
          <p:nvPr/>
        </p:nvSpPr>
        <p:spPr>
          <a:xfrm>
            <a:off x="5711376" y="3386937"/>
            <a:ext cx="2562045" cy="833932"/>
          </a:xfrm>
          <a:prstGeom prst="rect">
            <a:avLst/>
          </a:prstGeom>
          <a:solidFill>
            <a:srgbClr val="F6E7B8"/>
          </a:solidFill>
          <a:ln w="15875">
            <a:solidFill>
              <a:srgbClr val="7A5C00"/>
            </a:solidFill>
          </a:ln>
        </p:spPr>
        <p:txBody>
          <a:bodyPr rtlCol="0" anchor="ctr"/>
          <a:lstStyle/>
          <a:p>
            <a:endParaRPr/>
          </a:p>
        </p:txBody>
      </p:sp>
      <p:cxnSp>
        <p:nvCxnSpPr>
          <p:cNvPr id="45" name="Connector 44"/>
          <p:cNvCxnSpPr/>
          <p:nvPr/>
        </p:nvCxnSpPr>
        <p:spPr>
          <a:xfrm flipV="1">
            <a:off x="6565392" y="3386937"/>
            <a:ext cx="0" cy="833933"/>
          </a:xfrm>
          <a:prstGeom prst="line">
            <a:avLst/>
          </a:prstGeom>
          <a:ln w="50800">
            <a:solidFill>
              <a:srgbClr val="7A5C00"/>
            </a:solidFill>
          </a:ln>
        </p:spPr>
      </p:cxnSp>
      <p:sp>
        <p:nvSpPr>
          <p:cNvPr id="46" name="Diamond 45"/>
          <p:cNvSpPr/>
          <p:nvPr/>
        </p:nvSpPr>
        <p:spPr>
          <a:xfrm>
            <a:off x="6702883" y="3712464"/>
            <a:ext cx="182880" cy="182880"/>
          </a:xfrm>
          <a:prstGeom prst="diamond">
            <a:avLst/>
          </a:prstGeom>
          <a:solidFill>
            <a:srgbClr val="7A5C00"/>
          </a:solidFill>
          <a:ln>
            <a:noFill/>
          </a:ln>
        </p:spPr>
        <p:txBody>
          <a:bodyPr rtlCol="0" anchor="ctr"/>
          <a:lstStyle/>
          <a:p>
            <a:pPr algn="ctr"/>
            <a:endParaRPr/>
          </a:p>
        </p:txBody>
      </p:sp>
      <p:sp>
        <p:nvSpPr>
          <p:cNvPr id="47" name="TextBox 46"/>
          <p:cNvSpPr txBox="1"/>
          <p:nvPr/>
        </p:nvSpPr>
        <p:spPr>
          <a:xfrm>
            <a:off x="758952" y="3621024"/>
            <a:ext cx="1188720" cy="365760"/>
          </a:xfrm>
          <a:prstGeom prst="rect">
            <a:avLst/>
          </a:prstGeom>
          <a:noFill/>
        </p:spPr>
        <p:txBody>
          <a:bodyPr wrap="square" lIns="0" tIns="0" rIns="0" bIns="0" anchor="t">
            <a:spAutoFit/>
          </a:bodyPr>
          <a:lstStyle/>
          <a:p>
            <a:pPr algn="l"/>
            <a:r>
              <a:rPr sz="1800" b="1" i="0">
                <a:solidFill>
                  <a:srgbClr val="7A5C00"/>
                </a:solidFill>
              </a:rPr>
              <a:t>Women</a:t>
            </a:r>
          </a:p>
        </p:txBody>
      </p:sp>
      <p:sp>
        <p:nvSpPr>
          <p:cNvPr id="48" name="TextBox 47"/>
          <p:cNvSpPr txBox="1"/>
          <p:nvPr/>
        </p:nvSpPr>
        <p:spPr>
          <a:xfrm>
            <a:off x="5925312" y="3085185"/>
            <a:ext cx="1280160" cy="292608"/>
          </a:xfrm>
          <a:prstGeom prst="rect">
            <a:avLst/>
          </a:prstGeom>
          <a:noFill/>
        </p:spPr>
        <p:txBody>
          <a:bodyPr wrap="square" lIns="0" tIns="0" rIns="0" bIns="0" anchor="t">
            <a:spAutoFit/>
          </a:bodyPr>
          <a:lstStyle/>
          <a:p>
            <a:pPr algn="ctr"/>
            <a:r>
              <a:rPr sz="1300" b="1" i="0">
                <a:solidFill>
                  <a:srgbClr val="7A5C00"/>
                </a:solidFill>
              </a:rPr>
              <a:t>median 5</a:t>
            </a:r>
          </a:p>
        </p:txBody>
      </p:sp>
      <p:sp>
        <p:nvSpPr>
          <p:cNvPr id="49" name="Rounded Rectangle 48"/>
          <p:cNvSpPr/>
          <p:nvPr/>
        </p:nvSpPr>
        <p:spPr>
          <a:xfrm>
            <a:off x="758952" y="4937760"/>
            <a:ext cx="3429000" cy="868680"/>
          </a:xfrm>
          <a:prstGeom prst="roundRect">
            <a:avLst>
              <a:gd name="adj" fmla="val 8000"/>
            </a:avLst>
          </a:prstGeom>
          <a:solidFill>
            <a:srgbClr val="EEF3F7"/>
          </a:solidFill>
          <a:ln>
            <a:noFill/>
          </a:ln>
        </p:spPr>
        <p:txBody>
          <a:bodyPr rtlCol="0" anchor="ctr"/>
          <a:lstStyle/>
          <a:p>
            <a:endParaRPr/>
          </a:p>
        </p:txBody>
      </p:sp>
      <p:sp>
        <p:nvSpPr>
          <p:cNvPr id="50" name="TextBox 49"/>
          <p:cNvSpPr txBox="1"/>
          <p:nvPr/>
        </p:nvSpPr>
        <p:spPr>
          <a:xfrm>
            <a:off x="896112" y="5047488"/>
            <a:ext cx="3154680" cy="649224"/>
          </a:xfrm>
          <a:prstGeom prst="rect">
            <a:avLst/>
          </a:prstGeom>
          <a:noFill/>
        </p:spPr>
        <p:txBody>
          <a:bodyPr wrap="square" lIns="0" tIns="0" rIns="0" bIns="0" anchor="t">
            <a:spAutoFit/>
          </a:bodyPr>
          <a:lstStyle/>
          <a:p>
            <a:pPr algn="l">
              <a:spcAft>
                <a:spcPts val="400"/>
              </a:spcAft>
            </a:pPr>
            <a:r>
              <a:rPr sz="1700" b="1" i="0">
                <a:solidFill>
                  <a:srgbClr val="1F394D"/>
                </a:solidFill>
              </a:rPr>
              <a:t>Medians</a:t>
            </a:r>
          </a:p>
          <a:p>
            <a:pPr algn="l">
              <a:spcAft>
                <a:spcPts val="400"/>
              </a:spcAft>
            </a:pPr>
            <a:r>
              <a:rPr sz="1500" b="0" i="0">
                <a:solidFill>
                  <a:srgbClr val="1F2A33"/>
                </a:solidFill>
              </a:rPr>
              <a:t>Men 6, women 5</a:t>
            </a:r>
          </a:p>
        </p:txBody>
      </p:sp>
      <p:sp>
        <p:nvSpPr>
          <p:cNvPr id="51" name="Rounded Rectangle 50"/>
          <p:cNvSpPr/>
          <p:nvPr/>
        </p:nvSpPr>
        <p:spPr>
          <a:xfrm>
            <a:off x="4370832" y="4937760"/>
            <a:ext cx="3429000" cy="868680"/>
          </a:xfrm>
          <a:prstGeom prst="roundRect">
            <a:avLst>
              <a:gd name="adj" fmla="val 8000"/>
            </a:avLst>
          </a:prstGeom>
          <a:solidFill>
            <a:srgbClr val="EEF3F7"/>
          </a:solidFill>
          <a:ln>
            <a:noFill/>
          </a:ln>
        </p:spPr>
        <p:txBody>
          <a:bodyPr rtlCol="0" anchor="ctr"/>
          <a:lstStyle/>
          <a:p>
            <a:endParaRPr/>
          </a:p>
        </p:txBody>
      </p:sp>
      <p:sp>
        <p:nvSpPr>
          <p:cNvPr id="52" name="TextBox 51"/>
          <p:cNvSpPr txBox="1"/>
          <p:nvPr/>
        </p:nvSpPr>
        <p:spPr>
          <a:xfrm>
            <a:off x="4507992" y="5047488"/>
            <a:ext cx="3154680" cy="649224"/>
          </a:xfrm>
          <a:prstGeom prst="rect">
            <a:avLst/>
          </a:prstGeom>
          <a:noFill/>
        </p:spPr>
        <p:txBody>
          <a:bodyPr wrap="square" lIns="0" tIns="0" rIns="0" bIns="0" anchor="t">
            <a:spAutoFit/>
          </a:bodyPr>
          <a:lstStyle/>
          <a:p>
            <a:pPr algn="l">
              <a:spcAft>
                <a:spcPts val="400"/>
              </a:spcAft>
            </a:pPr>
            <a:r>
              <a:rPr sz="1700" b="1" i="0">
                <a:solidFill>
                  <a:srgbClr val="1F394D"/>
                </a:solidFill>
              </a:rPr>
              <a:t>Middle 50%</a:t>
            </a:r>
          </a:p>
          <a:p>
            <a:pPr algn="l">
              <a:spcAft>
                <a:spcPts val="400"/>
              </a:spcAft>
            </a:pPr>
            <a:r>
              <a:rPr sz="1500" b="0" i="0">
                <a:solidFill>
                  <a:srgbClr val="1F2A33"/>
                </a:solidFill>
              </a:rPr>
              <a:t>Both 4 to 7</a:t>
            </a:r>
          </a:p>
        </p:txBody>
      </p:sp>
      <p:sp>
        <p:nvSpPr>
          <p:cNvPr id="53" name="Rounded Rectangle 52"/>
          <p:cNvSpPr/>
          <p:nvPr/>
        </p:nvSpPr>
        <p:spPr>
          <a:xfrm>
            <a:off x="7982712" y="4937760"/>
            <a:ext cx="3429000" cy="868680"/>
          </a:xfrm>
          <a:prstGeom prst="roundRect">
            <a:avLst>
              <a:gd name="adj" fmla="val 8000"/>
            </a:avLst>
          </a:prstGeom>
          <a:solidFill>
            <a:srgbClr val="EEF3F7"/>
          </a:solidFill>
          <a:ln>
            <a:noFill/>
          </a:ln>
        </p:spPr>
        <p:txBody>
          <a:bodyPr rtlCol="0" anchor="ctr"/>
          <a:lstStyle/>
          <a:p>
            <a:endParaRPr/>
          </a:p>
        </p:txBody>
      </p:sp>
      <p:sp>
        <p:nvSpPr>
          <p:cNvPr id="54" name="TextBox 53"/>
          <p:cNvSpPr txBox="1"/>
          <p:nvPr/>
        </p:nvSpPr>
        <p:spPr>
          <a:xfrm>
            <a:off x="8119872" y="5047488"/>
            <a:ext cx="3154680" cy="649224"/>
          </a:xfrm>
          <a:prstGeom prst="rect">
            <a:avLst/>
          </a:prstGeom>
          <a:noFill/>
        </p:spPr>
        <p:txBody>
          <a:bodyPr wrap="square" lIns="0" tIns="0" rIns="0" bIns="0" anchor="t">
            <a:spAutoFit/>
          </a:bodyPr>
          <a:lstStyle/>
          <a:p>
            <a:pPr algn="l">
              <a:spcAft>
                <a:spcPts val="400"/>
              </a:spcAft>
            </a:pPr>
            <a:r>
              <a:rPr sz="1700" b="1" i="0">
                <a:solidFill>
                  <a:srgbClr val="1F394D"/>
                </a:solidFill>
              </a:rPr>
              <a:t>Means (diamonds)</a:t>
            </a:r>
          </a:p>
          <a:p>
            <a:pPr algn="l">
              <a:spcAft>
                <a:spcPts val="400"/>
              </a:spcAft>
            </a:pPr>
            <a:r>
              <a:rPr sz="1500" b="0" i="0">
                <a:solidFill>
                  <a:srgbClr val="1F2A33"/>
                </a:solidFill>
              </a:rPr>
              <a:t>Men 5.54, women 5.27</a:t>
            </a:r>
          </a:p>
        </p:txBody>
      </p:sp>
      <p:sp>
        <p:nvSpPr>
          <p:cNvPr id="55" name="TextBox 54"/>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European Social Survey Round 11 (2023-24), UK sample, n = 1,680 (gb-ess11-trust.sav).</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The same gap can be big or small</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25</a:t>
            </a:fld>
            <a:endParaRPr lang="en-GB"/>
          </a:p>
        </p:txBody>
      </p:sp>
      <p:sp>
        <p:nvSpPr>
          <p:cNvPr id="7" name="TextBox 6"/>
          <p:cNvSpPr txBox="1"/>
          <p:nvPr/>
        </p:nvSpPr>
        <p:spPr>
          <a:xfrm>
            <a:off x="758952" y="1325880"/>
            <a:ext cx="5212080" cy="365760"/>
          </a:xfrm>
          <a:prstGeom prst="rect">
            <a:avLst/>
          </a:prstGeom>
          <a:noFill/>
        </p:spPr>
        <p:txBody>
          <a:bodyPr wrap="square" lIns="0" tIns="0" rIns="0" bIns="0" anchor="t">
            <a:spAutoFit/>
          </a:bodyPr>
          <a:lstStyle/>
          <a:p>
            <a:pPr algn="l"/>
            <a:r>
              <a:rPr sz="1900" b="1" i="0">
                <a:solidFill>
                  <a:srgbClr val="1F394D"/>
                </a:solidFill>
              </a:rPr>
              <a:t>Small spread (SD = 0.6)</a:t>
            </a:r>
          </a:p>
        </p:txBody>
      </p:sp>
      <p:graphicFrame>
        <p:nvGraphicFramePr>
          <p:cNvPr id="8" name="Overlap a"/>
          <p:cNvGraphicFramePr>
            <a:graphicFrameLocks noGrp="1"/>
          </p:cNvGraphicFramePr>
          <p:nvPr/>
        </p:nvGraphicFramePr>
        <p:xfrm>
          <a:off x="758952" y="1691640"/>
          <a:ext cx="52120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6153912" y="1325880"/>
            <a:ext cx="5212080" cy="365760"/>
          </a:xfrm>
          <a:prstGeom prst="rect">
            <a:avLst/>
          </a:prstGeom>
          <a:noFill/>
        </p:spPr>
        <p:txBody>
          <a:bodyPr wrap="square" lIns="0" tIns="0" rIns="0" bIns="0" anchor="t">
            <a:spAutoFit/>
          </a:bodyPr>
          <a:lstStyle/>
          <a:p>
            <a:pPr algn="l"/>
            <a:r>
              <a:rPr sz="1900" b="1" i="0">
                <a:solidFill>
                  <a:srgbClr val="1F394D"/>
                </a:solidFill>
              </a:rPr>
              <a:t>Wide spread (SD = 2.3)</a:t>
            </a:r>
          </a:p>
        </p:txBody>
      </p:sp>
      <p:graphicFrame>
        <p:nvGraphicFramePr>
          <p:cNvPr id="10" name="Overlap b"/>
          <p:cNvGraphicFramePr>
            <a:graphicFrameLocks noGrp="1"/>
          </p:cNvGraphicFramePr>
          <p:nvPr/>
        </p:nvGraphicFramePr>
        <p:xfrm>
          <a:off x="6153912" y="1691640"/>
          <a:ext cx="521208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11" name="Rounded Rectangle 10"/>
          <p:cNvSpPr/>
          <p:nvPr/>
        </p:nvSpPr>
        <p:spPr>
          <a:xfrm>
            <a:off x="758952" y="4937760"/>
            <a:ext cx="10607040" cy="822960"/>
          </a:xfrm>
          <a:prstGeom prst="roundRect">
            <a:avLst>
              <a:gd name="adj" fmla="val 8000"/>
            </a:avLst>
          </a:prstGeom>
          <a:solidFill>
            <a:srgbClr val="EEF3F7"/>
          </a:solidFill>
          <a:ln>
            <a:noFill/>
          </a:ln>
        </p:spPr>
        <p:txBody>
          <a:bodyPr rtlCol="0" anchor="ctr"/>
          <a:lstStyle/>
          <a:p>
            <a:endParaRPr/>
          </a:p>
        </p:txBody>
      </p:sp>
      <p:sp>
        <p:nvSpPr>
          <p:cNvPr id="12" name="TextBox 11"/>
          <p:cNvSpPr txBox="1"/>
          <p:nvPr/>
        </p:nvSpPr>
        <p:spPr>
          <a:xfrm>
            <a:off x="941832" y="5084064"/>
            <a:ext cx="10241280" cy="530352"/>
          </a:xfrm>
          <a:prstGeom prst="rect">
            <a:avLst/>
          </a:prstGeom>
          <a:noFill/>
        </p:spPr>
        <p:txBody>
          <a:bodyPr wrap="square" lIns="0" tIns="0" rIns="0" bIns="0" anchor="ctr">
            <a:spAutoFit/>
          </a:bodyPr>
          <a:lstStyle/>
          <a:p>
            <a:pPr algn="l"/>
            <a:r>
              <a:rPr sz="1700" b="1" i="0">
                <a:solidFill>
                  <a:srgbClr val="1F394D"/>
                </a:solidFill>
              </a:rPr>
              <a:t>Real data: the ESS gender gap is 0.27 points with an SD of about 2.3, so the two groups overlap even more than on the right.</a:t>
            </a:r>
          </a:p>
        </p:txBody>
      </p:sp>
      <p:sp>
        <p:nvSpPr>
          <p:cNvPr id="13" name="Rounded Rectangle 12"/>
          <p:cNvSpPr/>
          <p:nvPr/>
        </p:nvSpPr>
        <p:spPr>
          <a:xfrm>
            <a:off x="758952" y="5943600"/>
            <a:ext cx="2514600" cy="292608"/>
          </a:xfrm>
          <a:prstGeom prst="roundRect">
            <a:avLst>
              <a:gd name="adj" fmla="val 50000"/>
            </a:avLst>
          </a:prstGeom>
          <a:solidFill>
            <a:srgbClr val="FFFFFF"/>
          </a:solidFill>
          <a:ln w="15875">
            <a:solidFill>
              <a:srgbClr val="B88C00"/>
            </a:solidFill>
          </a:ln>
        </p:spPr>
        <p:txBody>
          <a:bodyPr rtlCol="0" anchor="ctr"/>
          <a:lstStyle/>
          <a:p>
            <a:endParaRPr/>
          </a:p>
        </p:txBody>
      </p:sp>
      <p:sp>
        <p:nvSpPr>
          <p:cNvPr id="14" name="TextBox 13"/>
          <p:cNvSpPr txBox="1"/>
          <p:nvPr/>
        </p:nvSpPr>
        <p:spPr>
          <a:xfrm>
            <a:off x="758952" y="5943600"/>
            <a:ext cx="2514600" cy="292608"/>
          </a:xfrm>
          <a:prstGeom prst="rect">
            <a:avLst/>
          </a:prstGeom>
          <a:noFill/>
        </p:spPr>
        <p:txBody>
          <a:bodyPr wrap="square" lIns="0" tIns="0" rIns="0" bIns="0" anchor="ctr">
            <a:spAutoFit/>
          </a:bodyPr>
          <a:lstStyle/>
          <a:p>
            <a:pPr algn="ctr"/>
            <a:r>
              <a:rPr sz="1200" b="1" i="0">
                <a:solidFill>
                  <a:srgbClr val="7A5C00"/>
                </a:solidFill>
              </a:rPr>
              <a:t>SYNTHETIC EXAMPLE DATA</a:t>
            </a:r>
          </a:p>
        </p:txBody>
      </p:sp>
      <p:sp>
        <p:nvSpPr>
          <p:cNvPr id="15" name="TextBox 14"/>
          <p:cNvSpPr txBox="1"/>
          <p:nvPr/>
        </p:nvSpPr>
        <p:spPr>
          <a:xfrm>
            <a:off x="3410712" y="5943600"/>
            <a:ext cx="7955279" cy="292608"/>
          </a:xfrm>
          <a:prstGeom prst="rect">
            <a:avLst/>
          </a:prstGeom>
          <a:noFill/>
        </p:spPr>
        <p:txBody>
          <a:bodyPr wrap="square" lIns="0" tIns="0" rIns="0" bIns="0" anchor="ctr">
            <a:spAutoFit/>
          </a:bodyPr>
          <a:lstStyle/>
          <a:p>
            <a:pPr algn="l"/>
            <a:r>
              <a:rPr sz="1200" b="0" i="0">
                <a:solidFill>
                  <a:srgbClr val="55606B"/>
                </a:solidFill>
              </a:rPr>
              <a:t>R code: synthetic_examples.R, section W2a. Two normal curves per panel, means 5 and 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dirty="0">
                <a:solidFill>
                  <a:schemeClr val="bg1"/>
                </a:solidFill>
              </a:rPr>
              <a:t>Activity: describe this pattern</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26</a:t>
            </a:fld>
            <a:endParaRPr lang="en-GB"/>
          </a:p>
        </p:txBody>
      </p:sp>
      <p:graphicFrame>
        <p:nvGraphicFramePr>
          <p:cNvPr id="7" name="CLS trust by age"/>
          <p:cNvGraphicFramePr>
            <a:graphicFrameLocks noGrp="1"/>
          </p:cNvGraphicFramePr>
          <p:nvPr>
            <p:extLst>
              <p:ext uri="{D42A27DB-BD31-4B8C-83A1-F6EECF244321}">
                <p14:modId xmlns:p14="http://schemas.microsoft.com/office/powerpoint/2010/main" val="1529929676"/>
              </p:ext>
            </p:extLst>
          </p:nvPr>
        </p:nvGraphicFramePr>
        <p:xfrm>
          <a:off x="758952" y="1325880"/>
          <a:ext cx="7315200" cy="4526280"/>
        </p:xfrm>
        <a:graphic>
          <a:graphicData uri="http://schemas.openxmlformats.org/drawingml/2006/chart">
            <c:chart xmlns:c="http://schemas.openxmlformats.org/drawingml/2006/chart" xmlns:r="http://schemas.openxmlformats.org/officeDocument/2006/relationships" r:id="rId4"/>
          </a:graphicData>
        </a:graphic>
      </p:graphicFrame>
      <p:sp>
        <p:nvSpPr>
          <p:cNvPr id="8" name="Rounded Rectangle 7"/>
          <p:cNvSpPr/>
          <p:nvPr/>
        </p:nvSpPr>
        <p:spPr>
          <a:xfrm>
            <a:off x="8321040" y="1417320"/>
            <a:ext cx="3044952" cy="2194560"/>
          </a:xfrm>
          <a:prstGeom prst="roundRect">
            <a:avLst>
              <a:gd name="adj" fmla="val 8000"/>
            </a:avLst>
          </a:prstGeom>
          <a:solidFill>
            <a:srgbClr val="1F394D"/>
          </a:solidFill>
          <a:ln>
            <a:noFill/>
          </a:ln>
        </p:spPr>
        <p:txBody>
          <a:bodyPr rtlCol="0" anchor="ctr"/>
          <a:lstStyle/>
          <a:p>
            <a:endParaRPr/>
          </a:p>
        </p:txBody>
      </p:sp>
      <p:sp>
        <p:nvSpPr>
          <p:cNvPr id="9" name="TextBox 8"/>
          <p:cNvSpPr txBox="1"/>
          <p:nvPr/>
        </p:nvSpPr>
        <p:spPr>
          <a:xfrm>
            <a:off x="8522208" y="1578254"/>
            <a:ext cx="2642616" cy="1872691"/>
          </a:xfrm>
          <a:prstGeom prst="rect">
            <a:avLst/>
          </a:prstGeom>
          <a:noFill/>
        </p:spPr>
        <p:txBody>
          <a:bodyPr wrap="square" lIns="0" tIns="0" rIns="0" bIns="0" anchor="t">
            <a:spAutoFit/>
          </a:bodyPr>
          <a:lstStyle/>
          <a:p>
            <a:pPr algn="l">
              <a:spcAft>
                <a:spcPts val="400"/>
              </a:spcAft>
            </a:pPr>
            <a:r>
              <a:rPr sz="2000" b="1" i="0">
                <a:solidFill>
                  <a:srgbClr val="FFFFFF"/>
                </a:solidFill>
              </a:rPr>
              <a:t>In one sentence</a:t>
            </a:r>
          </a:p>
          <a:p>
            <a:pPr algn="l">
              <a:spcAft>
                <a:spcPts val="400"/>
              </a:spcAft>
            </a:pPr>
            <a:r>
              <a:rPr sz="1700" b="0" i="0">
                <a:solidFill>
                  <a:srgbClr val="CCDDEA"/>
                </a:solidFill>
              </a:rPr>
              <a:t>How does trust differ across age groups?</a:t>
            </a:r>
          </a:p>
        </p:txBody>
      </p:sp>
      <p:sp>
        <p:nvSpPr>
          <p:cNvPr id="10" name="Rounded Rectangle 9"/>
          <p:cNvSpPr/>
          <p:nvPr/>
        </p:nvSpPr>
        <p:spPr>
          <a:xfrm>
            <a:off x="8321040" y="3794760"/>
            <a:ext cx="3044952" cy="196596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8522208" y="3955694"/>
            <a:ext cx="2642616" cy="1644091"/>
          </a:xfrm>
          <a:prstGeom prst="rect">
            <a:avLst/>
          </a:prstGeom>
          <a:noFill/>
        </p:spPr>
        <p:txBody>
          <a:bodyPr wrap="square" lIns="0" tIns="0" rIns="0" bIns="0" anchor="t">
            <a:spAutoFit/>
          </a:bodyPr>
          <a:lstStyle/>
          <a:p>
            <a:pPr algn="l">
              <a:spcAft>
                <a:spcPts val="400"/>
              </a:spcAft>
            </a:pPr>
            <a:r>
              <a:rPr sz="1800" b="1" i="0">
                <a:solidFill>
                  <a:srgbClr val="1F394D"/>
                </a:solidFill>
              </a:rPr>
              <a:t>Then</a:t>
            </a:r>
          </a:p>
          <a:p>
            <a:pPr algn="l">
              <a:spcAft>
                <a:spcPts val="400"/>
              </a:spcAft>
            </a:pPr>
            <a:r>
              <a:rPr sz="1600" b="0" i="0">
                <a:solidFill>
                  <a:srgbClr val="1F2A33"/>
                </a:solidFill>
              </a:rPr>
              <a:t>Which groups would you compare to answer “Are young people less trusting?”</a:t>
            </a:r>
          </a:p>
        </p:txBody>
      </p:sp>
      <p:sp>
        <p:nvSpPr>
          <p:cNvPr id="12" name="TextBox 11"/>
          <p:cNvSpPr txBox="1"/>
          <p:nvPr/>
        </p:nvSpPr>
        <p:spPr>
          <a:xfrm>
            <a:off x="758952" y="5997571"/>
            <a:ext cx="10607040" cy="184666"/>
          </a:xfrm>
          <a:prstGeom prst="rect">
            <a:avLst/>
          </a:prstGeom>
          <a:noFill/>
        </p:spPr>
        <p:txBody>
          <a:bodyPr wrap="square" lIns="0" tIns="0" rIns="0" bIns="0" anchor="ctr">
            <a:spAutoFit/>
          </a:bodyPr>
          <a:lstStyle/>
          <a:p>
            <a:pPr algn="l"/>
            <a:r>
              <a:rPr sz="1200" b="0" i="0">
                <a:solidFill>
                  <a:schemeClr val="bg1"/>
                </a:solidFill>
              </a:rPr>
              <a:t>Data: Community Life Survey 2023-24, England (gb-cls23-trust_nm.sav), n = 51,079. Trust: “how much do you trust most people?” (0 to 10).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Two scale</a:t>
            </a:r>
          </a:p>
          <a:p>
            <a:r>
              <a:rPr sz="4000"/>
              <a:t>variables</a:t>
            </a:r>
          </a:p>
        </p:txBody>
      </p:sp>
      <p:sp>
        <p:nvSpPr>
          <p:cNvPr id="3" name="Text Placeholder 2"/>
          <p:cNvSpPr>
            <a:spLocks noGrp="1"/>
          </p:cNvSpPr>
          <p:nvPr>
            <p:ph type="body" sz="half" idx="2"/>
          </p:nvPr>
        </p:nvSpPr>
        <p:spPr/>
        <p:txBody>
          <a:bodyPr/>
          <a:lstStyle/>
          <a:p>
            <a:r>
              <a:rPr sz="2400"/>
              <a:t>Scatter plots and correlation</a:t>
            </a:r>
          </a:p>
        </p:txBody>
      </p:sp>
      <p:sp>
        <p:nvSpPr>
          <p:cNvPr id="4"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27</a:t>
            </a:fld>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a scatter plot</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28</a:t>
            </a:fld>
            <a:endParaRPr lang="en-GB"/>
          </a:p>
        </p:txBody>
      </p:sp>
      <p:sp>
        <p:nvSpPr>
          <p:cNvPr id="7" name="TextBox 6"/>
          <p:cNvSpPr txBox="1"/>
          <p:nvPr/>
        </p:nvSpPr>
        <p:spPr>
          <a:xfrm>
            <a:off x="758952" y="1325880"/>
            <a:ext cx="2514600" cy="685800"/>
          </a:xfrm>
          <a:prstGeom prst="rect">
            <a:avLst/>
          </a:prstGeom>
          <a:noFill/>
        </p:spPr>
        <p:txBody>
          <a:bodyPr wrap="square" lIns="0" tIns="0" rIns="0" bIns="0" anchor="t">
            <a:spAutoFit/>
          </a:bodyPr>
          <a:lstStyle/>
          <a:p>
            <a:pPr algn="ctr"/>
            <a:r>
              <a:rPr sz="2200" b="1" i="0">
                <a:solidFill>
                  <a:srgbClr val="1F394D"/>
                </a:solidFill>
              </a:rPr>
              <a:t>r = −0.80</a:t>
            </a:r>
          </a:p>
          <a:p>
            <a:pPr algn="ctr"/>
            <a:r>
              <a:rPr sz="1500" b="0" i="0">
                <a:solidFill>
                  <a:srgbClr val="55606B"/>
                </a:solidFill>
              </a:rPr>
              <a:t>Strong negative</a:t>
            </a:r>
          </a:p>
        </p:txBody>
      </p:sp>
      <p:sp>
        <p:nvSpPr>
          <p:cNvPr id="8" name="Panel 1"/>
          <p:cNvSpPr/>
          <p:nvPr/>
        </p:nvSpPr>
        <p:spPr>
          <a:xfrm>
            <a:off x="758952" y="2057400"/>
            <a:ext cx="2514600" cy="2514600"/>
          </a:xfrm>
          <a:prstGeom prst="roundRect">
            <a:avLst>
              <a:gd name="adj" fmla="val 4000"/>
            </a:avLst>
          </a:prstGeom>
          <a:solidFill>
            <a:srgbClr val="EEF3F7"/>
          </a:solidFill>
          <a:ln>
            <a:noFill/>
          </a:ln>
        </p:spPr>
        <p:txBody>
          <a:bodyPr rtlCol="0" anchor="ctr"/>
          <a:lstStyle/>
          <a:p>
            <a:endParaRPr/>
          </a:p>
        </p:txBody>
      </p:sp>
      <p:graphicFrame>
        <p:nvGraphicFramePr>
          <p:cNvPr id="9" name="Scatter 1"/>
          <p:cNvGraphicFramePr>
            <a:graphicFrameLocks noGrp="1"/>
          </p:cNvGraphicFramePr>
          <p:nvPr/>
        </p:nvGraphicFramePr>
        <p:xfrm>
          <a:off x="804672" y="2103120"/>
          <a:ext cx="242316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3456432" y="1325880"/>
            <a:ext cx="2514600" cy="685800"/>
          </a:xfrm>
          <a:prstGeom prst="rect">
            <a:avLst/>
          </a:prstGeom>
          <a:noFill/>
        </p:spPr>
        <p:txBody>
          <a:bodyPr wrap="square" lIns="0" tIns="0" rIns="0" bIns="0" anchor="t">
            <a:spAutoFit/>
          </a:bodyPr>
          <a:lstStyle/>
          <a:p>
            <a:pPr algn="ctr"/>
            <a:r>
              <a:rPr sz="2200" b="1" i="0">
                <a:solidFill>
                  <a:srgbClr val="1F394D"/>
                </a:solidFill>
              </a:rPr>
              <a:t>r = 0.00</a:t>
            </a:r>
          </a:p>
          <a:p>
            <a:pPr algn="ctr"/>
            <a:r>
              <a:rPr sz="1500" b="0" i="0">
                <a:solidFill>
                  <a:srgbClr val="55606B"/>
                </a:solidFill>
              </a:rPr>
              <a:t>No linear association</a:t>
            </a:r>
          </a:p>
        </p:txBody>
      </p:sp>
      <p:sp>
        <p:nvSpPr>
          <p:cNvPr id="11" name="Panel 2"/>
          <p:cNvSpPr/>
          <p:nvPr/>
        </p:nvSpPr>
        <p:spPr>
          <a:xfrm>
            <a:off x="3456432" y="2057400"/>
            <a:ext cx="2514600" cy="2514600"/>
          </a:xfrm>
          <a:prstGeom prst="roundRect">
            <a:avLst>
              <a:gd name="adj" fmla="val 4000"/>
            </a:avLst>
          </a:prstGeom>
          <a:solidFill>
            <a:srgbClr val="EEF3F7"/>
          </a:solidFill>
          <a:ln>
            <a:noFill/>
          </a:ln>
        </p:spPr>
        <p:txBody>
          <a:bodyPr rtlCol="0" anchor="ctr"/>
          <a:lstStyle/>
          <a:p>
            <a:endParaRPr/>
          </a:p>
        </p:txBody>
      </p:sp>
      <p:graphicFrame>
        <p:nvGraphicFramePr>
          <p:cNvPr id="12" name="Scatter 2"/>
          <p:cNvGraphicFramePr>
            <a:graphicFrameLocks noGrp="1"/>
          </p:cNvGraphicFramePr>
          <p:nvPr/>
        </p:nvGraphicFramePr>
        <p:xfrm>
          <a:off x="3502152" y="2103120"/>
          <a:ext cx="2423160" cy="242316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6153912" y="1325880"/>
            <a:ext cx="2514600" cy="685800"/>
          </a:xfrm>
          <a:prstGeom prst="rect">
            <a:avLst/>
          </a:prstGeom>
          <a:noFill/>
        </p:spPr>
        <p:txBody>
          <a:bodyPr wrap="square" lIns="0" tIns="0" rIns="0" bIns="0" anchor="t">
            <a:spAutoFit/>
          </a:bodyPr>
          <a:lstStyle/>
          <a:p>
            <a:pPr algn="ctr"/>
            <a:r>
              <a:rPr sz="2200" b="1" i="0">
                <a:solidFill>
                  <a:srgbClr val="1F394D"/>
                </a:solidFill>
              </a:rPr>
              <a:t>r = 0.40</a:t>
            </a:r>
          </a:p>
          <a:p>
            <a:pPr algn="ctr"/>
            <a:r>
              <a:rPr sz="1500" b="0" i="0">
                <a:solidFill>
                  <a:srgbClr val="55606B"/>
                </a:solidFill>
              </a:rPr>
              <a:t>Moderate positive</a:t>
            </a:r>
          </a:p>
        </p:txBody>
      </p:sp>
      <p:sp>
        <p:nvSpPr>
          <p:cNvPr id="14" name="Panel 3"/>
          <p:cNvSpPr/>
          <p:nvPr/>
        </p:nvSpPr>
        <p:spPr>
          <a:xfrm>
            <a:off x="6153912" y="2057400"/>
            <a:ext cx="2514600" cy="2514600"/>
          </a:xfrm>
          <a:prstGeom prst="roundRect">
            <a:avLst>
              <a:gd name="adj" fmla="val 4000"/>
            </a:avLst>
          </a:prstGeom>
          <a:solidFill>
            <a:srgbClr val="EEF3F7"/>
          </a:solidFill>
          <a:ln>
            <a:noFill/>
          </a:ln>
        </p:spPr>
        <p:txBody>
          <a:bodyPr rtlCol="0" anchor="ctr"/>
          <a:lstStyle/>
          <a:p>
            <a:endParaRPr/>
          </a:p>
        </p:txBody>
      </p:sp>
      <p:graphicFrame>
        <p:nvGraphicFramePr>
          <p:cNvPr id="15" name="Scatter 3"/>
          <p:cNvGraphicFramePr>
            <a:graphicFrameLocks noGrp="1"/>
          </p:cNvGraphicFramePr>
          <p:nvPr/>
        </p:nvGraphicFramePr>
        <p:xfrm>
          <a:off x="6199632" y="2103120"/>
          <a:ext cx="2423160" cy="242316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5"/>
          <p:cNvSpPr txBox="1"/>
          <p:nvPr/>
        </p:nvSpPr>
        <p:spPr>
          <a:xfrm>
            <a:off x="8851392" y="1325880"/>
            <a:ext cx="2514600" cy="685800"/>
          </a:xfrm>
          <a:prstGeom prst="rect">
            <a:avLst/>
          </a:prstGeom>
          <a:noFill/>
        </p:spPr>
        <p:txBody>
          <a:bodyPr wrap="square" lIns="0" tIns="0" rIns="0" bIns="0" anchor="t">
            <a:spAutoFit/>
          </a:bodyPr>
          <a:lstStyle/>
          <a:p>
            <a:pPr algn="ctr"/>
            <a:r>
              <a:rPr sz="2200" b="1" i="0">
                <a:solidFill>
                  <a:srgbClr val="1F394D"/>
                </a:solidFill>
              </a:rPr>
              <a:t>r = 0.91</a:t>
            </a:r>
          </a:p>
          <a:p>
            <a:pPr algn="ctr"/>
            <a:r>
              <a:rPr sz="1500" b="0" i="0">
                <a:solidFill>
                  <a:srgbClr val="55606B"/>
                </a:solidFill>
              </a:rPr>
              <a:t>Strong positive</a:t>
            </a:r>
          </a:p>
        </p:txBody>
      </p:sp>
      <p:sp>
        <p:nvSpPr>
          <p:cNvPr id="17" name="Panel 4"/>
          <p:cNvSpPr/>
          <p:nvPr/>
        </p:nvSpPr>
        <p:spPr>
          <a:xfrm>
            <a:off x="8851392" y="2057400"/>
            <a:ext cx="2514600" cy="2514600"/>
          </a:xfrm>
          <a:prstGeom prst="roundRect">
            <a:avLst>
              <a:gd name="adj" fmla="val 4000"/>
            </a:avLst>
          </a:prstGeom>
          <a:solidFill>
            <a:srgbClr val="EEF3F7"/>
          </a:solidFill>
          <a:ln>
            <a:noFill/>
          </a:ln>
        </p:spPr>
        <p:txBody>
          <a:bodyPr rtlCol="0" anchor="ctr"/>
          <a:lstStyle/>
          <a:p>
            <a:endParaRPr/>
          </a:p>
        </p:txBody>
      </p:sp>
      <p:graphicFrame>
        <p:nvGraphicFramePr>
          <p:cNvPr id="18" name="Scatter 4"/>
          <p:cNvGraphicFramePr>
            <a:graphicFrameLocks noGrp="1"/>
          </p:cNvGraphicFramePr>
          <p:nvPr/>
        </p:nvGraphicFramePr>
        <p:xfrm>
          <a:off x="8897112" y="2103120"/>
          <a:ext cx="2423160" cy="2423160"/>
        </p:xfrm>
        <a:graphic>
          <a:graphicData uri="http://schemas.openxmlformats.org/drawingml/2006/chart">
            <c:chart xmlns:c="http://schemas.openxmlformats.org/drawingml/2006/chart" xmlns:r="http://schemas.openxmlformats.org/officeDocument/2006/relationships" r:id="rId6"/>
          </a:graphicData>
        </a:graphic>
      </p:graphicFrame>
      <p:sp>
        <p:nvSpPr>
          <p:cNvPr id="19" name="TextBox 18"/>
          <p:cNvSpPr txBox="1"/>
          <p:nvPr/>
        </p:nvSpPr>
        <p:spPr>
          <a:xfrm>
            <a:off x="758952" y="4892040"/>
            <a:ext cx="10607040" cy="584775"/>
          </a:xfrm>
          <a:prstGeom prst="rect">
            <a:avLst/>
          </a:prstGeom>
          <a:noFill/>
        </p:spPr>
        <p:txBody>
          <a:bodyPr wrap="square" lIns="0" tIns="0" rIns="0" bIns="0" anchor="t">
            <a:spAutoFit/>
          </a:bodyPr>
          <a:lstStyle/>
          <a:p>
            <a:pPr algn="ctr"/>
            <a:r>
              <a:rPr sz="1900" b="1" i="0" dirty="0">
                <a:solidFill>
                  <a:srgbClr val="1F394D"/>
                </a:solidFill>
              </a:rPr>
              <a:t>Sign = direction (up or down)</a:t>
            </a:r>
            <a:endParaRPr lang="en-GB" sz="1900" b="1" i="0" dirty="0">
              <a:solidFill>
                <a:srgbClr val="1F394D"/>
              </a:solidFill>
            </a:endParaRPr>
          </a:p>
          <a:p>
            <a:pPr algn="ctr"/>
            <a:r>
              <a:rPr sz="1900" b="1" i="0" dirty="0">
                <a:solidFill>
                  <a:srgbClr val="1F394D"/>
                </a:solidFill>
              </a:rPr>
              <a:t>Size = strength (how tightly the points follow a straight line)</a:t>
            </a:r>
          </a:p>
        </p:txBody>
      </p:sp>
      <p:sp>
        <p:nvSpPr>
          <p:cNvPr id="20" name="Rounded Rectangle 19"/>
          <p:cNvSpPr/>
          <p:nvPr/>
        </p:nvSpPr>
        <p:spPr>
          <a:xfrm>
            <a:off x="758952" y="5943600"/>
            <a:ext cx="2514600" cy="292608"/>
          </a:xfrm>
          <a:prstGeom prst="roundRect">
            <a:avLst>
              <a:gd name="adj" fmla="val 50000"/>
            </a:avLst>
          </a:prstGeom>
          <a:solidFill>
            <a:srgbClr val="FFFFFF"/>
          </a:solidFill>
          <a:ln w="15875">
            <a:solidFill>
              <a:srgbClr val="B88C00"/>
            </a:solidFill>
          </a:ln>
        </p:spPr>
        <p:txBody>
          <a:bodyPr rtlCol="0" anchor="ctr"/>
          <a:lstStyle/>
          <a:p>
            <a:endParaRPr/>
          </a:p>
        </p:txBody>
      </p:sp>
      <p:sp>
        <p:nvSpPr>
          <p:cNvPr id="21" name="TextBox 20"/>
          <p:cNvSpPr txBox="1"/>
          <p:nvPr/>
        </p:nvSpPr>
        <p:spPr>
          <a:xfrm>
            <a:off x="758952" y="5943600"/>
            <a:ext cx="2514600" cy="292608"/>
          </a:xfrm>
          <a:prstGeom prst="rect">
            <a:avLst/>
          </a:prstGeom>
          <a:noFill/>
        </p:spPr>
        <p:txBody>
          <a:bodyPr wrap="square" lIns="0" tIns="0" rIns="0" bIns="0" anchor="ctr">
            <a:spAutoFit/>
          </a:bodyPr>
          <a:lstStyle/>
          <a:p>
            <a:pPr algn="ctr"/>
            <a:r>
              <a:rPr sz="1200" b="1" i="0">
                <a:solidFill>
                  <a:srgbClr val="7A5C00"/>
                </a:solidFill>
              </a:rPr>
              <a:t>SYNTHETIC EXAMPLE DATA</a:t>
            </a:r>
          </a:p>
        </p:txBody>
      </p:sp>
      <p:sp>
        <p:nvSpPr>
          <p:cNvPr id="23" name="TextBox 22">
            <a:extLst>
              <a:ext uri="{FF2B5EF4-FFF2-40B4-BE49-F238E27FC236}">
                <a16:creationId xmlns:a16="http://schemas.microsoft.com/office/drawing/2014/main" id="{B0ECC246-13E1-F1B2-D465-A511FB27A930}"/>
              </a:ext>
            </a:extLst>
          </p:cNvPr>
          <p:cNvSpPr txBox="1"/>
          <p:nvPr/>
        </p:nvSpPr>
        <p:spPr>
          <a:xfrm>
            <a:off x="4173815" y="5869044"/>
            <a:ext cx="4958154" cy="400110"/>
          </a:xfrm>
          <a:prstGeom prst="rect">
            <a:avLst/>
          </a:prstGeom>
          <a:noFill/>
        </p:spPr>
        <p:txBody>
          <a:bodyPr wrap="square">
            <a:spAutoFit/>
          </a:bodyPr>
          <a:lstStyle/>
          <a:p>
            <a:r>
              <a:rPr lang="en-GB" sz="2000" b="1" dirty="0">
                <a:hlinkClick r:id="rId7"/>
              </a:rPr>
              <a:t>https://guessthecorrelation.com</a:t>
            </a:r>
            <a:r>
              <a:rPr lang="en-GB" sz="2000" b="1"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Correlation only sees straight lines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29</a:t>
            </a:fld>
            <a:endParaRPr lang="en-GB"/>
          </a:p>
        </p:txBody>
      </p:sp>
      <p:graphicFrame>
        <p:nvGraphicFramePr>
          <p:cNvPr id="7" name="U shape"/>
          <p:cNvGraphicFramePr>
            <a:graphicFrameLocks noGrp="1"/>
          </p:cNvGraphicFramePr>
          <p:nvPr/>
        </p:nvGraphicFramePr>
        <p:xfrm>
          <a:off x="758952" y="1325880"/>
          <a:ext cx="64008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7498079" y="1417320"/>
            <a:ext cx="3867912" cy="1737360"/>
          </a:xfrm>
          <a:prstGeom prst="roundRect">
            <a:avLst>
              <a:gd name="adj" fmla="val 8000"/>
            </a:avLst>
          </a:prstGeom>
          <a:solidFill>
            <a:srgbClr val="1F394D"/>
          </a:solidFill>
          <a:ln>
            <a:noFill/>
          </a:ln>
        </p:spPr>
        <p:txBody>
          <a:bodyPr rtlCol="0" anchor="ctr"/>
          <a:lstStyle/>
          <a:p>
            <a:endParaRPr/>
          </a:p>
        </p:txBody>
      </p:sp>
      <p:sp>
        <p:nvSpPr>
          <p:cNvPr id="9" name="TextBox 8"/>
          <p:cNvSpPr txBox="1"/>
          <p:nvPr/>
        </p:nvSpPr>
        <p:spPr>
          <a:xfrm>
            <a:off x="7699248" y="1578254"/>
            <a:ext cx="3465576" cy="1415491"/>
          </a:xfrm>
          <a:prstGeom prst="rect">
            <a:avLst/>
          </a:prstGeom>
          <a:noFill/>
        </p:spPr>
        <p:txBody>
          <a:bodyPr wrap="square" lIns="0" tIns="0" rIns="0" bIns="0" anchor="t">
            <a:spAutoFit/>
          </a:bodyPr>
          <a:lstStyle/>
          <a:p>
            <a:pPr algn="l">
              <a:spcAft>
                <a:spcPts val="400"/>
              </a:spcAft>
            </a:pPr>
            <a:r>
              <a:rPr sz="3200" b="1" i="0">
                <a:solidFill>
                  <a:srgbClr val="B88C00"/>
                </a:solidFill>
              </a:rPr>
              <a:t>r = −0.01</a:t>
            </a:r>
          </a:p>
          <a:p>
            <a:pPr algn="l">
              <a:spcAft>
                <a:spcPts val="400"/>
              </a:spcAft>
            </a:pPr>
            <a:r>
              <a:rPr sz="1700" b="0" i="0">
                <a:solidFill>
                  <a:srgbClr val="CCDDEA"/>
                </a:solidFill>
              </a:rPr>
              <a:t>Pearson’s r says “no association” …</a:t>
            </a:r>
          </a:p>
        </p:txBody>
      </p:sp>
      <p:sp>
        <p:nvSpPr>
          <p:cNvPr id="10" name="Rounded Rectangle 9"/>
          <p:cNvSpPr/>
          <p:nvPr/>
        </p:nvSpPr>
        <p:spPr>
          <a:xfrm>
            <a:off x="7498079" y="3337560"/>
            <a:ext cx="3867912" cy="109728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7699248" y="3498494"/>
            <a:ext cx="3465576" cy="775411"/>
          </a:xfrm>
          <a:prstGeom prst="rect">
            <a:avLst/>
          </a:prstGeom>
          <a:noFill/>
        </p:spPr>
        <p:txBody>
          <a:bodyPr wrap="square" lIns="0" tIns="0" rIns="0" bIns="0" anchor="t">
            <a:spAutoFit/>
          </a:bodyPr>
          <a:lstStyle/>
          <a:p>
            <a:pPr algn="l">
              <a:spcAft>
                <a:spcPts val="400"/>
              </a:spcAft>
            </a:pPr>
            <a:r>
              <a:rPr sz="1800" b="1" i="0">
                <a:solidFill>
                  <a:srgbClr val="1F394D"/>
                </a:solidFill>
              </a:rPr>
              <a:t>… but y clearly depends on x</a:t>
            </a:r>
          </a:p>
        </p:txBody>
      </p:sp>
      <p:sp>
        <p:nvSpPr>
          <p:cNvPr id="12" name="Rounded Rectangle 11"/>
          <p:cNvSpPr/>
          <p:nvPr/>
        </p:nvSpPr>
        <p:spPr>
          <a:xfrm>
            <a:off x="7498079" y="4617720"/>
            <a:ext cx="3867912" cy="1143000"/>
          </a:xfrm>
          <a:prstGeom prst="roundRect">
            <a:avLst>
              <a:gd name="adj" fmla="val 8000"/>
            </a:avLst>
          </a:prstGeom>
          <a:solidFill>
            <a:srgbClr val="FFFFFF"/>
          </a:solidFill>
          <a:ln w="15875">
            <a:solidFill>
              <a:srgbClr val="B88C00"/>
            </a:solidFill>
          </a:ln>
        </p:spPr>
        <p:txBody>
          <a:bodyPr rtlCol="0" anchor="ctr"/>
          <a:lstStyle/>
          <a:p>
            <a:endParaRPr/>
          </a:p>
        </p:txBody>
      </p:sp>
      <p:sp>
        <p:nvSpPr>
          <p:cNvPr id="13" name="TextBox 12"/>
          <p:cNvSpPr txBox="1"/>
          <p:nvPr/>
        </p:nvSpPr>
        <p:spPr>
          <a:xfrm>
            <a:off x="7699248" y="4778654"/>
            <a:ext cx="3465576" cy="821131"/>
          </a:xfrm>
          <a:prstGeom prst="rect">
            <a:avLst/>
          </a:prstGeom>
          <a:noFill/>
        </p:spPr>
        <p:txBody>
          <a:bodyPr wrap="square" lIns="0" tIns="0" rIns="0" bIns="0" anchor="t">
            <a:spAutoFit/>
          </a:bodyPr>
          <a:lstStyle/>
          <a:p>
            <a:pPr algn="l">
              <a:spcAft>
                <a:spcPts val="400"/>
              </a:spcAft>
            </a:pPr>
            <a:r>
              <a:rPr sz="1800" b="1" i="0">
                <a:solidFill>
                  <a:srgbClr val="1F394D"/>
                </a:solidFill>
              </a:rPr>
              <a:t>Rule</a:t>
            </a:r>
          </a:p>
          <a:p>
            <a:pPr algn="l">
              <a:spcAft>
                <a:spcPts val="400"/>
              </a:spcAft>
            </a:pPr>
            <a:r>
              <a:rPr sz="1600" b="0" i="0">
                <a:solidFill>
                  <a:srgbClr val="1F2A33"/>
                </a:solidFill>
              </a:rPr>
              <a:t>Always plot before you correlate.</a:t>
            </a:r>
          </a:p>
        </p:txBody>
      </p:sp>
      <p:sp>
        <p:nvSpPr>
          <p:cNvPr id="14" name="Rounded Rectangle 13"/>
          <p:cNvSpPr/>
          <p:nvPr/>
        </p:nvSpPr>
        <p:spPr>
          <a:xfrm>
            <a:off x="758952" y="5943600"/>
            <a:ext cx="2514600" cy="292608"/>
          </a:xfrm>
          <a:prstGeom prst="roundRect">
            <a:avLst>
              <a:gd name="adj" fmla="val 50000"/>
            </a:avLst>
          </a:prstGeom>
          <a:solidFill>
            <a:srgbClr val="FFFFFF"/>
          </a:solidFill>
          <a:ln w="15875">
            <a:solidFill>
              <a:srgbClr val="B88C00"/>
            </a:solidFill>
          </a:ln>
        </p:spPr>
        <p:txBody>
          <a:bodyPr rtlCol="0" anchor="ctr"/>
          <a:lstStyle/>
          <a:p>
            <a:endParaRPr/>
          </a:p>
        </p:txBody>
      </p:sp>
      <p:sp>
        <p:nvSpPr>
          <p:cNvPr id="15" name="TextBox 14"/>
          <p:cNvSpPr txBox="1"/>
          <p:nvPr/>
        </p:nvSpPr>
        <p:spPr>
          <a:xfrm>
            <a:off x="758952" y="5943600"/>
            <a:ext cx="2514600" cy="292608"/>
          </a:xfrm>
          <a:prstGeom prst="rect">
            <a:avLst/>
          </a:prstGeom>
          <a:noFill/>
        </p:spPr>
        <p:txBody>
          <a:bodyPr wrap="square" lIns="0" tIns="0" rIns="0" bIns="0" anchor="ctr">
            <a:spAutoFit/>
          </a:bodyPr>
          <a:lstStyle/>
          <a:p>
            <a:pPr algn="ctr"/>
            <a:r>
              <a:rPr sz="1200" b="1" i="0">
                <a:solidFill>
                  <a:srgbClr val="7A5C00"/>
                </a:solidFill>
              </a:rPr>
              <a:t>SYNTHETIC EXAMPLE DATA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APPLICATION</a:t>
            </a:r>
            <a:endParaRPr sz="4000" dirty="0"/>
          </a:p>
        </p:txBody>
      </p:sp>
      <p:sp>
        <p:nvSpPr>
          <p:cNvPr id="3" name="Text Placeholder 2"/>
          <p:cNvSpPr>
            <a:spLocks noGrp="1"/>
          </p:cNvSpPr>
          <p:nvPr>
            <p:ph type="body" sz="half" idx="2"/>
          </p:nvPr>
        </p:nvSpPr>
        <p:spPr/>
        <p:txBody>
          <a:bodyPr/>
          <a:lstStyle/>
          <a:p>
            <a:r>
              <a:rPr sz="2400" dirty="0"/>
              <a:t>Is income inequality associated with social trust? The Spirit Level (2009) and 15 years later</a:t>
            </a:r>
          </a:p>
        </p:txBody>
      </p:sp>
      <p:sp>
        <p:nvSpPr>
          <p:cNvPr id="4"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30</a:t>
            </a:fld>
            <a:endParaRPr lang="en-GB"/>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prstGeom prst="rect">
            <a:avLst/>
          </a:prstGeom>
        </p:spPr>
        <p:txBody>
          <a:bodyPr>
            <a:normAutofit/>
          </a:bodyPr>
          <a:lstStyle/>
          <a:p>
            <a:r>
              <a:t>“The spirit level” (2010)</a:t>
            </a:r>
          </a:p>
        </p:txBody>
      </p:sp>
      <p:sp>
        <p:nvSpPr>
          <p:cNvPr id="5" name="Footer Placeholder 4"/>
          <p:cNvSpPr>
            <a:spLocks noGrp="1"/>
          </p:cNvSpPr>
          <p:nvPr>
            <p:ph type="ftr" sz="quarter" idx="11"/>
          </p:nvPr>
        </p:nvSpPr>
        <p:spPr/>
        <p:txBody>
          <a:bodyPr/>
          <a:lstStyle/>
          <a:p>
            <a:r>
              <a:rPr lang="en-US"/>
              <a:t>Comparisons and Associations</a:t>
            </a:r>
            <a:endParaRPr lang="en-US" dirty="0"/>
          </a:p>
        </p:txBody>
      </p:sp>
      <p:sp>
        <p:nvSpPr>
          <p:cNvPr id="6" name="Slide Number Placeholder 5"/>
          <p:cNvSpPr>
            <a:spLocks noGrp="1"/>
          </p:cNvSpPr>
          <p:nvPr>
            <p:ph type="sldNum" sz="quarter" idx="12"/>
          </p:nvPr>
        </p:nvSpPr>
        <p:spPr/>
        <p:txBody>
          <a:bodyPr/>
          <a:lstStyle/>
          <a:p>
            <a:r>
              <a:rPr lang="en-US" dirty="0"/>
              <a:t>Slide </a:t>
            </a:r>
            <a:fld id="{C5EF2332-01BF-834F-8236-50238282D533}" type="slidenum">
              <a:rPr lang="en-US" smtClean="0"/>
              <a:pPr/>
              <a:t>31</a:t>
            </a:fld>
            <a:endParaRPr lang="en-US" dirty="0"/>
          </a:p>
        </p:txBody>
      </p:sp>
      <p:pic>
        <p:nvPicPr>
          <p:cNvPr id="1026" name="Picture 2" descr="The Spirit Level: Why Equality is Better for Everyone: Amazon.co.uk:  Pickett, Kate, Wilkinson, Richard: 9780241954294: Books">
            <a:extLst>
              <a:ext uri="{FF2B5EF4-FFF2-40B4-BE49-F238E27FC236}">
                <a16:creationId xmlns:a16="http://schemas.microsoft.com/office/drawing/2014/main" id="{A76EC4F5-D491-B613-8EA8-7A7CE063F5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0414" y="1308934"/>
            <a:ext cx="3086076" cy="472537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BC206A0-F9E8-E772-3BA8-FFF14852643B}"/>
              </a:ext>
            </a:extLst>
          </p:cNvPr>
          <p:cNvPicPr>
            <a:picLocks noChangeAspect="1"/>
          </p:cNvPicPr>
          <p:nvPr/>
        </p:nvPicPr>
        <p:blipFill>
          <a:blip r:embed="rId4"/>
          <a:stretch>
            <a:fillRect/>
          </a:stretch>
        </p:blipFill>
        <p:spPr>
          <a:xfrm>
            <a:off x="5577305" y="1308934"/>
            <a:ext cx="4979165" cy="4725372"/>
          </a:xfrm>
          <a:prstGeom prst="rect">
            <a:avLst/>
          </a:prstGeom>
        </p:spPr>
      </p:pic>
      <p:sp>
        <p:nvSpPr>
          <p:cNvPr id="3" name="Date Placeholder 2">
            <a:extLst>
              <a:ext uri="{FF2B5EF4-FFF2-40B4-BE49-F238E27FC236}">
                <a16:creationId xmlns:a16="http://schemas.microsoft.com/office/drawing/2014/main" id="{D5CAB09A-CAE0-2B37-AEB6-BF261E86136C}"/>
              </a:ext>
            </a:extLst>
          </p:cNvPr>
          <p:cNvSpPr>
            <a:spLocks noGrp="1"/>
          </p:cNvSpPr>
          <p:nvPr>
            <p:ph type="dt" sz="half" idx="10"/>
          </p:nvPr>
        </p:nvSpPr>
        <p:spPr/>
        <p:txBody>
          <a:bodyPr/>
          <a:lstStyle/>
          <a:p>
            <a:fld id="{73EB3BC3-AD97-49D8-9F75-5D990275D089}" type="datetimeyyyy">
              <a:rPr lang="en-US" smtClean="0"/>
              <a:t>2026</a:t>
            </a:fld>
            <a:endParaRPr lang="en-GB"/>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prstGeom prst="rect">
            <a:avLst/>
          </a:prstGeom>
        </p:spPr>
        <p:txBody>
          <a:bodyPr>
            <a:normAutofit/>
          </a:bodyPr>
          <a:lstStyle/>
          <a:p>
            <a:r>
              <a:t>“The spirit level” (2010)</a:t>
            </a:r>
          </a:p>
        </p:txBody>
      </p:sp>
      <p:sp>
        <p:nvSpPr>
          <p:cNvPr id="5" name="Footer Placeholder 4"/>
          <p:cNvSpPr>
            <a:spLocks noGrp="1"/>
          </p:cNvSpPr>
          <p:nvPr>
            <p:ph type="ftr" sz="quarter" idx="11"/>
          </p:nvPr>
        </p:nvSpPr>
        <p:spPr/>
        <p:txBody>
          <a:bodyPr/>
          <a:lstStyle/>
          <a:p>
            <a:r>
              <a:rPr lang="en-US"/>
              <a:t>Comparisons and Associations</a:t>
            </a:r>
            <a:endParaRPr lang="en-US" dirty="0"/>
          </a:p>
        </p:txBody>
      </p:sp>
      <p:sp>
        <p:nvSpPr>
          <p:cNvPr id="6" name="Slide Number Placeholder 5"/>
          <p:cNvSpPr>
            <a:spLocks noGrp="1"/>
          </p:cNvSpPr>
          <p:nvPr>
            <p:ph type="sldNum" sz="quarter" idx="12"/>
          </p:nvPr>
        </p:nvSpPr>
        <p:spPr/>
        <p:txBody>
          <a:bodyPr/>
          <a:lstStyle/>
          <a:p>
            <a:r>
              <a:rPr lang="en-US" dirty="0"/>
              <a:t>Slide </a:t>
            </a:r>
            <a:fld id="{C5EF2332-01BF-834F-8236-50238282D533}" type="slidenum">
              <a:rPr lang="en-US" smtClean="0"/>
              <a:pPr/>
              <a:t>32</a:t>
            </a:fld>
            <a:endParaRPr lang="en-US" dirty="0"/>
          </a:p>
        </p:txBody>
      </p:sp>
      <p:pic>
        <p:nvPicPr>
          <p:cNvPr id="4" name="Picture 3">
            <a:extLst>
              <a:ext uri="{FF2B5EF4-FFF2-40B4-BE49-F238E27FC236}">
                <a16:creationId xmlns:a16="http://schemas.microsoft.com/office/drawing/2014/main" id="{BBC67004-7023-2934-B9CC-E419109BD817}"/>
              </a:ext>
            </a:extLst>
          </p:cNvPr>
          <p:cNvPicPr>
            <a:picLocks noChangeAspect="1"/>
          </p:cNvPicPr>
          <p:nvPr/>
        </p:nvPicPr>
        <p:blipFill>
          <a:blip r:embed="rId3"/>
          <a:stretch>
            <a:fillRect/>
          </a:stretch>
        </p:blipFill>
        <p:spPr>
          <a:xfrm>
            <a:off x="3172749" y="1463550"/>
            <a:ext cx="5846502" cy="4730865"/>
          </a:xfrm>
          <a:prstGeom prst="rect">
            <a:avLst/>
          </a:prstGeom>
        </p:spPr>
      </p:pic>
      <p:sp>
        <p:nvSpPr>
          <p:cNvPr id="3" name="Date Placeholder 2">
            <a:extLst>
              <a:ext uri="{FF2B5EF4-FFF2-40B4-BE49-F238E27FC236}">
                <a16:creationId xmlns:a16="http://schemas.microsoft.com/office/drawing/2014/main" id="{3873E566-9A1A-C61D-52A1-B974D3DFE757}"/>
              </a:ext>
            </a:extLst>
          </p:cNvPr>
          <p:cNvSpPr>
            <a:spLocks noGrp="1"/>
          </p:cNvSpPr>
          <p:nvPr>
            <p:ph type="dt" sz="half" idx="10"/>
          </p:nvPr>
        </p:nvSpPr>
        <p:spPr/>
        <p:txBody>
          <a:bodyPr/>
          <a:lstStyle/>
          <a:p>
            <a:fld id="{2D1F1563-8871-4053-9BA8-C294CA0E871F}" type="datetimeyyyy">
              <a:rPr lang="en-US" smtClean="0"/>
              <a:t>2026</a:t>
            </a:fld>
            <a:endParaRPr lang="en-GB"/>
          </a:p>
        </p:txBody>
      </p:sp>
    </p:spTree>
    <p:extLst>
      <p:ext uri="{BB962C8B-B14F-4D97-AF65-F5344CB8AC3E}">
        <p14:creationId xmlns:p14="http://schemas.microsoft.com/office/powerpoint/2010/main" val="25106498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Inequality and trust in 23 rich countries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33</a:t>
            </a:fld>
            <a:endParaRPr lang="en-GB"/>
          </a:p>
        </p:txBody>
      </p:sp>
      <p:graphicFrame>
        <p:nvGraphicFramePr>
          <p:cNvPr id="7" name="Spirit Level scatter"/>
          <p:cNvGraphicFramePr>
            <a:graphicFrameLocks noGrp="1"/>
          </p:cNvGraphicFramePr>
          <p:nvPr/>
        </p:nvGraphicFramePr>
        <p:xfrm>
          <a:off x="758952" y="1280160"/>
          <a:ext cx="78638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8915400" y="1417320"/>
            <a:ext cx="2450592" cy="1828800"/>
          </a:xfrm>
          <a:prstGeom prst="roundRect">
            <a:avLst>
              <a:gd name="adj" fmla="val 8000"/>
            </a:avLst>
          </a:prstGeom>
          <a:solidFill>
            <a:srgbClr val="1F394D"/>
          </a:solidFill>
          <a:ln>
            <a:noFill/>
          </a:ln>
        </p:spPr>
        <p:txBody>
          <a:bodyPr rtlCol="0" anchor="ctr"/>
          <a:lstStyle/>
          <a:p>
            <a:endParaRPr/>
          </a:p>
        </p:txBody>
      </p:sp>
      <p:sp>
        <p:nvSpPr>
          <p:cNvPr id="9" name="TextBox 8"/>
          <p:cNvSpPr txBox="1"/>
          <p:nvPr/>
        </p:nvSpPr>
        <p:spPr>
          <a:xfrm>
            <a:off x="9116568" y="1578254"/>
            <a:ext cx="2048256" cy="1506931"/>
          </a:xfrm>
          <a:prstGeom prst="rect">
            <a:avLst/>
          </a:prstGeom>
          <a:noFill/>
        </p:spPr>
        <p:txBody>
          <a:bodyPr wrap="square" lIns="0" tIns="0" rIns="0" bIns="0" anchor="t">
            <a:spAutoFit/>
          </a:bodyPr>
          <a:lstStyle/>
          <a:p>
            <a:pPr algn="l">
              <a:spcAft>
                <a:spcPts val="400"/>
              </a:spcAft>
            </a:pPr>
            <a:r>
              <a:rPr sz="3000" b="1" i="0">
                <a:solidFill>
                  <a:srgbClr val="B88C00"/>
                </a:solidFill>
              </a:rPr>
              <a:t>r = −0.66</a:t>
            </a:r>
          </a:p>
          <a:p>
            <a:pPr algn="l">
              <a:spcAft>
                <a:spcPts val="400"/>
              </a:spcAft>
            </a:pPr>
            <a:r>
              <a:rPr sz="1700" b="0" i="0">
                <a:solidFill>
                  <a:srgbClr val="CCDDEA"/>
                </a:solidFill>
              </a:rPr>
              <a:t>strong, negative</a:t>
            </a:r>
          </a:p>
        </p:txBody>
      </p:sp>
      <p:sp>
        <p:nvSpPr>
          <p:cNvPr id="10" name="Rounded Rectangle 9"/>
          <p:cNvSpPr/>
          <p:nvPr/>
        </p:nvSpPr>
        <p:spPr>
          <a:xfrm>
            <a:off x="8915400" y="3429000"/>
            <a:ext cx="2450592" cy="233172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9116568" y="3589934"/>
            <a:ext cx="2048256" cy="2009851"/>
          </a:xfrm>
          <a:prstGeom prst="rect">
            <a:avLst/>
          </a:prstGeom>
          <a:noFill/>
        </p:spPr>
        <p:txBody>
          <a:bodyPr wrap="square" lIns="0" tIns="0" rIns="0" bIns="0" anchor="t">
            <a:spAutoFit/>
          </a:bodyPr>
          <a:lstStyle/>
          <a:p>
            <a:pPr algn="l">
              <a:spcAft>
                <a:spcPts val="400"/>
              </a:spcAft>
            </a:pPr>
            <a:r>
              <a:rPr sz="1800" b="1" i="0">
                <a:solidFill>
                  <a:srgbClr val="1F394D"/>
                </a:solidFill>
              </a:rPr>
              <a:t>Reading it</a:t>
            </a:r>
          </a:p>
          <a:p>
            <a:pPr algn="l">
              <a:spcAft>
                <a:spcPts val="400"/>
              </a:spcAft>
            </a:pPr>
            <a:r>
              <a:rPr sz="1500" b="0" i="0">
                <a:solidFill>
                  <a:srgbClr val="1F2A33"/>
                </a:solidFill>
              </a:rPr>
              <a:t>More unequal countries tend to have lower trust, with plenty of exceptions.</a:t>
            </a:r>
          </a:p>
        </p:txBody>
      </p:sp>
      <p:sp>
        <p:nvSpPr>
          <p:cNvPr id="12" name="TextBox 11"/>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pickett2009.csv (Wilkinson &amp; Pickett 2009, Figure 4.1), 23 countries.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Fifteen years later: 43 countries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34</a:t>
            </a:fld>
            <a:endParaRPr lang="en-GB"/>
          </a:p>
        </p:txBody>
      </p:sp>
      <p:sp>
        <p:nvSpPr>
          <p:cNvPr id="7" name="TextBox 6"/>
          <p:cNvSpPr txBox="1"/>
          <p:nvPr/>
        </p:nvSpPr>
        <p:spPr>
          <a:xfrm>
            <a:off x="758952" y="1298448"/>
            <a:ext cx="5212080" cy="365760"/>
          </a:xfrm>
          <a:prstGeom prst="rect">
            <a:avLst/>
          </a:prstGeom>
          <a:noFill/>
        </p:spPr>
        <p:txBody>
          <a:bodyPr wrap="square" lIns="0" tIns="0" rIns="0" bIns="0" anchor="t">
            <a:spAutoFit/>
          </a:bodyPr>
          <a:lstStyle/>
          <a:p>
            <a:pPr algn="l"/>
            <a:r>
              <a:rPr sz="1700" b="1" i="0">
                <a:solidFill>
                  <a:srgbClr val="1F394D"/>
                </a:solidFill>
              </a:rPr>
              <a:t>Gini coefficient:  </a:t>
            </a:r>
            <a:r>
              <a:rPr sz="1700" b="1" i="0">
                <a:solidFill>
                  <a:srgbClr val="7A5C00"/>
                </a:solidFill>
              </a:rPr>
              <a:t>r = −0.43</a:t>
            </a:r>
            <a:r>
              <a:rPr sz="1700" b="0" i="0">
                <a:solidFill>
                  <a:srgbClr val="55606B"/>
                </a:solidFill>
              </a:rPr>
              <a:t>   (without China: −0.60)</a:t>
            </a:r>
          </a:p>
        </p:txBody>
      </p:sp>
      <p:graphicFrame>
        <p:nvGraphicFramePr>
          <p:cNvPr id="8" name="2024 scatter 1"/>
          <p:cNvGraphicFramePr>
            <a:graphicFrameLocks noGrp="1"/>
          </p:cNvGraphicFramePr>
          <p:nvPr/>
        </p:nvGraphicFramePr>
        <p:xfrm>
          <a:off x="758952" y="1691640"/>
          <a:ext cx="52120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6153912" y="1298448"/>
            <a:ext cx="5212080" cy="365760"/>
          </a:xfrm>
          <a:prstGeom prst="rect">
            <a:avLst/>
          </a:prstGeom>
          <a:noFill/>
        </p:spPr>
        <p:txBody>
          <a:bodyPr wrap="square" lIns="0" tIns="0" rIns="0" bIns="0" anchor="t">
            <a:spAutoFit/>
          </a:bodyPr>
          <a:lstStyle/>
          <a:p>
            <a:pPr algn="l"/>
            <a:r>
              <a:rPr sz="1700" b="1" i="0">
                <a:solidFill>
                  <a:srgbClr val="1F394D"/>
                </a:solidFill>
              </a:rPr>
              <a:t>Richest ÷ poorest fifth:  </a:t>
            </a:r>
            <a:r>
              <a:rPr sz="1700" b="1" i="0">
                <a:solidFill>
                  <a:srgbClr val="7A5C00"/>
                </a:solidFill>
              </a:rPr>
              <a:t>r = −0.15</a:t>
            </a:r>
            <a:r>
              <a:rPr sz="1700" b="0" i="0">
                <a:solidFill>
                  <a:srgbClr val="55606B"/>
                </a:solidFill>
              </a:rPr>
              <a:t>   (without China: −0.58)</a:t>
            </a:r>
          </a:p>
        </p:txBody>
      </p:sp>
      <p:graphicFrame>
        <p:nvGraphicFramePr>
          <p:cNvPr id="10" name="2024 scatter 2"/>
          <p:cNvGraphicFramePr>
            <a:graphicFrameLocks noGrp="1"/>
          </p:cNvGraphicFramePr>
          <p:nvPr/>
        </p:nvGraphicFramePr>
        <p:xfrm>
          <a:off x="6153912" y="1691640"/>
          <a:ext cx="5212080" cy="41148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pickett&amp;al2024.sav (Pickett et al. 2024), 43 countries.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Trust and other national indicators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35</a:t>
            </a:fld>
            <a:endParaRPr lang="en-GB"/>
          </a:p>
        </p:txBody>
      </p:sp>
      <p:graphicFrame>
        <p:nvGraphicFramePr>
          <p:cNvPr id="7" name="Correlation bars"/>
          <p:cNvGraphicFramePr>
            <a:graphicFrameLocks noGrp="1"/>
          </p:cNvGraphicFramePr>
          <p:nvPr/>
        </p:nvGraphicFramePr>
        <p:xfrm>
          <a:off x="758952" y="1325880"/>
          <a:ext cx="7498079"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8503920" y="1417320"/>
            <a:ext cx="2862072" cy="2103120"/>
          </a:xfrm>
          <a:prstGeom prst="roundRect">
            <a:avLst>
              <a:gd name="adj" fmla="val 8000"/>
            </a:avLst>
          </a:prstGeom>
          <a:solidFill>
            <a:srgbClr val="1F394D"/>
          </a:solidFill>
          <a:ln>
            <a:noFill/>
          </a:ln>
        </p:spPr>
        <p:txBody>
          <a:bodyPr rtlCol="0" anchor="ctr"/>
          <a:lstStyle/>
          <a:p>
            <a:endParaRPr/>
          </a:p>
        </p:txBody>
      </p:sp>
      <p:sp>
        <p:nvSpPr>
          <p:cNvPr id="9" name="TextBox 8"/>
          <p:cNvSpPr txBox="1"/>
          <p:nvPr/>
        </p:nvSpPr>
        <p:spPr>
          <a:xfrm>
            <a:off x="8705088" y="1578254"/>
            <a:ext cx="2459736" cy="1781251"/>
          </a:xfrm>
          <a:prstGeom prst="rect">
            <a:avLst/>
          </a:prstGeom>
          <a:noFill/>
        </p:spPr>
        <p:txBody>
          <a:bodyPr wrap="square" lIns="0" tIns="0" rIns="0" bIns="0" anchor="t">
            <a:spAutoFit/>
          </a:bodyPr>
          <a:lstStyle/>
          <a:p>
            <a:pPr algn="l">
              <a:spcAft>
                <a:spcPts val="400"/>
              </a:spcAft>
            </a:pPr>
            <a:r>
              <a:rPr sz="2200" b="1" i="0">
                <a:solidFill>
                  <a:srgbClr val="B88C00"/>
                </a:solidFill>
              </a:rPr>
              <a:t>Strongest</a:t>
            </a:r>
          </a:p>
          <a:p>
            <a:pPr algn="l">
              <a:spcAft>
                <a:spcPts val="400"/>
              </a:spcAft>
            </a:pPr>
            <a:r>
              <a:rPr sz="1700" b="0" i="0">
                <a:solidFill>
                  <a:srgbClr val="CCDDEA"/>
                </a:solidFill>
              </a:rPr>
              <a:t>Income inequality (r = −0.66)</a:t>
            </a:r>
          </a:p>
        </p:txBody>
      </p:sp>
      <p:sp>
        <p:nvSpPr>
          <p:cNvPr id="10" name="Rounded Rectangle 9"/>
          <p:cNvSpPr/>
          <p:nvPr/>
        </p:nvSpPr>
        <p:spPr>
          <a:xfrm>
            <a:off x="8503920" y="3703320"/>
            <a:ext cx="2862072" cy="2057400"/>
          </a:xfrm>
          <a:prstGeom prst="roundRect">
            <a:avLst>
              <a:gd name="adj" fmla="val 8000"/>
            </a:avLst>
          </a:prstGeom>
          <a:solidFill>
            <a:srgbClr val="FFFFFF"/>
          </a:solidFill>
          <a:ln w="15875">
            <a:solidFill>
              <a:srgbClr val="B88C00"/>
            </a:solidFill>
          </a:ln>
        </p:spPr>
        <p:txBody>
          <a:bodyPr rtlCol="0" anchor="ctr"/>
          <a:lstStyle/>
          <a:p>
            <a:endParaRPr/>
          </a:p>
        </p:txBody>
      </p:sp>
      <p:sp>
        <p:nvSpPr>
          <p:cNvPr id="11" name="TextBox 10"/>
          <p:cNvSpPr txBox="1"/>
          <p:nvPr/>
        </p:nvSpPr>
        <p:spPr>
          <a:xfrm>
            <a:off x="8705088" y="3864254"/>
            <a:ext cx="2459736" cy="1735531"/>
          </a:xfrm>
          <a:prstGeom prst="rect">
            <a:avLst/>
          </a:prstGeom>
          <a:noFill/>
        </p:spPr>
        <p:txBody>
          <a:bodyPr wrap="square" lIns="0" tIns="0" rIns="0" bIns="0" anchor="t">
            <a:spAutoFit/>
          </a:bodyPr>
          <a:lstStyle/>
          <a:p>
            <a:pPr algn="l">
              <a:spcAft>
                <a:spcPts val="400"/>
              </a:spcAft>
            </a:pPr>
            <a:r>
              <a:rPr sz="1800" b="1" i="0">
                <a:solidFill>
                  <a:srgbClr val="1F394D"/>
                </a:solidFill>
              </a:rPr>
              <a:t>Country-level</a:t>
            </a:r>
          </a:p>
          <a:p>
            <a:pPr algn="l">
              <a:spcAft>
                <a:spcPts val="400"/>
              </a:spcAft>
            </a:pPr>
            <a:r>
              <a:rPr sz="1600" b="0" i="0">
                <a:solidFill>
                  <a:srgbClr val="1F2A33"/>
                </a:solidFill>
              </a:rPr>
              <a:t>These describe countries, not individuals.</a:t>
            </a:r>
          </a:p>
        </p:txBody>
      </p:sp>
      <p:sp>
        <p:nvSpPr>
          <p:cNvPr id="12" name="TextBox 11"/>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pickett2009.csv, 23 countries. Pearson correlations with the % who say most people can be trusted.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dirty="0">
                <a:solidFill>
                  <a:schemeClr val="bg1"/>
                </a:solidFill>
              </a:rPr>
              <a:t>Activity: why are they associated?</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36</a:t>
            </a:fld>
            <a:endParaRPr lang="en-GB"/>
          </a:p>
        </p:txBody>
      </p:sp>
      <p:sp>
        <p:nvSpPr>
          <p:cNvPr id="7" name="TextBox 6"/>
          <p:cNvSpPr txBox="1"/>
          <p:nvPr/>
        </p:nvSpPr>
        <p:spPr>
          <a:xfrm>
            <a:off x="758952" y="1216152"/>
            <a:ext cx="10607040" cy="307777"/>
          </a:xfrm>
          <a:prstGeom prst="rect">
            <a:avLst/>
          </a:prstGeom>
          <a:noFill/>
        </p:spPr>
        <p:txBody>
          <a:bodyPr wrap="square" lIns="0" tIns="0" rIns="0" bIns="0" anchor="t">
            <a:spAutoFit/>
          </a:bodyPr>
          <a:lstStyle/>
          <a:p>
            <a:pPr algn="l"/>
            <a:r>
              <a:rPr sz="2000" b="0" i="0">
                <a:solidFill>
                  <a:schemeClr val="bg1"/>
                </a:solidFill>
              </a:rPr>
              <a:t>The correlation is r = −0.66. Which story would you test, and what data would you need?</a:t>
            </a:r>
          </a:p>
        </p:txBody>
      </p:sp>
      <p:sp>
        <p:nvSpPr>
          <p:cNvPr id="8" name="Story A"/>
          <p:cNvSpPr/>
          <p:nvPr/>
        </p:nvSpPr>
        <p:spPr>
          <a:xfrm>
            <a:off x="758952" y="1828800"/>
            <a:ext cx="3429000" cy="3886200"/>
          </a:xfrm>
          <a:prstGeom prst="roundRect">
            <a:avLst>
              <a:gd name="adj" fmla="val 8000"/>
            </a:avLst>
          </a:prstGeom>
          <a:solidFill>
            <a:srgbClr val="EEF3F7"/>
          </a:solidFill>
          <a:ln>
            <a:noFill/>
          </a:ln>
        </p:spPr>
        <p:txBody>
          <a:bodyPr rtlCol="0" anchor="ctr"/>
          <a:lstStyle/>
          <a:p>
            <a:endParaRPr/>
          </a:p>
        </p:txBody>
      </p:sp>
      <p:sp>
        <p:nvSpPr>
          <p:cNvPr id="9" name="Oval 8"/>
          <p:cNvSpPr/>
          <p:nvPr/>
        </p:nvSpPr>
        <p:spPr>
          <a:xfrm>
            <a:off x="987552" y="2011680"/>
            <a:ext cx="594360" cy="594360"/>
          </a:xfrm>
          <a:prstGeom prst="ellipse">
            <a:avLst/>
          </a:prstGeom>
          <a:solidFill>
            <a:srgbClr val="1F394D"/>
          </a:solidFill>
          <a:ln>
            <a:noFill/>
          </a:ln>
        </p:spPr>
        <p:txBody>
          <a:bodyPr lIns="0" tIns="0" rIns="0" bIns="0" rtlCol="0" anchor="ctr"/>
          <a:lstStyle/>
          <a:p>
            <a:pPr algn="ctr"/>
            <a:r>
              <a:rPr sz="2200" b="1">
                <a:solidFill>
                  <a:srgbClr val="FFFFFF"/>
                </a:solidFill>
              </a:rPr>
              <a:t>A</a:t>
            </a:r>
          </a:p>
        </p:txBody>
      </p:sp>
      <p:sp>
        <p:nvSpPr>
          <p:cNvPr id="10" name="TextBox 9"/>
          <p:cNvSpPr txBox="1"/>
          <p:nvPr/>
        </p:nvSpPr>
        <p:spPr>
          <a:xfrm>
            <a:off x="987552" y="2788920"/>
            <a:ext cx="2971800" cy="1005840"/>
          </a:xfrm>
          <a:prstGeom prst="rect">
            <a:avLst/>
          </a:prstGeom>
          <a:noFill/>
        </p:spPr>
        <p:txBody>
          <a:bodyPr wrap="square" lIns="0" tIns="0" rIns="0" bIns="0" anchor="t">
            <a:spAutoFit/>
          </a:bodyPr>
          <a:lstStyle/>
          <a:p>
            <a:pPr algn="l"/>
            <a:r>
              <a:rPr sz="2100" b="1" i="0">
                <a:solidFill>
                  <a:srgbClr val="1F394D"/>
                </a:solidFill>
              </a:rPr>
              <a:t>Inequality erodes trust</a:t>
            </a:r>
          </a:p>
        </p:txBody>
      </p:sp>
      <p:sp>
        <p:nvSpPr>
          <p:cNvPr id="11" name="Rounded Rectangle 10"/>
          <p:cNvSpPr/>
          <p:nvPr/>
        </p:nvSpPr>
        <p:spPr>
          <a:xfrm>
            <a:off x="987552" y="4069080"/>
            <a:ext cx="2971800" cy="548640"/>
          </a:xfrm>
          <a:prstGeom prst="roundRect">
            <a:avLst>
              <a:gd name="adj" fmla="val 50000"/>
            </a:avLst>
          </a:prstGeom>
          <a:solidFill>
            <a:srgbClr val="FFFFFF"/>
          </a:solidFill>
          <a:ln>
            <a:noFill/>
          </a:ln>
        </p:spPr>
        <p:txBody>
          <a:bodyPr rtlCol="0" anchor="ctr"/>
          <a:lstStyle/>
          <a:p>
            <a:endParaRPr/>
          </a:p>
        </p:txBody>
      </p:sp>
      <p:sp>
        <p:nvSpPr>
          <p:cNvPr id="12" name="TextBox 11"/>
          <p:cNvSpPr txBox="1"/>
          <p:nvPr/>
        </p:nvSpPr>
        <p:spPr>
          <a:xfrm>
            <a:off x="987552" y="4069080"/>
            <a:ext cx="2971800" cy="548640"/>
          </a:xfrm>
          <a:prstGeom prst="rect">
            <a:avLst/>
          </a:prstGeom>
          <a:noFill/>
        </p:spPr>
        <p:txBody>
          <a:bodyPr wrap="square" lIns="0" tIns="0" rIns="0" bIns="0" anchor="ctr">
            <a:spAutoFit/>
          </a:bodyPr>
          <a:lstStyle/>
          <a:p>
            <a:pPr algn="ctr"/>
            <a:r>
              <a:rPr sz="1500" b="1" i="0">
                <a:solidFill>
                  <a:srgbClr val="1F394D"/>
                </a:solidFill>
              </a:rPr>
              <a:t>Inequality  →  Trust</a:t>
            </a:r>
          </a:p>
        </p:txBody>
      </p:sp>
      <p:sp>
        <p:nvSpPr>
          <p:cNvPr id="13" name="Story B"/>
          <p:cNvSpPr/>
          <p:nvPr/>
        </p:nvSpPr>
        <p:spPr>
          <a:xfrm>
            <a:off x="4370832" y="1828800"/>
            <a:ext cx="3429000" cy="3886200"/>
          </a:xfrm>
          <a:prstGeom prst="roundRect">
            <a:avLst>
              <a:gd name="adj" fmla="val 8000"/>
            </a:avLst>
          </a:prstGeom>
          <a:solidFill>
            <a:srgbClr val="EEF3F7"/>
          </a:solidFill>
          <a:ln>
            <a:noFill/>
          </a:ln>
        </p:spPr>
        <p:txBody>
          <a:bodyPr rtlCol="0" anchor="ctr"/>
          <a:lstStyle/>
          <a:p>
            <a:endParaRPr/>
          </a:p>
        </p:txBody>
      </p:sp>
      <p:sp>
        <p:nvSpPr>
          <p:cNvPr id="14" name="Oval 13"/>
          <p:cNvSpPr/>
          <p:nvPr/>
        </p:nvSpPr>
        <p:spPr>
          <a:xfrm>
            <a:off x="4599432" y="2011680"/>
            <a:ext cx="594360" cy="594360"/>
          </a:xfrm>
          <a:prstGeom prst="ellipse">
            <a:avLst/>
          </a:prstGeom>
          <a:solidFill>
            <a:srgbClr val="1F394D"/>
          </a:solidFill>
          <a:ln>
            <a:noFill/>
          </a:ln>
        </p:spPr>
        <p:txBody>
          <a:bodyPr lIns="0" tIns="0" rIns="0" bIns="0" rtlCol="0" anchor="ctr"/>
          <a:lstStyle/>
          <a:p>
            <a:pPr algn="ctr"/>
            <a:r>
              <a:rPr sz="2200" b="1">
                <a:solidFill>
                  <a:srgbClr val="FFFFFF"/>
                </a:solidFill>
              </a:rPr>
              <a:t>B</a:t>
            </a:r>
          </a:p>
        </p:txBody>
      </p:sp>
      <p:sp>
        <p:nvSpPr>
          <p:cNvPr id="15" name="TextBox 14"/>
          <p:cNvSpPr txBox="1"/>
          <p:nvPr/>
        </p:nvSpPr>
        <p:spPr>
          <a:xfrm>
            <a:off x="4599432" y="2788920"/>
            <a:ext cx="2971800" cy="1005840"/>
          </a:xfrm>
          <a:prstGeom prst="rect">
            <a:avLst/>
          </a:prstGeom>
          <a:noFill/>
        </p:spPr>
        <p:txBody>
          <a:bodyPr wrap="square" lIns="0" tIns="0" rIns="0" bIns="0" anchor="t">
            <a:spAutoFit/>
          </a:bodyPr>
          <a:lstStyle/>
          <a:p>
            <a:pPr algn="l"/>
            <a:r>
              <a:rPr sz="2100" b="1" i="0">
                <a:solidFill>
                  <a:srgbClr val="1F394D"/>
                </a:solidFill>
              </a:rPr>
              <a:t>Trust reduces inequality</a:t>
            </a:r>
          </a:p>
        </p:txBody>
      </p:sp>
      <p:sp>
        <p:nvSpPr>
          <p:cNvPr id="16" name="Rounded Rectangle 15"/>
          <p:cNvSpPr/>
          <p:nvPr/>
        </p:nvSpPr>
        <p:spPr>
          <a:xfrm>
            <a:off x="4599432" y="4069080"/>
            <a:ext cx="2971800" cy="548640"/>
          </a:xfrm>
          <a:prstGeom prst="roundRect">
            <a:avLst>
              <a:gd name="adj" fmla="val 50000"/>
            </a:avLst>
          </a:prstGeom>
          <a:solidFill>
            <a:srgbClr val="FFFFFF"/>
          </a:solidFill>
          <a:ln>
            <a:noFill/>
          </a:ln>
        </p:spPr>
        <p:txBody>
          <a:bodyPr rtlCol="0" anchor="ctr"/>
          <a:lstStyle/>
          <a:p>
            <a:endParaRPr/>
          </a:p>
        </p:txBody>
      </p:sp>
      <p:sp>
        <p:nvSpPr>
          <p:cNvPr id="17" name="TextBox 16"/>
          <p:cNvSpPr txBox="1"/>
          <p:nvPr/>
        </p:nvSpPr>
        <p:spPr>
          <a:xfrm>
            <a:off x="4599432" y="4069080"/>
            <a:ext cx="2971800" cy="548640"/>
          </a:xfrm>
          <a:prstGeom prst="rect">
            <a:avLst/>
          </a:prstGeom>
          <a:noFill/>
        </p:spPr>
        <p:txBody>
          <a:bodyPr wrap="square" lIns="0" tIns="0" rIns="0" bIns="0" anchor="ctr">
            <a:spAutoFit/>
          </a:bodyPr>
          <a:lstStyle/>
          <a:p>
            <a:pPr algn="ctr"/>
            <a:r>
              <a:rPr sz="1500" b="1" i="0">
                <a:solidFill>
                  <a:srgbClr val="1F394D"/>
                </a:solidFill>
              </a:rPr>
              <a:t>Trust  →  Inequality</a:t>
            </a:r>
          </a:p>
        </p:txBody>
      </p:sp>
      <p:sp>
        <p:nvSpPr>
          <p:cNvPr id="18" name="Story C"/>
          <p:cNvSpPr/>
          <p:nvPr/>
        </p:nvSpPr>
        <p:spPr>
          <a:xfrm>
            <a:off x="7982712" y="1828800"/>
            <a:ext cx="3429000" cy="3886200"/>
          </a:xfrm>
          <a:prstGeom prst="roundRect">
            <a:avLst>
              <a:gd name="adj" fmla="val 8000"/>
            </a:avLst>
          </a:prstGeom>
          <a:solidFill>
            <a:srgbClr val="1F394D"/>
          </a:solidFill>
          <a:ln>
            <a:noFill/>
          </a:ln>
        </p:spPr>
        <p:txBody>
          <a:bodyPr rtlCol="0" anchor="ctr"/>
          <a:lstStyle/>
          <a:p>
            <a:endParaRPr/>
          </a:p>
        </p:txBody>
      </p:sp>
      <p:sp>
        <p:nvSpPr>
          <p:cNvPr id="19" name="Oval 18"/>
          <p:cNvSpPr/>
          <p:nvPr/>
        </p:nvSpPr>
        <p:spPr>
          <a:xfrm>
            <a:off x="8211312" y="2011680"/>
            <a:ext cx="594360" cy="594360"/>
          </a:xfrm>
          <a:prstGeom prst="ellipse">
            <a:avLst/>
          </a:prstGeom>
          <a:solidFill>
            <a:srgbClr val="B88C00"/>
          </a:solidFill>
          <a:ln>
            <a:noFill/>
          </a:ln>
        </p:spPr>
        <p:txBody>
          <a:bodyPr lIns="0" tIns="0" rIns="0" bIns="0" rtlCol="0" anchor="ctr"/>
          <a:lstStyle/>
          <a:p>
            <a:pPr algn="ctr"/>
            <a:r>
              <a:rPr sz="2200" b="1">
                <a:solidFill>
                  <a:srgbClr val="FFFFFF"/>
                </a:solidFill>
              </a:rPr>
              <a:t>C</a:t>
            </a:r>
          </a:p>
        </p:txBody>
      </p:sp>
      <p:sp>
        <p:nvSpPr>
          <p:cNvPr id="20" name="TextBox 19"/>
          <p:cNvSpPr txBox="1"/>
          <p:nvPr/>
        </p:nvSpPr>
        <p:spPr>
          <a:xfrm>
            <a:off x="8211312" y="2788920"/>
            <a:ext cx="2971800" cy="1005840"/>
          </a:xfrm>
          <a:prstGeom prst="rect">
            <a:avLst/>
          </a:prstGeom>
          <a:noFill/>
        </p:spPr>
        <p:txBody>
          <a:bodyPr wrap="square" lIns="0" tIns="0" rIns="0" bIns="0" anchor="t">
            <a:spAutoFit/>
          </a:bodyPr>
          <a:lstStyle/>
          <a:p>
            <a:pPr algn="l"/>
            <a:r>
              <a:rPr sz="2100" b="1" i="0">
                <a:solidFill>
                  <a:srgbClr val="FFFFFF"/>
                </a:solidFill>
              </a:rPr>
              <a:t>Something else drives both</a:t>
            </a:r>
          </a:p>
        </p:txBody>
      </p:sp>
      <p:sp>
        <p:nvSpPr>
          <p:cNvPr id="21" name="Rounded Rectangle 20"/>
          <p:cNvSpPr/>
          <p:nvPr/>
        </p:nvSpPr>
        <p:spPr>
          <a:xfrm>
            <a:off x="8211312" y="4069080"/>
            <a:ext cx="2971800" cy="548640"/>
          </a:xfrm>
          <a:prstGeom prst="roundRect">
            <a:avLst>
              <a:gd name="adj" fmla="val 50000"/>
            </a:avLst>
          </a:prstGeom>
          <a:solidFill>
            <a:srgbClr val="3F739B"/>
          </a:solidFill>
          <a:ln>
            <a:noFill/>
          </a:ln>
        </p:spPr>
        <p:txBody>
          <a:bodyPr rtlCol="0" anchor="ctr"/>
          <a:lstStyle/>
          <a:p>
            <a:endParaRPr/>
          </a:p>
        </p:txBody>
      </p:sp>
      <p:sp>
        <p:nvSpPr>
          <p:cNvPr id="22" name="TextBox 21"/>
          <p:cNvSpPr txBox="1"/>
          <p:nvPr/>
        </p:nvSpPr>
        <p:spPr>
          <a:xfrm>
            <a:off x="8211312" y="4069080"/>
            <a:ext cx="2971800" cy="548640"/>
          </a:xfrm>
          <a:prstGeom prst="rect">
            <a:avLst/>
          </a:prstGeom>
          <a:noFill/>
        </p:spPr>
        <p:txBody>
          <a:bodyPr wrap="square" lIns="0" tIns="0" rIns="0" bIns="0" anchor="ctr">
            <a:spAutoFit/>
          </a:bodyPr>
          <a:lstStyle/>
          <a:p>
            <a:pPr algn="ctr"/>
            <a:r>
              <a:rPr sz="1500" b="1" i="0">
                <a:solidFill>
                  <a:srgbClr val="FFFFFF"/>
                </a:solidFill>
              </a:rPr>
              <a:t>History, institutions  →  both</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Reporting the results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37</a:t>
            </a:fld>
            <a:endParaRPr lang="en-GB"/>
          </a:p>
        </p:txBody>
      </p:sp>
      <p:sp>
        <p:nvSpPr>
          <p:cNvPr id="7" name="Rounded Rectangle 6"/>
          <p:cNvSpPr/>
          <p:nvPr/>
        </p:nvSpPr>
        <p:spPr>
          <a:xfrm>
            <a:off x="758952" y="1371600"/>
            <a:ext cx="6675120" cy="4434840"/>
          </a:xfrm>
          <a:prstGeom prst="roundRect">
            <a:avLst>
              <a:gd name="adj" fmla="val 8000"/>
            </a:avLst>
          </a:prstGeom>
          <a:solidFill>
            <a:srgbClr val="EEF3F7"/>
          </a:solidFill>
          <a:ln>
            <a:noFill/>
          </a:ln>
        </p:spPr>
        <p:txBody>
          <a:bodyPr rtlCol="0" anchor="ctr"/>
          <a:lstStyle/>
          <a:p>
            <a:pPr algn="ctr"/>
            <a:endParaRPr/>
          </a:p>
        </p:txBody>
      </p:sp>
      <p:sp>
        <p:nvSpPr>
          <p:cNvPr id="8" name="TextBox 7"/>
          <p:cNvSpPr txBox="1"/>
          <p:nvPr/>
        </p:nvSpPr>
        <p:spPr>
          <a:xfrm>
            <a:off x="987552" y="1508760"/>
            <a:ext cx="6263640" cy="4160520"/>
          </a:xfrm>
          <a:prstGeom prst="rect">
            <a:avLst/>
          </a:prstGeom>
          <a:noFill/>
        </p:spPr>
        <p:txBody>
          <a:bodyPr wrap="square" lIns="0" tIns="0" rIns="0" bIns="0" anchor="t">
            <a:spAutoFit/>
          </a:bodyPr>
          <a:lstStyle/>
          <a:p>
            <a:pPr algn="l">
              <a:spcAft>
                <a:spcPts val="600"/>
              </a:spcAft>
            </a:pPr>
            <a:r>
              <a:rPr sz="1500" b="1" i="0">
                <a:solidFill>
                  <a:srgbClr val="3F739B"/>
                </a:solidFill>
              </a:rPr>
              <a:t>Example paragraph</a:t>
            </a:r>
            <a:endParaRPr sz="1500"/>
          </a:p>
          <a:p>
            <a:pPr algn="l">
              <a:lnSpc>
                <a:spcPct val="106000"/>
              </a:lnSpc>
            </a:pPr>
            <a:r>
              <a:rPr sz="1700" b="0" i="0">
                <a:solidFill>
                  <a:srgbClr val="1F2A33"/>
                </a:solidFill>
              </a:rPr>
              <a:t>In the British Social Attitudes survey 2010, 51.7% of men and 40.7% of women said that most people can be trusted, a gap of 11 percentage points. On the 0–10 trust scale of the European Social Survey 2023–24 (UK), men averaged 5.54 and women 5.27; this gap of 0.27 points is small next to the standard deviation of about 2.3, and the two distributions overlap almost completely. Across 23 rich countries, income inequality and trust were strongly and negatively correlated (r = −0.66): more unequal countries tended to have lower trust, with clear exceptions.</a:t>
            </a:r>
            <a:endParaRPr sz="1700"/>
          </a:p>
        </p:txBody>
      </p:sp>
      <p:sp>
        <p:nvSpPr>
          <p:cNvPr id="9" name="Rounded Rectangle 8"/>
          <p:cNvSpPr/>
          <p:nvPr/>
        </p:nvSpPr>
        <p:spPr>
          <a:xfrm>
            <a:off x="7635240" y="1371600"/>
            <a:ext cx="3730752" cy="4434840"/>
          </a:xfrm>
          <a:prstGeom prst="roundRect">
            <a:avLst>
              <a:gd name="adj" fmla="val 8000"/>
            </a:avLst>
          </a:prstGeom>
          <a:solidFill>
            <a:srgbClr val="1F394D"/>
          </a:solidFill>
          <a:ln>
            <a:noFill/>
          </a:ln>
        </p:spPr>
        <p:txBody>
          <a:bodyPr rtlCol="0" anchor="ctr"/>
          <a:lstStyle/>
          <a:p>
            <a:pPr algn="ctr"/>
            <a:endParaRPr/>
          </a:p>
        </p:txBody>
      </p:sp>
      <p:sp>
        <p:nvSpPr>
          <p:cNvPr id="10" name="TextBox 9"/>
          <p:cNvSpPr txBox="1"/>
          <p:nvPr/>
        </p:nvSpPr>
        <p:spPr>
          <a:xfrm>
            <a:off x="7863840" y="1508760"/>
            <a:ext cx="3337560" cy="365760"/>
          </a:xfrm>
          <a:prstGeom prst="rect">
            <a:avLst/>
          </a:prstGeom>
          <a:noFill/>
        </p:spPr>
        <p:txBody>
          <a:bodyPr wrap="square" lIns="0" tIns="0" rIns="0" bIns="0" anchor="t">
            <a:spAutoFit/>
          </a:bodyPr>
          <a:lstStyle/>
          <a:p>
            <a:pPr algn="l"/>
            <a:r>
              <a:rPr sz="1600" b="1" i="0">
                <a:solidFill>
                  <a:srgbClr val="B88C00"/>
                </a:solidFill>
              </a:rPr>
              <a:t>Checklist</a:t>
            </a:r>
            <a:endParaRPr sz="1600"/>
          </a:p>
        </p:txBody>
      </p:sp>
      <p:sp>
        <p:nvSpPr>
          <p:cNvPr id="11" name="Oval 10"/>
          <p:cNvSpPr/>
          <p:nvPr/>
        </p:nvSpPr>
        <p:spPr>
          <a:xfrm>
            <a:off x="7882128" y="2057400"/>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1</a:t>
            </a:r>
            <a:endParaRPr sz="1400"/>
          </a:p>
        </p:txBody>
      </p:sp>
      <p:sp>
        <p:nvSpPr>
          <p:cNvPr id="12" name="TextBox 11"/>
          <p:cNvSpPr txBox="1"/>
          <p:nvPr/>
        </p:nvSpPr>
        <p:spPr>
          <a:xfrm>
            <a:off x="8385048" y="2057400"/>
            <a:ext cx="2880360" cy="384048"/>
          </a:xfrm>
          <a:prstGeom prst="rect">
            <a:avLst/>
          </a:prstGeom>
          <a:noFill/>
        </p:spPr>
        <p:txBody>
          <a:bodyPr wrap="square" lIns="0" tIns="0" rIns="0" bIns="0" anchor="ctr">
            <a:spAutoFit/>
          </a:bodyPr>
          <a:lstStyle/>
          <a:p>
            <a:pPr algn="l"/>
            <a:r>
              <a:rPr sz="1500" b="0" i="0">
                <a:solidFill>
                  <a:srgbClr val="FFFFFF"/>
                </a:solidFill>
              </a:rPr>
              <a:t>Which variable is the outcome</a:t>
            </a:r>
            <a:endParaRPr sz="1500"/>
          </a:p>
        </p:txBody>
      </p:sp>
      <p:sp>
        <p:nvSpPr>
          <p:cNvPr id="13" name="Oval 12"/>
          <p:cNvSpPr/>
          <p:nvPr/>
        </p:nvSpPr>
        <p:spPr>
          <a:xfrm>
            <a:off x="7882128" y="2660904"/>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2</a:t>
            </a:r>
            <a:endParaRPr sz="1400"/>
          </a:p>
        </p:txBody>
      </p:sp>
      <p:sp>
        <p:nvSpPr>
          <p:cNvPr id="14" name="TextBox 13"/>
          <p:cNvSpPr txBox="1"/>
          <p:nvPr/>
        </p:nvSpPr>
        <p:spPr>
          <a:xfrm>
            <a:off x="8385048" y="2660904"/>
            <a:ext cx="2880360" cy="384048"/>
          </a:xfrm>
          <a:prstGeom prst="rect">
            <a:avLst/>
          </a:prstGeom>
          <a:noFill/>
        </p:spPr>
        <p:txBody>
          <a:bodyPr wrap="square" lIns="0" tIns="0" rIns="0" bIns="0" anchor="ctr">
            <a:spAutoFit/>
          </a:bodyPr>
          <a:lstStyle/>
          <a:p>
            <a:pPr algn="l"/>
            <a:r>
              <a:rPr sz="1500" b="0" i="0">
                <a:solidFill>
                  <a:srgbClr val="FFFFFF"/>
                </a:solidFill>
              </a:rPr>
              <a:t>Percentages within the groups compared</a:t>
            </a:r>
            <a:endParaRPr sz="1500"/>
          </a:p>
        </p:txBody>
      </p:sp>
      <p:sp>
        <p:nvSpPr>
          <p:cNvPr id="15" name="Oval 14"/>
          <p:cNvSpPr/>
          <p:nvPr/>
        </p:nvSpPr>
        <p:spPr>
          <a:xfrm>
            <a:off x="7882128" y="3264408"/>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3</a:t>
            </a:r>
            <a:endParaRPr sz="1400"/>
          </a:p>
        </p:txBody>
      </p:sp>
      <p:sp>
        <p:nvSpPr>
          <p:cNvPr id="16" name="TextBox 15"/>
          <p:cNvSpPr txBox="1"/>
          <p:nvPr/>
        </p:nvSpPr>
        <p:spPr>
          <a:xfrm>
            <a:off x="8385048" y="3264408"/>
            <a:ext cx="2880360" cy="384048"/>
          </a:xfrm>
          <a:prstGeom prst="rect">
            <a:avLst/>
          </a:prstGeom>
          <a:noFill/>
        </p:spPr>
        <p:txBody>
          <a:bodyPr wrap="square" lIns="0" tIns="0" rIns="0" bIns="0" anchor="ctr">
            <a:spAutoFit/>
          </a:bodyPr>
          <a:lstStyle/>
          <a:p>
            <a:pPr algn="l"/>
            <a:r>
              <a:rPr sz="1500" b="0" i="0">
                <a:solidFill>
                  <a:srgbClr val="FFFFFF"/>
                </a:solidFill>
              </a:rPr>
              <a:t>The size of the gap, in the outcome’s units</a:t>
            </a:r>
            <a:endParaRPr sz="1500"/>
          </a:p>
        </p:txBody>
      </p:sp>
      <p:sp>
        <p:nvSpPr>
          <p:cNvPr id="17" name="Oval 16"/>
          <p:cNvSpPr/>
          <p:nvPr/>
        </p:nvSpPr>
        <p:spPr>
          <a:xfrm>
            <a:off x="7882128" y="3867912"/>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4</a:t>
            </a:r>
            <a:endParaRPr sz="1400"/>
          </a:p>
        </p:txBody>
      </p:sp>
      <p:sp>
        <p:nvSpPr>
          <p:cNvPr id="18" name="TextBox 17"/>
          <p:cNvSpPr txBox="1"/>
          <p:nvPr/>
        </p:nvSpPr>
        <p:spPr>
          <a:xfrm>
            <a:off x="8385048" y="3867912"/>
            <a:ext cx="2880360" cy="384048"/>
          </a:xfrm>
          <a:prstGeom prst="rect">
            <a:avLst/>
          </a:prstGeom>
          <a:noFill/>
        </p:spPr>
        <p:txBody>
          <a:bodyPr wrap="square" lIns="0" tIns="0" rIns="0" bIns="0" anchor="ctr">
            <a:spAutoFit/>
          </a:bodyPr>
          <a:lstStyle/>
          <a:p>
            <a:pPr algn="l"/>
            <a:r>
              <a:rPr sz="1500" b="0" i="0">
                <a:solidFill>
                  <a:srgbClr val="FFFFFF"/>
                </a:solidFill>
              </a:rPr>
              <a:t>The gap set against the spread</a:t>
            </a:r>
            <a:endParaRPr sz="1500"/>
          </a:p>
        </p:txBody>
      </p:sp>
      <p:sp>
        <p:nvSpPr>
          <p:cNvPr id="19" name="Oval 18"/>
          <p:cNvSpPr/>
          <p:nvPr/>
        </p:nvSpPr>
        <p:spPr>
          <a:xfrm>
            <a:off x="7882128" y="4471416"/>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5</a:t>
            </a:r>
            <a:endParaRPr sz="1400"/>
          </a:p>
        </p:txBody>
      </p:sp>
      <p:sp>
        <p:nvSpPr>
          <p:cNvPr id="20" name="TextBox 19"/>
          <p:cNvSpPr txBox="1"/>
          <p:nvPr/>
        </p:nvSpPr>
        <p:spPr>
          <a:xfrm>
            <a:off x="8385048" y="4471416"/>
            <a:ext cx="2880360" cy="384048"/>
          </a:xfrm>
          <a:prstGeom prst="rect">
            <a:avLst/>
          </a:prstGeom>
          <a:noFill/>
        </p:spPr>
        <p:txBody>
          <a:bodyPr wrap="square" lIns="0" tIns="0" rIns="0" bIns="0" anchor="ctr">
            <a:spAutoFit/>
          </a:bodyPr>
          <a:lstStyle/>
          <a:p>
            <a:pPr algn="l"/>
            <a:r>
              <a:rPr sz="1500" b="0" i="0">
                <a:solidFill>
                  <a:srgbClr val="FFFFFF"/>
                </a:solidFill>
              </a:rPr>
              <a:t>Direction and strength of a correlation</a:t>
            </a:r>
            <a:endParaRPr sz="1500"/>
          </a:p>
        </p:txBody>
      </p:sp>
      <p:sp>
        <p:nvSpPr>
          <p:cNvPr id="21" name="Oval 20"/>
          <p:cNvSpPr/>
          <p:nvPr/>
        </p:nvSpPr>
        <p:spPr>
          <a:xfrm>
            <a:off x="7882128" y="5074920"/>
            <a:ext cx="365760" cy="365760"/>
          </a:xfrm>
          <a:prstGeom prst="ellipse">
            <a:avLst/>
          </a:prstGeom>
          <a:solidFill>
            <a:srgbClr val="B88C00"/>
          </a:solidFill>
          <a:ln>
            <a:noFill/>
          </a:ln>
        </p:spPr>
        <p:txBody>
          <a:bodyPr wrap="square" lIns="0" tIns="18288" rIns="0" bIns="18288" rtlCol="0" anchor="ctr"/>
          <a:lstStyle/>
          <a:p>
            <a:pPr algn="ctr"/>
            <a:r>
              <a:rPr sz="1400" b="1" i="0">
                <a:solidFill>
                  <a:srgbClr val="FFFFFF"/>
                </a:solidFill>
              </a:rPr>
              <a:t>6</a:t>
            </a:r>
            <a:endParaRPr sz="1400"/>
          </a:p>
        </p:txBody>
      </p:sp>
      <p:sp>
        <p:nvSpPr>
          <p:cNvPr id="22" name="TextBox 21"/>
          <p:cNvSpPr txBox="1"/>
          <p:nvPr/>
        </p:nvSpPr>
        <p:spPr>
          <a:xfrm>
            <a:off x="8385048" y="5074920"/>
            <a:ext cx="2880360" cy="384048"/>
          </a:xfrm>
          <a:prstGeom prst="rect">
            <a:avLst/>
          </a:prstGeom>
          <a:noFill/>
        </p:spPr>
        <p:txBody>
          <a:bodyPr wrap="square" lIns="0" tIns="0" rIns="0" bIns="0" anchor="ctr">
            <a:spAutoFit/>
          </a:bodyPr>
          <a:lstStyle/>
          <a:p>
            <a:pPr algn="l"/>
            <a:r>
              <a:rPr sz="1500" b="0" i="0">
                <a:solidFill>
                  <a:srgbClr val="FFFFFF"/>
                </a:solidFill>
              </a:rPr>
              <a:t>Association, not cause</a:t>
            </a:r>
            <a:endParaRPr sz="1500"/>
          </a:p>
        </p:txBody>
      </p:sp>
      <p:sp>
        <p:nvSpPr>
          <p:cNvPr id="23" name="TextBox 22"/>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BSA 2010 (n = 1,064); ESS Round 11, UK (n = 1,680); pickett2009.csv (23 countries).</a:t>
            </a:r>
            <a:endParaRPr sz="1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Interactive explorer</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38</a:t>
            </a:fld>
            <a:endParaRPr lang="en-GB"/>
          </a:p>
        </p:txBody>
      </p:sp>
      <p:pic>
        <p:nvPicPr>
          <p:cNvPr id="7" name="Picture 6" descr="qr_w2.png"/>
          <p:cNvPicPr>
            <a:picLocks noChangeAspect="1"/>
          </p:cNvPicPr>
          <p:nvPr/>
        </p:nvPicPr>
        <p:blipFill>
          <a:blip r:embed="rId3"/>
          <a:stretch>
            <a:fillRect/>
          </a:stretch>
        </p:blipFill>
        <p:spPr>
          <a:xfrm>
            <a:off x="1051560" y="1463040"/>
            <a:ext cx="2834640" cy="2834640"/>
          </a:xfrm>
          <a:prstGeom prst="rect">
            <a:avLst/>
          </a:prstGeom>
        </p:spPr>
      </p:pic>
      <p:sp>
        <p:nvSpPr>
          <p:cNvPr id="8" name="TextBox 7"/>
          <p:cNvSpPr txBox="1"/>
          <p:nvPr/>
        </p:nvSpPr>
        <p:spPr>
          <a:xfrm>
            <a:off x="758952" y="4434840"/>
            <a:ext cx="3429000" cy="1097280"/>
          </a:xfrm>
          <a:prstGeom prst="rect">
            <a:avLst/>
          </a:prstGeom>
          <a:noFill/>
        </p:spPr>
        <p:txBody>
          <a:bodyPr wrap="square" lIns="0" tIns="0" rIns="0" bIns="0" anchor="t">
            <a:spAutoFit/>
          </a:bodyPr>
          <a:lstStyle/>
          <a:p>
            <a:pPr algn="ctr">
              <a:spcAft>
                <a:spcPts val="400"/>
              </a:spcAft>
            </a:pPr>
            <a:r>
              <a:rPr sz="1400" b="1" i="0">
                <a:solidFill>
                  <a:srgbClr val="1F394D"/>
                </a:solidFill>
              </a:rPr>
              <a:t>Course site › [W2] Interactive Explorer</a:t>
            </a:r>
            <a:endParaRPr sz="1400"/>
          </a:p>
          <a:p>
            <a:pPr algn="ctr"/>
            <a:r>
              <a:rPr sz="1200" b="0" i="0">
                <a:solidFill>
                  <a:srgbClr val="55606B"/>
                </a:solidFill>
              </a:rPr>
              <a:t>cgmoreh.github.io/SOC2069-QUANT-26</a:t>
            </a:r>
            <a:endParaRPr sz="1200"/>
          </a:p>
        </p:txBody>
      </p:sp>
      <p:sp>
        <p:nvSpPr>
          <p:cNvPr id="9" name="Rounded Rectangle 8"/>
          <p:cNvSpPr/>
          <p:nvPr/>
        </p:nvSpPr>
        <p:spPr>
          <a:xfrm>
            <a:off x="4526280" y="1417320"/>
            <a:ext cx="6839712" cy="1097280"/>
          </a:xfrm>
          <a:prstGeom prst="roundRect">
            <a:avLst>
              <a:gd name="adj" fmla="val 8000"/>
            </a:avLst>
          </a:prstGeom>
          <a:solidFill>
            <a:srgbClr val="EEF3F7"/>
          </a:solidFill>
          <a:ln>
            <a:noFill/>
          </a:ln>
        </p:spPr>
        <p:txBody>
          <a:bodyPr rtlCol="0" anchor="ctr"/>
          <a:lstStyle/>
          <a:p>
            <a:pPr algn="ctr"/>
            <a:endParaRPr/>
          </a:p>
        </p:txBody>
      </p:sp>
      <p:sp>
        <p:nvSpPr>
          <p:cNvPr id="10" name="Oval 9"/>
          <p:cNvSpPr/>
          <p:nvPr/>
        </p:nvSpPr>
        <p:spPr>
          <a:xfrm>
            <a:off x="4732020" y="1714500"/>
            <a:ext cx="502920" cy="502920"/>
          </a:xfrm>
          <a:prstGeom prst="ellipse">
            <a:avLst/>
          </a:prstGeom>
          <a:solidFill>
            <a:srgbClr val="1F394D"/>
          </a:solidFill>
          <a:ln>
            <a:noFill/>
          </a:ln>
        </p:spPr>
        <p:txBody>
          <a:bodyPr wrap="square" lIns="0" tIns="18288" rIns="0" bIns="18288" rtlCol="0" anchor="ctr"/>
          <a:lstStyle/>
          <a:p>
            <a:pPr algn="ctr"/>
            <a:r>
              <a:rPr sz="1800" b="1" i="0">
                <a:solidFill>
                  <a:srgbClr val="FFFFFF"/>
                </a:solidFill>
              </a:rPr>
              <a:t>1</a:t>
            </a:r>
            <a:endParaRPr sz="1800"/>
          </a:p>
        </p:txBody>
      </p:sp>
      <p:sp>
        <p:nvSpPr>
          <p:cNvPr id="11" name="TextBox 10"/>
          <p:cNvSpPr txBox="1"/>
          <p:nvPr/>
        </p:nvSpPr>
        <p:spPr>
          <a:xfrm>
            <a:off x="5440680" y="1527048"/>
            <a:ext cx="5760720" cy="877824"/>
          </a:xfrm>
          <a:prstGeom prst="rect">
            <a:avLst/>
          </a:prstGeom>
          <a:noFill/>
        </p:spPr>
        <p:txBody>
          <a:bodyPr wrap="square" lIns="0" tIns="0" rIns="0" bIns="0" anchor="ctr">
            <a:spAutoFit/>
          </a:bodyPr>
          <a:lstStyle/>
          <a:p>
            <a:pPr algn="l">
              <a:spcAft>
                <a:spcPts val="200"/>
              </a:spcAft>
            </a:pPr>
            <a:r>
              <a:rPr sz="1800" b="1" i="0">
                <a:solidFill>
                  <a:srgbClr val="1F394D"/>
                </a:solidFill>
              </a:rPr>
              <a:t>Guess the correlation</a:t>
            </a:r>
            <a:endParaRPr sz="1800"/>
          </a:p>
          <a:p>
            <a:pPr algn="l"/>
            <a:r>
              <a:rPr sz="1500" b="0" i="0">
                <a:solidFill>
                  <a:srgbClr val="1F2A33"/>
                </a:solidFill>
              </a:rPr>
              <a:t>Generate scatter plots with a correlation you choose, then test yourself on new ones.</a:t>
            </a:r>
            <a:endParaRPr sz="1500"/>
          </a:p>
        </p:txBody>
      </p:sp>
      <p:sp>
        <p:nvSpPr>
          <p:cNvPr id="12" name="Rounded Rectangle 11"/>
          <p:cNvSpPr/>
          <p:nvPr/>
        </p:nvSpPr>
        <p:spPr>
          <a:xfrm>
            <a:off x="4526280" y="2651760"/>
            <a:ext cx="6839712" cy="1097280"/>
          </a:xfrm>
          <a:prstGeom prst="roundRect">
            <a:avLst>
              <a:gd name="adj" fmla="val 8000"/>
            </a:avLst>
          </a:prstGeom>
          <a:solidFill>
            <a:srgbClr val="EEF3F7"/>
          </a:solidFill>
          <a:ln>
            <a:noFill/>
          </a:ln>
        </p:spPr>
        <p:txBody>
          <a:bodyPr rtlCol="0" anchor="ctr"/>
          <a:lstStyle/>
          <a:p>
            <a:pPr algn="ctr"/>
            <a:endParaRPr/>
          </a:p>
        </p:txBody>
      </p:sp>
      <p:sp>
        <p:nvSpPr>
          <p:cNvPr id="13" name="Oval 12"/>
          <p:cNvSpPr/>
          <p:nvPr/>
        </p:nvSpPr>
        <p:spPr>
          <a:xfrm>
            <a:off x="4732020" y="2948940"/>
            <a:ext cx="502920" cy="502920"/>
          </a:xfrm>
          <a:prstGeom prst="ellipse">
            <a:avLst/>
          </a:prstGeom>
          <a:solidFill>
            <a:srgbClr val="1F394D"/>
          </a:solidFill>
          <a:ln>
            <a:noFill/>
          </a:ln>
        </p:spPr>
        <p:txBody>
          <a:bodyPr wrap="square" lIns="0" tIns="18288" rIns="0" bIns="18288" rtlCol="0" anchor="ctr"/>
          <a:lstStyle/>
          <a:p>
            <a:pPr algn="ctr"/>
            <a:r>
              <a:rPr sz="1800" b="1" i="0">
                <a:solidFill>
                  <a:srgbClr val="FFFFFF"/>
                </a:solidFill>
              </a:rPr>
              <a:t>2</a:t>
            </a:r>
            <a:endParaRPr sz="1800"/>
          </a:p>
        </p:txBody>
      </p:sp>
      <p:sp>
        <p:nvSpPr>
          <p:cNvPr id="14" name="TextBox 13"/>
          <p:cNvSpPr txBox="1"/>
          <p:nvPr/>
        </p:nvSpPr>
        <p:spPr>
          <a:xfrm>
            <a:off x="5440680" y="2761488"/>
            <a:ext cx="5760720" cy="877824"/>
          </a:xfrm>
          <a:prstGeom prst="rect">
            <a:avLst/>
          </a:prstGeom>
          <a:noFill/>
        </p:spPr>
        <p:txBody>
          <a:bodyPr wrap="square" lIns="0" tIns="0" rIns="0" bIns="0" anchor="ctr">
            <a:spAutoFit/>
          </a:bodyPr>
          <a:lstStyle/>
          <a:p>
            <a:pPr algn="l">
              <a:spcAft>
                <a:spcPts val="200"/>
              </a:spcAft>
            </a:pPr>
            <a:r>
              <a:rPr sz="1800" b="1" i="0">
                <a:solidFill>
                  <a:srgbClr val="1F394D"/>
                </a:solidFill>
              </a:rPr>
              <a:t>Same gap, different overlap</a:t>
            </a:r>
            <a:endParaRPr sz="1800"/>
          </a:p>
          <a:p>
            <a:pPr algn="l"/>
            <a:r>
              <a:rPr sz="1500" b="0" i="0">
                <a:solidFill>
                  <a:srgbClr val="1F2A33"/>
                </a:solidFill>
              </a:rPr>
              <a:t>Change the gap between two group means and the spread within the groups.</a:t>
            </a:r>
            <a:endParaRPr sz="1500"/>
          </a:p>
        </p:txBody>
      </p:sp>
      <p:sp>
        <p:nvSpPr>
          <p:cNvPr id="15" name="Rounded Rectangle 14"/>
          <p:cNvSpPr/>
          <p:nvPr/>
        </p:nvSpPr>
        <p:spPr>
          <a:xfrm>
            <a:off x="4526280" y="3886200"/>
            <a:ext cx="6839712" cy="1097280"/>
          </a:xfrm>
          <a:prstGeom prst="roundRect">
            <a:avLst>
              <a:gd name="adj" fmla="val 8000"/>
            </a:avLst>
          </a:prstGeom>
          <a:solidFill>
            <a:srgbClr val="EEF3F7"/>
          </a:solidFill>
          <a:ln>
            <a:noFill/>
          </a:ln>
        </p:spPr>
        <p:txBody>
          <a:bodyPr rtlCol="0" anchor="ctr"/>
          <a:lstStyle/>
          <a:p>
            <a:pPr algn="ctr"/>
            <a:endParaRPr/>
          </a:p>
        </p:txBody>
      </p:sp>
      <p:sp>
        <p:nvSpPr>
          <p:cNvPr id="16" name="Oval 15"/>
          <p:cNvSpPr/>
          <p:nvPr/>
        </p:nvSpPr>
        <p:spPr>
          <a:xfrm>
            <a:off x="4732020" y="4183379"/>
            <a:ext cx="502920" cy="502920"/>
          </a:xfrm>
          <a:prstGeom prst="ellipse">
            <a:avLst/>
          </a:prstGeom>
          <a:solidFill>
            <a:srgbClr val="1F394D"/>
          </a:solidFill>
          <a:ln>
            <a:noFill/>
          </a:ln>
        </p:spPr>
        <p:txBody>
          <a:bodyPr wrap="square" lIns="0" tIns="18288" rIns="0" bIns="18288" rtlCol="0" anchor="ctr"/>
          <a:lstStyle/>
          <a:p>
            <a:pPr algn="ctr"/>
            <a:r>
              <a:rPr sz="1800" b="1" i="0">
                <a:solidFill>
                  <a:srgbClr val="FFFFFF"/>
                </a:solidFill>
              </a:rPr>
              <a:t>3</a:t>
            </a:r>
            <a:endParaRPr sz="1800"/>
          </a:p>
        </p:txBody>
      </p:sp>
      <p:sp>
        <p:nvSpPr>
          <p:cNvPr id="17" name="TextBox 16"/>
          <p:cNvSpPr txBox="1"/>
          <p:nvPr/>
        </p:nvSpPr>
        <p:spPr>
          <a:xfrm>
            <a:off x="5440680" y="3995928"/>
            <a:ext cx="5760720" cy="877824"/>
          </a:xfrm>
          <a:prstGeom prst="rect">
            <a:avLst/>
          </a:prstGeom>
          <a:noFill/>
        </p:spPr>
        <p:txBody>
          <a:bodyPr wrap="square" lIns="0" tIns="0" rIns="0" bIns="0" anchor="ctr">
            <a:spAutoFit/>
          </a:bodyPr>
          <a:lstStyle/>
          <a:p>
            <a:pPr algn="l">
              <a:spcAft>
                <a:spcPts val="200"/>
              </a:spcAft>
            </a:pPr>
            <a:r>
              <a:rPr sz="1800" b="1" i="0">
                <a:solidFill>
                  <a:srgbClr val="1F394D"/>
                </a:solidFill>
              </a:rPr>
              <a:t>Column percentages</a:t>
            </a:r>
            <a:endParaRPr sz="1800"/>
          </a:p>
          <a:p>
            <a:pPr algn="l"/>
            <a:r>
              <a:rPr sz="1500" b="0" i="0">
                <a:solidFill>
                  <a:srgbClr val="1F2A33"/>
                </a:solidFill>
              </a:rPr>
              <a:t>Type in the counts of a two-by-two table and compare the groups.</a:t>
            </a:r>
            <a:endParaRPr sz="1500"/>
          </a:p>
        </p:txBody>
      </p:sp>
      <p:sp>
        <p:nvSpPr>
          <p:cNvPr id="18" name="Rounded Rectangle 17"/>
          <p:cNvSpPr/>
          <p:nvPr/>
        </p:nvSpPr>
        <p:spPr>
          <a:xfrm>
            <a:off x="4526280" y="5120640"/>
            <a:ext cx="6839712" cy="731520"/>
          </a:xfrm>
          <a:prstGeom prst="roundRect">
            <a:avLst>
              <a:gd name="adj" fmla="val 8000"/>
            </a:avLst>
          </a:prstGeom>
          <a:solidFill>
            <a:srgbClr val="1F394D"/>
          </a:solidFill>
          <a:ln>
            <a:noFill/>
          </a:ln>
        </p:spPr>
        <p:txBody>
          <a:bodyPr rtlCol="0" anchor="ctr"/>
          <a:lstStyle/>
          <a:p>
            <a:pPr algn="ctr"/>
            <a:endParaRPr/>
          </a:p>
        </p:txBody>
      </p:sp>
      <p:sp>
        <p:nvSpPr>
          <p:cNvPr id="19" name="TextBox 18"/>
          <p:cNvSpPr txBox="1"/>
          <p:nvPr/>
        </p:nvSpPr>
        <p:spPr>
          <a:xfrm>
            <a:off x="4754880" y="5120640"/>
            <a:ext cx="6400800" cy="731520"/>
          </a:xfrm>
          <a:prstGeom prst="rect">
            <a:avLst/>
          </a:prstGeom>
          <a:noFill/>
        </p:spPr>
        <p:txBody>
          <a:bodyPr wrap="square" lIns="0" tIns="0" rIns="0" bIns="0" anchor="ctr">
            <a:spAutoFit/>
          </a:bodyPr>
          <a:lstStyle/>
          <a:p>
            <a:pPr algn="l"/>
            <a:r>
              <a:rPr sz="1500" b="1" i="0">
                <a:solidFill>
                  <a:srgbClr val="B88C00"/>
                </a:solidFill>
              </a:rPr>
              <a:t>Also on the page: </a:t>
            </a:r>
            <a:r>
              <a:rPr sz="1500" b="0" i="0">
                <a:solidFill>
                  <a:srgbClr val="FFFFFF"/>
                </a:solidFill>
              </a:rPr>
              <a:t>the gender gap in trust from the BSA 2010 as the starting example</a:t>
            </a:r>
            <a:endParaRPr sz="15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Date Placeholder 1">
            <a:extLst>
              <a:ext uri="{FF2B5EF4-FFF2-40B4-BE49-F238E27FC236}">
                <a16:creationId xmlns:a16="http://schemas.microsoft.com/office/drawing/2014/main" id="{BFF50875-77B6-7B50-6789-FC1B56491CC3}"/>
              </a:ext>
            </a:extLst>
          </p:cNvPr>
          <p:cNvSpPr>
            <a:spLocks noGrp="1"/>
          </p:cNvSpPr>
          <p:nvPr>
            <p:ph type="dt" sz="half" idx="10"/>
          </p:nvPr>
        </p:nvSpPr>
        <p:spPr/>
        <p:txBody>
          <a:bodyPr/>
          <a:lstStyle/>
          <a:p>
            <a:fld id="{FA72AB8D-F27B-45C4-A3C3-1397CC759085}" type="datetimeyyyy">
              <a:rPr lang="en-US" smtClean="0"/>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p:txBody>
          <a:bodyPr/>
          <a:lstStyle/>
          <a:p>
            <a:r>
              <a:rPr lang="en-GB"/>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p:txBody>
          <a:bodyPr/>
          <a:lstStyle/>
          <a:p>
            <a:fld id="{9FAA51BB-2FC0-4DB8-B50E-F52D50E733B6}" type="slidenum">
              <a:rPr lang="en-GB" smtClean="0"/>
              <a:t>39</a:t>
            </a:fld>
            <a:endParaRPr lang="en-GB"/>
          </a:p>
        </p:txBody>
      </p:sp>
      <p:sp>
        <p:nvSpPr>
          <p:cNvPr id="7" name="Card 1"/>
          <p:cNvSpPr/>
          <p:nvPr/>
        </p:nvSpPr>
        <p:spPr>
          <a:xfrm>
            <a:off x="758952" y="1417320"/>
            <a:ext cx="5212080" cy="2103120"/>
          </a:xfrm>
          <a:prstGeom prst="roundRect">
            <a:avLst>
              <a:gd name="adj" fmla="val 8000"/>
            </a:avLst>
          </a:prstGeom>
          <a:solidFill>
            <a:srgbClr val="EEF3F7"/>
          </a:solidFill>
          <a:ln>
            <a:noFill/>
          </a:ln>
        </p:spPr>
        <p:txBody>
          <a:bodyPr rtlCol="0" anchor="ctr"/>
          <a:lstStyle/>
          <a:p>
            <a:endParaRPr/>
          </a:p>
        </p:txBody>
      </p:sp>
      <p:sp>
        <p:nvSpPr>
          <p:cNvPr id="8" name="Oval 7"/>
          <p:cNvSpPr/>
          <p:nvPr/>
        </p:nvSpPr>
        <p:spPr>
          <a:xfrm>
            <a:off x="987552" y="1645920"/>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1</a:t>
            </a:r>
          </a:p>
        </p:txBody>
      </p:sp>
      <p:sp>
        <p:nvSpPr>
          <p:cNvPr id="9" name="TextBox 8"/>
          <p:cNvSpPr txBox="1"/>
          <p:nvPr/>
        </p:nvSpPr>
        <p:spPr>
          <a:xfrm>
            <a:off x="1719072" y="1618488"/>
            <a:ext cx="4023360" cy="640080"/>
          </a:xfrm>
          <a:prstGeom prst="rect">
            <a:avLst/>
          </a:prstGeom>
          <a:noFill/>
        </p:spPr>
        <p:txBody>
          <a:bodyPr wrap="square" lIns="0" tIns="0" rIns="0" bIns="0" anchor="ctr">
            <a:spAutoFit/>
          </a:bodyPr>
          <a:lstStyle/>
          <a:p>
            <a:pPr algn="l"/>
            <a:r>
              <a:rPr sz="2000" b="1" i="0">
                <a:solidFill>
                  <a:srgbClr val="1F394D"/>
                </a:solidFill>
              </a:rPr>
              <a:t>The variables’ levels pick the tool</a:t>
            </a:r>
          </a:p>
        </p:txBody>
      </p:sp>
      <p:sp>
        <p:nvSpPr>
          <p:cNvPr id="10" name="TextBox 9"/>
          <p:cNvSpPr txBox="1"/>
          <p:nvPr/>
        </p:nvSpPr>
        <p:spPr>
          <a:xfrm>
            <a:off x="1719072" y="2313432"/>
            <a:ext cx="4023360" cy="1097279"/>
          </a:xfrm>
          <a:prstGeom prst="rect">
            <a:avLst/>
          </a:prstGeom>
          <a:noFill/>
        </p:spPr>
        <p:txBody>
          <a:bodyPr wrap="square" lIns="0" tIns="0" rIns="0" bIns="0" anchor="t">
            <a:spAutoFit/>
          </a:bodyPr>
          <a:lstStyle/>
          <a:p>
            <a:pPr algn="l"/>
            <a:r>
              <a:rPr sz="1700" b="0" i="0">
                <a:solidFill>
                  <a:srgbClr val="1F2A33"/>
                </a:solidFill>
              </a:rPr>
              <a:t>Contingency table, group comparison or scatter plot.</a:t>
            </a:r>
          </a:p>
        </p:txBody>
      </p:sp>
      <p:sp>
        <p:nvSpPr>
          <p:cNvPr id="11" name="Card 2"/>
          <p:cNvSpPr/>
          <p:nvPr/>
        </p:nvSpPr>
        <p:spPr>
          <a:xfrm>
            <a:off x="6153912" y="1417320"/>
            <a:ext cx="5212080" cy="2103120"/>
          </a:xfrm>
          <a:prstGeom prst="roundRect">
            <a:avLst>
              <a:gd name="adj" fmla="val 8000"/>
            </a:avLst>
          </a:prstGeom>
          <a:solidFill>
            <a:srgbClr val="EEF3F7"/>
          </a:solidFill>
          <a:ln>
            <a:noFill/>
          </a:ln>
        </p:spPr>
        <p:txBody>
          <a:bodyPr rtlCol="0" anchor="ctr"/>
          <a:lstStyle/>
          <a:p>
            <a:endParaRPr/>
          </a:p>
        </p:txBody>
      </p:sp>
      <p:sp>
        <p:nvSpPr>
          <p:cNvPr id="12" name="Oval 11"/>
          <p:cNvSpPr/>
          <p:nvPr/>
        </p:nvSpPr>
        <p:spPr>
          <a:xfrm>
            <a:off x="6382512" y="1645920"/>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2</a:t>
            </a:r>
          </a:p>
        </p:txBody>
      </p:sp>
      <p:sp>
        <p:nvSpPr>
          <p:cNvPr id="13" name="TextBox 12"/>
          <p:cNvSpPr txBox="1"/>
          <p:nvPr/>
        </p:nvSpPr>
        <p:spPr>
          <a:xfrm>
            <a:off x="7114032" y="1618488"/>
            <a:ext cx="4023360" cy="640080"/>
          </a:xfrm>
          <a:prstGeom prst="rect">
            <a:avLst/>
          </a:prstGeom>
          <a:noFill/>
        </p:spPr>
        <p:txBody>
          <a:bodyPr wrap="square" lIns="0" tIns="0" rIns="0" bIns="0" anchor="ctr">
            <a:spAutoFit/>
          </a:bodyPr>
          <a:lstStyle/>
          <a:p>
            <a:pPr algn="l"/>
            <a:r>
              <a:rPr sz="2000" b="1" i="0">
                <a:solidFill>
                  <a:srgbClr val="1F394D"/>
                </a:solidFill>
              </a:rPr>
              <a:t>Compare within groups</a:t>
            </a:r>
          </a:p>
        </p:txBody>
      </p:sp>
      <p:sp>
        <p:nvSpPr>
          <p:cNvPr id="14" name="TextBox 13"/>
          <p:cNvSpPr txBox="1"/>
          <p:nvPr/>
        </p:nvSpPr>
        <p:spPr>
          <a:xfrm>
            <a:off x="7114032" y="2313432"/>
            <a:ext cx="4023360" cy="1097279"/>
          </a:xfrm>
          <a:prstGeom prst="rect">
            <a:avLst/>
          </a:prstGeom>
          <a:noFill/>
        </p:spPr>
        <p:txBody>
          <a:bodyPr wrap="square" lIns="0" tIns="0" rIns="0" bIns="0" anchor="t">
            <a:spAutoFit/>
          </a:bodyPr>
          <a:lstStyle/>
          <a:p>
            <a:pPr algn="l"/>
            <a:r>
              <a:rPr sz="1700" b="0" i="0">
                <a:solidFill>
                  <a:srgbClr val="1F2A33"/>
                </a:solidFill>
              </a:rPr>
              <a:t>Column percentages (explanatory variable in the columns) answer “do groups differ?”</a:t>
            </a:r>
          </a:p>
        </p:txBody>
      </p:sp>
      <p:sp>
        <p:nvSpPr>
          <p:cNvPr id="15" name="Card 3"/>
          <p:cNvSpPr/>
          <p:nvPr/>
        </p:nvSpPr>
        <p:spPr>
          <a:xfrm>
            <a:off x="758952" y="3749039"/>
            <a:ext cx="5212080" cy="2103120"/>
          </a:xfrm>
          <a:prstGeom prst="roundRect">
            <a:avLst>
              <a:gd name="adj" fmla="val 8000"/>
            </a:avLst>
          </a:prstGeom>
          <a:solidFill>
            <a:srgbClr val="EEF3F7"/>
          </a:solidFill>
          <a:ln>
            <a:noFill/>
          </a:ln>
        </p:spPr>
        <p:txBody>
          <a:bodyPr rtlCol="0" anchor="ctr"/>
          <a:lstStyle/>
          <a:p>
            <a:endParaRPr/>
          </a:p>
        </p:txBody>
      </p:sp>
      <p:sp>
        <p:nvSpPr>
          <p:cNvPr id="16" name="Oval 15"/>
          <p:cNvSpPr/>
          <p:nvPr/>
        </p:nvSpPr>
        <p:spPr>
          <a:xfrm>
            <a:off x="987552" y="3977639"/>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3</a:t>
            </a:r>
          </a:p>
        </p:txBody>
      </p:sp>
      <p:sp>
        <p:nvSpPr>
          <p:cNvPr id="17" name="TextBox 16"/>
          <p:cNvSpPr txBox="1"/>
          <p:nvPr/>
        </p:nvSpPr>
        <p:spPr>
          <a:xfrm>
            <a:off x="1719072" y="3950207"/>
            <a:ext cx="4023360" cy="640080"/>
          </a:xfrm>
          <a:prstGeom prst="rect">
            <a:avLst/>
          </a:prstGeom>
          <a:noFill/>
        </p:spPr>
        <p:txBody>
          <a:bodyPr wrap="square" lIns="0" tIns="0" rIns="0" bIns="0" anchor="ctr">
            <a:spAutoFit/>
          </a:bodyPr>
          <a:lstStyle/>
          <a:p>
            <a:pPr algn="l"/>
            <a:r>
              <a:rPr sz="2000" b="1" i="0">
                <a:solidFill>
                  <a:srgbClr val="1F394D"/>
                </a:solidFill>
              </a:rPr>
              <a:t>Size against spread</a:t>
            </a:r>
          </a:p>
        </p:txBody>
      </p:sp>
      <p:sp>
        <p:nvSpPr>
          <p:cNvPr id="18" name="TextBox 17"/>
          <p:cNvSpPr txBox="1"/>
          <p:nvPr/>
        </p:nvSpPr>
        <p:spPr>
          <a:xfrm>
            <a:off x="1719072" y="4645152"/>
            <a:ext cx="4023360" cy="1097279"/>
          </a:xfrm>
          <a:prstGeom prst="rect">
            <a:avLst/>
          </a:prstGeom>
          <a:noFill/>
        </p:spPr>
        <p:txBody>
          <a:bodyPr wrap="square" lIns="0" tIns="0" rIns="0" bIns="0" anchor="t">
            <a:spAutoFit/>
          </a:bodyPr>
          <a:lstStyle/>
          <a:p>
            <a:pPr algn="l"/>
            <a:r>
              <a:rPr sz="1700" b="0" i="0">
                <a:solidFill>
                  <a:srgbClr val="1F2A33"/>
                </a:solidFill>
              </a:rPr>
              <a:t>A gap in means matters only relative to the spread within groups.</a:t>
            </a:r>
          </a:p>
        </p:txBody>
      </p:sp>
      <p:sp>
        <p:nvSpPr>
          <p:cNvPr id="19" name="Card 4"/>
          <p:cNvSpPr/>
          <p:nvPr/>
        </p:nvSpPr>
        <p:spPr>
          <a:xfrm>
            <a:off x="6153912" y="3749039"/>
            <a:ext cx="5212080" cy="2103120"/>
          </a:xfrm>
          <a:prstGeom prst="roundRect">
            <a:avLst>
              <a:gd name="adj" fmla="val 8000"/>
            </a:avLst>
          </a:prstGeom>
          <a:solidFill>
            <a:srgbClr val="EEF3F7"/>
          </a:solidFill>
          <a:ln>
            <a:noFill/>
          </a:ln>
        </p:spPr>
        <p:txBody>
          <a:bodyPr rtlCol="0" anchor="ctr"/>
          <a:lstStyle/>
          <a:p>
            <a:endParaRPr/>
          </a:p>
        </p:txBody>
      </p:sp>
      <p:sp>
        <p:nvSpPr>
          <p:cNvPr id="20" name="Oval 19"/>
          <p:cNvSpPr/>
          <p:nvPr/>
        </p:nvSpPr>
        <p:spPr>
          <a:xfrm>
            <a:off x="6382512" y="3977639"/>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4</a:t>
            </a:r>
          </a:p>
        </p:txBody>
      </p:sp>
      <p:sp>
        <p:nvSpPr>
          <p:cNvPr id="21" name="TextBox 20"/>
          <p:cNvSpPr txBox="1"/>
          <p:nvPr/>
        </p:nvSpPr>
        <p:spPr>
          <a:xfrm>
            <a:off x="7114032" y="3950207"/>
            <a:ext cx="4023360" cy="640080"/>
          </a:xfrm>
          <a:prstGeom prst="rect">
            <a:avLst/>
          </a:prstGeom>
          <a:noFill/>
        </p:spPr>
        <p:txBody>
          <a:bodyPr wrap="square" lIns="0" tIns="0" rIns="0" bIns="0" anchor="ctr">
            <a:spAutoFit/>
          </a:bodyPr>
          <a:lstStyle/>
          <a:p>
            <a:pPr algn="l"/>
            <a:r>
              <a:rPr sz="2000" b="1" i="0">
                <a:solidFill>
                  <a:srgbClr val="1F394D"/>
                </a:solidFill>
              </a:rPr>
              <a:t>Look before you correlate</a:t>
            </a:r>
          </a:p>
        </p:txBody>
      </p:sp>
      <p:sp>
        <p:nvSpPr>
          <p:cNvPr id="22" name="TextBox 21"/>
          <p:cNvSpPr txBox="1"/>
          <p:nvPr/>
        </p:nvSpPr>
        <p:spPr>
          <a:xfrm>
            <a:off x="7114032" y="4645152"/>
            <a:ext cx="4023360" cy="1097279"/>
          </a:xfrm>
          <a:prstGeom prst="rect">
            <a:avLst/>
          </a:prstGeom>
          <a:noFill/>
        </p:spPr>
        <p:txBody>
          <a:bodyPr wrap="square" lIns="0" tIns="0" rIns="0" bIns="0" anchor="t">
            <a:spAutoFit/>
          </a:bodyPr>
          <a:lstStyle/>
          <a:p>
            <a:pPr algn="l"/>
            <a:r>
              <a:rPr sz="1700" b="0" i="0">
                <a:solidFill>
                  <a:srgbClr val="1F2A33"/>
                </a:solidFill>
              </a:rPr>
              <a:t>r captures straight lines only, and one case can move it a lot.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CA108-CB1D-5541-DFA5-C4B6F5FB8C65}"/>
              </a:ext>
            </a:extLst>
          </p:cNvPr>
          <p:cNvSpPr>
            <a:spLocks noGrp="1"/>
          </p:cNvSpPr>
          <p:nvPr>
            <p:ph type="title"/>
          </p:nvPr>
        </p:nvSpPr>
        <p:spPr>
          <a:xfrm>
            <a:off x="465512" y="2761331"/>
            <a:ext cx="3200400" cy="1198178"/>
          </a:xfrm>
        </p:spPr>
        <p:txBody>
          <a:bodyPr vert="horz" lIns="91440" tIns="45720" rIns="91440" bIns="45720" rtlCol="0" anchor="b">
            <a:normAutofit/>
          </a:bodyPr>
          <a:lstStyle/>
          <a:p>
            <a:r>
              <a:rPr lang="en-GB" dirty="0"/>
              <a:t>Assignment Questions</a:t>
            </a:r>
          </a:p>
        </p:txBody>
      </p:sp>
      <p:sp>
        <p:nvSpPr>
          <p:cNvPr id="2" name="Date Placeholder 1">
            <a:extLst>
              <a:ext uri="{FF2B5EF4-FFF2-40B4-BE49-F238E27FC236}">
                <a16:creationId xmlns:a16="http://schemas.microsoft.com/office/drawing/2014/main" id="{BFF50875-77B6-7B50-6789-FC1B56491CC3}"/>
              </a:ext>
            </a:extLst>
          </p:cNvPr>
          <p:cNvSpPr>
            <a:spLocks noGrp="1"/>
          </p:cNvSpPr>
          <p:nvPr>
            <p:ph type="dt" sz="half" idx="10"/>
          </p:nvPr>
        </p:nvSpPr>
        <p:spPr>
          <a:xfrm>
            <a:off x="465512" y="6459785"/>
            <a:ext cx="2618510" cy="365125"/>
          </a:xfrm>
        </p:spPr>
        <p:txBody>
          <a:bodyPr vert="horz" lIns="91440" tIns="45720" rIns="91440" bIns="45720" rtlCol="0" anchor="ctr">
            <a:normAutofit/>
          </a:bodyPr>
          <a:lstStyle/>
          <a:p>
            <a:pPr>
              <a:spcAft>
                <a:spcPts val="600"/>
              </a:spcAft>
            </a:pPr>
            <a:fld id="{FA72AB8D-F27B-45C4-A3C3-1397CC759085}" type="datetimeyyyy">
              <a:rPr lang="en-US" smtClean="0"/>
              <a:pPr>
                <a:spcAft>
                  <a:spcPts val="600"/>
                </a:spcAft>
              </a:pPr>
              <a:t>2026</a:t>
            </a:fld>
            <a:endParaRPr lang="en-GB"/>
          </a:p>
        </p:txBody>
      </p:sp>
      <p:sp>
        <p:nvSpPr>
          <p:cNvPr id="5" name="Footer Placeholder 4">
            <a:extLst>
              <a:ext uri="{FF2B5EF4-FFF2-40B4-BE49-F238E27FC236}">
                <a16:creationId xmlns:a16="http://schemas.microsoft.com/office/drawing/2014/main" id="{DE0B2AC9-C062-ACDA-78EB-2E5B2DF3BA3F}"/>
              </a:ext>
            </a:extLst>
          </p:cNvPr>
          <p:cNvSpPr>
            <a:spLocks noGrp="1"/>
          </p:cNvSpPr>
          <p:nvPr>
            <p:ph type="ftr" sz="quarter" idx="11"/>
          </p:nvPr>
        </p:nvSpPr>
        <p:spPr>
          <a:xfrm>
            <a:off x="4800600" y="6459785"/>
            <a:ext cx="4648200" cy="365125"/>
          </a:xfrm>
        </p:spPr>
        <p:txBody>
          <a:bodyPr vert="horz" lIns="91440" tIns="45720" rIns="91440" bIns="45720" rtlCol="0" anchor="ctr">
            <a:normAutofit/>
          </a:bodyPr>
          <a:lstStyle/>
          <a:p>
            <a:pPr>
              <a:spcAft>
                <a:spcPts val="600"/>
              </a:spcAft>
            </a:pPr>
            <a:r>
              <a:rPr lang="en-GB" kern="1200" cap="all" baseline="0">
                <a:latin typeface="+mn-lt"/>
                <a:ea typeface="+mn-ea"/>
                <a:cs typeface="+mn-cs"/>
              </a:rPr>
              <a:t>Comparisons and Associations</a:t>
            </a:r>
          </a:p>
        </p:txBody>
      </p:sp>
      <p:sp>
        <p:nvSpPr>
          <p:cNvPr id="6" name="Slide Number Placeholder 5">
            <a:extLst>
              <a:ext uri="{FF2B5EF4-FFF2-40B4-BE49-F238E27FC236}">
                <a16:creationId xmlns:a16="http://schemas.microsoft.com/office/drawing/2014/main" id="{63AA58D7-3FC7-1868-4188-EE9D3329FE70}"/>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spcAft>
                <a:spcPts val="600"/>
              </a:spcAft>
            </a:pPr>
            <a:fld id="{9FAA51BB-2FC0-4DB8-B50E-F52D50E733B6}" type="slidenum">
              <a:rPr lang="en-GB" smtClean="0"/>
              <a:pPr>
                <a:spcAft>
                  <a:spcPts val="600"/>
                </a:spcAft>
              </a:pPr>
              <a:t>40</a:t>
            </a:fld>
            <a:endParaRPr lang="en-GB"/>
          </a:p>
        </p:txBody>
      </p:sp>
      <p:graphicFrame>
        <p:nvGraphicFramePr>
          <p:cNvPr id="9" name="TextBox 3">
            <a:extLst>
              <a:ext uri="{FF2B5EF4-FFF2-40B4-BE49-F238E27FC236}">
                <a16:creationId xmlns:a16="http://schemas.microsoft.com/office/drawing/2014/main" id="{C99D6C87-9AF3-E3D7-FBAB-D1AACB4C355B}"/>
              </a:ext>
            </a:extLst>
          </p:cNvPr>
          <p:cNvGraphicFramePr/>
          <p:nvPr>
            <p:extLst>
              <p:ext uri="{D42A27DB-BD31-4B8C-83A1-F6EECF244321}">
                <p14:modId xmlns:p14="http://schemas.microsoft.com/office/powerpoint/2010/main" val="3184808095"/>
              </p:ext>
            </p:extLst>
          </p:nvPr>
        </p:nvGraphicFramePr>
        <p:xfrm>
          <a:off x="4800600" y="731520"/>
          <a:ext cx="649224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18532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2CBA3A-E59C-1E5C-37CA-CD0F1E185ED5}"/>
              </a:ext>
            </a:extLst>
          </p:cNvPr>
          <p:cNvSpPr>
            <a:spLocks noGrp="1"/>
          </p:cNvSpPr>
          <p:nvPr>
            <p:ph type="title"/>
          </p:nvPr>
        </p:nvSpPr>
        <p:spPr/>
        <p:txBody>
          <a:bodyPr/>
          <a:lstStyle/>
          <a:p>
            <a:r>
              <a:rPr lang="en-GB" dirty="0"/>
              <a:t>Workshop</a:t>
            </a:r>
          </a:p>
        </p:txBody>
      </p:sp>
      <p:sp>
        <p:nvSpPr>
          <p:cNvPr id="8" name="Text Placeholder 7">
            <a:extLst>
              <a:ext uri="{FF2B5EF4-FFF2-40B4-BE49-F238E27FC236}">
                <a16:creationId xmlns:a16="http://schemas.microsoft.com/office/drawing/2014/main" id="{636F7FD2-53FA-4A51-9681-6FC5C8960063}"/>
              </a:ext>
            </a:extLst>
          </p:cNvPr>
          <p:cNvSpPr>
            <a:spLocks noGrp="1"/>
          </p:cNvSpPr>
          <p:nvPr>
            <p:ph type="body" sz="half" idx="2"/>
          </p:nvPr>
        </p:nvSpPr>
        <p:spPr/>
        <p:txBody>
          <a:bodyPr/>
          <a:lstStyle/>
          <a:p>
            <a:r>
              <a:rPr lang="en-GB"/>
              <a:t>3-</a:t>
            </a:r>
            <a:r>
              <a:rPr lang="en-GB" dirty="0" err="1"/>
              <a:t>5pm</a:t>
            </a:r>
            <a:endParaRPr lang="en-GB" dirty="0"/>
          </a:p>
        </p:txBody>
      </p:sp>
      <p:sp>
        <p:nvSpPr>
          <p:cNvPr id="4" name="Date Placeholder 3">
            <a:extLst>
              <a:ext uri="{FF2B5EF4-FFF2-40B4-BE49-F238E27FC236}">
                <a16:creationId xmlns:a16="http://schemas.microsoft.com/office/drawing/2014/main" id="{7452334B-2A42-251C-845C-1CED233665F2}"/>
              </a:ext>
            </a:extLst>
          </p:cNvPr>
          <p:cNvSpPr>
            <a:spLocks noGrp="1"/>
          </p:cNvSpPr>
          <p:nvPr>
            <p:ph type="dt" sz="half" idx="10"/>
          </p:nvPr>
        </p:nvSpPr>
        <p:spPr/>
        <p:txBody>
          <a:bodyPr/>
          <a:lstStyle/>
          <a:p>
            <a:fld id="{DCDB07DE-4FD6-4257-A590-7FE39EB05791}" type="datetimeyyyy">
              <a:rPr lang="en-US" smtClean="0"/>
              <a:t>2026</a:t>
            </a:fld>
            <a:endParaRPr lang="en-GB"/>
          </a:p>
        </p:txBody>
      </p:sp>
      <p:sp>
        <p:nvSpPr>
          <p:cNvPr id="5" name="Footer Placeholder 4">
            <a:extLst>
              <a:ext uri="{FF2B5EF4-FFF2-40B4-BE49-F238E27FC236}">
                <a16:creationId xmlns:a16="http://schemas.microsoft.com/office/drawing/2014/main" id="{E7848055-4F62-3048-C4D2-554FF0041ADC}"/>
              </a:ext>
            </a:extLst>
          </p:cNvPr>
          <p:cNvSpPr>
            <a:spLocks noGrp="1"/>
          </p:cNvSpPr>
          <p:nvPr>
            <p:ph type="ftr" sz="quarter" idx="11"/>
          </p:nvPr>
        </p:nvSpPr>
        <p:spPr/>
        <p:txBody>
          <a:bodyPr/>
          <a:lstStyle/>
          <a:p>
            <a:r>
              <a:rPr lang="en-GB"/>
              <a:t>Comparisons and Associations</a:t>
            </a:r>
            <a:endParaRPr lang="en-GB" dirty="0"/>
          </a:p>
        </p:txBody>
      </p:sp>
      <p:sp>
        <p:nvSpPr>
          <p:cNvPr id="6" name="Slide Number Placeholder 5">
            <a:extLst>
              <a:ext uri="{FF2B5EF4-FFF2-40B4-BE49-F238E27FC236}">
                <a16:creationId xmlns:a16="http://schemas.microsoft.com/office/drawing/2014/main" id="{70535960-24E1-CFDC-22DF-A828C2B2C10E}"/>
              </a:ext>
            </a:extLst>
          </p:cNvPr>
          <p:cNvSpPr>
            <a:spLocks noGrp="1"/>
          </p:cNvSpPr>
          <p:nvPr>
            <p:ph type="sldNum" sz="quarter" idx="12"/>
          </p:nvPr>
        </p:nvSpPr>
        <p:spPr/>
        <p:txBody>
          <a:bodyPr/>
          <a:lstStyle/>
          <a:p>
            <a:fld id="{9FAA51BB-2FC0-4DB8-B50E-F52D50E733B6}" type="slidenum">
              <a:rPr lang="en-GB" smtClean="0"/>
              <a:pPr/>
              <a:t>41</a:t>
            </a:fld>
            <a:endParaRPr lang="en-GB" dirty="0"/>
          </a:p>
        </p:txBody>
      </p:sp>
    </p:spTree>
    <p:extLst>
      <p:ext uri="{BB962C8B-B14F-4D97-AF65-F5344CB8AC3E}">
        <p14:creationId xmlns:p14="http://schemas.microsoft.com/office/powerpoint/2010/main" val="2531294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AE4DB1-6B08-6AEB-B597-8064268FD9C5}"/>
              </a:ext>
            </a:extLst>
          </p:cNvPr>
          <p:cNvSpPr>
            <a:spLocks noGrp="1"/>
          </p:cNvSpPr>
          <p:nvPr>
            <p:ph type="dt" sz="half" idx="10"/>
          </p:nvPr>
        </p:nvSpPr>
        <p:spPr/>
        <p:txBody>
          <a:bodyPr/>
          <a:lstStyle/>
          <a:p>
            <a:fld id="{F093E5A9-8248-448D-B582-A60BAB2205BC}" type="datetimeyyyy">
              <a:rPr lang="en-US" smtClean="0"/>
              <a:t>2026</a:t>
            </a:fld>
            <a:endParaRPr lang="en-GB"/>
          </a:p>
        </p:txBody>
      </p:sp>
      <p:sp>
        <p:nvSpPr>
          <p:cNvPr id="3" name="Footer Placeholder 2">
            <a:extLst>
              <a:ext uri="{FF2B5EF4-FFF2-40B4-BE49-F238E27FC236}">
                <a16:creationId xmlns:a16="http://schemas.microsoft.com/office/drawing/2014/main" id="{D6F2723A-2C1C-2AB6-3420-9BD762F766DF}"/>
              </a:ext>
            </a:extLst>
          </p:cNvPr>
          <p:cNvSpPr>
            <a:spLocks noGrp="1"/>
          </p:cNvSpPr>
          <p:nvPr>
            <p:ph type="ftr" sz="quarter" idx="11"/>
          </p:nvPr>
        </p:nvSpPr>
        <p:spPr/>
        <p:txBody>
          <a:bodyPr/>
          <a:lstStyle/>
          <a:p>
            <a:r>
              <a:rPr lang="en-GB"/>
              <a:t>Comparisons and Associations</a:t>
            </a:r>
          </a:p>
        </p:txBody>
      </p:sp>
      <p:sp>
        <p:nvSpPr>
          <p:cNvPr id="4" name="Slide Number Placeholder 3">
            <a:extLst>
              <a:ext uri="{FF2B5EF4-FFF2-40B4-BE49-F238E27FC236}">
                <a16:creationId xmlns:a16="http://schemas.microsoft.com/office/drawing/2014/main" id="{E9AFD3A0-9074-636F-30B6-C6C650C3F58D}"/>
              </a:ext>
            </a:extLst>
          </p:cNvPr>
          <p:cNvSpPr>
            <a:spLocks noGrp="1"/>
          </p:cNvSpPr>
          <p:nvPr>
            <p:ph type="sldNum" sz="quarter" idx="12"/>
          </p:nvPr>
        </p:nvSpPr>
        <p:spPr>
          <a:xfrm>
            <a:off x="9900458" y="6459785"/>
            <a:ext cx="1312025" cy="365125"/>
          </a:xfrm>
        </p:spPr>
        <p:txBody>
          <a:bodyPr/>
          <a:lstStyle/>
          <a:p>
            <a:fld id="{9FAA51BB-2FC0-4DB8-B50E-F52D50E733B6}" type="slidenum">
              <a:rPr lang="en-GB" smtClean="0"/>
              <a:t>42</a:t>
            </a:fld>
            <a:endParaRPr lang="en-GB"/>
          </a:p>
        </p:txBody>
      </p:sp>
    </p:spTree>
    <p:extLst>
      <p:ext uri="{BB962C8B-B14F-4D97-AF65-F5344CB8AC3E}">
        <p14:creationId xmlns:p14="http://schemas.microsoft.com/office/powerpoint/2010/main" val="28580937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Retrospect">
  <a:themeElements>
    <a:clrScheme name="Moreh">
      <a:dk1>
        <a:srgbClr val="000000"/>
      </a:dk1>
      <a:lt1>
        <a:sysClr val="window" lastClr="FFFFFF"/>
      </a:lt1>
      <a:dk2>
        <a:srgbClr val="637052"/>
      </a:dk2>
      <a:lt2>
        <a:srgbClr val="CCDDEA"/>
      </a:lt2>
      <a:accent1>
        <a:srgbClr val="3F739B"/>
      </a:accent1>
      <a:accent2>
        <a:srgbClr val="1F394D"/>
      </a:accent2>
      <a:accent3>
        <a:srgbClr val="865640"/>
      </a:accent3>
      <a:accent4>
        <a:srgbClr val="9B8357"/>
      </a:accent4>
      <a:accent5>
        <a:srgbClr val="C2BC80"/>
      </a:accent5>
      <a:accent6>
        <a:srgbClr val="94A088"/>
      </a:accent6>
      <a:hlink>
        <a:srgbClr val="B88C00"/>
      </a:hlink>
      <a:folHlink>
        <a:srgbClr val="B88C0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Moreh template.pptx" id="{976FE89A-DE24-46CA-AC0C-F592F46D6A11}" vid="{6FA3B6B4-ED01-4468-97EF-FE3176612C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24.07.16-Osaka</Template>
  <TotalTime>3854</TotalTime>
  <Words>4622</Words>
  <Application>Microsoft Office PowerPoint</Application>
  <PresentationFormat>Widescreen</PresentationFormat>
  <Paragraphs>800</Paragraphs>
  <Slides>42</Slides>
  <Notes>33</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vt:lpstr>
      <vt:lpstr>Arial Narrow</vt:lpstr>
      <vt:lpstr>Arial Nova Cond Light</vt:lpstr>
      <vt:lpstr>Calibri</vt:lpstr>
      <vt:lpstr>Calibri Light</vt:lpstr>
      <vt:lpstr>Courier New</vt:lpstr>
      <vt:lpstr>Wingdings</vt:lpstr>
      <vt:lpstr>Retrospect</vt:lpstr>
      <vt:lpstr>PowerPoint Presentation</vt:lpstr>
      <vt:lpstr>Week 2</vt:lpstr>
      <vt:lpstr>Today</vt:lpstr>
      <vt:lpstr>Which tool for which pair of variables?</vt:lpstr>
      <vt:lpstr>Outcome and explanatory variables</vt:lpstr>
      <vt:lpstr>Activity: which is the outcome?</vt:lpstr>
      <vt:lpstr>Which is the outcome? Answers</vt:lpstr>
      <vt:lpstr>Two categorical variables</vt:lpstr>
      <vt:lpstr>Building a contingency table</vt:lpstr>
      <vt:lpstr>Column percentages</vt:lpstr>
      <vt:lpstr>Row percentages</vt:lpstr>
      <vt:lpstr>Row percentages - beware</vt:lpstr>
      <vt:lpstr>Visualising the comparison</vt:lpstr>
      <vt:lpstr>Reading the JASP output: contingency table</vt:lpstr>
      <vt:lpstr>Activity: read this table</vt:lpstr>
      <vt:lpstr>Reading a table: answers</vt:lpstr>
      <vt:lpstr>A categorical and a scale variable</vt:lpstr>
      <vt:lpstr>Recall: mean, median and mode</vt:lpstr>
      <vt:lpstr>Recall: range and standard deviation</vt:lpstr>
      <vt:lpstr>Recall: same average, very different societies</vt:lpstr>
      <vt:lpstr>The standard deviation, step by step</vt:lpstr>
      <vt:lpstr>Recall: the box plot</vt:lpstr>
      <vt:lpstr>Comparing group averages</vt:lpstr>
      <vt:lpstr>Box plots compare whole distributions</vt:lpstr>
      <vt:lpstr>The same gap can be big or small</vt:lpstr>
      <vt:lpstr>Activity: describe this pattern</vt:lpstr>
      <vt:lpstr>Two scale variables</vt:lpstr>
      <vt:lpstr>Reading a scatter plot</vt:lpstr>
      <vt:lpstr>Correlation only sees straight lines</vt:lpstr>
      <vt:lpstr>APPLICATION</vt:lpstr>
      <vt:lpstr>“The spirit level” (2010)</vt:lpstr>
      <vt:lpstr>“The spirit level” (2010)</vt:lpstr>
      <vt:lpstr>Inequality and trust in 23 rich countries</vt:lpstr>
      <vt:lpstr>Fifteen years later: 43 countries</vt:lpstr>
      <vt:lpstr>Trust and other national indicators</vt:lpstr>
      <vt:lpstr>Activity: why are they associated?</vt:lpstr>
      <vt:lpstr>Reporting the results</vt:lpstr>
      <vt:lpstr>Interactive explorer</vt:lpstr>
      <vt:lpstr>Key takeaways</vt:lpstr>
      <vt:lpstr>Assignment Questions</vt:lpstr>
      <vt:lpstr>Workshop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Moreh</dc:creator>
  <cp:lastModifiedBy>Chris Moreh</cp:lastModifiedBy>
  <cp:revision>10</cp:revision>
  <dcterms:created xsi:type="dcterms:W3CDTF">2024-07-11T13:35:49Z</dcterms:created>
  <dcterms:modified xsi:type="dcterms:W3CDTF">2026-10-19T16:25:27Z</dcterms:modified>
</cp:coreProperties>
</file>