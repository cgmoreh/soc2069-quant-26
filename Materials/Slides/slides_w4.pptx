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6.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7.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60" r:id="rId1"/>
  </p:sldMasterIdLst>
  <p:notesMasterIdLst>
    <p:notesMasterId r:id="rId34"/>
  </p:notesMasterIdLst>
  <p:handoutMasterIdLst>
    <p:handoutMasterId r:id="rId35"/>
  </p:handoutMasterIdLst>
  <p:sldIdLst>
    <p:sldId id="256" r:id="rId2"/>
    <p:sldId id="307" r:id="rId3"/>
    <p:sldId id="594" r:id="rId4"/>
    <p:sldId id="595" r:id="rId5"/>
    <p:sldId id="596" r:id="rId6"/>
    <p:sldId id="579" r:id="rId7"/>
    <p:sldId id="580" r:id="rId8"/>
    <p:sldId id="420" r:id="rId9"/>
    <p:sldId id="597" r:id="rId10"/>
    <p:sldId id="582" r:id="rId11"/>
    <p:sldId id="598" r:id="rId12"/>
    <p:sldId id="583" r:id="rId13"/>
    <p:sldId id="584" r:id="rId14"/>
    <p:sldId id="599" r:id="rId15"/>
    <p:sldId id="600" r:id="rId16"/>
    <p:sldId id="601" r:id="rId17"/>
    <p:sldId id="602" r:id="rId18"/>
    <p:sldId id="586" r:id="rId19"/>
    <p:sldId id="603" r:id="rId20"/>
    <p:sldId id="585" r:id="rId21"/>
    <p:sldId id="588" r:id="rId22"/>
    <p:sldId id="604" r:id="rId23"/>
    <p:sldId id="591" r:id="rId24"/>
    <p:sldId id="589" r:id="rId25"/>
    <p:sldId id="590" r:id="rId26"/>
    <p:sldId id="592" r:id="rId27"/>
    <p:sldId id="605" r:id="rId28"/>
    <p:sldId id="606" r:id="rId29"/>
    <p:sldId id="607" r:id="rId30"/>
    <p:sldId id="354" r:id="rId31"/>
    <p:sldId id="608" r:id="rId32"/>
    <p:sldId id="260"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DA0000"/>
    <a:srgbClr val="3F739B"/>
    <a:srgbClr val="174CF7"/>
    <a:srgbClr val="E4C8C8"/>
    <a:srgbClr val="EEBE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6ACD87-1A46-428B-B522-D494469F4D09}" v="32" dt="2025-12-01T10:57:15.3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3967" autoAdjust="0"/>
  </p:normalViewPr>
  <p:slideViewPr>
    <p:cSldViewPr snapToGrid="0">
      <p:cViewPr varScale="1">
        <p:scale>
          <a:sx n="63" d="100"/>
          <a:sy n="63" d="100"/>
        </p:scale>
        <p:origin x="634" y="53"/>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1676"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Moreh" userId="17b81281-9f29-44e0-9273-6dadbf6896a2" providerId="ADAL" clId="{BCF66164-2C9C-4B48-AFF3-6B0B0038345A}"/>
    <pc:docChg chg="undo redo custSel addSld delSld modSld">
      <pc:chgData name="Chris Moreh" userId="17b81281-9f29-44e0-9273-6dadbf6896a2" providerId="ADAL" clId="{BCF66164-2C9C-4B48-AFF3-6B0B0038345A}" dt="2025-12-01T10:57:24.028" v="83" actId="47"/>
      <pc:docMkLst>
        <pc:docMk/>
      </pc:docMkLst>
      <pc:sldChg chg="modSp mod">
        <pc:chgData name="Chris Moreh" userId="17b81281-9f29-44e0-9273-6dadbf6896a2" providerId="ADAL" clId="{BCF66164-2C9C-4B48-AFF3-6B0B0038345A}" dt="2025-12-01T10:34:44.731" v="2" actId="20577"/>
        <pc:sldMkLst>
          <pc:docMk/>
          <pc:sldMk cId="3814459198" sldId="307"/>
        </pc:sldMkLst>
        <pc:spChg chg="mod">
          <ac:chgData name="Chris Moreh" userId="17b81281-9f29-44e0-9273-6dadbf6896a2" providerId="ADAL" clId="{BCF66164-2C9C-4B48-AFF3-6B0B0038345A}" dt="2025-12-01T10:34:44.731" v="2" actId="20577"/>
          <ac:spMkLst>
            <pc:docMk/>
            <pc:sldMk cId="3814459198" sldId="307"/>
            <ac:spMk id="6" creationId="{24060982-6EE3-A8F1-75FE-C4BDB2FF3CBE}"/>
          </ac:spMkLst>
        </pc:spChg>
      </pc:sldChg>
      <pc:sldChg chg="modSp mod">
        <pc:chgData name="Chris Moreh" userId="17b81281-9f29-44e0-9273-6dadbf6896a2" providerId="ADAL" clId="{BCF66164-2C9C-4B48-AFF3-6B0B0038345A}" dt="2025-12-01T10:47:40.644" v="9" actId="20577"/>
        <pc:sldMkLst>
          <pc:docMk/>
          <pc:sldMk cId="502470957" sldId="420"/>
        </pc:sldMkLst>
        <pc:spChg chg="mod">
          <ac:chgData name="Chris Moreh" userId="17b81281-9f29-44e0-9273-6dadbf6896a2" providerId="ADAL" clId="{BCF66164-2C9C-4B48-AFF3-6B0B0038345A}" dt="2025-12-01T10:47:40.644" v="9" actId="20577"/>
          <ac:spMkLst>
            <pc:docMk/>
            <pc:sldMk cId="502470957" sldId="420"/>
            <ac:spMk id="6" creationId="{12CD23AC-0A85-D9D0-4F22-DC32EC044CC9}"/>
          </ac:spMkLst>
        </pc:spChg>
      </pc:sldChg>
      <pc:sldChg chg="modSp mod">
        <pc:chgData name="Chris Moreh" userId="17b81281-9f29-44e0-9273-6dadbf6896a2" providerId="ADAL" clId="{BCF66164-2C9C-4B48-AFF3-6B0B0038345A}" dt="2025-12-01T10:49:45.958" v="21" actId="20577"/>
        <pc:sldMkLst>
          <pc:docMk/>
          <pc:sldMk cId="1719150483" sldId="425"/>
        </pc:sldMkLst>
        <pc:spChg chg="mod">
          <ac:chgData name="Chris Moreh" userId="17b81281-9f29-44e0-9273-6dadbf6896a2" providerId="ADAL" clId="{BCF66164-2C9C-4B48-AFF3-6B0B0038345A}" dt="2025-12-01T10:49:45.958" v="21" actId="20577"/>
          <ac:spMkLst>
            <pc:docMk/>
            <pc:sldMk cId="1719150483" sldId="425"/>
            <ac:spMk id="3" creationId="{3BD56D62-5C0B-7A9C-9B55-CCC499478813}"/>
          </ac:spMkLst>
        </pc:spChg>
      </pc:sldChg>
      <pc:sldChg chg="addSp delSp modSp new mod modClrScheme chgLayout">
        <pc:chgData name="Chris Moreh" userId="17b81281-9f29-44e0-9273-6dadbf6896a2" providerId="ADAL" clId="{BCF66164-2C9C-4B48-AFF3-6B0B0038345A}" dt="2025-12-01T10:54:27.103" v="55" actId="404"/>
        <pc:sldMkLst>
          <pc:docMk/>
          <pc:sldMk cId="1707900008" sldId="570"/>
        </pc:sldMkLst>
        <pc:spChg chg="del mod ord">
          <ac:chgData name="Chris Moreh" userId="17b81281-9f29-44e0-9273-6dadbf6896a2" providerId="ADAL" clId="{BCF66164-2C9C-4B48-AFF3-6B0B0038345A}" dt="2025-12-01T10:51:14.366" v="23" actId="700"/>
          <ac:spMkLst>
            <pc:docMk/>
            <pc:sldMk cId="1707900008" sldId="570"/>
            <ac:spMk id="2" creationId="{0BF53311-8EFB-DD48-D4D6-8F877B15BB43}"/>
          </ac:spMkLst>
        </pc:spChg>
        <pc:spChg chg="del">
          <ac:chgData name="Chris Moreh" userId="17b81281-9f29-44e0-9273-6dadbf6896a2" providerId="ADAL" clId="{BCF66164-2C9C-4B48-AFF3-6B0B0038345A}" dt="2025-12-01T10:51:14.366" v="23" actId="700"/>
          <ac:spMkLst>
            <pc:docMk/>
            <pc:sldMk cId="1707900008" sldId="570"/>
            <ac:spMk id="3" creationId="{E082CE0F-63EC-404A-EE2F-12804ACE99A4}"/>
          </ac:spMkLst>
        </pc:spChg>
        <pc:spChg chg="mod ord">
          <ac:chgData name="Chris Moreh" userId="17b81281-9f29-44e0-9273-6dadbf6896a2" providerId="ADAL" clId="{BCF66164-2C9C-4B48-AFF3-6B0B0038345A}" dt="2025-12-01T10:53:57.491" v="50" actId="26606"/>
          <ac:spMkLst>
            <pc:docMk/>
            <pc:sldMk cId="1707900008" sldId="570"/>
            <ac:spMk id="4" creationId="{CC1BFB0A-934A-1885-0A48-884C3949EBC2}"/>
          </ac:spMkLst>
        </pc:spChg>
        <pc:spChg chg="mod ord">
          <ac:chgData name="Chris Moreh" userId="17b81281-9f29-44e0-9273-6dadbf6896a2" providerId="ADAL" clId="{BCF66164-2C9C-4B48-AFF3-6B0B0038345A}" dt="2025-12-01T10:53:57.491" v="50" actId="26606"/>
          <ac:spMkLst>
            <pc:docMk/>
            <pc:sldMk cId="1707900008" sldId="570"/>
            <ac:spMk id="5" creationId="{D423C169-D690-0096-59AA-01482802C08D}"/>
          </ac:spMkLst>
        </pc:spChg>
        <pc:spChg chg="add del mod ord">
          <ac:chgData name="Chris Moreh" userId="17b81281-9f29-44e0-9273-6dadbf6896a2" providerId="ADAL" clId="{BCF66164-2C9C-4B48-AFF3-6B0B0038345A}" dt="2025-12-01T10:51:21.524" v="24" actId="700"/>
          <ac:spMkLst>
            <pc:docMk/>
            <pc:sldMk cId="1707900008" sldId="570"/>
            <ac:spMk id="6" creationId="{9DC1B41B-AAC7-0D47-DAAD-8A219F75CF26}"/>
          </ac:spMkLst>
        </pc:spChg>
        <pc:spChg chg="add del mod ord">
          <ac:chgData name="Chris Moreh" userId="17b81281-9f29-44e0-9273-6dadbf6896a2" providerId="ADAL" clId="{BCF66164-2C9C-4B48-AFF3-6B0B0038345A}" dt="2025-12-01T10:53:57.491" v="50" actId="26606"/>
          <ac:spMkLst>
            <pc:docMk/>
            <pc:sldMk cId="1707900008" sldId="570"/>
            <ac:spMk id="7" creationId="{33B7E807-7CDF-C9FE-B717-C75E839BFEC6}"/>
          </ac:spMkLst>
        </pc:spChg>
        <pc:spChg chg="add del mod">
          <ac:chgData name="Chris Moreh" userId="17b81281-9f29-44e0-9273-6dadbf6896a2" providerId="ADAL" clId="{BCF66164-2C9C-4B48-AFF3-6B0B0038345A}" dt="2025-12-01T10:52:25.860" v="28" actId="26606"/>
          <ac:spMkLst>
            <pc:docMk/>
            <pc:sldMk cId="1707900008" sldId="570"/>
            <ac:spMk id="13" creationId="{DA6CA4C8-CAA9-7A9A-511E-D0B04111E57A}"/>
          </ac:spMkLst>
        </pc:spChg>
        <pc:spChg chg="add mod">
          <ac:chgData name="Chris Moreh" userId="17b81281-9f29-44e0-9273-6dadbf6896a2" providerId="ADAL" clId="{BCF66164-2C9C-4B48-AFF3-6B0B0038345A}" dt="2025-12-01T10:53:57.491" v="50" actId="26606"/>
          <ac:spMkLst>
            <pc:docMk/>
            <pc:sldMk cId="1707900008" sldId="570"/>
            <ac:spMk id="14" creationId="{14678871-B9EC-71B8-BF77-B2460833ACFC}"/>
          </ac:spMkLst>
        </pc:spChg>
        <pc:spChg chg="add del mod">
          <ac:chgData name="Chris Moreh" userId="17b81281-9f29-44e0-9273-6dadbf6896a2" providerId="ADAL" clId="{BCF66164-2C9C-4B48-AFF3-6B0B0038345A}" dt="2025-12-01T10:52:25.860" v="28" actId="26606"/>
          <ac:spMkLst>
            <pc:docMk/>
            <pc:sldMk cId="1707900008" sldId="570"/>
            <ac:spMk id="15" creationId="{DF22A8AB-BC5C-CFD7-B1B7-3392B0C2F7BD}"/>
          </ac:spMkLst>
        </pc:spChg>
        <pc:spChg chg="add del mod">
          <ac:chgData name="Chris Moreh" userId="17b81281-9f29-44e0-9273-6dadbf6896a2" providerId="ADAL" clId="{BCF66164-2C9C-4B48-AFF3-6B0B0038345A}" dt="2025-12-01T10:52:31.719" v="30" actId="26606"/>
          <ac:spMkLst>
            <pc:docMk/>
            <pc:sldMk cId="1707900008" sldId="570"/>
            <ac:spMk id="17" creationId="{72B028B0-956A-B67C-81B3-57529846B24B}"/>
          </ac:spMkLst>
        </pc:spChg>
        <pc:graphicFrameChg chg="add mod">
          <ac:chgData name="Chris Moreh" userId="17b81281-9f29-44e0-9273-6dadbf6896a2" providerId="ADAL" clId="{BCF66164-2C9C-4B48-AFF3-6B0B0038345A}" dt="2025-12-01T10:52:31.719" v="30" actId="26606"/>
          <ac:graphicFrameMkLst>
            <pc:docMk/>
            <pc:sldMk cId="1707900008" sldId="570"/>
            <ac:graphicFrameMk id="8" creationId="{CB6C24A6-9071-820D-EF70-3B2CCA6D1562}"/>
          </ac:graphicFrameMkLst>
        </pc:graphicFrameChg>
        <pc:graphicFrameChg chg="add mod modGraphic">
          <ac:chgData name="Chris Moreh" userId="17b81281-9f29-44e0-9273-6dadbf6896a2" providerId="ADAL" clId="{BCF66164-2C9C-4B48-AFF3-6B0B0038345A}" dt="2025-12-01T10:54:27.103" v="55" actId="404"/>
          <ac:graphicFrameMkLst>
            <pc:docMk/>
            <pc:sldMk cId="1707900008" sldId="570"/>
            <ac:graphicFrameMk id="9" creationId="{6B473B65-E8F8-2C1E-6155-342CA88ED980}"/>
          </ac:graphicFrameMkLst>
        </pc:graphicFrameChg>
      </pc:sldChg>
      <pc:sldChg chg="delSp add del mod">
        <pc:chgData name="Chris Moreh" userId="17b81281-9f29-44e0-9273-6dadbf6896a2" providerId="ADAL" clId="{BCF66164-2C9C-4B48-AFF3-6B0B0038345A}" dt="2025-12-01T10:57:18.778" v="79" actId="47"/>
        <pc:sldMkLst>
          <pc:docMk/>
          <pc:sldMk cId="1211947632" sldId="571"/>
        </pc:sldMkLst>
        <pc:graphicFrameChg chg="del">
          <ac:chgData name="Chris Moreh" userId="17b81281-9f29-44e0-9273-6dadbf6896a2" providerId="ADAL" clId="{BCF66164-2C9C-4B48-AFF3-6B0B0038345A}" dt="2025-12-01T10:53:37.496" v="45" actId="478"/>
          <ac:graphicFrameMkLst>
            <pc:docMk/>
            <pc:sldMk cId="1211947632" sldId="571"/>
            <ac:graphicFrameMk id="9" creationId="{D6A84990-4F4A-0A8F-F084-4D15C3758E56}"/>
          </ac:graphicFrameMkLst>
        </pc:graphicFrameChg>
      </pc:sldChg>
      <pc:sldChg chg="add del">
        <pc:chgData name="Chris Moreh" userId="17b81281-9f29-44e0-9273-6dadbf6896a2" providerId="ADAL" clId="{BCF66164-2C9C-4B48-AFF3-6B0B0038345A}" dt="2025-12-01T10:57:19.849" v="80" actId="47"/>
        <pc:sldMkLst>
          <pc:docMk/>
          <pc:sldMk cId="2197143263" sldId="572"/>
        </pc:sldMkLst>
      </pc:sldChg>
      <pc:sldChg chg="add del">
        <pc:chgData name="Chris Moreh" userId="17b81281-9f29-44e0-9273-6dadbf6896a2" providerId="ADAL" clId="{BCF66164-2C9C-4B48-AFF3-6B0B0038345A}" dt="2025-12-01T10:57:20.756" v="81" actId="47"/>
        <pc:sldMkLst>
          <pc:docMk/>
          <pc:sldMk cId="3631812963" sldId="573"/>
        </pc:sldMkLst>
      </pc:sldChg>
      <pc:sldChg chg="add del">
        <pc:chgData name="Chris Moreh" userId="17b81281-9f29-44e0-9273-6dadbf6896a2" providerId="ADAL" clId="{BCF66164-2C9C-4B48-AFF3-6B0B0038345A}" dt="2025-12-01T10:57:22.514" v="82" actId="47"/>
        <pc:sldMkLst>
          <pc:docMk/>
          <pc:sldMk cId="2116623615" sldId="574"/>
        </pc:sldMkLst>
      </pc:sldChg>
      <pc:sldChg chg="add del">
        <pc:chgData name="Chris Moreh" userId="17b81281-9f29-44e0-9273-6dadbf6896a2" providerId="ADAL" clId="{BCF66164-2C9C-4B48-AFF3-6B0B0038345A}" dt="2025-12-01T10:57:24.028" v="83" actId="47"/>
        <pc:sldMkLst>
          <pc:docMk/>
          <pc:sldMk cId="918100081" sldId="575"/>
        </pc:sldMkLst>
      </pc:sldChg>
      <pc:sldChg chg="addSp delSp modSp add mod">
        <pc:chgData name="Chris Moreh" userId="17b81281-9f29-44e0-9273-6dadbf6896a2" providerId="ADAL" clId="{BCF66164-2C9C-4B48-AFF3-6B0B0038345A}" dt="2025-12-01T10:55:41.581" v="61" actId="26606"/>
        <pc:sldMkLst>
          <pc:docMk/>
          <pc:sldMk cId="1199502181" sldId="576"/>
        </pc:sldMkLst>
        <pc:spChg chg="del">
          <ac:chgData name="Chris Moreh" userId="17b81281-9f29-44e0-9273-6dadbf6896a2" providerId="ADAL" clId="{BCF66164-2C9C-4B48-AFF3-6B0B0038345A}" dt="2025-12-01T10:55:41.581" v="61" actId="26606"/>
          <ac:spMkLst>
            <pc:docMk/>
            <pc:sldMk cId="1199502181" sldId="576"/>
            <ac:spMk id="14" creationId="{A060E155-DF8D-3213-8EBF-32F69EEB472A}"/>
          </ac:spMkLst>
        </pc:spChg>
        <pc:spChg chg="add">
          <ac:chgData name="Chris Moreh" userId="17b81281-9f29-44e0-9273-6dadbf6896a2" providerId="ADAL" clId="{BCF66164-2C9C-4B48-AFF3-6B0B0038345A}" dt="2025-12-01T10:55:41.581" v="61" actId="26606"/>
          <ac:spMkLst>
            <pc:docMk/>
            <pc:sldMk cId="1199502181" sldId="576"/>
            <ac:spMk id="19" creationId="{9D28E65C-7B31-6CA1-60DE-3220AFC522D9}"/>
          </ac:spMkLst>
        </pc:spChg>
        <pc:graphicFrameChg chg="add del mod">
          <ac:chgData name="Chris Moreh" userId="17b81281-9f29-44e0-9273-6dadbf6896a2" providerId="ADAL" clId="{BCF66164-2C9C-4B48-AFF3-6B0B0038345A}" dt="2025-12-01T10:55:17.140" v="58" actId="478"/>
          <ac:graphicFrameMkLst>
            <pc:docMk/>
            <pc:sldMk cId="1199502181" sldId="576"/>
            <ac:graphicFrameMk id="2" creationId="{B0FD9312-C3E1-8E56-DB7B-C4883DE7C61A}"/>
          </ac:graphicFrameMkLst>
        </pc:graphicFrameChg>
        <pc:graphicFrameChg chg="add mod">
          <ac:chgData name="Chris Moreh" userId="17b81281-9f29-44e0-9273-6dadbf6896a2" providerId="ADAL" clId="{BCF66164-2C9C-4B48-AFF3-6B0B0038345A}" dt="2025-12-01T10:55:41.581" v="61" actId="26606"/>
          <ac:graphicFrameMkLst>
            <pc:docMk/>
            <pc:sldMk cId="1199502181" sldId="576"/>
            <ac:graphicFrameMk id="3" creationId="{456F24C2-17D2-C9A0-87C7-9C53494E57FC}"/>
          </ac:graphicFrameMkLst>
        </pc:graphicFrameChg>
        <pc:graphicFrameChg chg="del">
          <ac:chgData name="Chris Moreh" userId="17b81281-9f29-44e0-9273-6dadbf6896a2" providerId="ADAL" clId="{BCF66164-2C9C-4B48-AFF3-6B0B0038345A}" dt="2025-12-01T10:54:33.201" v="56" actId="478"/>
          <ac:graphicFrameMkLst>
            <pc:docMk/>
            <pc:sldMk cId="1199502181" sldId="576"/>
            <ac:graphicFrameMk id="9" creationId="{78268AE7-8DFA-5F38-612D-2DC311C62B68}"/>
          </ac:graphicFrameMkLst>
        </pc:graphicFrameChg>
      </pc:sldChg>
      <pc:sldChg chg="addSp delSp modSp add mod">
        <pc:chgData name="Chris Moreh" userId="17b81281-9f29-44e0-9273-6dadbf6896a2" providerId="ADAL" clId="{BCF66164-2C9C-4B48-AFF3-6B0B0038345A}" dt="2025-12-01T10:57:15.345" v="78" actId="1076"/>
        <pc:sldMkLst>
          <pc:docMk/>
          <pc:sldMk cId="1073392045" sldId="577"/>
        </pc:sldMkLst>
        <pc:spChg chg="add del mod">
          <ac:chgData name="Chris Moreh" userId="17b81281-9f29-44e0-9273-6dadbf6896a2" providerId="ADAL" clId="{BCF66164-2C9C-4B48-AFF3-6B0B0038345A}" dt="2025-12-01T10:56:40.517" v="67" actId="478"/>
          <ac:spMkLst>
            <pc:docMk/>
            <pc:sldMk cId="1073392045" sldId="577"/>
            <ac:spMk id="2" creationId="{A289CC5A-F145-3371-A31E-8D96D1351953}"/>
          </ac:spMkLst>
        </pc:spChg>
        <pc:graphicFrameChg chg="del">
          <ac:chgData name="Chris Moreh" userId="17b81281-9f29-44e0-9273-6dadbf6896a2" providerId="ADAL" clId="{BCF66164-2C9C-4B48-AFF3-6B0B0038345A}" dt="2025-12-01T10:55:49.217" v="63" actId="478"/>
          <ac:graphicFrameMkLst>
            <pc:docMk/>
            <pc:sldMk cId="1073392045" sldId="577"/>
            <ac:graphicFrameMk id="3" creationId="{037BED66-D51B-0260-E61D-C5F3CEEB0225}"/>
          </ac:graphicFrameMkLst>
        </pc:graphicFrameChg>
        <pc:picChg chg="add mod">
          <ac:chgData name="Chris Moreh" userId="17b81281-9f29-44e0-9273-6dadbf6896a2" providerId="ADAL" clId="{BCF66164-2C9C-4B48-AFF3-6B0B0038345A}" dt="2025-12-01T10:57:15.345" v="78" actId="1076"/>
          <ac:picMkLst>
            <pc:docMk/>
            <pc:sldMk cId="1073392045" sldId="577"/>
            <ac:picMk id="3074" creationId="{CEDBC297-8F94-DDA8-C39C-E88385977923}"/>
          </ac:picMkLst>
        </pc:picChg>
        <pc:picChg chg="add mod">
          <ac:chgData name="Chris Moreh" userId="17b81281-9f29-44e0-9273-6dadbf6896a2" providerId="ADAL" clId="{BCF66164-2C9C-4B48-AFF3-6B0B0038345A}" dt="2025-12-01T10:57:13.357" v="77" actId="1076"/>
          <ac:picMkLst>
            <pc:docMk/>
            <pc:sldMk cId="1073392045" sldId="577"/>
            <ac:picMk id="3075" creationId="{108BF1EB-FE96-13DC-9EE3-781B2A9DFD41}"/>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Countries</c:v>
                </c:pt>
              </c:strCache>
            </c:strRef>
          </c:tx>
          <c:spPr>
            <a:ln>
              <a:noFill/>
            </a:ln>
          </c:spPr>
          <c:marker>
            <c:symbol val="circle"/>
            <c:size val="7"/>
            <c:spPr>
              <a:solidFill>
                <a:srgbClr val="1F394D"/>
              </a:solidFill>
              <a:ln w="12700">
                <a:solidFill>
                  <a:srgbClr val="FFFFFF"/>
                </a:solidFill>
              </a:ln>
            </c:spPr>
          </c:marker>
          <c:xVal>
            <c:numRef>
              <c:f>Sheet1!$A$2:$A$24</c:f>
              <c:numCache>
                <c:formatCode>General</c:formatCode>
                <c:ptCount val="23"/>
                <c:pt idx="0">
                  <c:v>7</c:v>
                </c:pt>
                <c:pt idx="1">
                  <c:v>4.8249998092651367</c:v>
                </c:pt>
                <c:pt idx="2">
                  <c:v>4.5999999046325684</c:v>
                </c:pt>
                <c:pt idx="3">
                  <c:v>5.625</c:v>
                </c:pt>
                <c:pt idx="4">
                  <c:v>4.3000001907348633</c:v>
                </c:pt>
                <c:pt idx="5">
                  <c:v>3.7249999046325684</c:v>
                </c:pt>
                <c:pt idx="6">
                  <c:v>5.5999999046325684</c:v>
                </c:pt>
                <c:pt idx="7">
                  <c:v>5.2000002861022949</c:v>
                </c:pt>
                <c:pt idx="8">
                  <c:v>6.1999998092651367</c:v>
                </c:pt>
                <c:pt idx="9">
                  <c:v>6.0500001907348633</c:v>
                </c:pt>
                <c:pt idx="10">
                  <c:v>6.7750000953674316</c:v>
                </c:pt>
                <c:pt idx="11">
                  <c:v>6.6500000953674316</c:v>
                </c:pt>
                <c:pt idx="12">
                  <c:v>3.4000000953674316</c:v>
                </c:pt>
                <c:pt idx="13">
                  <c:v>5.3000001907348633</c:v>
                </c:pt>
                <c:pt idx="14">
                  <c:v>6.8000001907348633</c:v>
                </c:pt>
                <c:pt idx="15">
                  <c:v>3.8500001430511475</c:v>
                </c:pt>
                <c:pt idx="16">
                  <c:v>8</c:v>
                </c:pt>
                <c:pt idx="17">
                  <c:v>9.6999998092651367</c:v>
                </c:pt>
                <c:pt idx="18">
                  <c:v>5.5500001907348633</c:v>
                </c:pt>
                <c:pt idx="19">
                  <c:v>3.9500000476837158</c:v>
                </c:pt>
                <c:pt idx="20">
                  <c:v>5.7250003814697266</c:v>
                </c:pt>
                <c:pt idx="21">
                  <c:v>7.1749997138977051</c:v>
                </c:pt>
                <c:pt idx="22">
                  <c:v>8.5499992370605469</c:v>
                </c:pt>
              </c:numCache>
            </c:numRef>
          </c:xVal>
          <c:yVal>
            <c:numRef>
              <c:f>Sheet1!$B$2:$B$24</c:f>
              <c:numCache>
                <c:formatCode>General</c:formatCode>
                <c:ptCount val="23"/>
                <c:pt idx="0">
                  <c:v>39.900001525878906</c:v>
                </c:pt>
                <c:pt idx="1">
                  <c:v>33.900001525878906</c:v>
                </c:pt>
                <c:pt idx="2">
                  <c:v>30.700000762939453</c:v>
                </c:pt>
                <c:pt idx="3">
                  <c:v>38.799999237060547</c:v>
                </c:pt>
                <c:pt idx="4">
                  <c:v>66.5</c:v>
                </c:pt>
                <c:pt idx="5">
                  <c:v>58</c:v>
                </c:pt>
                <c:pt idx="6">
                  <c:v>22.200000762939453</c:v>
                </c:pt>
                <c:pt idx="7">
                  <c:v>34.799999237060547</c:v>
                </c:pt>
                <c:pt idx="8">
                  <c:v>23.700000762939453</c:v>
                </c:pt>
                <c:pt idx="9">
                  <c:v>35.200000762939453</c:v>
                </c:pt>
                <c:pt idx="10">
                  <c:v>23.5</c:v>
                </c:pt>
                <c:pt idx="11">
                  <c:v>32.599998474121094</c:v>
                </c:pt>
                <c:pt idx="12">
                  <c:v>43.099998474121094</c:v>
                </c:pt>
                <c:pt idx="13">
                  <c:v>59.799999237060547</c:v>
                </c:pt>
                <c:pt idx="14">
                  <c:v>49.099998474121094</c:v>
                </c:pt>
                <c:pt idx="15">
                  <c:v>65.300003051757813</c:v>
                </c:pt>
                <c:pt idx="16">
                  <c:v>10</c:v>
                </c:pt>
                <c:pt idx="17">
                  <c:v>16.899999618530273</c:v>
                </c:pt>
                <c:pt idx="18">
                  <c:v>36.200000762939453</c:v>
                </c:pt>
                <c:pt idx="19">
                  <c:v>66.300003051757813</c:v>
                </c:pt>
                <c:pt idx="20">
                  <c:v>41</c:v>
                </c:pt>
                <c:pt idx="21">
                  <c:v>29.799999237060547</c:v>
                </c:pt>
                <c:pt idx="22">
                  <c:v>35.799999237060547</c:v>
                </c:pt>
              </c:numCache>
            </c:numRef>
          </c:yVal>
          <c:smooth val="0"/>
          <c:extLst>
            <c:ext xmlns:c16="http://schemas.microsoft.com/office/drawing/2014/chart" uri="{C3380CC4-5D6E-409C-BE32-E72D297353CC}">
              <c16:uniqueId val="{00000000-6707-42FD-BA57-25E287DC752E}"/>
            </c:ext>
          </c:extLst>
        </c:ser>
        <c:ser>
          <c:idx val="1"/>
          <c:order val="1"/>
          <c:tx>
            <c:strRef>
              <c:f>Sheet1!$B$26</c:f>
              <c:strCache>
                <c:ptCount val="1"/>
                <c:pt idx="0">
                  <c:v>Line</c:v>
                </c:pt>
              </c:strCache>
            </c:strRef>
          </c:tx>
          <c:spPr>
            <a:ln w="38100">
              <a:solidFill>
                <a:srgbClr val="B88C00"/>
              </a:solidFill>
            </a:ln>
          </c:spPr>
          <c:marker>
            <c:symbol val="none"/>
          </c:marker>
          <c:xVal>
            <c:numRef>
              <c:f>Sheet1!$A$27:$A$28</c:f>
              <c:numCache>
                <c:formatCode>General</c:formatCode>
                <c:ptCount val="2"/>
                <c:pt idx="0">
                  <c:v>3.4000000953674316</c:v>
                </c:pt>
                <c:pt idx="1">
                  <c:v>9.6999998092651367</c:v>
                </c:pt>
              </c:numCache>
            </c:numRef>
          </c:xVal>
          <c:yVal>
            <c:numRef>
              <c:f>Sheet1!$B$27:$B$28</c:f>
              <c:numCache>
                <c:formatCode>General</c:formatCode>
                <c:ptCount val="2"/>
                <c:pt idx="0">
                  <c:v>54.842085528718599</c:v>
                </c:pt>
                <c:pt idx="1">
                  <c:v>13.6692702000474</c:v>
                </c:pt>
              </c:numCache>
            </c:numRef>
          </c:yVal>
          <c:smooth val="0"/>
          <c:extLst>
            <c:ext xmlns:c16="http://schemas.microsoft.com/office/drawing/2014/chart" uri="{C3380CC4-5D6E-409C-BE32-E72D297353CC}">
              <c16:uniqueId val="{00000001-6707-42FD-BA57-25E287DC752E}"/>
            </c:ext>
          </c:extLst>
        </c:ser>
        <c:ser>
          <c:idx val="2"/>
          <c:order val="2"/>
          <c:tx>
            <c:strRef>
              <c:f>Sheet1!$B$30</c:f>
              <c:strCache>
                <c:ptCount val="1"/>
                <c:pt idx="0">
                  <c:v>Beyond the data</c:v>
                </c:pt>
              </c:strCache>
            </c:strRef>
          </c:tx>
          <c:spPr>
            <a:ln w="28575">
              <a:solidFill>
                <a:srgbClr val="B88C00"/>
              </a:solidFill>
              <a:prstDash val="dash"/>
            </a:ln>
          </c:spPr>
          <c:marker>
            <c:symbol val="none"/>
          </c:marker>
          <c:xVal>
            <c:numRef>
              <c:f>Sheet1!$A$31:$A$32</c:f>
              <c:numCache>
                <c:formatCode>General</c:formatCode>
                <c:ptCount val="2"/>
                <c:pt idx="0">
                  <c:v>0</c:v>
                </c:pt>
                <c:pt idx="1">
                  <c:v>3.4000000953674316</c:v>
                </c:pt>
              </c:numCache>
            </c:numRef>
          </c:xVal>
          <c:yVal>
            <c:numRef>
              <c:f>Sheet1!$B$31:$B$32</c:f>
              <c:numCache>
                <c:formatCode>General</c:formatCode>
                <c:ptCount val="2"/>
                <c:pt idx="0">
                  <c:v>77.062336703526952</c:v>
                </c:pt>
                <c:pt idx="1">
                  <c:v>54.842085528718599</c:v>
                </c:pt>
              </c:numCache>
            </c:numRef>
          </c:yVal>
          <c:smooth val="0"/>
          <c:extLst>
            <c:ext xmlns:c16="http://schemas.microsoft.com/office/drawing/2014/chart" uri="{C3380CC4-5D6E-409C-BE32-E72D297353CC}">
              <c16:uniqueId val="{00000002-6707-42FD-BA57-25E287DC752E}"/>
            </c:ext>
          </c:extLst>
        </c:ser>
        <c:ser>
          <c:idx val="3"/>
          <c:order val="3"/>
          <c:tx>
            <c:strRef>
              <c:f>Sheet1!$B$34</c:f>
              <c:strCache>
                <c:ptCount val="1"/>
                <c:pt idx="0">
                  <c:v>Run</c:v>
                </c:pt>
              </c:strCache>
            </c:strRef>
          </c:tx>
          <c:spPr>
            <a:ln w="15875">
              <a:solidFill>
                <a:srgbClr val="1F394D"/>
              </a:solidFill>
              <a:prstDash val="sysDash"/>
            </a:ln>
          </c:spPr>
          <c:marker>
            <c:symbol val="none"/>
          </c:marker>
          <c:dLbls>
            <c:dLbl>
              <c:idx val="1"/>
              <c:tx>
                <c:rich>
                  <a:bodyPr/>
                  <a:lstStyle/>
                  <a:p>
                    <a:r>
                      <a:rPr lang="en-US" sz="1200" b="1">
                        <a:solidFill>
                          <a:srgbClr val="1F394D"/>
                        </a:solidFill>
                      </a:rPr>
                      <a:t>+1</a:t>
                    </a:r>
                  </a:p>
                </c:rich>
              </c:tx>
              <c:dLblPos val="t"/>
              <c:showLegendKey val="0"/>
              <c:showVal val="1"/>
              <c:showCatName val="0"/>
              <c:showSerName val="0"/>
              <c:showPercent val="0"/>
              <c:showBubbleSize val="0"/>
              <c:extLst>
                <c:ext xmlns:c15="http://schemas.microsoft.com/office/drawing/2012/chart" uri="{CE6537A1-D6FC-4f65-9D91-7224C49458BB}">
                  <c15:layout>
                    <c:manualLayout>
                      <c:w val="4.1700000000000001E-2"/>
                      <c:h val="5.8000000000000003E-2"/>
                    </c:manualLayout>
                  </c15:layout>
                  <c15:showDataLabelsRange val="0"/>
                </c:ext>
                <c:ext xmlns:c16="http://schemas.microsoft.com/office/drawing/2014/chart" uri="{C3380CC4-5D6E-409C-BE32-E72D297353CC}">
                  <c16:uniqueId val="{00000003-6707-42FD-BA57-25E287DC752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Sheet1!$A$35:$A$37</c:f>
              <c:numCache>
                <c:formatCode>General</c:formatCode>
                <c:ptCount val="3"/>
                <c:pt idx="0">
                  <c:v>0</c:v>
                </c:pt>
                <c:pt idx="1">
                  <c:v>0.5</c:v>
                </c:pt>
                <c:pt idx="2">
                  <c:v>1</c:v>
                </c:pt>
              </c:numCache>
            </c:numRef>
          </c:xVal>
          <c:yVal>
            <c:numRef>
              <c:f>Sheet1!$B$35:$B$37</c:f>
              <c:numCache>
                <c:formatCode>General</c:formatCode>
                <c:ptCount val="3"/>
                <c:pt idx="0">
                  <c:v>77.062336703526952</c:v>
                </c:pt>
                <c:pt idx="1">
                  <c:v>77.062336703526952</c:v>
                </c:pt>
                <c:pt idx="2">
                  <c:v>77.062336703526952</c:v>
                </c:pt>
              </c:numCache>
            </c:numRef>
          </c:yVal>
          <c:smooth val="0"/>
          <c:extLst>
            <c:ext xmlns:c16="http://schemas.microsoft.com/office/drawing/2014/chart" uri="{C3380CC4-5D6E-409C-BE32-E72D297353CC}">
              <c16:uniqueId val="{00000004-6707-42FD-BA57-25E287DC752E}"/>
            </c:ext>
          </c:extLst>
        </c:ser>
        <c:ser>
          <c:idx val="4"/>
          <c:order val="4"/>
          <c:tx>
            <c:strRef>
              <c:f>Sheet1!$B$39</c:f>
              <c:strCache>
                <c:ptCount val="1"/>
                <c:pt idx="0">
                  <c:v>Rise</c:v>
                </c:pt>
              </c:strCache>
            </c:strRef>
          </c:tx>
          <c:spPr>
            <a:ln w="15875">
              <a:solidFill>
                <a:srgbClr val="1F394D"/>
              </a:solidFill>
              <a:prstDash val="sysDash"/>
            </a:ln>
          </c:spPr>
          <c:marker>
            <c:symbol val="none"/>
          </c:marker>
          <c:dLbls>
            <c:dLbl>
              <c:idx val="1"/>
              <c:tx>
                <c:rich>
                  <a:bodyPr/>
                  <a:lstStyle/>
                  <a:p>
                    <a:r>
                      <a:rPr lang="en-US" sz="1200" b="1">
                        <a:solidFill>
                          <a:srgbClr val="1F394D"/>
                        </a:solidFill>
                      </a:rPr>
                      <a:t>−6.54 (slope)</a:t>
                    </a:r>
                  </a:p>
                </c:rich>
              </c:tx>
              <c:dLblPos val="r"/>
              <c:showLegendKey val="0"/>
              <c:showVal val="1"/>
              <c:showCatName val="0"/>
              <c:showSerName val="0"/>
              <c:showPercent val="0"/>
              <c:showBubbleSize val="0"/>
              <c:extLst>
                <c:ext xmlns:c15="http://schemas.microsoft.com/office/drawing/2012/chart" uri="{CE6537A1-D6FC-4f65-9D91-7224C49458BB}">
                  <c15:layout>
                    <c:manualLayout>
                      <c:w val="0.18140000000000001"/>
                      <c:h val="5.8000000000000003E-2"/>
                    </c:manualLayout>
                  </c15:layout>
                  <c15:showDataLabelsRange val="0"/>
                </c:ext>
                <c:ext xmlns:c16="http://schemas.microsoft.com/office/drawing/2014/chart" uri="{C3380CC4-5D6E-409C-BE32-E72D297353CC}">
                  <c16:uniqueId val="{00000005-6707-42FD-BA57-25E287DC752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Sheet1!$A$40:$A$42</c:f>
              <c:numCache>
                <c:formatCode>General</c:formatCode>
                <c:ptCount val="3"/>
                <c:pt idx="0">
                  <c:v>1</c:v>
                </c:pt>
                <c:pt idx="1">
                  <c:v>1</c:v>
                </c:pt>
                <c:pt idx="2">
                  <c:v>1</c:v>
                </c:pt>
              </c:numCache>
            </c:numRef>
          </c:xVal>
          <c:yVal>
            <c:numRef>
              <c:f>Sheet1!$B$40:$B$42</c:f>
              <c:numCache>
                <c:formatCode>General</c:formatCode>
                <c:ptCount val="3"/>
                <c:pt idx="0">
                  <c:v>77.062336703526952</c:v>
                </c:pt>
                <c:pt idx="1">
                  <c:v>73.794652798887668</c:v>
                </c:pt>
                <c:pt idx="2">
                  <c:v>70.526968894248398</c:v>
                </c:pt>
              </c:numCache>
            </c:numRef>
          </c:yVal>
          <c:smooth val="0"/>
          <c:extLst>
            <c:ext xmlns:c16="http://schemas.microsoft.com/office/drawing/2014/chart" uri="{C3380CC4-5D6E-409C-BE32-E72D297353CC}">
              <c16:uniqueId val="{00000006-6707-42FD-BA57-25E287DC752E}"/>
            </c:ext>
          </c:extLst>
        </c:ser>
        <c:ser>
          <c:idx val="5"/>
          <c:order val="5"/>
          <c:tx>
            <c:strRef>
              <c:f>Sheet1!$B$44</c:f>
              <c:strCache>
                <c:ptCount val="1"/>
                <c:pt idx="0">
                  <c:v>Intercept</c:v>
                </c:pt>
              </c:strCache>
            </c:strRef>
          </c:tx>
          <c:spPr>
            <a:ln>
              <a:noFill/>
            </a:ln>
          </c:spPr>
          <c:marker>
            <c:symbol val="circle"/>
            <c:size val="11"/>
            <c:spPr>
              <a:solidFill>
                <a:srgbClr val="B88C00"/>
              </a:solidFill>
              <a:ln w="12700">
                <a:solidFill>
                  <a:srgbClr val="FFFFFF"/>
                </a:solidFill>
              </a:ln>
            </c:spPr>
          </c:marker>
          <c:xVal>
            <c:numRef>
              <c:f>Sheet1!$A$45:$A$45</c:f>
              <c:numCache>
                <c:formatCode>General</c:formatCode>
                <c:ptCount val="1"/>
                <c:pt idx="0">
                  <c:v>0</c:v>
                </c:pt>
              </c:numCache>
            </c:numRef>
          </c:xVal>
          <c:yVal>
            <c:numRef>
              <c:f>Sheet1!$B$45:$B$45</c:f>
              <c:numCache>
                <c:formatCode>General</c:formatCode>
                <c:ptCount val="1"/>
                <c:pt idx="0">
                  <c:v>77.062336703526952</c:v>
                </c:pt>
              </c:numCache>
            </c:numRef>
          </c:yVal>
          <c:smooth val="0"/>
          <c:extLst>
            <c:ext xmlns:c16="http://schemas.microsoft.com/office/drawing/2014/chart" uri="{C3380CC4-5D6E-409C-BE32-E72D297353CC}">
              <c16:uniqueId val="{00000007-6707-42FD-BA57-25E287DC752E}"/>
            </c:ext>
          </c:extLst>
        </c:ser>
        <c:ser>
          <c:idx val="6"/>
          <c:order val="6"/>
          <c:tx>
            <c:strRef>
              <c:f>Sheet1!$B$47</c:f>
              <c:strCache>
                <c:ptCount val="1"/>
                <c:pt idx="0">
                  <c:v>Intercept label</c:v>
                </c:pt>
              </c:strCache>
            </c:strRef>
          </c:tx>
          <c:spPr>
            <a:ln>
              <a:noFill/>
            </a:ln>
          </c:spPr>
          <c:marker>
            <c:symbol val="none"/>
          </c:marker>
          <c:dLbls>
            <c:dLbl>
              <c:idx val="0"/>
              <c:tx>
                <c:rich>
                  <a:bodyPr/>
                  <a:lstStyle/>
                  <a:p>
                    <a:r>
                      <a:rPr lang="en-US" sz="1200" b="1">
                        <a:solidFill>
                          <a:srgbClr val="7A5C00"/>
                        </a:solidFill>
                      </a:rPr>
                      <a:t>77.1 (intercept)</a:t>
                    </a:r>
                  </a:p>
                </c:rich>
              </c:tx>
              <c:dLblPos val="r"/>
              <c:showLegendKey val="0"/>
              <c:showVal val="1"/>
              <c:showCatName val="0"/>
              <c:showSerName val="0"/>
              <c:showPercent val="0"/>
              <c:showBubbleSize val="0"/>
              <c:extLst>
                <c:ext xmlns:c15="http://schemas.microsoft.com/office/drawing/2012/chart" uri="{CE6537A1-D6FC-4f65-9D91-7224C49458BB}">
                  <c15:layout>
                    <c:manualLayout>
                      <c:w val="0.2195"/>
                      <c:h val="5.8000000000000003E-2"/>
                    </c:manualLayout>
                  </c15:layout>
                  <c15:showDataLabelsRange val="0"/>
                </c:ext>
                <c:ext xmlns:c16="http://schemas.microsoft.com/office/drawing/2014/chart" uri="{C3380CC4-5D6E-409C-BE32-E72D297353CC}">
                  <c16:uniqueId val="{00000008-6707-42FD-BA57-25E287DC752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Sheet1!$A$48:$A$48</c:f>
              <c:numCache>
                <c:formatCode>General</c:formatCode>
                <c:ptCount val="1"/>
                <c:pt idx="0">
                  <c:v>0</c:v>
                </c:pt>
              </c:numCache>
            </c:numRef>
          </c:xVal>
          <c:yVal>
            <c:numRef>
              <c:f>Sheet1!$B$48:$B$48</c:f>
              <c:numCache>
                <c:formatCode>General</c:formatCode>
                <c:ptCount val="1"/>
                <c:pt idx="0">
                  <c:v>90.062336703526952</c:v>
                </c:pt>
              </c:numCache>
            </c:numRef>
          </c:yVal>
          <c:smooth val="0"/>
          <c:extLst>
            <c:ext xmlns:c16="http://schemas.microsoft.com/office/drawing/2014/chart" uri="{C3380CC4-5D6E-409C-BE32-E72D297353CC}">
              <c16:uniqueId val="{00000009-6707-42FD-BA57-25E287DC752E}"/>
            </c:ext>
          </c:extLst>
        </c:ser>
        <c:dLbls>
          <c:showLegendKey val="0"/>
          <c:showVal val="0"/>
          <c:showCatName val="0"/>
          <c:showSerName val="0"/>
          <c:showPercent val="0"/>
          <c:showBubbleSize val="0"/>
        </c:dLbls>
        <c:axId val="-2128940872"/>
        <c:axId val="-2129643912"/>
      </c:scatterChart>
      <c:valAx>
        <c:axId val="-2128940872"/>
        <c:scaling>
          <c:orientation val="minMax"/>
          <c:max val="10"/>
          <c:min val="0"/>
        </c:scaling>
        <c:delete val="0"/>
        <c:axPos val="b"/>
        <c:title>
          <c:tx>
            <c:rich>
              <a:bodyPr/>
              <a:lstStyle/>
              <a:p>
                <a:r>
                  <a:rPr lang="en-GB" sz="1200" b="0">
                    <a:solidFill>
                      <a:srgbClr val="55606B"/>
                    </a:solidFill>
                  </a:rPr>
                  <a:t>Income inequality (richest fifth ÷ poorest fifth)</a:t>
                </a:r>
              </a:p>
            </c:rich>
          </c:tx>
          <c:overlay val="0"/>
        </c:title>
        <c:numFmt formatCode="General" sourceLinked="1"/>
        <c:majorTickMark val="out"/>
        <c:minorTickMark val="none"/>
        <c:tickLblPos val="nextTo"/>
        <c:spPr>
          <a:ln>
            <a:solidFill>
              <a:srgbClr val="BBC4CC"/>
            </a:solidFill>
          </a:ln>
        </c:spPr>
        <c:txPr>
          <a:bodyPr/>
          <a:lstStyle/>
          <a:p>
            <a:pPr>
              <a:defRPr sz="1200">
                <a:solidFill>
                  <a:srgbClr val="55606B"/>
                </a:solidFill>
              </a:defRPr>
            </a:pPr>
            <a:endParaRPr lang="en-US"/>
          </a:p>
        </c:txPr>
        <c:crossAx val="-2129643912"/>
        <c:crosses val="min"/>
        <c:crossBetween val="midCat"/>
        <c:majorUnit val="1"/>
      </c:valAx>
      <c:valAx>
        <c:axId val="-2129643912"/>
        <c:scaling>
          <c:orientation val="minMax"/>
          <c:max val="100"/>
          <c:min val="0"/>
        </c:scaling>
        <c:delete val="0"/>
        <c:axPos val="l"/>
        <c:majorGridlines>
          <c:spPr>
            <a:ln w="9525">
              <a:solidFill>
                <a:srgbClr val="DDE3E8"/>
              </a:solidFill>
            </a:ln>
          </c:spPr>
        </c:majorGridlines>
        <c:title>
          <c:tx>
            <c:rich>
              <a:bodyPr/>
              <a:lstStyle/>
              <a:p>
                <a:r>
                  <a:rPr lang="en-GB" sz="1200" b="0">
                    <a:solidFill>
                      <a:srgbClr val="55606B"/>
                    </a:solidFill>
                  </a:rPr>
                  <a:t>% who say most people can be trusted</a:t>
                </a:r>
              </a:p>
            </c:rich>
          </c:tx>
          <c:overlay val="0"/>
        </c:title>
        <c:numFmt formatCode="General" sourceLinked="1"/>
        <c:majorTickMark val="out"/>
        <c:minorTickMark val="none"/>
        <c:tickLblPos val="nextTo"/>
        <c:spPr>
          <a:ln>
            <a:solidFill>
              <a:srgbClr val="BBC4CC"/>
            </a:solidFill>
          </a:ln>
        </c:spPr>
        <c:txPr>
          <a:bodyPr/>
          <a:lstStyle/>
          <a:p>
            <a:pPr>
              <a:defRPr sz="1200">
                <a:solidFill>
                  <a:srgbClr val="55606B"/>
                </a:solidFill>
              </a:defRPr>
            </a:pPr>
            <a:endParaRPr lang="en-US"/>
          </a:p>
        </c:txPr>
        <c:crossAx val="-2128940872"/>
        <c:crosses val="autoZero"/>
        <c:crossBetween val="midCat"/>
        <c:majorUnit val="20"/>
      </c:valAx>
    </c:plotArea>
    <c:plotVisOnly val="1"/>
    <c:dispBlanksAs val="gap"/>
    <c:showDLblsOverMax val="0"/>
  </c:chart>
  <c:txPr>
    <a:bodyPr/>
    <a:lstStyle/>
    <a:p>
      <a:pPr>
        <a:defRPr sz="1200">
          <a:solidFill>
            <a:srgbClr val="55606B"/>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Share owning a car (income band)</c:v>
                </c:pt>
              </c:strCache>
            </c:strRef>
          </c:tx>
          <c:spPr>
            <a:ln>
              <a:noFill/>
            </a:ln>
          </c:spPr>
          <c:marker>
            <c:symbol val="circle"/>
            <c:size val="9"/>
            <c:spPr>
              <a:solidFill>
                <a:srgbClr val="9AA3AB"/>
              </a:solidFill>
              <a:ln w="12700">
                <a:solidFill>
                  <a:srgbClr val="FFFFFF"/>
                </a:solidFill>
              </a:ln>
            </c:spPr>
          </c:marker>
          <c:xVal>
            <c:numRef>
              <c:f>Sheet1!$A$2:$A$11</c:f>
              <c:numCache>
                <c:formatCode>General</c:formatCode>
                <c:ptCount val="10"/>
                <c:pt idx="0">
                  <c:v>0.5</c:v>
                </c:pt>
                <c:pt idx="1">
                  <c:v>1.5</c:v>
                </c:pt>
                <c:pt idx="2">
                  <c:v>2.5</c:v>
                </c:pt>
                <c:pt idx="3">
                  <c:v>3.5</c:v>
                </c:pt>
                <c:pt idx="4">
                  <c:v>4.5</c:v>
                </c:pt>
                <c:pt idx="5">
                  <c:v>5.5</c:v>
                </c:pt>
                <c:pt idx="6">
                  <c:v>6.5</c:v>
                </c:pt>
                <c:pt idx="7">
                  <c:v>7.5</c:v>
                </c:pt>
                <c:pt idx="8">
                  <c:v>8.5</c:v>
                </c:pt>
                <c:pt idx="9">
                  <c:v>9.5</c:v>
                </c:pt>
              </c:numCache>
            </c:numRef>
          </c:xVal>
          <c:yVal>
            <c:numRef>
              <c:f>Sheet1!$B$2:$B$11</c:f>
              <c:numCache>
                <c:formatCode>General</c:formatCode>
                <c:ptCount val="10"/>
                <c:pt idx="0">
                  <c:v>0.17391304347826086</c:v>
                </c:pt>
                <c:pt idx="1">
                  <c:v>0.24528301886792453</c:v>
                </c:pt>
                <c:pt idx="2">
                  <c:v>0.52272727272727271</c:v>
                </c:pt>
                <c:pt idx="3">
                  <c:v>0.6</c:v>
                </c:pt>
                <c:pt idx="4">
                  <c:v>0.88888888888888884</c:v>
                </c:pt>
                <c:pt idx="5">
                  <c:v>0.86885245901639341</c:v>
                </c:pt>
                <c:pt idx="6">
                  <c:v>0.93478260869565222</c:v>
                </c:pt>
                <c:pt idx="7">
                  <c:v>1</c:v>
                </c:pt>
                <c:pt idx="8">
                  <c:v>0.98360655737704916</c:v>
                </c:pt>
                <c:pt idx="9">
                  <c:v>1</c:v>
                </c:pt>
              </c:numCache>
            </c:numRef>
          </c:yVal>
          <c:smooth val="0"/>
          <c:extLst>
            <c:ext xmlns:c16="http://schemas.microsoft.com/office/drawing/2014/chart" uri="{C3380CC4-5D6E-409C-BE32-E72D297353CC}">
              <c16:uniqueId val="{00000000-BF81-4A94-9D9E-5BAAFAC02A73}"/>
            </c:ext>
          </c:extLst>
        </c:ser>
        <c:ser>
          <c:idx val="1"/>
          <c:order val="1"/>
          <c:tx>
            <c:strRef>
              <c:f>Sheet1!$B$13</c:f>
              <c:strCache>
                <c:ptCount val="1"/>
                <c:pt idx="0">
                  <c:v>Linear model</c:v>
                </c:pt>
              </c:strCache>
            </c:strRef>
          </c:tx>
          <c:spPr>
            <a:ln w="34925">
              <a:solidFill>
                <a:srgbClr val="B88C00"/>
              </a:solidFill>
            </a:ln>
          </c:spPr>
          <c:marker>
            <c:symbol val="none"/>
          </c:marker>
          <c:xVal>
            <c:numRef>
              <c:f>Sheet1!$A$14:$A$114</c:f>
              <c:numCache>
                <c:formatCode>General</c:formatCode>
                <c:ptCount val="101"/>
                <c:pt idx="0">
                  <c:v>0</c:v>
                </c:pt>
                <c:pt idx="1">
                  <c:v>0.1</c:v>
                </c:pt>
                <c:pt idx="2">
                  <c:v>0.2</c:v>
                </c:pt>
                <c:pt idx="3">
                  <c:v>0.30000000000000004</c:v>
                </c:pt>
                <c:pt idx="4">
                  <c:v>0.4</c:v>
                </c:pt>
                <c:pt idx="5">
                  <c:v>0.5</c:v>
                </c:pt>
                <c:pt idx="6">
                  <c:v>0.60000000000000009</c:v>
                </c:pt>
                <c:pt idx="7">
                  <c:v>0.70000000000000007</c:v>
                </c:pt>
                <c:pt idx="8">
                  <c:v>0.8</c:v>
                </c:pt>
                <c:pt idx="9">
                  <c:v>0.9</c:v>
                </c:pt>
                <c:pt idx="10">
                  <c:v>1</c:v>
                </c:pt>
                <c:pt idx="11">
                  <c:v>1.1000000000000001</c:v>
                </c:pt>
                <c:pt idx="12">
                  <c:v>1.2000000000000002</c:v>
                </c:pt>
                <c:pt idx="13">
                  <c:v>1.3</c:v>
                </c:pt>
                <c:pt idx="14">
                  <c:v>1.4000000000000001</c:v>
                </c:pt>
                <c:pt idx="15">
                  <c:v>1.5</c:v>
                </c:pt>
                <c:pt idx="16">
                  <c:v>1.6</c:v>
                </c:pt>
                <c:pt idx="17">
                  <c:v>1.7000000000000002</c:v>
                </c:pt>
                <c:pt idx="18">
                  <c:v>1.8</c:v>
                </c:pt>
                <c:pt idx="19">
                  <c:v>1.9000000000000001</c:v>
                </c:pt>
                <c:pt idx="20">
                  <c:v>2</c:v>
                </c:pt>
                <c:pt idx="21">
                  <c:v>2.1</c:v>
                </c:pt>
                <c:pt idx="22">
                  <c:v>2.2000000000000002</c:v>
                </c:pt>
                <c:pt idx="23">
                  <c:v>2.3000000000000003</c:v>
                </c:pt>
                <c:pt idx="24">
                  <c:v>2.4000000000000004</c:v>
                </c:pt>
                <c:pt idx="25">
                  <c:v>2.5</c:v>
                </c:pt>
                <c:pt idx="26">
                  <c:v>2.6</c:v>
                </c:pt>
                <c:pt idx="27">
                  <c:v>2.7</c:v>
                </c:pt>
                <c:pt idx="28">
                  <c:v>2.8000000000000003</c:v>
                </c:pt>
                <c:pt idx="29">
                  <c:v>2.9000000000000004</c:v>
                </c:pt>
                <c:pt idx="30">
                  <c:v>3</c:v>
                </c:pt>
                <c:pt idx="31">
                  <c:v>3.1</c:v>
                </c:pt>
                <c:pt idx="32">
                  <c:v>3.2</c:v>
                </c:pt>
                <c:pt idx="33">
                  <c:v>3.3000000000000003</c:v>
                </c:pt>
                <c:pt idx="34">
                  <c:v>3.4000000000000004</c:v>
                </c:pt>
                <c:pt idx="35">
                  <c:v>3.5</c:v>
                </c:pt>
                <c:pt idx="36">
                  <c:v>3.6</c:v>
                </c:pt>
                <c:pt idx="37">
                  <c:v>3.7</c:v>
                </c:pt>
                <c:pt idx="38">
                  <c:v>3.8000000000000003</c:v>
                </c:pt>
                <c:pt idx="39">
                  <c:v>3.9000000000000004</c:v>
                </c:pt>
                <c:pt idx="40">
                  <c:v>4</c:v>
                </c:pt>
                <c:pt idx="41">
                  <c:v>4.1000000000000005</c:v>
                </c:pt>
                <c:pt idx="42">
                  <c:v>4.2</c:v>
                </c:pt>
                <c:pt idx="43">
                  <c:v>4.3</c:v>
                </c:pt>
                <c:pt idx="44">
                  <c:v>4.4000000000000004</c:v>
                </c:pt>
                <c:pt idx="45">
                  <c:v>4.5</c:v>
                </c:pt>
                <c:pt idx="46">
                  <c:v>4.6000000000000005</c:v>
                </c:pt>
                <c:pt idx="47">
                  <c:v>4.7</c:v>
                </c:pt>
                <c:pt idx="48">
                  <c:v>4.8000000000000007</c:v>
                </c:pt>
                <c:pt idx="49">
                  <c:v>4.9000000000000004</c:v>
                </c:pt>
                <c:pt idx="50">
                  <c:v>5</c:v>
                </c:pt>
                <c:pt idx="51">
                  <c:v>5.1000000000000005</c:v>
                </c:pt>
                <c:pt idx="52">
                  <c:v>5.2</c:v>
                </c:pt>
                <c:pt idx="53">
                  <c:v>5.3000000000000007</c:v>
                </c:pt>
                <c:pt idx="54">
                  <c:v>5.4</c:v>
                </c:pt>
                <c:pt idx="55">
                  <c:v>5.5</c:v>
                </c:pt>
                <c:pt idx="56">
                  <c:v>5.6000000000000005</c:v>
                </c:pt>
                <c:pt idx="57">
                  <c:v>5.7</c:v>
                </c:pt>
                <c:pt idx="58">
                  <c:v>5.8000000000000007</c:v>
                </c:pt>
                <c:pt idx="59">
                  <c:v>5.9</c:v>
                </c:pt>
                <c:pt idx="60">
                  <c:v>6</c:v>
                </c:pt>
                <c:pt idx="61">
                  <c:v>6.1000000000000005</c:v>
                </c:pt>
                <c:pt idx="62">
                  <c:v>6.2</c:v>
                </c:pt>
                <c:pt idx="63">
                  <c:v>6.3000000000000007</c:v>
                </c:pt>
                <c:pt idx="64">
                  <c:v>6.4</c:v>
                </c:pt>
                <c:pt idx="65">
                  <c:v>6.5</c:v>
                </c:pt>
                <c:pt idx="66">
                  <c:v>6.6000000000000005</c:v>
                </c:pt>
                <c:pt idx="67">
                  <c:v>6.7</c:v>
                </c:pt>
                <c:pt idx="68">
                  <c:v>6.8000000000000007</c:v>
                </c:pt>
                <c:pt idx="69">
                  <c:v>6.9</c:v>
                </c:pt>
                <c:pt idx="70">
                  <c:v>7</c:v>
                </c:pt>
                <c:pt idx="71">
                  <c:v>7.1000000000000005</c:v>
                </c:pt>
                <c:pt idx="72">
                  <c:v>7.2</c:v>
                </c:pt>
                <c:pt idx="73">
                  <c:v>7.3000000000000007</c:v>
                </c:pt>
                <c:pt idx="74">
                  <c:v>7.4</c:v>
                </c:pt>
                <c:pt idx="75">
                  <c:v>7.5</c:v>
                </c:pt>
                <c:pt idx="76">
                  <c:v>7.6000000000000005</c:v>
                </c:pt>
                <c:pt idx="77">
                  <c:v>7.7</c:v>
                </c:pt>
                <c:pt idx="78">
                  <c:v>7.8000000000000007</c:v>
                </c:pt>
                <c:pt idx="79">
                  <c:v>7.9</c:v>
                </c:pt>
                <c:pt idx="80">
                  <c:v>8</c:v>
                </c:pt>
                <c:pt idx="81">
                  <c:v>8.1</c:v>
                </c:pt>
                <c:pt idx="82">
                  <c:v>8.2000000000000011</c:v>
                </c:pt>
                <c:pt idx="83">
                  <c:v>8.3000000000000007</c:v>
                </c:pt>
                <c:pt idx="84">
                  <c:v>8.4</c:v>
                </c:pt>
                <c:pt idx="85">
                  <c:v>8.5</c:v>
                </c:pt>
                <c:pt idx="86">
                  <c:v>8.6</c:v>
                </c:pt>
                <c:pt idx="87">
                  <c:v>8.7000000000000011</c:v>
                </c:pt>
                <c:pt idx="88">
                  <c:v>8.8000000000000007</c:v>
                </c:pt>
                <c:pt idx="89">
                  <c:v>8.9</c:v>
                </c:pt>
                <c:pt idx="90">
                  <c:v>9</c:v>
                </c:pt>
                <c:pt idx="91">
                  <c:v>9.1</c:v>
                </c:pt>
                <c:pt idx="92">
                  <c:v>9.2000000000000011</c:v>
                </c:pt>
                <c:pt idx="93">
                  <c:v>9.3000000000000007</c:v>
                </c:pt>
                <c:pt idx="94">
                  <c:v>9.4</c:v>
                </c:pt>
                <c:pt idx="95">
                  <c:v>9.5</c:v>
                </c:pt>
                <c:pt idx="96">
                  <c:v>9.6000000000000014</c:v>
                </c:pt>
                <c:pt idx="97">
                  <c:v>9.7000000000000011</c:v>
                </c:pt>
                <c:pt idx="98">
                  <c:v>9.8000000000000007</c:v>
                </c:pt>
                <c:pt idx="99">
                  <c:v>9.9</c:v>
                </c:pt>
                <c:pt idx="100">
                  <c:v>10</c:v>
                </c:pt>
              </c:numCache>
            </c:numRef>
          </c:xVal>
          <c:yVal>
            <c:numRef>
              <c:f>Sheet1!$B$14:$B$114</c:f>
              <c:numCache>
                <c:formatCode>General</c:formatCode>
                <c:ptCount val="101"/>
                <c:pt idx="0">
                  <c:v>0.23498877398293613</c:v>
                </c:pt>
                <c:pt idx="1">
                  <c:v>0.24474180704709458</c:v>
                </c:pt>
                <c:pt idx="2">
                  <c:v>0.25449484011125306</c:v>
                </c:pt>
                <c:pt idx="3">
                  <c:v>0.26424787317541154</c:v>
                </c:pt>
                <c:pt idx="4">
                  <c:v>0.27400090623956996</c:v>
                </c:pt>
                <c:pt idx="5">
                  <c:v>0.28375393930372844</c:v>
                </c:pt>
                <c:pt idx="6">
                  <c:v>0.29350697236788692</c:v>
                </c:pt>
                <c:pt idx="7">
                  <c:v>0.30326000543204534</c:v>
                </c:pt>
                <c:pt idx="8">
                  <c:v>0.31301303849620382</c:v>
                </c:pt>
                <c:pt idx="9">
                  <c:v>0.3227660715603623</c:v>
                </c:pt>
                <c:pt idx="10">
                  <c:v>0.33251910462452072</c:v>
                </c:pt>
                <c:pt idx="11">
                  <c:v>0.3422721376886792</c:v>
                </c:pt>
                <c:pt idx="12">
                  <c:v>0.35202517075283768</c:v>
                </c:pt>
                <c:pt idx="13">
                  <c:v>0.3617782038169961</c:v>
                </c:pt>
                <c:pt idx="14">
                  <c:v>0.37153123688115458</c:v>
                </c:pt>
                <c:pt idx="15">
                  <c:v>0.38128426994531306</c:v>
                </c:pt>
                <c:pt idx="16">
                  <c:v>0.39103730300947148</c:v>
                </c:pt>
                <c:pt idx="17">
                  <c:v>0.40079033607362996</c:v>
                </c:pt>
                <c:pt idx="18">
                  <c:v>0.41054336913778844</c:v>
                </c:pt>
                <c:pt idx="19">
                  <c:v>0.42029640220194686</c:v>
                </c:pt>
                <c:pt idx="20">
                  <c:v>0.43004943526610528</c:v>
                </c:pt>
                <c:pt idx="21">
                  <c:v>0.43980246833026382</c:v>
                </c:pt>
                <c:pt idx="22">
                  <c:v>0.44955550139442224</c:v>
                </c:pt>
                <c:pt idx="23">
                  <c:v>0.45930853445858072</c:v>
                </c:pt>
                <c:pt idx="24">
                  <c:v>0.4690615675227392</c:v>
                </c:pt>
                <c:pt idx="25">
                  <c:v>0.47881460058689762</c:v>
                </c:pt>
                <c:pt idx="26">
                  <c:v>0.48856763365105604</c:v>
                </c:pt>
                <c:pt idx="27">
                  <c:v>0.49832066671521458</c:v>
                </c:pt>
                <c:pt idx="28">
                  <c:v>0.508073699779373</c:v>
                </c:pt>
                <c:pt idx="29">
                  <c:v>0.51782673284353142</c:v>
                </c:pt>
                <c:pt idx="30">
                  <c:v>0.52757976590768996</c:v>
                </c:pt>
                <c:pt idx="31">
                  <c:v>0.53733279897184838</c:v>
                </c:pt>
                <c:pt idx="32">
                  <c:v>0.5470858320360068</c:v>
                </c:pt>
                <c:pt idx="33">
                  <c:v>0.55683886510016534</c:v>
                </c:pt>
                <c:pt idx="34">
                  <c:v>0.56659189816432376</c:v>
                </c:pt>
                <c:pt idx="35">
                  <c:v>0.57634493122848218</c:v>
                </c:pt>
                <c:pt idx="36">
                  <c:v>0.58609796429264072</c:v>
                </c:pt>
                <c:pt idx="37">
                  <c:v>0.59585099735679914</c:v>
                </c:pt>
                <c:pt idx="38">
                  <c:v>0.60560403042095756</c:v>
                </c:pt>
                <c:pt idx="39">
                  <c:v>0.6153570634851161</c:v>
                </c:pt>
                <c:pt idx="40">
                  <c:v>0.62511009654927452</c:v>
                </c:pt>
                <c:pt idx="41">
                  <c:v>0.63486312961343305</c:v>
                </c:pt>
                <c:pt idx="42">
                  <c:v>0.64461616267759148</c:v>
                </c:pt>
                <c:pt idx="43">
                  <c:v>0.6543691957417499</c:v>
                </c:pt>
                <c:pt idx="44">
                  <c:v>0.66412222880590832</c:v>
                </c:pt>
                <c:pt idx="45">
                  <c:v>0.67387526187006674</c:v>
                </c:pt>
                <c:pt idx="46">
                  <c:v>0.68362829493422528</c:v>
                </c:pt>
                <c:pt idx="47">
                  <c:v>0.6933813279983837</c:v>
                </c:pt>
                <c:pt idx="48">
                  <c:v>0.70313436106254223</c:v>
                </c:pt>
                <c:pt idx="49">
                  <c:v>0.71288739412670066</c:v>
                </c:pt>
                <c:pt idx="50">
                  <c:v>0.72264042719085908</c:v>
                </c:pt>
                <c:pt idx="51">
                  <c:v>0.73239346025501761</c:v>
                </c:pt>
                <c:pt idx="52">
                  <c:v>0.74214649331917604</c:v>
                </c:pt>
                <c:pt idx="53">
                  <c:v>0.75189952638333457</c:v>
                </c:pt>
                <c:pt idx="54">
                  <c:v>0.76165255944749299</c:v>
                </c:pt>
                <c:pt idx="55">
                  <c:v>0.77140559251165142</c:v>
                </c:pt>
                <c:pt idx="56">
                  <c:v>0.78115862557580995</c:v>
                </c:pt>
                <c:pt idx="57">
                  <c:v>0.79091165863996837</c:v>
                </c:pt>
                <c:pt idx="58">
                  <c:v>0.8006646917041268</c:v>
                </c:pt>
                <c:pt idx="59">
                  <c:v>0.81041772476828522</c:v>
                </c:pt>
                <c:pt idx="60">
                  <c:v>0.82017075783244375</c:v>
                </c:pt>
                <c:pt idx="61">
                  <c:v>0.82992379089660218</c:v>
                </c:pt>
                <c:pt idx="62">
                  <c:v>0.8396768239607606</c:v>
                </c:pt>
                <c:pt idx="63">
                  <c:v>0.84942985702491913</c:v>
                </c:pt>
                <c:pt idx="64">
                  <c:v>0.85918289008907756</c:v>
                </c:pt>
                <c:pt idx="65">
                  <c:v>0.86893592315323598</c:v>
                </c:pt>
                <c:pt idx="66">
                  <c:v>0.87868895621739451</c:v>
                </c:pt>
                <c:pt idx="67">
                  <c:v>0.88844198928155294</c:v>
                </c:pt>
                <c:pt idx="68">
                  <c:v>0.89819502234571147</c:v>
                </c:pt>
                <c:pt idx="69">
                  <c:v>0.90794805540986989</c:v>
                </c:pt>
                <c:pt idx="70">
                  <c:v>0.91770108847402831</c:v>
                </c:pt>
                <c:pt idx="71">
                  <c:v>0.92745412153818685</c:v>
                </c:pt>
                <c:pt idx="72">
                  <c:v>0.93720715460234527</c:v>
                </c:pt>
                <c:pt idx="73">
                  <c:v>0.94696018766650369</c:v>
                </c:pt>
                <c:pt idx="74">
                  <c:v>0.95671322073066212</c:v>
                </c:pt>
                <c:pt idx="75">
                  <c:v>0.96646625379482054</c:v>
                </c:pt>
                <c:pt idx="76">
                  <c:v>0.97621928685897907</c:v>
                </c:pt>
                <c:pt idx="77">
                  <c:v>0.9859723199231375</c:v>
                </c:pt>
                <c:pt idx="78">
                  <c:v>0.99572535298729603</c:v>
                </c:pt>
                <c:pt idx="79">
                  <c:v>1.0054783860514545</c:v>
                </c:pt>
                <c:pt idx="80">
                  <c:v>1.0152314191156129</c:v>
                </c:pt>
                <c:pt idx="81">
                  <c:v>1.0249844521797713</c:v>
                </c:pt>
                <c:pt idx="82">
                  <c:v>1.0347374852439299</c:v>
                </c:pt>
                <c:pt idx="83">
                  <c:v>1.0444905183080884</c:v>
                </c:pt>
                <c:pt idx="84">
                  <c:v>1.0542435513722468</c:v>
                </c:pt>
                <c:pt idx="85">
                  <c:v>1.0639965844364052</c:v>
                </c:pt>
                <c:pt idx="86">
                  <c:v>1.0737496175005636</c:v>
                </c:pt>
                <c:pt idx="87">
                  <c:v>1.0835026505647221</c:v>
                </c:pt>
                <c:pt idx="88">
                  <c:v>1.0932556836288805</c:v>
                </c:pt>
                <c:pt idx="89">
                  <c:v>1.1030087166930389</c:v>
                </c:pt>
                <c:pt idx="90">
                  <c:v>1.1127617497571973</c:v>
                </c:pt>
                <c:pt idx="91">
                  <c:v>1.1225147828213557</c:v>
                </c:pt>
                <c:pt idx="92">
                  <c:v>1.1322678158855144</c:v>
                </c:pt>
                <c:pt idx="93">
                  <c:v>1.1420208489496728</c:v>
                </c:pt>
                <c:pt idx="94">
                  <c:v>1.1517738820138312</c:v>
                </c:pt>
                <c:pt idx="95">
                  <c:v>1.1615269150779897</c:v>
                </c:pt>
                <c:pt idx="96">
                  <c:v>1.1712799481421483</c:v>
                </c:pt>
                <c:pt idx="97">
                  <c:v>1.1810329812063067</c:v>
                </c:pt>
                <c:pt idx="98">
                  <c:v>1.1907860142704652</c:v>
                </c:pt>
                <c:pt idx="99">
                  <c:v>1.2005390473346236</c:v>
                </c:pt>
                <c:pt idx="100">
                  <c:v>1.210292080398782</c:v>
                </c:pt>
              </c:numCache>
            </c:numRef>
          </c:yVal>
          <c:smooth val="0"/>
          <c:extLst>
            <c:ext xmlns:c16="http://schemas.microsoft.com/office/drawing/2014/chart" uri="{C3380CC4-5D6E-409C-BE32-E72D297353CC}">
              <c16:uniqueId val="{00000001-BF81-4A94-9D9E-5BAAFAC02A73}"/>
            </c:ext>
          </c:extLst>
        </c:ser>
        <c:ser>
          <c:idx val="2"/>
          <c:order val="2"/>
          <c:tx>
            <c:strRef>
              <c:f>Sheet1!$B$116</c:f>
              <c:strCache>
                <c:ptCount val="1"/>
                <c:pt idx="0">
                  <c:v>Logistic model</c:v>
                </c:pt>
              </c:strCache>
            </c:strRef>
          </c:tx>
          <c:spPr>
            <a:ln w="34925">
              <a:solidFill>
                <a:srgbClr val="1F394D"/>
              </a:solidFill>
            </a:ln>
          </c:spPr>
          <c:marker>
            <c:symbol val="none"/>
          </c:marker>
          <c:xVal>
            <c:numRef>
              <c:f>Sheet1!$A$117:$A$217</c:f>
              <c:numCache>
                <c:formatCode>General</c:formatCode>
                <c:ptCount val="101"/>
                <c:pt idx="0">
                  <c:v>0</c:v>
                </c:pt>
                <c:pt idx="1">
                  <c:v>0.1</c:v>
                </c:pt>
                <c:pt idx="2">
                  <c:v>0.2</c:v>
                </c:pt>
                <c:pt idx="3">
                  <c:v>0.30000000000000004</c:v>
                </c:pt>
                <c:pt idx="4">
                  <c:v>0.4</c:v>
                </c:pt>
                <c:pt idx="5">
                  <c:v>0.5</c:v>
                </c:pt>
                <c:pt idx="6">
                  <c:v>0.60000000000000009</c:v>
                </c:pt>
                <c:pt idx="7">
                  <c:v>0.70000000000000007</c:v>
                </c:pt>
                <c:pt idx="8">
                  <c:v>0.8</c:v>
                </c:pt>
                <c:pt idx="9">
                  <c:v>0.9</c:v>
                </c:pt>
                <c:pt idx="10">
                  <c:v>1</c:v>
                </c:pt>
                <c:pt idx="11">
                  <c:v>1.1000000000000001</c:v>
                </c:pt>
                <c:pt idx="12">
                  <c:v>1.2000000000000002</c:v>
                </c:pt>
                <c:pt idx="13">
                  <c:v>1.3</c:v>
                </c:pt>
                <c:pt idx="14">
                  <c:v>1.4000000000000001</c:v>
                </c:pt>
                <c:pt idx="15">
                  <c:v>1.5</c:v>
                </c:pt>
                <c:pt idx="16">
                  <c:v>1.6</c:v>
                </c:pt>
                <c:pt idx="17">
                  <c:v>1.7000000000000002</c:v>
                </c:pt>
                <c:pt idx="18">
                  <c:v>1.8</c:v>
                </c:pt>
                <c:pt idx="19">
                  <c:v>1.9000000000000001</c:v>
                </c:pt>
                <c:pt idx="20">
                  <c:v>2</c:v>
                </c:pt>
                <c:pt idx="21">
                  <c:v>2.1</c:v>
                </c:pt>
                <c:pt idx="22">
                  <c:v>2.2000000000000002</c:v>
                </c:pt>
                <c:pt idx="23">
                  <c:v>2.3000000000000003</c:v>
                </c:pt>
                <c:pt idx="24">
                  <c:v>2.4000000000000004</c:v>
                </c:pt>
                <c:pt idx="25">
                  <c:v>2.5</c:v>
                </c:pt>
                <c:pt idx="26">
                  <c:v>2.6</c:v>
                </c:pt>
                <c:pt idx="27">
                  <c:v>2.7</c:v>
                </c:pt>
                <c:pt idx="28">
                  <c:v>2.8000000000000003</c:v>
                </c:pt>
                <c:pt idx="29">
                  <c:v>2.9000000000000004</c:v>
                </c:pt>
                <c:pt idx="30">
                  <c:v>3</c:v>
                </c:pt>
                <c:pt idx="31">
                  <c:v>3.1</c:v>
                </c:pt>
                <c:pt idx="32">
                  <c:v>3.2</c:v>
                </c:pt>
                <c:pt idx="33">
                  <c:v>3.3000000000000003</c:v>
                </c:pt>
                <c:pt idx="34">
                  <c:v>3.4000000000000004</c:v>
                </c:pt>
                <c:pt idx="35">
                  <c:v>3.5</c:v>
                </c:pt>
                <c:pt idx="36">
                  <c:v>3.6</c:v>
                </c:pt>
                <c:pt idx="37">
                  <c:v>3.7</c:v>
                </c:pt>
                <c:pt idx="38">
                  <c:v>3.8000000000000003</c:v>
                </c:pt>
                <c:pt idx="39">
                  <c:v>3.9000000000000004</c:v>
                </c:pt>
                <c:pt idx="40">
                  <c:v>4</c:v>
                </c:pt>
                <c:pt idx="41">
                  <c:v>4.1000000000000005</c:v>
                </c:pt>
                <c:pt idx="42">
                  <c:v>4.2</c:v>
                </c:pt>
                <c:pt idx="43">
                  <c:v>4.3</c:v>
                </c:pt>
                <c:pt idx="44">
                  <c:v>4.4000000000000004</c:v>
                </c:pt>
                <c:pt idx="45">
                  <c:v>4.5</c:v>
                </c:pt>
                <c:pt idx="46">
                  <c:v>4.6000000000000005</c:v>
                </c:pt>
                <c:pt idx="47">
                  <c:v>4.7</c:v>
                </c:pt>
                <c:pt idx="48">
                  <c:v>4.8000000000000007</c:v>
                </c:pt>
                <c:pt idx="49">
                  <c:v>4.9000000000000004</c:v>
                </c:pt>
                <c:pt idx="50">
                  <c:v>5</c:v>
                </c:pt>
                <c:pt idx="51">
                  <c:v>5.1000000000000005</c:v>
                </c:pt>
                <c:pt idx="52">
                  <c:v>5.2</c:v>
                </c:pt>
                <c:pt idx="53">
                  <c:v>5.3000000000000007</c:v>
                </c:pt>
                <c:pt idx="54">
                  <c:v>5.4</c:v>
                </c:pt>
                <c:pt idx="55">
                  <c:v>5.5</c:v>
                </c:pt>
                <c:pt idx="56">
                  <c:v>5.6000000000000005</c:v>
                </c:pt>
                <c:pt idx="57">
                  <c:v>5.7</c:v>
                </c:pt>
                <c:pt idx="58">
                  <c:v>5.8000000000000007</c:v>
                </c:pt>
                <c:pt idx="59">
                  <c:v>5.9</c:v>
                </c:pt>
                <c:pt idx="60">
                  <c:v>6</c:v>
                </c:pt>
                <c:pt idx="61">
                  <c:v>6.1000000000000005</c:v>
                </c:pt>
                <c:pt idx="62">
                  <c:v>6.2</c:v>
                </c:pt>
                <c:pt idx="63">
                  <c:v>6.3000000000000007</c:v>
                </c:pt>
                <c:pt idx="64">
                  <c:v>6.4</c:v>
                </c:pt>
                <c:pt idx="65">
                  <c:v>6.5</c:v>
                </c:pt>
                <c:pt idx="66">
                  <c:v>6.6000000000000005</c:v>
                </c:pt>
                <c:pt idx="67">
                  <c:v>6.7</c:v>
                </c:pt>
                <c:pt idx="68">
                  <c:v>6.8000000000000007</c:v>
                </c:pt>
                <c:pt idx="69">
                  <c:v>6.9</c:v>
                </c:pt>
                <c:pt idx="70">
                  <c:v>7</c:v>
                </c:pt>
                <c:pt idx="71">
                  <c:v>7.1000000000000005</c:v>
                </c:pt>
                <c:pt idx="72">
                  <c:v>7.2</c:v>
                </c:pt>
                <c:pt idx="73">
                  <c:v>7.3000000000000007</c:v>
                </c:pt>
                <c:pt idx="74">
                  <c:v>7.4</c:v>
                </c:pt>
                <c:pt idx="75">
                  <c:v>7.5</c:v>
                </c:pt>
                <c:pt idx="76">
                  <c:v>7.6000000000000005</c:v>
                </c:pt>
                <c:pt idx="77">
                  <c:v>7.7</c:v>
                </c:pt>
                <c:pt idx="78">
                  <c:v>7.8000000000000007</c:v>
                </c:pt>
                <c:pt idx="79">
                  <c:v>7.9</c:v>
                </c:pt>
                <c:pt idx="80">
                  <c:v>8</c:v>
                </c:pt>
                <c:pt idx="81">
                  <c:v>8.1</c:v>
                </c:pt>
                <c:pt idx="82">
                  <c:v>8.2000000000000011</c:v>
                </c:pt>
                <c:pt idx="83">
                  <c:v>8.3000000000000007</c:v>
                </c:pt>
                <c:pt idx="84">
                  <c:v>8.4</c:v>
                </c:pt>
                <c:pt idx="85">
                  <c:v>8.5</c:v>
                </c:pt>
                <c:pt idx="86">
                  <c:v>8.6</c:v>
                </c:pt>
                <c:pt idx="87">
                  <c:v>8.7000000000000011</c:v>
                </c:pt>
                <c:pt idx="88">
                  <c:v>8.8000000000000007</c:v>
                </c:pt>
                <c:pt idx="89">
                  <c:v>8.9</c:v>
                </c:pt>
                <c:pt idx="90">
                  <c:v>9</c:v>
                </c:pt>
                <c:pt idx="91">
                  <c:v>9.1</c:v>
                </c:pt>
                <c:pt idx="92">
                  <c:v>9.2000000000000011</c:v>
                </c:pt>
                <c:pt idx="93">
                  <c:v>9.3000000000000007</c:v>
                </c:pt>
                <c:pt idx="94">
                  <c:v>9.4</c:v>
                </c:pt>
                <c:pt idx="95">
                  <c:v>9.5</c:v>
                </c:pt>
                <c:pt idx="96">
                  <c:v>9.6000000000000014</c:v>
                </c:pt>
                <c:pt idx="97">
                  <c:v>9.7000000000000011</c:v>
                </c:pt>
                <c:pt idx="98">
                  <c:v>9.8000000000000007</c:v>
                </c:pt>
                <c:pt idx="99">
                  <c:v>9.9</c:v>
                </c:pt>
                <c:pt idx="100">
                  <c:v>10</c:v>
                </c:pt>
              </c:numCache>
            </c:numRef>
          </c:xVal>
          <c:yVal>
            <c:numRef>
              <c:f>Sheet1!$B$117:$B$217</c:f>
              <c:numCache>
                <c:formatCode>General</c:formatCode>
                <c:ptCount val="101"/>
                <c:pt idx="0">
                  <c:v>0.10726771971049839</c:v>
                </c:pt>
                <c:pt idx="1">
                  <c:v>0.11512373959603805</c:v>
                </c:pt>
                <c:pt idx="2">
                  <c:v>0.12347553625114352</c:v>
                </c:pt>
                <c:pt idx="3">
                  <c:v>0.13234260701127806</c:v>
                </c:pt>
                <c:pt idx="4">
                  <c:v>0.14174347129343295</c:v>
                </c:pt>
                <c:pt idx="5">
                  <c:v>0.15169536855990678</c:v>
                </c:pt>
                <c:pt idx="6">
                  <c:v>0.16221393215368968</c:v>
                </c:pt>
                <c:pt idx="7">
                  <c:v>0.17331284202684674</c:v>
                </c:pt>
                <c:pt idx="8">
                  <c:v>0.18500346057748707</c:v>
                </c:pt>
                <c:pt idx="9">
                  <c:v>0.19729445709727511</c:v>
                </c:pt>
                <c:pt idx="10">
                  <c:v>0.21019142766871526</c:v>
                </c:pt>
                <c:pt idx="11">
                  <c:v>0.22369651868458776</c:v>
                </c:pt>
                <c:pt idx="12">
                  <c:v>0.23780806342244037</c:v>
                </c:pt>
                <c:pt idx="13">
                  <c:v>0.25252024221449548</c:v>
                </c:pt>
                <c:pt idx="14">
                  <c:v>0.26782277761839063</c:v>
                </c:pt>
                <c:pt idx="15">
                  <c:v>0.28370067652336167</c:v>
                </c:pt>
                <c:pt idx="16">
                  <c:v>0.30013403122856525</c:v>
                </c:pt>
                <c:pt idx="17">
                  <c:v>0.31709789112399878</c:v>
                </c:pt>
                <c:pt idx="18">
                  <c:v>0.33456221562744193</c:v>
                </c:pt>
                <c:pt idx="19">
                  <c:v>0.35249191744813152</c:v>
                </c:pt>
                <c:pt idx="20">
                  <c:v>0.37084700306033552</c:v>
                </c:pt>
                <c:pt idx="21">
                  <c:v>0.38958281452034388</c:v>
                </c:pt>
                <c:pt idx="22">
                  <c:v>0.40865037353648404</c:v>
                </c:pt>
                <c:pt idx="23">
                  <c:v>0.42799682513580617</c:v>
                </c:pt>
                <c:pt idx="24">
                  <c:v>0.44756597453438857</c:v>
                </c:pt>
                <c:pt idx="25">
                  <c:v>0.46729890711135708</c:v>
                </c:pt>
                <c:pt idx="26">
                  <c:v>0.48713467792551957</c:v>
                </c:pt>
                <c:pt idx="27">
                  <c:v>0.50701105421218229</c:v>
                </c:pt>
                <c:pt idx="28">
                  <c:v>0.52686529195054776</c:v>
                </c:pt>
                <c:pt idx="29">
                  <c:v>0.54663492605607711</c:v>
                </c:pt>
                <c:pt idx="30">
                  <c:v>0.56625855313224427</c:v>
                </c:pt>
                <c:pt idx="31">
                  <c:v>0.58567658605507</c:v>
                </c:pt>
                <c:pt idx="32">
                  <c:v>0.60483196093822367</c:v>
                </c:pt>
                <c:pt idx="33">
                  <c:v>0.62367077914890323</c:v>
                </c:pt>
                <c:pt idx="34">
                  <c:v>0.64214286987215519</c:v>
                </c:pt>
                <c:pt idx="35">
                  <c:v>0.66020226206872124</c:v>
                </c:pt>
                <c:pt idx="36">
                  <c:v>0.67780755832867967</c:v>
                </c:pt>
                <c:pt idx="37">
                  <c:v>0.69492220687287543</c:v>
                </c:pt>
                <c:pt idx="38">
                  <c:v>0.7115146715897378</c:v>
                </c:pt>
                <c:pt idx="39">
                  <c:v>0.72755850333539129</c:v>
                </c:pt>
                <c:pt idx="40">
                  <c:v>0.74303231862551</c:v>
                </c:pt>
                <c:pt idx="41">
                  <c:v>0.75791969420693694</c:v>
                </c:pt>
                <c:pt idx="42">
                  <c:v>0.77220898775985825</c:v>
                </c:pt>
                <c:pt idx="43">
                  <c:v>0.78589309613463421</c:v>
                </c:pt>
                <c:pt idx="44">
                  <c:v>0.79896916309635346</c:v>
                </c:pt>
                <c:pt idx="45">
                  <c:v>0.81143824859008729</c:v>
                </c:pt>
                <c:pt idx="46">
                  <c:v>0.82330497112725731</c:v>
                </c:pt>
                <c:pt idx="47">
                  <c:v>0.83457713411767454</c:v>
                </c:pt>
                <c:pt idx="48">
                  <c:v>0.84526534592619273</c:v>
                </c:pt>
                <c:pt idx="49">
                  <c:v>0.8553826422086559</c:v>
                </c:pt>
                <c:pt idx="50">
                  <c:v>0.86494411776237123</c:v>
                </c:pt>
                <c:pt idx="51">
                  <c:v>0.87396657378394882</c:v>
                </c:pt>
                <c:pt idx="52">
                  <c:v>0.88246818512107539</c:v>
                </c:pt>
                <c:pt idx="53">
                  <c:v>0.89046819087994999</c:v>
                </c:pt>
                <c:pt idx="54">
                  <c:v>0.89798661063866037</c:v>
                </c:pt>
                <c:pt idx="55">
                  <c:v>0.9050439875386469</c:v>
                </c:pt>
                <c:pt idx="56">
                  <c:v>0.91166115869112341</c:v>
                </c:pt>
                <c:pt idx="57">
                  <c:v>0.91785905264399692</c:v>
                </c:pt>
                <c:pt idx="58">
                  <c:v>0.92365851310211433</c:v>
                </c:pt>
                <c:pt idx="59">
                  <c:v>0.92908014766953306</c:v>
                </c:pt>
                <c:pt idx="60">
                  <c:v>0.93414420007399457</c:v>
                </c:pt>
                <c:pt idx="61">
                  <c:v>0.93887044412623388</c:v>
                </c:pt>
                <c:pt idx="62">
                  <c:v>0.94327809754502379</c:v>
                </c:pt>
                <c:pt idx="63">
                  <c:v>0.94738575372807321</c:v>
                </c:pt>
                <c:pt idx="64">
                  <c:v>0.95121132955507459</c:v>
                </c:pt>
                <c:pt idx="65">
                  <c:v>0.95477202735962863</c:v>
                </c:pt>
                <c:pt idx="66">
                  <c:v>0.95808430929021537</c:v>
                </c:pt>
                <c:pt idx="67">
                  <c:v>0.961163882387158</c:v>
                </c:pt>
                <c:pt idx="68">
                  <c:v>0.96402569282452666</c:v>
                </c:pt>
                <c:pt idx="69">
                  <c:v>0.96668392789645763</c:v>
                </c:pt>
                <c:pt idx="70">
                  <c:v>0.96915202446115667</c:v>
                </c:pt>
                <c:pt idx="71">
                  <c:v>0.97144268268870171</c:v>
                </c:pt>
                <c:pt idx="72">
                  <c:v>0.9735678840876294</c:v>
                </c:pt>
                <c:pt idx="73">
                  <c:v>0.97553891290790362</c:v>
                </c:pt>
                <c:pt idx="74">
                  <c:v>0.97736638013271415</c:v>
                </c:pt>
                <c:pt idx="75">
                  <c:v>0.97906024937773461</c:v>
                </c:pt>
                <c:pt idx="76">
                  <c:v>0.98062986411349351</c:v>
                </c:pt>
                <c:pt idx="77">
                  <c:v>0.98208397571427619</c:v>
                </c:pt>
                <c:pt idx="78">
                  <c:v>0.98343077191565276</c:v>
                </c:pt>
                <c:pt idx="79">
                  <c:v>0.9846779053326592</c:v>
                </c:pt>
                <c:pt idx="80">
                  <c:v>0.98583252175234015</c:v>
                </c:pt>
                <c:pt idx="81">
                  <c:v>0.98690128796835808</c:v>
                </c:pt>
                <c:pt idx="82">
                  <c:v>0.98789041897232466</c:v>
                </c:pt>
                <c:pt idx="83">
                  <c:v>0.98880570435702042</c:v>
                </c:pt>
                <c:pt idx="84">
                  <c:v>0.98965253382140739</c:v>
                </c:pt>
                <c:pt idx="85">
                  <c:v>0.99043592169689043</c:v>
                </c:pt>
                <c:pt idx="86">
                  <c:v>0.99116053043924801</c:v>
                </c:pt>
                <c:pt idx="87">
                  <c:v>0.99183069305156391</c:v>
                </c:pt>
                <c:pt idx="88">
                  <c:v>0.99245043442085834</c:v>
                </c:pt>
                <c:pt idx="89">
                  <c:v>0.99302349156539915</c:v>
                </c:pt>
                <c:pt idx="90">
                  <c:v>0.99355333280127522</c:v>
                </c:pt>
                <c:pt idx="91">
                  <c:v>0.99404317584612156</c:v>
                </c:pt>
                <c:pt idx="92">
                  <c:v>0.99449600488522627</c:v>
                </c:pt>
                <c:pt idx="93">
                  <c:v>0.99491458663090448</c:v>
                </c:pt>
                <c:pt idx="94">
                  <c:v>0.99530148541027863</c:v>
                </c:pt>
                <c:pt idx="95">
                  <c:v>0.99565907731965242</c:v>
                </c:pt>
                <c:pt idx="96">
                  <c:v>0.99598956348573076</c:v>
                </c:pt>
                <c:pt idx="97">
                  <c:v>0.99629498247517689</c:v>
                </c:pt>
                <c:pt idx="98">
                  <c:v>0.99657722189455933</c:v>
                </c:pt>
                <c:pt idx="99">
                  <c:v>0.99683802922275255</c:v>
                </c:pt>
                <c:pt idx="100">
                  <c:v>0.99707902191743003</c:v>
                </c:pt>
              </c:numCache>
            </c:numRef>
          </c:yVal>
          <c:smooth val="0"/>
          <c:extLst>
            <c:ext xmlns:c16="http://schemas.microsoft.com/office/drawing/2014/chart" uri="{C3380CC4-5D6E-409C-BE32-E72D297353CC}">
              <c16:uniqueId val="{00000002-BF81-4A94-9D9E-5BAAFAC02A73}"/>
            </c:ext>
          </c:extLst>
        </c:ser>
        <c:ser>
          <c:idx val="3"/>
          <c:order val="3"/>
          <c:tx>
            <c:strRef>
              <c:f>Sheet1!$B$219</c:f>
              <c:strCache>
                <c:ptCount val="1"/>
                <c:pt idx="0">
                  <c:v>100%</c:v>
                </c:pt>
              </c:strCache>
            </c:strRef>
          </c:tx>
          <c:spPr>
            <a:ln w="15875">
              <a:solidFill>
                <a:srgbClr val="7A5C00"/>
              </a:solidFill>
              <a:prstDash val="dash"/>
            </a:ln>
          </c:spPr>
          <c:marker>
            <c:symbol val="none"/>
          </c:marker>
          <c:xVal>
            <c:numRef>
              <c:f>Sheet1!$A$220:$A$221</c:f>
              <c:numCache>
                <c:formatCode>General</c:formatCode>
                <c:ptCount val="2"/>
                <c:pt idx="0">
                  <c:v>0</c:v>
                </c:pt>
                <c:pt idx="1">
                  <c:v>10</c:v>
                </c:pt>
              </c:numCache>
            </c:numRef>
          </c:xVal>
          <c:yVal>
            <c:numRef>
              <c:f>Sheet1!$B$220:$B$221</c:f>
              <c:numCache>
                <c:formatCode>General</c:formatCode>
                <c:ptCount val="2"/>
                <c:pt idx="0">
                  <c:v>1</c:v>
                </c:pt>
                <c:pt idx="1">
                  <c:v>1</c:v>
                </c:pt>
              </c:numCache>
            </c:numRef>
          </c:yVal>
          <c:smooth val="0"/>
          <c:extLst>
            <c:ext xmlns:c16="http://schemas.microsoft.com/office/drawing/2014/chart" uri="{C3380CC4-5D6E-409C-BE32-E72D297353CC}">
              <c16:uniqueId val="{00000003-BF81-4A94-9D9E-5BAAFAC02A73}"/>
            </c:ext>
          </c:extLst>
        </c:ser>
        <c:ser>
          <c:idx val="4"/>
          <c:order val="4"/>
          <c:tx>
            <c:strRef>
              <c:f>Sheet1!$B$223</c:f>
              <c:strCache>
                <c:ptCount val="1"/>
                <c:pt idx="0">
                  <c:v>Linear intercept</c:v>
                </c:pt>
              </c:strCache>
            </c:strRef>
          </c:tx>
          <c:spPr>
            <a:ln>
              <a:noFill/>
            </a:ln>
          </c:spPr>
          <c:marker>
            <c:symbol val="circle"/>
            <c:size val="9"/>
            <c:spPr>
              <a:solidFill>
                <a:srgbClr val="B88C00"/>
              </a:solidFill>
              <a:ln w="12700">
                <a:solidFill>
                  <a:srgbClr val="FFFFFF"/>
                </a:solidFill>
              </a:ln>
            </c:spPr>
          </c:marker>
          <c:xVal>
            <c:numRef>
              <c:f>Sheet1!$A$224:$A$224</c:f>
              <c:numCache>
                <c:formatCode>General</c:formatCode>
                <c:ptCount val="1"/>
                <c:pt idx="0">
                  <c:v>0</c:v>
                </c:pt>
              </c:numCache>
            </c:numRef>
          </c:xVal>
          <c:yVal>
            <c:numRef>
              <c:f>Sheet1!$B$224:$B$224</c:f>
              <c:numCache>
                <c:formatCode>General</c:formatCode>
                <c:ptCount val="1"/>
                <c:pt idx="0">
                  <c:v>0.23498877398293613</c:v>
                </c:pt>
              </c:numCache>
            </c:numRef>
          </c:yVal>
          <c:smooth val="0"/>
          <c:extLst>
            <c:ext xmlns:c16="http://schemas.microsoft.com/office/drawing/2014/chart" uri="{C3380CC4-5D6E-409C-BE32-E72D297353CC}">
              <c16:uniqueId val="{00000004-BF81-4A94-9D9E-5BAAFAC02A73}"/>
            </c:ext>
          </c:extLst>
        </c:ser>
        <c:ser>
          <c:idx val="5"/>
          <c:order val="5"/>
          <c:tx>
            <c:strRef>
              <c:f>Sheet1!$B$226</c:f>
              <c:strCache>
                <c:ptCount val="1"/>
                <c:pt idx="0">
                  <c:v>Logistic intercept</c:v>
                </c:pt>
              </c:strCache>
            </c:strRef>
          </c:tx>
          <c:spPr>
            <a:ln>
              <a:noFill/>
            </a:ln>
          </c:spPr>
          <c:marker>
            <c:symbol val="circle"/>
            <c:size val="9"/>
            <c:spPr>
              <a:solidFill>
                <a:srgbClr val="1F394D"/>
              </a:solidFill>
              <a:ln w="12700">
                <a:solidFill>
                  <a:srgbClr val="FFFFFF"/>
                </a:solidFill>
              </a:ln>
            </c:spPr>
          </c:marker>
          <c:xVal>
            <c:numRef>
              <c:f>Sheet1!$A$227:$A$227</c:f>
              <c:numCache>
                <c:formatCode>General</c:formatCode>
                <c:ptCount val="1"/>
                <c:pt idx="0">
                  <c:v>0</c:v>
                </c:pt>
              </c:numCache>
            </c:numRef>
          </c:xVal>
          <c:yVal>
            <c:numRef>
              <c:f>Sheet1!$B$227:$B$227</c:f>
              <c:numCache>
                <c:formatCode>General</c:formatCode>
                <c:ptCount val="1"/>
                <c:pt idx="0">
                  <c:v>0.10726771971049839</c:v>
                </c:pt>
              </c:numCache>
            </c:numRef>
          </c:yVal>
          <c:smooth val="0"/>
          <c:extLst>
            <c:ext xmlns:c16="http://schemas.microsoft.com/office/drawing/2014/chart" uri="{C3380CC4-5D6E-409C-BE32-E72D297353CC}">
              <c16:uniqueId val="{00000005-BF81-4A94-9D9E-5BAAFAC02A73}"/>
            </c:ext>
          </c:extLst>
        </c:ser>
        <c:dLbls>
          <c:showLegendKey val="0"/>
          <c:showVal val="0"/>
          <c:showCatName val="0"/>
          <c:showSerName val="0"/>
          <c:showPercent val="0"/>
          <c:showBubbleSize val="0"/>
        </c:dLbls>
        <c:axId val="-2128940872"/>
        <c:axId val="-2129643912"/>
      </c:scatterChart>
      <c:valAx>
        <c:axId val="-2128940872"/>
        <c:scaling>
          <c:orientation val="minMax"/>
          <c:max val="10"/>
          <c:min val="0"/>
        </c:scaling>
        <c:delete val="0"/>
        <c:axPos val="b"/>
        <c:title>
          <c:tx>
            <c:rich>
              <a:bodyPr/>
              <a:lstStyle/>
              <a:p>
                <a:r>
                  <a:rPr lang="en-GB" sz="1200" b="0">
                    <a:solidFill>
                      <a:srgbClr val="55606B"/>
                    </a:solidFill>
                  </a:rPr>
                  <a:t>Household income (£10,000s)</a:t>
                </a:r>
              </a:p>
            </c:rich>
          </c:tx>
          <c:overlay val="0"/>
        </c:title>
        <c:numFmt formatCode="General" sourceLinked="1"/>
        <c:majorTickMark val="out"/>
        <c:minorTickMark val="none"/>
        <c:tickLblPos val="nextTo"/>
        <c:spPr>
          <a:ln>
            <a:solidFill>
              <a:srgbClr val="BBC4CC"/>
            </a:solidFill>
          </a:ln>
        </c:spPr>
        <c:txPr>
          <a:bodyPr/>
          <a:lstStyle/>
          <a:p>
            <a:pPr>
              <a:defRPr sz="1200">
                <a:solidFill>
                  <a:srgbClr val="55606B"/>
                </a:solidFill>
              </a:defRPr>
            </a:pPr>
            <a:endParaRPr lang="en-US"/>
          </a:p>
        </c:txPr>
        <c:crossAx val="-2129643912"/>
        <c:crosses val="min"/>
        <c:crossBetween val="midCat"/>
        <c:majorUnit val="1"/>
      </c:valAx>
      <c:valAx>
        <c:axId val="-2129643912"/>
        <c:scaling>
          <c:orientation val="minMax"/>
          <c:max val="1.25"/>
          <c:min val="0"/>
        </c:scaling>
        <c:delete val="0"/>
        <c:axPos val="l"/>
        <c:majorGridlines>
          <c:spPr>
            <a:ln w="9525">
              <a:solidFill>
                <a:srgbClr val="DDE3E8"/>
              </a:solidFill>
            </a:ln>
          </c:spPr>
        </c:majorGridlines>
        <c:title>
          <c:tx>
            <c:rich>
              <a:bodyPr/>
              <a:lstStyle/>
              <a:p>
                <a:r>
                  <a:rPr lang="en-GB" sz="1200" b="0">
                    <a:solidFill>
                      <a:srgbClr val="55606B"/>
                    </a:solidFill>
                  </a:rPr>
                  <a:t>Probability of owning a car</a:t>
                </a:r>
              </a:p>
            </c:rich>
          </c:tx>
          <c:overlay val="0"/>
        </c:title>
        <c:numFmt formatCode="0%" sourceLinked="0"/>
        <c:majorTickMark val="out"/>
        <c:minorTickMark val="none"/>
        <c:tickLblPos val="nextTo"/>
        <c:spPr>
          <a:ln>
            <a:solidFill>
              <a:srgbClr val="BBC4CC"/>
            </a:solidFill>
          </a:ln>
        </c:spPr>
        <c:txPr>
          <a:bodyPr/>
          <a:lstStyle/>
          <a:p>
            <a:pPr>
              <a:defRPr sz="1200">
                <a:solidFill>
                  <a:srgbClr val="55606B"/>
                </a:solidFill>
              </a:defRPr>
            </a:pPr>
            <a:endParaRPr lang="en-US"/>
          </a:p>
        </c:txPr>
        <c:crossAx val="-2128940872"/>
        <c:crosses val="autoZero"/>
        <c:crossBetween val="midCat"/>
        <c:majorUnit val="0.25"/>
      </c:valAx>
    </c:plotArea>
    <c:legend>
      <c:legendPos val="b"/>
      <c:legendEntry>
        <c:idx val="4"/>
        <c:delete val="1"/>
      </c:legendEntry>
      <c:legendEntry>
        <c:idx val="5"/>
        <c:delete val="1"/>
      </c:legendEntry>
      <c:overlay val="0"/>
      <c:txPr>
        <a:bodyPr/>
        <a:lstStyle/>
        <a:p>
          <a:pPr>
            <a:defRPr sz="1200">
              <a:solidFill>
                <a:srgbClr val="55606B"/>
              </a:solidFill>
            </a:defRPr>
          </a:pPr>
          <a:endParaRPr lang="en-US"/>
        </a:p>
      </c:txPr>
    </c:legend>
    <c:plotVisOnly val="1"/>
    <c:dispBlanksAs val="gap"/>
    <c:showDLblsOverMax val="0"/>
  </c:chart>
  <c:txPr>
    <a:bodyPr/>
    <a:lstStyle/>
    <a:p>
      <a:pPr>
        <a:defRPr sz="1200">
          <a:solidFill>
            <a:srgbClr val="55606B"/>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Log-odds 0</c:v>
                </c:pt>
              </c:strCache>
            </c:strRef>
          </c:tx>
          <c:spPr>
            <a:ln w="12700">
              <a:solidFill>
                <a:srgbClr val="9AA3AB"/>
              </a:solidFill>
              <a:prstDash val="dash"/>
            </a:ln>
          </c:spPr>
          <c:marker>
            <c:symbol val="none"/>
          </c:marker>
          <c:xVal>
            <c:numRef>
              <c:f>Sheet1!$A$2:$A$3</c:f>
              <c:numCache>
                <c:formatCode>General</c:formatCode>
                <c:ptCount val="2"/>
                <c:pt idx="0">
                  <c:v>0</c:v>
                </c:pt>
                <c:pt idx="1">
                  <c:v>10</c:v>
                </c:pt>
              </c:numCache>
            </c:numRef>
          </c:xVal>
          <c:yVal>
            <c:numRef>
              <c:f>Sheet1!$B$2:$B$3</c:f>
              <c:numCache>
                <c:formatCode>General</c:formatCode>
                <c:ptCount val="2"/>
                <c:pt idx="0">
                  <c:v>0</c:v>
                </c:pt>
                <c:pt idx="1">
                  <c:v>0</c:v>
                </c:pt>
              </c:numCache>
            </c:numRef>
          </c:yVal>
          <c:smooth val="0"/>
          <c:extLst>
            <c:ext xmlns:c16="http://schemas.microsoft.com/office/drawing/2014/chart" uri="{C3380CC4-5D6E-409C-BE32-E72D297353CC}">
              <c16:uniqueId val="{00000000-88A9-4CBD-A6DE-1FAF38BBEFD1}"/>
            </c:ext>
          </c:extLst>
        </c:ser>
        <c:ser>
          <c:idx val="1"/>
          <c:order val="1"/>
          <c:tx>
            <c:strRef>
              <c:f>Sheet1!$B$5</c:f>
              <c:strCache>
                <c:ptCount val="1"/>
                <c:pt idx="0">
                  <c:v>Model</c:v>
                </c:pt>
              </c:strCache>
            </c:strRef>
          </c:tx>
          <c:spPr>
            <a:ln w="38100">
              <a:solidFill>
                <a:srgbClr val="1F394D"/>
              </a:solidFill>
            </a:ln>
          </c:spPr>
          <c:marker>
            <c:symbol val="none"/>
          </c:marker>
          <c:xVal>
            <c:numRef>
              <c:f>Sheet1!$A$6:$A$7</c:f>
              <c:numCache>
                <c:formatCode>General</c:formatCode>
                <c:ptCount val="2"/>
                <c:pt idx="0">
                  <c:v>0</c:v>
                </c:pt>
                <c:pt idx="1">
                  <c:v>10</c:v>
                </c:pt>
              </c:numCache>
            </c:numRef>
          </c:xVal>
          <c:yVal>
            <c:numRef>
              <c:f>Sheet1!$B$6:$B$7</c:f>
              <c:numCache>
                <c:formatCode>General</c:formatCode>
                <c:ptCount val="2"/>
                <c:pt idx="0">
                  <c:v>-2.1189589749130833</c:v>
                </c:pt>
                <c:pt idx="1">
                  <c:v>5.8329115065395278</c:v>
                </c:pt>
              </c:numCache>
            </c:numRef>
          </c:yVal>
          <c:smooth val="0"/>
          <c:extLst>
            <c:ext xmlns:c16="http://schemas.microsoft.com/office/drawing/2014/chart" uri="{C3380CC4-5D6E-409C-BE32-E72D297353CC}">
              <c16:uniqueId val="{00000001-88A9-4CBD-A6DE-1FAF38BBEFD1}"/>
            </c:ext>
          </c:extLst>
        </c:ser>
        <c:ser>
          <c:idx val="2"/>
          <c:order val="2"/>
          <c:tx>
            <c:strRef>
              <c:f>Sheet1!$B$9</c:f>
              <c:strCache>
                <c:ptCount val="1"/>
                <c:pt idx="0">
                  <c:v>Run</c:v>
                </c:pt>
              </c:strCache>
            </c:strRef>
          </c:tx>
          <c:spPr>
            <a:ln w="15875">
              <a:solidFill>
                <a:srgbClr val="1F394D"/>
              </a:solidFill>
              <a:prstDash val="sysDash"/>
            </a:ln>
          </c:spPr>
          <c:marker>
            <c:symbol val="none"/>
          </c:marker>
          <c:xVal>
            <c:numRef>
              <c:f>Sheet1!$A$10:$A$11</c:f>
              <c:numCache>
                <c:formatCode>General</c:formatCode>
                <c:ptCount val="2"/>
                <c:pt idx="0">
                  <c:v>0</c:v>
                </c:pt>
                <c:pt idx="1">
                  <c:v>1</c:v>
                </c:pt>
              </c:numCache>
            </c:numRef>
          </c:xVal>
          <c:yVal>
            <c:numRef>
              <c:f>Sheet1!$B$10:$B$11</c:f>
              <c:numCache>
                <c:formatCode>General</c:formatCode>
                <c:ptCount val="2"/>
                <c:pt idx="0">
                  <c:v>-2.1189589749130833</c:v>
                </c:pt>
                <c:pt idx="1">
                  <c:v>-2.1189589749130833</c:v>
                </c:pt>
              </c:numCache>
            </c:numRef>
          </c:yVal>
          <c:smooth val="0"/>
          <c:extLst>
            <c:ext xmlns:c16="http://schemas.microsoft.com/office/drawing/2014/chart" uri="{C3380CC4-5D6E-409C-BE32-E72D297353CC}">
              <c16:uniqueId val="{00000002-88A9-4CBD-A6DE-1FAF38BBEFD1}"/>
            </c:ext>
          </c:extLst>
        </c:ser>
        <c:ser>
          <c:idx val="3"/>
          <c:order val="3"/>
          <c:tx>
            <c:strRef>
              <c:f>Sheet1!$B$13</c:f>
              <c:strCache>
                <c:ptCount val="1"/>
                <c:pt idx="0">
                  <c:v>Rise</c:v>
                </c:pt>
              </c:strCache>
            </c:strRef>
          </c:tx>
          <c:spPr>
            <a:ln w="15875">
              <a:solidFill>
                <a:srgbClr val="1F394D"/>
              </a:solidFill>
              <a:prstDash val="sysDash"/>
            </a:ln>
          </c:spPr>
          <c:marker>
            <c:symbol val="none"/>
          </c:marker>
          <c:dLbls>
            <c:dLbl>
              <c:idx val="1"/>
              <c:tx>
                <c:rich>
                  <a:bodyPr/>
                  <a:lstStyle/>
                  <a:p>
                    <a:r>
                      <a:rPr lang="en-US" sz="1200" b="1">
                        <a:solidFill>
                          <a:srgbClr val="1F394D"/>
                        </a:solidFill>
                      </a:rPr>
                      <a:t>+0.80 per +1 (slope)</a:t>
                    </a:r>
                  </a:p>
                </c:rich>
              </c:tx>
              <c:dLblPos val="r"/>
              <c:showLegendKey val="0"/>
              <c:showVal val="1"/>
              <c:showCatName val="0"/>
              <c:showSerName val="0"/>
              <c:showPercent val="0"/>
              <c:showBubbleSize val="0"/>
              <c:extLst>
                <c:ext xmlns:c15="http://schemas.microsoft.com/office/drawing/2012/chart" uri="{CE6537A1-D6FC-4f65-9D91-7224C49458BB}">
                  <c15:layout>
                    <c:manualLayout>
                      <c:w val="0.34849999999999998"/>
                      <c:h val="7.3400000000000007E-2"/>
                    </c:manualLayout>
                  </c15:layout>
                  <c15:showDataLabelsRange val="0"/>
                </c:ext>
                <c:ext xmlns:c16="http://schemas.microsoft.com/office/drawing/2014/chart" uri="{C3380CC4-5D6E-409C-BE32-E72D297353CC}">
                  <c16:uniqueId val="{00000003-88A9-4CBD-A6DE-1FAF38BBEFD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Sheet1!$A$14:$A$16</c:f>
              <c:numCache>
                <c:formatCode>General</c:formatCode>
                <c:ptCount val="3"/>
                <c:pt idx="0">
                  <c:v>1</c:v>
                </c:pt>
                <c:pt idx="1">
                  <c:v>1</c:v>
                </c:pt>
                <c:pt idx="2">
                  <c:v>1</c:v>
                </c:pt>
              </c:numCache>
            </c:numRef>
          </c:xVal>
          <c:yVal>
            <c:numRef>
              <c:f>Sheet1!$B$14:$B$16</c:f>
              <c:numCache>
                <c:formatCode>General</c:formatCode>
                <c:ptCount val="3"/>
                <c:pt idx="0">
                  <c:v>-2.1189589749130833</c:v>
                </c:pt>
                <c:pt idx="1">
                  <c:v>-1.8713654508404527</c:v>
                </c:pt>
                <c:pt idx="2">
                  <c:v>-1.3237719267678223</c:v>
                </c:pt>
              </c:numCache>
            </c:numRef>
          </c:yVal>
          <c:smooth val="0"/>
          <c:extLst>
            <c:ext xmlns:c16="http://schemas.microsoft.com/office/drawing/2014/chart" uri="{C3380CC4-5D6E-409C-BE32-E72D297353CC}">
              <c16:uniqueId val="{00000004-88A9-4CBD-A6DE-1FAF38BBEFD1}"/>
            </c:ext>
          </c:extLst>
        </c:ser>
        <c:ser>
          <c:idx val="4"/>
          <c:order val="4"/>
          <c:tx>
            <c:strRef>
              <c:f>Sheet1!$B$18</c:f>
              <c:strCache>
                <c:ptCount val="1"/>
                <c:pt idx="0">
                  <c:v>Intercept</c:v>
                </c:pt>
              </c:strCache>
            </c:strRef>
          </c:tx>
          <c:spPr>
            <a:ln>
              <a:noFill/>
            </a:ln>
          </c:spPr>
          <c:marker>
            <c:symbol val="circle"/>
            <c:size val="10"/>
            <c:spPr>
              <a:solidFill>
                <a:srgbClr val="1F394D"/>
              </a:solidFill>
              <a:ln w="12700">
                <a:solidFill>
                  <a:srgbClr val="FFFFFF"/>
                </a:solidFill>
              </a:ln>
            </c:spPr>
          </c:marker>
          <c:xVal>
            <c:numRef>
              <c:f>Sheet1!$A$19:$A$19</c:f>
              <c:numCache>
                <c:formatCode>General</c:formatCode>
                <c:ptCount val="1"/>
                <c:pt idx="0">
                  <c:v>0</c:v>
                </c:pt>
              </c:numCache>
            </c:numRef>
          </c:xVal>
          <c:yVal>
            <c:numRef>
              <c:f>Sheet1!$B$19:$B$19</c:f>
              <c:numCache>
                <c:formatCode>General</c:formatCode>
                <c:ptCount val="1"/>
                <c:pt idx="0">
                  <c:v>-2.1189589749130833</c:v>
                </c:pt>
              </c:numCache>
            </c:numRef>
          </c:yVal>
          <c:smooth val="0"/>
          <c:extLst>
            <c:ext xmlns:c16="http://schemas.microsoft.com/office/drawing/2014/chart" uri="{C3380CC4-5D6E-409C-BE32-E72D297353CC}">
              <c16:uniqueId val="{00000005-88A9-4CBD-A6DE-1FAF38BBEFD1}"/>
            </c:ext>
          </c:extLst>
        </c:ser>
        <c:ser>
          <c:idx val="5"/>
          <c:order val="5"/>
          <c:tx>
            <c:strRef>
              <c:f>Sheet1!$B$21</c:f>
              <c:strCache>
                <c:ptCount val="1"/>
                <c:pt idx="0">
                  <c:v>Intercept label</c:v>
                </c:pt>
              </c:strCache>
            </c:strRef>
          </c:tx>
          <c:spPr>
            <a:ln>
              <a:noFill/>
            </a:ln>
          </c:spPr>
          <c:marker>
            <c:symbol val="none"/>
          </c:marker>
          <c:dLbls>
            <c:dLbl>
              <c:idx val="0"/>
              <c:tx>
                <c:rich>
                  <a:bodyPr/>
                  <a:lstStyle/>
                  <a:p>
                    <a:r>
                      <a:rPr lang="en-US" sz="1200" b="1">
                        <a:solidFill>
                          <a:srgbClr val="1F394D"/>
                        </a:solidFill>
                      </a:rPr>
                      <a:t>−2.12 (intercept)</a:t>
                    </a:r>
                  </a:p>
                </c:rich>
              </c:tx>
              <c:dLblPos val="r"/>
              <c:showLegendKey val="0"/>
              <c:showVal val="1"/>
              <c:showCatName val="0"/>
              <c:showSerName val="0"/>
              <c:showPercent val="0"/>
              <c:showBubbleSize val="0"/>
              <c:extLst>
                <c:ext xmlns:c15="http://schemas.microsoft.com/office/drawing/2012/chart" uri="{CE6537A1-D6FC-4f65-9D91-7224C49458BB}">
                  <c15:layout>
                    <c:manualLayout>
                      <c:w val="0.2994"/>
                      <c:h val="7.3400000000000007E-2"/>
                    </c:manualLayout>
                  </c15:layout>
                  <c15:showDataLabelsRange val="0"/>
                </c:ext>
                <c:ext xmlns:c16="http://schemas.microsoft.com/office/drawing/2014/chart" uri="{C3380CC4-5D6E-409C-BE32-E72D297353CC}">
                  <c16:uniqueId val="{00000006-88A9-4CBD-A6DE-1FAF38BBEFD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Sheet1!$A$22:$A$22</c:f>
              <c:numCache>
                <c:formatCode>General</c:formatCode>
                <c:ptCount val="1"/>
                <c:pt idx="0">
                  <c:v>0</c:v>
                </c:pt>
              </c:numCache>
            </c:numRef>
          </c:xVal>
          <c:yVal>
            <c:numRef>
              <c:f>Sheet1!$B$22:$B$22</c:f>
              <c:numCache>
                <c:formatCode>General</c:formatCode>
                <c:ptCount val="1"/>
                <c:pt idx="0">
                  <c:v>-3.3</c:v>
                </c:pt>
              </c:numCache>
            </c:numRef>
          </c:yVal>
          <c:smooth val="0"/>
          <c:extLst>
            <c:ext xmlns:c16="http://schemas.microsoft.com/office/drawing/2014/chart" uri="{C3380CC4-5D6E-409C-BE32-E72D297353CC}">
              <c16:uniqueId val="{00000007-88A9-4CBD-A6DE-1FAF38BBEFD1}"/>
            </c:ext>
          </c:extLst>
        </c:ser>
        <c:ser>
          <c:idx val="6"/>
          <c:order val="6"/>
          <c:tx>
            <c:strRef>
              <c:f>Sheet1!$B$24</c:f>
              <c:strCache>
                <c:ptCount val="1"/>
                <c:pt idx="0">
                  <c:v>Midpoint label</c:v>
                </c:pt>
              </c:strCache>
            </c:strRef>
          </c:tx>
          <c:spPr>
            <a:ln>
              <a:noFill/>
            </a:ln>
          </c:spPr>
          <c:marker>
            <c:symbol val="none"/>
          </c:marker>
          <c:dLbls>
            <c:dLbl>
              <c:idx val="0"/>
              <c:tx>
                <c:rich>
                  <a:bodyPr/>
                  <a:lstStyle/>
                  <a:p>
                    <a:r>
                      <a:rPr lang="en-US" sz="1100" b="0">
                        <a:solidFill>
                          <a:srgbClr val="55606B"/>
                        </a:solidFill>
                      </a:rPr>
                      <a:t>log-odds 0</a:t>
                    </a:r>
                  </a:p>
                </c:rich>
              </c:tx>
              <c:dLblPos val="l"/>
              <c:showLegendKey val="0"/>
              <c:showVal val="1"/>
              <c:showCatName val="0"/>
              <c:showSerName val="0"/>
              <c:showPercent val="0"/>
              <c:showBubbleSize val="0"/>
              <c:extLst>
                <c:ext xmlns:c15="http://schemas.microsoft.com/office/drawing/2012/chart" uri="{CE6537A1-D6FC-4f65-9D91-7224C49458BB}">
                  <c15:layout>
                    <c:manualLayout>
                      <c:w val="0.17119999999999999"/>
                      <c:h val="6.8099999999999994E-2"/>
                    </c:manualLayout>
                  </c15:layout>
                  <c15:showDataLabelsRange val="0"/>
                </c:ext>
                <c:ext xmlns:c16="http://schemas.microsoft.com/office/drawing/2014/chart" uri="{C3380CC4-5D6E-409C-BE32-E72D297353CC}">
                  <c16:uniqueId val="{00000008-88A9-4CBD-A6DE-1FAF38BBEFD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Sheet1!$A$25:$A$25</c:f>
              <c:numCache>
                <c:formatCode>General</c:formatCode>
                <c:ptCount val="1"/>
                <c:pt idx="0">
                  <c:v>2.6147302415896516</c:v>
                </c:pt>
              </c:numCache>
            </c:numRef>
          </c:xVal>
          <c:yVal>
            <c:numRef>
              <c:f>Sheet1!$B$25:$B$25</c:f>
              <c:numCache>
                <c:formatCode>General</c:formatCode>
                <c:ptCount val="1"/>
                <c:pt idx="0">
                  <c:v>0.55000000000000004</c:v>
                </c:pt>
              </c:numCache>
            </c:numRef>
          </c:yVal>
          <c:smooth val="0"/>
          <c:extLst>
            <c:ext xmlns:c16="http://schemas.microsoft.com/office/drawing/2014/chart" uri="{C3380CC4-5D6E-409C-BE32-E72D297353CC}">
              <c16:uniqueId val="{00000009-88A9-4CBD-A6DE-1FAF38BBEFD1}"/>
            </c:ext>
          </c:extLst>
        </c:ser>
        <c:dLbls>
          <c:showLegendKey val="0"/>
          <c:showVal val="0"/>
          <c:showCatName val="0"/>
          <c:showSerName val="0"/>
          <c:showPercent val="0"/>
          <c:showBubbleSize val="0"/>
        </c:dLbls>
        <c:axId val="-2128940872"/>
        <c:axId val="-2129643912"/>
      </c:scatterChart>
      <c:valAx>
        <c:axId val="-2128940872"/>
        <c:scaling>
          <c:orientation val="minMax"/>
          <c:max val="10"/>
          <c:min val="0"/>
        </c:scaling>
        <c:delete val="0"/>
        <c:axPos val="b"/>
        <c:title>
          <c:tx>
            <c:rich>
              <a:bodyPr/>
              <a:lstStyle/>
              <a:p>
                <a:r>
                  <a:rPr lang="en-GB" sz="1200" b="0">
                    <a:solidFill>
                      <a:srgbClr val="55606B"/>
                    </a:solidFill>
                  </a:rPr>
                  <a:t>Household income (£10,000s)</a:t>
                </a:r>
              </a:p>
            </c:rich>
          </c:tx>
          <c:overlay val="0"/>
        </c:title>
        <c:numFmt formatCode="General" sourceLinked="1"/>
        <c:majorTickMark val="out"/>
        <c:minorTickMark val="none"/>
        <c:tickLblPos val="nextTo"/>
        <c:spPr>
          <a:ln>
            <a:solidFill>
              <a:srgbClr val="BBC4CC"/>
            </a:solidFill>
          </a:ln>
        </c:spPr>
        <c:txPr>
          <a:bodyPr/>
          <a:lstStyle/>
          <a:p>
            <a:pPr>
              <a:defRPr sz="1200">
                <a:solidFill>
                  <a:srgbClr val="55606B"/>
                </a:solidFill>
              </a:defRPr>
            </a:pPr>
            <a:endParaRPr lang="en-US"/>
          </a:p>
        </c:txPr>
        <c:crossAx val="-2129643912"/>
        <c:crosses val="min"/>
        <c:crossBetween val="midCat"/>
        <c:majorUnit val="1"/>
      </c:valAx>
      <c:valAx>
        <c:axId val="-2129643912"/>
        <c:scaling>
          <c:orientation val="minMax"/>
          <c:max val="8"/>
          <c:min val="-4"/>
        </c:scaling>
        <c:delete val="0"/>
        <c:axPos val="l"/>
        <c:majorGridlines>
          <c:spPr>
            <a:ln w="9525">
              <a:solidFill>
                <a:srgbClr val="DDE3E8"/>
              </a:solidFill>
            </a:ln>
          </c:spPr>
        </c:majorGridlines>
        <c:title>
          <c:tx>
            <c:rich>
              <a:bodyPr/>
              <a:lstStyle/>
              <a:p>
                <a:r>
                  <a:rPr lang="en-GB" sz="1200" b="0">
                    <a:solidFill>
                      <a:srgbClr val="55606B"/>
                    </a:solidFill>
                  </a:rPr>
                  <a:t>Log-odds</a:t>
                </a:r>
              </a:p>
            </c:rich>
          </c:tx>
          <c:overlay val="0"/>
        </c:title>
        <c:numFmt formatCode="General" sourceLinked="1"/>
        <c:majorTickMark val="out"/>
        <c:minorTickMark val="none"/>
        <c:tickLblPos val="nextTo"/>
        <c:spPr>
          <a:ln>
            <a:solidFill>
              <a:srgbClr val="BBC4CC"/>
            </a:solidFill>
          </a:ln>
        </c:spPr>
        <c:txPr>
          <a:bodyPr/>
          <a:lstStyle/>
          <a:p>
            <a:pPr>
              <a:defRPr sz="1200">
                <a:solidFill>
                  <a:srgbClr val="55606B"/>
                </a:solidFill>
              </a:defRPr>
            </a:pPr>
            <a:endParaRPr lang="en-US"/>
          </a:p>
        </c:txPr>
        <c:crossAx val="-2128940872"/>
        <c:crosses val="autoZero"/>
        <c:crossBetween val="midCat"/>
        <c:majorUnit val="2"/>
      </c:valAx>
    </c:plotArea>
    <c:plotVisOnly val="1"/>
    <c:dispBlanksAs val="gap"/>
    <c:showDLblsOverMax val="0"/>
  </c:chart>
  <c:txPr>
    <a:bodyPr/>
    <a:lstStyle/>
    <a:p>
      <a:pPr>
        <a:defRPr sz="1200">
          <a:solidFill>
            <a:srgbClr val="55606B"/>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50%</c:v>
                </c:pt>
              </c:strCache>
            </c:strRef>
          </c:tx>
          <c:spPr>
            <a:ln w="12700">
              <a:solidFill>
                <a:srgbClr val="9AA3AB"/>
              </a:solidFill>
              <a:prstDash val="dash"/>
            </a:ln>
          </c:spPr>
          <c:marker>
            <c:symbol val="none"/>
          </c:marker>
          <c:xVal>
            <c:numRef>
              <c:f>Sheet1!$A$2:$A$3</c:f>
              <c:numCache>
                <c:formatCode>General</c:formatCode>
                <c:ptCount val="2"/>
                <c:pt idx="0">
                  <c:v>0</c:v>
                </c:pt>
                <c:pt idx="1">
                  <c:v>10</c:v>
                </c:pt>
              </c:numCache>
            </c:numRef>
          </c:xVal>
          <c:yVal>
            <c:numRef>
              <c:f>Sheet1!$B$2:$B$3</c:f>
              <c:numCache>
                <c:formatCode>General</c:formatCode>
                <c:ptCount val="2"/>
                <c:pt idx="0">
                  <c:v>0.5</c:v>
                </c:pt>
                <c:pt idx="1">
                  <c:v>0.5</c:v>
                </c:pt>
              </c:numCache>
            </c:numRef>
          </c:yVal>
          <c:smooth val="0"/>
          <c:extLst>
            <c:ext xmlns:c16="http://schemas.microsoft.com/office/drawing/2014/chart" uri="{C3380CC4-5D6E-409C-BE32-E72D297353CC}">
              <c16:uniqueId val="{00000000-2D49-4E2E-927A-DD4E9AEABB39}"/>
            </c:ext>
          </c:extLst>
        </c:ser>
        <c:ser>
          <c:idx val="1"/>
          <c:order val="1"/>
          <c:tx>
            <c:strRef>
              <c:f>Sheet1!$B$5</c:f>
              <c:strCache>
                <c:ptCount val="1"/>
                <c:pt idx="0">
                  <c:v>Midpoint</c:v>
                </c:pt>
              </c:strCache>
            </c:strRef>
          </c:tx>
          <c:spPr>
            <a:ln w="12700">
              <a:solidFill>
                <a:srgbClr val="9AA3AB"/>
              </a:solidFill>
              <a:prstDash val="sysDot"/>
            </a:ln>
          </c:spPr>
          <c:marker>
            <c:symbol val="none"/>
          </c:marker>
          <c:xVal>
            <c:numRef>
              <c:f>Sheet1!$A$6:$A$7</c:f>
              <c:numCache>
                <c:formatCode>General</c:formatCode>
                <c:ptCount val="2"/>
                <c:pt idx="0">
                  <c:v>2.6647302415896514</c:v>
                </c:pt>
                <c:pt idx="1">
                  <c:v>2.6647302415896514</c:v>
                </c:pt>
              </c:numCache>
            </c:numRef>
          </c:xVal>
          <c:yVal>
            <c:numRef>
              <c:f>Sheet1!$B$6:$B$7</c:f>
              <c:numCache>
                <c:formatCode>General</c:formatCode>
                <c:ptCount val="2"/>
                <c:pt idx="0">
                  <c:v>8.5000000000000006E-2</c:v>
                </c:pt>
                <c:pt idx="1">
                  <c:v>0.5</c:v>
                </c:pt>
              </c:numCache>
            </c:numRef>
          </c:yVal>
          <c:smooth val="0"/>
          <c:extLst>
            <c:ext xmlns:c16="http://schemas.microsoft.com/office/drawing/2014/chart" uri="{C3380CC4-5D6E-409C-BE32-E72D297353CC}">
              <c16:uniqueId val="{00000001-2D49-4E2E-927A-DD4E9AEABB39}"/>
            </c:ext>
          </c:extLst>
        </c:ser>
        <c:ser>
          <c:idx val="2"/>
          <c:order val="2"/>
          <c:tx>
            <c:strRef>
              <c:f>Sheet1!$B$9</c:f>
              <c:strCache>
                <c:ptCount val="1"/>
                <c:pt idx="0">
                  <c:v>Model</c:v>
                </c:pt>
              </c:strCache>
            </c:strRef>
          </c:tx>
          <c:spPr>
            <a:ln w="38100">
              <a:solidFill>
                <a:srgbClr val="1F394D"/>
              </a:solidFill>
            </a:ln>
          </c:spPr>
          <c:marker>
            <c:symbol val="none"/>
          </c:marker>
          <c:xVal>
            <c:numRef>
              <c:f>Sheet1!$A$10:$A$110</c:f>
              <c:numCache>
                <c:formatCode>General</c:formatCode>
                <c:ptCount val="101"/>
                <c:pt idx="0">
                  <c:v>0</c:v>
                </c:pt>
                <c:pt idx="1">
                  <c:v>0.1</c:v>
                </c:pt>
                <c:pt idx="2">
                  <c:v>0.2</c:v>
                </c:pt>
                <c:pt idx="3">
                  <c:v>0.30000000000000004</c:v>
                </c:pt>
                <c:pt idx="4">
                  <c:v>0.4</c:v>
                </c:pt>
                <c:pt idx="5">
                  <c:v>0.5</c:v>
                </c:pt>
                <c:pt idx="6">
                  <c:v>0.60000000000000009</c:v>
                </c:pt>
                <c:pt idx="7">
                  <c:v>0.70000000000000007</c:v>
                </c:pt>
                <c:pt idx="8">
                  <c:v>0.8</c:v>
                </c:pt>
                <c:pt idx="9">
                  <c:v>0.9</c:v>
                </c:pt>
                <c:pt idx="10">
                  <c:v>1</c:v>
                </c:pt>
                <c:pt idx="11">
                  <c:v>1.1000000000000001</c:v>
                </c:pt>
                <c:pt idx="12">
                  <c:v>1.2000000000000002</c:v>
                </c:pt>
                <c:pt idx="13">
                  <c:v>1.3</c:v>
                </c:pt>
                <c:pt idx="14">
                  <c:v>1.4000000000000001</c:v>
                </c:pt>
                <c:pt idx="15">
                  <c:v>1.5</c:v>
                </c:pt>
                <c:pt idx="16">
                  <c:v>1.6</c:v>
                </c:pt>
                <c:pt idx="17">
                  <c:v>1.7000000000000002</c:v>
                </c:pt>
                <c:pt idx="18">
                  <c:v>1.8</c:v>
                </c:pt>
                <c:pt idx="19">
                  <c:v>1.9000000000000001</c:v>
                </c:pt>
                <c:pt idx="20">
                  <c:v>2</c:v>
                </c:pt>
                <c:pt idx="21">
                  <c:v>2.1</c:v>
                </c:pt>
                <c:pt idx="22">
                  <c:v>2.2000000000000002</c:v>
                </c:pt>
                <c:pt idx="23">
                  <c:v>2.3000000000000003</c:v>
                </c:pt>
                <c:pt idx="24">
                  <c:v>2.4000000000000004</c:v>
                </c:pt>
                <c:pt idx="25">
                  <c:v>2.5</c:v>
                </c:pt>
                <c:pt idx="26">
                  <c:v>2.6</c:v>
                </c:pt>
                <c:pt idx="27">
                  <c:v>2.7</c:v>
                </c:pt>
                <c:pt idx="28">
                  <c:v>2.8000000000000003</c:v>
                </c:pt>
                <c:pt idx="29">
                  <c:v>2.9000000000000004</c:v>
                </c:pt>
                <c:pt idx="30">
                  <c:v>3</c:v>
                </c:pt>
                <c:pt idx="31">
                  <c:v>3.1</c:v>
                </c:pt>
                <c:pt idx="32">
                  <c:v>3.2</c:v>
                </c:pt>
                <c:pt idx="33">
                  <c:v>3.3000000000000003</c:v>
                </c:pt>
                <c:pt idx="34">
                  <c:v>3.4000000000000004</c:v>
                </c:pt>
                <c:pt idx="35">
                  <c:v>3.5</c:v>
                </c:pt>
                <c:pt idx="36">
                  <c:v>3.6</c:v>
                </c:pt>
                <c:pt idx="37">
                  <c:v>3.7</c:v>
                </c:pt>
                <c:pt idx="38">
                  <c:v>3.8000000000000003</c:v>
                </c:pt>
                <c:pt idx="39">
                  <c:v>3.9000000000000004</c:v>
                </c:pt>
                <c:pt idx="40">
                  <c:v>4</c:v>
                </c:pt>
                <c:pt idx="41">
                  <c:v>4.1000000000000005</c:v>
                </c:pt>
                <c:pt idx="42">
                  <c:v>4.2</c:v>
                </c:pt>
                <c:pt idx="43">
                  <c:v>4.3</c:v>
                </c:pt>
                <c:pt idx="44">
                  <c:v>4.4000000000000004</c:v>
                </c:pt>
                <c:pt idx="45">
                  <c:v>4.5</c:v>
                </c:pt>
                <c:pt idx="46">
                  <c:v>4.6000000000000005</c:v>
                </c:pt>
                <c:pt idx="47">
                  <c:v>4.7</c:v>
                </c:pt>
                <c:pt idx="48">
                  <c:v>4.8000000000000007</c:v>
                </c:pt>
                <c:pt idx="49">
                  <c:v>4.9000000000000004</c:v>
                </c:pt>
                <c:pt idx="50">
                  <c:v>5</c:v>
                </c:pt>
                <c:pt idx="51">
                  <c:v>5.1000000000000005</c:v>
                </c:pt>
                <c:pt idx="52">
                  <c:v>5.2</c:v>
                </c:pt>
                <c:pt idx="53">
                  <c:v>5.3000000000000007</c:v>
                </c:pt>
                <c:pt idx="54">
                  <c:v>5.4</c:v>
                </c:pt>
                <c:pt idx="55">
                  <c:v>5.5</c:v>
                </c:pt>
                <c:pt idx="56">
                  <c:v>5.6000000000000005</c:v>
                </c:pt>
                <c:pt idx="57">
                  <c:v>5.7</c:v>
                </c:pt>
                <c:pt idx="58">
                  <c:v>5.8000000000000007</c:v>
                </c:pt>
                <c:pt idx="59">
                  <c:v>5.9</c:v>
                </c:pt>
                <c:pt idx="60">
                  <c:v>6</c:v>
                </c:pt>
                <c:pt idx="61">
                  <c:v>6.1000000000000005</c:v>
                </c:pt>
                <c:pt idx="62">
                  <c:v>6.2</c:v>
                </c:pt>
                <c:pt idx="63">
                  <c:v>6.3000000000000007</c:v>
                </c:pt>
                <c:pt idx="64">
                  <c:v>6.4</c:v>
                </c:pt>
                <c:pt idx="65">
                  <c:v>6.5</c:v>
                </c:pt>
                <c:pt idx="66">
                  <c:v>6.6000000000000005</c:v>
                </c:pt>
                <c:pt idx="67">
                  <c:v>6.7</c:v>
                </c:pt>
                <c:pt idx="68">
                  <c:v>6.8000000000000007</c:v>
                </c:pt>
                <c:pt idx="69">
                  <c:v>6.9</c:v>
                </c:pt>
                <c:pt idx="70">
                  <c:v>7</c:v>
                </c:pt>
                <c:pt idx="71">
                  <c:v>7.1000000000000005</c:v>
                </c:pt>
                <c:pt idx="72">
                  <c:v>7.2</c:v>
                </c:pt>
                <c:pt idx="73">
                  <c:v>7.3000000000000007</c:v>
                </c:pt>
                <c:pt idx="74">
                  <c:v>7.4</c:v>
                </c:pt>
                <c:pt idx="75">
                  <c:v>7.5</c:v>
                </c:pt>
                <c:pt idx="76">
                  <c:v>7.6000000000000005</c:v>
                </c:pt>
                <c:pt idx="77">
                  <c:v>7.7</c:v>
                </c:pt>
                <c:pt idx="78">
                  <c:v>7.8000000000000007</c:v>
                </c:pt>
                <c:pt idx="79">
                  <c:v>7.9</c:v>
                </c:pt>
                <c:pt idx="80">
                  <c:v>8</c:v>
                </c:pt>
                <c:pt idx="81">
                  <c:v>8.1</c:v>
                </c:pt>
                <c:pt idx="82">
                  <c:v>8.2000000000000011</c:v>
                </c:pt>
                <c:pt idx="83">
                  <c:v>8.3000000000000007</c:v>
                </c:pt>
                <c:pt idx="84">
                  <c:v>8.4</c:v>
                </c:pt>
                <c:pt idx="85">
                  <c:v>8.5</c:v>
                </c:pt>
                <c:pt idx="86">
                  <c:v>8.6</c:v>
                </c:pt>
                <c:pt idx="87">
                  <c:v>8.7000000000000011</c:v>
                </c:pt>
                <c:pt idx="88">
                  <c:v>8.8000000000000007</c:v>
                </c:pt>
                <c:pt idx="89">
                  <c:v>8.9</c:v>
                </c:pt>
                <c:pt idx="90">
                  <c:v>9</c:v>
                </c:pt>
                <c:pt idx="91">
                  <c:v>9.1</c:v>
                </c:pt>
                <c:pt idx="92">
                  <c:v>9.2000000000000011</c:v>
                </c:pt>
                <c:pt idx="93">
                  <c:v>9.3000000000000007</c:v>
                </c:pt>
                <c:pt idx="94">
                  <c:v>9.4</c:v>
                </c:pt>
                <c:pt idx="95">
                  <c:v>9.5</c:v>
                </c:pt>
                <c:pt idx="96">
                  <c:v>9.6000000000000014</c:v>
                </c:pt>
                <c:pt idx="97">
                  <c:v>9.7000000000000011</c:v>
                </c:pt>
                <c:pt idx="98">
                  <c:v>9.8000000000000007</c:v>
                </c:pt>
                <c:pt idx="99">
                  <c:v>9.9</c:v>
                </c:pt>
                <c:pt idx="100">
                  <c:v>10</c:v>
                </c:pt>
              </c:numCache>
            </c:numRef>
          </c:xVal>
          <c:yVal>
            <c:numRef>
              <c:f>Sheet1!$B$10:$B$110</c:f>
              <c:numCache>
                <c:formatCode>General</c:formatCode>
                <c:ptCount val="101"/>
                <c:pt idx="0">
                  <c:v>0.10726771971049839</c:v>
                </c:pt>
                <c:pt idx="1">
                  <c:v>0.11512373959603805</c:v>
                </c:pt>
                <c:pt idx="2">
                  <c:v>0.12347553625114352</c:v>
                </c:pt>
                <c:pt idx="3">
                  <c:v>0.13234260701127806</c:v>
                </c:pt>
                <c:pt idx="4">
                  <c:v>0.14174347129343295</c:v>
                </c:pt>
                <c:pt idx="5">
                  <c:v>0.15169536855990678</c:v>
                </c:pt>
                <c:pt idx="6">
                  <c:v>0.16221393215368968</c:v>
                </c:pt>
                <c:pt idx="7">
                  <c:v>0.17331284202684674</c:v>
                </c:pt>
                <c:pt idx="8">
                  <c:v>0.18500346057748707</c:v>
                </c:pt>
                <c:pt idx="9">
                  <c:v>0.19729445709727511</c:v>
                </c:pt>
                <c:pt idx="10">
                  <c:v>0.21019142766871526</c:v>
                </c:pt>
                <c:pt idx="11">
                  <c:v>0.22369651868458776</c:v>
                </c:pt>
                <c:pt idx="12">
                  <c:v>0.23780806342244037</c:v>
                </c:pt>
                <c:pt idx="13">
                  <c:v>0.25252024221449548</c:v>
                </c:pt>
                <c:pt idx="14">
                  <c:v>0.26782277761839063</c:v>
                </c:pt>
                <c:pt idx="15">
                  <c:v>0.28370067652336167</c:v>
                </c:pt>
                <c:pt idx="16">
                  <c:v>0.30013403122856525</c:v>
                </c:pt>
                <c:pt idx="17">
                  <c:v>0.31709789112399878</c:v>
                </c:pt>
                <c:pt idx="18">
                  <c:v>0.33456221562744193</c:v>
                </c:pt>
                <c:pt idx="19">
                  <c:v>0.35249191744813152</c:v>
                </c:pt>
                <c:pt idx="20">
                  <c:v>0.37084700306033552</c:v>
                </c:pt>
                <c:pt idx="21">
                  <c:v>0.38958281452034388</c:v>
                </c:pt>
                <c:pt idx="22">
                  <c:v>0.40865037353648404</c:v>
                </c:pt>
                <c:pt idx="23">
                  <c:v>0.42799682513580617</c:v>
                </c:pt>
                <c:pt idx="24">
                  <c:v>0.44756597453438857</c:v>
                </c:pt>
                <c:pt idx="25">
                  <c:v>0.46729890711135708</c:v>
                </c:pt>
                <c:pt idx="26">
                  <c:v>0.48713467792551957</c:v>
                </c:pt>
                <c:pt idx="27">
                  <c:v>0.50701105421218229</c:v>
                </c:pt>
                <c:pt idx="28">
                  <c:v>0.52686529195054776</c:v>
                </c:pt>
                <c:pt idx="29">
                  <c:v>0.54663492605607711</c:v>
                </c:pt>
                <c:pt idx="30">
                  <c:v>0.56625855313224427</c:v>
                </c:pt>
                <c:pt idx="31">
                  <c:v>0.58567658605507</c:v>
                </c:pt>
                <c:pt idx="32">
                  <c:v>0.60483196093822367</c:v>
                </c:pt>
                <c:pt idx="33">
                  <c:v>0.62367077914890323</c:v>
                </c:pt>
                <c:pt idx="34">
                  <c:v>0.64214286987215519</c:v>
                </c:pt>
                <c:pt idx="35">
                  <c:v>0.66020226206872124</c:v>
                </c:pt>
                <c:pt idx="36">
                  <c:v>0.67780755832867967</c:v>
                </c:pt>
                <c:pt idx="37">
                  <c:v>0.69492220687287543</c:v>
                </c:pt>
                <c:pt idx="38">
                  <c:v>0.7115146715897378</c:v>
                </c:pt>
                <c:pt idx="39">
                  <c:v>0.72755850333539129</c:v>
                </c:pt>
                <c:pt idx="40">
                  <c:v>0.74303231862551</c:v>
                </c:pt>
                <c:pt idx="41">
                  <c:v>0.75791969420693694</c:v>
                </c:pt>
                <c:pt idx="42">
                  <c:v>0.77220898775985825</c:v>
                </c:pt>
                <c:pt idx="43">
                  <c:v>0.78589309613463421</c:v>
                </c:pt>
                <c:pt idx="44">
                  <c:v>0.79896916309635346</c:v>
                </c:pt>
                <c:pt idx="45">
                  <c:v>0.81143824859008729</c:v>
                </c:pt>
                <c:pt idx="46">
                  <c:v>0.82330497112725731</c:v>
                </c:pt>
                <c:pt idx="47">
                  <c:v>0.83457713411767454</c:v>
                </c:pt>
                <c:pt idx="48">
                  <c:v>0.84526534592619273</c:v>
                </c:pt>
                <c:pt idx="49">
                  <c:v>0.8553826422086559</c:v>
                </c:pt>
                <c:pt idx="50">
                  <c:v>0.86494411776237123</c:v>
                </c:pt>
                <c:pt idx="51">
                  <c:v>0.87396657378394882</c:v>
                </c:pt>
                <c:pt idx="52">
                  <c:v>0.88246818512107539</c:v>
                </c:pt>
                <c:pt idx="53">
                  <c:v>0.89046819087994999</c:v>
                </c:pt>
                <c:pt idx="54">
                  <c:v>0.89798661063866037</c:v>
                </c:pt>
                <c:pt idx="55">
                  <c:v>0.9050439875386469</c:v>
                </c:pt>
                <c:pt idx="56">
                  <c:v>0.91166115869112341</c:v>
                </c:pt>
                <c:pt idx="57">
                  <c:v>0.91785905264399692</c:v>
                </c:pt>
                <c:pt idx="58">
                  <c:v>0.92365851310211433</c:v>
                </c:pt>
                <c:pt idx="59">
                  <c:v>0.92908014766953306</c:v>
                </c:pt>
                <c:pt idx="60">
                  <c:v>0.93414420007399457</c:v>
                </c:pt>
                <c:pt idx="61">
                  <c:v>0.93887044412623388</c:v>
                </c:pt>
                <c:pt idx="62">
                  <c:v>0.94327809754502379</c:v>
                </c:pt>
                <c:pt idx="63">
                  <c:v>0.94738575372807321</c:v>
                </c:pt>
                <c:pt idx="64">
                  <c:v>0.95121132955507459</c:v>
                </c:pt>
                <c:pt idx="65">
                  <c:v>0.95477202735962863</c:v>
                </c:pt>
                <c:pt idx="66">
                  <c:v>0.95808430929021537</c:v>
                </c:pt>
                <c:pt idx="67">
                  <c:v>0.961163882387158</c:v>
                </c:pt>
                <c:pt idx="68">
                  <c:v>0.96402569282452666</c:v>
                </c:pt>
                <c:pt idx="69">
                  <c:v>0.96668392789645763</c:v>
                </c:pt>
                <c:pt idx="70">
                  <c:v>0.96915202446115667</c:v>
                </c:pt>
                <c:pt idx="71">
                  <c:v>0.97144268268870171</c:v>
                </c:pt>
                <c:pt idx="72">
                  <c:v>0.9735678840876294</c:v>
                </c:pt>
                <c:pt idx="73">
                  <c:v>0.97553891290790362</c:v>
                </c:pt>
                <c:pt idx="74">
                  <c:v>0.97736638013271415</c:v>
                </c:pt>
                <c:pt idx="75">
                  <c:v>0.97906024937773461</c:v>
                </c:pt>
                <c:pt idx="76">
                  <c:v>0.98062986411349351</c:v>
                </c:pt>
                <c:pt idx="77">
                  <c:v>0.98208397571427619</c:v>
                </c:pt>
                <c:pt idx="78">
                  <c:v>0.98343077191565276</c:v>
                </c:pt>
                <c:pt idx="79">
                  <c:v>0.9846779053326592</c:v>
                </c:pt>
                <c:pt idx="80">
                  <c:v>0.98583252175234015</c:v>
                </c:pt>
                <c:pt idx="81">
                  <c:v>0.98690128796835808</c:v>
                </c:pt>
                <c:pt idx="82">
                  <c:v>0.98789041897232466</c:v>
                </c:pt>
                <c:pt idx="83">
                  <c:v>0.98880570435702042</c:v>
                </c:pt>
                <c:pt idx="84">
                  <c:v>0.98965253382140739</c:v>
                </c:pt>
                <c:pt idx="85">
                  <c:v>0.99043592169689043</c:v>
                </c:pt>
                <c:pt idx="86">
                  <c:v>0.99116053043924801</c:v>
                </c:pt>
                <c:pt idx="87">
                  <c:v>0.99183069305156391</c:v>
                </c:pt>
                <c:pt idx="88">
                  <c:v>0.99245043442085834</c:v>
                </c:pt>
                <c:pt idx="89">
                  <c:v>0.99302349156539915</c:v>
                </c:pt>
                <c:pt idx="90">
                  <c:v>0.99355333280127522</c:v>
                </c:pt>
                <c:pt idx="91">
                  <c:v>0.99404317584612156</c:v>
                </c:pt>
                <c:pt idx="92">
                  <c:v>0.99449600488522627</c:v>
                </c:pt>
                <c:pt idx="93">
                  <c:v>0.99491458663090448</c:v>
                </c:pt>
                <c:pt idx="94">
                  <c:v>0.99530148541027863</c:v>
                </c:pt>
                <c:pt idx="95">
                  <c:v>0.99565907731965242</c:v>
                </c:pt>
                <c:pt idx="96">
                  <c:v>0.99598956348573076</c:v>
                </c:pt>
                <c:pt idx="97">
                  <c:v>0.99629498247517689</c:v>
                </c:pt>
                <c:pt idx="98">
                  <c:v>0.99657722189455933</c:v>
                </c:pt>
                <c:pt idx="99">
                  <c:v>0.99683802922275255</c:v>
                </c:pt>
                <c:pt idx="100">
                  <c:v>0.99707902191743003</c:v>
                </c:pt>
              </c:numCache>
            </c:numRef>
          </c:yVal>
          <c:smooth val="0"/>
          <c:extLst>
            <c:ext xmlns:c16="http://schemas.microsoft.com/office/drawing/2014/chart" uri="{C3380CC4-5D6E-409C-BE32-E72D297353CC}">
              <c16:uniqueId val="{00000002-2D49-4E2E-927A-DD4E9AEABB39}"/>
            </c:ext>
          </c:extLst>
        </c:ser>
        <c:ser>
          <c:idx val="3"/>
          <c:order val="3"/>
          <c:tx>
            <c:strRef>
              <c:f>Sheet1!$B$112</c:f>
              <c:strCache>
                <c:ptCount val="1"/>
                <c:pt idx="0">
                  <c:v>Intercept</c:v>
                </c:pt>
              </c:strCache>
            </c:strRef>
          </c:tx>
          <c:spPr>
            <a:ln>
              <a:noFill/>
            </a:ln>
          </c:spPr>
          <c:marker>
            <c:symbol val="circle"/>
            <c:size val="10"/>
            <c:spPr>
              <a:solidFill>
                <a:srgbClr val="3F739B"/>
              </a:solidFill>
              <a:ln w="12700">
                <a:solidFill>
                  <a:srgbClr val="FFFFFF"/>
                </a:solidFill>
              </a:ln>
            </c:spPr>
          </c:marker>
          <c:xVal>
            <c:numRef>
              <c:f>Sheet1!$A$113:$A$113</c:f>
              <c:numCache>
                <c:formatCode>General</c:formatCode>
                <c:ptCount val="1"/>
                <c:pt idx="0">
                  <c:v>0</c:v>
                </c:pt>
              </c:numCache>
            </c:numRef>
          </c:xVal>
          <c:yVal>
            <c:numRef>
              <c:f>Sheet1!$B$113:$B$113</c:f>
              <c:numCache>
                <c:formatCode>General</c:formatCode>
                <c:ptCount val="1"/>
                <c:pt idx="0">
                  <c:v>0.10726771971049839</c:v>
                </c:pt>
              </c:numCache>
            </c:numRef>
          </c:yVal>
          <c:smooth val="0"/>
          <c:extLst>
            <c:ext xmlns:c16="http://schemas.microsoft.com/office/drawing/2014/chart" uri="{C3380CC4-5D6E-409C-BE32-E72D297353CC}">
              <c16:uniqueId val="{00000003-2D49-4E2E-927A-DD4E9AEABB39}"/>
            </c:ext>
          </c:extLst>
        </c:ser>
        <c:ser>
          <c:idx val="4"/>
          <c:order val="4"/>
          <c:tx>
            <c:strRef>
              <c:f>Sheet1!$B$115</c:f>
              <c:strCache>
                <c:ptCount val="1"/>
                <c:pt idx="0">
                  <c:v>Intercept label</c:v>
                </c:pt>
              </c:strCache>
            </c:strRef>
          </c:tx>
          <c:spPr>
            <a:ln>
              <a:noFill/>
            </a:ln>
          </c:spPr>
          <c:marker>
            <c:symbol val="none"/>
          </c:marker>
          <c:dLbls>
            <c:dLbl>
              <c:idx val="0"/>
              <c:tx>
                <c:rich>
                  <a:bodyPr/>
                  <a:lstStyle/>
                  <a:p>
                    <a:r>
                      <a:rPr lang="en-US" sz="1200" b="1">
                        <a:solidFill>
                          <a:srgbClr val="3F739B"/>
                        </a:solidFill>
                      </a:rPr>
                      <a:t>10.7% = intercept −2.12, converted</a:t>
                    </a:r>
                  </a:p>
                </c:rich>
              </c:tx>
              <c:dLblPos val="r"/>
              <c:showLegendKey val="0"/>
              <c:showVal val="1"/>
              <c:showCatName val="0"/>
              <c:showSerName val="0"/>
              <c:showPercent val="0"/>
              <c:showBubbleSize val="0"/>
              <c:extLst>
                <c:ext xmlns:c15="http://schemas.microsoft.com/office/drawing/2012/chart" uri="{CE6537A1-D6FC-4f65-9D91-7224C49458BB}">
                  <c15:layout>
                    <c:manualLayout>
                      <c:w val="0.58289999999999997"/>
                      <c:h val="7.3400000000000007E-2"/>
                    </c:manualLayout>
                  </c15:layout>
                  <c15:showDataLabelsRange val="0"/>
                </c:ext>
                <c:ext xmlns:c16="http://schemas.microsoft.com/office/drawing/2014/chart" uri="{C3380CC4-5D6E-409C-BE32-E72D297353CC}">
                  <c16:uniqueId val="{00000004-2D49-4E2E-927A-DD4E9AEABB3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Sheet1!$A$116:$A$116</c:f>
              <c:numCache>
                <c:formatCode>General</c:formatCode>
                <c:ptCount val="1"/>
                <c:pt idx="0">
                  <c:v>0</c:v>
                </c:pt>
              </c:numCache>
            </c:numRef>
          </c:xVal>
          <c:yVal>
            <c:numRef>
              <c:f>Sheet1!$B$116:$B$116</c:f>
              <c:numCache>
                <c:formatCode>General</c:formatCode>
                <c:ptCount val="1"/>
                <c:pt idx="0">
                  <c:v>3.5000000000000003E-2</c:v>
                </c:pt>
              </c:numCache>
            </c:numRef>
          </c:yVal>
          <c:smooth val="0"/>
          <c:extLst>
            <c:ext xmlns:c16="http://schemas.microsoft.com/office/drawing/2014/chart" uri="{C3380CC4-5D6E-409C-BE32-E72D297353CC}">
              <c16:uniqueId val="{00000005-2D49-4E2E-927A-DD4E9AEABB39}"/>
            </c:ext>
          </c:extLst>
        </c:ser>
        <c:ser>
          <c:idx val="5"/>
          <c:order val="5"/>
          <c:tx>
            <c:strRef>
              <c:f>Sheet1!$B$118</c:f>
              <c:strCache>
                <c:ptCount val="1"/>
                <c:pt idx="0">
                  <c:v>Midpoint label</c:v>
                </c:pt>
              </c:strCache>
            </c:strRef>
          </c:tx>
          <c:spPr>
            <a:ln>
              <a:noFill/>
            </a:ln>
          </c:spPr>
          <c:marker>
            <c:symbol val="none"/>
          </c:marker>
          <c:dLbls>
            <c:dLbl>
              <c:idx val="0"/>
              <c:tx>
                <c:rich>
                  <a:bodyPr/>
                  <a:lstStyle/>
                  <a:p>
                    <a:r>
                      <a:rPr lang="en-US" sz="1100" b="0">
                        <a:solidFill>
                          <a:srgbClr val="55606B"/>
                        </a:solidFill>
                      </a:rPr>
                      <a:t>50–50 at £26.6k</a:t>
                    </a:r>
                  </a:p>
                </c:rich>
              </c:tx>
              <c:dLblPos val="l"/>
              <c:showLegendKey val="0"/>
              <c:showVal val="1"/>
              <c:showCatName val="0"/>
              <c:showSerName val="0"/>
              <c:showPercent val="0"/>
              <c:showBubbleSize val="0"/>
              <c:extLst>
                <c:ext xmlns:c15="http://schemas.microsoft.com/office/drawing/2012/chart" uri="{CE6537A1-D6FC-4f65-9D91-7224C49458BB}">
                  <c15:layout>
                    <c:manualLayout>
                      <c:w val="0.24840000000000001"/>
                      <c:h val="6.8099999999999994E-2"/>
                    </c:manualLayout>
                  </c15:layout>
                  <c15:showDataLabelsRange val="0"/>
                </c:ext>
                <c:ext xmlns:c16="http://schemas.microsoft.com/office/drawing/2014/chart" uri="{C3380CC4-5D6E-409C-BE32-E72D297353CC}">
                  <c16:uniqueId val="{00000006-2D49-4E2E-927A-DD4E9AEABB3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Sheet1!$A$119:$A$119</c:f>
              <c:numCache>
                <c:formatCode>General</c:formatCode>
                <c:ptCount val="1"/>
                <c:pt idx="0">
                  <c:v>2.6147302415896516</c:v>
                </c:pt>
              </c:numCache>
            </c:numRef>
          </c:xVal>
          <c:yVal>
            <c:numRef>
              <c:f>Sheet1!$B$119:$B$119</c:f>
              <c:numCache>
                <c:formatCode>General</c:formatCode>
                <c:ptCount val="1"/>
                <c:pt idx="0">
                  <c:v>0.56000000000000005</c:v>
                </c:pt>
              </c:numCache>
            </c:numRef>
          </c:yVal>
          <c:smooth val="0"/>
          <c:extLst>
            <c:ext xmlns:c16="http://schemas.microsoft.com/office/drawing/2014/chart" uri="{C3380CC4-5D6E-409C-BE32-E72D297353CC}">
              <c16:uniqueId val="{00000007-2D49-4E2E-927A-DD4E9AEABB39}"/>
            </c:ext>
          </c:extLst>
        </c:ser>
        <c:dLbls>
          <c:showLegendKey val="0"/>
          <c:showVal val="0"/>
          <c:showCatName val="0"/>
          <c:showSerName val="0"/>
          <c:showPercent val="0"/>
          <c:showBubbleSize val="0"/>
        </c:dLbls>
        <c:axId val="-2128940872"/>
        <c:axId val="-2129643912"/>
      </c:scatterChart>
      <c:valAx>
        <c:axId val="-2128940872"/>
        <c:scaling>
          <c:orientation val="minMax"/>
          <c:max val="10"/>
          <c:min val="0"/>
        </c:scaling>
        <c:delete val="0"/>
        <c:axPos val="b"/>
        <c:title>
          <c:tx>
            <c:rich>
              <a:bodyPr/>
              <a:lstStyle/>
              <a:p>
                <a:r>
                  <a:rPr lang="en-GB" sz="1200" b="0">
                    <a:solidFill>
                      <a:srgbClr val="55606B"/>
                    </a:solidFill>
                  </a:rPr>
                  <a:t>Household income (£10,000s)</a:t>
                </a:r>
              </a:p>
            </c:rich>
          </c:tx>
          <c:overlay val="0"/>
        </c:title>
        <c:numFmt formatCode="General" sourceLinked="1"/>
        <c:majorTickMark val="out"/>
        <c:minorTickMark val="none"/>
        <c:tickLblPos val="nextTo"/>
        <c:spPr>
          <a:ln>
            <a:solidFill>
              <a:srgbClr val="BBC4CC"/>
            </a:solidFill>
          </a:ln>
        </c:spPr>
        <c:txPr>
          <a:bodyPr/>
          <a:lstStyle/>
          <a:p>
            <a:pPr>
              <a:defRPr sz="1200">
                <a:solidFill>
                  <a:srgbClr val="55606B"/>
                </a:solidFill>
              </a:defRPr>
            </a:pPr>
            <a:endParaRPr lang="en-US"/>
          </a:p>
        </c:txPr>
        <c:crossAx val="-2129643912"/>
        <c:crosses val="min"/>
        <c:crossBetween val="midCat"/>
        <c:majorUnit val="1"/>
      </c:valAx>
      <c:valAx>
        <c:axId val="-2129643912"/>
        <c:scaling>
          <c:orientation val="minMax"/>
          <c:max val="1"/>
          <c:min val="0"/>
        </c:scaling>
        <c:delete val="0"/>
        <c:axPos val="l"/>
        <c:majorGridlines>
          <c:spPr>
            <a:ln w="9525">
              <a:solidFill>
                <a:srgbClr val="DDE3E8"/>
              </a:solidFill>
            </a:ln>
          </c:spPr>
        </c:majorGridlines>
        <c:title>
          <c:tx>
            <c:rich>
              <a:bodyPr/>
              <a:lstStyle/>
              <a:p>
                <a:r>
                  <a:rPr lang="en-GB" sz="1200" b="0">
                    <a:solidFill>
                      <a:srgbClr val="55606B"/>
                    </a:solidFill>
                  </a:rPr>
                  <a:t>Probability</a:t>
                </a:r>
              </a:p>
            </c:rich>
          </c:tx>
          <c:overlay val="0"/>
        </c:title>
        <c:numFmt formatCode="0%" sourceLinked="0"/>
        <c:majorTickMark val="out"/>
        <c:minorTickMark val="none"/>
        <c:tickLblPos val="nextTo"/>
        <c:spPr>
          <a:ln>
            <a:solidFill>
              <a:srgbClr val="BBC4CC"/>
            </a:solidFill>
          </a:ln>
        </c:spPr>
        <c:txPr>
          <a:bodyPr/>
          <a:lstStyle/>
          <a:p>
            <a:pPr>
              <a:defRPr sz="1200">
                <a:solidFill>
                  <a:srgbClr val="55606B"/>
                </a:solidFill>
              </a:defRPr>
            </a:pPr>
            <a:endParaRPr lang="en-US"/>
          </a:p>
        </c:txPr>
        <c:crossAx val="-2128940872"/>
        <c:crosses val="autoZero"/>
        <c:crossBetween val="midCat"/>
        <c:majorUnit val="0.25"/>
      </c:valAx>
    </c:plotArea>
    <c:plotVisOnly val="1"/>
    <c:dispBlanksAs val="gap"/>
    <c:showDLblsOverMax val="0"/>
  </c:chart>
  <c:txPr>
    <a:bodyPr/>
    <a:lstStyle/>
    <a:p>
      <a:pPr>
        <a:defRPr sz="1200">
          <a:solidFill>
            <a:srgbClr val="55606B"/>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Curve</c:v>
                </c:pt>
              </c:strCache>
            </c:strRef>
          </c:tx>
          <c:spPr>
            <a:ln w="31750">
              <a:solidFill>
                <a:srgbClr val="1F394D"/>
              </a:solidFill>
            </a:ln>
          </c:spPr>
          <c:marker>
            <c:symbol val="none"/>
          </c:marker>
          <c:xVal>
            <c:numRef>
              <c:f>Sheet1!$A$2:$A$102</c:f>
              <c:numCache>
                <c:formatCode>General</c:formatCode>
                <c:ptCount val="101"/>
                <c:pt idx="0">
                  <c:v>0</c:v>
                </c:pt>
                <c:pt idx="1">
                  <c:v>0.1</c:v>
                </c:pt>
                <c:pt idx="2">
                  <c:v>0.2</c:v>
                </c:pt>
                <c:pt idx="3">
                  <c:v>0.30000000000000004</c:v>
                </c:pt>
                <c:pt idx="4">
                  <c:v>0.4</c:v>
                </c:pt>
                <c:pt idx="5">
                  <c:v>0.5</c:v>
                </c:pt>
                <c:pt idx="6">
                  <c:v>0.60000000000000009</c:v>
                </c:pt>
                <c:pt idx="7">
                  <c:v>0.70000000000000007</c:v>
                </c:pt>
                <c:pt idx="8">
                  <c:v>0.8</c:v>
                </c:pt>
                <c:pt idx="9">
                  <c:v>0.9</c:v>
                </c:pt>
                <c:pt idx="10">
                  <c:v>1</c:v>
                </c:pt>
                <c:pt idx="11">
                  <c:v>1.1000000000000001</c:v>
                </c:pt>
                <c:pt idx="12">
                  <c:v>1.2000000000000002</c:v>
                </c:pt>
                <c:pt idx="13">
                  <c:v>1.3</c:v>
                </c:pt>
                <c:pt idx="14">
                  <c:v>1.4000000000000001</c:v>
                </c:pt>
                <c:pt idx="15">
                  <c:v>1.5</c:v>
                </c:pt>
                <c:pt idx="16">
                  <c:v>1.6</c:v>
                </c:pt>
                <c:pt idx="17">
                  <c:v>1.7000000000000002</c:v>
                </c:pt>
                <c:pt idx="18">
                  <c:v>1.8</c:v>
                </c:pt>
                <c:pt idx="19">
                  <c:v>1.9000000000000001</c:v>
                </c:pt>
                <c:pt idx="20">
                  <c:v>2</c:v>
                </c:pt>
                <c:pt idx="21">
                  <c:v>2.1</c:v>
                </c:pt>
                <c:pt idx="22">
                  <c:v>2.2000000000000002</c:v>
                </c:pt>
                <c:pt idx="23">
                  <c:v>2.3000000000000003</c:v>
                </c:pt>
                <c:pt idx="24">
                  <c:v>2.4000000000000004</c:v>
                </c:pt>
                <c:pt idx="25">
                  <c:v>2.5</c:v>
                </c:pt>
                <c:pt idx="26">
                  <c:v>2.6</c:v>
                </c:pt>
                <c:pt idx="27">
                  <c:v>2.7</c:v>
                </c:pt>
                <c:pt idx="28">
                  <c:v>2.8000000000000003</c:v>
                </c:pt>
                <c:pt idx="29">
                  <c:v>2.9000000000000004</c:v>
                </c:pt>
                <c:pt idx="30">
                  <c:v>3</c:v>
                </c:pt>
                <c:pt idx="31">
                  <c:v>3.1</c:v>
                </c:pt>
                <c:pt idx="32">
                  <c:v>3.2</c:v>
                </c:pt>
                <c:pt idx="33">
                  <c:v>3.3000000000000003</c:v>
                </c:pt>
                <c:pt idx="34">
                  <c:v>3.4000000000000004</c:v>
                </c:pt>
                <c:pt idx="35">
                  <c:v>3.5</c:v>
                </c:pt>
                <c:pt idx="36">
                  <c:v>3.6</c:v>
                </c:pt>
                <c:pt idx="37">
                  <c:v>3.7</c:v>
                </c:pt>
                <c:pt idx="38">
                  <c:v>3.8000000000000003</c:v>
                </c:pt>
                <c:pt idx="39">
                  <c:v>3.9000000000000004</c:v>
                </c:pt>
                <c:pt idx="40">
                  <c:v>4</c:v>
                </c:pt>
                <c:pt idx="41">
                  <c:v>4.1000000000000005</c:v>
                </c:pt>
                <c:pt idx="42">
                  <c:v>4.2</c:v>
                </c:pt>
                <c:pt idx="43">
                  <c:v>4.3</c:v>
                </c:pt>
                <c:pt idx="44">
                  <c:v>4.4000000000000004</c:v>
                </c:pt>
                <c:pt idx="45">
                  <c:v>4.5</c:v>
                </c:pt>
                <c:pt idx="46">
                  <c:v>4.6000000000000005</c:v>
                </c:pt>
                <c:pt idx="47">
                  <c:v>4.7</c:v>
                </c:pt>
                <c:pt idx="48">
                  <c:v>4.8000000000000007</c:v>
                </c:pt>
                <c:pt idx="49">
                  <c:v>4.9000000000000004</c:v>
                </c:pt>
                <c:pt idx="50">
                  <c:v>5</c:v>
                </c:pt>
                <c:pt idx="51">
                  <c:v>5.1000000000000005</c:v>
                </c:pt>
                <c:pt idx="52">
                  <c:v>5.2</c:v>
                </c:pt>
                <c:pt idx="53">
                  <c:v>5.3000000000000007</c:v>
                </c:pt>
                <c:pt idx="54">
                  <c:v>5.4</c:v>
                </c:pt>
                <c:pt idx="55">
                  <c:v>5.5</c:v>
                </c:pt>
                <c:pt idx="56">
                  <c:v>5.6000000000000005</c:v>
                </c:pt>
                <c:pt idx="57">
                  <c:v>5.7</c:v>
                </c:pt>
                <c:pt idx="58">
                  <c:v>5.8000000000000007</c:v>
                </c:pt>
                <c:pt idx="59">
                  <c:v>5.9</c:v>
                </c:pt>
                <c:pt idx="60">
                  <c:v>6</c:v>
                </c:pt>
                <c:pt idx="61">
                  <c:v>6.1000000000000005</c:v>
                </c:pt>
                <c:pt idx="62">
                  <c:v>6.2</c:v>
                </c:pt>
                <c:pt idx="63">
                  <c:v>6.3000000000000007</c:v>
                </c:pt>
                <c:pt idx="64">
                  <c:v>6.4</c:v>
                </c:pt>
                <c:pt idx="65">
                  <c:v>6.5</c:v>
                </c:pt>
                <c:pt idx="66">
                  <c:v>6.6000000000000005</c:v>
                </c:pt>
                <c:pt idx="67">
                  <c:v>6.7</c:v>
                </c:pt>
                <c:pt idx="68">
                  <c:v>6.8000000000000007</c:v>
                </c:pt>
                <c:pt idx="69">
                  <c:v>6.9</c:v>
                </c:pt>
                <c:pt idx="70">
                  <c:v>7</c:v>
                </c:pt>
                <c:pt idx="71">
                  <c:v>7.1000000000000005</c:v>
                </c:pt>
                <c:pt idx="72">
                  <c:v>7.2</c:v>
                </c:pt>
                <c:pt idx="73">
                  <c:v>7.3000000000000007</c:v>
                </c:pt>
                <c:pt idx="74">
                  <c:v>7.4</c:v>
                </c:pt>
                <c:pt idx="75">
                  <c:v>7.5</c:v>
                </c:pt>
                <c:pt idx="76">
                  <c:v>7.6000000000000005</c:v>
                </c:pt>
                <c:pt idx="77">
                  <c:v>7.7</c:v>
                </c:pt>
                <c:pt idx="78">
                  <c:v>7.8000000000000007</c:v>
                </c:pt>
                <c:pt idx="79">
                  <c:v>7.9</c:v>
                </c:pt>
                <c:pt idx="80">
                  <c:v>8</c:v>
                </c:pt>
                <c:pt idx="81">
                  <c:v>8.1</c:v>
                </c:pt>
                <c:pt idx="82">
                  <c:v>8.2000000000000011</c:v>
                </c:pt>
                <c:pt idx="83">
                  <c:v>8.3000000000000007</c:v>
                </c:pt>
                <c:pt idx="84">
                  <c:v>8.4</c:v>
                </c:pt>
                <c:pt idx="85">
                  <c:v>8.5</c:v>
                </c:pt>
                <c:pt idx="86">
                  <c:v>8.6</c:v>
                </c:pt>
                <c:pt idx="87">
                  <c:v>8.7000000000000011</c:v>
                </c:pt>
                <c:pt idx="88">
                  <c:v>8.8000000000000007</c:v>
                </c:pt>
                <c:pt idx="89">
                  <c:v>8.9</c:v>
                </c:pt>
                <c:pt idx="90">
                  <c:v>9</c:v>
                </c:pt>
                <c:pt idx="91">
                  <c:v>9.1</c:v>
                </c:pt>
                <c:pt idx="92">
                  <c:v>9.2000000000000011</c:v>
                </c:pt>
                <c:pt idx="93">
                  <c:v>9.3000000000000007</c:v>
                </c:pt>
                <c:pt idx="94">
                  <c:v>9.4</c:v>
                </c:pt>
                <c:pt idx="95">
                  <c:v>9.5</c:v>
                </c:pt>
                <c:pt idx="96">
                  <c:v>9.6000000000000014</c:v>
                </c:pt>
                <c:pt idx="97">
                  <c:v>9.7000000000000011</c:v>
                </c:pt>
                <c:pt idx="98">
                  <c:v>9.8000000000000007</c:v>
                </c:pt>
                <c:pt idx="99">
                  <c:v>9.9</c:v>
                </c:pt>
                <c:pt idx="100">
                  <c:v>10</c:v>
                </c:pt>
              </c:numCache>
            </c:numRef>
          </c:xVal>
          <c:yVal>
            <c:numRef>
              <c:f>Sheet1!$B$2:$B$102</c:f>
              <c:numCache>
                <c:formatCode>General</c:formatCode>
                <c:ptCount val="101"/>
                <c:pt idx="0">
                  <c:v>0.10726771971049839</c:v>
                </c:pt>
                <c:pt idx="1">
                  <c:v>0.11512373959603805</c:v>
                </c:pt>
                <c:pt idx="2">
                  <c:v>0.12347553625114352</c:v>
                </c:pt>
                <c:pt idx="3">
                  <c:v>0.13234260701127806</c:v>
                </c:pt>
                <c:pt idx="4">
                  <c:v>0.14174347129343295</c:v>
                </c:pt>
                <c:pt idx="5">
                  <c:v>0.15169536855990678</c:v>
                </c:pt>
                <c:pt idx="6">
                  <c:v>0.16221393215368968</c:v>
                </c:pt>
                <c:pt idx="7">
                  <c:v>0.17331284202684674</c:v>
                </c:pt>
                <c:pt idx="8">
                  <c:v>0.18500346057748707</c:v>
                </c:pt>
                <c:pt idx="9">
                  <c:v>0.19729445709727511</c:v>
                </c:pt>
                <c:pt idx="10">
                  <c:v>0.21019142766871526</c:v>
                </c:pt>
                <c:pt idx="11">
                  <c:v>0.22369651868458776</c:v>
                </c:pt>
                <c:pt idx="12">
                  <c:v>0.23780806342244037</c:v>
                </c:pt>
                <c:pt idx="13">
                  <c:v>0.25252024221449548</c:v>
                </c:pt>
                <c:pt idx="14">
                  <c:v>0.26782277761839063</c:v>
                </c:pt>
                <c:pt idx="15">
                  <c:v>0.28370067652336167</c:v>
                </c:pt>
                <c:pt idx="16">
                  <c:v>0.30013403122856525</c:v>
                </c:pt>
                <c:pt idx="17">
                  <c:v>0.31709789112399878</c:v>
                </c:pt>
                <c:pt idx="18">
                  <c:v>0.33456221562744193</c:v>
                </c:pt>
                <c:pt idx="19">
                  <c:v>0.35249191744813152</c:v>
                </c:pt>
                <c:pt idx="20">
                  <c:v>0.37084700306033552</c:v>
                </c:pt>
                <c:pt idx="21">
                  <c:v>0.38958281452034388</c:v>
                </c:pt>
                <c:pt idx="22">
                  <c:v>0.40865037353648404</c:v>
                </c:pt>
                <c:pt idx="23">
                  <c:v>0.42799682513580617</c:v>
                </c:pt>
                <c:pt idx="24">
                  <c:v>0.44756597453438857</c:v>
                </c:pt>
                <c:pt idx="25">
                  <c:v>0.46729890711135708</c:v>
                </c:pt>
                <c:pt idx="26">
                  <c:v>0.48713467792551957</c:v>
                </c:pt>
                <c:pt idx="27">
                  <c:v>0.50701105421218229</c:v>
                </c:pt>
                <c:pt idx="28">
                  <c:v>0.52686529195054776</c:v>
                </c:pt>
                <c:pt idx="29">
                  <c:v>0.54663492605607711</c:v>
                </c:pt>
                <c:pt idx="30">
                  <c:v>0.56625855313224427</c:v>
                </c:pt>
                <c:pt idx="31">
                  <c:v>0.58567658605507</c:v>
                </c:pt>
                <c:pt idx="32">
                  <c:v>0.60483196093822367</c:v>
                </c:pt>
                <c:pt idx="33">
                  <c:v>0.62367077914890323</c:v>
                </c:pt>
                <c:pt idx="34">
                  <c:v>0.64214286987215519</c:v>
                </c:pt>
                <c:pt idx="35">
                  <c:v>0.66020226206872124</c:v>
                </c:pt>
                <c:pt idx="36">
                  <c:v>0.67780755832867967</c:v>
                </c:pt>
                <c:pt idx="37">
                  <c:v>0.69492220687287543</c:v>
                </c:pt>
                <c:pt idx="38">
                  <c:v>0.7115146715897378</c:v>
                </c:pt>
                <c:pt idx="39">
                  <c:v>0.72755850333539129</c:v>
                </c:pt>
                <c:pt idx="40">
                  <c:v>0.74303231862551</c:v>
                </c:pt>
                <c:pt idx="41">
                  <c:v>0.75791969420693694</c:v>
                </c:pt>
                <c:pt idx="42">
                  <c:v>0.77220898775985825</c:v>
                </c:pt>
                <c:pt idx="43">
                  <c:v>0.78589309613463421</c:v>
                </c:pt>
                <c:pt idx="44">
                  <c:v>0.79896916309635346</c:v>
                </c:pt>
                <c:pt idx="45">
                  <c:v>0.81143824859008729</c:v>
                </c:pt>
                <c:pt idx="46">
                  <c:v>0.82330497112725731</c:v>
                </c:pt>
                <c:pt idx="47">
                  <c:v>0.83457713411767454</c:v>
                </c:pt>
                <c:pt idx="48">
                  <c:v>0.84526534592619273</c:v>
                </c:pt>
                <c:pt idx="49">
                  <c:v>0.8553826422086559</c:v>
                </c:pt>
                <c:pt idx="50">
                  <c:v>0.86494411776237123</c:v>
                </c:pt>
                <c:pt idx="51">
                  <c:v>0.87396657378394882</c:v>
                </c:pt>
                <c:pt idx="52">
                  <c:v>0.88246818512107539</c:v>
                </c:pt>
                <c:pt idx="53">
                  <c:v>0.89046819087994999</c:v>
                </c:pt>
                <c:pt idx="54">
                  <c:v>0.89798661063866037</c:v>
                </c:pt>
                <c:pt idx="55">
                  <c:v>0.9050439875386469</c:v>
                </c:pt>
                <c:pt idx="56">
                  <c:v>0.91166115869112341</c:v>
                </c:pt>
                <c:pt idx="57">
                  <c:v>0.91785905264399692</c:v>
                </c:pt>
                <c:pt idx="58">
                  <c:v>0.92365851310211433</c:v>
                </c:pt>
                <c:pt idx="59">
                  <c:v>0.92908014766953306</c:v>
                </c:pt>
                <c:pt idx="60">
                  <c:v>0.93414420007399457</c:v>
                </c:pt>
                <c:pt idx="61">
                  <c:v>0.93887044412623388</c:v>
                </c:pt>
                <c:pt idx="62">
                  <c:v>0.94327809754502379</c:v>
                </c:pt>
                <c:pt idx="63">
                  <c:v>0.94738575372807321</c:v>
                </c:pt>
                <c:pt idx="64">
                  <c:v>0.95121132955507459</c:v>
                </c:pt>
                <c:pt idx="65">
                  <c:v>0.95477202735962863</c:v>
                </c:pt>
                <c:pt idx="66">
                  <c:v>0.95808430929021537</c:v>
                </c:pt>
                <c:pt idx="67">
                  <c:v>0.961163882387158</c:v>
                </c:pt>
                <c:pt idx="68">
                  <c:v>0.96402569282452666</c:v>
                </c:pt>
                <c:pt idx="69">
                  <c:v>0.96668392789645763</c:v>
                </c:pt>
                <c:pt idx="70">
                  <c:v>0.96915202446115667</c:v>
                </c:pt>
                <c:pt idx="71">
                  <c:v>0.97144268268870171</c:v>
                </c:pt>
                <c:pt idx="72">
                  <c:v>0.9735678840876294</c:v>
                </c:pt>
                <c:pt idx="73">
                  <c:v>0.97553891290790362</c:v>
                </c:pt>
                <c:pt idx="74">
                  <c:v>0.97736638013271415</c:v>
                </c:pt>
                <c:pt idx="75">
                  <c:v>0.97906024937773461</c:v>
                </c:pt>
                <c:pt idx="76">
                  <c:v>0.98062986411349351</c:v>
                </c:pt>
                <c:pt idx="77">
                  <c:v>0.98208397571427619</c:v>
                </c:pt>
                <c:pt idx="78">
                  <c:v>0.98343077191565276</c:v>
                </c:pt>
                <c:pt idx="79">
                  <c:v>0.9846779053326592</c:v>
                </c:pt>
                <c:pt idx="80">
                  <c:v>0.98583252175234015</c:v>
                </c:pt>
                <c:pt idx="81">
                  <c:v>0.98690128796835808</c:v>
                </c:pt>
                <c:pt idx="82">
                  <c:v>0.98789041897232466</c:v>
                </c:pt>
                <c:pt idx="83">
                  <c:v>0.98880570435702042</c:v>
                </c:pt>
                <c:pt idx="84">
                  <c:v>0.98965253382140739</c:v>
                </c:pt>
                <c:pt idx="85">
                  <c:v>0.99043592169689043</c:v>
                </c:pt>
                <c:pt idx="86">
                  <c:v>0.99116053043924801</c:v>
                </c:pt>
                <c:pt idx="87">
                  <c:v>0.99183069305156391</c:v>
                </c:pt>
                <c:pt idx="88">
                  <c:v>0.99245043442085834</c:v>
                </c:pt>
                <c:pt idx="89">
                  <c:v>0.99302349156539915</c:v>
                </c:pt>
                <c:pt idx="90">
                  <c:v>0.99355333280127522</c:v>
                </c:pt>
                <c:pt idx="91">
                  <c:v>0.99404317584612156</c:v>
                </c:pt>
                <c:pt idx="92">
                  <c:v>0.99449600488522627</c:v>
                </c:pt>
                <c:pt idx="93">
                  <c:v>0.99491458663090448</c:v>
                </c:pt>
                <c:pt idx="94">
                  <c:v>0.99530148541027863</c:v>
                </c:pt>
                <c:pt idx="95">
                  <c:v>0.99565907731965242</c:v>
                </c:pt>
                <c:pt idx="96">
                  <c:v>0.99598956348573076</c:v>
                </c:pt>
                <c:pt idx="97">
                  <c:v>0.99629498247517689</c:v>
                </c:pt>
                <c:pt idx="98">
                  <c:v>0.99657722189455933</c:v>
                </c:pt>
                <c:pt idx="99">
                  <c:v>0.99683802922275255</c:v>
                </c:pt>
                <c:pt idx="100">
                  <c:v>0.99707902191743003</c:v>
                </c:pt>
              </c:numCache>
            </c:numRef>
          </c:yVal>
          <c:smooth val="0"/>
          <c:extLst>
            <c:ext xmlns:c16="http://schemas.microsoft.com/office/drawing/2014/chart" uri="{C3380CC4-5D6E-409C-BE32-E72D297353CC}">
              <c16:uniqueId val="{00000000-CC4F-4DE6-B709-548B5B7C09F1}"/>
            </c:ext>
          </c:extLst>
        </c:ser>
        <c:ser>
          <c:idx val="1"/>
          <c:order val="1"/>
          <c:tx>
            <c:strRef>
              <c:f>Sheet1!$B$104</c:f>
              <c:strCache>
                <c:ptCount val="1"/>
                <c:pt idx="0">
                  <c:v>Run 0</c:v>
                </c:pt>
              </c:strCache>
            </c:strRef>
          </c:tx>
          <c:spPr>
            <a:ln w="12700">
              <a:solidFill>
                <a:srgbClr val="9AA3AB"/>
              </a:solidFill>
              <a:prstDash val="dash"/>
            </a:ln>
          </c:spPr>
          <c:marker>
            <c:symbol val="none"/>
          </c:marker>
          <c:xVal>
            <c:numRef>
              <c:f>Sheet1!$A$105:$A$106</c:f>
              <c:numCache>
                <c:formatCode>General</c:formatCode>
                <c:ptCount val="2"/>
                <c:pt idx="0">
                  <c:v>0</c:v>
                </c:pt>
                <c:pt idx="1">
                  <c:v>1</c:v>
                </c:pt>
              </c:numCache>
            </c:numRef>
          </c:xVal>
          <c:yVal>
            <c:numRef>
              <c:f>Sheet1!$B$105:$B$106</c:f>
              <c:numCache>
                <c:formatCode>General</c:formatCode>
                <c:ptCount val="2"/>
                <c:pt idx="0">
                  <c:v>0.10726771971049839</c:v>
                </c:pt>
                <c:pt idx="1">
                  <c:v>0.10726771971049839</c:v>
                </c:pt>
              </c:numCache>
            </c:numRef>
          </c:yVal>
          <c:smooth val="0"/>
          <c:extLst>
            <c:ext xmlns:c16="http://schemas.microsoft.com/office/drawing/2014/chart" uri="{C3380CC4-5D6E-409C-BE32-E72D297353CC}">
              <c16:uniqueId val="{00000001-CC4F-4DE6-B709-548B5B7C09F1}"/>
            </c:ext>
          </c:extLst>
        </c:ser>
        <c:ser>
          <c:idx val="2"/>
          <c:order val="2"/>
          <c:tx>
            <c:strRef>
              <c:f>Sheet1!$B$108</c:f>
              <c:strCache>
                <c:ptCount val="1"/>
                <c:pt idx="0">
                  <c:v>Rise 0</c:v>
                </c:pt>
              </c:strCache>
            </c:strRef>
          </c:tx>
          <c:spPr>
            <a:ln w="34925">
              <a:solidFill>
                <a:srgbClr val="B88C00"/>
              </a:solidFill>
            </a:ln>
          </c:spPr>
          <c:marker>
            <c:symbol val="none"/>
          </c:marker>
          <c:dLbls>
            <c:dLbl>
              <c:idx val="1"/>
              <c:tx>
                <c:rich>
                  <a:bodyPr/>
                  <a:lstStyle/>
                  <a:p>
                    <a:r>
                      <a:rPr lang="en-US" sz="1100" b="1">
                        <a:solidFill>
                          <a:srgbClr val="7A5C00"/>
                        </a:solidFill>
                      </a:rPr>
                      <a:t>+10</a:t>
                    </a:r>
                  </a:p>
                </c:rich>
              </c:tx>
              <c:dLblPos val="r"/>
              <c:showLegendKey val="0"/>
              <c:showVal val="1"/>
              <c:showCatName val="0"/>
              <c:showSerName val="0"/>
              <c:showPercent val="0"/>
              <c:showBubbleSize val="0"/>
              <c:extLst>
                <c:ext xmlns:c15="http://schemas.microsoft.com/office/drawing/2012/chart" uri="{CE6537A1-D6FC-4f65-9D91-7224C49458BB}">
                  <c15:layout>
                    <c:manualLayout>
                      <c:w val="7.6899999999999996E-2"/>
                      <c:h val="5.4199999999999998E-2"/>
                    </c:manualLayout>
                  </c15:layout>
                  <c15:showDataLabelsRange val="0"/>
                </c:ext>
                <c:ext xmlns:c16="http://schemas.microsoft.com/office/drawing/2014/chart" uri="{C3380CC4-5D6E-409C-BE32-E72D297353CC}">
                  <c16:uniqueId val="{00000002-CC4F-4DE6-B709-548B5B7C09F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Sheet1!$A$109:$A$111</c:f>
              <c:numCache>
                <c:formatCode>General</c:formatCode>
                <c:ptCount val="3"/>
                <c:pt idx="0">
                  <c:v>1</c:v>
                </c:pt>
                <c:pt idx="1">
                  <c:v>1</c:v>
                </c:pt>
                <c:pt idx="2">
                  <c:v>1</c:v>
                </c:pt>
              </c:numCache>
            </c:numRef>
          </c:xVal>
          <c:yVal>
            <c:numRef>
              <c:f>Sheet1!$B$109:$B$111</c:f>
              <c:numCache>
                <c:formatCode>General</c:formatCode>
                <c:ptCount val="3"/>
                <c:pt idx="0">
                  <c:v>0.10726771971049839</c:v>
                </c:pt>
                <c:pt idx="1">
                  <c:v>0.15872957368960683</c:v>
                </c:pt>
                <c:pt idx="2">
                  <c:v>0.21019142766871526</c:v>
                </c:pt>
              </c:numCache>
            </c:numRef>
          </c:yVal>
          <c:smooth val="0"/>
          <c:extLst>
            <c:ext xmlns:c16="http://schemas.microsoft.com/office/drawing/2014/chart" uri="{C3380CC4-5D6E-409C-BE32-E72D297353CC}">
              <c16:uniqueId val="{00000003-CC4F-4DE6-B709-548B5B7C09F1}"/>
            </c:ext>
          </c:extLst>
        </c:ser>
        <c:ser>
          <c:idx val="3"/>
          <c:order val="3"/>
          <c:tx>
            <c:strRef>
              <c:f>Sheet1!$B$113</c:f>
              <c:strCache>
                <c:ptCount val="1"/>
                <c:pt idx="0">
                  <c:v>Run 1</c:v>
                </c:pt>
              </c:strCache>
            </c:strRef>
          </c:tx>
          <c:spPr>
            <a:ln w="12700">
              <a:solidFill>
                <a:srgbClr val="9AA3AB"/>
              </a:solidFill>
              <a:prstDash val="dash"/>
            </a:ln>
          </c:spPr>
          <c:marker>
            <c:symbol val="none"/>
          </c:marker>
          <c:xVal>
            <c:numRef>
              <c:f>Sheet1!$A$114:$A$115</c:f>
              <c:numCache>
                <c:formatCode>General</c:formatCode>
                <c:ptCount val="2"/>
                <c:pt idx="0">
                  <c:v>1</c:v>
                </c:pt>
                <c:pt idx="1">
                  <c:v>2</c:v>
                </c:pt>
              </c:numCache>
            </c:numRef>
          </c:xVal>
          <c:yVal>
            <c:numRef>
              <c:f>Sheet1!$B$114:$B$115</c:f>
              <c:numCache>
                <c:formatCode>General</c:formatCode>
                <c:ptCount val="2"/>
                <c:pt idx="0">
                  <c:v>0.21019142766871526</c:v>
                </c:pt>
                <c:pt idx="1">
                  <c:v>0.21019142766871526</c:v>
                </c:pt>
              </c:numCache>
            </c:numRef>
          </c:yVal>
          <c:smooth val="0"/>
          <c:extLst>
            <c:ext xmlns:c16="http://schemas.microsoft.com/office/drawing/2014/chart" uri="{C3380CC4-5D6E-409C-BE32-E72D297353CC}">
              <c16:uniqueId val="{00000004-CC4F-4DE6-B709-548B5B7C09F1}"/>
            </c:ext>
          </c:extLst>
        </c:ser>
        <c:ser>
          <c:idx val="4"/>
          <c:order val="4"/>
          <c:tx>
            <c:strRef>
              <c:f>Sheet1!$B$117</c:f>
              <c:strCache>
                <c:ptCount val="1"/>
                <c:pt idx="0">
                  <c:v>Rise 1</c:v>
                </c:pt>
              </c:strCache>
            </c:strRef>
          </c:tx>
          <c:spPr>
            <a:ln w="34925">
              <a:solidFill>
                <a:srgbClr val="B88C00"/>
              </a:solidFill>
            </a:ln>
          </c:spPr>
          <c:marker>
            <c:symbol val="none"/>
          </c:marker>
          <c:dLbls>
            <c:dLbl>
              <c:idx val="1"/>
              <c:tx>
                <c:rich>
                  <a:bodyPr/>
                  <a:lstStyle/>
                  <a:p>
                    <a:r>
                      <a:rPr lang="en-US" sz="1100" b="1">
                        <a:solidFill>
                          <a:srgbClr val="7A5C00"/>
                        </a:solidFill>
                      </a:rPr>
                      <a:t>+16</a:t>
                    </a:r>
                  </a:p>
                </c:rich>
              </c:tx>
              <c:dLblPos val="r"/>
              <c:showLegendKey val="0"/>
              <c:showVal val="1"/>
              <c:showCatName val="0"/>
              <c:showSerName val="0"/>
              <c:showPercent val="0"/>
              <c:showBubbleSize val="0"/>
              <c:extLst>
                <c:ext xmlns:c15="http://schemas.microsoft.com/office/drawing/2012/chart" uri="{CE6537A1-D6FC-4f65-9D91-7224C49458BB}">
                  <c15:layout>
                    <c:manualLayout>
                      <c:w val="7.6899999999999996E-2"/>
                      <c:h val="5.4199999999999998E-2"/>
                    </c:manualLayout>
                  </c15:layout>
                  <c15:showDataLabelsRange val="0"/>
                </c:ext>
                <c:ext xmlns:c16="http://schemas.microsoft.com/office/drawing/2014/chart" uri="{C3380CC4-5D6E-409C-BE32-E72D297353CC}">
                  <c16:uniqueId val="{00000005-CC4F-4DE6-B709-548B5B7C09F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Sheet1!$A$118:$A$120</c:f>
              <c:numCache>
                <c:formatCode>General</c:formatCode>
                <c:ptCount val="3"/>
                <c:pt idx="0">
                  <c:v>2</c:v>
                </c:pt>
                <c:pt idx="1">
                  <c:v>2</c:v>
                </c:pt>
                <c:pt idx="2">
                  <c:v>2</c:v>
                </c:pt>
              </c:numCache>
            </c:numRef>
          </c:xVal>
          <c:yVal>
            <c:numRef>
              <c:f>Sheet1!$B$118:$B$120</c:f>
              <c:numCache>
                <c:formatCode>General</c:formatCode>
                <c:ptCount val="3"/>
                <c:pt idx="0">
                  <c:v>0.21019142766871526</c:v>
                </c:pt>
                <c:pt idx="1">
                  <c:v>0.29051921536452541</c:v>
                </c:pt>
                <c:pt idx="2">
                  <c:v>0.37084700306033552</c:v>
                </c:pt>
              </c:numCache>
            </c:numRef>
          </c:yVal>
          <c:smooth val="0"/>
          <c:extLst>
            <c:ext xmlns:c16="http://schemas.microsoft.com/office/drawing/2014/chart" uri="{C3380CC4-5D6E-409C-BE32-E72D297353CC}">
              <c16:uniqueId val="{00000006-CC4F-4DE6-B709-548B5B7C09F1}"/>
            </c:ext>
          </c:extLst>
        </c:ser>
        <c:ser>
          <c:idx val="5"/>
          <c:order val="5"/>
          <c:tx>
            <c:strRef>
              <c:f>Sheet1!$B$122</c:f>
              <c:strCache>
                <c:ptCount val="1"/>
                <c:pt idx="0">
                  <c:v>Run 2</c:v>
                </c:pt>
              </c:strCache>
            </c:strRef>
          </c:tx>
          <c:spPr>
            <a:ln w="12700">
              <a:solidFill>
                <a:srgbClr val="9AA3AB"/>
              </a:solidFill>
              <a:prstDash val="dash"/>
            </a:ln>
          </c:spPr>
          <c:marker>
            <c:symbol val="none"/>
          </c:marker>
          <c:xVal>
            <c:numRef>
              <c:f>Sheet1!$A$123:$A$124</c:f>
              <c:numCache>
                <c:formatCode>General</c:formatCode>
                <c:ptCount val="2"/>
                <c:pt idx="0">
                  <c:v>2</c:v>
                </c:pt>
                <c:pt idx="1">
                  <c:v>3</c:v>
                </c:pt>
              </c:numCache>
            </c:numRef>
          </c:xVal>
          <c:yVal>
            <c:numRef>
              <c:f>Sheet1!$B$123:$B$124</c:f>
              <c:numCache>
                <c:formatCode>General</c:formatCode>
                <c:ptCount val="2"/>
                <c:pt idx="0">
                  <c:v>0.37084700306033552</c:v>
                </c:pt>
                <c:pt idx="1">
                  <c:v>0.37084700306033552</c:v>
                </c:pt>
              </c:numCache>
            </c:numRef>
          </c:yVal>
          <c:smooth val="0"/>
          <c:extLst>
            <c:ext xmlns:c16="http://schemas.microsoft.com/office/drawing/2014/chart" uri="{C3380CC4-5D6E-409C-BE32-E72D297353CC}">
              <c16:uniqueId val="{00000007-CC4F-4DE6-B709-548B5B7C09F1}"/>
            </c:ext>
          </c:extLst>
        </c:ser>
        <c:ser>
          <c:idx val="6"/>
          <c:order val="6"/>
          <c:tx>
            <c:strRef>
              <c:f>Sheet1!$B$126</c:f>
              <c:strCache>
                <c:ptCount val="1"/>
                <c:pt idx="0">
                  <c:v>Rise 2</c:v>
                </c:pt>
              </c:strCache>
            </c:strRef>
          </c:tx>
          <c:spPr>
            <a:ln w="34925">
              <a:solidFill>
                <a:srgbClr val="B88C00"/>
              </a:solidFill>
            </a:ln>
          </c:spPr>
          <c:marker>
            <c:symbol val="none"/>
          </c:marker>
          <c:dLbls>
            <c:dLbl>
              <c:idx val="1"/>
              <c:tx>
                <c:rich>
                  <a:bodyPr/>
                  <a:lstStyle/>
                  <a:p>
                    <a:r>
                      <a:rPr lang="en-US" sz="1100" b="1">
                        <a:solidFill>
                          <a:srgbClr val="7A5C00"/>
                        </a:solidFill>
                      </a:rPr>
                      <a:t>+20</a:t>
                    </a:r>
                  </a:p>
                </c:rich>
              </c:tx>
              <c:dLblPos val="r"/>
              <c:showLegendKey val="0"/>
              <c:showVal val="1"/>
              <c:showCatName val="0"/>
              <c:showSerName val="0"/>
              <c:showPercent val="0"/>
              <c:showBubbleSize val="0"/>
              <c:extLst>
                <c:ext xmlns:c15="http://schemas.microsoft.com/office/drawing/2012/chart" uri="{CE6537A1-D6FC-4f65-9D91-7224C49458BB}">
                  <c15:layout>
                    <c:manualLayout>
                      <c:w val="7.6899999999999996E-2"/>
                      <c:h val="5.4199999999999998E-2"/>
                    </c:manualLayout>
                  </c15:layout>
                  <c15:showDataLabelsRange val="0"/>
                </c:ext>
                <c:ext xmlns:c16="http://schemas.microsoft.com/office/drawing/2014/chart" uri="{C3380CC4-5D6E-409C-BE32-E72D297353CC}">
                  <c16:uniqueId val="{00000008-CC4F-4DE6-B709-548B5B7C09F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Sheet1!$A$127:$A$129</c:f>
              <c:numCache>
                <c:formatCode>General</c:formatCode>
                <c:ptCount val="3"/>
                <c:pt idx="0">
                  <c:v>3</c:v>
                </c:pt>
                <c:pt idx="1">
                  <c:v>3</c:v>
                </c:pt>
                <c:pt idx="2">
                  <c:v>3</c:v>
                </c:pt>
              </c:numCache>
            </c:numRef>
          </c:xVal>
          <c:yVal>
            <c:numRef>
              <c:f>Sheet1!$B$127:$B$129</c:f>
              <c:numCache>
                <c:formatCode>General</c:formatCode>
                <c:ptCount val="3"/>
                <c:pt idx="0">
                  <c:v>0.37084700306033552</c:v>
                </c:pt>
                <c:pt idx="1">
                  <c:v>0.46855277809628992</c:v>
                </c:pt>
                <c:pt idx="2">
                  <c:v>0.56625855313224427</c:v>
                </c:pt>
              </c:numCache>
            </c:numRef>
          </c:yVal>
          <c:smooth val="0"/>
          <c:extLst>
            <c:ext xmlns:c16="http://schemas.microsoft.com/office/drawing/2014/chart" uri="{C3380CC4-5D6E-409C-BE32-E72D297353CC}">
              <c16:uniqueId val="{00000009-CC4F-4DE6-B709-548B5B7C09F1}"/>
            </c:ext>
          </c:extLst>
        </c:ser>
        <c:ser>
          <c:idx val="7"/>
          <c:order val="7"/>
          <c:tx>
            <c:strRef>
              <c:f>Sheet1!$B$131</c:f>
              <c:strCache>
                <c:ptCount val="1"/>
                <c:pt idx="0">
                  <c:v>Run 3</c:v>
                </c:pt>
              </c:strCache>
            </c:strRef>
          </c:tx>
          <c:spPr>
            <a:ln w="12700">
              <a:solidFill>
                <a:srgbClr val="9AA3AB"/>
              </a:solidFill>
              <a:prstDash val="dash"/>
            </a:ln>
          </c:spPr>
          <c:marker>
            <c:symbol val="none"/>
          </c:marker>
          <c:xVal>
            <c:numRef>
              <c:f>Sheet1!$A$132:$A$133</c:f>
              <c:numCache>
                <c:formatCode>General</c:formatCode>
                <c:ptCount val="2"/>
                <c:pt idx="0">
                  <c:v>3</c:v>
                </c:pt>
                <c:pt idx="1">
                  <c:v>4</c:v>
                </c:pt>
              </c:numCache>
            </c:numRef>
          </c:xVal>
          <c:yVal>
            <c:numRef>
              <c:f>Sheet1!$B$132:$B$133</c:f>
              <c:numCache>
                <c:formatCode>General</c:formatCode>
                <c:ptCount val="2"/>
                <c:pt idx="0">
                  <c:v>0.56625855313224427</c:v>
                </c:pt>
                <c:pt idx="1">
                  <c:v>0.56625855313224427</c:v>
                </c:pt>
              </c:numCache>
            </c:numRef>
          </c:yVal>
          <c:smooth val="0"/>
          <c:extLst>
            <c:ext xmlns:c16="http://schemas.microsoft.com/office/drawing/2014/chart" uri="{C3380CC4-5D6E-409C-BE32-E72D297353CC}">
              <c16:uniqueId val="{0000000A-CC4F-4DE6-B709-548B5B7C09F1}"/>
            </c:ext>
          </c:extLst>
        </c:ser>
        <c:ser>
          <c:idx val="8"/>
          <c:order val="8"/>
          <c:tx>
            <c:strRef>
              <c:f>Sheet1!$B$135</c:f>
              <c:strCache>
                <c:ptCount val="1"/>
                <c:pt idx="0">
                  <c:v>Rise 3</c:v>
                </c:pt>
              </c:strCache>
            </c:strRef>
          </c:tx>
          <c:spPr>
            <a:ln w="34925">
              <a:solidFill>
                <a:srgbClr val="B88C00"/>
              </a:solidFill>
            </a:ln>
          </c:spPr>
          <c:marker>
            <c:symbol val="none"/>
          </c:marker>
          <c:dLbls>
            <c:dLbl>
              <c:idx val="1"/>
              <c:tx>
                <c:rich>
                  <a:bodyPr/>
                  <a:lstStyle/>
                  <a:p>
                    <a:r>
                      <a:rPr lang="en-US" sz="1100" b="1">
                        <a:solidFill>
                          <a:srgbClr val="7A5C00"/>
                        </a:solidFill>
                      </a:rPr>
                      <a:t>+18</a:t>
                    </a:r>
                  </a:p>
                </c:rich>
              </c:tx>
              <c:dLblPos val="r"/>
              <c:showLegendKey val="0"/>
              <c:showVal val="1"/>
              <c:showCatName val="0"/>
              <c:showSerName val="0"/>
              <c:showPercent val="0"/>
              <c:showBubbleSize val="0"/>
              <c:extLst>
                <c:ext xmlns:c15="http://schemas.microsoft.com/office/drawing/2012/chart" uri="{CE6537A1-D6FC-4f65-9D91-7224C49458BB}">
                  <c15:layout>
                    <c:manualLayout>
                      <c:w val="7.6899999999999996E-2"/>
                      <c:h val="5.4199999999999998E-2"/>
                    </c:manualLayout>
                  </c15:layout>
                  <c15:showDataLabelsRange val="0"/>
                </c:ext>
                <c:ext xmlns:c16="http://schemas.microsoft.com/office/drawing/2014/chart" uri="{C3380CC4-5D6E-409C-BE32-E72D297353CC}">
                  <c16:uniqueId val="{0000000B-CC4F-4DE6-B709-548B5B7C09F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Sheet1!$A$136:$A$138</c:f>
              <c:numCache>
                <c:formatCode>General</c:formatCode>
                <c:ptCount val="3"/>
                <c:pt idx="0">
                  <c:v>4</c:v>
                </c:pt>
                <c:pt idx="1">
                  <c:v>4</c:v>
                </c:pt>
                <c:pt idx="2">
                  <c:v>4</c:v>
                </c:pt>
              </c:numCache>
            </c:numRef>
          </c:xVal>
          <c:yVal>
            <c:numRef>
              <c:f>Sheet1!$B$136:$B$138</c:f>
              <c:numCache>
                <c:formatCode>General</c:formatCode>
                <c:ptCount val="3"/>
                <c:pt idx="0">
                  <c:v>0.56625855313224427</c:v>
                </c:pt>
                <c:pt idx="1">
                  <c:v>0.65464543587887714</c:v>
                </c:pt>
                <c:pt idx="2">
                  <c:v>0.74303231862551</c:v>
                </c:pt>
              </c:numCache>
            </c:numRef>
          </c:yVal>
          <c:smooth val="0"/>
          <c:extLst>
            <c:ext xmlns:c16="http://schemas.microsoft.com/office/drawing/2014/chart" uri="{C3380CC4-5D6E-409C-BE32-E72D297353CC}">
              <c16:uniqueId val="{0000000C-CC4F-4DE6-B709-548B5B7C09F1}"/>
            </c:ext>
          </c:extLst>
        </c:ser>
        <c:ser>
          <c:idx val="9"/>
          <c:order val="9"/>
          <c:tx>
            <c:strRef>
              <c:f>Sheet1!$B$140</c:f>
              <c:strCache>
                <c:ptCount val="1"/>
                <c:pt idx="0">
                  <c:v>Run 4</c:v>
                </c:pt>
              </c:strCache>
            </c:strRef>
          </c:tx>
          <c:spPr>
            <a:ln w="12700">
              <a:solidFill>
                <a:srgbClr val="9AA3AB"/>
              </a:solidFill>
              <a:prstDash val="dash"/>
            </a:ln>
          </c:spPr>
          <c:marker>
            <c:symbol val="none"/>
          </c:marker>
          <c:xVal>
            <c:numRef>
              <c:f>Sheet1!$A$141:$A$142</c:f>
              <c:numCache>
                <c:formatCode>General</c:formatCode>
                <c:ptCount val="2"/>
                <c:pt idx="0">
                  <c:v>4</c:v>
                </c:pt>
                <c:pt idx="1">
                  <c:v>5</c:v>
                </c:pt>
              </c:numCache>
            </c:numRef>
          </c:xVal>
          <c:yVal>
            <c:numRef>
              <c:f>Sheet1!$B$141:$B$142</c:f>
              <c:numCache>
                <c:formatCode>General</c:formatCode>
                <c:ptCount val="2"/>
                <c:pt idx="0">
                  <c:v>0.74303231862551</c:v>
                </c:pt>
                <c:pt idx="1">
                  <c:v>0.74303231862551</c:v>
                </c:pt>
              </c:numCache>
            </c:numRef>
          </c:yVal>
          <c:smooth val="0"/>
          <c:extLst>
            <c:ext xmlns:c16="http://schemas.microsoft.com/office/drawing/2014/chart" uri="{C3380CC4-5D6E-409C-BE32-E72D297353CC}">
              <c16:uniqueId val="{0000000D-CC4F-4DE6-B709-548B5B7C09F1}"/>
            </c:ext>
          </c:extLst>
        </c:ser>
        <c:ser>
          <c:idx val="10"/>
          <c:order val="10"/>
          <c:tx>
            <c:strRef>
              <c:f>Sheet1!$B$144</c:f>
              <c:strCache>
                <c:ptCount val="1"/>
                <c:pt idx="0">
                  <c:v>Rise 4</c:v>
                </c:pt>
              </c:strCache>
            </c:strRef>
          </c:tx>
          <c:spPr>
            <a:ln w="34925">
              <a:solidFill>
                <a:srgbClr val="B88C00"/>
              </a:solidFill>
            </a:ln>
          </c:spPr>
          <c:marker>
            <c:symbol val="none"/>
          </c:marker>
          <c:dLbls>
            <c:dLbl>
              <c:idx val="1"/>
              <c:tx>
                <c:rich>
                  <a:bodyPr/>
                  <a:lstStyle/>
                  <a:p>
                    <a:r>
                      <a:rPr lang="en-US" sz="1100" b="1">
                        <a:solidFill>
                          <a:srgbClr val="7A5C00"/>
                        </a:solidFill>
                      </a:rPr>
                      <a:t>+12</a:t>
                    </a:r>
                  </a:p>
                </c:rich>
              </c:tx>
              <c:dLblPos val="r"/>
              <c:showLegendKey val="0"/>
              <c:showVal val="1"/>
              <c:showCatName val="0"/>
              <c:showSerName val="0"/>
              <c:showPercent val="0"/>
              <c:showBubbleSize val="0"/>
              <c:extLst>
                <c:ext xmlns:c15="http://schemas.microsoft.com/office/drawing/2012/chart" uri="{CE6537A1-D6FC-4f65-9D91-7224C49458BB}">
                  <c15:layout>
                    <c:manualLayout>
                      <c:w val="7.6899999999999996E-2"/>
                      <c:h val="5.4199999999999998E-2"/>
                    </c:manualLayout>
                  </c15:layout>
                  <c15:showDataLabelsRange val="0"/>
                </c:ext>
                <c:ext xmlns:c16="http://schemas.microsoft.com/office/drawing/2014/chart" uri="{C3380CC4-5D6E-409C-BE32-E72D297353CC}">
                  <c16:uniqueId val="{0000000E-CC4F-4DE6-B709-548B5B7C09F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Sheet1!$A$145:$A$147</c:f>
              <c:numCache>
                <c:formatCode>General</c:formatCode>
                <c:ptCount val="3"/>
                <c:pt idx="0">
                  <c:v>5</c:v>
                </c:pt>
                <c:pt idx="1">
                  <c:v>5</c:v>
                </c:pt>
                <c:pt idx="2">
                  <c:v>5</c:v>
                </c:pt>
              </c:numCache>
            </c:numRef>
          </c:xVal>
          <c:yVal>
            <c:numRef>
              <c:f>Sheet1!$B$145:$B$147</c:f>
              <c:numCache>
                <c:formatCode>General</c:formatCode>
                <c:ptCount val="3"/>
                <c:pt idx="0">
                  <c:v>0.74303231862551</c:v>
                </c:pt>
                <c:pt idx="1">
                  <c:v>0.80398821819394062</c:v>
                </c:pt>
                <c:pt idx="2">
                  <c:v>0.86494411776237123</c:v>
                </c:pt>
              </c:numCache>
            </c:numRef>
          </c:yVal>
          <c:smooth val="0"/>
          <c:extLst>
            <c:ext xmlns:c16="http://schemas.microsoft.com/office/drawing/2014/chart" uri="{C3380CC4-5D6E-409C-BE32-E72D297353CC}">
              <c16:uniqueId val="{0000000F-CC4F-4DE6-B709-548B5B7C09F1}"/>
            </c:ext>
          </c:extLst>
        </c:ser>
        <c:ser>
          <c:idx val="11"/>
          <c:order val="11"/>
          <c:tx>
            <c:strRef>
              <c:f>Sheet1!$B$149</c:f>
              <c:strCache>
                <c:ptCount val="1"/>
                <c:pt idx="0">
                  <c:v>Run 5</c:v>
                </c:pt>
              </c:strCache>
            </c:strRef>
          </c:tx>
          <c:spPr>
            <a:ln w="12700">
              <a:solidFill>
                <a:srgbClr val="9AA3AB"/>
              </a:solidFill>
              <a:prstDash val="dash"/>
            </a:ln>
          </c:spPr>
          <c:marker>
            <c:symbol val="none"/>
          </c:marker>
          <c:xVal>
            <c:numRef>
              <c:f>Sheet1!$A$150:$A$151</c:f>
              <c:numCache>
                <c:formatCode>General</c:formatCode>
                <c:ptCount val="2"/>
                <c:pt idx="0">
                  <c:v>5</c:v>
                </c:pt>
                <c:pt idx="1">
                  <c:v>6</c:v>
                </c:pt>
              </c:numCache>
            </c:numRef>
          </c:xVal>
          <c:yVal>
            <c:numRef>
              <c:f>Sheet1!$B$150:$B$151</c:f>
              <c:numCache>
                <c:formatCode>General</c:formatCode>
                <c:ptCount val="2"/>
                <c:pt idx="0">
                  <c:v>0.86494411776237123</c:v>
                </c:pt>
                <c:pt idx="1">
                  <c:v>0.86494411776237123</c:v>
                </c:pt>
              </c:numCache>
            </c:numRef>
          </c:yVal>
          <c:smooth val="0"/>
          <c:extLst>
            <c:ext xmlns:c16="http://schemas.microsoft.com/office/drawing/2014/chart" uri="{C3380CC4-5D6E-409C-BE32-E72D297353CC}">
              <c16:uniqueId val="{00000010-CC4F-4DE6-B709-548B5B7C09F1}"/>
            </c:ext>
          </c:extLst>
        </c:ser>
        <c:ser>
          <c:idx val="12"/>
          <c:order val="12"/>
          <c:tx>
            <c:strRef>
              <c:f>Sheet1!$B$153</c:f>
              <c:strCache>
                <c:ptCount val="1"/>
                <c:pt idx="0">
                  <c:v>Rise 5</c:v>
                </c:pt>
              </c:strCache>
            </c:strRef>
          </c:tx>
          <c:spPr>
            <a:ln w="34925">
              <a:solidFill>
                <a:srgbClr val="B88C00"/>
              </a:solidFill>
            </a:ln>
          </c:spPr>
          <c:marker>
            <c:symbol val="none"/>
          </c:marker>
          <c:dLbls>
            <c:dLbl>
              <c:idx val="1"/>
              <c:tx>
                <c:rich>
                  <a:bodyPr/>
                  <a:lstStyle/>
                  <a:p>
                    <a:r>
                      <a:rPr lang="en-US" sz="1100" b="1">
                        <a:solidFill>
                          <a:srgbClr val="7A5C00"/>
                        </a:solidFill>
                      </a:rPr>
                      <a:t>+7</a:t>
                    </a:r>
                  </a:p>
                </c:rich>
              </c:tx>
              <c:dLblPos val="r"/>
              <c:showLegendKey val="0"/>
              <c:showVal val="1"/>
              <c:showCatName val="0"/>
              <c:showSerName val="0"/>
              <c:showPercent val="0"/>
              <c:showBubbleSize val="0"/>
              <c:extLst>
                <c:ext xmlns:c15="http://schemas.microsoft.com/office/drawing/2012/chart" uri="{CE6537A1-D6FC-4f65-9D91-7224C49458BB}">
                  <c15:layout>
                    <c:manualLayout>
                      <c:w val="5.9400000000000001E-2"/>
                      <c:h val="5.4199999999999998E-2"/>
                    </c:manualLayout>
                  </c15:layout>
                  <c15:showDataLabelsRange val="0"/>
                </c:ext>
                <c:ext xmlns:c16="http://schemas.microsoft.com/office/drawing/2014/chart" uri="{C3380CC4-5D6E-409C-BE32-E72D297353CC}">
                  <c16:uniqueId val="{00000011-CC4F-4DE6-B709-548B5B7C09F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Sheet1!$A$154:$A$156</c:f>
              <c:numCache>
                <c:formatCode>General</c:formatCode>
                <c:ptCount val="3"/>
                <c:pt idx="0">
                  <c:v>6</c:v>
                </c:pt>
                <c:pt idx="1">
                  <c:v>6</c:v>
                </c:pt>
                <c:pt idx="2">
                  <c:v>6</c:v>
                </c:pt>
              </c:numCache>
            </c:numRef>
          </c:xVal>
          <c:yVal>
            <c:numRef>
              <c:f>Sheet1!$B$154:$B$156</c:f>
              <c:numCache>
                <c:formatCode>General</c:formatCode>
                <c:ptCount val="3"/>
                <c:pt idx="0">
                  <c:v>0.86494411776237123</c:v>
                </c:pt>
                <c:pt idx="1">
                  <c:v>0.89954415891818296</c:v>
                </c:pt>
                <c:pt idx="2">
                  <c:v>0.93414420007399457</c:v>
                </c:pt>
              </c:numCache>
            </c:numRef>
          </c:yVal>
          <c:smooth val="0"/>
          <c:extLst>
            <c:ext xmlns:c16="http://schemas.microsoft.com/office/drawing/2014/chart" uri="{C3380CC4-5D6E-409C-BE32-E72D297353CC}">
              <c16:uniqueId val="{00000012-CC4F-4DE6-B709-548B5B7C09F1}"/>
            </c:ext>
          </c:extLst>
        </c:ser>
        <c:ser>
          <c:idx val="13"/>
          <c:order val="13"/>
          <c:tx>
            <c:strRef>
              <c:f>Sheet1!$B$158</c:f>
              <c:strCache>
                <c:ptCount val="1"/>
                <c:pt idx="0">
                  <c:v>Intercept</c:v>
                </c:pt>
              </c:strCache>
            </c:strRef>
          </c:tx>
          <c:spPr>
            <a:ln>
              <a:noFill/>
            </a:ln>
          </c:spPr>
          <c:marker>
            <c:symbol val="circle"/>
            <c:size val="9"/>
            <c:spPr>
              <a:solidFill>
                <a:srgbClr val="3F739B"/>
              </a:solidFill>
              <a:ln w="12700">
                <a:solidFill>
                  <a:srgbClr val="FFFFFF"/>
                </a:solidFill>
              </a:ln>
            </c:spPr>
          </c:marker>
          <c:xVal>
            <c:numRef>
              <c:f>Sheet1!$A$159:$A$159</c:f>
              <c:numCache>
                <c:formatCode>General</c:formatCode>
                <c:ptCount val="1"/>
                <c:pt idx="0">
                  <c:v>0</c:v>
                </c:pt>
              </c:numCache>
            </c:numRef>
          </c:xVal>
          <c:yVal>
            <c:numRef>
              <c:f>Sheet1!$B$159:$B$159</c:f>
              <c:numCache>
                <c:formatCode>General</c:formatCode>
                <c:ptCount val="1"/>
                <c:pt idx="0">
                  <c:v>0.10726771971049839</c:v>
                </c:pt>
              </c:numCache>
            </c:numRef>
          </c:yVal>
          <c:smooth val="0"/>
          <c:extLst>
            <c:ext xmlns:c16="http://schemas.microsoft.com/office/drawing/2014/chart" uri="{C3380CC4-5D6E-409C-BE32-E72D297353CC}">
              <c16:uniqueId val="{00000013-CC4F-4DE6-B709-548B5B7C09F1}"/>
            </c:ext>
          </c:extLst>
        </c:ser>
        <c:dLbls>
          <c:showLegendKey val="0"/>
          <c:showVal val="0"/>
          <c:showCatName val="0"/>
          <c:showSerName val="0"/>
          <c:showPercent val="0"/>
          <c:showBubbleSize val="0"/>
        </c:dLbls>
        <c:axId val="-2128940872"/>
        <c:axId val="-2129643912"/>
      </c:scatterChart>
      <c:valAx>
        <c:axId val="-2128940872"/>
        <c:scaling>
          <c:orientation val="minMax"/>
          <c:max val="10"/>
          <c:min val="0"/>
        </c:scaling>
        <c:delete val="0"/>
        <c:axPos val="b"/>
        <c:title>
          <c:tx>
            <c:rich>
              <a:bodyPr/>
              <a:lstStyle/>
              <a:p>
                <a:r>
                  <a:rPr lang="en-GB" sz="1200" b="0">
                    <a:solidFill>
                      <a:srgbClr val="55606B"/>
                    </a:solidFill>
                  </a:rPr>
                  <a:t>Household income (£10,000s)</a:t>
                </a:r>
              </a:p>
            </c:rich>
          </c:tx>
          <c:overlay val="0"/>
        </c:title>
        <c:numFmt formatCode="General" sourceLinked="1"/>
        <c:majorTickMark val="out"/>
        <c:minorTickMark val="none"/>
        <c:tickLblPos val="nextTo"/>
        <c:spPr>
          <a:ln>
            <a:solidFill>
              <a:srgbClr val="BBC4CC"/>
            </a:solidFill>
          </a:ln>
        </c:spPr>
        <c:txPr>
          <a:bodyPr/>
          <a:lstStyle/>
          <a:p>
            <a:pPr>
              <a:defRPr sz="1200">
                <a:solidFill>
                  <a:srgbClr val="55606B"/>
                </a:solidFill>
              </a:defRPr>
            </a:pPr>
            <a:endParaRPr lang="en-US"/>
          </a:p>
        </c:txPr>
        <c:crossAx val="-2129643912"/>
        <c:crosses val="min"/>
        <c:crossBetween val="midCat"/>
        <c:majorUnit val="1"/>
      </c:valAx>
      <c:valAx>
        <c:axId val="-2129643912"/>
        <c:scaling>
          <c:orientation val="minMax"/>
          <c:max val="1"/>
          <c:min val="0"/>
        </c:scaling>
        <c:delete val="0"/>
        <c:axPos val="l"/>
        <c:majorGridlines>
          <c:spPr>
            <a:ln w="9525">
              <a:solidFill>
                <a:srgbClr val="DDE3E8"/>
              </a:solidFill>
            </a:ln>
          </c:spPr>
        </c:majorGridlines>
        <c:title>
          <c:tx>
            <c:rich>
              <a:bodyPr/>
              <a:lstStyle/>
              <a:p>
                <a:r>
                  <a:rPr lang="en-GB" sz="1200" b="0">
                    <a:solidFill>
                      <a:srgbClr val="55606B"/>
                    </a:solidFill>
                  </a:rPr>
                  <a:t>Probability of owning a car</a:t>
                </a:r>
              </a:p>
            </c:rich>
          </c:tx>
          <c:overlay val="0"/>
        </c:title>
        <c:numFmt formatCode="0%" sourceLinked="0"/>
        <c:majorTickMark val="out"/>
        <c:minorTickMark val="none"/>
        <c:tickLblPos val="nextTo"/>
        <c:spPr>
          <a:ln>
            <a:solidFill>
              <a:srgbClr val="BBC4CC"/>
            </a:solidFill>
          </a:ln>
        </c:spPr>
        <c:txPr>
          <a:bodyPr/>
          <a:lstStyle/>
          <a:p>
            <a:pPr>
              <a:defRPr sz="1200">
                <a:solidFill>
                  <a:srgbClr val="55606B"/>
                </a:solidFill>
              </a:defRPr>
            </a:pPr>
            <a:endParaRPr lang="en-US"/>
          </a:p>
        </c:txPr>
        <c:crossAx val="-2128940872"/>
        <c:crosses val="autoZero"/>
        <c:crossBetween val="midCat"/>
        <c:majorUnit val="0.25"/>
      </c:valAx>
    </c:plotArea>
    <c:plotVisOnly val="1"/>
    <c:dispBlanksAs val="gap"/>
    <c:showDLblsOverMax val="0"/>
  </c:chart>
  <c:txPr>
    <a:bodyPr/>
    <a:lstStyle/>
    <a:p>
      <a:pPr>
        <a:defRPr sz="1200">
          <a:solidFill>
            <a:srgbClr val="55606B"/>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Men</c:v>
                </c:pt>
              </c:strCache>
            </c:strRef>
          </c:tx>
          <c:spPr>
            <a:ln w="38100">
              <a:solidFill>
                <a:srgbClr val="1F394D"/>
              </a:solidFill>
            </a:ln>
          </c:spPr>
          <c:marker>
            <c:symbol val="none"/>
          </c:marker>
          <c:xVal>
            <c:numRef>
              <c:f>Sheet1!$A$2:$A$82</c:f>
              <c:numCache>
                <c:formatCode>General</c:formatCode>
                <c:ptCount val="81"/>
                <c:pt idx="0">
                  <c:v>17</c:v>
                </c:pt>
                <c:pt idx="1">
                  <c:v>18</c:v>
                </c:pt>
                <c:pt idx="2">
                  <c:v>19</c:v>
                </c:pt>
                <c:pt idx="3">
                  <c:v>20</c:v>
                </c:pt>
                <c:pt idx="4">
                  <c:v>21</c:v>
                </c:pt>
                <c:pt idx="5">
                  <c:v>22</c:v>
                </c:pt>
                <c:pt idx="6">
                  <c:v>23</c:v>
                </c:pt>
                <c:pt idx="7">
                  <c:v>24</c:v>
                </c:pt>
                <c:pt idx="8">
                  <c:v>25</c:v>
                </c:pt>
                <c:pt idx="9">
                  <c:v>26</c:v>
                </c:pt>
                <c:pt idx="10">
                  <c:v>27</c:v>
                </c:pt>
                <c:pt idx="11">
                  <c:v>28</c:v>
                </c:pt>
                <c:pt idx="12">
                  <c:v>29</c:v>
                </c:pt>
                <c:pt idx="13">
                  <c:v>30</c:v>
                </c:pt>
                <c:pt idx="14">
                  <c:v>31</c:v>
                </c:pt>
                <c:pt idx="15">
                  <c:v>32</c:v>
                </c:pt>
                <c:pt idx="16">
                  <c:v>33</c:v>
                </c:pt>
                <c:pt idx="17">
                  <c:v>34</c:v>
                </c:pt>
                <c:pt idx="18">
                  <c:v>35</c:v>
                </c:pt>
                <c:pt idx="19">
                  <c:v>36</c:v>
                </c:pt>
                <c:pt idx="20">
                  <c:v>37</c:v>
                </c:pt>
                <c:pt idx="21">
                  <c:v>38</c:v>
                </c:pt>
                <c:pt idx="22">
                  <c:v>39</c:v>
                </c:pt>
                <c:pt idx="23">
                  <c:v>40</c:v>
                </c:pt>
                <c:pt idx="24">
                  <c:v>41</c:v>
                </c:pt>
                <c:pt idx="25">
                  <c:v>42</c:v>
                </c:pt>
                <c:pt idx="26">
                  <c:v>43</c:v>
                </c:pt>
                <c:pt idx="27">
                  <c:v>44</c:v>
                </c:pt>
                <c:pt idx="28">
                  <c:v>45</c:v>
                </c:pt>
                <c:pt idx="29">
                  <c:v>46</c:v>
                </c:pt>
                <c:pt idx="30">
                  <c:v>47</c:v>
                </c:pt>
                <c:pt idx="31">
                  <c:v>48</c:v>
                </c:pt>
                <c:pt idx="32">
                  <c:v>49</c:v>
                </c:pt>
                <c:pt idx="33">
                  <c:v>50</c:v>
                </c:pt>
                <c:pt idx="34">
                  <c:v>51</c:v>
                </c:pt>
                <c:pt idx="35">
                  <c:v>52</c:v>
                </c:pt>
                <c:pt idx="36">
                  <c:v>53</c:v>
                </c:pt>
                <c:pt idx="37">
                  <c:v>54</c:v>
                </c:pt>
                <c:pt idx="38">
                  <c:v>55</c:v>
                </c:pt>
                <c:pt idx="39">
                  <c:v>56</c:v>
                </c:pt>
                <c:pt idx="40">
                  <c:v>57</c:v>
                </c:pt>
                <c:pt idx="41">
                  <c:v>58</c:v>
                </c:pt>
                <c:pt idx="42">
                  <c:v>59</c:v>
                </c:pt>
                <c:pt idx="43">
                  <c:v>60</c:v>
                </c:pt>
                <c:pt idx="44">
                  <c:v>61</c:v>
                </c:pt>
                <c:pt idx="45">
                  <c:v>62</c:v>
                </c:pt>
                <c:pt idx="46">
                  <c:v>63</c:v>
                </c:pt>
                <c:pt idx="47">
                  <c:v>64</c:v>
                </c:pt>
                <c:pt idx="48">
                  <c:v>65</c:v>
                </c:pt>
                <c:pt idx="49">
                  <c:v>66</c:v>
                </c:pt>
                <c:pt idx="50">
                  <c:v>67</c:v>
                </c:pt>
                <c:pt idx="51">
                  <c:v>68</c:v>
                </c:pt>
                <c:pt idx="52">
                  <c:v>69</c:v>
                </c:pt>
                <c:pt idx="53">
                  <c:v>70</c:v>
                </c:pt>
                <c:pt idx="54">
                  <c:v>71</c:v>
                </c:pt>
                <c:pt idx="55">
                  <c:v>72</c:v>
                </c:pt>
                <c:pt idx="56">
                  <c:v>73</c:v>
                </c:pt>
                <c:pt idx="57">
                  <c:v>74</c:v>
                </c:pt>
                <c:pt idx="58">
                  <c:v>75</c:v>
                </c:pt>
                <c:pt idx="59">
                  <c:v>76</c:v>
                </c:pt>
                <c:pt idx="60">
                  <c:v>77</c:v>
                </c:pt>
                <c:pt idx="61">
                  <c:v>78</c:v>
                </c:pt>
                <c:pt idx="62">
                  <c:v>79</c:v>
                </c:pt>
                <c:pt idx="63">
                  <c:v>80</c:v>
                </c:pt>
                <c:pt idx="64">
                  <c:v>81</c:v>
                </c:pt>
                <c:pt idx="65">
                  <c:v>82</c:v>
                </c:pt>
                <c:pt idx="66">
                  <c:v>83</c:v>
                </c:pt>
                <c:pt idx="67">
                  <c:v>84</c:v>
                </c:pt>
                <c:pt idx="68">
                  <c:v>85</c:v>
                </c:pt>
                <c:pt idx="69">
                  <c:v>86</c:v>
                </c:pt>
                <c:pt idx="70">
                  <c:v>87</c:v>
                </c:pt>
                <c:pt idx="71">
                  <c:v>88</c:v>
                </c:pt>
                <c:pt idx="72">
                  <c:v>89</c:v>
                </c:pt>
                <c:pt idx="73">
                  <c:v>90</c:v>
                </c:pt>
                <c:pt idx="74">
                  <c:v>91</c:v>
                </c:pt>
                <c:pt idx="75">
                  <c:v>92</c:v>
                </c:pt>
                <c:pt idx="76">
                  <c:v>93</c:v>
                </c:pt>
                <c:pt idx="77">
                  <c:v>94</c:v>
                </c:pt>
                <c:pt idx="78">
                  <c:v>95</c:v>
                </c:pt>
                <c:pt idx="79">
                  <c:v>96</c:v>
                </c:pt>
                <c:pt idx="80">
                  <c:v>97</c:v>
                </c:pt>
              </c:numCache>
            </c:numRef>
          </c:xVal>
          <c:yVal>
            <c:numRef>
              <c:f>Sheet1!$B$2:$B$82</c:f>
              <c:numCache>
                <c:formatCode>General</c:formatCode>
                <c:ptCount val="81"/>
                <c:pt idx="0">
                  <c:v>0.46226445668935845</c:v>
                </c:pt>
                <c:pt idx="1">
                  <c:v>0.46381375013743964</c:v>
                </c:pt>
                <c:pt idx="2">
                  <c:v>0.46536374242511475</c:v>
                </c:pt>
                <c:pt idx="3">
                  <c:v>0.46691440391373124</c:v>
                </c:pt>
                <c:pt idx="4">
                  <c:v>0.46846570491304396</c:v>
                </c:pt>
                <c:pt idx="5">
                  <c:v>0.47001761568347278</c:v>
                </c:pt>
                <c:pt idx="6">
                  <c:v>0.47157010643836839</c:v>
                </c:pt>
                <c:pt idx="7">
                  <c:v>0.47312314734628597</c:v>
                </c:pt>
                <c:pt idx="8">
                  <c:v>0.47467670853326577</c:v>
                </c:pt>
                <c:pt idx="9">
                  <c:v>0.476230760085121</c:v>
                </c:pt>
                <c:pt idx="10">
                  <c:v>0.4777852720497322</c:v>
                </c:pt>
                <c:pt idx="11">
                  <c:v>0.47934021443934771</c:v>
                </c:pt>
                <c:pt idx="12">
                  <c:v>0.48089555723289057</c:v>
                </c:pt>
                <c:pt idx="13">
                  <c:v>0.48245127037826985</c:v>
                </c:pt>
                <c:pt idx="14">
                  <c:v>0.48400732379469819</c:v>
                </c:pt>
                <c:pt idx="15">
                  <c:v>0.48556368737501338</c:v>
                </c:pt>
                <c:pt idx="16">
                  <c:v>0.48712033098800422</c:v>
                </c:pt>
                <c:pt idx="17">
                  <c:v>0.48867722448074119</c:v>
                </c:pt>
                <c:pt idx="18">
                  <c:v>0.4902343376809094</c:v>
                </c:pt>
                <c:pt idx="19">
                  <c:v>0.4917916403991458</c:v>
                </c:pt>
                <c:pt idx="20">
                  <c:v>0.49334910243137908</c:v>
                </c:pt>
                <c:pt idx="21">
                  <c:v>0.49490669356117101</c:v>
                </c:pt>
                <c:pt idx="22">
                  <c:v>0.49646438356206124</c:v>
                </c:pt>
                <c:pt idx="23">
                  <c:v>0.49802214219991275</c:v>
                </c:pt>
                <c:pt idx="24">
                  <c:v>0.49957993923525884</c:v>
                </c:pt>
                <c:pt idx="25">
                  <c:v>0.5011377444256514</c:v>
                </c:pt>
                <c:pt idx="26">
                  <c:v>0.5026955275280085</c:v>
                </c:pt>
                <c:pt idx="27">
                  <c:v>0.50425325830096401</c:v>
                </c:pt>
                <c:pt idx="28">
                  <c:v>0.50581090650721505</c:v>
                </c:pt>
                <c:pt idx="29">
                  <c:v>0.50736844191586961</c:v>
                </c:pt>
                <c:pt idx="30">
                  <c:v>0.50892583430479332</c:v>
                </c:pt>
                <c:pt idx="31">
                  <c:v>0.51048305346295419</c:v>
                </c:pt>
                <c:pt idx="32">
                  <c:v>0.51204006919276635</c:v>
                </c:pt>
                <c:pt idx="33">
                  <c:v>0.51359685131243049</c:v>
                </c:pt>
                <c:pt idx="34">
                  <c:v>0.51515336965827241</c:v>
                </c:pt>
                <c:pt idx="35">
                  <c:v>0.51670959408707839</c:v>
                </c:pt>
                <c:pt idx="36">
                  <c:v>0.51826549447842774</c:v>
                </c:pt>
                <c:pt idx="37">
                  <c:v>0.51982104073702029</c:v>
                </c:pt>
                <c:pt idx="38">
                  <c:v>0.52137620279500119</c:v>
                </c:pt>
                <c:pt idx="39">
                  <c:v>0.52293095061427997</c:v>
                </c:pt>
                <c:pt idx="40">
                  <c:v>0.52448525418884584</c:v>
                </c:pt>
                <c:pt idx="41">
                  <c:v>0.52603908354707718</c:v>
                </c:pt>
                <c:pt idx="42">
                  <c:v>0.52759240875404434</c:v>
                </c:pt>
                <c:pt idx="43">
                  <c:v>0.52914519991380882</c:v>
                </c:pt>
                <c:pt idx="44">
                  <c:v>0.53069742717171364</c:v>
                </c:pt>
                <c:pt idx="45">
                  <c:v>0.53224906071666855</c:v>
                </c:pt>
                <c:pt idx="46">
                  <c:v>0.53380007078342706</c:v>
                </c:pt>
                <c:pt idx="47">
                  <c:v>0.53535042765485719</c:v>
                </c:pt>
                <c:pt idx="48">
                  <c:v>0.53690010166420221</c:v>
                </c:pt>
                <c:pt idx="49">
                  <c:v>0.53844906319733588</c:v>
                </c:pt>
                <c:pt idx="50">
                  <c:v>0.53999728269500702</c:v>
                </c:pt>
                <c:pt idx="51">
                  <c:v>0.54154473065507613</c:v>
                </c:pt>
                <c:pt idx="52">
                  <c:v>0.54309137763474169</c:v>
                </c:pt>
                <c:pt idx="53">
                  <c:v>0.54463719425275881</c:v>
                </c:pt>
                <c:pt idx="54">
                  <c:v>0.54618215119164537</c:v>
                </c:pt>
                <c:pt idx="55">
                  <c:v>0.54772621919987918</c:v>
                </c:pt>
                <c:pt idx="56">
                  <c:v>0.54926936909408486</c:v>
                </c:pt>
                <c:pt idx="57">
                  <c:v>0.55081157176120843</c:v>
                </c:pt>
                <c:pt idx="58">
                  <c:v>0.55235279816068128</c:v>
                </c:pt>
                <c:pt idx="59">
                  <c:v>0.55389301932657253</c:v>
                </c:pt>
                <c:pt idx="60">
                  <c:v>0.55543220636972868</c:v>
                </c:pt>
                <c:pt idx="61">
                  <c:v>0.55697033047990141</c:v>
                </c:pt>
                <c:pt idx="62">
                  <c:v>0.55850736292786263</c:v>
                </c:pt>
                <c:pt idx="63">
                  <c:v>0.56004327506750595</c:v>
                </c:pt>
                <c:pt idx="64">
                  <c:v>0.56157803833793596</c:v>
                </c:pt>
                <c:pt idx="65">
                  <c:v>0.56311162426554251</c:v>
                </c:pt>
                <c:pt idx="66">
                  <c:v>0.56464400446606178</c:v>
                </c:pt>
                <c:pt idx="67">
                  <c:v>0.56617515064662272</c:v>
                </c:pt>
                <c:pt idx="68">
                  <c:v>0.56770503460777955</c:v>
                </c:pt>
                <c:pt idx="69">
                  <c:v>0.56923362824552826</c:v>
                </c:pt>
                <c:pt idx="70">
                  <c:v>0.570760903553309</c:v>
                </c:pt>
                <c:pt idx="71">
                  <c:v>0.57228683262399238</c:v>
                </c:pt>
                <c:pt idx="72">
                  <c:v>0.57381138765185036</c:v>
                </c:pt>
                <c:pt idx="73">
                  <c:v>0.57533454093451009</c:v>
                </c:pt>
                <c:pt idx="74">
                  <c:v>0.57685626487489339</c:v>
                </c:pt>
                <c:pt idx="75">
                  <c:v>0.57837653198313788</c:v>
                </c:pt>
                <c:pt idx="76">
                  <c:v>0.57989531487850132</c:v>
                </c:pt>
                <c:pt idx="77">
                  <c:v>0.58141258629125026</c:v>
                </c:pt>
                <c:pt idx="78">
                  <c:v>0.58292831906452991</c:v>
                </c:pt>
                <c:pt idx="79">
                  <c:v>0.58444248615621675</c:v>
                </c:pt>
                <c:pt idx="80">
                  <c:v>0.58595506064075276</c:v>
                </c:pt>
              </c:numCache>
            </c:numRef>
          </c:yVal>
          <c:smooth val="0"/>
          <c:extLst>
            <c:ext xmlns:c16="http://schemas.microsoft.com/office/drawing/2014/chart" uri="{C3380CC4-5D6E-409C-BE32-E72D297353CC}">
              <c16:uniqueId val="{00000000-31CA-4433-B016-6B0400BA68C7}"/>
            </c:ext>
          </c:extLst>
        </c:ser>
        <c:ser>
          <c:idx val="1"/>
          <c:order val="1"/>
          <c:tx>
            <c:strRef>
              <c:f>Sheet1!$B$84</c:f>
              <c:strCache>
                <c:ptCount val="1"/>
                <c:pt idx="0">
                  <c:v>Men beyond the data</c:v>
                </c:pt>
              </c:strCache>
            </c:strRef>
          </c:tx>
          <c:spPr>
            <a:ln w="25400">
              <a:solidFill>
                <a:srgbClr val="1F394D"/>
              </a:solidFill>
              <a:prstDash val="dash"/>
            </a:ln>
          </c:spPr>
          <c:marker>
            <c:symbol val="none"/>
          </c:marker>
          <c:xVal>
            <c:numRef>
              <c:f>Sheet1!$A$85:$A$102</c:f>
              <c:numCache>
                <c:formatCode>General</c:formatCode>
                <c:ptCount val="1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numCache>
            </c:numRef>
          </c:xVal>
          <c:yVal>
            <c:numRef>
              <c:f>Sheet1!$B$85:$B$102</c:f>
              <c:numCache>
                <c:formatCode>General</c:formatCode>
                <c:ptCount val="18"/>
                <c:pt idx="0">
                  <c:v>0.43606181516543258</c:v>
                </c:pt>
                <c:pt idx="1">
                  <c:v>0.43759475436764156</c:v>
                </c:pt>
                <c:pt idx="2">
                  <c:v>0.43912888623146978</c:v>
                </c:pt>
                <c:pt idx="3">
                  <c:v>0.44066418233123616</c:v>
                </c:pt>
                <c:pt idx="4">
                  <c:v>0.4422006141528611</c:v>
                </c:pt>
                <c:pt idx="5">
                  <c:v>0.44373815309593373</c:v>
                </c:pt>
                <c:pt idx="6">
                  <c:v>0.44527677047579306</c:v>
                </c:pt>
                <c:pt idx="7">
                  <c:v>0.44681643752562289</c:v>
                </c:pt>
                <c:pt idx="8">
                  <c:v>0.44835712539855954</c:v>
                </c:pt>
                <c:pt idx="9">
                  <c:v>0.44989880516981307</c:v>
                </c:pt>
                <c:pt idx="10">
                  <c:v>0.45144144783879991</c:v>
                </c:pt>
                <c:pt idx="11">
                  <c:v>0.4529850243312894</c:v>
                </c:pt>
                <c:pt idx="12">
                  <c:v>0.45452950550156079</c:v>
                </c:pt>
                <c:pt idx="13">
                  <c:v>0.45607486213457243</c:v>
                </c:pt>
                <c:pt idx="14">
                  <c:v>0.45762106494814203</c:v>
                </c:pt>
                <c:pt idx="15">
                  <c:v>0.45916808459513825</c:v>
                </c:pt>
                <c:pt idx="16">
                  <c:v>0.46071589166568189</c:v>
                </c:pt>
                <c:pt idx="17">
                  <c:v>0.46226445668935845</c:v>
                </c:pt>
              </c:numCache>
            </c:numRef>
          </c:yVal>
          <c:smooth val="0"/>
          <c:extLst>
            <c:ext xmlns:c16="http://schemas.microsoft.com/office/drawing/2014/chart" uri="{C3380CC4-5D6E-409C-BE32-E72D297353CC}">
              <c16:uniqueId val="{00000001-31CA-4433-B016-6B0400BA68C7}"/>
            </c:ext>
          </c:extLst>
        </c:ser>
        <c:ser>
          <c:idx val="2"/>
          <c:order val="2"/>
          <c:tx>
            <c:strRef>
              <c:f>Sheet1!$B$104</c:f>
              <c:strCache>
                <c:ptCount val="1"/>
                <c:pt idx="0">
                  <c:v>Women</c:v>
                </c:pt>
              </c:strCache>
            </c:strRef>
          </c:tx>
          <c:spPr>
            <a:ln w="38100">
              <a:solidFill>
                <a:srgbClr val="B88C00"/>
              </a:solidFill>
            </a:ln>
          </c:spPr>
          <c:marker>
            <c:symbol val="none"/>
          </c:marker>
          <c:xVal>
            <c:numRef>
              <c:f>Sheet1!$A$105:$A$185</c:f>
              <c:numCache>
                <c:formatCode>General</c:formatCode>
                <c:ptCount val="81"/>
                <c:pt idx="0">
                  <c:v>17</c:v>
                </c:pt>
                <c:pt idx="1">
                  <c:v>18</c:v>
                </c:pt>
                <c:pt idx="2">
                  <c:v>19</c:v>
                </c:pt>
                <c:pt idx="3">
                  <c:v>20</c:v>
                </c:pt>
                <c:pt idx="4">
                  <c:v>21</c:v>
                </c:pt>
                <c:pt idx="5">
                  <c:v>22</c:v>
                </c:pt>
                <c:pt idx="6">
                  <c:v>23</c:v>
                </c:pt>
                <c:pt idx="7">
                  <c:v>24</c:v>
                </c:pt>
                <c:pt idx="8">
                  <c:v>25</c:v>
                </c:pt>
                <c:pt idx="9">
                  <c:v>26</c:v>
                </c:pt>
                <c:pt idx="10">
                  <c:v>27</c:v>
                </c:pt>
                <c:pt idx="11">
                  <c:v>28</c:v>
                </c:pt>
                <c:pt idx="12">
                  <c:v>29</c:v>
                </c:pt>
                <c:pt idx="13">
                  <c:v>30</c:v>
                </c:pt>
                <c:pt idx="14">
                  <c:v>31</c:v>
                </c:pt>
                <c:pt idx="15">
                  <c:v>32</c:v>
                </c:pt>
                <c:pt idx="16">
                  <c:v>33</c:v>
                </c:pt>
                <c:pt idx="17">
                  <c:v>34</c:v>
                </c:pt>
                <c:pt idx="18">
                  <c:v>35</c:v>
                </c:pt>
                <c:pt idx="19">
                  <c:v>36</c:v>
                </c:pt>
                <c:pt idx="20">
                  <c:v>37</c:v>
                </c:pt>
                <c:pt idx="21">
                  <c:v>38</c:v>
                </c:pt>
                <c:pt idx="22">
                  <c:v>39</c:v>
                </c:pt>
                <c:pt idx="23">
                  <c:v>40</c:v>
                </c:pt>
                <c:pt idx="24">
                  <c:v>41</c:v>
                </c:pt>
                <c:pt idx="25">
                  <c:v>42</c:v>
                </c:pt>
                <c:pt idx="26">
                  <c:v>43</c:v>
                </c:pt>
                <c:pt idx="27">
                  <c:v>44</c:v>
                </c:pt>
                <c:pt idx="28">
                  <c:v>45</c:v>
                </c:pt>
                <c:pt idx="29">
                  <c:v>46</c:v>
                </c:pt>
                <c:pt idx="30">
                  <c:v>47</c:v>
                </c:pt>
                <c:pt idx="31">
                  <c:v>48</c:v>
                </c:pt>
                <c:pt idx="32">
                  <c:v>49</c:v>
                </c:pt>
                <c:pt idx="33">
                  <c:v>50</c:v>
                </c:pt>
                <c:pt idx="34">
                  <c:v>51</c:v>
                </c:pt>
                <c:pt idx="35">
                  <c:v>52</c:v>
                </c:pt>
                <c:pt idx="36">
                  <c:v>53</c:v>
                </c:pt>
                <c:pt idx="37">
                  <c:v>54</c:v>
                </c:pt>
                <c:pt idx="38">
                  <c:v>55</c:v>
                </c:pt>
                <c:pt idx="39">
                  <c:v>56</c:v>
                </c:pt>
                <c:pt idx="40">
                  <c:v>57</c:v>
                </c:pt>
                <c:pt idx="41">
                  <c:v>58</c:v>
                </c:pt>
                <c:pt idx="42">
                  <c:v>59</c:v>
                </c:pt>
                <c:pt idx="43">
                  <c:v>60</c:v>
                </c:pt>
                <c:pt idx="44">
                  <c:v>61</c:v>
                </c:pt>
                <c:pt idx="45">
                  <c:v>62</c:v>
                </c:pt>
                <c:pt idx="46">
                  <c:v>63</c:v>
                </c:pt>
                <c:pt idx="47">
                  <c:v>64</c:v>
                </c:pt>
                <c:pt idx="48">
                  <c:v>65</c:v>
                </c:pt>
                <c:pt idx="49">
                  <c:v>66</c:v>
                </c:pt>
                <c:pt idx="50">
                  <c:v>67</c:v>
                </c:pt>
                <c:pt idx="51">
                  <c:v>68</c:v>
                </c:pt>
                <c:pt idx="52">
                  <c:v>69</c:v>
                </c:pt>
                <c:pt idx="53">
                  <c:v>70</c:v>
                </c:pt>
                <c:pt idx="54">
                  <c:v>71</c:v>
                </c:pt>
                <c:pt idx="55">
                  <c:v>72</c:v>
                </c:pt>
                <c:pt idx="56">
                  <c:v>73</c:v>
                </c:pt>
                <c:pt idx="57">
                  <c:v>74</c:v>
                </c:pt>
                <c:pt idx="58">
                  <c:v>75</c:v>
                </c:pt>
                <c:pt idx="59">
                  <c:v>76</c:v>
                </c:pt>
                <c:pt idx="60">
                  <c:v>77</c:v>
                </c:pt>
                <c:pt idx="61">
                  <c:v>78</c:v>
                </c:pt>
                <c:pt idx="62">
                  <c:v>79</c:v>
                </c:pt>
                <c:pt idx="63">
                  <c:v>80</c:v>
                </c:pt>
                <c:pt idx="64">
                  <c:v>81</c:v>
                </c:pt>
                <c:pt idx="65">
                  <c:v>82</c:v>
                </c:pt>
                <c:pt idx="66">
                  <c:v>83</c:v>
                </c:pt>
                <c:pt idx="67">
                  <c:v>84</c:v>
                </c:pt>
                <c:pt idx="68">
                  <c:v>85</c:v>
                </c:pt>
                <c:pt idx="69">
                  <c:v>86</c:v>
                </c:pt>
                <c:pt idx="70">
                  <c:v>87</c:v>
                </c:pt>
                <c:pt idx="71">
                  <c:v>88</c:v>
                </c:pt>
                <c:pt idx="72">
                  <c:v>89</c:v>
                </c:pt>
                <c:pt idx="73">
                  <c:v>90</c:v>
                </c:pt>
                <c:pt idx="74">
                  <c:v>91</c:v>
                </c:pt>
                <c:pt idx="75">
                  <c:v>92</c:v>
                </c:pt>
                <c:pt idx="76">
                  <c:v>93</c:v>
                </c:pt>
                <c:pt idx="77">
                  <c:v>94</c:v>
                </c:pt>
                <c:pt idx="78">
                  <c:v>95</c:v>
                </c:pt>
                <c:pt idx="79">
                  <c:v>96</c:v>
                </c:pt>
                <c:pt idx="80">
                  <c:v>97</c:v>
                </c:pt>
              </c:numCache>
            </c:numRef>
          </c:xVal>
          <c:yVal>
            <c:numRef>
              <c:f>Sheet1!$B$105:$B$185</c:f>
              <c:numCache>
                <c:formatCode>General</c:formatCode>
                <c:ptCount val="81"/>
                <c:pt idx="0">
                  <c:v>0.35702225537115451</c:v>
                </c:pt>
                <c:pt idx="1">
                  <c:v>0.35845395078461045</c:v>
                </c:pt>
                <c:pt idx="2">
                  <c:v>0.35988817394683209</c:v>
                </c:pt>
                <c:pt idx="3">
                  <c:v>0.36132490364052461</c:v>
                </c:pt>
                <c:pt idx="4">
                  <c:v>0.36276411847667495</c:v>
                </c:pt>
                <c:pt idx="5">
                  <c:v>0.36420579689555377</c:v>
                </c:pt>
                <c:pt idx="6">
                  <c:v>0.36564991716774037</c:v>
                </c:pt>
                <c:pt idx="7">
                  <c:v>0.36709645739517149</c:v>
                </c:pt>
                <c:pt idx="8">
                  <c:v>0.36854539551221421</c:v>
                </c:pt>
                <c:pt idx="9">
                  <c:v>0.36999670928676148</c:v>
                </c:pt>
                <c:pt idx="10">
                  <c:v>0.37145037632135197</c:v>
                </c:pt>
                <c:pt idx="11">
                  <c:v>0.37290637405431304</c:v>
                </c:pt>
                <c:pt idx="12">
                  <c:v>0.37436467976092647</c:v>
                </c:pt>
                <c:pt idx="13">
                  <c:v>0.37582527055461856</c:v>
                </c:pt>
                <c:pt idx="14">
                  <c:v>0.37728812338817225</c:v>
                </c:pt>
                <c:pt idx="15">
                  <c:v>0.37875321505496307</c:v>
                </c:pt>
                <c:pt idx="16">
                  <c:v>0.38022052219021774</c:v>
                </c:pt>
                <c:pt idx="17">
                  <c:v>0.38169002127229557</c:v>
                </c:pt>
                <c:pt idx="18">
                  <c:v>0.38316168862399302</c:v>
                </c:pt>
                <c:pt idx="19">
                  <c:v>0.3846355004138704</c:v>
                </c:pt>
                <c:pt idx="20">
                  <c:v>0.38611143265760139</c:v>
                </c:pt>
                <c:pt idx="21">
                  <c:v>0.38758946121934484</c:v>
                </c:pt>
                <c:pt idx="22">
                  <c:v>0.38906956181313895</c:v>
                </c:pt>
                <c:pt idx="23">
                  <c:v>0.39055171000431754</c:v>
                </c:pt>
                <c:pt idx="24">
                  <c:v>0.39203588121094818</c:v>
                </c:pt>
                <c:pt idx="25">
                  <c:v>0.39352205070529245</c:v>
                </c:pt>
                <c:pt idx="26">
                  <c:v>0.39501019361528772</c:v>
                </c:pt>
                <c:pt idx="27">
                  <c:v>0.39650028492605016</c:v>
                </c:pt>
                <c:pt idx="28">
                  <c:v>0.39799229948140008</c:v>
                </c:pt>
                <c:pt idx="29">
                  <c:v>0.39948621198540707</c:v>
                </c:pt>
                <c:pt idx="30">
                  <c:v>0.40098199700395781</c:v>
                </c:pt>
                <c:pt idx="31">
                  <c:v>0.40247962896634309</c:v>
                </c:pt>
                <c:pt idx="32">
                  <c:v>0.40397908216686684</c:v>
                </c:pt>
                <c:pt idx="33">
                  <c:v>0.40548033076647499</c:v>
                </c:pt>
                <c:pt idx="34">
                  <c:v>0.40698334879440456</c:v>
                </c:pt>
                <c:pt idx="35">
                  <c:v>0.40848811014985315</c:v>
                </c:pt>
                <c:pt idx="36">
                  <c:v>0.40999458860366844</c:v>
                </c:pt>
                <c:pt idx="37">
                  <c:v>0.41150275780005674</c:v>
                </c:pt>
                <c:pt idx="38">
                  <c:v>0.41301259125831147</c:v>
                </c:pt>
                <c:pt idx="39">
                  <c:v>0.41452406237456108</c:v>
                </c:pt>
                <c:pt idx="40">
                  <c:v>0.41603714442353573</c:v>
                </c:pt>
                <c:pt idx="41">
                  <c:v>0.41755181056035212</c:v>
                </c:pt>
                <c:pt idx="42">
                  <c:v>0.41906803382231844</c:v>
                </c:pt>
                <c:pt idx="43">
                  <c:v>0.42058578713075606</c:v>
                </c:pt>
                <c:pt idx="44">
                  <c:v>0.42210504329284049</c:v>
                </c:pt>
                <c:pt idx="45">
                  <c:v>0.42362577500345888</c:v>
                </c:pt>
                <c:pt idx="46">
                  <c:v>0.42514795484708678</c:v>
                </c:pt>
                <c:pt idx="47">
                  <c:v>0.42667155529968059</c:v>
                </c:pt>
                <c:pt idx="48">
                  <c:v>0.4281965487305881</c:v>
                </c:pt>
                <c:pt idx="49">
                  <c:v>0.42972290740447538</c:v>
                </c:pt>
                <c:pt idx="50">
                  <c:v>0.43125060348327038</c:v>
                </c:pt>
                <c:pt idx="51">
                  <c:v>0.43277960902812262</c:v>
                </c:pt>
                <c:pt idx="52">
                  <c:v>0.43430989600137898</c:v>
                </c:pt>
                <c:pt idx="53">
                  <c:v>0.43584143626857491</c:v>
                </c:pt>
                <c:pt idx="54">
                  <c:v>0.43737420160044144</c:v>
                </c:pt>
                <c:pt idx="55">
                  <c:v>0.43890816367492674</c:v>
                </c:pt>
                <c:pt idx="56">
                  <c:v>0.44044329407923338</c:v>
                </c:pt>
                <c:pt idx="57">
                  <c:v>0.4419795643118688</c:v>
                </c:pt>
                <c:pt idx="58">
                  <c:v>0.44351694578471118</c:v>
                </c:pt>
                <c:pt idx="59">
                  <c:v>0.44505540982508818</c:v>
                </c:pt>
                <c:pt idx="60">
                  <c:v>0.44659492767787046</c:v>
                </c:pt>
                <c:pt idx="61">
                  <c:v>0.44813547050757707</c:v>
                </c:pt>
                <c:pt idx="62">
                  <c:v>0.44967700940049476</c:v>
                </c:pt>
                <c:pt idx="63">
                  <c:v>0.4512195153668096</c:v>
                </c:pt>
                <c:pt idx="64">
                  <c:v>0.45276295934275063</c:v>
                </c:pt>
                <c:pt idx="65">
                  <c:v>0.45430731219274623</c:v>
                </c:pt>
                <c:pt idx="66">
                  <c:v>0.45585254471159081</c:v>
                </c:pt>
                <c:pt idx="67">
                  <c:v>0.4573986276266242</c:v>
                </c:pt>
                <c:pt idx="68">
                  <c:v>0.45894553159992113</c:v>
                </c:pt>
                <c:pt idx="69">
                  <c:v>0.46049322723049141</c:v>
                </c:pt>
                <c:pt idx="70">
                  <c:v>0.46204168505649063</c:v>
                </c:pt>
                <c:pt idx="71">
                  <c:v>0.46359087555744022</c:v>
                </c:pt>
                <c:pt idx="72">
                  <c:v>0.46514076915645808</c:v>
                </c:pt>
                <c:pt idx="73">
                  <c:v>0.46669133622249726</c:v>
                </c:pt>
                <c:pt idx="74">
                  <c:v>0.46824254707259433</c:v>
                </c:pt>
                <c:pt idx="75">
                  <c:v>0.46979437197412544</c:v>
                </c:pt>
                <c:pt idx="76">
                  <c:v>0.4713467811470714</c:v>
                </c:pt>
                <c:pt idx="77">
                  <c:v>0.47289974476628993</c:v>
                </c:pt>
                <c:pt idx="78">
                  <c:v>0.47445323296379538</c:v>
                </c:pt>
                <c:pt idx="79">
                  <c:v>0.4760072158310456</c:v>
                </c:pt>
                <c:pt idx="80">
                  <c:v>0.47756166342123529</c:v>
                </c:pt>
              </c:numCache>
            </c:numRef>
          </c:yVal>
          <c:smooth val="0"/>
          <c:extLst>
            <c:ext xmlns:c16="http://schemas.microsoft.com/office/drawing/2014/chart" uri="{C3380CC4-5D6E-409C-BE32-E72D297353CC}">
              <c16:uniqueId val="{00000002-31CA-4433-B016-6B0400BA68C7}"/>
            </c:ext>
          </c:extLst>
        </c:ser>
        <c:ser>
          <c:idx val="3"/>
          <c:order val="3"/>
          <c:tx>
            <c:strRef>
              <c:f>Sheet1!$B$187</c:f>
              <c:strCache>
                <c:ptCount val="1"/>
                <c:pt idx="0">
                  <c:v>Women beyond the data</c:v>
                </c:pt>
              </c:strCache>
            </c:strRef>
          </c:tx>
          <c:spPr>
            <a:ln w="25400">
              <a:solidFill>
                <a:srgbClr val="B88C00"/>
              </a:solidFill>
              <a:prstDash val="dash"/>
            </a:ln>
          </c:spPr>
          <c:marker>
            <c:symbol val="none"/>
          </c:marker>
          <c:xVal>
            <c:numRef>
              <c:f>Sheet1!$A$188:$A$205</c:f>
              <c:numCache>
                <c:formatCode>General</c:formatCode>
                <c:ptCount val="1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numCache>
            </c:numRef>
          </c:xVal>
          <c:yVal>
            <c:numRef>
              <c:f>Sheet1!$B$188:$B$205</c:f>
              <c:numCache>
                <c:formatCode>General</c:formatCode>
                <c:ptCount val="18"/>
                <c:pt idx="0">
                  <c:v>0.333089887883883</c:v>
                </c:pt>
                <c:pt idx="1">
                  <c:v>0.33447553608495573</c:v>
                </c:pt>
                <c:pt idx="2">
                  <c:v>0.33586404560085764</c:v>
                </c:pt>
                <c:pt idx="3">
                  <c:v>0.33725539826364476</c:v>
                </c:pt>
                <c:pt idx="4">
                  <c:v>0.33864957572027671</c:v>
                </c:pt>
                <c:pt idx="5">
                  <c:v>0.34004655943321277</c:v>
                </c:pt>
                <c:pt idx="6">
                  <c:v>0.3414463306810317</c:v>
                </c:pt>
                <c:pt idx="7">
                  <c:v>0.34284887055907581</c:v>
                </c:pt>
                <c:pt idx="8">
                  <c:v>0.34425415998011821</c:v>
                </c:pt>
                <c:pt idx="9">
                  <c:v>0.34566217967505469</c:v>
                </c:pt>
                <c:pt idx="10">
                  <c:v>0.34707291019361847</c:v>
                </c:pt>
                <c:pt idx="11">
                  <c:v>0.34848633190511941</c:v>
                </c:pt>
                <c:pt idx="12">
                  <c:v>0.34990242499920765</c:v>
                </c:pt>
                <c:pt idx="13">
                  <c:v>0.35132116948665981</c:v>
                </c:pt>
                <c:pt idx="14">
                  <c:v>0.35274254520019016</c:v>
                </c:pt>
                <c:pt idx="15">
                  <c:v>0.3541665317952854</c:v>
                </c:pt>
                <c:pt idx="16">
                  <c:v>0.3555931087510632</c:v>
                </c:pt>
                <c:pt idx="17">
                  <c:v>0.35702225537115451</c:v>
                </c:pt>
              </c:numCache>
            </c:numRef>
          </c:yVal>
          <c:smooth val="0"/>
          <c:extLst>
            <c:ext xmlns:c16="http://schemas.microsoft.com/office/drawing/2014/chart" uri="{C3380CC4-5D6E-409C-BE32-E72D297353CC}">
              <c16:uniqueId val="{00000003-31CA-4433-B016-6B0400BA68C7}"/>
            </c:ext>
          </c:extLst>
        </c:ser>
        <c:ser>
          <c:idx val="4"/>
          <c:order val="4"/>
          <c:tx>
            <c:strRef>
              <c:f>Sheet1!$B$207</c:f>
              <c:strCache>
                <c:ptCount val="1"/>
                <c:pt idx="0">
                  <c:v>Men at 0</c:v>
                </c:pt>
              </c:strCache>
            </c:strRef>
          </c:tx>
          <c:spPr>
            <a:ln>
              <a:noFill/>
            </a:ln>
          </c:spPr>
          <c:marker>
            <c:symbol val="circle"/>
            <c:size val="10"/>
            <c:spPr>
              <a:solidFill>
                <a:srgbClr val="1F394D"/>
              </a:solidFill>
              <a:ln w="12700">
                <a:solidFill>
                  <a:srgbClr val="FFFFFF"/>
                </a:solidFill>
              </a:ln>
            </c:spPr>
          </c:marker>
          <c:dLbls>
            <c:dLbl>
              <c:idx val="0"/>
              <c:tx>
                <c:rich>
                  <a:bodyPr/>
                  <a:lstStyle/>
                  <a:p>
                    <a:r>
                      <a:rPr lang="en-GB" sz="1200" b="1">
                        <a:solidFill>
                          <a:srgbClr val="1F394D"/>
                        </a:solidFill>
                      </a:rPr>
                      <a:t>43.6%</a:t>
                    </a:r>
                  </a:p>
                </c:rich>
              </c:tx>
              <c:dLblPos val="t"/>
              <c:showLegendKey val="0"/>
              <c:showVal val="1"/>
              <c:showCatName val="0"/>
              <c:showSerName val="0"/>
              <c:showPercent val="0"/>
              <c:showBubbleSize val="0"/>
              <c:extLst>
                <c:ext xmlns:c15="http://schemas.microsoft.com/office/drawing/2012/chart" uri="{CE6537A1-D6FC-4f65-9D91-7224C49458BB}">
                  <c15:layout>
                    <c:manualLayout>
                      <c:w val="7.7200000000000005E-2"/>
                      <c:h val="5.8000000000000003E-2"/>
                    </c:manualLayout>
                  </c15:layout>
                  <c15:showDataLabelsRange val="0"/>
                </c:ext>
                <c:ext xmlns:c16="http://schemas.microsoft.com/office/drawing/2014/chart" uri="{C3380CC4-5D6E-409C-BE32-E72D297353CC}">
                  <c16:uniqueId val="{00000004-31CA-4433-B016-6B0400BA68C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Sheet1!$A$208:$A$208</c:f>
              <c:numCache>
                <c:formatCode>General</c:formatCode>
                <c:ptCount val="1"/>
                <c:pt idx="0">
                  <c:v>0</c:v>
                </c:pt>
              </c:numCache>
            </c:numRef>
          </c:xVal>
          <c:yVal>
            <c:numRef>
              <c:f>Sheet1!$B$208:$B$208</c:f>
              <c:numCache>
                <c:formatCode>General</c:formatCode>
                <c:ptCount val="1"/>
                <c:pt idx="0">
                  <c:v>0.43606181516543263</c:v>
                </c:pt>
              </c:numCache>
            </c:numRef>
          </c:yVal>
          <c:smooth val="0"/>
          <c:extLst>
            <c:ext xmlns:c16="http://schemas.microsoft.com/office/drawing/2014/chart" uri="{C3380CC4-5D6E-409C-BE32-E72D297353CC}">
              <c16:uniqueId val="{00000005-31CA-4433-B016-6B0400BA68C7}"/>
            </c:ext>
          </c:extLst>
        </c:ser>
        <c:ser>
          <c:idx val="5"/>
          <c:order val="5"/>
          <c:tx>
            <c:strRef>
              <c:f>Sheet1!$B$210</c:f>
              <c:strCache>
                <c:ptCount val="1"/>
                <c:pt idx="0">
                  <c:v>Women at 0</c:v>
                </c:pt>
              </c:strCache>
            </c:strRef>
          </c:tx>
          <c:spPr>
            <a:ln>
              <a:noFill/>
            </a:ln>
          </c:spPr>
          <c:marker>
            <c:symbol val="circle"/>
            <c:size val="10"/>
            <c:spPr>
              <a:solidFill>
                <a:srgbClr val="B88C00"/>
              </a:solidFill>
              <a:ln w="12700">
                <a:solidFill>
                  <a:srgbClr val="FFFFFF"/>
                </a:solidFill>
              </a:ln>
            </c:spPr>
          </c:marker>
          <c:dLbls>
            <c:dLbl>
              <c:idx val="0"/>
              <c:tx>
                <c:rich>
                  <a:bodyPr/>
                  <a:lstStyle/>
                  <a:p>
                    <a:r>
                      <a:rPr lang="en-GB" sz="1200" b="1">
                        <a:solidFill>
                          <a:srgbClr val="7A5C00"/>
                        </a:solidFill>
                      </a:rPr>
                      <a:t>33.3%</a:t>
                    </a:r>
                  </a:p>
                </c:rich>
              </c:tx>
              <c:dLblPos val="b"/>
              <c:showLegendKey val="0"/>
              <c:showVal val="1"/>
              <c:showCatName val="0"/>
              <c:showSerName val="0"/>
              <c:showPercent val="0"/>
              <c:showBubbleSize val="0"/>
              <c:extLst>
                <c:ext xmlns:c15="http://schemas.microsoft.com/office/drawing/2012/chart" uri="{CE6537A1-D6FC-4f65-9D91-7224C49458BB}">
                  <c15:layout>
                    <c:manualLayout>
                      <c:w val="7.7200000000000005E-2"/>
                      <c:h val="5.8000000000000003E-2"/>
                    </c:manualLayout>
                  </c15:layout>
                  <c15:showDataLabelsRange val="0"/>
                </c:ext>
                <c:ext xmlns:c16="http://schemas.microsoft.com/office/drawing/2014/chart" uri="{C3380CC4-5D6E-409C-BE32-E72D297353CC}">
                  <c16:uniqueId val="{00000006-31CA-4433-B016-6B0400BA68C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Sheet1!$A$211:$A$211</c:f>
              <c:numCache>
                <c:formatCode>General</c:formatCode>
                <c:ptCount val="1"/>
                <c:pt idx="0">
                  <c:v>0</c:v>
                </c:pt>
              </c:numCache>
            </c:numRef>
          </c:xVal>
          <c:yVal>
            <c:numRef>
              <c:f>Sheet1!$B$211:$B$211</c:f>
              <c:numCache>
                <c:formatCode>General</c:formatCode>
                <c:ptCount val="1"/>
                <c:pt idx="0">
                  <c:v>0.333089887883883</c:v>
                </c:pt>
              </c:numCache>
            </c:numRef>
          </c:yVal>
          <c:smooth val="0"/>
          <c:extLst>
            <c:ext xmlns:c16="http://schemas.microsoft.com/office/drawing/2014/chart" uri="{C3380CC4-5D6E-409C-BE32-E72D297353CC}">
              <c16:uniqueId val="{00000007-31CA-4433-B016-6B0400BA68C7}"/>
            </c:ext>
          </c:extLst>
        </c:ser>
        <c:dLbls>
          <c:showLegendKey val="0"/>
          <c:showVal val="0"/>
          <c:showCatName val="0"/>
          <c:showSerName val="0"/>
          <c:showPercent val="0"/>
          <c:showBubbleSize val="0"/>
        </c:dLbls>
        <c:axId val="-2128940872"/>
        <c:axId val="-2129643912"/>
      </c:scatterChart>
      <c:valAx>
        <c:axId val="-2128940872"/>
        <c:scaling>
          <c:orientation val="minMax"/>
          <c:max val="100"/>
          <c:min val="0"/>
        </c:scaling>
        <c:delete val="0"/>
        <c:axPos val="b"/>
        <c:title>
          <c:tx>
            <c:rich>
              <a:bodyPr/>
              <a:lstStyle/>
              <a:p>
                <a:r>
                  <a:rPr lang="en-GB" sz="1200" b="0">
                    <a:solidFill>
                      <a:srgbClr val="55606B"/>
                    </a:solidFill>
                  </a:rPr>
                  <a:t>Age</a:t>
                </a:r>
              </a:p>
            </c:rich>
          </c:tx>
          <c:overlay val="0"/>
        </c:title>
        <c:numFmt formatCode="General" sourceLinked="1"/>
        <c:majorTickMark val="out"/>
        <c:minorTickMark val="none"/>
        <c:tickLblPos val="nextTo"/>
        <c:spPr>
          <a:ln>
            <a:solidFill>
              <a:srgbClr val="BBC4CC"/>
            </a:solidFill>
          </a:ln>
        </c:spPr>
        <c:txPr>
          <a:bodyPr/>
          <a:lstStyle/>
          <a:p>
            <a:pPr>
              <a:defRPr sz="1200">
                <a:solidFill>
                  <a:srgbClr val="55606B"/>
                </a:solidFill>
              </a:defRPr>
            </a:pPr>
            <a:endParaRPr lang="en-US"/>
          </a:p>
        </c:txPr>
        <c:crossAx val="-2129643912"/>
        <c:crosses val="min"/>
        <c:crossBetween val="midCat"/>
        <c:majorUnit val="10"/>
      </c:valAx>
      <c:valAx>
        <c:axId val="-2129643912"/>
        <c:scaling>
          <c:orientation val="minMax"/>
          <c:max val="1"/>
          <c:min val="0"/>
        </c:scaling>
        <c:delete val="0"/>
        <c:axPos val="l"/>
        <c:majorGridlines>
          <c:spPr>
            <a:ln w="9525">
              <a:solidFill>
                <a:srgbClr val="DDE3E8"/>
              </a:solidFill>
            </a:ln>
          </c:spPr>
        </c:majorGridlines>
        <c:title>
          <c:tx>
            <c:rich>
              <a:bodyPr/>
              <a:lstStyle/>
              <a:p>
                <a:r>
                  <a:rPr lang="en-GB" sz="1200" b="0">
                    <a:solidFill>
                      <a:srgbClr val="55606B"/>
                    </a:solidFill>
                  </a:rPr>
                  <a:t>Predicted probability of trusting</a:t>
                </a:r>
              </a:p>
            </c:rich>
          </c:tx>
          <c:overlay val="0"/>
        </c:title>
        <c:numFmt formatCode="0%" sourceLinked="0"/>
        <c:majorTickMark val="out"/>
        <c:minorTickMark val="none"/>
        <c:tickLblPos val="nextTo"/>
        <c:spPr>
          <a:ln>
            <a:solidFill>
              <a:srgbClr val="BBC4CC"/>
            </a:solidFill>
          </a:ln>
        </c:spPr>
        <c:txPr>
          <a:bodyPr/>
          <a:lstStyle/>
          <a:p>
            <a:pPr>
              <a:defRPr sz="1200">
                <a:solidFill>
                  <a:srgbClr val="55606B"/>
                </a:solidFill>
              </a:defRPr>
            </a:pPr>
            <a:endParaRPr lang="en-US"/>
          </a:p>
        </c:txPr>
        <c:crossAx val="-2128940872"/>
        <c:crosses val="autoZero"/>
        <c:crossBetween val="midCat"/>
        <c:majorUnit val="0.2"/>
      </c:valAx>
    </c:plotArea>
    <c:legend>
      <c:legendPos val="b"/>
      <c:legendEntry>
        <c:idx val="1"/>
        <c:delete val="1"/>
      </c:legendEntry>
      <c:legendEntry>
        <c:idx val="3"/>
        <c:delete val="1"/>
      </c:legendEntry>
      <c:legendEntry>
        <c:idx val="4"/>
        <c:delete val="1"/>
      </c:legendEntry>
      <c:legendEntry>
        <c:idx val="5"/>
        <c:delete val="1"/>
      </c:legendEntry>
      <c:overlay val="0"/>
      <c:txPr>
        <a:bodyPr/>
        <a:lstStyle/>
        <a:p>
          <a:pPr>
            <a:defRPr sz="1200">
              <a:solidFill>
                <a:srgbClr val="55606B"/>
              </a:solidFill>
            </a:defRPr>
          </a:pPr>
          <a:endParaRPr lang="en-US"/>
        </a:p>
      </c:txPr>
    </c:legend>
    <c:plotVisOnly val="1"/>
    <c:dispBlanksAs val="gap"/>
    <c:showDLblsOverMax val="0"/>
  </c:chart>
  <c:txPr>
    <a:bodyPr/>
    <a:lstStyle/>
    <a:p>
      <a:pPr>
        <a:defRPr sz="1200">
          <a:solidFill>
            <a:srgbClr val="55606B"/>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 of respondents</c:v>
                </c:pt>
              </c:strCache>
            </c:strRef>
          </c:tx>
          <c:spPr>
            <a:solidFill>
              <a:srgbClr val="1F394D"/>
            </a:solidFill>
          </c:spPr>
          <c:invertIfNegative val="1"/>
          <c:dPt>
            <c:idx val="0"/>
            <c:invertIfNegative val="1"/>
            <c:bubble3D val="0"/>
            <c:spPr>
              <a:solidFill>
                <a:srgbClr val="CCDDEA"/>
              </a:solidFill>
            </c:spPr>
            <c:extLst>
              <c:ext xmlns:c16="http://schemas.microsoft.com/office/drawing/2014/chart" uri="{C3380CC4-5D6E-409C-BE32-E72D297353CC}">
                <c16:uniqueId val="{00000001-40A7-496C-9349-173AA9B46907}"/>
              </c:ext>
            </c:extLst>
          </c:dPt>
          <c:dPt>
            <c:idx val="1"/>
            <c:invertIfNegative val="1"/>
            <c:bubble3D val="0"/>
            <c:spPr>
              <a:solidFill>
                <a:srgbClr val="CCDDEA"/>
              </a:solidFill>
            </c:spPr>
            <c:extLst>
              <c:ext xmlns:c16="http://schemas.microsoft.com/office/drawing/2014/chart" uri="{C3380CC4-5D6E-409C-BE32-E72D297353CC}">
                <c16:uniqueId val="{00000003-40A7-496C-9349-173AA9B46907}"/>
              </c:ext>
            </c:extLst>
          </c:dPt>
          <c:dPt>
            <c:idx val="2"/>
            <c:invertIfNegative val="1"/>
            <c:bubble3D val="0"/>
            <c:spPr>
              <a:solidFill>
                <a:srgbClr val="B88C00"/>
              </a:solidFill>
            </c:spPr>
            <c:extLst>
              <c:ext xmlns:c16="http://schemas.microsoft.com/office/drawing/2014/chart" uri="{C3380CC4-5D6E-409C-BE32-E72D297353CC}">
                <c16:uniqueId val="{00000005-40A7-496C-9349-173AA9B46907}"/>
              </c:ext>
            </c:extLst>
          </c:dPt>
          <c:dPt>
            <c:idx val="3"/>
            <c:invertIfNegative val="1"/>
            <c:bubble3D val="0"/>
            <c:extLst>
              <c:ext xmlns:c16="http://schemas.microsoft.com/office/drawing/2014/chart" uri="{C3380CC4-5D6E-409C-BE32-E72D297353CC}">
                <c16:uniqueId val="{00000007-40A7-496C-9349-173AA9B46907}"/>
              </c:ext>
            </c:extLst>
          </c:dPt>
          <c:dPt>
            <c:idx val="4"/>
            <c:invertIfNegative val="1"/>
            <c:bubble3D val="0"/>
            <c:extLst>
              <c:ext xmlns:c16="http://schemas.microsoft.com/office/drawing/2014/chart" uri="{C3380CC4-5D6E-409C-BE32-E72D297353CC}">
                <c16:uniqueId val="{00000009-40A7-496C-9349-173AA9B46907}"/>
              </c:ext>
            </c:extLst>
          </c:dPt>
          <c:dLbls>
            <c:numFmt formatCode="0.0&quot;%&quot;" sourceLinked="0"/>
            <c:spPr>
              <a:noFill/>
              <a:ln>
                <a:noFill/>
              </a:ln>
              <a:effectLst/>
            </c:spPr>
            <c:txPr>
              <a:bodyPr/>
              <a:lstStyle/>
              <a:p>
                <a:pPr>
                  <a:defRPr sz="1600" b="1">
                    <a:solidFill>
                      <a:srgbClr val="1F2A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Can’t be too careful</c:v>
                </c:pt>
                <c:pt idx="1">
                  <c:v>2</c:v>
                </c:pt>
                <c:pt idx="2">
                  <c:v>3</c:v>
                </c:pt>
                <c:pt idx="3">
                  <c:v>4</c:v>
                </c:pt>
                <c:pt idx="4">
                  <c:v>5 Most people can be trusted</c:v>
                </c:pt>
              </c:strCache>
            </c:strRef>
          </c:cat>
          <c:val>
            <c:numRef>
              <c:f>Sheet1!$B$2:$B$6</c:f>
              <c:numCache>
                <c:formatCode>General</c:formatCode>
                <c:ptCount val="5"/>
                <c:pt idx="0">
                  <c:v>20.100000000000001</c:v>
                </c:pt>
                <c:pt idx="1">
                  <c:v>12.1</c:v>
                </c:pt>
                <c:pt idx="2">
                  <c:v>28.3</c:v>
                </c:pt>
                <c:pt idx="3">
                  <c:v>24.1</c:v>
                </c:pt>
                <c:pt idx="4">
                  <c:v>15.5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40A7-496C-9349-173AA9B46907}"/>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BC4CC"/>
            </a:solidFill>
          </a:ln>
        </c:spPr>
        <c:txPr>
          <a:bodyPr/>
          <a:lstStyle/>
          <a:p>
            <a:pPr>
              <a:defRPr sz="1400">
                <a:solidFill>
                  <a:srgbClr val="55606B"/>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55606B"/>
          </a:solidFill>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2F7998-D03E-40A2-A7EF-8BD5A1A7FA69}"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A459A32B-D579-40CD-899A-71251E4E21A3}">
      <dgm:prSet/>
      <dgm:spPr/>
      <dgm:t>
        <a:bodyPr/>
        <a:lstStyle/>
        <a:p>
          <a:r>
            <a:rPr lang="en-GB"/>
            <a:t>A.  Are religious people more satisfied with life?</a:t>
          </a:r>
          <a:endParaRPr lang="en-US"/>
        </a:p>
      </dgm:t>
    </dgm:pt>
    <dgm:pt modelId="{8E71D417-AD31-448C-B401-CB008D81F5DC}" type="parTrans" cxnId="{ED687876-CBDF-4A39-8EC2-A18D5A2620F9}">
      <dgm:prSet/>
      <dgm:spPr/>
      <dgm:t>
        <a:bodyPr/>
        <a:lstStyle/>
        <a:p>
          <a:endParaRPr lang="en-US"/>
        </a:p>
      </dgm:t>
    </dgm:pt>
    <dgm:pt modelId="{0543C891-026A-421B-A516-D6E5742F2FD6}" type="sibTrans" cxnId="{ED687876-CBDF-4A39-8EC2-A18D5A2620F9}">
      <dgm:prSet/>
      <dgm:spPr/>
      <dgm:t>
        <a:bodyPr/>
        <a:lstStyle/>
        <a:p>
          <a:endParaRPr lang="en-US"/>
        </a:p>
      </dgm:t>
    </dgm:pt>
    <dgm:pt modelId="{E84A51BE-100B-401C-A81C-2A81CB934381}">
      <dgm:prSet/>
      <dgm:spPr/>
      <dgm:t>
        <a:bodyPr/>
        <a:lstStyle/>
        <a:p>
          <a:r>
            <a:rPr lang="en-GB"/>
            <a:t>B.  Are older people more likely to see the death penalty as justifiable?</a:t>
          </a:r>
          <a:endParaRPr lang="en-US"/>
        </a:p>
      </dgm:t>
    </dgm:pt>
    <dgm:pt modelId="{CD8CA50E-5089-4C3A-82D1-6F9D6F4C0283}" type="parTrans" cxnId="{EA585A99-DE72-468B-92B2-9EB71FA4F5B2}">
      <dgm:prSet/>
      <dgm:spPr/>
      <dgm:t>
        <a:bodyPr/>
        <a:lstStyle/>
        <a:p>
          <a:endParaRPr lang="en-US"/>
        </a:p>
      </dgm:t>
    </dgm:pt>
    <dgm:pt modelId="{A3AE5E9B-EEE5-40CD-ACBD-FE8995F44CD7}" type="sibTrans" cxnId="{EA585A99-DE72-468B-92B2-9EB71FA4F5B2}">
      <dgm:prSet/>
      <dgm:spPr/>
      <dgm:t>
        <a:bodyPr/>
        <a:lstStyle/>
        <a:p>
          <a:endParaRPr lang="en-US"/>
        </a:p>
      </dgm:t>
    </dgm:pt>
    <dgm:pt modelId="{75741C02-EE57-4A1A-9127-B6C9E88D436F}">
      <dgm:prSet/>
      <dgm:spPr/>
      <dgm:t>
        <a:bodyPr/>
        <a:lstStyle/>
        <a:p>
          <a:r>
            <a:rPr lang="en-GB"/>
            <a:t>C.  What factors are associated with opinions about future European Union enlargement among Europeans?</a:t>
          </a:r>
          <a:endParaRPr lang="en-US"/>
        </a:p>
      </dgm:t>
    </dgm:pt>
    <dgm:pt modelId="{C9A4ADB8-FE7D-4C4D-9697-B722A7630E4A}" type="parTrans" cxnId="{50F98E6E-71EC-44B9-BC5E-EE0554301124}">
      <dgm:prSet/>
      <dgm:spPr/>
      <dgm:t>
        <a:bodyPr/>
        <a:lstStyle/>
        <a:p>
          <a:endParaRPr lang="en-US"/>
        </a:p>
      </dgm:t>
    </dgm:pt>
    <dgm:pt modelId="{143A4F45-8163-4265-BC0A-D357E681CF63}" type="sibTrans" cxnId="{50F98E6E-71EC-44B9-BC5E-EE0554301124}">
      <dgm:prSet/>
      <dgm:spPr/>
      <dgm:t>
        <a:bodyPr/>
        <a:lstStyle/>
        <a:p>
          <a:endParaRPr lang="en-US"/>
        </a:p>
      </dgm:t>
    </dgm:pt>
    <dgm:pt modelId="{D499BED8-E4CF-4BE3-A2C4-0DDC8625DF01}">
      <dgm:prSet/>
      <dgm:spPr/>
      <dgm:t>
        <a:bodyPr/>
        <a:lstStyle/>
        <a:p>
          <a:r>
            <a:rPr lang="en-GB"/>
            <a:t>D.  Is higher internet use associated with stronger anti-immigrant sentiments?</a:t>
          </a:r>
          <a:endParaRPr lang="en-US"/>
        </a:p>
      </dgm:t>
    </dgm:pt>
    <dgm:pt modelId="{890B262A-408B-4EFF-AEFB-62CFA1167F03}" type="parTrans" cxnId="{0A70EEE1-F5AD-4169-85EC-51585912FFBF}">
      <dgm:prSet/>
      <dgm:spPr/>
      <dgm:t>
        <a:bodyPr/>
        <a:lstStyle/>
        <a:p>
          <a:endParaRPr lang="en-US"/>
        </a:p>
      </dgm:t>
    </dgm:pt>
    <dgm:pt modelId="{381A928A-A17B-494F-8852-66996F860A22}" type="sibTrans" cxnId="{0A70EEE1-F5AD-4169-85EC-51585912FFBF}">
      <dgm:prSet/>
      <dgm:spPr/>
      <dgm:t>
        <a:bodyPr/>
        <a:lstStyle/>
        <a:p>
          <a:endParaRPr lang="en-US"/>
        </a:p>
      </dgm:t>
    </dgm:pt>
    <dgm:pt modelId="{631ED48C-057C-4231-B964-7195910F6858}">
      <dgm:prSet/>
      <dgm:spPr/>
      <dgm:t>
        <a:bodyPr/>
        <a:lstStyle/>
        <a:p>
          <a:r>
            <a:rPr lang="en-GB"/>
            <a:t>E.  How does victimisation relate to trust in the police?</a:t>
          </a:r>
          <a:endParaRPr lang="en-US"/>
        </a:p>
      </dgm:t>
    </dgm:pt>
    <dgm:pt modelId="{D5C0C356-CFEE-4018-93D4-55396C07156E}" type="parTrans" cxnId="{EFB8B7ED-6E05-43A2-BD2C-A9E9DA68F9E1}">
      <dgm:prSet/>
      <dgm:spPr/>
      <dgm:t>
        <a:bodyPr/>
        <a:lstStyle/>
        <a:p>
          <a:endParaRPr lang="en-US"/>
        </a:p>
      </dgm:t>
    </dgm:pt>
    <dgm:pt modelId="{08A5C74F-C6DD-498D-A2E0-30D12B3FFF0E}" type="sibTrans" cxnId="{EFB8B7ED-6E05-43A2-BD2C-A9E9DA68F9E1}">
      <dgm:prSet/>
      <dgm:spPr/>
      <dgm:t>
        <a:bodyPr/>
        <a:lstStyle/>
        <a:p>
          <a:endParaRPr lang="en-US"/>
        </a:p>
      </dgm:t>
    </dgm:pt>
    <dgm:pt modelId="{80BEB204-CE55-4A48-8E46-BDD820A87094}">
      <dgm:prSet/>
      <dgm:spPr/>
      <dgm:t>
        <a:bodyPr/>
        <a:lstStyle/>
        <a:p>
          <a:r>
            <a:rPr lang="en-GB"/>
            <a:t>F.  What factors are associated with belief in life after death?</a:t>
          </a:r>
          <a:endParaRPr lang="en-US"/>
        </a:p>
      </dgm:t>
    </dgm:pt>
    <dgm:pt modelId="{959B5168-B6D8-4655-ACFE-A33892048ECA}" type="parTrans" cxnId="{87DE1ED2-1779-4C84-8073-034BA4DF224A}">
      <dgm:prSet/>
      <dgm:spPr/>
      <dgm:t>
        <a:bodyPr/>
        <a:lstStyle/>
        <a:p>
          <a:endParaRPr lang="en-US"/>
        </a:p>
      </dgm:t>
    </dgm:pt>
    <dgm:pt modelId="{787E2AB1-4F37-46A4-B7C9-9B5618642EE0}" type="sibTrans" cxnId="{87DE1ED2-1779-4C84-8073-034BA4DF224A}">
      <dgm:prSet/>
      <dgm:spPr/>
      <dgm:t>
        <a:bodyPr/>
        <a:lstStyle/>
        <a:p>
          <a:endParaRPr lang="en-US"/>
        </a:p>
      </dgm:t>
    </dgm:pt>
    <dgm:pt modelId="{3CE0C3A6-EC8D-4DAD-8CB8-38F8BCDD6726}">
      <dgm:prSet/>
      <dgm:spPr/>
      <dgm:t>
        <a:bodyPr/>
        <a:lstStyle/>
        <a:p>
          <a:r>
            <a:rPr lang="en-GB"/>
            <a:t>G.  Are government/public sector employees more inclined to perceive higher levels of corruption than those working in the private sector?</a:t>
          </a:r>
          <a:endParaRPr lang="en-US"/>
        </a:p>
      </dgm:t>
    </dgm:pt>
    <dgm:pt modelId="{553326A6-183A-4947-B891-4FE36A19E261}" type="parTrans" cxnId="{272C2449-26BB-4411-8E51-A083181E1CD5}">
      <dgm:prSet/>
      <dgm:spPr/>
      <dgm:t>
        <a:bodyPr/>
        <a:lstStyle/>
        <a:p>
          <a:endParaRPr lang="en-US"/>
        </a:p>
      </dgm:t>
    </dgm:pt>
    <dgm:pt modelId="{3A490C52-8A1A-4900-A81B-933C3DB915F0}" type="sibTrans" cxnId="{272C2449-26BB-4411-8E51-A083181E1CD5}">
      <dgm:prSet/>
      <dgm:spPr/>
      <dgm:t>
        <a:bodyPr/>
        <a:lstStyle/>
        <a:p>
          <a:endParaRPr lang="en-US"/>
        </a:p>
      </dgm:t>
    </dgm:pt>
    <dgm:pt modelId="{5DD842CF-4EC1-4E92-8EDA-62A2B1CDD830}" type="pres">
      <dgm:prSet presAssocID="{7F2F7998-D03E-40A2-A7EF-8BD5A1A7FA69}" presName="linear" presStyleCnt="0">
        <dgm:presLayoutVars>
          <dgm:animLvl val="lvl"/>
          <dgm:resizeHandles val="exact"/>
        </dgm:presLayoutVars>
      </dgm:prSet>
      <dgm:spPr/>
    </dgm:pt>
    <dgm:pt modelId="{DD623C84-A188-4CA3-B167-96938C6EDB24}" type="pres">
      <dgm:prSet presAssocID="{A459A32B-D579-40CD-899A-71251E4E21A3}" presName="parentText" presStyleLbl="node1" presStyleIdx="0" presStyleCnt="7">
        <dgm:presLayoutVars>
          <dgm:chMax val="0"/>
          <dgm:bulletEnabled val="1"/>
        </dgm:presLayoutVars>
      </dgm:prSet>
      <dgm:spPr/>
    </dgm:pt>
    <dgm:pt modelId="{D84E497C-64D5-4928-960A-E4A1106D5324}" type="pres">
      <dgm:prSet presAssocID="{0543C891-026A-421B-A516-D6E5742F2FD6}" presName="spacer" presStyleCnt="0"/>
      <dgm:spPr/>
    </dgm:pt>
    <dgm:pt modelId="{8B30CF31-AE74-4EC9-B6AC-46F241B0CBA5}" type="pres">
      <dgm:prSet presAssocID="{E84A51BE-100B-401C-A81C-2A81CB934381}" presName="parentText" presStyleLbl="node1" presStyleIdx="1" presStyleCnt="7">
        <dgm:presLayoutVars>
          <dgm:chMax val="0"/>
          <dgm:bulletEnabled val="1"/>
        </dgm:presLayoutVars>
      </dgm:prSet>
      <dgm:spPr/>
    </dgm:pt>
    <dgm:pt modelId="{9DF42FA6-F5A8-46DB-B24C-BE1FBBE575AF}" type="pres">
      <dgm:prSet presAssocID="{A3AE5E9B-EEE5-40CD-ACBD-FE8995F44CD7}" presName="spacer" presStyleCnt="0"/>
      <dgm:spPr/>
    </dgm:pt>
    <dgm:pt modelId="{06EDBFC5-AABF-428D-91ED-693DFAC8E2D5}" type="pres">
      <dgm:prSet presAssocID="{75741C02-EE57-4A1A-9127-B6C9E88D436F}" presName="parentText" presStyleLbl="node1" presStyleIdx="2" presStyleCnt="7">
        <dgm:presLayoutVars>
          <dgm:chMax val="0"/>
          <dgm:bulletEnabled val="1"/>
        </dgm:presLayoutVars>
      </dgm:prSet>
      <dgm:spPr/>
    </dgm:pt>
    <dgm:pt modelId="{A2BD9716-1AF0-4E94-9F31-668A3F21C2B5}" type="pres">
      <dgm:prSet presAssocID="{143A4F45-8163-4265-BC0A-D357E681CF63}" presName="spacer" presStyleCnt="0"/>
      <dgm:spPr/>
    </dgm:pt>
    <dgm:pt modelId="{98C711A9-0F4E-46FA-AC7C-0FEE5A776FEF}" type="pres">
      <dgm:prSet presAssocID="{D499BED8-E4CF-4BE3-A2C4-0DDC8625DF01}" presName="parentText" presStyleLbl="node1" presStyleIdx="3" presStyleCnt="7">
        <dgm:presLayoutVars>
          <dgm:chMax val="0"/>
          <dgm:bulletEnabled val="1"/>
        </dgm:presLayoutVars>
      </dgm:prSet>
      <dgm:spPr/>
    </dgm:pt>
    <dgm:pt modelId="{3037AB3E-46B3-4BCC-A353-13AB9D3DE219}" type="pres">
      <dgm:prSet presAssocID="{381A928A-A17B-494F-8852-66996F860A22}" presName="spacer" presStyleCnt="0"/>
      <dgm:spPr/>
    </dgm:pt>
    <dgm:pt modelId="{A9560091-8D5B-4A81-A498-550592551E2F}" type="pres">
      <dgm:prSet presAssocID="{631ED48C-057C-4231-B964-7195910F6858}" presName="parentText" presStyleLbl="node1" presStyleIdx="4" presStyleCnt="7">
        <dgm:presLayoutVars>
          <dgm:chMax val="0"/>
          <dgm:bulletEnabled val="1"/>
        </dgm:presLayoutVars>
      </dgm:prSet>
      <dgm:spPr/>
    </dgm:pt>
    <dgm:pt modelId="{71AC82A6-7411-4878-95DF-69185BF6F7CB}" type="pres">
      <dgm:prSet presAssocID="{08A5C74F-C6DD-498D-A2E0-30D12B3FFF0E}" presName="spacer" presStyleCnt="0"/>
      <dgm:spPr/>
    </dgm:pt>
    <dgm:pt modelId="{09A3BC0A-4477-4050-AD03-F0FF373800DF}" type="pres">
      <dgm:prSet presAssocID="{80BEB204-CE55-4A48-8E46-BDD820A87094}" presName="parentText" presStyleLbl="node1" presStyleIdx="5" presStyleCnt="7">
        <dgm:presLayoutVars>
          <dgm:chMax val="0"/>
          <dgm:bulletEnabled val="1"/>
        </dgm:presLayoutVars>
      </dgm:prSet>
      <dgm:spPr/>
    </dgm:pt>
    <dgm:pt modelId="{0FE1A2A3-1D84-47E1-B757-8D8C562A901E}" type="pres">
      <dgm:prSet presAssocID="{787E2AB1-4F37-46A4-B7C9-9B5618642EE0}" presName="spacer" presStyleCnt="0"/>
      <dgm:spPr/>
    </dgm:pt>
    <dgm:pt modelId="{36250CF9-6230-4B69-A540-D44C2950A4FB}" type="pres">
      <dgm:prSet presAssocID="{3CE0C3A6-EC8D-4DAD-8CB8-38F8BCDD6726}" presName="parentText" presStyleLbl="node1" presStyleIdx="6" presStyleCnt="7">
        <dgm:presLayoutVars>
          <dgm:chMax val="0"/>
          <dgm:bulletEnabled val="1"/>
        </dgm:presLayoutVars>
      </dgm:prSet>
      <dgm:spPr/>
    </dgm:pt>
  </dgm:ptLst>
  <dgm:cxnLst>
    <dgm:cxn modelId="{A6745F17-A604-4AC4-BD27-09EA61454364}" type="presOf" srcId="{80BEB204-CE55-4A48-8E46-BDD820A87094}" destId="{09A3BC0A-4477-4050-AD03-F0FF373800DF}" srcOrd="0" destOrd="0" presId="urn:microsoft.com/office/officeart/2005/8/layout/vList2"/>
    <dgm:cxn modelId="{B7B56F37-A5FC-4C35-A4FF-15091C1506CB}" type="presOf" srcId="{7F2F7998-D03E-40A2-A7EF-8BD5A1A7FA69}" destId="{5DD842CF-4EC1-4E92-8EDA-62A2B1CDD830}" srcOrd="0" destOrd="0" presId="urn:microsoft.com/office/officeart/2005/8/layout/vList2"/>
    <dgm:cxn modelId="{7983D737-2249-4E0D-ACDC-C66805DD43BB}" type="presOf" srcId="{A459A32B-D579-40CD-899A-71251E4E21A3}" destId="{DD623C84-A188-4CA3-B167-96938C6EDB24}" srcOrd="0" destOrd="0" presId="urn:microsoft.com/office/officeart/2005/8/layout/vList2"/>
    <dgm:cxn modelId="{ACFFFA65-ABA2-4382-9C20-DA4846B79F8A}" type="presOf" srcId="{3CE0C3A6-EC8D-4DAD-8CB8-38F8BCDD6726}" destId="{36250CF9-6230-4B69-A540-D44C2950A4FB}" srcOrd="0" destOrd="0" presId="urn:microsoft.com/office/officeart/2005/8/layout/vList2"/>
    <dgm:cxn modelId="{95D3BC48-6F81-4ADB-B8ED-9E27B2CACB37}" type="presOf" srcId="{D499BED8-E4CF-4BE3-A2C4-0DDC8625DF01}" destId="{98C711A9-0F4E-46FA-AC7C-0FEE5A776FEF}" srcOrd="0" destOrd="0" presId="urn:microsoft.com/office/officeart/2005/8/layout/vList2"/>
    <dgm:cxn modelId="{272C2449-26BB-4411-8E51-A083181E1CD5}" srcId="{7F2F7998-D03E-40A2-A7EF-8BD5A1A7FA69}" destId="{3CE0C3A6-EC8D-4DAD-8CB8-38F8BCDD6726}" srcOrd="6" destOrd="0" parTransId="{553326A6-183A-4947-B891-4FE36A19E261}" sibTransId="{3A490C52-8A1A-4900-A81B-933C3DB915F0}"/>
    <dgm:cxn modelId="{50F98E6E-71EC-44B9-BC5E-EE0554301124}" srcId="{7F2F7998-D03E-40A2-A7EF-8BD5A1A7FA69}" destId="{75741C02-EE57-4A1A-9127-B6C9E88D436F}" srcOrd="2" destOrd="0" parTransId="{C9A4ADB8-FE7D-4C4D-9697-B722A7630E4A}" sibTransId="{143A4F45-8163-4265-BC0A-D357E681CF63}"/>
    <dgm:cxn modelId="{ED687876-CBDF-4A39-8EC2-A18D5A2620F9}" srcId="{7F2F7998-D03E-40A2-A7EF-8BD5A1A7FA69}" destId="{A459A32B-D579-40CD-899A-71251E4E21A3}" srcOrd="0" destOrd="0" parTransId="{8E71D417-AD31-448C-B401-CB008D81F5DC}" sibTransId="{0543C891-026A-421B-A516-D6E5742F2FD6}"/>
    <dgm:cxn modelId="{8921CB84-33E1-40A2-9620-F84A594EE5A3}" type="presOf" srcId="{631ED48C-057C-4231-B964-7195910F6858}" destId="{A9560091-8D5B-4A81-A498-550592551E2F}" srcOrd="0" destOrd="0" presId="urn:microsoft.com/office/officeart/2005/8/layout/vList2"/>
    <dgm:cxn modelId="{EA585A99-DE72-468B-92B2-9EB71FA4F5B2}" srcId="{7F2F7998-D03E-40A2-A7EF-8BD5A1A7FA69}" destId="{E84A51BE-100B-401C-A81C-2A81CB934381}" srcOrd="1" destOrd="0" parTransId="{CD8CA50E-5089-4C3A-82D1-6F9D6F4C0283}" sibTransId="{A3AE5E9B-EEE5-40CD-ACBD-FE8995F44CD7}"/>
    <dgm:cxn modelId="{543F66A9-50B0-4570-8072-D2A31596FDC7}" type="presOf" srcId="{E84A51BE-100B-401C-A81C-2A81CB934381}" destId="{8B30CF31-AE74-4EC9-B6AC-46F241B0CBA5}" srcOrd="0" destOrd="0" presId="urn:microsoft.com/office/officeart/2005/8/layout/vList2"/>
    <dgm:cxn modelId="{A4DD24B8-5DD0-47EA-B35B-007C91CA43AA}" type="presOf" srcId="{75741C02-EE57-4A1A-9127-B6C9E88D436F}" destId="{06EDBFC5-AABF-428D-91ED-693DFAC8E2D5}" srcOrd="0" destOrd="0" presId="urn:microsoft.com/office/officeart/2005/8/layout/vList2"/>
    <dgm:cxn modelId="{87DE1ED2-1779-4C84-8073-034BA4DF224A}" srcId="{7F2F7998-D03E-40A2-A7EF-8BD5A1A7FA69}" destId="{80BEB204-CE55-4A48-8E46-BDD820A87094}" srcOrd="5" destOrd="0" parTransId="{959B5168-B6D8-4655-ACFE-A33892048ECA}" sibTransId="{787E2AB1-4F37-46A4-B7C9-9B5618642EE0}"/>
    <dgm:cxn modelId="{0A70EEE1-F5AD-4169-85EC-51585912FFBF}" srcId="{7F2F7998-D03E-40A2-A7EF-8BD5A1A7FA69}" destId="{D499BED8-E4CF-4BE3-A2C4-0DDC8625DF01}" srcOrd="3" destOrd="0" parTransId="{890B262A-408B-4EFF-AEFB-62CFA1167F03}" sibTransId="{381A928A-A17B-494F-8852-66996F860A22}"/>
    <dgm:cxn modelId="{EFB8B7ED-6E05-43A2-BD2C-A9E9DA68F9E1}" srcId="{7F2F7998-D03E-40A2-A7EF-8BD5A1A7FA69}" destId="{631ED48C-057C-4231-B964-7195910F6858}" srcOrd="4" destOrd="0" parTransId="{D5C0C356-CFEE-4018-93D4-55396C07156E}" sibTransId="{08A5C74F-C6DD-498D-A2E0-30D12B3FFF0E}"/>
    <dgm:cxn modelId="{BD0D6E91-7743-4EA0-939D-C3E191D83026}" type="presParOf" srcId="{5DD842CF-4EC1-4E92-8EDA-62A2B1CDD830}" destId="{DD623C84-A188-4CA3-B167-96938C6EDB24}" srcOrd="0" destOrd="0" presId="urn:microsoft.com/office/officeart/2005/8/layout/vList2"/>
    <dgm:cxn modelId="{754A64C2-CDE9-4F97-A897-D2B872DC5091}" type="presParOf" srcId="{5DD842CF-4EC1-4E92-8EDA-62A2B1CDD830}" destId="{D84E497C-64D5-4928-960A-E4A1106D5324}" srcOrd="1" destOrd="0" presId="urn:microsoft.com/office/officeart/2005/8/layout/vList2"/>
    <dgm:cxn modelId="{3A5FC35A-8C7C-48AC-B9A3-0D8280DD33BB}" type="presParOf" srcId="{5DD842CF-4EC1-4E92-8EDA-62A2B1CDD830}" destId="{8B30CF31-AE74-4EC9-B6AC-46F241B0CBA5}" srcOrd="2" destOrd="0" presId="urn:microsoft.com/office/officeart/2005/8/layout/vList2"/>
    <dgm:cxn modelId="{BDF03B59-3505-4FD4-B004-DB8E0122F8C6}" type="presParOf" srcId="{5DD842CF-4EC1-4E92-8EDA-62A2B1CDD830}" destId="{9DF42FA6-F5A8-46DB-B24C-BE1FBBE575AF}" srcOrd="3" destOrd="0" presId="urn:microsoft.com/office/officeart/2005/8/layout/vList2"/>
    <dgm:cxn modelId="{6F6783EA-D481-4574-A993-326E3EEF0A48}" type="presParOf" srcId="{5DD842CF-4EC1-4E92-8EDA-62A2B1CDD830}" destId="{06EDBFC5-AABF-428D-91ED-693DFAC8E2D5}" srcOrd="4" destOrd="0" presId="urn:microsoft.com/office/officeart/2005/8/layout/vList2"/>
    <dgm:cxn modelId="{4BF76FD7-0B35-472E-8886-841A27839D0C}" type="presParOf" srcId="{5DD842CF-4EC1-4E92-8EDA-62A2B1CDD830}" destId="{A2BD9716-1AF0-4E94-9F31-668A3F21C2B5}" srcOrd="5" destOrd="0" presId="urn:microsoft.com/office/officeart/2005/8/layout/vList2"/>
    <dgm:cxn modelId="{45BE2FE1-9EBC-4BAD-96A4-AD0D32714A46}" type="presParOf" srcId="{5DD842CF-4EC1-4E92-8EDA-62A2B1CDD830}" destId="{98C711A9-0F4E-46FA-AC7C-0FEE5A776FEF}" srcOrd="6" destOrd="0" presId="urn:microsoft.com/office/officeart/2005/8/layout/vList2"/>
    <dgm:cxn modelId="{C68B8760-02B9-417C-B25F-A6E7F459BDEE}" type="presParOf" srcId="{5DD842CF-4EC1-4E92-8EDA-62A2B1CDD830}" destId="{3037AB3E-46B3-4BCC-A353-13AB9D3DE219}" srcOrd="7" destOrd="0" presId="urn:microsoft.com/office/officeart/2005/8/layout/vList2"/>
    <dgm:cxn modelId="{67A6A6AF-BC4E-447F-A92C-572AC72C06C5}" type="presParOf" srcId="{5DD842CF-4EC1-4E92-8EDA-62A2B1CDD830}" destId="{A9560091-8D5B-4A81-A498-550592551E2F}" srcOrd="8" destOrd="0" presId="urn:microsoft.com/office/officeart/2005/8/layout/vList2"/>
    <dgm:cxn modelId="{69300091-1856-49BE-BD0C-F393345C3ADC}" type="presParOf" srcId="{5DD842CF-4EC1-4E92-8EDA-62A2B1CDD830}" destId="{71AC82A6-7411-4878-95DF-69185BF6F7CB}" srcOrd="9" destOrd="0" presId="urn:microsoft.com/office/officeart/2005/8/layout/vList2"/>
    <dgm:cxn modelId="{E6959C24-91AA-497A-9571-55D5FB2CDCD7}" type="presParOf" srcId="{5DD842CF-4EC1-4E92-8EDA-62A2B1CDD830}" destId="{09A3BC0A-4477-4050-AD03-F0FF373800DF}" srcOrd="10" destOrd="0" presId="urn:microsoft.com/office/officeart/2005/8/layout/vList2"/>
    <dgm:cxn modelId="{AC3B3B9C-3521-4B2B-BC4E-F6D1FC185CAB}" type="presParOf" srcId="{5DD842CF-4EC1-4E92-8EDA-62A2B1CDD830}" destId="{0FE1A2A3-1D84-47E1-B757-8D8C562A901E}" srcOrd="11" destOrd="0" presId="urn:microsoft.com/office/officeart/2005/8/layout/vList2"/>
    <dgm:cxn modelId="{7715920C-99ED-4DC8-BE19-9F284F45C5BE}" type="presParOf" srcId="{5DD842CF-4EC1-4E92-8EDA-62A2B1CDD830}" destId="{36250CF9-6230-4B69-A540-D44C2950A4FB}"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623C84-A188-4CA3-B167-96938C6EDB24}">
      <dsp:nvSpPr>
        <dsp:cNvPr id="0" name=""/>
        <dsp:cNvSpPr/>
      </dsp:nvSpPr>
      <dsp:spPr>
        <a:xfrm>
          <a:off x="0" y="118373"/>
          <a:ext cx="6492240" cy="675327"/>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A.  Are religious people more satisfied with life?</a:t>
          </a:r>
          <a:endParaRPr lang="en-US" sz="1700" kern="1200"/>
        </a:p>
      </dsp:txBody>
      <dsp:txXfrm>
        <a:off x="32967" y="151340"/>
        <a:ext cx="6426306" cy="609393"/>
      </dsp:txXfrm>
    </dsp:sp>
    <dsp:sp modelId="{8B30CF31-AE74-4EC9-B6AC-46F241B0CBA5}">
      <dsp:nvSpPr>
        <dsp:cNvPr id="0" name=""/>
        <dsp:cNvSpPr/>
      </dsp:nvSpPr>
      <dsp:spPr>
        <a:xfrm>
          <a:off x="0" y="842660"/>
          <a:ext cx="6492240" cy="675327"/>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B.  Are older people more likely to see the death penalty as justifiable?</a:t>
          </a:r>
          <a:endParaRPr lang="en-US" sz="1700" kern="1200"/>
        </a:p>
      </dsp:txBody>
      <dsp:txXfrm>
        <a:off x="32967" y="875627"/>
        <a:ext cx="6426306" cy="609393"/>
      </dsp:txXfrm>
    </dsp:sp>
    <dsp:sp modelId="{06EDBFC5-AABF-428D-91ED-693DFAC8E2D5}">
      <dsp:nvSpPr>
        <dsp:cNvPr id="0" name=""/>
        <dsp:cNvSpPr/>
      </dsp:nvSpPr>
      <dsp:spPr>
        <a:xfrm>
          <a:off x="0" y="1566948"/>
          <a:ext cx="6492240" cy="675327"/>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C.  What factors are associated with opinions about future European Union enlargement among Europeans?</a:t>
          </a:r>
          <a:endParaRPr lang="en-US" sz="1700" kern="1200"/>
        </a:p>
      </dsp:txBody>
      <dsp:txXfrm>
        <a:off x="32967" y="1599915"/>
        <a:ext cx="6426306" cy="609393"/>
      </dsp:txXfrm>
    </dsp:sp>
    <dsp:sp modelId="{98C711A9-0F4E-46FA-AC7C-0FEE5A776FEF}">
      <dsp:nvSpPr>
        <dsp:cNvPr id="0" name=""/>
        <dsp:cNvSpPr/>
      </dsp:nvSpPr>
      <dsp:spPr>
        <a:xfrm>
          <a:off x="0" y="2291236"/>
          <a:ext cx="6492240" cy="675327"/>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D.  Is higher internet use associated with stronger anti-immigrant sentiments?</a:t>
          </a:r>
          <a:endParaRPr lang="en-US" sz="1700" kern="1200"/>
        </a:p>
      </dsp:txBody>
      <dsp:txXfrm>
        <a:off x="32967" y="2324203"/>
        <a:ext cx="6426306" cy="609393"/>
      </dsp:txXfrm>
    </dsp:sp>
    <dsp:sp modelId="{A9560091-8D5B-4A81-A498-550592551E2F}">
      <dsp:nvSpPr>
        <dsp:cNvPr id="0" name=""/>
        <dsp:cNvSpPr/>
      </dsp:nvSpPr>
      <dsp:spPr>
        <a:xfrm>
          <a:off x="0" y="3015523"/>
          <a:ext cx="6492240" cy="675327"/>
        </a:xfrm>
        <a:prstGeom prst="round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E.  How does victimisation relate to trust in the police?</a:t>
          </a:r>
          <a:endParaRPr lang="en-US" sz="1700" kern="1200"/>
        </a:p>
      </dsp:txBody>
      <dsp:txXfrm>
        <a:off x="32967" y="3048490"/>
        <a:ext cx="6426306" cy="609393"/>
      </dsp:txXfrm>
    </dsp:sp>
    <dsp:sp modelId="{09A3BC0A-4477-4050-AD03-F0FF373800DF}">
      <dsp:nvSpPr>
        <dsp:cNvPr id="0" name=""/>
        <dsp:cNvSpPr/>
      </dsp:nvSpPr>
      <dsp:spPr>
        <a:xfrm>
          <a:off x="0" y="3739811"/>
          <a:ext cx="6492240" cy="675327"/>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F.  What factors are associated with belief in life after death?</a:t>
          </a:r>
          <a:endParaRPr lang="en-US" sz="1700" kern="1200"/>
        </a:p>
      </dsp:txBody>
      <dsp:txXfrm>
        <a:off x="32967" y="3772778"/>
        <a:ext cx="6426306" cy="609393"/>
      </dsp:txXfrm>
    </dsp:sp>
    <dsp:sp modelId="{36250CF9-6230-4B69-A540-D44C2950A4FB}">
      <dsp:nvSpPr>
        <dsp:cNvPr id="0" name=""/>
        <dsp:cNvSpPr/>
      </dsp:nvSpPr>
      <dsp:spPr>
        <a:xfrm>
          <a:off x="0" y="4464099"/>
          <a:ext cx="6492240" cy="675327"/>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G.  Are government/public sector employees more inclined to perceive higher levels of corruption than those working in the private sector?</a:t>
          </a:r>
          <a:endParaRPr lang="en-US" sz="1700" kern="1200"/>
        </a:p>
      </dsp:txBody>
      <dsp:txXfrm>
        <a:off x="32967" y="4497066"/>
        <a:ext cx="6426306" cy="60939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FBD195-041F-A9A0-1644-740C91990A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7D01E07-BD6F-76A0-E2F3-6F9E834A0E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3203E3-7C81-41A5-A697-954FF252F964}" type="datetimeFigureOut">
              <a:rPr lang="en-GB" smtClean="0"/>
              <a:t>19/10/2026</a:t>
            </a:fld>
            <a:endParaRPr lang="en-GB"/>
          </a:p>
        </p:txBody>
      </p:sp>
      <p:sp>
        <p:nvSpPr>
          <p:cNvPr id="4" name="Footer Placeholder 3">
            <a:extLst>
              <a:ext uri="{FF2B5EF4-FFF2-40B4-BE49-F238E27FC236}">
                <a16:creationId xmlns:a16="http://schemas.microsoft.com/office/drawing/2014/main" id="{DDFBD701-2DB0-B4B2-C5BD-0490DCBA57E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4251DA51-44A7-C88C-C39E-6DA6922B2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0050DA-C3C8-4D4F-9A52-26049FB521EA}" type="slidenum">
              <a:rPr lang="en-GB" smtClean="0"/>
              <a:t>‹#›</a:t>
            </a:fld>
            <a:endParaRPr lang="en-GB"/>
          </a:p>
        </p:txBody>
      </p:sp>
    </p:spTree>
    <p:extLst>
      <p:ext uri="{BB962C8B-B14F-4D97-AF65-F5344CB8AC3E}">
        <p14:creationId xmlns:p14="http://schemas.microsoft.com/office/powerpoint/2010/main" val="336818098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54BCB-1937-48CE-9F00-49B381FEB4E9}" type="datetimeFigureOut">
              <a:rPr lang="en-GB" smtClean="0"/>
              <a:t>19/10/2026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A333E-A95D-42FE-9CF0-D7FBE7CB01EA}" type="slidenum">
              <a:rPr lang="en-GB" smtClean="0"/>
              <a:t>‹#›</a:t>
            </a:fld>
            <a:endParaRPr lang="en-GB"/>
          </a:p>
        </p:txBody>
      </p:sp>
    </p:spTree>
    <p:extLst>
      <p:ext uri="{BB962C8B-B14F-4D97-AF65-F5344CB8AC3E}">
        <p14:creationId xmlns:p14="http://schemas.microsoft.com/office/powerpoint/2010/main" val="61144826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67504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59490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Why a 0/1 outcome needs a different model; the three scales on which a proportion can be expressed; the logistic model itself; and reading it in JASP. One running example throughout: the BSA 2010 trust question, which students analyse in the workshop.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week's model in one picture. The intercept, 77.1, is where the line meets the vertical axis at inequality 0, far outside the data, which run from 3.4 to 9.7. The slope, −6.54, is the change in predicted trust for each one-unit step, drawn as the dashed step. Today the outcome changes from a percentage to a yes/no answer, but the intercept and the slope stay. They are measured on a new scale, the log-odds.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Many outcomes in sociology have two categories. Code the category of interest 1 and the other 0. The mean of a 0/1 variable is the proportion coded 1: here 481 of 1,060, or 0.454. So when we model a 0/1 outcome we model a proportion, which is the same as the probability that a person is in category 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minutes with a neighbour, then take answers.</a:t>
            </a:r>
          </a:p>
          <a:p>
            <a:r>
              <a:t>1 ESS ppltrst 0-10: linear is reasonable; an 11-point scale is usually treated as Scale.</a:t>
            </a:r>
          </a:p>
          <a:p>
            <a:r>
              <a:t>2 BSA 2010 SocTrust: two categories, so logistic.</a:t>
            </a:r>
          </a:p>
          <a:p>
            <a:r>
              <a:t>3 Spirit Level Trust: a country-level percentage, continuous, so linear (Week 3).</a:t>
            </a:r>
          </a:p>
          <a:p>
            <a:r>
              <a:t>4 BSA 2023 four-point: ordinal and short. Either dichotomise and use logistic, or treat 1-4 as Scale with caution.</a:t>
            </a:r>
          </a:p>
          <a:p>
            <a:r>
              <a:t>5 Citizenship Survey PTrust: decide what the volunteered 'depends' means, then logistic. We test both choices in Worksheet 4.</a:t>
            </a:r>
          </a:p>
          <a:p>
            <a:r>
              <a:t>6 Their own assignment outcome: Exercise 4.3.</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Synthetic example: 500 households, income in £10,000s and whether they own a car (1) or not (0). Dots: the share owning a car in each £10,000 band. The straight line (gold) passes 100% at about £78,000 and reaches 121% at £100,000: an impossible probability. The logistic curve (navy) bends to stay between 0 and 1. Both meet the vertical axis at an income of 0: 23% for the straight line, 11% for the curve.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171450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ways of expressing the same information. A probability compares one group with everyone: 7 rainy days out of 10. Odds compare the two groups with each other: 7 rainy days for every 3 dry ones, 2.33. For trust: 481 out of 1,060 is a probability of 0.454; 481 for every 579 is odds of 0.83, roughly 5 trusting people for every 6 careful ones. Betting odds work the same way.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 to social trust. In the 2010 BSA, 481 of the 1,060 people who answered say most people can be trusted (after Worksheet 4's cleaning, which filters out 7 respondents with unknown age; Weeks 1-2 used 484 of 1,064).</a:t>
            </a:r>
          </a:p>
          <a:p>
            <a:r>
              <a:t>Probability 0.454. Odds 0.454/0.546 = 0.83: about 5 trusting people for every 6 who say you can't be too careful. Log-odds ln(0.8307) = -0.185, which is exactly the (Intercept) JASP reports for the null model M0 in the workshop.</a:t>
            </a:r>
          </a:p>
          <a:p>
            <a:r>
              <a:t>The reference row is worth memorising: an even split is p = 0.5, odds = 1, log-odds = 0.</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five probabilities on three rulers. Probability is boxed in between 0 and 1. Odds start at 0 but have no ceiling, and they are lopsided: probabilities below 0.5 are squeezed into the stretch between 0 and 1, those above 0.5 spread out towards infinity (0.9 is already odds of 9). Log-odds have no floor and no ceiling, and they are symmetric around 0: probabilities of 0.25 and 0.75 sit at −1.1 and +1.1. A straight line can rise or fall for ever on this scale without predicting anything impossible, which is why logistic regression is a straight line on the log-odds scale.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minutes individually, then compare with a neighbour. The fourth question is the one most people get wrong: odds ratios scale the odds, not the probability.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model, drawn twice. Left: on the log-odds scale the model is an ordinary straight line, log-odds = −2.12 + 0.80 × income. The intercept, −2.12, is the log-odds of owning a car at an income of 0; the dashed step shows the slope: each extra £10,000 adds 0.80 to the log-odds. Right: the same model on the probability scale is an S-curve. The intercept appears there converted into a probability: e^−2.12 ÷ (1 + e^−2.12) = 0.107, so 10.7% at an income of 0. Both pictures pass their midpoint at the same income: log-odds 0 and probability 50% at about £26.6k. JASP reports the left-hand numbers; people understand the right-hand picture.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one £10,000 step does on each scale. On the log-odds scale it always adds the slope, 0.80. On the odds scale it always multiplies by e^0.80 = 2.21: this is the odds ratio. On the probability scale the change depends on where you start: +10 points from £0 to £10,000, +20 points around the middle of the S, +7 points from £50,000 to £60,000. So an odds ratio cannot be turned into a single 'percentage point' effect without saying for whom.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Task 3 of Exercise 4.1.1. Two things go wrong if you skip it. </a:t>
            </a:r>
            <a:r>
              <a:rPr dirty="0" err="1"/>
              <a:t>JASP</a:t>
            </a:r>
            <a:r>
              <a:rPr dirty="0"/>
              <a:t> refuses to fit the model because 'Don't know' and 'Refusal' count as valid categories. And </a:t>
            </a:r>
            <a:r>
              <a:rPr dirty="0" err="1"/>
              <a:t>JASP</a:t>
            </a:r>
            <a:r>
              <a:rPr dirty="0"/>
              <a:t> codes the second category as 1: in the original file that is 'Can't be too careful', so the model would describe mistrust.</a:t>
            </a:r>
          </a:p>
          <a:p>
            <a:r>
              <a:rPr dirty="0"/>
              <a:t>The 'skip' cases are missing by design: other questionnaire versions never saw the question. Counts here are after filtering out the 7 respondents with unknown age, as in the worksheet.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a:t>
            </a:r>
            <a:r>
              <a:rPr dirty="0" err="1"/>
              <a:t>JASP</a:t>
            </a:r>
            <a:r>
              <a:rPr dirty="0"/>
              <a:t> shows for the workshop model (Exercise 4.1.1, Task 6). (1) Estimate: change in log-odds; read the sign. (2) Odds Ratio: e to the power of the estimate; </a:t>
            </a:r>
            <a:r>
              <a:rPr dirty="0" err="1"/>
              <a:t>JASP</a:t>
            </a:r>
            <a:r>
              <a:rPr dirty="0"/>
              <a:t> ticks it by default. (3) z, Wald and p describe uncertainty: next week. (4) </a:t>
            </a:r>
            <a:r>
              <a:rPr dirty="0" err="1"/>
              <a:t>ΔΧ²</a:t>
            </a:r>
            <a:r>
              <a:rPr dirty="0"/>
              <a:t> = 15.3 with 2 </a:t>
            </a:r>
            <a:r>
              <a:rPr dirty="0" err="1"/>
              <a:t>df</a:t>
            </a:r>
            <a:r>
              <a:rPr dirty="0"/>
              <a:t> in the Model Summary: the model with age and sex predicts better than the null model with no predictors. (5) Nagelkerke </a:t>
            </a:r>
            <a:r>
              <a:rPr dirty="0" err="1"/>
              <a:t>R²</a:t>
            </a:r>
            <a:r>
              <a:rPr dirty="0"/>
              <a:t> is one of several attempts at an </a:t>
            </a:r>
            <a:r>
              <a:rPr dirty="0" err="1"/>
              <a:t>R²</a:t>
            </a:r>
            <a:r>
              <a:rPr dirty="0"/>
              <a:t> for logistic regression; small here. (6) The note under the table: check that the category coded 1 is the one you meant to model.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JASP reports the Estimate on the log-odds scale and, by default, the Odds Ratio next to it. The sign tells you the direction; the odds ratio tells you the size.</a:t>
            </a:r>
          </a:p>
          <a:p>
            <a:r>
              <a:t>Age: 0.0062 per year looks tiny, but per decade the estimate is 10 x 0.0062 = 0.062, and e^0.062 = 1.064: about 6% higher odds. Still not statistically significant here (p = .069), a Week 5 story.</a:t>
            </a:r>
          </a:p>
          <a:p>
            <a:r>
              <a:t>Female: e^-0.437 = 0.646, so women's odds are about 35% lower than men's of the same age.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model in predicted probabilities, as in JASP's conditional estimates plot. Solid lines cover the ages in the data (17 to 97); the dashed lines run back to age 0 to show where the intercept sits. For men the intercept, −0.257, converts to 43.6%; for women the intercept plus the sex coefficient, −0.257 − 0.437 = −0.694, converts to 33.3%. Nobody aged 0 answers surveys, so these points only anchor the lines. Men: 47% at 20 and 56% at 80; women: 36% and 45%. The gap is about 11 percentage points at every age (10.8 on average): the number to quote when someone asks how big the difference is.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ways to judge fit. The chi-square test compares this model with the null model, which predicts 45% for everyone: the model is clearly better (ΔΧ² = 15.3, 2 df). The pseudo-R² values are tiny: age and sex tell us little about which individuals trust. The classification table makes the same point. With a cut-off of 0.5 the model predicts 'trusts' only for men older than about 41, and it classifies 55.8% correctly, barely more than the 54.6% we would get by predicting 'can't be too careful' for everyone. A real difference between groups can coexist with weak prediction of individuals. JASP: Performance diagnostics › Confusion matrix.</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Fit the same model as a linear regression on the 0/1 outcome (a 'linear probability model') and compare predictions. They agree to within about 0.1 percentage points, because every predicted probability here sits between about 35% and 60%, where the logistic curve is nearly straight. The linear model's coefficient is directly a difference in probability: women 10.8 points lower. Logistic regression earns its keep near 0% or 100%, as in the car ownership example.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of hands for each statement. Odds ratio for Female = 0.646. Answers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BSA 2010 self-completion version (PeopTrs3), 892 valid answers on a 1-5 scale. To use logistic regression we need two groups. Where does 3 belong? Vote, then ask for a reason. For you (in the Worksheet 4 solutions): the conclusions change with the cut. With 4-5 = trusts, age is positive and significant and sex is not; with 3-5 = trusts, age is not significant and women have lower odds. Lesson: report your coding decision and check a sensible alternative.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a results paragraph might read in an assignment. The order: data and coding first, then the odds ratio in words, then the same result in predicted probabilities, then the weaker result, then fit. The checklist on the right is what to look for when checking your own write-up. Inference (intervals, p-values) is added next week.</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Week 4 Interactive Explorer page (https://cgmoreh.github.io/SOC2069-QUANT-26/Materials/Explorers/explorer_w4.html) has an interactive version of these charts. Scan the code or follow the link from the course site. Students can try the three changes listed on the slide, the converter, and the BSA calculator, which reproduces the predicted probabilities shown on the earlier slide.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points to take into the workshop. Points 1 and 4 are what Task 3 of the worksheet asks for: decide which category is 1 and record how the variable was recoded.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Workshop 1–3pm. Exercise 4.1: BSA 2010 and the Citizenship Survey 2010–11. Exercise 4.2: young people's trust in three recent surveys. Exercise 4.3: which assignment questions suit logistic regression.</a:t>
            </a:r>
          </a:p>
        </p:txBody>
      </p:sp>
    </p:spTree>
    <p:extLst>
      <p:ext uri="{BB962C8B-B14F-4D97-AF65-F5344CB8AC3E}">
        <p14:creationId xmlns:p14="http://schemas.microsoft.com/office/powerpoint/2010/main" val="42712505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9572702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5810384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s://github.com/CGMoreh" TargetMode="External"/><Relationship Id="rId13" Type="http://schemas.openxmlformats.org/officeDocument/2006/relationships/image" Target="../media/image6.png"/><Relationship Id="rId3" Type="http://schemas.openxmlformats.org/officeDocument/2006/relationships/hyperlink" Target="https://www.ncl.ac.uk/gps/staff/profile/chrismoreh.html" TargetMode="External"/><Relationship Id="rId7" Type="http://schemas.openxmlformats.org/officeDocument/2006/relationships/hyperlink" Target="https://www.chrismoreh.com/" TargetMode="External"/><Relationship Id="rId12"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mailto:chris.moreh@ncl.ac.uk" TargetMode="External"/><Relationship Id="rId11" Type="http://schemas.openxmlformats.org/officeDocument/2006/relationships/image" Target="../media/image4.png"/><Relationship Id="rId5" Type="http://schemas.openxmlformats.org/officeDocument/2006/relationships/image" Target="../media/image3.svg"/><Relationship Id="rId15" Type="http://schemas.openxmlformats.org/officeDocument/2006/relationships/image" Target="../media/image8.png"/><Relationship Id="rId10" Type="http://schemas.openxmlformats.org/officeDocument/2006/relationships/hyperlink" Target="https://www.linkedin.com/in/cgm-phd/" TargetMode="External"/><Relationship Id="rId4" Type="http://schemas.openxmlformats.org/officeDocument/2006/relationships/image" Target="../media/image2.png"/><Relationship Id="rId9" Type="http://schemas.openxmlformats.org/officeDocument/2006/relationships/hyperlink" Target="https://twitter.com/cgmoreh" TargetMode="External"/><Relationship Id="rId1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svg"/><Relationship Id="rId18" Type="http://schemas.openxmlformats.org/officeDocument/2006/relationships/image" Target="../media/image26.svg"/><Relationship Id="rId3" Type="http://schemas.openxmlformats.org/officeDocument/2006/relationships/image" Target="../media/image11.svg"/><Relationship Id="rId21" Type="http://schemas.openxmlformats.org/officeDocument/2006/relationships/image" Target="../media/image29.svg"/><Relationship Id="rId7" Type="http://schemas.openxmlformats.org/officeDocument/2006/relationships/image" Target="../media/image15.svg"/><Relationship Id="rId12" Type="http://schemas.openxmlformats.org/officeDocument/2006/relationships/image" Target="../media/image20.svg"/><Relationship Id="rId17" Type="http://schemas.openxmlformats.org/officeDocument/2006/relationships/image" Target="../media/image25.svg"/><Relationship Id="rId2" Type="http://schemas.openxmlformats.org/officeDocument/2006/relationships/image" Target="../media/image10.svg"/><Relationship Id="rId16" Type="http://schemas.openxmlformats.org/officeDocument/2006/relationships/image" Target="../media/image24.svg"/><Relationship Id="rId20" Type="http://schemas.openxmlformats.org/officeDocument/2006/relationships/image" Target="../media/image28.svg"/><Relationship Id="rId1" Type="http://schemas.openxmlformats.org/officeDocument/2006/relationships/slideMaster" Target="../slideMasters/slideMaster1.xml"/><Relationship Id="rId6" Type="http://schemas.openxmlformats.org/officeDocument/2006/relationships/image" Target="../media/image14.svg"/><Relationship Id="rId11" Type="http://schemas.openxmlformats.org/officeDocument/2006/relationships/image" Target="../media/image19.svg"/><Relationship Id="rId5" Type="http://schemas.openxmlformats.org/officeDocument/2006/relationships/image" Target="../media/image13.svg"/><Relationship Id="rId15" Type="http://schemas.openxmlformats.org/officeDocument/2006/relationships/image" Target="../media/image23.svg"/><Relationship Id="rId10" Type="http://schemas.openxmlformats.org/officeDocument/2006/relationships/image" Target="../media/image18.svg"/><Relationship Id="rId19" Type="http://schemas.openxmlformats.org/officeDocument/2006/relationships/image" Target="../media/image27.svg"/><Relationship Id="rId4" Type="http://schemas.openxmlformats.org/officeDocument/2006/relationships/image" Target="../media/image12.svg"/><Relationship Id="rId9" Type="http://schemas.openxmlformats.org/officeDocument/2006/relationships/image" Target="../media/image17.svg"/><Relationship Id="rId14" Type="http://schemas.openxmlformats.org/officeDocument/2006/relationships/image" Target="../media/image2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svg"/><Relationship Id="rId1" Type="http://schemas.openxmlformats.org/officeDocument/2006/relationships/slideMaster" Target="../slideMasters/slideMaster1.xml"/><Relationship Id="rId5" Type="http://schemas.openxmlformats.org/officeDocument/2006/relationships/image" Target="../media/image14.svg"/><Relationship Id="rId4" Type="http://schemas.openxmlformats.org/officeDocument/2006/relationships/image" Target="../media/image13.sv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6.svg"/><Relationship Id="rId7" Type="http://schemas.openxmlformats.org/officeDocument/2006/relationships/image" Target="../media/image18.svg"/><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image" Target="../media/image13.svg"/><Relationship Id="rId11" Type="http://schemas.openxmlformats.org/officeDocument/2006/relationships/image" Target="../media/image11.svg"/><Relationship Id="rId5" Type="http://schemas.openxmlformats.org/officeDocument/2006/relationships/image" Target="../media/image17.svg"/><Relationship Id="rId10" Type="http://schemas.openxmlformats.org/officeDocument/2006/relationships/image" Target="../media/image15.svg"/><Relationship Id="rId4" Type="http://schemas.openxmlformats.org/officeDocument/2006/relationships/image" Target="../media/image12.svg"/><Relationship Id="rId9" Type="http://schemas.openxmlformats.org/officeDocument/2006/relationships/image" Target="../media/image19.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hyperlink" Target="https://www.chrismoreh.com/" TargetMode="External"/><Relationship Id="rId13" Type="http://schemas.openxmlformats.org/officeDocument/2006/relationships/image" Target="../media/image5.png"/><Relationship Id="rId3" Type="http://schemas.openxmlformats.org/officeDocument/2006/relationships/image" Target="../media/image30.png"/><Relationship Id="rId7" Type="http://schemas.openxmlformats.org/officeDocument/2006/relationships/hyperlink" Target="mailto:chris.moreh@ncl.ac.uk" TargetMode="External"/><Relationship Id="rId12" Type="http://schemas.openxmlformats.org/officeDocument/2006/relationships/image" Target="../media/image4.png"/><Relationship Id="rId17" Type="http://schemas.openxmlformats.org/officeDocument/2006/relationships/image" Target="../media/image32.png"/><Relationship Id="rId2" Type="http://schemas.openxmlformats.org/officeDocument/2006/relationships/image" Target="../media/image2.png"/><Relationship Id="rId16"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3.svg"/><Relationship Id="rId11" Type="http://schemas.openxmlformats.org/officeDocument/2006/relationships/hyperlink" Target="https://www.linkedin.com/in/cgm-phd/" TargetMode="External"/><Relationship Id="rId5" Type="http://schemas.openxmlformats.org/officeDocument/2006/relationships/image" Target="../media/image31.svg"/><Relationship Id="rId15" Type="http://schemas.openxmlformats.org/officeDocument/2006/relationships/image" Target="../media/image7.png"/><Relationship Id="rId10" Type="http://schemas.openxmlformats.org/officeDocument/2006/relationships/hyperlink" Target="https://twitter.com/cgmoreh" TargetMode="External"/><Relationship Id="rId4" Type="http://schemas.microsoft.com/office/2007/relationships/hdphoto" Target="../media/hdphoto1.wdp"/><Relationship Id="rId9" Type="http://schemas.openxmlformats.org/officeDocument/2006/relationships/hyperlink" Target="https://github.com/CGMoreh" TargetMode="External"/><Relationship Id="rId1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alphaModFix amt="80000"/>
            <a:lum/>
          </a:blip>
          <a:srcRect/>
          <a:stretch>
            <a:fillRect l="2000" r="2000" b="27000"/>
          </a:stretch>
        </a:blip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5" y="6334316"/>
            <a:ext cx="12188825" cy="64008"/>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 name="Date Placeholder 3"/>
          <p:cNvSpPr>
            <a:spLocks noGrp="1"/>
          </p:cNvSpPr>
          <p:nvPr>
            <p:ph type="dt" sz="half" idx="10"/>
          </p:nvPr>
        </p:nvSpPr>
        <p:spPr/>
        <p:txBody>
          <a:bodyPr/>
          <a:lstStyle/>
          <a:p>
            <a:fld id="{86CD7B20-D343-4860-8DBF-8EFA09195FF3}" type="datetime3">
              <a:rPr lang="en-US" smtClean="0"/>
              <a:t>19 October 2026</a:t>
            </a:fld>
            <a:endParaRPr lang="en-GB"/>
          </a:p>
        </p:txBody>
      </p:sp>
      <p:sp>
        <p:nvSpPr>
          <p:cNvPr id="5" name="Footer Placeholder 4"/>
          <p:cNvSpPr>
            <a:spLocks noGrp="1"/>
          </p:cNvSpPr>
          <p:nvPr>
            <p:ph type="ftr" sz="quarter" idx="11"/>
          </p:nvPr>
        </p:nvSpPr>
        <p:spPr/>
        <p:txBody>
          <a:bodyPr/>
          <a:lstStyle/>
          <a:p>
            <a:r>
              <a:rPr lang="en-GB"/>
              <a:t>Logistic regression</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cxnSp>
        <p:nvCxnSpPr>
          <p:cNvPr id="9" name="Straight Connector 8"/>
          <p:cNvCxnSpPr/>
          <p:nvPr/>
        </p:nvCxnSpPr>
        <p:spPr>
          <a:xfrm>
            <a:off x="1207658" y="4598116"/>
            <a:ext cx="987552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64B1F7A-19A6-1CF3-BEAB-784AD8D53EB1}"/>
              </a:ext>
            </a:extLst>
          </p:cNvPr>
          <p:cNvSpPr txBox="1"/>
          <p:nvPr userDrawn="1"/>
        </p:nvSpPr>
        <p:spPr>
          <a:xfrm>
            <a:off x="1076962" y="4981037"/>
            <a:ext cx="3298623" cy="892552"/>
          </a:xfrm>
          <a:prstGeom prst="rect">
            <a:avLst/>
          </a:prstGeom>
          <a:noFill/>
        </p:spPr>
        <p:txBody>
          <a:bodyPr wrap="square" rtlCol="0">
            <a:spAutoFit/>
          </a:bodyPr>
          <a:lstStyle/>
          <a:p>
            <a:pPr algn="ctr"/>
            <a:r>
              <a:rPr lang="en-GB" sz="2400" b="1" dirty="0">
                <a:hlinkClick r:id="rId3"/>
              </a:rPr>
              <a:t>Dr Chris Moreh</a:t>
            </a:r>
            <a:endParaRPr lang="en-GB" sz="2400" b="1" dirty="0"/>
          </a:p>
          <a:p>
            <a:pPr algn="ctr"/>
            <a:r>
              <a:rPr lang="en-GB" sz="1400" b="1" dirty="0">
                <a:solidFill>
                  <a:schemeClr val="tx1">
                    <a:lumMod val="50000"/>
                    <a:lumOff val="50000"/>
                  </a:schemeClr>
                </a:solidFill>
              </a:rPr>
              <a:t>Lecturer (Assistant Professor) in Sociology</a:t>
            </a:r>
          </a:p>
          <a:p>
            <a:pPr algn="ctr"/>
            <a:r>
              <a:rPr lang="en-GB" sz="1400" b="1" dirty="0">
                <a:solidFill>
                  <a:schemeClr val="tx1">
                    <a:lumMod val="50000"/>
                    <a:lumOff val="50000"/>
                  </a:schemeClr>
                </a:solidFill>
              </a:rPr>
              <a:t>Newcastle University (UK)</a:t>
            </a:r>
          </a:p>
        </p:txBody>
      </p:sp>
      <p:pic>
        <p:nvPicPr>
          <p:cNvPr id="17" name="Picture 12" descr="Partners; Sustaining Creative Economies ...">
            <a:extLst>
              <a:ext uri="{FF2B5EF4-FFF2-40B4-BE49-F238E27FC236}">
                <a16:creationId xmlns:a16="http://schemas.microsoft.com/office/drawing/2014/main" id="{5E3F19EF-7B80-6D97-E3A7-968224B76271}"/>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9288455" y="5559906"/>
            <a:ext cx="879898" cy="492743"/>
          </a:xfrm>
          <a:prstGeom prst="rect">
            <a:avLst/>
          </a:prstGeom>
          <a:noFill/>
          <a:extLst>
            <a:ext uri="{909E8E84-426E-40DD-AFC4-6F175D3DCCD1}">
              <a14:hiddenFill xmlns:a14="http://schemas.microsoft.com/office/drawing/2010/main">
                <a:solidFill>
                  <a:srgbClr val="FFFFFF"/>
                </a:solidFill>
              </a14:hiddenFill>
            </a:ext>
          </a:extLst>
        </p:spPr>
      </p:pic>
      <p:pic>
        <p:nvPicPr>
          <p:cNvPr id="18" name="Graphic 17">
            <a:extLst>
              <a:ext uri="{FF2B5EF4-FFF2-40B4-BE49-F238E27FC236}">
                <a16:creationId xmlns:a16="http://schemas.microsoft.com/office/drawing/2014/main" id="{D47E78DF-0172-CCB2-A101-66933B097145}"/>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055271" y="4969095"/>
            <a:ext cx="2466369" cy="811928"/>
          </a:xfrm>
          <a:prstGeom prst="rect">
            <a:avLst/>
          </a:prstGeom>
        </p:spPr>
      </p:pic>
      <p:sp>
        <p:nvSpPr>
          <p:cNvPr id="19" name="TextBox 18">
            <a:extLst>
              <a:ext uri="{FF2B5EF4-FFF2-40B4-BE49-F238E27FC236}">
                <a16:creationId xmlns:a16="http://schemas.microsoft.com/office/drawing/2014/main" id="{D366C7AD-815A-A77E-DFE5-343F532EBF9A}"/>
              </a:ext>
            </a:extLst>
          </p:cNvPr>
          <p:cNvSpPr txBox="1"/>
          <p:nvPr userDrawn="1"/>
        </p:nvSpPr>
        <p:spPr>
          <a:xfrm>
            <a:off x="5214979" y="4804497"/>
            <a:ext cx="2582537" cy="1323439"/>
          </a:xfrm>
          <a:prstGeom prst="rect">
            <a:avLst/>
          </a:prstGeom>
          <a:noFill/>
        </p:spPr>
        <p:txBody>
          <a:bodyPr wrap="square" rtlCol="0">
            <a:spAutoFit/>
          </a:bodyPr>
          <a:lstStyle/>
          <a:p>
            <a:pPr marL="180000">
              <a:spcBef>
                <a:spcPts val="0"/>
              </a:spcBef>
            </a:pPr>
            <a:r>
              <a:rPr lang="en-GB" sz="1600" b="0" dirty="0">
                <a:latin typeface="Arial Nova Cond Light" panose="020B0306020202020204" pitchFamily="34" charset="0"/>
                <a:cs typeface="Courier New" panose="02070309020205020404" pitchFamily="49" charset="0"/>
                <a:hlinkClick r:id="rId6"/>
              </a:rPr>
              <a:t>chris.moreh@ncl.ac.uk</a:t>
            </a:r>
            <a:endParaRPr lang="en-GB" sz="1600" b="0" dirty="0">
              <a:latin typeface="Arial Nova Cond Light" panose="020B0306020202020204" pitchFamily="34" charset="0"/>
              <a:cs typeface="Courier New" panose="02070309020205020404" pitchFamily="49" charset="0"/>
              <a:hlinkClick r:id="rId7"/>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7"/>
              </a:rPr>
              <a:t>chrismoreh.com</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8"/>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9"/>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0"/>
              </a:rPr>
              <a:t>Chris Moreh</a:t>
            </a:r>
            <a:endParaRPr lang="en-GB" sz="1600" b="0" dirty="0">
              <a:latin typeface="Arial Nova Cond Light" panose="020B0306020202020204" pitchFamily="34" charset="0"/>
              <a:cs typeface="Courier New" panose="02070309020205020404" pitchFamily="49" charset="0"/>
            </a:endParaRPr>
          </a:p>
        </p:txBody>
      </p:sp>
      <p:pic>
        <p:nvPicPr>
          <p:cNvPr id="20" name="Picture 19">
            <a:extLst>
              <a:ext uri="{FF2B5EF4-FFF2-40B4-BE49-F238E27FC236}">
                <a16:creationId xmlns:a16="http://schemas.microsoft.com/office/drawing/2014/main" id="{7149FC35-C474-B9EE-00BD-BC74BCEB8E9B}"/>
              </a:ext>
            </a:extLst>
          </p:cNvPr>
          <p:cNvPicPr>
            <a:picLocks noChangeAspect="1"/>
          </p:cNvPicPr>
          <p:nvPr userDrawn="1"/>
        </p:nvPicPr>
        <p:blipFill>
          <a:blip r:embed="rId11"/>
          <a:stretch>
            <a:fillRect/>
          </a:stretch>
        </p:blipFill>
        <p:spPr>
          <a:xfrm flipH="1">
            <a:off x="5230888" y="5140634"/>
            <a:ext cx="174474" cy="180000"/>
          </a:xfrm>
          <a:prstGeom prst="rect">
            <a:avLst/>
          </a:prstGeom>
        </p:spPr>
      </p:pic>
      <p:pic>
        <p:nvPicPr>
          <p:cNvPr id="21" name="Picture 4">
            <a:extLst>
              <a:ext uri="{FF2B5EF4-FFF2-40B4-BE49-F238E27FC236}">
                <a16:creationId xmlns:a16="http://schemas.microsoft.com/office/drawing/2014/main" id="{F9EC77A0-6416-6CCB-C929-DDC0F09623B6}"/>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5200359" y="5607125"/>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a:extLst>
              <a:ext uri="{FF2B5EF4-FFF2-40B4-BE49-F238E27FC236}">
                <a16:creationId xmlns:a16="http://schemas.microsoft.com/office/drawing/2014/main" id="{F971661E-6DFA-370A-89DD-D2BC0DED9D79}"/>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5225362" y="5875809"/>
            <a:ext cx="19125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
            <a:extLst>
              <a:ext uri="{FF2B5EF4-FFF2-40B4-BE49-F238E27FC236}">
                <a16:creationId xmlns:a16="http://schemas.microsoft.com/office/drawing/2014/main" id="{210423AF-0922-B2C9-F283-0DAD228B1889}"/>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194877" y="5353572"/>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Email Icon Clip Art , Royalty PNG Transparent Background, Free Download  #130 - FreeIconsPNG">
            <a:extLst>
              <a:ext uri="{FF2B5EF4-FFF2-40B4-BE49-F238E27FC236}">
                <a16:creationId xmlns:a16="http://schemas.microsoft.com/office/drawing/2014/main" id="{A29CD3B3-0963-AF7B-DAAC-629686F339AC}"/>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5225888" y="4898445"/>
            <a:ext cx="176400" cy="1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3529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E3F75-4629-998C-D4E2-8B503E840A60}"/>
              </a:ext>
            </a:extLst>
          </p:cNvPr>
          <p:cNvSpPr>
            <a:spLocks noGrp="1"/>
          </p:cNvSpPr>
          <p:nvPr>
            <p:ph type="title"/>
          </p:nvPr>
        </p:nvSpPr>
        <p:spPr>
          <a:xfrm>
            <a:off x="756746" y="286604"/>
            <a:ext cx="9578516" cy="911576"/>
          </a:xfrm>
        </p:spPr>
        <p:txBody>
          <a:bodyPr/>
          <a:lstStyle>
            <a:lvl1pPr>
              <a:defRPr b="1"/>
            </a:lvl1pPr>
          </a:lstStyle>
          <a:p>
            <a:r>
              <a:rPr lang="en-GB" dirty="0"/>
              <a:t>Click to edit Master title style</a:t>
            </a:r>
          </a:p>
        </p:txBody>
      </p:sp>
      <p:sp>
        <p:nvSpPr>
          <p:cNvPr id="3" name="Date Placeholder 2">
            <a:extLst>
              <a:ext uri="{FF2B5EF4-FFF2-40B4-BE49-F238E27FC236}">
                <a16:creationId xmlns:a16="http://schemas.microsoft.com/office/drawing/2014/main" id="{57160149-4935-39AC-F9A6-3A67DF92E54A}"/>
              </a:ext>
            </a:extLst>
          </p:cNvPr>
          <p:cNvSpPr>
            <a:spLocks noGrp="1"/>
          </p:cNvSpPr>
          <p:nvPr>
            <p:ph type="dt" sz="half" idx="10"/>
          </p:nvPr>
        </p:nvSpPr>
        <p:spPr/>
        <p:txBody>
          <a:bodyPr/>
          <a:lstStyle/>
          <a:p>
            <a:fld id="{15A09FE5-A6BB-4ACD-A635-B41233C582F8}" type="datetime3">
              <a:rPr lang="en-US" smtClean="0"/>
              <a:t>19 October 2026</a:t>
            </a:fld>
            <a:endParaRPr lang="en-GB"/>
          </a:p>
        </p:txBody>
      </p:sp>
      <p:sp>
        <p:nvSpPr>
          <p:cNvPr id="4" name="Footer Placeholder 3">
            <a:extLst>
              <a:ext uri="{FF2B5EF4-FFF2-40B4-BE49-F238E27FC236}">
                <a16:creationId xmlns:a16="http://schemas.microsoft.com/office/drawing/2014/main" id="{8DAF1058-E5AB-75EB-3440-399DB9E1D9B9}"/>
              </a:ext>
            </a:extLst>
          </p:cNvPr>
          <p:cNvSpPr>
            <a:spLocks noGrp="1"/>
          </p:cNvSpPr>
          <p:nvPr>
            <p:ph type="ftr" sz="quarter" idx="11"/>
          </p:nvPr>
        </p:nvSpPr>
        <p:spPr/>
        <p:txBody>
          <a:bodyPr/>
          <a:lstStyle/>
          <a:p>
            <a:r>
              <a:rPr lang="en-GB"/>
              <a:t>Logistic regression</a:t>
            </a:r>
          </a:p>
        </p:txBody>
      </p:sp>
      <p:sp>
        <p:nvSpPr>
          <p:cNvPr id="5" name="Slide Number Placeholder 4">
            <a:extLst>
              <a:ext uri="{FF2B5EF4-FFF2-40B4-BE49-F238E27FC236}">
                <a16:creationId xmlns:a16="http://schemas.microsoft.com/office/drawing/2014/main" id="{0A3AAE89-1CB8-B1D2-4FC2-01A5F9359E58}"/>
              </a:ext>
            </a:extLst>
          </p:cNvPr>
          <p:cNvSpPr>
            <a:spLocks noGrp="1"/>
          </p:cNvSpPr>
          <p:nvPr>
            <p:ph type="sldNum" sz="quarter" idx="12"/>
          </p:nvPr>
        </p:nvSpPr>
        <p:spPr/>
        <p:txBody>
          <a:bodyPr/>
          <a:lstStyle/>
          <a:p>
            <a:fld id="{9FAA51BB-2FC0-4DB8-B50E-F52D50E733B6}" type="slidenum">
              <a:rPr lang="en-GB" smtClean="0"/>
              <a:t>‹#›</a:t>
            </a:fld>
            <a:endParaRPr lang="en-GB"/>
          </a:p>
        </p:txBody>
      </p:sp>
      <p:pic>
        <p:nvPicPr>
          <p:cNvPr id="6" name="Picture 5" descr="A black background with text and colorful dots&#10;&#10;Description automatically generated">
            <a:extLst>
              <a:ext uri="{FF2B5EF4-FFF2-40B4-BE49-F238E27FC236}">
                <a16:creationId xmlns:a16="http://schemas.microsoft.com/office/drawing/2014/main" id="{064384DD-349E-96E1-9F2A-86B3CB91ED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35261" y="286604"/>
            <a:ext cx="1640837" cy="911576"/>
          </a:xfrm>
          <a:prstGeom prst="rect">
            <a:avLst/>
          </a:prstGeom>
        </p:spPr>
      </p:pic>
    </p:spTree>
    <p:extLst>
      <p:ext uri="{BB962C8B-B14F-4D97-AF65-F5344CB8AC3E}">
        <p14:creationId xmlns:p14="http://schemas.microsoft.com/office/powerpoint/2010/main" val="29002772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6745" y="286604"/>
            <a:ext cx="9448800" cy="911576"/>
          </a:xfrm>
        </p:spPr>
        <p:txBody>
          <a:bodyPr/>
          <a:lstStyle>
            <a:lvl1pPr marL="0">
              <a:defRPr b="1"/>
            </a:lvl1pPr>
          </a:lstStyle>
          <a:p>
            <a:r>
              <a:rPr lang="en-GB" dirty="0"/>
              <a:t>Click to edit Master title style</a:t>
            </a:r>
            <a:endParaRPr lang="en-US" dirty="0"/>
          </a:p>
        </p:txBody>
      </p:sp>
      <p:sp>
        <p:nvSpPr>
          <p:cNvPr id="3" name="Content Placeholder 2"/>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Date Placeholder 3"/>
          <p:cNvSpPr>
            <a:spLocks noGrp="1"/>
          </p:cNvSpPr>
          <p:nvPr>
            <p:ph type="dt" sz="half" idx="10"/>
          </p:nvPr>
        </p:nvSpPr>
        <p:spPr/>
        <p:txBody>
          <a:bodyPr/>
          <a:lstStyle>
            <a:lvl1pPr>
              <a:defRPr sz="1200"/>
            </a:lvl1pPr>
          </a:lstStyle>
          <a:p>
            <a:fld id="{804FB3DA-5C0B-4162-A589-51D9AB0963CD}" type="datetime3">
              <a:rPr lang="en-US" smtClean="0"/>
              <a:t>19 October 2026</a:t>
            </a:fld>
            <a:endParaRPr lang="en-GB"/>
          </a:p>
        </p:txBody>
      </p:sp>
      <p:sp>
        <p:nvSpPr>
          <p:cNvPr id="5" name="Footer Placeholder 4"/>
          <p:cNvSpPr>
            <a:spLocks noGrp="1"/>
          </p:cNvSpPr>
          <p:nvPr>
            <p:ph type="ftr" sz="quarter" idx="11"/>
          </p:nvPr>
        </p:nvSpPr>
        <p:spPr/>
        <p:txBody>
          <a:bodyPr/>
          <a:lstStyle/>
          <a:p>
            <a:r>
              <a:rPr lang="en-GB"/>
              <a:t>Logistic regression</a:t>
            </a:r>
            <a:endParaRPr lang="en-GB" dirty="0"/>
          </a:p>
        </p:txBody>
      </p:sp>
      <p:sp>
        <p:nvSpPr>
          <p:cNvPr id="6" name="Slide Number Placeholder 5"/>
          <p:cNvSpPr>
            <a:spLocks noGrp="1"/>
          </p:cNvSpPr>
          <p:nvPr>
            <p:ph type="sldNum" sz="quarter" idx="12"/>
          </p:nvPr>
        </p:nvSpPr>
        <p:spPr/>
        <p:txBody>
          <a:bodyPr/>
          <a:lstStyle>
            <a:lvl1pPr>
              <a:defRPr sz="1200"/>
            </a:lvl1pPr>
          </a:lstStyle>
          <a:p>
            <a:fld id="{9FAA51BB-2FC0-4DB8-B50E-F52D50E733B6}" type="slidenum">
              <a:rPr lang="en-GB" smtClean="0"/>
              <a:pPr/>
              <a:t>‹#›</a:t>
            </a:fld>
            <a:endParaRPr lang="en-GB" dirty="0"/>
          </a:p>
        </p:txBody>
      </p:sp>
      <p:pic>
        <p:nvPicPr>
          <p:cNvPr id="8" name="Picture 7" descr="A black background with text and colorful dots&#10;&#10;Description automatically generated">
            <a:extLst>
              <a:ext uri="{FF2B5EF4-FFF2-40B4-BE49-F238E27FC236}">
                <a16:creationId xmlns:a16="http://schemas.microsoft.com/office/drawing/2014/main" id="{77856388-EE09-056A-2FE4-8DA8669CE6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35261" y="286604"/>
            <a:ext cx="1640837" cy="911576"/>
          </a:xfrm>
          <a:prstGeom prst="rect">
            <a:avLst/>
          </a:prstGeom>
        </p:spPr>
      </p:pic>
    </p:spTree>
    <p:extLst>
      <p:ext uri="{BB962C8B-B14F-4D97-AF65-F5344CB8AC3E}">
        <p14:creationId xmlns:p14="http://schemas.microsoft.com/office/powerpoint/2010/main" val="25952513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74518D3-3A33-4540-A973-CD6E547855FF}" type="datetime3">
              <a:rPr lang="en-US" smtClean="0"/>
              <a:t>19 October 2026</a:t>
            </a:fld>
            <a:endParaRPr lang="en-GB"/>
          </a:p>
        </p:txBody>
      </p:sp>
      <p:sp>
        <p:nvSpPr>
          <p:cNvPr id="5" name="Footer Placeholder 4"/>
          <p:cNvSpPr>
            <a:spLocks noGrp="1"/>
          </p:cNvSpPr>
          <p:nvPr>
            <p:ph type="ftr" sz="quarter" idx="11"/>
          </p:nvPr>
        </p:nvSpPr>
        <p:spPr/>
        <p:txBody>
          <a:bodyPr/>
          <a:lstStyle/>
          <a:p>
            <a:r>
              <a:rPr lang="en-GB"/>
              <a:t>Logistic regression</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96910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1">
                <a:solidFill>
                  <a:srgbClr val="FFFFFF"/>
                </a:solidFill>
              </a:defRPr>
            </a:lvl1pPr>
          </a:lstStyle>
          <a:p>
            <a:r>
              <a:rPr lang="en-GB" dirty="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49DF390-EEA8-40D8-9316-86E443AE9ECD}" type="datetime3">
              <a:rPr lang="en-US" smtClean="0"/>
              <a:t>19 October 2026</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GB"/>
              <a:t>Logistic regression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FAA51BB-2FC0-4DB8-B50E-F52D50E733B6}" type="slidenum">
              <a:rPr lang="en-GB" smtClean="0"/>
              <a:t>‹#›</a:t>
            </a:fld>
            <a:endParaRPr lang="en-GB"/>
          </a:p>
        </p:txBody>
      </p:sp>
    </p:spTree>
    <p:extLst>
      <p:ext uri="{BB962C8B-B14F-4D97-AF65-F5344CB8AC3E}">
        <p14:creationId xmlns:p14="http://schemas.microsoft.com/office/powerpoint/2010/main" val="5297533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bg>
      <p:bgPr>
        <a:blipFill dpi="0" rotWithShape="1">
          <a:blip r:embed="rId2">
            <a:lum/>
          </a:blip>
          <a:srcRect/>
          <a:stretch>
            <a:fillRect l="-1000" r="-1000" b="6000"/>
          </a:stretch>
        </a:blipFill>
        <a:effectLst/>
      </p:bgPr>
    </p:bg>
    <p:spTree>
      <p:nvGrpSpPr>
        <p:cNvPr id="1" name=""/>
        <p:cNvGrpSpPr/>
        <p:nvPr/>
      </p:nvGrpSpPr>
      <p:grpSpPr>
        <a:xfrm>
          <a:off x="0" y="0"/>
          <a:ext cx="0" cy="0"/>
          <a:chOff x="0" y="0"/>
          <a:chExt cx="0" cy="0"/>
        </a:xfrm>
      </p:grpSpPr>
      <p:sp>
        <p:nvSpPr>
          <p:cNvPr id="8" name="Rectangle 7"/>
          <p:cNvSpPr/>
          <p:nvPr/>
        </p:nvSpPr>
        <p:spPr>
          <a:xfrm>
            <a:off x="5539630" y="1128947"/>
            <a:ext cx="6468395" cy="31162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664452" y="1340856"/>
            <a:ext cx="6218753" cy="1475916"/>
          </a:xfrm>
        </p:spPr>
        <p:txBody>
          <a:bodyPr lIns="91440" tIns="0" rIns="91440" bIns="0" anchor="b">
            <a:noAutofit/>
          </a:bodyPr>
          <a:lstStyle>
            <a:lvl1pPr>
              <a:defRPr sz="5400" b="1">
                <a:solidFill>
                  <a:srgbClr val="FFFFFF"/>
                </a:solidFill>
              </a:defRPr>
            </a:lvl1pPr>
          </a:lstStyle>
          <a:p>
            <a:r>
              <a:rPr lang="en-GB" dirty="0"/>
              <a:t>Click to edit Master title style</a:t>
            </a:r>
            <a:endParaRPr lang="en-US" dirty="0"/>
          </a:p>
        </p:txBody>
      </p:sp>
      <p:sp>
        <p:nvSpPr>
          <p:cNvPr id="4" name="Text Placeholder 3"/>
          <p:cNvSpPr>
            <a:spLocks noGrp="1"/>
          </p:cNvSpPr>
          <p:nvPr>
            <p:ph type="body" sz="half" idx="2"/>
          </p:nvPr>
        </p:nvSpPr>
        <p:spPr>
          <a:xfrm>
            <a:off x="5664452" y="3094377"/>
            <a:ext cx="6218753" cy="972284"/>
          </a:xfrm>
        </p:spPr>
        <p:txBody>
          <a:bodyPr lIns="91440" tIns="0" rIns="91440" bIns="0">
            <a:normAutofit/>
          </a:bodyPr>
          <a:lstStyle>
            <a:lvl1pPr marL="0" indent="0">
              <a:spcBef>
                <a:spcPts val="0"/>
              </a:spcBef>
              <a:spcAft>
                <a:spcPts val="600"/>
              </a:spcAft>
              <a:buNone/>
              <a:defRPr sz="32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dirty="0"/>
              <a:t>Click to edit Master text styles</a:t>
            </a:r>
          </a:p>
        </p:txBody>
      </p:sp>
      <p:sp>
        <p:nvSpPr>
          <p:cNvPr id="5" name="Date Placeholder 4"/>
          <p:cNvSpPr>
            <a:spLocks noGrp="1"/>
          </p:cNvSpPr>
          <p:nvPr>
            <p:ph type="dt" sz="half" idx="10"/>
          </p:nvPr>
        </p:nvSpPr>
        <p:spPr/>
        <p:txBody>
          <a:bodyPr/>
          <a:lstStyle/>
          <a:p>
            <a:fld id="{CCDDAA51-05BB-4949-A39F-8DD11FB648D1}" type="datetime3">
              <a:rPr lang="en-US" smtClean="0"/>
              <a:t>19 October 2026</a:t>
            </a:fld>
            <a:endParaRPr lang="en-GB"/>
          </a:p>
        </p:txBody>
      </p:sp>
      <p:sp>
        <p:nvSpPr>
          <p:cNvPr id="6" name="Footer Placeholder 5"/>
          <p:cNvSpPr>
            <a:spLocks noGrp="1"/>
          </p:cNvSpPr>
          <p:nvPr>
            <p:ph type="ftr" sz="quarter" idx="11"/>
          </p:nvPr>
        </p:nvSpPr>
        <p:spPr/>
        <p:txBody>
          <a:bodyPr/>
          <a:lstStyle/>
          <a:p>
            <a:r>
              <a:rPr lang="en-GB"/>
              <a:t>Logistic regression</a:t>
            </a:r>
          </a:p>
        </p:txBody>
      </p:sp>
      <p:sp>
        <p:nvSpPr>
          <p:cNvPr id="7" name="Slide Number Placeholder 6"/>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2013173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lvl1pPr>
              <a:defRPr b="1"/>
            </a:lvl1pPr>
          </a:lstStyle>
          <a:p>
            <a:r>
              <a:rPr lang="en-GB" dirty="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1867F56-A738-40BB-9C6B-E802AAA60D37}" type="datetime3">
              <a:rPr lang="en-US" smtClean="0"/>
              <a:t>19 October 2026</a:t>
            </a:fld>
            <a:endParaRPr lang="en-GB"/>
          </a:p>
        </p:txBody>
      </p:sp>
      <p:sp>
        <p:nvSpPr>
          <p:cNvPr id="6" name="Footer Placeholder 5"/>
          <p:cNvSpPr>
            <a:spLocks noGrp="1"/>
          </p:cNvSpPr>
          <p:nvPr>
            <p:ph type="ftr" sz="quarter" idx="11"/>
          </p:nvPr>
        </p:nvSpPr>
        <p:spPr/>
        <p:txBody>
          <a:bodyPr/>
          <a:lstStyle/>
          <a:p>
            <a:r>
              <a:rPr lang="en-GB"/>
              <a:t>Logistic regression</a:t>
            </a:r>
          </a:p>
        </p:txBody>
      </p:sp>
      <p:sp>
        <p:nvSpPr>
          <p:cNvPr id="7" name="Slide Number Placeholder 6"/>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20003629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lvl1pPr>
              <a:defRPr b="1"/>
            </a:lvl1pPr>
          </a:lstStyle>
          <a:p>
            <a:r>
              <a:rPr lang="en-GB" dirty="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24B5C9E-F505-4F38-AE38-B480678E8A67}" type="datetime3">
              <a:rPr lang="en-US" smtClean="0"/>
              <a:t>19 October 2026</a:t>
            </a:fld>
            <a:endParaRPr lang="en-GB"/>
          </a:p>
        </p:txBody>
      </p:sp>
      <p:sp>
        <p:nvSpPr>
          <p:cNvPr id="8" name="Footer Placeholder 7"/>
          <p:cNvSpPr>
            <a:spLocks noGrp="1"/>
          </p:cNvSpPr>
          <p:nvPr>
            <p:ph type="ftr" sz="quarter" idx="11"/>
          </p:nvPr>
        </p:nvSpPr>
        <p:spPr/>
        <p:txBody>
          <a:bodyPr/>
          <a:lstStyle/>
          <a:p>
            <a:r>
              <a:rPr lang="en-GB"/>
              <a:t>Logistic regression</a:t>
            </a:r>
          </a:p>
        </p:txBody>
      </p:sp>
      <p:sp>
        <p:nvSpPr>
          <p:cNvPr id="9" name="Slide Number Placeholder 8"/>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0485576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GB" dirty="0"/>
              <a:t>Click to edit Master title style</a:t>
            </a:r>
            <a:endParaRPr lang="en-US" dirty="0"/>
          </a:p>
        </p:txBody>
      </p:sp>
      <p:sp>
        <p:nvSpPr>
          <p:cNvPr id="3" name="Date Placeholder 2"/>
          <p:cNvSpPr>
            <a:spLocks noGrp="1"/>
          </p:cNvSpPr>
          <p:nvPr>
            <p:ph type="dt" sz="half" idx="10"/>
          </p:nvPr>
        </p:nvSpPr>
        <p:spPr/>
        <p:txBody>
          <a:bodyPr/>
          <a:lstStyle/>
          <a:p>
            <a:fld id="{31344CD0-9241-4410-9779-CEBE48E6D1E1}" type="datetime3">
              <a:rPr lang="en-US" smtClean="0"/>
              <a:t>19 October 2026</a:t>
            </a:fld>
            <a:endParaRPr lang="en-GB"/>
          </a:p>
        </p:txBody>
      </p:sp>
      <p:sp>
        <p:nvSpPr>
          <p:cNvPr id="4" name="Footer Placeholder 3"/>
          <p:cNvSpPr>
            <a:spLocks noGrp="1"/>
          </p:cNvSpPr>
          <p:nvPr>
            <p:ph type="ftr" sz="quarter" idx="11"/>
          </p:nvPr>
        </p:nvSpPr>
        <p:spPr/>
        <p:txBody>
          <a:bodyPr/>
          <a:lstStyle/>
          <a:p>
            <a:r>
              <a:rPr lang="en-GB"/>
              <a:t>Logistic regression</a:t>
            </a:r>
          </a:p>
        </p:txBody>
      </p:sp>
      <p:sp>
        <p:nvSpPr>
          <p:cNvPr id="5" name="Slide Number Placeholder 4"/>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2901765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EF8FC2E-775E-4DB9-9B2B-C83FDD785E5A}" type="datetime3">
              <a:rPr lang="en-US" smtClean="0"/>
              <a:t>19 October 2026</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GB"/>
              <a:t>Logistic regression</a:t>
            </a:r>
          </a:p>
        </p:txBody>
      </p:sp>
      <p:sp>
        <p:nvSpPr>
          <p:cNvPr id="9" name="Slide Number Placeholder 8"/>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32694645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5E28854-50C7-416D-09D3-A8563C8533DC}"/>
              </a:ext>
            </a:extLst>
          </p:cNvPr>
          <p:cNvSpPr>
            <a:spLocks noGrp="1"/>
          </p:cNvSpPr>
          <p:nvPr>
            <p:ph type="dt" sz="half" idx="10"/>
          </p:nvPr>
        </p:nvSpPr>
        <p:spPr/>
        <p:txBody>
          <a:bodyPr/>
          <a:lstStyle/>
          <a:p>
            <a:fld id="{760509F1-12A2-4F8E-9429-EFC54E07C6AF}" type="datetime3">
              <a:rPr lang="en-US" smtClean="0"/>
              <a:t>19 October 2026</a:t>
            </a:fld>
            <a:endParaRPr lang="en-GB" dirty="0"/>
          </a:p>
        </p:txBody>
      </p:sp>
      <p:sp>
        <p:nvSpPr>
          <p:cNvPr id="4" name="Footer Placeholder 3">
            <a:extLst>
              <a:ext uri="{FF2B5EF4-FFF2-40B4-BE49-F238E27FC236}">
                <a16:creationId xmlns:a16="http://schemas.microsoft.com/office/drawing/2014/main" id="{85343B67-CE49-0A0C-7F9C-757FF38AD817}"/>
              </a:ext>
            </a:extLst>
          </p:cNvPr>
          <p:cNvSpPr>
            <a:spLocks noGrp="1"/>
          </p:cNvSpPr>
          <p:nvPr>
            <p:ph type="ftr" sz="quarter" idx="11"/>
          </p:nvPr>
        </p:nvSpPr>
        <p:spPr/>
        <p:txBody>
          <a:bodyPr/>
          <a:lstStyle>
            <a:lvl1pPr>
              <a:defRPr/>
            </a:lvl1pPr>
          </a:lstStyle>
          <a:p>
            <a:r>
              <a:rPr lang="en-GB"/>
              <a:t>Logistic regression</a:t>
            </a:r>
            <a:endParaRPr lang="en-GB" dirty="0"/>
          </a:p>
        </p:txBody>
      </p:sp>
      <p:sp>
        <p:nvSpPr>
          <p:cNvPr id="5" name="Slide Number Placeholder 4">
            <a:extLst>
              <a:ext uri="{FF2B5EF4-FFF2-40B4-BE49-F238E27FC236}">
                <a16:creationId xmlns:a16="http://schemas.microsoft.com/office/drawing/2014/main" id="{28470A5F-B5E2-79CD-FCA0-21992A61F920}"/>
              </a:ext>
            </a:extLst>
          </p:cNvPr>
          <p:cNvSpPr>
            <a:spLocks noGrp="1"/>
          </p:cNvSpPr>
          <p:nvPr>
            <p:ph type="sldNum" sz="quarter" idx="12"/>
          </p:nvPr>
        </p:nvSpPr>
        <p:spPr/>
        <p:txBody>
          <a:bodyPr/>
          <a:lstStyle/>
          <a:p>
            <a:fld id="{9FAA51BB-2FC0-4DB8-B50E-F52D50E733B6}" type="slidenum">
              <a:rPr lang="en-GB" smtClean="0"/>
              <a:pPr/>
              <a:t>‹#›</a:t>
            </a:fld>
            <a:endParaRPr lang="en-GB" dirty="0"/>
          </a:p>
        </p:txBody>
      </p:sp>
      <p:sp>
        <p:nvSpPr>
          <p:cNvPr id="6" name="Title 1">
            <a:extLst>
              <a:ext uri="{FF2B5EF4-FFF2-40B4-BE49-F238E27FC236}">
                <a16:creationId xmlns:a16="http://schemas.microsoft.com/office/drawing/2014/main" id="{904975CB-2B2F-AABC-1BEA-AC019045F8B6}"/>
              </a:ext>
            </a:extLst>
          </p:cNvPr>
          <p:cNvSpPr>
            <a:spLocks noGrp="1"/>
          </p:cNvSpPr>
          <p:nvPr>
            <p:ph type="title" hasCustomPrompt="1"/>
          </p:nvPr>
        </p:nvSpPr>
        <p:spPr>
          <a:xfrm>
            <a:off x="756745" y="286604"/>
            <a:ext cx="10398935" cy="911576"/>
          </a:xfrm>
        </p:spPr>
        <p:txBody>
          <a:bodyPr/>
          <a:lstStyle>
            <a:lvl1pPr>
              <a:defRPr/>
            </a:lvl1pPr>
          </a:lstStyle>
          <a:p>
            <a:r>
              <a:rPr lang="en-GB" b="1" dirty="0"/>
              <a:t>Numbered bullets</a:t>
            </a:r>
          </a:p>
        </p:txBody>
      </p:sp>
      <p:pic>
        <p:nvPicPr>
          <p:cNvPr id="7" name="Graphic 6" descr="Badge 1 with solid fill">
            <a:extLst>
              <a:ext uri="{FF2B5EF4-FFF2-40B4-BE49-F238E27FC236}">
                <a16:creationId xmlns:a16="http://schemas.microsoft.com/office/drawing/2014/main" id="{EEDCACCF-0446-119C-CB06-6CC1142E7E5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99836" y="1872658"/>
            <a:ext cx="468000" cy="468000"/>
          </a:xfrm>
          <a:prstGeom prst="rect">
            <a:avLst/>
          </a:prstGeom>
        </p:spPr>
      </p:pic>
      <p:pic>
        <p:nvPicPr>
          <p:cNvPr id="8" name="Graphic 7" descr="Badge 10 with solid fill">
            <a:extLst>
              <a:ext uri="{FF2B5EF4-FFF2-40B4-BE49-F238E27FC236}">
                <a16:creationId xmlns:a16="http://schemas.microsoft.com/office/drawing/2014/main" id="{7F8BE7BD-9E19-44BB-2FE3-12ED9FDF94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468331" y="1876667"/>
            <a:ext cx="468000" cy="468000"/>
          </a:xfrm>
          <a:prstGeom prst="rect">
            <a:avLst/>
          </a:prstGeom>
        </p:spPr>
      </p:pic>
      <p:pic>
        <p:nvPicPr>
          <p:cNvPr id="9" name="Graphic 8" descr="Badge with solid fill">
            <a:extLst>
              <a:ext uri="{FF2B5EF4-FFF2-40B4-BE49-F238E27FC236}">
                <a16:creationId xmlns:a16="http://schemas.microsoft.com/office/drawing/2014/main" id="{F9F887CA-CB36-8ED8-6315-DC7D01B4907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870601" y="1878489"/>
            <a:ext cx="468000" cy="468000"/>
          </a:xfrm>
          <a:prstGeom prst="rect">
            <a:avLst/>
          </a:prstGeom>
        </p:spPr>
      </p:pic>
      <p:pic>
        <p:nvPicPr>
          <p:cNvPr id="10" name="Graphic 9" descr="Badge 3 with solid fill">
            <a:extLst>
              <a:ext uri="{FF2B5EF4-FFF2-40B4-BE49-F238E27FC236}">
                <a16:creationId xmlns:a16="http://schemas.microsoft.com/office/drawing/2014/main" id="{825A6F75-9C1C-A95D-D6DA-109E9EBA520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37342" y="1872658"/>
            <a:ext cx="468000" cy="468000"/>
          </a:xfrm>
          <a:prstGeom prst="rect">
            <a:avLst/>
          </a:prstGeom>
        </p:spPr>
      </p:pic>
      <p:pic>
        <p:nvPicPr>
          <p:cNvPr id="11" name="Graphic 10" descr="Badge 4 with solid fill">
            <a:extLst>
              <a:ext uri="{FF2B5EF4-FFF2-40B4-BE49-F238E27FC236}">
                <a16:creationId xmlns:a16="http://schemas.microsoft.com/office/drawing/2014/main" id="{60351B4A-6BB3-B9DA-023E-187EE4E1634A}"/>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794542" y="1881516"/>
            <a:ext cx="468000" cy="468000"/>
          </a:xfrm>
          <a:prstGeom prst="rect">
            <a:avLst/>
          </a:prstGeom>
        </p:spPr>
      </p:pic>
      <p:pic>
        <p:nvPicPr>
          <p:cNvPr id="12" name="Graphic 11" descr="Badge 5 with solid fill">
            <a:extLst>
              <a:ext uri="{FF2B5EF4-FFF2-40B4-BE49-F238E27FC236}">
                <a16:creationId xmlns:a16="http://schemas.microsoft.com/office/drawing/2014/main" id="{1A300893-C177-035B-A219-FC6049E2DC7F}"/>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3250483" y="1880076"/>
            <a:ext cx="468000" cy="468000"/>
          </a:xfrm>
          <a:prstGeom prst="rect">
            <a:avLst/>
          </a:prstGeom>
        </p:spPr>
      </p:pic>
      <p:pic>
        <p:nvPicPr>
          <p:cNvPr id="13" name="Graphic 12" descr="Badge 6 with solid fill">
            <a:extLst>
              <a:ext uri="{FF2B5EF4-FFF2-40B4-BE49-F238E27FC236}">
                <a16:creationId xmlns:a16="http://schemas.microsoft.com/office/drawing/2014/main" id="{063091E7-A963-EF50-B2F2-C6CCFD335CF3}"/>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721248" y="1882631"/>
            <a:ext cx="468000" cy="468000"/>
          </a:xfrm>
          <a:prstGeom prst="rect">
            <a:avLst/>
          </a:prstGeom>
        </p:spPr>
      </p:pic>
      <p:pic>
        <p:nvPicPr>
          <p:cNvPr id="14" name="Graphic 13" descr="Badge 7 with solid fill">
            <a:extLst>
              <a:ext uri="{FF2B5EF4-FFF2-40B4-BE49-F238E27FC236}">
                <a16:creationId xmlns:a16="http://schemas.microsoft.com/office/drawing/2014/main" id="{7412FF20-691E-38CC-D8B3-456AF73DB554}"/>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63624" y="1884307"/>
            <a:ext cx="468000" cy="468000"/>
          </a:xfrm>
          <a:prstGeom prst="rect">
            <a:avLst/>
          </a:prstGeom>
        </p:spPr>
      </p:pic>
      <p:pic>
        <p:nvPicPr>
          <p:cNvPr id="15" name="Graphic 14" descr="Badge 8 with solid fill">
            <a:extLst>
              <a:ext uri="{FF2B5EF4-FFF2-40B4-BE49-F238E27FC236}">
                <a16:creationId xmlns:a16="http://schemas.microsoft.com/office/drawing/2014/main" id="{F71DD924-767F-6F93-1AF3-D96571DEC0C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606000" y="1883485"/>
            <a:ext cx="468000" cy="468000"/>
          </a:xfrm>
          <a:prstGeom prst="rect">
            <a:avLst/>
          </a:prstGeom>
        </p:spPr>
      </p:pic>
      <p:pic>
        <p:nvPicPr>
          <p:cNvPr id="16" name="Graphic 15" descr="Badge 9 with solid fill">
            <a:extLst>
              <a:ext uri="{FF2B5EF4-FFF2-40B4-BE49-F238E27FC236}">
                <a16:creationId xmlns:a16="http://schemas.microsoft.com/office/drawing/2014/main" id="{05746AA2-07AD-BB3D-8AC7-7E01AE9FFD64}"/>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5064706" y="1880076"/>
            <a:ext cx="468000" cy="468000"/>
          </a:xfrm>
          <a:prstGeom prst="rect">
            <a:avLst/>
          </a:prstGeom>
        </p:spPr>
      </p:pic>
      <p:pic>
        <p:nvPicPr>
          <p:cNvPr id="28" name="Graphic 27" descr="Badge 1 outline">
            <a:extLst>
              <a:ext uri="{FF2B5EF4-FFF2-40B4-BE49-F238E27FC236}">
                <a16:creationId xmlns:a16="http://schemas.microsoft.com/office/drawing/2014/main" id="{377A0617-1C4D-93A7-0816-74355CD2748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100935" y="2382047"/>
            <a:ext cx="914400" cy="914400"/>
          </a:xfrm>
          <a:prstGeom prst="rect">
            <a:avLst/>
          </a:prstGeom>
        </p:spPr>
      </p:pic>
      <p:pic>
        <p:nvPicPr>
          <p:cNvPr id="32" name="Graphic 31" descr="Badge outline">
            <a:extLst>
              <a:ext uri="{FF2B5EF4-FFF2-40B4-BE49-F238E27FC236}">
                <a16:creationId xmlns:a16="http://schemas.microsoft.com/office/drawing/2014/main" id="{328E83A1-A5CF-14CE-994B-9FC912A453D5}"/>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917798" y="2368814"/>
            <a:ext cx="914400" cy="914400"/>
          </a:xfrm>
          <a:prstGeom prst="rect">
            <a:avLst/>
          </a:prstGeom>
        </p:spPr>
      </p:pic>
      <p:pic>
        <p:nvPicPr>
          <p:cNvPr id="34" name="Graphic 33" descr="Badge 3 outline">
            <a:extLst>
              <a:ext uri="{FF2B5EF4-FFF2-40B4-BE49-F238E27FC236}">
                <a16:creationId xmlns:a16="http://schemas.microsoft.com/office/drawing/2014/main" id="{B8DB6A5A-BA59-B575-8EAE-1F62375C4821}"/>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2822942" y="2360054"/>
            <a:ext cx="914400" cy="914400"/>
          </a:xfrm>
          <a:prstGeom prst="rect">
            <a:avLst/>
          </a:prstGeom>
        </p:spPr>
      </p:pic>
      <p:pic>
        <p:nvPicPr>
          <p:cNvPr id="36" name="Graphic 35" descr="Badge 4 outline">
            <a:extLst>
              <a:ext uri="{FF2B5EF4-FFF2-40B4-BE49-F238E27FC236}">
                <a16:creationId xmlns:a16="http://schemas.microsoft.com/office/drawing/2014/main" id="{7D7894F2-405D-D537-E8CD-FFC2FD562CEA}"/>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3653533" y="2382047"/>
            <a:ext cx="914400" cy="914400"/>
          </a:xfrm>
          <a:prstGeom prst="rect">
            <a:avLst/>
          </a:prstGeom>
        </p:spPr>
      </p:pic>
      <p:pic>
        <p:nvPicPr>
          <p:cNvPr id="38" name="Graphic 37" descr="Badge 5 outline">
            <a:extLst>
              <a:ext uri="{FF2B5EF4-FFF2-40B4-BE49-F238E27FC236}">
                <a16:creationId xmlns:a16="http://schemas.microsoft.com/office/drawing/2014/main" id="{CCB95B5E-BCD4-CD6A-8DA0-49EF454DFC6B}"/>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4470396" y="2382047"/>
            <a:ext cx="914400" cy="914400"/>
          </a:xfrm>
          <a:prstGeom prst="rect">
            <a:avLst/>
          </a:prstGeom>
        </p:spPr>
      </p:pic>
      <p:pic>
        <p:nvPicPr>
          <p:cNvPr id="40" name="Graphic 39" descr="Badge 6 outline">
            <a:extLst>
              <a:ext uri="{FF2B5EF4-FFF2-40B4-BE49-F238E27FC236}">
                <a16:creationId xmlns:a16="http://schemas.microsoft.com/office/drawing/2014/main" id="{B2E42FE5-E882-BB0B-DF27-634BED68E17D}"/>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5287259" y="2360054"/>
            <a:ext cx="914400" cy="914400"/>
          </a:xfrm>
          <a:prstGeom prst="rect">
            <a:avLst/>
          </a:prstGeom>
        </p:spPr>
      </p:pic>
      <p:pic>
        <p:nvPicPr>
          <p:cNvPr id="42" name="Graphic 41" descr="Badge 7 outline">
            <a:extLst>
              <a:ext uri="{FF2B5EF4-FFF2-40B4-BE49-F238E27FC236}">
                <a16:creationId xmlns:a16="http://schemas.microsoft.com/office/drawing/2014/main" id="{4F474E09-0F6B-A545-A2FB-528D8342017C}"/>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6104122" y="2382047"/>
            <a:ext cx="914400" cy="914400"/>
          </a:xfrm>
          <a:prstGeom prst="rect">
            <a:avLst/>
          </a:prstGeom>
        </p:spPr>
      </p:pic>
      <p:pic>
        <p:nvPicPr>
          <p:cNvPr id="44" name="Graphic 43" descr="Badge 8 outline">
            <a:extLst>
              <a:ext uri="{FF2B5EF4-FFF2-40B4-BE49-F238E27FC236}">
                <a16:creationId xmlns:a16="http://schemas.microsoft.com/office/drawing/2014/main" id="{E3982124-D3D3-AC60-CDFE-68CC967AC2ED}"/>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6880662" y="2368814"/>
            <a:ext cx="914400" cy="914400"/>
          </a:xfrm>
          <a:prstGeom prst="rect">
            <a:avLst/>
          </a:prstGeom>
        </p:spPr>
      </p:pic>
      <p:pic>
        <p:nvPicPr>
          <p:cNvPr id="46" name="Graphic 45" descr="Badge 9 outline">
            <a:extLst>
              <a:ext uri="{FF2B5EF4-FFF2-40B4-BE49-F238E27FC236}">
                <a16:creationId xmlns:a16="http://schemas.microsoft.com/office/drawing/2014/main" id="{D98F73D0-5CF6-543B-2C7E-39B53C836163}"/>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7686300" y="2368814"/>
            <a:ext cx="914400" cy="914400"/>
          </a:xfrm>
          <a:prstGeom prst="rect">
            <a:avLst/>
          </a:prstGeom>
        </p:spPr>
      </p:pic>
      <p:pic>
        <p:nvPicPr>
          <p:cNvPr id="48" name="Graphic 47" descr="Badge 10 outline">
            <a:extLst>
              <a:ext uri="{FF2B5EF4-FFF2-40B4-BE49-F238E27FC236}">
                <a16:creationId xmlns:a16="http://schemas.microsoft.com/office/drawing/2014/main" id="{9596ECA7-08AD-60AD-126A-2D32F85555E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8474065" y="2363081"/>
            <a:ext cx="914400" cy="914400"/>
          </a:xfrm>
          <a:prstGeom prst="rect">
            <a:avLst/>
          </a:prstGeom>
        </p:spPr>
      </p:pic>
    </p:spTree>
    <p:extLst>
      <p:ext uri="{BB962C8B-B14F-4D97-AF65-F5344CB8AC3E}">
        <p14:creationId xmlns:p14="http://schemas.microsoft.com/office/powerpoint/2010/main" val="14778459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3FB93-0A54-F0A3-44FD-9D6D98D41620}"/>
              </a:ext>
            </a:extLst>
          </p:cNvPr>
          <p:cNvSpPr>
            <a:spLocks noGrp="1"/>
          </p:cNvSpPr>
          <p:nvPr>
            <p:ph type="title" hasCustomPrompt="1"/>
          </p:nvPr>
        </p:nvSpPr>
        <p:spPr>
          <a:xfrm>
            <a:off x="1210283" y="606093"/>
            <a:ext cx="9876849" cy="911576"/>
          </a:xfrm>
        </p:spPr>
        <p:txBody>
          <a:bodyPr>
            <a:noAutofit/>
          </a:bodyPr>
          <a:lstStyle>
            <a:lvl1pPr algn="ctr">
              <a:defRPr sz="7200" b="1">
                <a:latin typeface="+mn-lt"/>
              </a:defRPr>
            </a:lvl1pPr>
          </a:lstStyle>
          <a:p>
            <a:r>
              <a:rPr lang="en-GB" dirty="0"/>
              <a:t>Add Outline title</a:t>
            </a:r>
          </a:p>
        </p:txBody>
      </p:sp>
      <p:sp>
        <p:nvSpPr>
          <p:cNvPr id="3" name="Date Placeholder 2">
            <a:extLst>
              <a:ext uri="{FF2B5EF4-FFF2-40B4-BE49-F238E27FC236}">
                <a16:creationId xmlns:a16="http://schemas.microsoft.com/office/drawing/2014/main" id="{9DFD10C5-6787-77AE-977F-D7E7083D0218}"/>
              </a:ext>
            </a:extLst>
          </p:cNvPr>
          <p:cNvSpPr>
            <a:spLocks noGrp="1"/>
          </p:cNvSpPr>
          <p:nvPr>
            <p:ph type="dt" sz="half" idx="10"/>
          </p:nvPr>
        </p:nvSpPr>
        <p:spPr/>
        <p:txBody>
          <a:bodyPr/>
          <a:lstStyle/>
          <a:p>
            <a:fld id="{215F9063-6F23-445A-8E85-252ADE377700}" type="datetime3">
              <a:rPr lang="en-US" smtClean="0"/>
              <a:t>19 October 2026</a:t>
            </a:fld>
            <a:endParaRPr lang="en-GB" dirty="0"/>
          </a:p>
        </p:txBody>
      </p:sp>
      <p:sp>
        <p:nvSpPr>
          <p:cNvPr id="4" name="Footer Placeholder 3">
            <a:extLst>
              <a:ext uri="{FF2B5EF4-FFF2-40B4-BE49-F238E27FC236}">
                <a16:creationId xmlns:a16="http://schemas.microsoft.com/office/drawing/2014/main" id="{10E36E4D-BDDF-D97C-2EC6-0E974709B129}"/>
              </a:ext>
            </a:extLst>
          </p:cNvPr>
          <p:cNvSpPr>
            <a:spLocks noGrp="1"/>
          </p:cNvSpPr>
          <p:nvPr>
            <p:ph type="ftr" sz="quarter" idx="11"/>
          </p:nvPr>
        </p:nvSpPr>
        <p:spPr/>
        <p:txBody>
          <a:bodyPr/>
          <a:lstStyle/>
          <a:p>
            <a:r>
              <a:rPr lang="en-GB"/>
              <a:t>Logistic regression</a:t>
            </a:r>
            <a:endParaRPr lang="en-GB" dirty="0"/>
          </a:p>
        </p:txBody>
      </p:sp>
      <p:sp>
        <p:nvSpPr>
          <p:cNvPr id="5" name="Slide Number Placeholder 4">
            <a:extLst>
              <a:ext uri="{FF2B5EF4-FFF2-40B4-BE49-F238E27FC236}">
                <a16:creationId xmlns:a16="http://schemas.microsoft.com/office/drawing/2014/main" id="{FFD1CEC6-7F83-2BE7-95A9-5DF472D2439E}"/>
              </a:ext>
            </a:extLst>
          </p:cNvPr>
          <p:cNvSpPr>
            <a:spLocks noGrp="1"/>
          </p:cNvSpPr>
          <p:nvPr>
            <p:ph type="sldNum" sz="quarter" idx="12"/>
          </p:nvPr>
        </p:nvSpPr>
        <p:spPr/>
        <p:txBody>
          <a:bodyPr/>
          <a:lstStyle/>
          <a:p>
            <a:fld id="{9FAA51BB-2FC0-4DB8-B50E-F52D50E733B6}" type="slidenum">
              <a:rPr lang="en-GB" smtClean="0"/>
              <a:pPr/>
              <a:t>‹#›</a:t>
            </a:fld>
            <a:endParaRPr lang="en-GB" dirty="0"/>
          </a:p>
        </p:txBody>
      </p:sp>
      <p:graphicFrame>
        <p:nvGraphicFramePr>
          <p:cNvPr id="6" name="Table 5">
            <a:extLst>
              <a:ext uri="{FF2B5EF4-FFF2-40B4-BE49-F238E27FC236}">
                <a16:creationId xmlns:a16="http://schemas.microsoft.com/office/drawing/2014/main" id="{A549E6D0-17C2-32B5-650D-F84097C07BFD}"/>
              </a:ext>
            </a:extLst>
          </p:cNvPr>
          <p:cNvGraphicFramePr>
            <a:graphicFrameLocks noGrp="1"/>
          </p:cNvGraphicFramePr>
          <p:nvPr userDrawn="1">
            <p:extLst>
              <p:ext uri="{D42A27DB-BD31-4B8C-83A1-F6EECF244321}">
                <p14:modId xmlns:p14="http://schemas.microsoft.com/office/powerpoint/2010/main" val="38952401"/>
              </p:ext>
            </p:extLst>
          </p:nvPr>
        </p:nvGraphicFramePr>
        <p:xfrm>
          <a:off x="1335634" y="1993748"/>
          <a:ext cx="9626149" cy="2571920"/>
        </p:xfrm>
        <a:graphic>
          <a:graphicData uri="http://schemas.openxmlformats.org/drawingml/2006/table">
            <a:tbl>
              <a:tblPr>
                <a:tableStyleId>{5C22544A-7EE6-4342-B048-85BDC9FD1C3A}</a:tableStyleId>
              </a:tblPr>
              <a:tblGrid>
                <a:gridCol w="540000">
                  <a:extLst>
                    <a:ext uri="{9D8B030D-6E8A-4147-A177-3AD203B41FA5}">
                      <a16:colId xmlns:a16="http://schemas.microsoft.com/office/drawing/2014/main" val="547184884"/>
                    </a:ext>
                  </a:extLst>
                </a:gridCol>
                <a:gridCol w="9086149">
                  <a:extLst>
                    <a:ext uri="{9D8B030D-6E8A-4147-A177-3AD203B41FA5}">
                      <a16:colId xmlns:a16="http://schemas.microsoft.com/office/drawing/2014/main" val="4258649048"/>
                    </a:ext>
                  </a:extLst>
                </a:gridCol>
              </a:tblGrid>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2"/>
                          </a:ext>
                        </a:extLst>
                      </a:blip>
                      <a:stretch>
                        <a:fillRect/>
                      </a:stretch>
                    </a:blipFill>
                  </a:tcPr>
                </a:tc>
                <a:tc rowSpan="2">
                  <a:txBody>
                    <a:bodyPr/>
                    <a:lstStyle/>
                    <a:p>
                      <a:r>
                        <a:rPr lang="en-GB" sz="2200" dirty="0"/>
                        <a:t>one</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083708"/>
                  </a:ext>
                </a:extLst>
              </a:tr>
              <a:tr h="0">
                <a:tc>
                  <a:txBody>
                    <a:bodyPr/>
                    <a:lstStyle/>
                    <a:p>
                      <a:endParaRPr lang="en-GB" sz="100" dirty="0"/>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3582230"/>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3"/>
                          </a:ext>
                        </a:extLst>
                      </a:blip>
                      <a:stretch>
                        <a:fillRect/>
                      </a:stretch>
                    </a:blipFill>
                  </a:tcPr>
                </a:tc>
                <a:tc rowSpan="2">
                  <a:txBody>
                    <a:bodyPr/>
                    <a:lstStyle/>
                    <a:p>
                      <a:r>
                        <a:rPr lang="en-GB" sz="2200" dirty="0"/>
                        <a:t>two</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9763730"/>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440128"/>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4"/>
                          </a:ext>
                        </a:extLst>
                      </a:blip>
                      <a:stretch>
                        <a:fillRect/>
                      </a:stretch>
                    </a:blipFill>
                  </a:tcPr>
                </a:tc>
                <a:tc rowSpan="2">
                  <a:txBody>
                    <a:bodyPr/>
                    <a:lstStyle/>
                    <a:p>
                      <a:r>
                        <a:rPr lang="en-GB" sz="2200" dirty="0"/>
                        <a:t>three</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106067"/>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7221841"/>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5"/>
                          </a:ext>
                        </a:extLst>
                      </a:blip>
                      <a:stretch>
                        <a:fillRect/>
                      </a:stretch>
                    </a:blipFill>
                  </a:tcPr>
                </a:tc>
                <a:tc rowSpan="2">
                  <a:txBody>
                    <a:bodyPr/>
                    <a:lstStyle/>
                    <a:p>
                      <a:r>
                        <a:rPr lang="en-GB" sz="2200" dirty="0"/>
                        <a:t>four</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1621608"/>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6066417"/>
                  </a:ext>
                </a:extLst>
              </a:tr>
            </a:tbl>
          </a:graphicData>
        </a:graphic>
      </p:graphicFrame>
    </p:spTree>
    <p:extLst>
      <p:ext uri="{BB962C8B-B14F-4D97-AF65-F5344CB8AC3E}">
        <p14:creationId xmlns:p14="http://schemas.microsoft.com/office/powerpoint/2010/main" val="12704940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3FB93-0A54-F0A3-44FD-9D6D98D41620}"/>
              </a:ext>
            </a:extLst>
          </p:cNvPr>
          <p:cNvSpPr>
            <a:spLocks noGrp="1"/>
          </p:cNvSpPr>
          <p:nvPr>
            <p:ph type="title" hasCustomPrompt="1"/>
          </p:nvPr>
        </p:nvSpPr>
        <p:spPr>
          <a:xfrm>
            <a:off x="1038399" y="689938"/>
            <a:ext cx="10115202" cy="911576"/>
          </a:xfrm>
        </p:spPr>
        <p:txBody>
          <a:bodyPr>
            <a:noAutofit/>
          </a:bodyPr>
          <a:lstStyle>
            <a:lvl1pPr algn="ctr">
              <a:defRPr sz="7200" b="1">
                <a:latin typeface="+mn-lt"/>
              </a:defRPr>
            </a:lvl1pPr>
          </a:lstStyle>
          <a:p>
            <a:r>
              <a:rPr lang="en-GB" dirty="0"/>
              <a:t>Add Outline title</a:t>
            </a:r>
          </a:p>
        </p:txBody>
      </p:sp>
      <p:sp>
        <p:nvSpPr>
          <p:cNvPr id="3" name="Date Placeholder 2">
            <a:extLst>
              <a:ext uri="{FF2B5EF4-FFF2-40B4-BE49-F238E27FC236}">
                <a16:creationId xmlns:a16="http://schemas.microsoft.com/office/drawing/2014/main" id="{9DFD10C5-6787-77AE-977F-D7E7083D0218}"/>
              </a:ext>
            </a:extLst>
          </p:cNvPr>
          <p:cNvSpPr>
            <a:spLocks noGrp="1"/>
          </p:cNvSpPr>
          <p:nvPr>
            <p:ph type="dt" sz="half" idx="10"/>
          </p:nvPr>
        </p:nvSpPr>
        <p:spPr/>
        <p:txBody>
          <a:bodyPr/>
          <a:lstStyle/>
          <a:p>
            <a:fld id="{146E2695-BF88-4E53-A024-A8FAC575C01F}" type="datetime3">
              <a:rPr lang="en-US" smtClean="0"/>
              <a:t>19 October 2026</a:t>
            </a:fld>
            <a:endParaRPr lang="en-GB" dirty="0"/>
          </a:p>
        </p:txBody>
      </p:sp>
      <p:sp>
        <p:nvSpPr>
          <p:cNvPr id="4" name="Footer Placeholder 3">
            <a:extLst>
              <a:ext uri="{FF2B5EF4-FFF2-40B4-BE49-F238E27FC236}">
                <a16:creationId xmlns:a16="http://schemas.microsoft.com/office/drawing/2014/main" id="{10E36E4D-BDDF-D97C-2EC6-0E974709B129}"/>
              </a:ext>
            </a:extLst>
          </p:cNvPr>
          <p:cNvSpPr>
            <a:spLocks noGrp="1"/>
          </p:cNvSpPr>
          <p:nvPr>
            <p:ph type="ftr" sz="quarter" idx="11"/>
          </p:nvPr>
        </p:nvSpPr>
        <p:spPr/>
        <p:txBody>
          <a:bodyPr/>
          <a:lstStyle/>
          <a:p>
            <a:r>
              <a:rPr lang="en-GB"/>
              <a:t>Logistic regression</a:t>
            </a:r>
            <a:endParaRPr lang="en-GB" dirty="0"/>
          </a:p>
        </p:txBody>
      </p:sp>
      <p:sp>
        <p:nvSpPr>
          <p:cNvPr id="5" name="Slide Number Placeholder 4">
            <a:extLst>
              <a:ext uri="{FF2B5EF4-FFF2-40B4-BE49-F238E27FC236}">
                <a16:creationId xmlns:a16="http://schemas.microsoft.com/office/drawing/2014/main" id="{FFD1CEC6-7F83-2BE7-95A9-5DF472D2439E}"/>
              </a:ext>
            </a:extLst>
          </p:cNvPr>
          <p:cNvSpPr>
            <a:spLocks noGrp="1"/>
          </p:cNvSpPr>
          <p:nvPr>
            <p:ph type="sldNum" sz="quarter" idx="12"/>
          </p:nvPr>
        </p:nvSpPr>
        <p:spPr/>
        <p:txBody>
          <a:bodyPr/>
          <a:lstStyle/>
          <a:p>
            <a:fld id="{9FAA51BB-2FC0-4DB8-B50E-F52D50E733B6}" type="slidenum">
              <a:rPr lang="en-GB" smtClean="0"/>
              <a:pPr/>
              <a:t>‹#›</a:t>
            </a:fld>
            <a:endParaRPr lang="en-GB" dirty="0"/>
          </a:p>
        </p:txBody>
      </p:sp>
      <p:graphicFrame>
        <p:nvGraphicFramePr>
          <p:cNvPr id="6" name="Table 5">
            <a:extLst>
              <a:ext uri="{FF2B5EF4-FFF2-40B4-BE49-F238E27FC236}">
                <a16:creationId xmlns:a16="http://schemas.microsoft.com/office/drawing/2014/main" id="{A549E6D0-17C2-32B5-650D-F84097C07BFD}"/>
              </a:ext>
            </a:extLst>
          </p:cNvPr>
          <p:cNvGraphicFramePr>
            <a:graphicFrameLocks noGrp="1"/>
          </p:cNvGraphicFramePr>
          <p:nvPr userDrawn="1">
            <p:extLst>
              <p:ext uri="{D42A27DB-BD31-4B8C-83A1-F6EECF244321}">
                <p14:modId xmlns:p14="http://schemas.microsoft.com/office/powerpoint/2010/main" val="2996315249"/>
              </p:ext>
            </p:extLst>
          </p:nvPr>
        </p:nvGraphicFramePr>
        <p:xfrm>
          <a:off x="726954" y="1971714"/>
          <a:ext cx="10440000" cy="3284200"/>
        </p:xfrm>
        <a:graphic>
          <a:graphicData uri="http://schemas.openxmlformats.org/drawingml/2006/table">
            <a:tbl>
              <a:tblPr>
                <a:tableStyleId>{5C22544A-7EE6-4342-B048-85BDC9FD1C3A}</a:tableStyleId>
              </a:tblPr>
              <a:tblGrid>
                <a:gridCol w="540000">
                  <a:extLst>
                    <a:ext uri="{9D8B030D-6E8A-4147-A177-3AD203B41FA5}">
                      <a16:colId xmlns:a16="http://schemas.microsoft.com/office/drawing/2014/main" val="547184884"/>
                    </a:ext>
                  </a:extLst>
                </a:gridCol>
                <a:gridCol w="4680000">
                  <a:extLst>
                    <a:ext uri="{9D8B030D-6E8A-4147-A177-3AD203B41FA5}">
                      <a16:colId xmlns:a16="http://schemas.microsoft.com/office/drawing/2014/main" val="4258649048"/>
                    </a:ext>
                  </a:extLst>
                </a:gridCol>
                <a:gridCol w="540000">
                  <a:extLst>
                    <a:ext uri="{9D8B030D-6E8A-4147-A177-3AD203B41FA5}">
                      <a16:colId xmlns:a16="http://schemas.microsoft.com/office/drawing/2014/main" val="2861192458"/>
                    </a:ext>
                  </a:extLst>
                </a:gridCol>
                <a:gridCol w="4680000">
                  <a:extLst>
                    <a:ext uri="{9D8B030D-6E8A-4147-A177-3AD203B41FA5}">
                      <a16:colId xmlns:a16="http://schemas.microsoft.com/office/drawing/2014/main" val="1996446775"/>
                    </a:ext>
                  </a:extLst>
                </a:gridCol>
              </a:tblGrid>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2"/>
                          </a:ext>
                        </a:extLst>
                      </a:blip>
                      <a:stretch>
                        <a:fillRect/>
                      </a:stretch>
                    </a:blip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200" dirty="0"/>
                        <a:t>Edit in Master slide view</a:t>
                      </a:r>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dpi="0" rotWithShape="0">
                      <a:blip>
                        <a:extLst>
                          <a:ext uri="{96DAC541-7B7A-43D3-8B79-37D633B846F1}">
                            <asvg:svgBlip xmlns:asvg="http://schemas.microsoft.com/office/drawing/2016/SVG/main" r:embed="rId3"/>
                          </a:ext>
                        </a:extLst>
                      </a:blip>
                      <a:srcRect/>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083708"/>
                  </a:ext>
                </a:extLst>
              </a:tr>
              <a:tr h="0">
                <a:tc>
                  <a:txBody>
                    <a:bodyPr/>
                    <a:lstStyle/>
                    <a:p>
                      <a:endParaRPr lang="en-GB" sz="100" dirty="0"/>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3582230"/>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4"/>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5"/>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9763730"/>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440128"/>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6"/>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7"/>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106067"/>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7221841"/>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8"/>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9"/>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1621608"/>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6066417"/>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10"/>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11"/>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105705"/>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5673635"/>
                  </a:ext>
                </a:extLst>
              </a:tr>
            </a:tbl>
          </a:graphicData>
        </a:graphic>
      </p:graphicFrame>
    </p:spTree>
    <p:extLst>
      <p:ext uri="{BB962C8B-B14F-4D97-AF65-F5344CB8AC3E}">
        <p14:creationId xmlns:p14="http://schemas.microsoft.com/office/powerpoint/2010/main" val="37248952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GB" dirty="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EE715E8-0072-480C-89F1-5AB31183234A}" type="datetime3">
              <a:rPr lang="en-US" smtClean="0"/>
              <a:t>19 October 2026</a:t>
            </a:fld>
            <a:endParaRPr lang="en-GB"/>
          </a:p>
        </p:txBody>
      </p:sp>
      <p:sp>
        <p:nvSpPr>
          <p:cNvPr id="5" name="Footer Placeholder 4"/>
          <p:cNvSpPr>
            <a:spLocks noGrp="1"/>
          </p:cNvSpPr>
          <p:nvPr>
            <p:ph type="ftr" sz="quarter" idx="11"/>
          </p:nvPr>
        </p:nvSpPr>
        <p:spPr/>
        <p:txBody>
          <a:bodyPr/>
          <a:lstStyle/>
          <a:p>
            <a:r>
              <a:rPr lang="en-GB"/>
              <a:t>Logistic regression</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40344790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6A1500D-B74C-43C4-909A-F7C7B6571AF0}" type="datetime3">
              <a:rPr lang="en-US" smtClean="0"/>
              <a:t>19 October 2026</a:t>
            </a:fld>
            <a:endParaRPr lang="en-GB"/>
          </a:p>
        </p:txBody>
      </p:sp>
      <p:sp>
        <p:nvSpPr>
          <p:cNvPr id="5" name="Footer Placeholder 4"/>
          <p:cNvSpPr>
            <a:spLocks noGrp="1"/>
          </p:cNvSpPr>
          <p:nvPr>
            <p:ph type="ftr" sz="quarter" idx="11"/>
          </p:nvPr>
        </p:nvSpPr>
        <p:spPr/>
        <p:txBody>
          <a:bodyPr/>
          <a:lstStyle/>
          <a:p>
            <a:r>
              <a:rPr lang="en-GB"/>
              <a:t>Logistic regression</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40602672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4" name="Picture 12" descr="Partners; Sustaining Creative Economies ...">
            <a:extLst>
              <a:ext uri="{FF2B5EF4-FFF2-40B4-BE49-F238E27FC236}">
                <a16:creationId xmlns:a16="http://schemas.microsoft.com/office/drawing/2014/main" id="{C213A523-D735-8490-152A-23415FF25430}"/>
              </a:ext>
            </a:extLst>
          </p:cNvPr>
          <p:cNvPicPr>
            <a:picLocks noChangeAspect="1" noChangeArrowheads="1"/>
          </p:cNvPicPr>
          <p:nvPr userDrawn="1"/>
        </p:nvPicPr>
        <p:blipFill>
          <a:blip r:embed="rId2">
            <a:alphaModFix/>
            <a:extLst>
              <a:ext uri="{28A0092B-C50C-407E-A947-70E740481C1C}">
                <a14:useLocalDpi xmlns:a14="http://schemas.microsoft.com/office/drawing/2010/main" val="0"/>
              </a:ext>
            </a:extLst>
          </a:blip>
          <a:srcRect/>
          <a:stretch>
            <a:fillRect/>
          </a:stretch>
        </p:blipFill>
        <p:spPr bwMode="auto">
          <a:xfrm>
            <a:off x="9888991" y="5440123"/>
            <a:ext cx="1342114" cy="751584"/>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6139AE9B-1271-7638-B347-A5F464D2BE3C}"/>
              </a:ext>
            </a:extLst>
          </p:cNvPr>
          <p:cNvSpPr>
            <a:spLocks noGrp="1"/>
          </p:cNvSpPr>
          <p:nvPr>
            <p:ph type="dt" sz="half" idx="10"/>
          </p:nvPr>
        </p:nvSpPr>
        <p:spPr/>
        <p:txBody>
          <a:bodyPr/>
          <a:lstStyle/>
          <a:p>
            <a:fld id="{C4317F90-E914-4520-A4BD-40799F1F1F9C}" type="datetime3">
              <a:rPr lang="en-US" smtClean="0"/>
              <a:t>19 October 2026</a:t>
            </a:fld>
            <a:endParaRPr lang="en-GB"/>
          </a:p>
        </p:txBody>
      </p:sp>
      <p:sp>
        <p:nvSpPr>
          <p:cNvPr id="4" name="Footer Placeholder 3">
            <a:extLst>
              <a:ext uri="{FF2B5EF4-FFF2-40B4-BE49-F238E27FC236}">
                <a16:creationId xmlns:a16="http://schemas.microsoft.com/office/drawing/2014/main" id="{23A3BAF4-52A6-7AC7-8C6F-183586D9D88D}"/>
              </a:ext>
            </a:extLst>
          </p:cNvPr>
          <p:cNvSpPr>
            <a:spLocks noGrp="1"/>
          </p:cNvSpPr>
          <p:nvPr>
            <p:ph type="ftr" sz="quarter" idx="11"/>
          </p:nvPr>
        </p:nvSpPr>
        <p:spPr/>
        <p:txBody>
          <a:bodyPr/>
          <a:lstStyle/>
          <a:p>
            <a:r>
              <a:rPr lang="en-GB"/>
              <a:t>Logistic regression</a:t>
            </a:r>
          </a:p>
        </p:txBody>
      </p:sp>
      <p:sp>
        <p:nvSpPr>
          <p:cNvPr id="5" name="Slide Number Placeholder 4">
            <a:extLst>
              <a:ext uri="{FF2B5EF4-FFF2-40B4-BE49-F238E27FC236}">
                <a16:creationId xmlns:a16="http://schemas.microsoft.com/office/drawing/2014/main" id="{F193AA3C-DFA6-2BE6-3BD0-0D6E60101593}"/>
              </a:ext>
            </a:extLst>
          </p:cNvPr>
          <p:cNvSpPr>
            <a:spLocks noGrp="1"/>
          </p:cNvSpPr>
          <p:nvPr>
            <p:ph type="sldNum" sz="quarter" idx="12"/>
          </p:nvPr>
        </p:nvSpPr>
        <p:spPr/>
        <p:txBody>
          <a:bodyPr/>
          <a:lstStyle/>
          <a:p>
            <a:fld id="{9FAA51BB-2FC0-4DB8-B50E-F52D50E733B6}" type="slidenum">
              <a:rPr lang="en-GB" smtClean="0"/>
              <a:t>‹#›</a:t>
            </a:fld>
            <a:endParaRPr lang="en-GB"/>
          </a:p>
        </p:txBody>
      </p:sp>
      <p:pic>
        <p:nvPicPr>
          <p:cNvPr id="6" name="Picture 10">
            <a:extLst>
              <a:ext uri="{FF2B5EF4-FFF2-40B4-BE49-F238E27FC236}">
                <a16:creationId xmlns:a16="http://schemas.microsoft.com/office/drawing/2014/main" id="{2A7E09F9-D2AF-737B-7EF3-D1714380AC3D}"/>
              </a:ext>
            </a:extLst>
          </p:cNvPr>
          <p:cNvPicPr>
            <a:picLocks noChangeAspect="1" noChangeArrowheads="1"/>
          </p:cNvPicPr>
          <p:nvPr userDrawn="1"/>
        </p:nvPicPr>
        <p:blipFill rotWithShape="1">
          <a:blip r:embed="rId3">
            <a:alphaModFix amt="35000"/>
            <a:extLst>
              <a:ext uri="{BEBA8EAE-BF5A-486C-A8C5-ECC9F3942E4B}">
                <a14:imgProps xmlns:a14="http://schemas.microsoft.com/office/drawing/2010/main">
                  <a14:imgLayer r:embed="rId4">
                    <a14:imgEffect>
                      <a14:backgroundRemoval t="7944" b="94860" l="9780" r="89976">
                        <a14:foregroundMark x1="25672" y1="20093" x2="32152" y2="70327"/>
                        <a14:foregroundMark x1="32152" y1="70327" x2="79829" y2="87383"/>
                        <a14:foregroundMark x1="79829" y1="87383" x2="79095" y2="36682"/>
                        <a14:foregroundMark x1="79095" y1="36682" x2="64914" y2="14720"/>
                        <a14:foregroundMark x1="64914" y1="14720" x2="48533" y2="7944"/>
                        <a14:foregroundMark x1="48533" y1="7944" x2="30196" y2="13084"/>
                        <a14:foregroundMark x1="30196" y1="13084" x2="25306" y2="20561"/>
                        <a14:foregroundMark x1="21760" y1="39486" x2="25061" y2="78505"/>
                        <a14:foregroundMark x1="25061" y1="78505" x2="64670" y2="92056"/>
                        <a14:foregroundMark x1="64670" y1="92056" x2="78851" y2="91822"/>
                        <a14:foregroundMark x1="82641" y1="15187" x2="86675" y2="62850"/>
                        <a14:foregroundMark x1="86675" y1="62850" x2="80196" y2="94626"/>
                        <a14:foregroundMark x1="80196" y1="94626" x2="78117" y2="94860"/>
                      </a14:backgroundRemoval>
                    </a14:imgEffect>
                  </a14:imgLayer>
                </a14:imgProps>
              </a:ext>
              <a:ext uri="{28A0092B-C50C-407E-A947-70E740481C1C}">
                <a14:useLocalDpi xmlns:a14="http://schemas.microsoft.com/office/drawing/2010/main" val="0"/>
              </a:ext>
            </a:extLst>
          </a:blip>
          <a:srcRect l="17245" t="2011" r="13041"/>
          <a:stretch/>
        </p:blipFill>
        <p:spPr bwMode="auto">
          <a:xfrm>
            <a:off x="3480620" y="-23164"/>
            <a:ext cx="8635320" cy="6350686"/>
          </a:xfrm>
          <a:prstGeom prst="rect">
            <a:avLst/>
          </a:prstGeom>
          <a:noFill/>
          <a:extLst>
            <a:ext uri="{909E8E84-426E-40DD-AFC4-6F175D3DCCD1}">
              <a14:hiddenFill xmlns:a14="http://schemas.microsoft.com/office/drawing/2010/main">
                <a:solidFill>
                  <a:srgbClr val="FFFFFF"/>
                </a:solidFill>
              </a14:hiddenFill>
            </a:ext>
          </a:extLst>
        </p:spPr>
      </p:pic>
      <p:pic>
        <p:nvPicPr>
          <p:cNvPr id="10" name="Graphic 9" descr="Advertising outline">
            <a:extLst>
              <a:ext uri="{FF2B5EF4-FFF2-40B4-BE49-F238E27FC236}">
                <a16:creationId xmlns:a16="http://schemas.microsoft.com/office/drawing/2014/main" id="{1EDC15B8-2173-9DC7-DB3B-645E07D8406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071" y="208195"/>
            <a:ext cx="7304134" cy="6756079"/>
          </a:xfrm>
          <a:prstGeom prst="rect">
            <a:avLst/>
          </a:prstGeom>
        </p:spPr>
      </p:pic>
      <p:pic>
        <p:nvPicPr>
          <p:cNvPr id="15" name="Graphic 14">
            <a:extLst>
              <a:ext uri="{FF2B5EF4-FFF2-40B4-BE49-F238E27FC236}">
                <a16:creationId xmlns:a16="http://schemas.microsoft.com/office/drawing/2014/main" id="{CD1C29E7-0246-1CD7-8A1F-30707B7E1852}"/>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394192" y="4729773"/>
            <a:ext cx="2851533" cy="938724"/>
          </a:xfrm>
          <a:prstGeom prst="rect">
            <a:avLst/>
          </a:prstGeom>
        </p:spPr>
      </p:pic>
      <p:sp>
        <p:nvSpPr>
          <p:cNvPr id="16" name="TextBox 15">
            <a:extLst>
              <a:ext uri="{FF2B5EF4-FFF2-40B4-BE49-F238E27FC236}">
                <a16:creationId xmlns:a16="http://schemas.microsoft.com/office/drawing/2014/main" id="{2B8C7C2A-22F2-9C49-D70E-5C8A22C35019}"/>
              </a:ext>
            </a:extLst>
          </p:cNvPr>
          <p:cNvSpPr txBox="1"/>
          <p:nvPr userDrawn="1"/>
        </p:nvSpPr>
        <p:spPr>
          <a:xfrm>
            <a:off x="2189351" y="4909434"/>
            <a:ext cx="2582537" cy="1323439"/>
          </a:xfrm>
          <a:prstGeom prst="rect">
            <a:avLst/>
          </a:prstGeom>
          <a:noFill/>
        </p:spPr>
        <p:txBody>
          <a:bodyPr wrap="square" rtlCol="0">
            <a:spAutoFit/>
          </a:bodyPr>
          <a:lstStyle/>
          <a:p>
            <a:pPr marL="180000">
              <a:spcBef>
                <a:spcPts val="0"/>
              </a:spcBef>
            </a:pPr>
            <a:r>
              <a:rPr lang="en-GB" sz="1600" b="0" dirty="0">
                <a:latin typeface="Arial Nova Cond Light" panose="020B0306020202020204" pitchFamily="34" charset="0"/>
                <a:cs typeface="Courier New" panose="02070309020205020404" pitchFamily="49" charset="0"/>
                <a:hlinkClick r:id="rId7"/>
              </a:rPr>
              <a:t>chris.moreh@ncl.ac.uk</a:t>
            </a:r>
            <a:endParaRPr lang="en-GB" sz="1600" b="0" dirty="0">
              <a:latin typeface="Arial Nova Cond Light" panose="020B0306020202020204" pitchFamily="34" charset="0"/>
              <a:cs typeface="Courier New" panose="02070309020205020404" pitchFamily="49" charset="0"/>
              <a:hlinkClick r:id="rId8"/>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8"/>
              </a:rPr>
              <a:t>chrismoreh.com</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9"/>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0"/>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1"/>
              </a:rPr>
              <a:t>Chris Moreh</a:t>
            </a:r>
            <a:endParaRPr lang="en-GB" sz="1600" b="0" dirty="0">
              <a:latin typeface="Arial Nova Cond Light" panose="020B0306020202020204" pitchFamily="34" charset="0"/>
              <a:cs typeface="Courier New" panose="02070309020205020404" pitchFamily="49" charset="0"/>
            </a:endParaRPr>
          </a:p>
        </p:txBody>
      </p:sp>
      <p:pic>
        <p:nvPicPr>
          <p:cNvPr id="17" name="Picture 16">
            <a:extLst>
              <a:ext uri="{FF2B5EF4-FFF2-40B4-BE49-F238E27FC236}">
                <a16:creationId xmlns:a16="http://schemas.microsoft.com/office/drawing/2014/main" id="{DD7CACF7-D679-73AB-9142-786DA076C3A7}"/>
              </a:ext>
            </a:extLst>
          </p:cNvPr>
          <p:cNvPicPr>
            <a:picLocks noChangeAspect="1"/>
          </p:cNvPicPr>
          <p:nvPr userDrawn="1"/>
        </p:nvPicPr>
        <p:blipFill>
          <a:blip r:embed="rId12"/>
          <a:stretch>
            <a:fillRect/>
          </a:stretch>
        </p:blipFill>
        <p:spPr>
          <a:xfrm flipH="1">
            <a:off x="2205260" y="5245571"/>
            <a:ext cx="174474" cy="180000"/>
          </a:xfrm>
          <a:prstGeom prst="rect">
            <a:avLst/>
          </a:prstGeom>
        </p:spPr>
      </p:pic>
      <p:pic>
        <p:nvPicPr>
          <p:cNvPr id="18" name="Picture 4">
            <a:extLst>
              <a:ext uri="{FF2B5EF4-FFF2-40B4-BE49-F238E27FC236}">
                <a16:creationId xmlns:a16="http://schemas.microsoft.com/office/drawing/2014/main" id="{F5D755EC-05C2-0884-2C2F-74A7297B707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174731" y="5712062"/>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a:extLst>
              <a:ext uri="{FF2B5EF4-FFF2-40B4-BE49-F238E27FC236}">
                <a16:creationId xmlns:a16="http://schemas.microsoft.com/office/drawing/2014/main" id="{40A42823-F60C-D577-74D9-FE8C3E3A623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2199734" y="5980746"/>
            <a:ext cx="19125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
            <a:extLst>
              <a:ext uri="{FF2B5EF4-FFF2-40B4-BE49-F238E27FC236}">
                <a16:creationId xmlns:a16="http://schemas.microsoft.com/office/drawing/2014/main" id="{ECDBB212-ABA5-CE0D-7F0C-C37D656E0D6B}"/>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2169249" y="5458509"/>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Email Icon Clip Art , Royalty PNG Transparent Background, Free Download  #130 - FreeIconsPNG">
            <a:extLst>
              <a:ext uri="{FF2B5EF4-FFF2-40B4-BE49-F238E27FC236}">
                <a16:creationId xmlns:a16="http://schemas.microsoft.com/office/drawing/2014/main" id="{9AD65224-3024-068D-2B15-9BC765970543}"/>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210092" y="5003382"/>
            <a:ext cx="17640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D63504B0-8CB3-256C-EF50-E93FEF75ACFC}"/>
              </a:ext>
            </a:extLst>
          </p:cNvPr>
          <p:cNvPicPr>
            <a:picLocks noChangeAspect="1"/>
          </p:cNvPicPr>
          <p:nvPr userDrawn="1"/>
        </p:nvPicPr>
        <p:blipFill rotWithShape="1">
          <a:blip r:embed="rId17"/>
          <a:srcRect l="14262" t="5451" r="9231" b="22240"/>
          <a:stretch/>
        </p:blipFill>
        <p:spPr>
          <a:xfrm>
            <a:off x="851647" y="1470212"/>
            <a:ext cx="5629836" cy="2671482"/>
          </a:xfrm>
          <a:prstGeom prst="rect">
            <a:avLst/>
          </a:prstGeom>
        </p:spPr>
      </p:pic>
    </p:spTree>
    <p:extLst>
      <p:ext uri="{BB962C8B-B14F-4D97-AF65-F5344CB8AC3E}">
        <p14:creationId xmlns:p14="http://schemas.microsoft.com/office/powerpoint/2010/main" val="6913247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ECC6-7BD6-D9D0-DD8F-30FCF10DE4E6}"/>
              </a:ext>
            </a:extLst>
          </p:cNvPr>
          <p:cNvSpPr>
            <a:spLocks noGrp="1"/>
          </p:cNvSpPr>
          <p:nvPr>
            <p:ph type="title" hasCustomPrompt="1"/>
          </p:nvPr>
        </p:nvSpPr>
        <p:spPr/>
        <p:txBody>
          <a:bodyPr/>
          <a:lstStyle>
            <a:lvl1pPr>
              <a:defRPr/>
            </a:lvl1pPr>
          </a:lstStyle>
          <a:p>
            <a:r>
              <a:rPr lang="en-GB" dirty="0"/>
              <a:t>References</a:t>
            </a:r>
          </a:p>
        </p:txBody>
      </p:sp>
      <p:sp>
        <p:nvSpPr>
          <p:cNvPr id="3" name="Date Placeholder 2">
            <a:extLst>
              <a:ext uri="{FF2B5EF4-FFF2-40B4-BE49-F238E27FC236}">
                <a16:creationId xmlns:a16="http://schemas.microsoft.com/office/drawing/2014/main" id="{B9857D05-3B38-1245-894D-24581A24F27D}"/>
              </a:ext>
            </a:extLst>
          </p:cNvPr>
          <p:cNvSpPr>
            <a:spLocks noGrp="1"/>
          </p:cNvSpPr>
          <p:nvPr>
            <p:ph type="dt" sz="half" idx="10"/>
          </p:nvPr>
        </p:nvSpPr>
        <p:spPr/>
        <p:txBody>
          <a:bodyPr/>
          <a:lstStyle/>
          <a:p>
            <a:fld id="{DAEC8E9F-B4B8-4FC8-B3D5-130D559B00C0}" type="datetime3">
              <a:rPr lang="en-US" smtClean="0"/>
              <a:t>19 October 2026</a:t>
            </a:fld>
            <a:endParaRPr lang="en-GB" dirty="0"/>
          </a:p>
        </p:txBody>
      </p:sp>
      <p:sp>
        <p:nvSpPr>
          <p:cNvPr id="4" name="Footer Placeholder 3">
            <a:extLst>
              <a:ext uri="{FF2B5EF4-FFF2-40B4-BE49-F238E27FC236}">
                <a16:creationId xmlns:a16="http://schemas.microsoft.com/office/drawing/2014/main" id="{F3C7BA36-6C3C-C811-3047-B251D5B25444}"/>
              </a:ext>
            </a:extLst>
          </p:cNvPr>
          <p:cNvSpPr>
            <a:spLocks noGrp="1"/>
          </p:cNvSpPr>
          <p:nvPr>
            <p:ph type="ftr" sz="quarter" idx="11"/>
          </p:nvPr>
        </p:nvSpPr>
        <p:spPr/>
        <p:txBody>
          <a:bodyPr/>
          <a:lstStyle/>
          <a:p>
            <a:r>
              <a:rPr lang="en-GB"/>
              <a:t>Logistic regression</a:t>
            </a:r>
            <a:endParaRPr lang="en-GB" dirty="0"/>
          </a:p>
        </p:txBody>
      </p:sp>
      <p:sp>
        <p:nvSpPr>
          <p:cNvPr id="5" name="Slide Number Placeholder 4">
            <a:extLst>
              <a:ext uri="{FF2B5EF4-FFF2-40B4-BE49-F238E27FC236}">
                <a16:creationId xmlns:a16="http://schemas.microsoft.com/office/drawing/2014/main" id="{6589F523-D9FC-8E93-1712-1B6E3DE742AF}"/>
              </a:ext>
            </a:extLst>
          </p:cNvPr>
          <p:cNvSpPr>
            <a:spLocks noGrp="1"/>
          </p:cNvSpPr>
          <p:nvPr>
            <p:ph type="sldNum" sz="quarter" idx="12"/>
          </p:nvPr>
        </p:nvSpPr>
        <p:spPr/>
        <p:txBody>
          <a:bodyPr/>
          <a:lstStyle/>
          <a:p>
            <a:fld id="{9FAA51BB-2FC0-4DB8-B50E-F52D50E733B6}" type="slidenum">
              <a:rPr lang="en-GB" smtClean="0"/>
              <a:pPr/>
              <a:t>‹#›</a:t>
            </a:fld>
            <a:endParaRPr lang="en-GB" dirty="0"/>
          </a:p>
        </p:txBody>
      </p:sp>
      <p:sp>
        <p:nvSpPr>
          <p:cNvPr id="7" name="Text Placeholder 6">
            <a:extLst>
              <a:ext uri="{FF2B5EF4-FFF2-40B4-BE49-F238E27FC236}">
                <a16:creationId xmlns:a16="http://schemas.microsoft.com/office/drawing/2014/main" id="{C9FD4878-448B-C559-6183-304914140DFB}"/>
              </a:ext>
            </a:extLst>
          </p:cNvPr>
          <p:cNvSpPr>
            <a:spLocks noGrp="1"/>
          </p:cNvSpPr>
          <p:nvPr>
            <p:ph type="body" sz="quarter" idx="13"/>
          </p:nvPr>
        </p:nvSpPr>
        <p:spPr>
          <a:xfrm>
            <a:off x="757238" y="1431925"/>
            <a:ext cx="10455275" cy="46577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7463633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7A8F960-150E-CFFE-3EB5-036D92AC413A}"/>
              </a:ext>
            </a:extLst>
          </p:cNvPr>
          <p:cNvPicPr>
            <a:picLocks noChangeAspect="1"/>
          </p:cNvPicPr>
          <p:nvPr userDrawn="1"/>
        </p:nvPicPr>
        <p:blipFill>
          <a:blip r:embed="rId2"/>
          <a:srcRect/>
          <a:stretch/>
        </p:blipFill>
        <p:spPr>
          <a:xfrm>
            <a:off x="0" y="0"/>
            <a:ext cx="12192000" cy="6858000"/>
          </a:xfrm>
          <a:prstGeom prst="rect">
            <a:avLst/>
          </a:prstGeom>
        </p:spPr>
      </p:pic>
      <p:sp>
        <p:nvSpPr>
          <p:cNvPr id="3" name="Title 1">
            <a:extLst>
              <a:ext uri="{FF2B5EF4-FFF2-40B4-BE49-F238E27FC236}">
                <a16:creationId xmlns:a16="http://schemas.microsoft.com/office/drawing/2014/main" id="{CF921059-ACFF-7915-A3D0-F9C1B133264B}"/>
              </a:ext>
            </a:extLst>
          </p:cNvPr>
          <p:cNvSpPr>
            <a:spLocks noGrp="1"/>
          </p:cNvSpPr>
          <p:nvPr>
            <p:ph type="ctrTitle" hasCustomPrompt="1"/>
          </p:nvPr>
        </p:nvSpPr>
        <p:spPr>
          <a:xfrm>
            <a:off x="5262734" y="3113785"/>
            <a:ext cx="6165348" cy="1048780"/>
          </a:xfrm>
          <a:prstGeom prst="rect">
            <a:avLst/>
          </a:prstGeom>
          <a:effectLst>
            <a:outerShdw blurRad="50800" dist="38100" algn="l" rotWithShape="0">
              <a:prstClr val="black">
                <a:alpha val="40000"/>
              </a:prstClr>
            </a:outerShdw>
          </a:effectLst>
        </p:spPr>
        <p:txBody>
          <a:bodyPr>
            <a:noAutofit/>
          </a:bodyPr>
          <a:lstStyle>
            <a:lvl1pPr marL="990575" indent="-990575" algn="l">
              <a:buFont typeface="+mj-lt"/>
              <a:buAutoNum type="arabicPeriod"/>
              <a:defRPr sz="5867">
                <a:solidFill>
                  <a:srgbClr val="496F2F"/>
                </a:solidFill>
              </a:defRPr>
            </a:lvl1pPr>
          </a:lstStyle>
          <a:p>
            <a:r>
              <a:rPr lang="en-US" dirty="0"/>
              <a:t>Section number</a:t>
            </a:r>
          </a:p>
        </p:txBody>
      </p:sp>
      <p:sp>
        <p:nvSpPr>
          <p:cNvPr id="4" name="Text Placeholder 3">
            <a:extLst>
              <a:ext uri="{FF2B5EF4-FFF2-40B4-BE49-F238E27FC236}">
                <a16:creationId xmlns:a16="http://schemas.microsoft.com/office/drawing/2014/main" id="{0F4BE298-0C12-3E53-D830-52A766E96A65}"/>
              </a:ext>
            </a:extLst>
          </p:cNvPr>
          <p:cNvSpPr>
            <a:spLocks noGrp="1"/>
          </p:cNvSpPr>
          <p:nvPr>
            <p:ph type="body" sz="quarter" idx="10"/>
          </p:nvPr>
        </p:nvSpPr>
        <p:spPr>
          <a:xfrm>
            <a:off x="4455782" y="4309859"/>
            <a:ext cx="6972300" cy="1727200"/>
          </a:xfrm>
        </p:spPr>
        <p:txBody>
          <a:bodyPr/>
          <a:lstStyle>
            <a:lvl1pPr marL="482588" indent="-245527">
              <a:buFont typeface="Arial" panose="020B0604020202020204" pitchFamily="34" charset="0"/>
              <a:buChar char="•"/>
              <a:defRPr sz="1867"/>
            </a:lvl1pPr>
            <a:lvl2pPr marL="457189" indent="0">
              <a:buNone/>
              <a:defRPr sz="1600"/>
            </a:lvl2pPr>
            <a:lvl3pPr marL="596885" indent="0">
              <a:buNone/>
              <a:defRPr sz="1467"/>
            </a:lvl3pPr>
            <a:lvl4pPr marL="842412" indent="0">
              <a:buNone/>
              <a:defRPr sz="1400"/>
            </a:lvl4pPr>
            <a:lvl5pPr marL="1071007" indent="0">
              <a:buNone/>
              <a:defRPr sz="1333"/>
            </a:lvl5pPr>
          </a:lstStyle>
          <a:p>
            <a:pPr lvl="0"/>
            <a:r>
              <a:rPr lang="en-US" dirty="0"/>
              <a:t>Click to edit Master text styles</a:t>
            </a:r>
          </a:p>
          <a:p>
            <a:pPr lvl="0"/>
            <a:endParaRPr lang="en-US" dirty="0"/>
          </a:p>
          <a:p>
            <a:pPr lvl="0"/>
            <a:endParaRPr lang="en-US" dirty="0"/>
          </a:p>
        </p:txBody>
      </p:sp>
    </p:spTree>
    <p:extLst>
      <p:ext uri="{BB962C8B-B14F-4D97-AF65-F5344CB8AC3E}">
        <p14:creationId xmlns:p14="http://schemas.microsoft.com/office/powerpoint/2010/main" val="450349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756746" y="286604"/>
            <a:ext cx="9578516" cy="911576"/>
          </a:xfrm>
          <a:prstGeom prst="rect">
            <a:avLst/>
          </a:prstGeom>
        </p:spPr>
        <p:txBody>
          <a:bodyPr vert="horz" lIns="91440" tIns="45720" rIns="91440" bIns="45720" rtlCol="0" anchor="b">
            <a:normAutofit/>
          </a:bodyPr>
          <a:lstStyle/>
          <a:p>
            <a:r>
              <a:rPr lang="en-GB" dirty="0"/>
              <a:t>Click to edit Master title style</a:t>
            </a:r>
            <a:endParaRPr lang="en-US" dirty="0"/>
          </a:p>
        </p:txBody>
      </p:sp>
      <p:sp>
        <p:nvSpPr>
          <p:cNvPr id="3" name="Text Placeholder 2"/>
          <p:cNvSpPr>
            <a:spLocks noGrp="1"/>
          </p:cNvSpPr>
          <p:nvPr>
            <p:ph type="body" idx="1"/>
          </p:nvPr>
        </p:nvSpPr>
        <p:spPr>
          <a:xfrm>
            <a:off x="756745" y="1477880"/>
            <a:ext cx="10398935" cy="4681181"/>
          </a:xfrm>
          <a:prstGeom prst="rect">
            <a:avLst/>
          </a:prstGeom>
        </p:spPr>
        <p:txBody>
          <a:bodyPr vert="horz" lIns="0" tIns="45720" rIns="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1200">
                <a:solidFill>
                  <a:srgbClr val="FFFFFF"/>
                </a:solidFill>
              </a:defRPr>
            </a:lvl1pPr>
          </a:lstStyle>
          <a:p>
            <a:fld id="{FF5A9168-B93F-419E-99D0-65FF9335EC62}" type="datetime3">
              <a:rPr lang="en-US" smtClean="0"/>
              <a:t>19 October 2026</a:t>
            </a:fld>
            <a:endParaRPr lang="en-GB"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1000" cap="all" baseline="0">
                <a:solidFill>
                  <a:srgbClr val="FFFFFF"/>
                </a:solidFill>
              </a:defRPr>
            </a:lvl1pPr>
          </a:lstStyle>
          <a:p>
            <a:r>
              <a:rPr lang="en-GB"/>
              <a:t>Logistic regression</a:t>
            </a:r>
            <a:endParaRPr lang="en-GB"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200">
                <a:solidFill>
                  <a:srgbClr val="FFFFFF"/>
                </a:solidFill>
              </a:defRPr>
            </a:lvl1pPr>
          </a:lstStyle>
          <a:p>
            <a:fld id="{9FAA51BB-2FC0-4DB8-B50E-F52D50E733B6}" type="slidenum">
              <a:rPr lang="en-GB" smtClean="0"/>
              <a:pPr/>
              <a:t>‹#›</a:t>
            </a:fld>
            <a:endParaRPr lang="en-GB" dirty="0"/>
          </a:p>
        </p:txBody>
      </p:sp>
    </p:spTree>
    <p:extLst>
      <p:ext uri="{BB962C8B-B14F-4D97-AF65-F5344CB8AC3E}">
        <p14:creationId xmlns:p14="http://schemas.microsoft.com/office/powerpoint/2010/main" val="3120243165"/>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3" r:id="rId4"/>
    <p:sldLayoutId id="2147483668" r:id="rId5"/>
    <p:sldLayoutId id="2147483669" r:id="rId6"/>
    <p:sldLayoutId id="2147483664" r:id="rId7"/>
    <p:sldLayoutId id="2147483665" r:id="rId8"/>
    <p:sldLayoutId id="2147483666" r:id="rId9"/>
    <p:sldLayoutId id="2147483667" r:id="rId10"/>
    <p:sldLayoutId id="2147483674" r:id="rId11"/>
    <p:sldLayoutId id="2147483676" r:id="rId12"/>
    <p:sldLayoutId id="2147483675" r:id="rId13"/>
    <p:sldLayoutId id="2147483670" r:id="rId14"/>
    <p:sldLayoutId id="2147483671" r:id="rId15"/>
    <p:sldLayoutId id="2147483673" r:id="rId16"/>
    <p:sldLayoutId id="2147483677" r:id="rId17"/>
    <p:sldLayoutId id="2147483678" r:id="rId18"/>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p:txStyles>
    <p:titleStyle>
      <a:lvl1pPr algn="l" defTabSz="914400" rtl="0" eaLnBrk="1" latinLnBrk="0" hangingPunct="1">
        <a:lnSpc>
          <a:spcPct val="100000"/>
        </a:lnSpc>
        <a:spcBef>
          <a:spcPct val="0"/>
        </a:spcBef>
        <a:buNone/>
        <a:defRPr sz="4000" b="1" kern="1200" spc="-50" baseline="0">
          <a:solidFill>
            <a:schemeClr val="accent1">
              <a:lumMod val="5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SzPct val="120000"/>
        <a:buFont typeface="Arial Narrow" panose="020B0606020202030204" pitchFamily="34" charset="0"/>
        <a:buChar char="●"/>
        <a:defRPr sz="2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SzPct val="11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SzPct val="110000"/>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749808"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6133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060982-6EE3-A8F1-75FE-C4BDB2FF3CBE}"/>
              </a:ext>
            </a:extLst>
          </p:cNvPr>
          <p:cNvSpPr>
            <a:spLocks noGrp="1"/>
          </p:cNvSpPr>
          <p:nvPr>
            <p:ph type="title"/>
          </p:nvPr>
        </p:nvSpPr>
        <p:spPr/>
        <p:txBody>
          <a:bodyPr/>
          <a:lstStyle/>
          <a:p>
            <a:r>
              <a:rPr lang="en-GB" sz="6000" b="1" dirty="0"/>
              <a:t>Week 4</a:t>
            </a:r>
          </a:p>
        </p:txBody>
      </p:sp>
      <p:sp>
        <p:nvSpPr>
          <p:cNvPr id="7" name="Text Placeholder 6">
            <a:extLst>
              <a:ext uri="{FF2B5EF4-FFF2-40B4-BE49-F238E27FC236}">
                <a16:creationId xmlns:a16="http://schemas.microsoft.com/office/drawing/2014/main" id="{E112B5B6-7C9E-9DE5-8D2C-13D42F1FBB68}"/>
              </a:ext>
            </a:extLst>
          </p:cNvPr>
          <p:cNvSpPr>
            <a:spLocks noGrp="1"/>
          </p:cNvSpPr>
          <p:nvPr>
            <p:ph type="body" sz="half" idx="2"/>
          </p:nvPr>
        </p:nvSpPr>
        <p:spPr>
          <a:xfrm>
            <a:off x="5664452" y="3094377"/>
            <a:ext cx="6369052" cy="972284"/>
          </a:xfrm>
        </p:spPr>
        <p:txBody>
          <a:bodyPr>
            <a:normAutofit lnSpcReduction="10000"/>
          </a:bodyPr>
          <a:lstStyle/>
          <a:p>
            <a:r>
              <a:rPr lang="en-GB" sz="3600" dirty="0"/>
              <a:t>Modelling </a:t>
            </a:r>
          </a:p>
          <a:p>
            <a:r>
              <a:rPr lang="en-GB" sz="3600" dirty="0"/>
              <a:t>dichotomous outcomes</a:t>
            </a:r>
          </a:p>
        </p:txBody>
      </p:sp>
      <p:sp>
        <p:nvSpPr>
          <p:cNvPr id="3" name="Date Placeholder 2">
            <a:extLst>
              <a:ext uri="{FF2B5EF4-FFF2-40B4-BE49-F238E27FC236}">
                <a16:creationId xmlns:a16="http://schemas.microsoft.com/office/drawing/2014/main" id="{746383FB-FAD5-ACBF-8362-99A44C5BACCD}"/>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EC4BC908-4805-889D-BE4F-455E3A449AA4}"/>
              </a:ext>
            </a:extLst>
          </p:cNvPr>
          <p:cNvSpPr>
            <a:spLocks noGrp="1"/>
          </p:cNvSpPr>
          <p:nvPr>
            <p:ph type="ftr" sz="quarter" idx="11"/>
          </p:nvPr>
        </p:nvSpPr>
        <p:spPr/>
        <p:txBody>
          <a:bodyPr/>
          <a:lstStyle/>
          <a:p>
            <a:r>
              <a:rPr lang="en-GB"/>
              <a:t>Logistic regression</a:t>
            </a:r>
          </a:p>
        </p:txBody>
      </p:sp>
    </p:spTree>
    <p:extLst>
      <p:ext uri="{BB962C8B-B14F-4D97-AF65-F5344CB8AC3E}">
        <p14:creationId xmlns:p14="http://schemas.microsoft.com/office/powerpoint/2010/main" val="38144591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Outline</a:t>
            </a:r>
            <a:endParaRPr dirty="0"/>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Rounded Rectangle 4"/>
          <p:cNvSpPr/>
          <p:nvPr/>
        </p:nvSpPr>
        <p:spPr>
          <a:xfrm>
            <a:off x="758952" y="1417320"/>
            <a:ext cx="2377440" cy="1783080"/>
          </a:xfrm>
          <a:prstGeom prst="roundRect">
            <a:avLst>
              <a:gd name="adj" fmla="val 8000"/>
            </a:avLst>
          </a:prstGeom>
          <a:solidFill>
            <a:srgbClr val="EEF3F7"/>
          </a:solidFill>
          <a:ln>
            <a:noFill/>
          </a:ln>
        </p:spPr>
        <p:txBody>
          <a:bodyPr rtlCol="0" anchor="ctr"/>
          <a:lstStyle/>
          <a:p>
            <a:pPr algn="ctr"/>
            <a:endParaRPr/>
          </a:p>
        </p:txBody>
      </p:sp>
      <p:sp>
        <p:nvSpPr>
          <p:cNvPr id="6" name="TextBox 5"/>
          <p:cNvSpPr txBox="1"/>
          <p:nvPr/>
        </p:nvSpPr>
        <p:spPr>
          <a:xfrm>
            <a:off x="923544" y="1572768"/>
            <a:ext cx="2057400" cy="1061829"/>
          </a:xfrm>
          <a:prstGeom prst="rect">
            <a:avLst/>
          </a:prstGeom>
          <a:noFill/>
        </p:spPr>
        <p:txBody>
          <a:bodyPr wrap="square" lIns="0" tIns="0" rIns="0" bIns="0" anchor="t">
            <a:spAutoFit/>
          </a:bodyPr>
          <a:lstStyle/>
          <a:p>
            <a:pPr algn="l">
              <a:spcAft>
                <a:spcPts val="600"/>
              </a:spcAft>
            </a:pPr>
            <a:r>
              <a:rPr sz="1900" b="1" i="0" dirty="0">
                <a:solidFill>
                  <a:srgbClr val="1F394D"/>
                </a:solidFill>
              </a:rPr>
              <a:t>Binary outcomes</a:t>
            </a:r>
          </a:p>
          <a:p>
            <a:pPr algn="l"/>
            <a:r>
              <a:rPr lang="en-GB" sz="1500" b="0" i="0" dirty="0">
                <a:solidFill>
                  <a:srgbClr val="1F2A33"/>
                </a:solidFill>
              </a:rPr>
              <a:t>e.g. t</a:t>
            </a:r>
            <a:r>
              <a:rPr sz="1500" b="0" i="0" dirty="0">
                <a:solidFill>
                  <a:srgbClr val="1F2A33"/>
                </a:solidFill>
              </a:rPr>
              <a:t>rusts or not</a:t>
            </a:r>
            <a:r>
              <a:rPr lang="en-GB" sz="1500" b="0" i="0" dirty="0">
                <a:solidFill>
                  <a:srgbClr val="1F2A33"/>
                </a:solidFill>
              </a:rPr>
              <a:t>;</a:t>
            </a:r>
            <a:r>
              <a:rPr sz="1500" b="0" i="0" dirty="0">
                <a:solidFill>
                  <a:srgbClr val="1F2A33"/>
                </a:solidFill>
              </a:rPr>
              <a:t> why </a:t>
            </a:r>
            <a:r>
              <a:rPr lang="en-GB" sz="1500" dirty="0">
                <a:solidFill>
                  <a:srgbClr val="1F2A33"/>
                </a:solidFill>
              </a:rPr>
              <a:t>linear regression is unsatisfactory here</a:t>
            </a:r>
            <a:endParaRPr sz="1500" b="0" i="0" dirty="0">
              <a:solidFill>
                <a:srgbClr val="1F2A33"/>
              </a:solidFill>
            </a:endParaRPr>
          </a:p>
        </p:txBody>
      </p:sp>
      <p:sp>
        <p:nvSpPr>
          <p:cNvPr id="7" name="Right Arrow 6"/>
          <p:cNvSpPr/>
          <p:nvPr/>
        </p:nvSpPr>
        <p:spPr>
          <a:xfrm>
            <a:off x="3191256" y="2167128"/>
            <a:ext cx="256032" cy="274320"/>
          </a:xfrm>
          <a:prstGeom prst="rightArrow">
            <a:avLst/>
          </a:prstGeom>
          <a:solidFill>
            <a:srgbClr val="3F739B"/>
          </a:solidFill>
          <a:ln>
            <a:noFill/>
          </a:ln>
        </p:spPr>
        <p:txBody>
          <a:bodyPr rtlCol="0" anchor="ctr"/>
          <a:lstStyle/>
          <a:p>
            <a:pPr algn="ctr"/>
            <a:endParaRPr/>
          </a:p>
        </p:txBody>
      </p:sp>
      <p:sp>
        <p:nvSpPr>
          <p:cNvPr id="8" name="Rounded Rectangle 7"/>
          <p:cNvSpPr/>
          <p:nvPr/>
        </p:nvSpPr>
        <p:spPr>
          <a:xfrm>
            <a:off x="3502152" y="1417320"/>
            <a:ext cx="2377440" cy="1783080"/>
          </a:xfrm>
          <a:prstGeom prst="roundRect">
            <a:avLst>
              <a:gd name="adj" fmla="val 8000"/>
            </a:avLst>
          </a:prstGeom>
          <a:solidFill>
            <a:srgbClr val="EEF3F7"/>
          </a:solidFill>
          <a:ln>
            <a:noFill/>
          </a:ln>
        </p:spPr>
        <p:txBody>
          <a:bodyPr rtlCol="0" anchor="ctr"/>
          <a:lstStyle/>
          <a:p>
            <a:pPr algn="ctr"/>
            <a:endParaRPr/>
          </a:p>
        </p:txBody>
      </p:sp>
      <p:sp>
        <p:nvSpPr>
          <p:cNvPr id="9" name="TextBox 8"/>
          <p:cNvSpPr txBox="1"/>
          <p:nvPr/>
        </p:nvSpPr>
        <p:spPr>
          <a:xfrm>
            <a:off x="3666744" y="1572768"/>
            <a:ext cx="2112264" cy="600164"/>
          </a:xfrm>
          <a:prstGeom prst="rect">
            <a:avLst/>
          </a:prstGeom>
          <a:noFill/>
        </p:spPr>
        <p:txBody>
          <a:bodyPr wrap="square" lIns="0" tIns="0" rIns="0" bIns="0" anchor="t">
            <a:spAutoFit/>
          </a:bodyPr>
          <a:lstStyle/>
          <a:p>
            <a:pPr algn="l">
              <a:spcAft>
                <a:spcPts val="600"/>
              </a:spcAft>
            </a:pPr>
            <a:r>
              <a:rPr lang="en-GB" sz="1900" b="1" i="0" dirty="0">
                <a:solidFill>
                  <a:srgbClr val="1F394D"/>
                </a:solidFill>
              </a:rPr>
              <a:t>Interpretation scales</a:t>
            </a:r>
            <a:endParaRPr sz="1900" b="1" i="0" dirty="0">
              <a:solidFill>
                <a:srgbClr val="1F394D"/>
              </a:solidFill>
            </a:endParaRPr>
          </a:p>
          <a:p>
            <a:pPr algn="l"/>
            <a:r>
              <a:rPr sz="1500" b="0" i="0" dirty="0">
                <a:solidFill>
                  <a:srgbClr val="1F2A33"/>
                </a:solidFill>
              </a:rPr>
              <a:t>Probability, odds</a:t>
            </a:r>
            <a:r>
              <a:rPr lang="en-GB" sz="1500" b="0" i="0" dirty="0">
                <a:solidFill>
                  <a:srgbClr val="1F2A33"/>
                </a:solidFill>
              </a:rPr>
              <a:t>, </a:t>
            </a:r>
            <a:r>
              <a:rPr sz="1500" b="0" i="0" dirty="0">
                <a:solidFill>
                  <a:srgbClr val="1F2A33"/>
                </a:solidFill>
              </a:rPr>
              <a:t>log-odds</a:t>
            </a:r>
          </a:p>
        </p:txBody>
      </p:sp>
      <p:sp>
        <p:nvSpPr>
          <p:cNvPr id="10" name="Right Arrow 9"/>
          <p:cNvSpPr/>
          <p:nvPr/>
        </p:nvSpPr>
        <p:spPr>
          <a:xfrm>
            <a:off x="5934456" y="2167128"/>
            <a:ext cx="256032" cy="274320"/>
          </a:xfrm>
          <a:prstGeom prst="rightArrow">
            <a:avLst/>
          </a:prstGeom>
          <a:solidFill>
            <a:srgbClr val="3F739B"/>
          </a:solidFill>
          <a:ln>
            <a:noFill/>
          </a:ln>
        </p:spPr>
        <p:txBody>
          <a:bodyPr rtlCol="0" anchor="ctr"/>
          <a:lstStyle/>
          <a:p>
            <a:pPr algn="ctr"/>
            <a:endParaRPr/>
          </a:p>
        </p:txBody>
      </p:sp>
      <p:sp>
        <p:nvSpPr>
          <p:cNvPr id="11" name="Rounded Rectangle 10"/>
          <p:cNvSpPr/>
          <p:nvPr/>
        </p:nvSpPr>
        <p:spPr>
          <a:xfrm>
            <a:off x="6245352" y="1417320"/>
            <a:ext cx="2377440" cy="1783080"/>
          </a:xfrm>
          <a:prstGeom prst="roundRect">
            <a:avLst>
              <a:gd name="adj" fmla="val 8000"/>
            </a:avLst>
          </a:prstGeom>
          <a:solidFill>
            <a:srgbClr val="EEF3F7"/>
          </a:solidFill>
          <a:ln>
            <a:noFill/>
          </a:ln>
        </p:spPr>
        <p:txBody>
          <a:bodyPr rtlCol="0" anchor="ctr"/>
          <a:lstStyle/>
          <a:p>
            <a:pPr algn="ctr"/>
            <a:endParaRPr/>
          </a:p>
        </p:txBody>
      </p:sp>
      <p:sp>
        <p:nvSpPr>
          <p:cNvPr id="12" name="TextBox 11"/>
          <p:cNvSpPr txBox="1"/>
          <p:nvPr/>
        </p:nvSpPr>
        <p:spPr>
          <a:xfrm>
            <a:off x="6409944" y="1572768"/>
            <a:ext cx="2057400" cy="1508760"/>
          </a:xfrm>
          <a:prstGeom prst="rect">
            <a:avLst/>
          </a:prstGeom>
          <a:noFill/>
        </p:spPr>
        <p:txBody>
          <a:bodyPr wrap="square" lIns="0" tIns="0" rIns="0" bIns="0" anchor="t">
            <a:spAutoFit/>
          </a:bodyPr>
          <a:lstStyle/>
          <a:p>
            <a:pPr algn="l">
              <a:spcAft>
                <a:spcPts val="600"/>
              </a:spcAft>
            </a:pPr>
            <a:r>
              <a:rPr sz="1900" b="1" i="0" dirty="0">
                <a:solidFill>
                  <a:srgbClr val="1F394D"/>
                </a:solidFill>
              </a:rPr>
              <a:t>The logistic model</a:t>
            </a:r>
          </a:p>
          <a:p>
            <a:pPr algn="l"/>
            <a:r>
              <a:rPr sz="1500" b="0" i="0" dirty="0">
                <a:solidFill>
                  <a:srgbClr val="1F2A33"/>
                </a:solidFill>
              </a:rPr>
              <a:t>A straight line for the log-odds, an S-curve for the probability</a:t>
            </a:r>
          </a:p>
        </p:txBody>
      </p:sp>
      <p:sp>
        <p:nvSpPr>
          <p:cNvPr id="13" name="Right Arrow 12"/>
          <p:cNvSpPr/>
          <p:nvPr/>
        </p:nvSpPr>
        <p:spPr>
          <a:xfrm>
            <a:off x="8677656" y="2167128"/>
            <a:ext cx="256032" cy="274320"/>
          </a:xfrm>
          <a:prstGeom prst="rightArrow">
            <a:avLst/>
          </a:prstGeom>
          <a:solidFill>
            <a:srgbClr val="3F739B"/>
          </a:solidFill>
          <a:ln>
            <a:noFill/>
          </a:ln>
        </p:spPr>
        <p:txBody>
          <a:bodyPr rtlCol="0" anchor="ctr"/>
          <a:lstStyle/>
          <a:p>
            <a:pPr algn="ctr"/>
            <a:endParaRPr/>
          </a:p>
        </p:txBody>
      </p:sp>
      <p:sp>
        <p:nvSpPr>
          <p:cNvPr id="14" name="Rounded Rectangle 13"/>
          <p:cNvSpPr/>
          <p:nvPr/>
        </p:nvSpPr>
        <p:spPr>
          <a:xfrm>
            <a:off x="8988552" y="1417320"/>
            <a:ext cx="2377440" cy="1783080"/>
          </a:xfrm>
          <a:prstGeom prst="roundRect">
            <a:avLst>
              <a:gd name="adj" fmla="val 8000"/>
            </a:avLst>
          </a:prstGeom>
          <a:solidFill>
            <a:srgbClr val="1F394D"/>
          </a:solidFill>
          <a:ln>
            <a:noFill/>
          </a:ln>
        </p:spPr>
        <p:txBody>
          <a:bodyPr rtlCol="0" anchor="ctr"/>
          <a:lstStyle/>
          <a:p>
            <a:pPr algn="ctr"/>
            <a:endParaRPr/>
          </a:p>
        </p:txBody>
      </p:sp>
      <p:sp>
        <p:nvSpPr>
          <p:cNvPr id="15" name="TextBox 14"/>
          <p:cNvSpPr txBox="1"/>
          <p:nvPr/>
        </p:nvSpPr>
        <p:spPr>
          <a:xfrm>
            <a:off x="9153144" y="1572768"/>
            <a:ext cx="2057400" cy="1508760"/>
          </a:xfrm>
          <a:prstGeom prst="rect">
            <a:avLst/>
          </a:prstGeom>
          <a:noFill/>
        </p:spPr>
        <p:txBody>
          <a:bodyPr wrap="square" lIns="0" tIns="0" rIns="0" bIns="0" anchor="t">
            <a:spAutoFit/>
          </a:bodyPr>
          <a:lstStyle/>
          <a:p>
            <a:pPr algn="l">
              <a:spcAft>
                <a:spcPts val="600"/>
              </a:spcAft>
            </a:pPr>
            <a:r>
              <a:rPr sz="1900" b="1" i="0">
                <a:solidFill>
                  <a:srgbClr val="FFFFFF"/>
                </a:solidFill>
              </a:rPr>
              <a:t>Logistic regression in JASP</a:t>
            </a:r>
          </a:p>
          <a:p>
            <a:pPr algn="l"/>
            <a:r>
              <a:rPr sz="1500" b="0" i="0">
                <a:solidFill>
                  <a:srgbClr val="CCDDEA"/>
                </a:solidFill>
              </a:rPr>
              <a:t>Output, odds ratios, predicted probabilities and fit</a:t>
            </a:r>
          </a:p>
        </p:txBody>
      </p:sp>
      <p:sp>
        <p:nvSpPr>
          <p:cNvPr id="16" name="Rounded Rectangle 15"/>
          <p:cNvSpPr/>
          <p:nvPr/>
        </p:nvSpPr>
        <p:spPr>
          <a:xfrm>
            <a:off x="758952" y="3474720"/>
            <a:ext cx="10607040" cy="1097280"/>
          </a:xfrm>
          <a:prstGeom prst="roundRect">
            <a:avLst>
              <a:gd name="adj" fmla="val 8000"/>
            </a:avLst>
          </a:prstGeom>
          <a:solidFill>
            <a:srgbClr val="EEF3F7"/>
          </a:solidFill>
          <a:ln>
            <a:noFill/>
          </a:ln>
        </p:spPr>
        <p:txBody>
          <a:bodyPr rtlCol="0" anchor="ctr"/>
          <a:lstStyle/>
          <a:p>
            <a:pPr algn="ctr"/>
            <a:endParaRPr/>
          </a:p>
        </p:txBody>
      </p:sp>
      <p:sp>
        <p:nvSpPr>
          <p:cNvPr id="17" name="TextBox 16"/>
          <p:cNvSpPr txBox="1"/>
          <p:nvPr/>
        </p:nvSpPr>
        <p:spPr>
          <a:xfrm>
            <a:off x="987552" y="3584448"/>
            <a:ext cx="10149840" cy="914400"/>
          </a:xfrm>
          <a:prstGeom prst="rect">
            <a:avLst/>
          </a:prstGeom>
          <a:noFill/>
        </p:spPr>
        <p:txBody>
          <a:bodyPr wrap="square" lIns="0" tIns="0" rIns="0" bIns="0" anchor="ctr">
            <a:spAutoFit/>
          </a:bodyPr>
          <a:lstStyle/>
          <a:p>
            <a:pPr algn="l">
              <a:spcAft>
                <a:spcPts val="400"/>
              </a:spcAft>
            </a:pPr>
            <a:r>
              <a:rPr sz="1500" b="1" i="0" dirty="0">
                <a:solidFill>
                  <a:srgbClr val="3F739B"/>
                </a:solidFill>
              </a:rPr>
              <a:t>Running example</a:t>
            </a:r>
          </a:p>
          <a:p>
            <a:pPr algn="l"/>
            <a:r>
              <a:rPr sz="1800" b="0" i="0" dirty="0">
                <a:solidFill>
                  <a:srgbClr val="1F2A33"/>
                </a:solidFill>
              </a:rPr>
              <a:t>British Social Attitudes 2010: who is more likely to say that “most people can be trusted”? Does the probability differ by age and sex?</a:t>
            </a:r>
          </a:p>
        </p:txBody>
      </p:sp>
      <p:sp>
        <p:nvSpPr>
          <p:cNvPr id="18" name="Rounded Rectangle 17"/>
          <p:cNvSpPr/>
          <p:nvPr/>
        </p:nvSpPr>
        <p:spPr>
          <a:xfrm>
            <a:off x="758952" y="4754880"/>
            <a:ext cx="10607040" cy="1051560"/>
          </a:xfrm>
          <a:prstGeom prst="roundRect">
            <a:avLst>
              <a:gd name="adj" fmla="val 8000"/>
            </a:avLst>
          </a:prstGeom>
          <a:solidFill>
            <a:srgbClr val="1F394D"/>
          </a:solidFill>
          <a:ln>
            <a:noFill/>
          </a:ln>
        </p:spPr>
        <p:txBody>
          <a:bodyPr rtlCol="0" anchor="ctr"/>
          <a:lstStyle/>
          <a:p>
            <a:pPr algn="ctr"/>
            <a:endParaRPr/>
          </a:p>
        </p:txBody>
      </p:sp>
      <p:sp>
        <p:nvSpPr>
          <p:cNvPr id="19" name="TextBox 18"/>
          <p:cNvSpPr txBox="1"/>
          <p:nvPr/>
        </p:nvSpPr>
        <p:spPr>
          <a:xfrm>
            <a:off x="987552" y="5001096"/>
            <a:ext cx="10149840" cy="559127"/>
          </a:xfrm>
          <a:prstGeom prst="rect">
            <a:avLst/>
          </a:prstGeom>
          <a:noFill/>
        </p:spPr>
        <p:txBody>
          <a:bodyPr wrap="square" lIns="0" tIns="0" rIns="0" bIns="0" anchor="ctr">
            <a:spAutoFit/>
          </a:bodyPr>
          <a:lstStyle/>
          <a:p>
            <a:pPr algn="l">
              <a:spcAft>
                <a:spcPts val="400"/>
              </a:spcAft>
            </a:pPr>
            <a:r>
              <a:rPr sz="1500" b="1" i="0" dirty="0">
                <a:solidFill>
                  <a:srgbClr val="B88C00"/>
                </a:solidFill>
              </a:rPr>
              <a:t>Workshop</a:t>
            </a:r>
          </a:p>
          <a:p>
            <a:pPr algn="l"/>
            <a:r>
              <a:rPr sz="1800" b="0" i="0" dirty="0">
                <a:solidFill>
                  <a:srgbClr val="FFFFFF"/>
                </a:solidFill>
              </a:rPr>
              <a:t>Five surveys in </a:t>
            </a:r>
            <a:r>
              <a:rPr sz="1800" b="0" i="0" dirty="0" err="1">
                <a:solidFill>
                  <a:srgbClr val="FFFFFF"/>
                </a:solidFill>
              </a:rPr>
              <a:t>JASP</a:t>
            </a:r>
            <a:r>
              <a:rPr sz="1800" b="0" i="0" dirty="0">
                <a:solidFill>
                  <a:srgbClr val="FFFFFF"/>
                </a:solidFill>
              </a:rPr>
              <a:t>, from the </a:t>
            </a:r>
            <a:r>
              <a:rPr sz="1800" b="0" i="0" dirty="0" err="1">
                <a:solidFill>
                  <a:srgbClr val="FFFFFF"/>
                </a:solidFill>
              </a:rPr>
              <a:t>BSA</a:t>
            </a:r>
            <a:r>
              <a:rPr sz="1800" b="0" i="0" dirty="0">
                <a:solidFill>
                  <a:srgbClr val="FFFFFF"/>
                </a:solidFill>
              </a:rPr>
              <a:t> 2010 to post-pandemic Britain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Recap: the </a:t>
            </a:r>
            <a:r>
              <a:rPr lang="en-GB" dirty="0"/>
              <a:t>linear </a:t>
            </a:r>
            <a:r>
              <a:rPr dirty="0"/>
              <a:t>regression line</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graphicFrame>
        <p:nvGraphicFramePr>
          <p:cNvPr id="5" name="Recap chart"/>
          <p:cNvGraphicFramePr>
            <a:graphicFrameLocks noGrp="1"/>
          </p:cNvGraphicFramePr>
          <p:nvPr/>
        </p:nvGraphicFramePr>
        <p:xfrm>
          <a:off x="758952" y="1280160"/>
          <a:ext cx="67208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7726679" y="1417320"/>
            <a:ext cx="3639312" cy="1325880"/>
          </a:xfrm>
          <a:prstGeom prst="roundRect">
            <a:avLst>
              <a:gd name="adj" fmla="val 8000"/>
            </a:avLst>
          </a:prstGeom>
          <a:solidFill>
            <a:srgbClr val="EEF3F7"/>
          </a:solidFill>
          <a:ln>
            <a:noFill/>
          </a:ln>
        </p:spPr>
        <p:txBody>
          <a:bodyPr rtlCol="0" anchor="ctr"/>
          <a:lstStyle/>
          <a:p>
            <a:pPr algn="ctr"/>
            <a:endParaRPr/>
          </a:p>
        </p:txBody>
      </p:sp>
      <p:sp>
        <p:nvSpPr>
          <p:cNvPr id="7" name="TextBox 6"/>
          <p:cNvSpPr txBox="1"/>
          <p:nvPr/>
        </p:nvSpPr>
        <p:spPr>
          <a:xfrm>
            <a:off x="7927848" y="1554480"/>
            <a:ext cx="3246120" cy="1051560"/>
          </a:xfrm>
          <a:prstGeom prst="rect">
            <a:avLst/>
          </a:prstGeom>
          <a:noFill/>
        </p:spPr>
        <p:txBody>
          <a:bodyPr wrap="square" lIns="0" tIns="0" rIns="0" bIns="0" anchor="ctr">
            <a:spAutoFit/>
          </a:bodyPr>
          <a:lstStyle/>
          <a:p>
            <a:pPr algn="l">
              <a:spcAft>
                <a:spcPts val="400"/>
              </a:spcAft>
            </a:pPr>
            <a:r>
              <a:rPr sz="2000" b="1" i="0">
                <a:solidFill>
                  <a:srgbClr val="7A5C00"/>
                </a:solidFill>
              </a:rPr>
              <a:t>Intercept = 77.1</a:t>
            </a:r>
          </a:p>
          <a:p>
            <a:pPr algn="l"/>
            <a:r>
              <a:rPr sz="1500" b="0" i="0">
                <a:solidFill>
                  <a:srgbClr val="1F2A33"/>
                </a:solidFill>
              </a:rPr>
              <a:t>Predicted trust where inequality is 0: the point at which the line meets the vertical axis</a:t>
            </a:r>
          </a:p>
        </p:txBody>
      </p:sp>
      <p:sp>
        <p:nvSpPr>
          <p:cNvPr id="8" name="Rounded Rectangle 7"/>
          <p:cNvSpPr/>
          <p:nvPr/>
        </p:nvSpPr>
        <p:spPr>
          <a:xfrm>
            <a:off x="7726679" y="2880360"/>
            <a:ext cx="3639312" cy="1325880"/>
          </a:xfrm>
          <a:prstGeom prst="roundRect">
            <a:avLst>
              <a:gd name="adj" fmla="val 8000"/>
            </a:avLst>
          </a:prstGeom>
          <a:solidFill>
            <a:srgbClr val="EEF3F7"/>
          </a:solidFill>
          <a:ln>
            <a:noFill/>
          </a:ln>
        </p:spPr>
        <p:txBody>
          <a:bodyPr rtlCol="0" anchor="ctr"/>
          <a:lstStyle/>
          <a:p>
            <a:pPr algn="ctr"/>
            <a:endParaRPr/>
          </a:p>
        </p:txBody>
      </p:sp>
      <p:sp>
        <p:nvSpPr>
          <p:cNvPr id="9" name="TextBox 8"/>
          <p:cNvSpPr txBox="1"/>
          <p:nvPr/>
        </p:nvSpPr>
        <p:spPr>
          <a:xfrm>
            <a:off x="7927848" y="3017520"/>
            <a:ext cx="3246120" cy="1051560"/>
          </a:xfrm>
          <a:prstGeom prst="rect">
            <a:avLst/>
          </a:prstGeom>
          <a:noFill/>
        </p:spPr>
        <p:txBody>
          <a:bodyPr wrap="square" lIns="0" tIns="0" rIns="0" bIns="0" anchor="ctr">
            <a:spAutoFit/>
          </a:bodyPr>
          <a:lstStyle/>
          <a:p>
            <a:pPr algn="l">
              <a:spcAft>
                <a:spcPts val="400"/>
              </a:spcAft>
            </a:pPr>
            <a:r>
              <a:rPr sz="2000" b="1" i="0">
                <a:solidFill>
                  <a:srgbClr val="1F394D"/>
                </a:solidFill>
              </a:rPr>
              <a:t>Slope = −6.54</a:t>
            </a:r>
          </a:p>
          <a:p>
            <a:pPr algn="l"/>
            <a:r>
              <a:rPr sz="1500" b="0" i="0">
                <a:solidFill>
                  <a:srgbClr val="1F2A33"/>
                </a:solidFill>
              </a:rPr>
              <a:t>Change in predicted trust for each one-unit step in inequality</a:t>
            </a:r>
          </a:p>
        </p:txBody>
      </p:sp>
      <p:sp>
        <p:nvSpPr>
          <p:cNvPr id="10" name="Rounded Rectangle 9"/>
          <p:cNvSpPr/>
          <p:nvPr/>
        </p:nvSpPr>
        <p:spPr>
          <a:xfrm>
            <a:off x="7726679" y="4343400"/>
            <a:ext cx="3639312" cy="1463040"/>
          </a:xfrm>
          <a:prstGeom prst="roundRect">
            <a:avLst>
              <a:gd name="adj" fmla="val 8000"/>
            </a:avLst>
          </a:prstGeom>
          <a:solidFill>
            <a:srgbClr val="1F394D"/>
          </a:solidFill>
          <a:ln>
            <a:noFill/>
          </a:ln>
        </p:spPr>
        <p:txBody>
          <a:bodyPr rtlCol="0" anchor="ctr"/>
          <a:lstStyle/>
          <a:p>
            <a:pPr algn="ctr"/>
            <a:endParaRPr/>
          </a:p>
        </p:txBody>
      </p:sp>
      <p:sp>
        <p:nvSpPr>
          <p:cNvPr id="11" name="TextBox 10"/>
          <p:cNvSpPr txBox="1"/>
          <p:nvPr/>
        </p:nvSpPr>
        <p:spPr>
          <a:xfrm>
            <a:off x="7927848" y="4480560"/>
            <a:ext cx="3246120" cy="1188720"/>
          </a:xfrm>
          <a:prstGeom prst="rect">
            <a:avLst/>
          </a:prstGeom>
          <a:noFill/>
        </p:spPr>
        <p:txBody>
          <a:bodyPr wrap="square" lIns="0" tIns="0" rIns="0" bIns="0" anchor="ctr">
            <a:spAutoFit/>
          </a:bodyPr>
          <a:lstStyle/>
          <a:p>
            <a:pPr algn="l">
              <a:spcAft>
                <a:spcPts val="400"/>
              </a:spcAft>
            </a:pPr>
            <a:r>
              <a:rPr sz="2000" b="1" i="0">
                <a:solidFill>
                  <a:srgbClr val="B88C00"/>
                </a:solidFill>
              </a:rPr>
              <a:t>This week</a:t>
            </a:r>
          </a:p>
          <a:p>
            <a:pPr algn="l"/>
            <a:r>
              <a:rPr sz="1500" b="0" i="0">
                <a:solidFill>
                  <a:srgbClr val="FFFFFF"/>
                </a:solidFill>
              </a:rPr>
              <a:t>The outcome takes only two values: 1 (trusts) or 0 (doesn’t). The intercept and the slope return, measured on a new scale: the log-odds.</a:t>
            </a:r>
          </a:p>
        </p:txBody>
      </p:sp>
      <p:sp>
        <p:nvSpPr>
          <p:cNvPr id="12" name="TextBox 11"/>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Week 3 data: pickett2009.csv (Wilkinson &amp; Pickett 2009), 23 countries.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Binary outcomes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Rounded Rectangle 4"/>
          <p:cNvSpPr/>
          <p:nvPr/>
        </p:nvSpPr>
        <p:spPr>
          <a:xfrm>
            <a:off x="868680" y="1463040"/>
            <a:ext cx="274320" cy="274320"/>
          </a:xfrm>
          <a:prstGeom prst="roundRect">
            <a:avLst>
              <a:gd name="adj" fmla="val 12000"/>
            </a:avLst>
          </a:prstGeom>
          <a:solidFill>
            <a:srgbClr val="1F394D"/>
          </a:solidFill>
          <a:ln>
            <a:noFill/>
          </a:ln>
        </p:spPr>
        <p:txBody>
          <a:bodyPr rtlCol="0" anchor="ctr"/>
          <a:lstStyle/>
          <a:p>
            <a:pPr algn="ctr"/>
            <a:endParaRPr/>
          </a:p>
        </p:txBody>
      </p:sp>
      <p:sp>
        <p:nvSpPr>
          <p:cNvPr id="6" name="Rounded Rectangle 5"/>
          <p:cNvSpPr/>
          <p:nvPr/>
        </p:nvSpPr>
        <p:spPr>
          <a:xfrm>
            <a:off x="1207007" y="1463040"/>
            <a:ext cx="274320" cy="274320"/>
          </a:xfrm>
          <a:prstGeom prst="roundRect">
            <a:avLst>
              <a:gd name="adj" fmla="val 12000"/>
            </a:avLst>
          </a:prstGeom>
          <a:solidFill>
            <a:srgbClr val="1F394D"/>
          </a:solidFill>
          <a:ln>
            <a:noFill/>
          </a:ln>
        </p:spPr>
        <p:txBody>
          <a:bodyPr rtlCol="0" anchor="ctr"/>
          <a:lstStyle/>
          <a:p>
            <a:pPr algn="ctr"/>
            <a:endParaRPr/>
          </a:p>
        </p:txBody>
      </p:sp>
      <p:sp>
        <p:nvSpPr>
          <p:cNvPr id="7" name="Rounded Rectangle 6"/>
          <p:cNvSpPr/>
          <p:nvPr/>
        </p:nvSpPr>
        <p:spPr>
          <a:xfrm>
            <a:off x="1545336" y="1463040"/>
            <a:ext cx="274320" cy="274320"/>
          </a:xfrm>
          <a:prstGeom prst="roundRect">
            <a:avLst>
              <a:gd name="adj" fmla="val 12000"/>
            </a:avLst>
          </a:prstGeom>
          <a:solidFill>
            <a:srgbClr val="1F394D"/>
          </a:solidFill>
          <a:ln>
            <a:noFill/>
          </a:ln>
        </p:spPr>
        <p:txBody>
          <a:bodyPr rtlCol="0" anchor="ctr"/>
          <a:lstStyle/>
          <a:p>
            <a:pPr algn="ctr"/>
            <a:endParaRPr/>
          </a:p>
        </p:txBody>
      </p:sp>
      <p:sp>
        <p:nvSpPr>
          <p:cNvPr id="8" name="Rounded Rectangle 7"/>
          <p:cNvSpPr/>
          <p:nvPr/>
        </p:nvSpPr>
        <p:spPr>
          <a:xfrm>
            <a:off x="1883663" y="1463040"/>
            <a:ext cx="274320" cy="274320"/>
          </a:xfrm>
          <a:prstGeom prst="roundRect">
            <a:avLst>
              <a:gd name="adj" fmla="val 12000"/>
            </a:avLst>
          </a:prstGeom>
          <a:solidFill>
            <a:srgbClr val="1F394D"/>
          </a:solidFill>
          <a:ln>
            <a:noFill/>
          </a:ln>
        </p:spPr>
        <p:txBody>
          <a:bodyPr rtlCol="0" anchor="ctr"/>
          <a:lstStyle/>
          <a:p>
            <a:pPr algn="ctr"/>
            <a:endParaRPr/>
          </a:p>
        </p:txBody>
      </p:sp>
      <p:sp>
        <p:nvSpPr>
          <p:cNvPr id="9" name="Rounded Rectangle 8"/>
          <p:cNvSpPr/>
          <p:nvPr/>
        </p:nvSpPr>
        <p:spPr>
          <a:xfrm>
            <a:off x="2221991" y="1463040"/>
            <a:ext cx="274320" cy="274320"/>
          </a:xfrm>
          <a:prstGeom prst="roundRect">
            <a:avLst>
              <a:gd name="adj" fmla="val 12000"/>
            </a:avLst>
          </a:prstGeom>
          <a:solidFill>
            <a:srgbClr val="1F394D"/>
          </a:solidFill>
          <a:ln>
            <a:noFill/>
          </a:ln>
        </p:spPr>
        <p:txBody>
          <a:bodyPr rtlCol="0" anchor="ctr"/>
          <a:lstStyle/>
          <a:p>
            <a:pPr algn="ctr"/>
            <a:endParaRPr/>
          </a:p>
        </p:txBody>
      </p:sp>
      <p:sp>
        <p:nvSpPr>
          <p:cNvPr id="10" name="Rounded Rectangle 9"/>
          <p:cNvSpPr/>
          <p:nvPr/>
        </p:nvSpPr>
        <p:spPr>
          <a:xfrm>
            <a:off x="2560320" y="1463040"/>
            <a:ext cx="274320" cy="274320"/>
          </a:xfrm>
          <a:prstGeom prst="roundRect">
            <a:avLst>
              <a:gd name="adj" fmla="val 12000"/>
            </a:avLst>
          </a:prstGeom>
          <a:solidFill>
            <a:srgbClr val="1F394D"/>
          </a:solidFill>
          <a:ln>
            <a:noFill/>
          </a:ln>
        </p:spPr>
        <p:txBody>
          <a:bodyPr rtlCol="0" anchor="ctr"/>
          <a:lstStyle/>
          <a:p>
            <a:pPr algn="ctr"/>
            <a:endParaRPr/>
          </a:p>
        </p:txBody>
      </p:sp>
      <p:sp>
        <p:nvSpPr>
          <p:cNvPr id="11" name="Rounded Rectangle 10"/>
          <p:cNvSpPr/>
          <p:nvPr/>
        </p:nvSpPr>
        <p:spPr>
          <a:xfrm>
            <a:off x="2898648" y="1463040"/>
            <a:ext cx="274320" cy="274320"/>
          </a:xfrm>
          <a:prstGeom prst="roundRect">
            <a:avLst>
              <a:gd name="adj" fmla="val 12000"/>
            </a:avLst>
          </a:prstGeom>
          <a:solidFill>
            <a:srgbClr val="1F394D"/>
          </a:solidFill>
          <a:ln>
            <a:noFill/>
          </a:ln>
        </p:spPr>
        <p:txBody>
          <a:bodyPr rtlCol="0" anchor="ctr"/>
          <a:lstStyle/>
          <a:p>
            <a:pPr algn="ctr"/>
            <a:endParaRPr/>
          </a:p>
        </p:txBody>
      </p:sp>
      <p:sp>
        <p:nvSpPr>
          <p:cNvPr id="12" name="Rounded Rectangle 11"/>
          <p:cNvSpPr/>
          <p:nvPr/>
        </p:nvSpPr>
        <p:spPr>
          <a:xfrm>
            <a:off x="3236976" y="1463040"/>
            <a:ext cx="274320" cy="274320"/>
          </a:xfrm>
          <a:prstGeom prst="roundRect">
            <a:avLst>
              <a:gd name="adj" fmla="val 12000"/>
            </a:avLst>
          </a:prstGeom>
          <a:solidFill>
            <a:srgbClr val="1F394D"/>
          </a:solidFill>
          <a:ln>
            <a:noFill/>
          </a:ln>
        </p:spPr>
        <p:txBody>
          <a:bodyPr rtlCol="0" anchor="ctr"/>
          <a:lstStyle/>
          <a:p>
            <a:pPr algn="ctr"/>
            <a:endParaRPr/>
          </a:p>
        </p:txBody>
      </p:sp>
      <p:sp>
        <p:nvSpPr>
          <p:cNvPr id="13" name="Rounded Rectangle 12"/>
          <p:cNvSpPr/>
          <p:nvPr/>
        </p:nvSpPr>
        <p:spPr>
          <a:xfrm>
            <a:off x="3575304" y="1463040"/>
            <a:ext cx="274320" cy="274320"/>
          </a:xfrm>
          <a:prstGeom prst="roundRect">
            <a:avLst>
              <a:gd name="adj" fmla="val 12000"/>
            </a:avLst>
          </a:prstGeom>
          <a:solidFill>
            <a:srgbClr val="1F394D"/>
          </a:solidFill>
          <a:ln>
            <a:noFill/>
          </a:ln>
        </p:spPr>
        <p:txBody>
          <a:bodyPr rtlCol="0" anchor="ctr"/>
          <a:lstStyle/>
          <a:p>
            <a:pPr algn="ctr"/>
            <a:endParaRPr/>
          </a:p>
        </p:txBody>
      </p:sp>
      <p:sp>
        <p:nvSpPr>
          <p:cNvPr id="14" name="Rounded Rectangle 13"/>
          <p:cNvSpPr/>
          <p:nvPr/>
        </p:nvSpPr>
        <p:spPr>
          <a:xfrm>
            <a:off x="3913632" y="1463040"/>
            <a:ext cx="274320" cy="274320"/>
          </a:xfrm>
          <a:prstGeom prst="roundRect">
            <a:avLst>
              <a:gd name="adj" fmla="val 12000"/>
            </a:avLst>
          </a:prstGeom>
          <a:solidFill>
            <a:srgbClr val="1F394D"/>
          </a:solidFill>
          <a:ln>
            <a:noFill/>
          </a:ln>
        </p:spPr>
        <p:txBody>
          <a:bodyPr rtlCol="0" anchor="ctr"/>
          <a:lstStyle/>
          <a:p>
            <a:pPr algn="ctr"/>
            <a:endParaRPr/>
          </a:p>
        </p:txBody>
      </p:sp>
      <p:sp>
        <p:nvSpPr>
          <p:cNvPr id="15" name="Rounded Rectangle 14"/>
          <p:cNvSpPr/>
          <p:nvPr/>
        </p:nvSpPr>
        <p:spPr>
          <a:xfrm>
            <a:off x="868680" y="1801368"/>
            <a:ext cx="274320" cy="274320"/>
          </a:xfrm>
          <a:prstGeom prst="roundRect">
            <a:avLst>
              <a:gd name="adj" fmla="val 12000"/>
            </a:avLst>
          </a:prstGeom>
          <a:solidFill>
            <a:srgbClr val="1F394D"/>
          </a:solidFill>
          <a:ln>
            <a:noFill/>
          </a:ln>
        </p:spPr>
        <p:txBody>
          <a:bodyPr rtlCol="0" anchor="ctr"/>
          <a:lstStyle/>
          <a:p>
            <a:pPr algn="ctr"/>
            <a:endParaRPr/>
          </a:p>
        </p:txBody>
      </p:sp>
      <p:sp>
        <p:nvSpPr>
          <p:cNvPr id="16" name="Rounded Rectangle 15"/>
          <p:cNvSpPr/>
          <p:nvPr/>
        </p:nvSpPr>
        <p:spPr>
          <a:xfrm>
            <a:off x="1207007" y="1801368"/>
            <a:ext cx="274320" cy="274320"/>
          </a:xfrm>
          <a:prstGeom prst="roundRect">
            <a:avLst>
              <a:gd name="adj" fmla="val 12000"/>
            </a:avLst>
          </a:prstGeom>
          <a:solidFill>
            <a:srgbClr val="1F394D"/>
          </a:solidFill>
          <a:ln>
            <a:noFill/>
          </a:ln>
        </p:spPr>
        <p:txBody>
          <a:bodyPr rtlCol="0" anchor="ctr"/>
          <a:lstStyle/>
          <a:p>
            <a:pPr algn="ctr"/>
            <a:endParaRPr/>
          </a:p>
        </p:txBody>
      </p:sp>
      <p:sp>
        <p:nvSpPr>
          <p:cNvPr id="17" name="Rounded Rectangle 16"/>
          <p:cNvSpPr/>
          <p:nvPr/>
        </p:nvSpPr>
        <p:spPr>
          <a:xfrm>
            <a:off x="1545336" y="1801368"/>
            <a:ext cx="274320" cy="274320"/>
          </a:xfrm>
          <a:prstGeom prst="roundRect">
            <a:avLst>
              <a:gd name="adj" fmla="val 12000"/>
            </a:avLst>
          </a:prstGeom>
          <a:solidFill>
            <a:srgbClr val="1F394D"/>
          </a:solidFill>
          <a:ln>
            <a:noFill/>
          </a:ln>
        </p:spPr>
        <p:txBody>
          <a:bodyPr rtlCol="0" anchor="ctr"/>
          <a:lstStyle/>
          <a:p>
            <a:pPr algn="ctr"/>
            <a:endParaRPr/>
          </a:p>
        </p:txBody>
      </p:sp>
      <p:sp>
        <p:nvSpPr>
          <p:cNvPr id="18" name="Rounded Rectangle 17"/>
          <p:cNvSpPr/>
          <p:nvPr/>
        </p:nvSpPr>
        <p:spPr>
          <a:xfrm>
            <a:off x="1883663" y="1801368"/>
            <a:ext cx="274320" cy="274320"/>
          </a:xfrm>
          <a:prstGeom prst="roundRect">
            <a:avLst>
              <a:gd name="adj" fmla="val 12000"/>
            </a:avLst>
          </a:prstGeom>
          <a:solidFill>
            <a:srgbClr val="1F394D"/>
          </a:solidFill>
          <a:ln>
            <a:noFill/>
          </a:ln>
        </p:spPr>
        <p:txBody>
          <a:bodyPr rtlCol="0" anchor="ctr"/>
          <a:lstStyle/>
          <a:p>
            <a:pPr algn="ctr"/>
            <a:endParaRPr/>
          </a:p>
        </p:txBody>
      </p:sp>
      <p:sp>
        <p:nvSpPr>
          <p:cNvPr id="19" name="Rounded Rectangle 18"/>
          <p:cNvSpPr/>
          <p:nvPr/>
        </p:nvSpPr>
        <p:spPr>
          <a:xfrm>
            <a:off x="2221991" y="1801368"/>
            <a:ext cx="274320" cy="274320"/>
          </a:xfrm>
          <a:prstGeom prst="roundRect">
            <a:avLst>
              <a:gd name="adj" fmla="val 12000"/>
            </a:avLst>
          </a:prstGeom>
          <a:solidFill>
            <a:srgbClr val="1F394D"/>
          </a:solidFill>
          <a:ln>
            <a:noFill/>
          </a:ln>
        </p:spPr>
        <p:txBody>
          <a:bodyPr rtlCol="0" anchor="ctr"/>
          <a:lstStyle/>
          <a:p>
            <a:pPr algn="ctr"/>
            <a:endParaRPr/>
          </a:p>
        </p:txBody>
      </p:sp>
      <p:sp>
        <p:nvSpPr>
          <p:cNvPr id="20" name="Rounded Rectangle 19"/>
          <p:cNvSpPr/>
          <p:nvPr/>
        </p:nvSpPr>
        <p:spPr>
          <a:xfrm>
            <a:off x="2560320" y="1801368"/>
            <a:ext cx="274320" cy="274320"/>
          </a:xfrm>
          <a:prstGeom prst="roundRect">
            <a:avLst>
              <a:gd name="adj" fmla="val 12000"/>
            </a:avLst>
          </a:prstGeom>
          <a:solidFill>
            <a:srgbClr val="1F394D"/>
          </a:solidFill>
          <a:ln>
            <a:noFill/>
          </a:ln>
        </p:spPr>
        <p:txBody>
          <a:bodyPr rtlCol="0" anchor="ctr"/>
          <a:lstStyle/>
          <a:p>
            <a:pPr algn="ctr"/>
            <a:endParaRPr/>
          </a:p>
        </p:txBody>
      </p:sp>
      <p:sp>
        <p:nvSpPr>
          <p:cNvPr id="21" name="Rounded Rectangle 20"/>
          <p:cNvSpPr/>
          <p:nvPr/>
        </p:nvSpPr>
        <p:spPr>
          <a:xfrm>
            <a:off x="2898648" y="1801368"/>
            <a:ext cx="274320" cy="274320"/>
          </a:xfrm>
          <a:prstGeom prst="roundRect">
            <a:avLst>
              <a:gd name="adj" fmla="val 12000"/>
            </a:avLst>
          </a:prstGeom>
          <a:solidFill>
            <a:srgbClr val="1F394D"/>
          </a:solidFill>
          <a:ln>
            <a:noFill/>
          </a:ln>
        </p:spPr>
        <p:txBody>
          <a:bodyPr rtlCol="0" anchor="ctr"/>
          <a:lstStyle/>
          <a:p>
            <a:pPr algn="ctr"/>
            <a:endParaRPr/>
          </a:p>
        </p:txBody>
      </p:sp>
      <p:sp>
        <p:nvSpPr>
          <p:cNvPr id="22" name="Rounded Rectangle 21"/>
          <p:cNvSpPr/>
          <p:nvPr/>
        </p:nvSpPr>
        <p:spPr>
          <a:xfrm>
            <a:off x="3236976" y="1801368"/>
            <a:ext cx="274320" cy="274320"/>
          </a:xfrm>
          <a:prstGeom prst="roundRect">
            <a:avLst>
              <a:gd name="adj" fmla="val 12000"/>
            </a:avLst>
          </a:prstGeom>
          <a:solidFill>
            <a:srgbClr val="1F394D"/>
          </a:solidFill>
          <a:ln>
            <a:noFill/>
          </a:ln>
        </p:spPr>
        <p:txBody>
          <a:bodyPr rtlCol="0" anchor="ctr"/>
          <a:lstStyle/>
          <a:p>
            <a:pPr algn="ctr"/>
            <a:endParaRPr/>
          </a:p>
        </p:txBody>
      </p:sp>
      <p:sp>
        <p:nvSpPr>
          <p:cNvPr id="23" name="Rounded Rectangle 22"/>
          <p:cNvSpPr/>
          <p:nvPr/>
        </p:nvSpPr>
        <p:spPr>
          <a:xfrm>
            <a:off x="3575304" y="1801368"/>
            <a:ext cx="274320" cy="274320"/>
          </a:xfrm>
          <a:prstGeom prst="roundRect">
            <a:avLst>
              <a:gd name="adj" fmla="val 12000"/>
            </a:avLst>
          </a:prstGeom>
          <a:solidFill>
            <a:srgbClr val="1F394D"/>
          </a:solidFill>
          <a:ln>
            <a:noFill/>
          </a:ln>
        </p:spPr>
        <p:txBody>
          <a:bodyPr rtlCol="0" anchor="ctr"/>
          <a:lstStyle/>
          <a:p>
            <a:pPr algn="ctr"/>
            <a:endParaRPr/>
          </a:p>
        </p:txBody>
      </p:sp>
      <p:sp>
        <p:nvSpPr>
          <p:cNvPr id="24" name="Rounded Rectangle 23"/>
          <p:cNvSpPr/>
          <p:nvPr/>
        </p:nvSpPr>
        <p:spPr>
          <a:xfrm>
            <a:off x="3913632" y="1801368"/>
            <a:ext cx="274320" cy="274320"/>
          </a:xfrm>
          <a:prstGeom prst="roundRect">
            <a:avLst>
              <a:gd name="adj" fmla="val 12000"/>
            </a:avLst>
          </a:prstGeom>
          <a:solidFill>
            <a:srgbClr val="1F394D"/>
          </a:solidFill>
          <a:ln>
            <a:noFill/>
          </a:ln>
        </p:spPr>
        <p:txBody>
          <a:bodyPr rtlCol="0" anchor="ctr"/>
          <a:lstStyle/>
          <a:p>
            <a:pPr algn="ctr"/>
            <a:endParaRPr/>
          </a:p>
        </p:txBody>
      </p:sp>
      <p:sp>
        <p:nvSpPr>
          <p:cNvPr id="25" name="Rounded Rectangle 24"/>
          <p:cNvSpPr/>
          <p:nvPr/>
        </p:nvSpPr>
        <p:spPr>
          <a:xfrm>
            <a:off x="868680" y="2139696"/>
            <a:ext cx="274320" cy="274320"/>
          </a:xfrm>
          <a:prstGeom prst="roundRect">
            <a:avLst>
              <a:gd name="adj" fmla="val 12000"/>
            </a:avLst>
          </a:prstGeom>
          <a:solidFill>
            <a:srgbClr val="1F394D"/>
          </a:solidFill>
          <a:ln>
            <a:noFill/>
          </a:ln>
        </p:spPr>
        <p:txBody>
          <a:bodyPr rtlCol="0" anchor="ctr"/>
          <a:lstStyle/>
          <a:p>
            <a:pPr algn="ctr"/>
            <a:endParaRPr/>
          </a:p>
        </p:txBody>
      </p:sp>
      <p:sp>
        <p:nvSpPr>
          <p:cNvPr id="26" name="Rounded Rectangle 25"/>
          <p:cNvSpPr/>
          <p:nvPr/>
        </p:nvSpPr>
        <p:spPr>
          <a:xfrm>
            <a:off x="1207007" y="2139696"/>
            <a:ext cx="274320" cy="274320"/>
          </a:xfrm>
          <a:prstGeom prst="roundRect">
            <a:avLst>
              <a:gd name="adj" fmla="val 12000"/>
            </a:avLst>
          </a:prstGeom>
          <a:solidFill>
            <a:srgbClr val="1F394D"/>
          </a:solidFill>
          <a:ln>
            <a:noFill/>
          </a:ln>
        </p:spPr>
        <p:txBody>
          <a:bodyPr rtlCol="0" anchor="ctr"/>
          <a:lstStyle/>
          <a:p>
            <a:pPr algn="ctr"/>
            <a:endParaRPr/>
          </a:p>
        </p:txBody>
      </p:sp>
      <p:sp>
        <p:nvSpPr>
          <p:cNvPr id="27" name="Rounded Rectangle 26"/>
          <p:cNvSpPr/>
          <p:nvPr/>
        </p:nvSpPr>
        <p:spPr>
          <a:xfrm>
            <a:off x="1545336" y="2139696"/>
            <a:ext cx="274320" cy="274320"/>
          </a:xfrm>
          <a:prstGeom prst="roundRect">
            <a:avLst>
              <a:gd name="adj" fmla="val 12000"/>
            </a:avLst>
          </a:prstGeom>
          <a:solidFill>
            <a:srgbClr val="1F394D"/>
          </a:solidFill>
          <a:ln>
            <a:noFill/>
          </a:ln>
        </p:spPr>
        <p:txBody>
          <a:bodyPr rtlCol="0" anchor="ctr"/>
          <a:lstStyle/>
          <a:p>
            <a:pPr algn="ctr"/>
            <a:endParaRPr/>
          </a:p>
        </p:txBody>
      </p:sp>
      <p:sp>
        <p:nvSpPr>
          <p:cNvPr id="28" name="Rounded Rectangle 27"/>
          <p:cNvSpPr/>
          <p:nvPr/>
        </p:nvSpPr>
        <p:spPr>
          <a:xfrm>
            <a:off x="1883663" y="2139696"/>
            <a:ext cx="274320" cy="274320"/>
          </a:xfrm>
          <a:prstGeom prst="roundRect">
            <a:avLst>
              <a:gd name="adj" fmla="val 12000"/>
            </a:avLst>
          </a:prstGeom>
          <a:solidFill>
            <a:srgbClr val="1F394D"/>
          </a:solidFill>
          <a:ln>
            <a:noFill/>
          </a:ln>
        </p:spPr>
        <p:txBody>
          <a:bodyPr rtlCol="0" anchor="ctr"/>
          <a:lstStyle/>
          <a:p>
            <a:pPr algn="ctr"/>
            <a:endParaRPr/>
          </a:p>
        </p:txBody>
      </p:sp>
      <p:sp>
        <p:nvSpPr>
          <p:cNvPr id="29" name="Rounded Rectangle 28"/>
          <p:cNvSpPr/>
          <p:nvPr/>
        </p:nvSpPr>
        <p:spPr>
          <a:xfrm>
            <a:off x="2221991" y="2139696"/>
            <a:ext cx="274320" cy="274320"/>
          </a:xfrm>
          <a:prstGeom prst="roundRect">
            <a:avLst>
              <a:gd name="adj" fmla="val 12000"/>
            </a:avLst>
          </a:prstGeom>
          <a:solidFill>
            <a:srgbClr val="1F394D"/>
          </a:solidFill>
          <a:ln>
            <a:noFill/>
          </a:ln>
        </p:spPr>
        <p:txBody>
          <a:bodyPr rtlCol="0" anchor="ctr"/>
          <a:lstStyle/>
          <a:p>
            <a:pPr algn="ctr"/>
            <a:endParaRPr/>
          </a:p>
        </p:txBody>
      </p:sp>
      <p:sp>
        <p:nvSpPr>
          <p:cNvPr id="30" name="Rounded Rectangle 29"/>
          <p:cNvSpPr/>
          <p:nvPr/>
        </p:nvSpPr>
        <p:spPr>
          <a:xfrm>
            <a:off x="2560320" y="2139696"/>
            <a:ext cx="274320" cy="274320"/>
          </a:xfrm>
          <a:prstGeom prst="roundRect">
            <a:avLst>
              <a:gd name="adj" fmla="val 12000"/>
            </a:avLst>
          </a:prstGeom>
          <a:solidFill>
            <a:srgbClr val="1F394D"/>
          </a:solidFill>
          <a:ln>
            <a:noFill/>
          </a:ln>
        </p:spPr>
        <p:txBody>
          <a:bodyPr rtlCol="0" anchor="ctr"/>
          <a:lstStyle/>
          <a:p>
            <a:pPr algn="ctr"/>
            <a:endParaRPr/>
          </a:p>
        </p:txBody>
      </p:sp>
      <p:sp>
        <p:nvSpPr>
          <p:cNvPr id="31" name="Rounded Rectangle 30"/>
          <p:cNvSpPr/>
          <p:nvPr/>
        </p:nvSpPr>
        <p:spPr>
          <a:xfrm>
            <a:off x="2898648" y="2139696"/>
            <a:ext cx="274320" cy="274320"/>
          </a:xfrm>
          <a:prstGeom prst="roundRect">
            <a:avLst>
              <a:gd name="adj" fmla="val 12000"/>
            </a:avLst>
          </a:prstGeom>
          <a:solidFill>
            <a:srgbClr val="1F394D"/>
          </a:solidFill>
          <a:ln>
            <a:noFill/>
          </a:ln>
        </p:spPr>
        <p:txBody>
          <a:bodyPr rtlCol="0" anchor="ctr"/>
          <a:lstStyle/>
          <a:p>
            <a:pPr algn="ctr"/>
            <a:endParaRPr/>
          </a:p>
        </p:txBody>
      </p:sp>
      <p:sp>
        <p:nvSpPr>
          <p:cNvPr id="32" name="Rounded Rectangle 31"/>
          <p:cNvSpPr/>
          <p:nvPr/>
        </p:nvSpPr>
        <p:spPr>
          <a:xfrm>
            <a:off x="3236976" y="2139696"/>
            <a:ext cx="274320" cy="274320"/>
          </a:xfrm>
          <a:prstGeom prst="roundRect">
            <a:avLst>
              <a:gd name="adj" fmla="val 12000"/>
            </a:avLst>
          </a:prstGeom>
          <a:solidFill>
            <a:srgbClr val="1F394D"/>
          </a:solidFill>
          <a:ln>
            <a:noFill/>
          </a:ln>
        </p:spPr>
        <p:txBody>
          <a:bodyPr rtlCol="0" anchor="ctr"/>
          <a:lstStyle/>
          <a:p>
            <a:pPr algn="ctr"/>
            <a:endParaRPr/>
          </a:p>
        </p:txBody>
      </p:sp>
      <p:sp>
        <p:nvSpPr>
          <p:cNvPr id="33" name="Rounded Rectangle 32"/>
          <p:cNvSpPr/>
          <p:nvPr/>
        </p:nvSpPr>
        <p:spPr>
          <a:xfrm>
            <a:off x="3575304" y="2139696"/>
            <a:ext cx="274320" cy="274320"/>
          </a:xfrm>
          <a:prstGeom prst="roundRect">
            <a:avLst>
              <a:gd name="adj" fmla="val 12000"/>
            </a:avLst>
          </a:prstGeom>
          <a:solidFill>
            <a:srgbClr val="1F394D"/>
          </a:solidFill>
          <a:ln>
            <a:noFill/>
          </a:ln>
        </p:spPr>
        <p:txBody>
          <a:bodyPr rtlCol="0" anchor="ctr"/>
          <a:lstStyle/>
          <a:p>
            <a:pPr algn="ctr"/>
            <a:endParaRPr/>
          </a:p>
        </p:txBody>
      </p:sp>
      <p:sp>
        <p:nvSpPr>
          <p:cNvPr id="34" name="Rounded Rectangle 33"/>
          <p:cNvSpPr/>
          <p:nvPr/>
        </p:nvSpPr>
        <p:spPr>
          <a:xfrm>
            <a:off x="3913632" y="2139696"/>
            <a:ext cx="274320" cy="274320"/>
          </a:xfrm>
          <a:prstGeom prst="roundRect">
            <a:avLst>
              <a:gd name="adj" fmla="val 12000"/>
            </a:avLst>
          </a:prstGeom>
          <a:solidFill>
            <a:srgbClr val="1F394D"/>
          </a:solidFill>
          <a:ln>
            <a:noFill/>
          </a:ln>
        </p:spPr>
        <p:txBody>
          <a:bodyPr rtlCol="0" anchor="ctr"/>
          <a:lstStyle/>
          <a:p>
            <a:pPr algn="ctr"/>
            <a:endParaRPr/>
          </a:p>
        </p:txBody>
      </p:sp>
      <p:sp>
        <p:nvSpPr>
          <p:cNvPr id="35" name="Rounded Rectangle 34"/>
          <p:cNvSpPr/>
          <p:nvPr/>
        </p:nvSpPr>
        <p:spPr>
          <a:xfrm>
            <a:off x="868680" y="2478024"/>
            <a:ext cx="274320" cy="274320"/>
          </a:xfrm>
          <a:prstGeom prst="roundRect">
            <a:avLst>
              <a:gd name="adj" fmla="val 12000"/>
            </a:avLst>
          </a:prstGeom>
          <a:solidFill>
            <a:srgbClr val="1F394D"/>
          </a:solidFill>
          <a:ln>
            <a:noFill/>
          </a:ln>
        </p:spPr>
        <p:txBody>
          <a:bodyPr rtlCol="0" anchor="ctr"/>
          <a:lstStyle/>
          <a:p>
            <a:pPr algn="ctr"/>
            <a:endParaRPr/>
          </a:p>
        </p:txBody>
      </p:sp>
      <p:sp>
        <p:nvSpPr>
          <p:cNvPr id="36" name="Rounded Rectangle 35"/>
          <p:cNvSpPr/>
          <p:nvPr/>
        </p:nvSpPr>
        <p:spPr>
          <a:xfrm>
            <a:off x="1207007" y="2478024"/>
            <a:ext cx="274320" cy="274320"/>
          </a:xfrm>
          <a:prstGeom prst="roundRect">
            <a:avLst>
              <a:gd name="adj" fmla="val 12000"/>
            </a:avLst>
          </a:prstGeom>
          <a:solidFill>
            <a:srgbClr val="1F394D"/>
          </a:solidFill>
          <a:ln>
            <a:noFill/>
          </a:ln>
        </p:spPr>
        <p:txBody>
          <a:bodyPr rtlCol="0" anchor="ctr"/>
          <a:lstStyle/>
          <a:p>
            <a:pPr algn="ctr"/>
            <a:endParaRPr/>
          </a:p>
        </p:txBody>
      </p:sp>
      <p:sp>
        <p:nvSpPr>
          <p:cNvPr id="37" name="Rounded Rectangle 36"/>
          <p:cNvSpPr/>
          <p:nvPr/>
        </p:nvSpPr>
        <p:spPr>
          <a:xfrm>
            <a:off x="1545336" y="2478024"/>
            <a:ext cx="274320" cy="274320"/>
          </a:xfrm>
          <a:prstGeom prst="roundRect">
            <a:avLst>
              <a:gd name="adj" fmla="val 12000"/>
            </a:avLst>
          </a:prstGeom>
          <a:solidFill>
            <a:srgbClr val="1F394D"/>
          </a:solidFill>
          <a:ln>
            <a:noFill/>
          </a:ln>
        </p:spPr>
        <p:txBody>
          <a:bodyPr rtlCol="0" anchor="ctr"/>
          <a:lstStyle/>
          <a:p>
            <a:pPr algn="ctr"/>
            <a:endParaRPr/>
          </a:p>
        </p:txBody>
      </p:sp>
      <p:sp>
        <p:nvSpPr>
          <p:cNvPr id="38" name="Rounded Rectangle 37"/>
          <p:cNvSpPr/>
          <p:nvPr/>
        </p:nvSpPr>
        <p:spPr>
          <a:xfrm>
            <a:off x="1883663" y="2478024"/>
            <a:ext cx="274320" cy="274320"/>
          </a:xfrm>
          <a:prstGeom prst="roundRect">
            <a:avLst>
              <a:gd name="adj" fmla="val 12000"/>
            </a:avLst>
          </a:prstGeom>
          <a:solidFill>
            <a:srgbClr val="1F394D"/>
          </a:solidFill>
          <a:ln>
            <a:noFill/>
          </a:ln>
        </p:spPr>
        <p:txBody>
          <a:bodyPr rtlCol="0" anchor="ctr"/>
          <a:lstStyle/>
          <a:p>
            <a:pPr algn="ctr"/>
            <a:endParaRPr/>
          </a:p>
        </p:txBody>
      </p:sp>
      <p:sp>
        <p:nvSpPr>
          <p:cNvPr id="39" name="Rounded Rectangle 38"/>
          <p:cNvSpPr/>
          <p:nvPr/>
        </p:nvSpPr>
        <p:spPr>
          <a:xfrm>
            <a:off x="2221991" y="2478024"/>
            <a:ext cx="274320" cy="274320"/>
          </a:xfrm>
          <a:prstGeom prst="roundRect">
            <a:avLst>
              <a:gd name="adj" fmla="val 12000"/>
            </a:avLst>
          </a:prstGeom>
          <a:solidFill>
            <a:srgbClr val="1F394D"/>
          </a:solidFill>
          <a:ln>
            <a:noFill/>
          </a:ln>
        </p:spPr>
        <p:txBody>
          <a:bodyPr rtlCol="0" anchor="ctr"/>
          <a:lstStyle/>
          <a:p>
            <a:pPr algn="ctr"/>
            <a:endParaRPr/>
          </a:p>
        </p:txBody>
      </p:sp>
      <p:sp>
        <p:nvSpPr>
          <p:cNvPr id="40" name="Rounded Rectangle 39"/>
          <p:cNvSpPr/>
          <p:nvPr/>
        </p:nvSpPr>
        <p:spPr>
          <a:xfrm>
            <a:off x="2560320" y="2478024"/>
            <a:ext cx="274320" cy="274320"/>
          </a:xfrm>
          <a:prstGeom prst="roundRect">
            <a:avLst>
              <a:gd name="adj" fmla="val 12000"/>
            </a:avLst>
          </a:prstGeom>
          <a:solidFill>
            <a:srgbClr val="1F394D"/>
          </a:solidFill>
          <a:ln>
            <a:noFill/>
          </a:ln>
        </p:spPr>
        <p:txBody>
          <a:bodyPr rtlCol="0" anchor="ctr"/>
          <a:lstStyle/>
          <a:p>
            <a:pPr algn="ctr"/>
            <a:endParaRPr/>
          </a:p>
        </p:txBody>
      </p:sp>
      <p:sp>
        <p:nvSpPr>
          <p:cNvPr id="41" name="Rounded Rectangle 40"/>
          <p:cNvSpPr/>
          <p:nvPr/>
        </p:nvSpPr>
        <p:spPr>
          <a:xfrm>
            <a:off x="2898648" y="2478024"/>
            <a:ext cx="274320" cy="274320"/>
          </a:xfrm>
          <a:prstGeom prst="roundRect">
            <a:avLst>
              <a:gd name="adj" fmla="val 12000"/>
            </a:avLst>
          </a:prstGeom>
          <a:solidFill>
            <a:srgbClr val="1F394D"/>
          </a:solidFill>
          <a:ln>
            <a:noFill/>
          </a:ln>
        </p:spPr>
        <p:txBody>
          <a:bodyPr rtlCol="0" anchor="ctr"/>
          <a:lstStyle/>
          <a:p>
            <a:pPr algn="ctr"/>
            <a:endParaRPr/>
          </a:p>
        </p:txBody>
      </p:sp>
      <p:sp>
        <p:nvSpPr>
          <p:cNvPr id="42" name="Rounded Rectangle 41"/>
          <p:cNvSpPr/>
          <p:nvPr/>
        </p:nvSpPr>
        <p:spPr>
          <a:xfrm>
            <a:off x="3236976" y="2478024"/>
            <a:ext cx="274320" cy="274320"/>
          </a:xfrm>
          <a:prstGeom prst="roundRect">
            <a:avLst>
              <a:gd name="adj" fmla="val 12000"/>
            </a:avLst>
          </a:prstGeom>
          <a:solidFill>
            <a:srgbClr val="1F394D"/>
          </a:solidFill>
          <a:ln>
            <a:noFill/>
          </a:ln>
        </p:spPr>
        <p:txBody>
          <a:bodyPr rtlCol="0" anchor="ctr"/>
          <a:lstStyle/>
          <a:p>
            <a:pPr algn="ctr"/>
            <a:endParaRPr/>
          </a:p>
        </p:txBody>
      </p:sp>
      <p:sp>
        <p:nvSpPr>
          <p:cNvPr id="43" name="Rounded Rectangle 42"/>
          <p:cNvSpPr/>
          <p:nvPr/>
        </p:nvSpPr>
        <p:spPr>
          <a:xfrm>
            <a:off x="3575304" y="2478024"/>
            <a:ext cx="274320" cy="274320"/>
          </a:xfrm>
          <a:prstGeom prst="roundRect">
            <a:avLst>
              <a:gd name="adj" fmla="val 12000"/>
            </a:avLst>
          </a:prstGeom>
          <a:solidFill>
            <a:srgbClr val="1F394D"/>
          </a:solidFill>
          <a:ln>
            <a:noFill/>
          </a:ln>
        </p:spPr>
        <p:txBody>
          <a:bodyPr rtlCol="0" anchor="ctr"/>
          <a:lstStyle/>
          <a:p>
            <a:pPr algn="ctr"/>
            <a:endParaRPr/>
          </a:p>
        </p:txBody>
      </p:sp>
      <p:sp>
        <p:nvSpPr>
          <p:cNvPr id="44" name="Rounded Rectangle 43"/>
          <p:cNvSpPr/>
          <p:nvPr/>
        </p:nvSpPr>
        <p:spPr>
          <a:xfrm>
            <a:off x="3913632" y="2478024"/>
            <a:ext cx="274320" cy="274320"/>
          </a:xfrm>
          <a:prstGeom prst="roundRect">
            <a:avLst>
              <a:gd name="adj" fmla="val 12000"/>
            </a:avLst>
          </a:prstGeom>
          <a:solidFill>
            <a:srgbClr val="1F394D"/>
          </a:solidFill>
          <a:ln>
            <a:noFill/>
          </a:ln>
        </p:spPr>
        <p:txBody>
          <a:bodyPr rtlCol="0" anchor="ctr"/>
          <a:lstStyle/>
          <a:p>
            <a:pPr algn="ctr"/>
            <a:endParaRPr/>
          </a:p>
        </p:txBody>
      </p:sp>
      <p:sp>
        <p:nvSpPr>
          <p:cNvPr id="45" name="Rounded Rectangle 44"/>
          <p:cNvSpPr/>
          <p:nvPr/>
        </p:nvSpPr>
        <p:spPr>
          <a:xfrm>
            <a:off x="868680" y="2816352"/>
            <a:ext cx="274320" cy="274320"/>
          </a:xfrm>
          <a:prstGeom prst="roundRect">
            <a:avLst>
              <a:gd name="adj" fmla="val 12000"/>
            </a:avLst>
          </a:prstGeom>
          <a:solidFill>
            <a:srgbClr val="1F394D"/>
          </a:solidFill>
          <a:ln>
            <a:noFill/>
          </a:ln>
        </p:spPr>
        <p:txBody>
          <a:bodyPr rtlCol="0" anchor="ctr"/>
          <a:lstStyle/>
          <a:p>
            <a:pPr algn="ctr"/>
            <a:endParaRPr/>
          </a:p>
        </p:txBody>
      </p:sp>
      <p:sp>
        <p:nvSpPr>
          <p:cNvPr id="46" name="Rounded Rectangle 45"/>
          <p:cNvSpPr/>
          <p:nvPr/>
        </p:nvSpPr>
        <p:spPr>
          <a:xfrm>
            <a:off x="1207007" y="2816352"/>
            <a:ext cx="274320" cy="274320"/>
          </a:xfrm>
          <a:prstGeom prst="roundRect">
            <a:avLst>
              <a:gd name="adj" fmla="val 12000"/>
            </a:avLst>
          </a:prstGeom>
          <a:solidFill>
            <a:srgbClr val="1F394D"/>
          </a:solidFill>
          <a:ln>
            <a:noFill/>
          </a:ln>
        </p:spPr>
        <p:txBody>
          <a:bodyPr rtlCol="0" anchor="ctr"/>
          <a:lstStyle/>
          <a:p>
            <a:pPr algn="ctr"/>
            <a:endParaRPr/>
          </a:p>
        </p:txBody>
      </p:sp>
      <p:sp>
        <p:nvSpPr>
          <p:cNvPr id="47" name="Rounded Rectangle 46"/>
          <p:cNvSpPr/>
          <p:nvPr/>
        </p:nvSpPr>
        <p:spPr>
          <a:xfrm>
            <a:off x="1545336" y="2816352"/>
            <a:ext cx="274320" cy="274320"/>
          </a:xfrm>
          <a:prstGeom prst="roundRect">
            <a:avLst>
              <a:gd name="adj" fmla="val 12000"/>
            </a:avLst>
          </a:prstGeom>
          <a:solidFill>
            <a:srgbClr val="1F394D"/>
          </a:solidFill>
          <a:ln>
            <a:noFill/>
          </a:ln>
        </p:spPr>
        <p:txBody>
          <a:bodyPr rtlCol="0" anchor="ctr"/>
          <a:lstStyle/>
          <a:p>
            <a:pPr algn="ctr"/>
            <a:endParaRPr/>
          </a:p>
        </p:txBody>
      </p:sp>
      <p:sp>
        <p:nvSpPr>
          <p:cNvPr id="48" name="Rounded Rectangle 47"/>
          <p:cNvSpPr/>
          <p:nvPr/>
        </p:nvSpPr>
        <p:spPr>
          <a:xfrm>
            <a:off x="1883663" y="2816352"/>
            <a:ext cx="274320" cy="274320"/>
          </a:xfrm>
          <a:prstGeom prst="roundRect">
            <a:avLst>
              <a:gd name="adj" fmla="val 12000"/>
            </a:avLst>
          </a:prstGeom>
          <a:solidFill>
            <a:srgbClr val="1F394D"/>
          </a:solidFill>
          <a:ln>
            <a:noFill/>
          </a:ln>
        </p:spPr>
        <p:txBody>
          <a:bodyPr rtlCol="0" anchor="ctr"/>
          <a:lstStyle/>
          <a:p>
            <a:pPr algn="ctr"/>
            <a:endParaRPr/>
          </a:p>
        </p:txBody>
      </p:sp>
      <p:sp>
        <p:nvSpPr>
          <p:cNvPr id="49" name="Rounded Rectangle 48"/>
          <p:cNvSpPr/>
          <p:nvPr/>
        </p:nvSpPr>
        <p:spPr>
          <a:xfrm>
            <a:off x="2221991" y="2816352"/>
            <a:ext cx="274320" cy="274320"/>
          </a:xfrm>
          <a:prstGeom prst="roundRect">
            <a:avLst>
              <a:gd name="adj" fmla="val 12000"/>
            </a:avLst>
          </a:prstGeom>
          <a:solidFill>
            <a:srgbClr val="1F394D"/>
          </a:solidFill>
          <a:ln>
            <a:noFill/>
          </a:ln>
        </p:spPr>
        <p:txBody>
          <a:bodyPr rtlCol="0" anchor="ctr"/>
          <a:lstStyle/>
          <a:p>
            <a:pPr algn="ctr"/>
            <a:endParaRPr/>
          </a:p>
        </p:txBody>
      </p:sp>
      <p:sp>
        <p:nvSpPr>
          <p:cNvPr id="50" name="Rounded Rectangle 49"/>
          <p:cNvSpPr/>
          <p:nvPr/>
        </p:nvSpPr>
        <p:spPr>
          <a:xfrm>
            <a:off x="2560320" y="2816352"/>
            <a:ext cx="274320" cy="274320"/>
          </a:xfrm>
          <a:prstGeom prst="roundRect">
            <a:avLst>
              <a:gd name="adj" fmla="val 12000"/>
            </a:avLst>
          </a:prstGeom>
          <a:solidFill>
            <a:srgbClr val="CCDDEA"/>
          </a:solidFill>
          <a:ln>
            <a:noFill/>
          </a:ln>
        </p:spPr>
        <p:txBody>
          <a:bodyPr rtlCol="0" anchor="ctr"/>
          <a:lstStyle/>
          <a:p>
            <a:pPr algn="ctr"/>
            <a:endParaRPr/>
          </a:p>
        </p:txBody>
      </p:sp>
      <p:sp>
        <p:nvSpPr>
          <p:cNvPr id="51" name="Rounded Rectangle 50"/>
          <p:cNvSpPr/>
          <p:nvPr/>
        </p:nvSpPr>
        <p:spPr>
          <a:xfrm>
            <a:off x="2898648" y="2816352"/>
            <a:ext cx="274320" cy="274320"/>
          </a:xfrm>
          <a:prstGeom prst="roundRect">
            <a:avLst>
              <a:gd name="adj" fmla="val 12000"/>
            </a:avLst>
          </a:prstGeom>
          <a:solidFill>
            <a:srgbClr val="CCDDEA"/>
          </a:solidFill>
          <a:ln>
            <a:noFill/>
          </a:ln>
        </p:spPr>
        <p:txBody>
          <a:bodyPr rtlCol="0" anchor="ctr"/>
          <a:lstStyle/>
          <a:p>
            <a:pPr algn="ctr"/>
            <a:endParaRPr/>
          </a:p>
        </p:txBody>
      </p:sp>
      <p:sp>
        <p:nvSpPr>
          <p:cNvPr id="52" name="Rounded Rectangle 51"/>
          <p:cNvSpPr/>
          <p:nvPr/>
        </p:nvSpPr>
        <p:spPr>
          <a:xfrm>
            <a:off x="3236976" y="2816352"/>
            <a:ext cx="274320" cy="274320"/>
          </a:xfrm>
          <a:prstGeom prst="roundRect">
            <a:avLst>
              <a:gd name="adj" fmla="val 12000"/>
            </a:avLst>
          </a:prstGeom>
          <a:solidFill>
            <a:srgbClr val="CCDDEA"/>
          </a:solidFill>
          <a:ln>
            <a:noFill/>
          </a:ln>
        </p:spPr>
        <p:txBody>
          <a:bodyPr rtlCol="0" anchor="ctr"/>
          <a:lstStyle/>
          <a:p>
            <a:pPr algn="ctr"/>
            <a:endParaRPr/>
          </a:p>
        </p:txBody>
      </p:sp>
      <p:sp>
        <p:nvSpPr>
          <p:cNvPr id="53" name="Rounded Rectangle 52"/>
          <p:cNvSpPr/>
          <p:nvPr/>
        </p:nvSpPr>
        <p:spPr>
          <a:xfrm>
            <a:off x="3575304" y="2816352"/>
            <a:ext cx="274320" cy="274320"/>
          </a:xfrm>
          <a:prstGeom prst="roundRect">
            <a:avLst>
              <a:gd name="adj" fmla="val 12000"/>
            </a:avLst>
          </a:prstGeom>
          <a:solidFill>
            <a:srgbClr val="CCDDEA"/>
          </a:solidFill>
          <a:ln>
            <a:noFill/>
          </a:ln>
        </p:spPr>
        <p:txBody>
          <a:bodyPr rtlCol="0" anchor="ctr"/>
          <a:lstStyle/>
          <a:p>
            <a:pPr algn="ctr"/>
            <a:endParaRPr/>
          </a:p>
        </p:txBody>
      </p:sp>
      <p:sp>
        <p:nvSpPr>
          <p:cNvPr id="54" name="Rounded Rectangle 53"/>
          <p:cNvSpPr/>
          <p:nvPr/>
        </p:nvSpPr>
        <p:spPr>
          <a:xfrm>
            <a:off x="3913632" y="2816352"/>
            <a:ext cx="274320" cy="274320"/>
          </a:xfrm>
          <a:prstGeom prst="roundRect">
            <a:avLst>
              <a:gd name="adj" fmla="val 12000"/>
            </a:avLst>
          </a:prstGeom>
          <a:solidFill>
            <a:srgbClr val="CCDDEA"/>
          </a:solidFill>
          <a:ln>
            <a:noFill/>
          </a:ln>
        </p:spPr>
        <p:txBody>
          <a:bodyPr rtlCol="0" anchor="ctr"/>
          <a:lstStyle/>
          <a:p>
            <a:pPr algn="ctr"/>
            <a:endParaRPr/>
          </a:p>
        </p:txBody>
      </p:sp>
      <p:sp>
        <p:nvSpPr>
          <p:cNvPr id="55" name="Rounded Rectangle 54"/>
          <p:cNvSpPr/>
          <p:nvPr/>
        </p:nvSpPr>
        <p:spPr>
          <a:xfrm>
            <a:off x="868680" y="3154680"/>
            <a:ext cx="274320" cy="274320"/>
          </a:xfrm>
          <a:prstGeom prst="roundRect">
            <a:avLst>
              <a:gd name="adj" fmla="val 12000"/>
            </a:avLst>
          </a:prstGeom>
          <a:solidFill>
            <a:srgbClr val="CCDDEA"/>
          </a:solidFill>
          <a:ln>
            <a:noFill/>
          </a:ln>
        </p:spPr>
        <p:txBody>
          <a:bodyPr rtlCol="0" anchor="ctr"/>
          <a:lstStyle/>
          <a:p>
            <a:pPr algn="ctr"/>
            <a:endParaRPr/>
          </a:p>
        </p:txBody>
      </p:sp>
      <p:sp>
        <p:nvSpPr>
          <p:cNvPr id="56" name="Rounded Rectangle 55"/>
          <p:cNvSpPr/>
          <p:nvPr/>
        </p:nvSpPr>
        <p:spPr>
          <a:xfrm>
            <a:off x="1207007" y="3154680"/>
            <a:ext cx="274320" cy="274320"/>
          </a:xfrm>
          <a:prstGeom prst="roundRect">
            <a:avLst>
              <a:gd name="adj" fmla="val 12000"/>
            </a:avLst>
          </a:prstGeom>
          <a:solidFill>
            <a:srgbClr val="CCDDEA"/>
          </a:solidFill>
          <a:ln>
            <a:noFill/>
          </a:ln>
        </p:spPr>
        <p:txBody>
          <a:bodyPr rtlCol="0" anchor="ctr"/>
          <a:lstStyle/>
          <a:p>
            <a:pPr algn="ctr"/>
            <a:endParaRPr/>
          </a:p>
        </p:txBody>
      </p:sp>
      <p:sp>
        <p:nvSpPr>
          <p:cNvPr id="57" name="Rounded Rectangle 56"/>
          <p:cNvSpPr/>
          <p:nvPr/>
        </p:nvSpPr>
        <p:spPr>
          <a:xfrm>
            <a:off x="1545336" y="3154680"/>
            <a:ext cx="274320" cy="274320"/>
          </a:xfrm>
          <a:prstGeom prst="roundRect">
            <a:avLst>
              <a:gd name="adj" fmla="val 12000"/>
            </a:avLst>
          </a:prstGeom>
          <a:solidFill>
            <a:srgbClr val="CCDDEA"/>
          </a:solidFill>
          <a:ln>
            <a:noFill/>
          </a:ln>
        </p:spPr>
        <p:txBody>
          <a:bodyPr rtlCol="0" anchor="ctr"/>
          <a:lstStyle/>
          <a:p>
            <a:pPr algn="ctr"/>
            <a:endParaRPr/>
          </a:p>
        </p:txBody>
      </p:sp>
      <p:sp>
        <p:nvSpPr>
          <p:cNvPr id="58" name="Rounded Rectangle 57"/>
          <p:cNvSpPr/>
          <p:nvPr/>
        </p:nvSpPr>
        <p:spPr>
          <a:xfrm>
            <a:off x="1883663" y="3154680"/>
            <a:ext cx="274320" cy="274320"/>
          </a:xfrm>
          <a:prstGeom prst="roundRect">
            <a:avLst>
              <a:gd name="adj" fmla="val 12000"/>
            </a:avLst>
          </a:prstGeom>
          <a:solidFill>
            <a:srgbClr val="CCDDEA"/>
          </a:solidFill>
          <a:ln>
            <a:noFill/>
          </a:ln>
        </p:spPr>
        <p:txBody>
          <a:bodyPr rtlCol="0" anchor="ctr"/>
          <a:lstStyle/>
          <a:p>
            <a:pPr algn="ctr"/>
            <a:endParaRPr/>
          </a:p>
        </p:txBody>
      </p:sp>
      <p:sp>
        <p:nvSpPr>
          <p:cNvPr id="59" name="Rounded Rectangle 58"/>
          <p:cNvSpPr/>
          <p:nvPr/>
        </p:nvSpPr>
        <p:spPr>
          <a:xfrm>
            <a:off x="2221991" y="3154680"/>
            <a:ext cx="274320" cy="274320"/>
          </a:xfrm>
          <a:prstGeom prst="roundRect">
            <a:avLst>
              <a:gd name="adj" fmla="val 12000"/>
            </a:avLst>
          </a:prstGeom>
          <a:solidFill>
            <a:srgbClr val="CCDDEA"/>
          </a:solidFill>
          <a:ln>
            <a:noFill/>
          </a:ln>
        </p:spPr>
        <p:txBody>
          <a:bodyPr rtlCol="0" anchor="ctr"/>
          <a:lstStyle/>
          <a:p>
            <a:pPr algn="ctr"/>
            <a:endParaRPr/>
          </a:p>
        </p:txBody>
      </p:sp>
      <p:sp>
        <p:nvSpPr>
          <p:cNvPr id="60" name="Rounded Rectangle 59"/>
          <p:cNvSpPr/>
          <p:nvPr/>
        </p:nvSpPr>
        <p:spPr>
          <a:xfrm>
            <a:off x="2560320" y="3154680"/>
            <a:ext cx="274320" cy="274320"/>
          </a:xfrm>
          <a:prstGeom prst="roundRect">
            <a:avLst>
              <a:gd name="adj" fmla="val 12000"/>
            </a:avLst>
          </a:prstGeom>
          <a:solidFill>
            <a:srgbClr val="CCDDEA"/>
          </a:solidFill>
          <a:ln>
            <a:noFill/>
          </a:ln>
        </p:spPr>
        <p:txBody>
          <a:bodyPr rtlCol="0" anchor="ctr"/>
          <a:lstStyle/>
          <a:p>
            <a:pPr algn="ctr"/>
            <a:endParaRPr/>
          </a:p>
        </p:txBody>
      </p:sp>
      <p:sp>
        <p:nvSpPr>
          <p:cNvPr id="61" name="Rounded Rectangle 60"/>
          <p:cNvSpPr/>
          <p:nvPr/>
        </p:nvSpPr>
        <p:spPr>
          <a:xfrm>
            <a:off x="2898648" y="3154680"/>
            <a:ext cx="274320" cy="274320"/>
          </a:xfrm>
          <a:prstGeom prst="roundRect">
            <a:avLst>
              <a:gd name="adj" fmla="val 12000"/>
            </a:avLst>
          </a:prstGeom>
          <a:solidFill>
            <a:srgbClr val="CCDDEA"/>
          </a:solidFill>
          <a:ln>
            <a:noFill/>
          </a:ln>
        </p:spPr>
        <p:txBody>
          <a:bodyPr rtlCol="0" anchor="ctr"/>
          <a:lstStyle/>
          <a:p>
            <a:pPr algn="ctr"/>
            <a:endParaRPr/>
          </a:p>
        </p:txBody>
      </p:sp>
      <p:sp>
        <p:nvSpPr>
          <p:cNvPr id="62" name="Rounded Rectangle 61"/>
          <p:cNvSpPr/>
          <p:nvPr/>
        </p:nvSpPr>
        <p:spPr>
          <a:xfrm>
            <a:off x="3236976" y="3154680"/>
            <a:ext cx="274320" cy="274320"/>
          </a:xfrm>
          <a:prstGeom prst="roundRect">
            <a:avLst>
              <a:gd name="adj" fmla="val 12000"/>
            </a:avLst>
          </a:prstGeom>
          <a:solidFill>
            <a:srgbClr val="CCDDEA"/>
          </a:solidFill>
          <a:ln>
            <a:noFill/>
          </a:ln>
        </p:spPr>
        <p:txBody>
          <a:bodyPr rtlCol="0" anchor="ctr"/>
          <a:lstStyle/>
          <a:p>
            <a:pPr algn="ctr"/>
            <a:endParaRPr/>
          </a:p>
        </p:txBody>
      </p:sp>
      <p:sp>
        <p:nvSpPr>
          <p:cNvPr id="63" name="Rounded Rectangle 62"/>
          <p:cNvSpPr/>
          <p:nvPr/>
        </p:nvSpPr>
        <p:spPr>
          <a:xfrm>
            <a:off x="3575304" y="3154680"/>
            <a:ext cx="274320" cy="274320"/>
          </a:xfrm>
          <a:prstGeom prst="roundRect">
            <a:avLst>
              <a:gd name="adj" fmla="val 12000"/>
            </a:avLst>
          </a:prstGeom>
          <a:solidFill>
            <a:srgbClr val="CCDDEA"/>
          </a:solidFill>
          <a:ln>
            <a:noFill/>
          </a:ln>
        </p:spPr>
        <p:txBody>
          <a:bodyPr rtlCol="0" anchor="ctr"/>
          <a:lstStyle/>
          <a:p>
            <a:pPr algn="ctr"/>
            <a:endParaRPr/>
          </a:p>
        </p:txBody>
      </p:sp>
      <p:sp>
        <p:nvSpPr>
          <p:cNvPr id="64" name="Rounded Rectangle 63"/>
          <p:cNvSpPr/>
          <p:nvPr/>
        </p:nvSpPr>
        <p:spPr>
          <a:xfrm>
            <a:off x="3913632" y="3154680"/>
            <a:ext cx="274320" cy="274320"/>
          </a:xfrm>
          <a:prstGeom prst="roundRect">
            <a:avLst>
              <a:gd name="adj" fmla="val 12000"/>
            </a:avLst>
          </a:prstGeom>
          <a:solidFill>
            <a:srgbClr val="CCDDEA"/>
          </a:solidFill>
          <a:ln>
            <a:noFill/>
          </a:ln>
        </p:spPr>
        <p:txBody>
          <a:bodyPr rtlCol="0" anchor="ctr"/>
          <a:lstStyle/>
          <a:p>
            <a:pPr algn="ctr"/>
            <a:endParaRPr/>
          </a:p>
        </p:txBody>
      </p:sp>
      <p:sp>
        <p:nvSpPr>
          <p:cNvPr id="65" name="Rounded Rectangle 64"/>
          <p:cNvSpPr/>
          <p:nvPr/>
        </p:nvSpPr>
        <p:spPr>
          <a:xfrm>
            <a:off x="868680" y="3493008"/>
            <a:ext cx="274320" cy="274320"/>
          </a:xfrm>
          <a:prstGeom prst="roundRect">
            <a:avLst>
              <a:gd name="adj" fmla="val 12000"/>
            </a:avLst>
          </a:prstGeom>
          <a:solidFill>
            <a:srgbClr val="CCDDEA"/>
          </a:solidFill>
          <a:ln>
            <a:noFill/>
          </a:ln>
        </p:spPr>
        <p:txBody>
          <a:bodyPr rtlCol="0" anchor="ctr"/>
          <a:lstStyle/>
          <a:p>
            <a:pPr algn="ctr"/>
            <a:endParaRPr/>
          </a:p>
        </p:txBody>
      </p:sp>
      <p:sp>
        <p:nvSpPr>
          <p:cNvPr id="66" name="Rounded Rectangle 65"/>
          <p:cNvSpPr/>
          <p:nvPr/>
        </p:nvSpPr>
        <p:spPr>
          <a:xfrm>
            <a:off x="1207007" y="3493008"/>
            <a:ext cx="274320" cy="274320"/>
          </a:xfrm>
          <a:prstGeom prst="roundRect">
            <a:avLst>
              <a:gd name="adj" fmla="val 12000"/>
            </a:avLst>
          </a:prstGeom>
          <a:solidFill>
            <a:srgbClr val="CCDDEA"/>
          </a:solidFill>
          <a:ln>
            <a:noFill/>
          </a:ln>
        </p:spPr>
        <p:txBody>
          <a:bodyPr rtlCol="0" anchor="ctr"/>
          <a:lstStyle/>
          <a:p>
            <a:pPr algn="ctr"/>
            <a:endParaRPr/>
          </a:p>
        </p:txBody>
      </p:sp>
      <p:sp>
        <p:nvSpPr>
          <p:cNvPr id="67" name="Rounded Rectangle 66"/>
          <p:cNvSpPr/>
          <p:nvPr/>
        </p:nvSpPr>
        <p:spPr>
          <a:xfrm>
            <a:off x="1545336" y="3493008"/>
            <a:ext cx="274320" cy="274320"/>
          </a:xfrm>
          <a:prstGeom prst="roundRect">
            <a:avLst>
              <a:gd name="adj" fmla="val 12000"/>
            </a:avLst>
          </a:prstGeom>
          <a:solidFill>
            <a:srgbClr val="CCDDEA"/>
          </a:solidFill>
          <a:ln>
            <a:noFill/>
          </a:ln>
        </p:spPr>
        <p:txBody>
          <a:bodyPr rtlCol="0" anchor="ctr"/>
          <a:lstStyle/>
          <a:p>
            <a:pPr algn="ctr"/>
            <a:endParaRPr/>
          </a:p>
        </p:txBody>
      </p:sp>
      <p:sp>
        <p:nvSpPr>
          <p:cNvPr id="68" name="Rounded Rectangle 67"/>
          <p:cNvSpPr/>
          <p:nvPr/>
        </p:nvSpPr>
        <p:spPr>
          <a:xfrm>
            <a:off x="1883663" y="3493008"/>
            <a:ext cx="274320" cy="274320"/>
          </a:xfrm>
          <a:prstGeom prst="roundRect">
            <a:avLst>
              <a:gd name="adj" fmla="val 12000"/>
            </a:avLst>
          </a:prstGeom>
          <a:solidFill>
            <a:srgbClr val="CCDDEA"/>
          </a:solidFill>
          <a:ln>
            <a:noFill/>
          </a:ln>
        </p:spPr>
        <p:txBody>
          <a:bodyPr rtlCol="0" anchor="ctr"/>
          <a:lstStyle/>
          <a:p>
            <a:pPr algn="ctr"/>
            <a:endParaRPr/>
          </a:p>
        </p:txBody>
      </p:sp>
      <p:sp>
        <p:nvSpPr>
          <p:cNvPr id="69" name="Rounded Rectangle 68"/>
          <p:cNvSpPr/>
          <p:nvPr/>
        </p:nvSpPr>
        <p:spPr>
          <a:xfrm>
            <a:off x="2221991" y="3493008"/>
            <a:ext cx="274320" cy="274320"/>
          </a:xfrm>
          <a:prstGeom prst="roundRect">
            <a:avLst>
              <a:gd name="adj" fmla="val 12000"/>
            </a:avLst>
          </a:prstGeom>
          <a:solidFill>
            <a:srgbClr val="CCDDEA"/>
          </a:solidFill>
          <a:ln>
            <a:noFill/>
          </a:ln>
        </p:spPr>
        <p:txBody>
          <a:bodyPr rtlCol="0" anchor="ctr"/>
          <a:lstStyle/>
          <a:p>
            <a:pPr algn="ctr"/>
            <a:endParaRPr/>
          </a:p>
        </p:txBody>
      </p:sp>
      <p:sp>
        <p:nvSpPr>
          <p:cNvPr id="70" name="Rounded Rectangle 69"/>
          <p:cNvSpPr/>
          <p:nvPr/>
        </p:nvSpPr>
        <p:spPr>
          <a:xfrm>
            <a:off x="2560320" y="3493008"/>
            <a:ext cx="274320" cy="274320"/>
          </a:xfrm>
          <a:prstGeom prst="roundRect">
            <a:avLst>
              <a:gd name="adj" fmla="val 12000"/>
            </a:avLst>
          </a:prstGeom>
          <a:solidFill>
            <a:srgbClr val="CCDDEA"/>
          </a:solidFill>
          <a:ln>
            <a:noFill/>
          </a:ln>
        </p:spPr>
        <p:txBody>
          <a:bodyPr rtlCol="0" anchor="ctr"/>
          <a:lstStyle/>
          <a:p>
            <a:pPr algn="ctr"/>
            <a:endParaRPr/>
          </a:p>
        </p:txBody>
      </p:sp>
      <p:sp>
        <p:nvSpPr>
          <p:cNvPr id="71" name="Rounded Rectangle 70"/>
          <p:cNvSpPr/>
          <p:nvPr/>
        </p:nvSpPr>
        <p:spPr>
          <a:xfrm>
            <a:off x="2898648" y="3493008"/>
            <a:ext cx="274320" cy="274320"/>
          </a:xfrm>
          <a:prstGeom prst="roundRect">
            <a:avLst>
              <a:gd name="adj" fmla="val 12000"/>
            </a:avLst>
          </a:prstGeom>
          <a:solidFill>
            <a:srgbClr val="CCDDEA"/>
          </a:solidFill>
          <a:ln>
            <a:noFill/>
          </a:ln>
        </p:spPr>
        <p:txBody>
          <a:bodyPr rtlCol="0" anchor="ctr"/>
          <a:lstStyle/>
          <a:p>
            <a:pPr algn="ctr"/>
            <a:endParaRPr/>
          </a:p>
        </p:txBody>
      </p:sp>
      <p:sp>
        <p:nvSpPr>
          <p:cNvPr id="72" name="Rounded Rectangle 71"/>
          <p:cNvSpPr/>
          <p:nvPr/>
        </p:nvSpPr>
        <p:spPr>
          <a:xfrm>
            <a:off x="3236976" y="3493008"/>
            <a:ext cx="274320" cy="274320"/>
          </a:xfrm>
          <a:prstGeom prst="roundRect">
            <a:avLst>
              <a:gd name="adj" fmla="val 12000"/>
            </a:avLst>
          </a:prstGeom>
          <a:solidFill>
            <a:srgbClr val="CCDDEA"/>
          </a:solidFill>
          <a:ln>
            <a:noFill/>
          </a:ln>
        </p:spPr>
        <p:txBody>
          <a:bodyPr rtlCol="0" anchor="ctr"/>
          <a:lstStyle/>
          <a:p>
            <a:pPr algn="ctr"/>
            <a:endParaRPr/>
          </a:p>
        </p:txBody>
      </p:sp>
      <p:sp>
        <p:nvSpPr>
          <p:cNvPr id="73" name="Rounded Rectangle 72"/>
          <p:cNvSpPr/>
          <p:nvPr/>
        </p:nvSpPr>
        <p:spPr>
          <a:xfrm>
            <a:off x="3575304" y="3493008"/>
            <a:ext cx="274320" cy="274320"/>
          </a:xfrm>
          <a:prstGeom prst="roundRect">
            <a:avLst>
              <a:gd name="adj" fmla="val 12000"/>
            </a:avLst>
          </a:prstGeom>
          <a:solidFill>
            <a:srgbClr val="CCDDEA"/>
          </a:solidFill>
          <a:ln>
            <a:noFill/>
          </a:ln>
        </p:spPr>
        <p:txBody>
          <a:bodyPr rtlCol="0" anchor="ctr"/>
          <a:lstStyle/>
          <a:p>
            <a:pPr algn="ctr"/>
            <a:endParaRPr/>
          </a:p>
        </p:txBody>
      </p:sp>
      <p:sp>
        <p:nvSpPr>
          <p:cNvPr id="74" name="Rounded Rectangle 73"/>
          <p:cNvSpPr/>
          <p:nvPr/>
        </p:nvSpPr>
        <p:spPr>
          <a:xfrm>
            <a:off x="3913632" y="3493008"/>
            <a:ext cx="274320" cy="274320"/>
          </a:xfrm>
          <a:prstGeom prst="roundRect">
            <a:avLst>
              <a:gd name="adj" fmla="val 12000"/>
            </a:avLst>
          </a:prstGeom>
          <a:solidFill>
            <a:srgbClr val="CCDDEA"/>
          </a:solidFill>
          <a:ln>
            <a:noFill/>
          </a:ln>
        </p:spPr>
        <p:txBody>
          <a:bodyPr rtlCol="0" anchor="ctr"/>
          <a:lstStyle/>
          <a:p>
            <a:pPr algn="ctr"/>
            <a:endParaRPr/>
          </a:p>
        </p:txBody>
      </p:sp>
      <p:sp>
        <p:nvSpPr>
          <p:cNvPr id="75" name="Rounded Rectangle 74"/>
          <p:cNvSpPr/>
          <p:nvPr/>
        </p:nvSpPr>
        <p:spPr>
          <a:xfrm>
            <a:off x="868680" y="3831335"/>
            <a:ext cx="274320" cy="274320"/>
          </a:xfrm>
          <a:prstGeom prst="roundRect">
            <a:avLst>
              <a:gd name="adj" fmla="val 12000"/>
            </a:avLst>
          </a:prstGeom>
          <a:solidFill>
            <a:srgbClr val="CCDDEA"/>
          </a:solidFill>
          <a:ln>
            <a:noFill/>
          </a:ln>
        </p:spPr>
        <p:txBody>
          <a:bodyPr rtlCol="0" anchor="ctr"/>
          <a:lstStyle/>
          <a:p>
            <a:pPr algn="ctr"/>
            <a:endParaRPr/>
          </a:p>
        </p:txBody>
      </p:sp>
      <p:sp>
        <p:nvSpPr>
          <p:cNvPr id="76" name="Rounded Rectangle 75"/>
          <p:cNvSpPr/>
          <p:nvPr/>
        </p:nvSpPr>
        <p:spPr>
          <a:xfrm>
            <a:off x="1207007" y="3831335"/>
            <a:ext cx="274320" cy="274320"/>
          </a:xfrm>
          <a:prstGeom prst="roundRect">
            <a:avLst>
              <a:gd name="adj" fmla="val 12000"/>
            </a:avLst>
          </a:prstGeom>
          <a:solidFill>
            <a:srgbClr val="CCDDEA"/>
          </a:solidFill>
          <a:ln>
            <a:noFill/>
          </a:ln>
        </p:spPr>
        <p:txBody>
          <a:bodyPr rtlCol="0" anchor="ctr"/>
          <a:lstStyle/>
          <a:p>
            <a:pPr algn="ctr"/>
            <a:endParaRPr/>
          </a:p>
        </p:txBody>
      </p:sp>
      <p:sp>
        <p:nvSpPr>
          <p:cNvPr id="77" name="Rounded Rectangle 76"/>
          <p:cNvSpPr/>
          <p:nvPr/>
        </p:nvSpPr>
        <p:spPr>
          <a:xfrm>
            <a:off x="1545336" y="3831335"/>
            <a:ext cx="274320" cy="274320"/>
          </a:xfrm>
          <a:prstGeom prst="roundRect">
            <a:avLst>
              <a:gd name="adj" fmla="val 12000"/>
            </a:avLst>
          </a:prstGeom>
          <a:solidFill>
            <a:srgbClr val="CCDDEA"/>
          </a:solidFill>
          <a:ln>
            <a:noFill/>
          </a:ln>
        </p:spPr>
        <p:txBody>
          <a:bodyPr rtlCol="0" anchor="ctr"/>
          <a:lstStyle/>
          <a:p>
            <a:pPr algn="ctr"/>
            <a:endParaRPr/>
          </a:p>
        </p:txBody>
      </p:sp>
      <p:sp>
        <p:nvSpPr>
          <p:cNvPr id="78" name="Rounded Rectangle 77"/>
          <p:cNvSpPr/>
          <p:nvPr/>
        </p:nvSpPr>
        <p:spPr>
          <a:xfrm>
            <a:off x="1883663" y="3831335"/>
            <a:ext cx="274320" cy="274320"/>
          </a:xfrm>
          <a:prstGeom prst="roundRect">
            <a:avLst>
              <a:gd name="adj" fmla="val 12000"/>
            </a:avLst>
          </a:prstGeom>
          <a:solidFill>
            <a:srgbClr val="CCDDEA"/>
          </a:solidFill>
          <a:ln>
            <a:noFill/>
          </a:ln>
        </p:spPr>
        <p:txBody>
          <a:bodyPr rtlCol="0" anchor="ctr"/>
          <a:lstStyle/>
          <a:p>
            <a:pPr algn="ctr"/>
            <a:endParaRPr/>
          </a:p>
        </p:txBody>
      </p:sp>
      <p:sp>
        <p:nvSpPr>
          <p:cNvPr id="79" name="Rounded Rectangle 78"/>
          <p:cNvSpPr/>
          <p:nvPr/>
        </p:nvSpPr>
        <p:spPr>
          <a:xfrm>
            <a:off x="2221991" y="3831335"/>
            <a:ext cx="274320" cy="274320"/>
          </a:xfrm>
          <a:prstGeom prst="roundRect">
            <a:avLst>
              <a:gd name="adj" fmla="val 12000"/>
            </a:avLst>
          </a:prstGeom>
          <a:solidFill>
            <a:srgbClr val="CCDDEA"/>
          </a:solidFill>
          <a:ln>
            <a:noFill/>
          </a:ln>
        </p:spPr>
        <p:txBody>
          <a:bodyPr rtlCol="0" anchor="ctr"/>
          <a:lstStyle/>
          <a:p>
            <a:pPr algn="ctr"/>
            <a:endParaRPr/>
          </a:p>
        </p:txBody>
      </p:sp>
      <p:sp>
        <p:nvSpPr>
          <p:cNvPr id="80" name="Rounded Rectangle 79"/>
          <p:cNvSpPr/>
          <p:nvPr/>
        </p:nvSpPr>
        <p:spPr>
          <a:xfrm>
            <a:off x="2560320" y="3831335"/>
            <a:ext cx="274320" cy="274320"/>
          </a:xfrm>
          <a:prstGeom prst="roundRect">
            <a:avLst>
              <a:gd name="adj" fmla="val 12000"/>
            </a:avLst>
          </a:prstGeom>
          <a:solidFill>
            <a:srgbClr val="CCDDEA"/>
          </a:solidFill>
          <a:ln>
            <a:noFill/>
          </a:ln>
        </p:spPr>
        <p:txBody>
          <a:bodyPr rtlCol="0" anchor="ctr"/>
          <a:lstStyle/>
          <a:p>
            <a:pPr algn="ctr"/>
            <a:endParaRPr/>
          </a:p>
        </p:txBody>
      </p:sp>
      <p:sp>
        <p:nvSpPr>
          <p:cNvPr id="81" name="Rounded Rectangle 80"/>
          <p:cNvSpPr/>
          <p:nvPr/>
        </p:nvSpPr>
        <p:spPr>
          <a:xfrm>
            <a:off x="2898648" y="3831335"/>
            <a:ext cx="274320" cy="274320"/>
          </a:xfrm>
          <a:prstGeom prst="roundRect">
            <a:avLst>
              <a:gd name="adj" fmla="val 12000"/>
            </a:avLst>
          </a:prstGeom>
          <a:solidFill>
            <a:srgbClr val="CCDDEA"/>
          </a:solidFill>
          <a:ln>
            <a:noFill/>
          </a:ln>
        </p:spPr>
        <p:txBody>
          <a:bodyPr rtlCol="0" anchor="ctr"/>
          <a:lstStyle/>
          <a:p>
            <a:pPr algn="ctr"/>
            <a:endParaRPr/>
          </a:p>
        </p:txBody>
      </p:sp>
      <p:sp>
        <p:nvSpPr>
          <p:cNvPr id="82" name="Rounded Rectangle 81"/>
          <p:cNvSpPr/>
          <p:nvPr/>
        </p:nvSpPr>
        <p:spPr>
          <a:xfrm>
            <a:off x="3236976" y="3831335"/>
            <a:ext cx="274320" cy="274320"/>
          </a:xfrm>
          <a:prstGeom prst="roundRect">
            <a:avLst>
              <a:gd name="adj" fmla="val 12000"/>
            </a:avLst>
          </a:prstGeom>
          <a:solidFill>
            <a:srgbClr val="CCDDEA"/>
          </a:solidFill>
          <a:ln>
            <a:noFill/>
          </a:ln>
        </p:spPr>
        <p:txBody>
          <a:bodyPr rtlCol="0" anchor="ctr"/>
          <a:lstStyle/>
          <a:p>
            <a:pPr algn="ctr"/>
            <a:endParaRPr/>
          </a:p>
        </p:txBody>
      </p:sp>
      <p:sp>
        <p:nvSpPr>
          <p:cNvPr id="83" name="Rounded Rectangle 82"/>
          <p:cNvSpPr/>
          <p:nvPr/>
        </p:nvSpPr>
        <p:spPr>
          <a:xfrm>
            <a:off x="3575304" y="3831335"/>
            <a:ext cx="274320" cy="274320"/>
          </a:xfrm>
          <a:prstGeom prst="roundRect">
            <a:avLst>
              <a:gd name="adj" fmla="val 12000"/>
            </a:avLst>
          </a:prstGeom>
          <a:solidFill>
            <a:srgbClr val="CCDDEA"/>
          </a:solidFill>
          <a:ln>
            <a:noFill/>
          </a:ln>
        </p:spPr>
        <p:txBody>
          <a:bodyPr rtlCol="0" anchor="ctr"/>
          <a:lstStyle/>
          <a:p>
            <a:pPr algn="ctr"/>
            <a:endParaRPr/>
          </a:p>
        </p:txBody>
      </p:sp>
      <p:sp>
        <p:nvSpPr>
          <p:cNvPr id="84" name="Rounded Rectangle 83"/>
          <p:cNvSpPr/>
          <p:nvPr/>
        </p:nvSpPr>
        <p:spPr>
          <a:xfrm>
            <a:off x="3913632" y="3831335"/>
            <a:ext cx="274320" cy="274320"/>
          </a:xfrm>
          <a:prstGeom prst="roundRect">
            <a:avLst>
              <a:gd name="adj" fmla="val 12000"/>
            </a:avLst>
          </a:prstGeom>
          <a:solidFill>
            <a:srgbClr val="CCDDEA"/>
          </a:solidFill>
          <a:ln>
            <a:noFill/>
          </a:ln>
        </p:spPr>
        <p:txBody>
          <a:bodyPr rtlCol="0" anchor="ctr"/>
          <a:lstStyle/>
          <a:p>
            <a:pPr algn="ctr"/>
            <a:endParaRPr/>
          </a:p>
        </p:txBody>
      </p:sp>
      <p:sp>
        <p:nvSpPr>
          <p:cNvPr id="85" name="Rounded Rectangle 84"/>
          <p:cNvSpPr/>
          <p:nvPr/>
        </p:nvSpPr>
        <p:spPr>
          <a:xfrm>
            <a:off x="868680" y="4169664"/>
            <a:ext cx="274320" cy="274320"/>
          </a:xfrm>
          <a:prstGeom prst="roundRect">
            <a:avLst>
              <a:gd name="adj" fmla="val 12000"/>
            </a:avLst>
          </a:prstGeom>
          <a:solidFill>
            <a:srgbClr val="CCDDEA"/>
          </a:solidFill>
          <a:ln>
            <a:noFill/>
          </a:ln>
        </p:spPr>
        <p:txBody>
          <a:bodyPr rtlCol="0" anchor="ctr"/>
          <a:lstStyle/>
          <a:p>
            <a:pPr algn="ctr"/>
            <a:endParaRPr/>
          </a:p>
        </p:txBody>
      </p:sp>
      <p:sp>
        <p:nvSpPr>
          <p:cNvPr id="86" name="Rounded Rectangle 85"/>
          <p:cNvSpPr/>
          <p:nvPr/>
        </p:nvSpPr>
        <p:spPr>
          <a:xfrm>
            <a:off x="1207007" y="4169664"/>
            <a:ext cx="274320" cy="274320"/>
          </a:xfrm>
          <a:prstGeom prst="roundRect">
            <a:avLst>
              <a:gd name="adj" fmla="val 12000"/>
            </a:avLst>
          </a:prstGeom>
          <a:solidFill>
            <a:srgbClr val="CCDDEA"/>
          </a:solidFill>
          <a:ln>
            <a:noFill/>
          </a:ln>
        </p:spPr>
        <p:txBody>
          <a:bodyPr rtlCol="0" anchor="ctr"/>
          <a:lstStyle/>
          <a:p>
            <a:pPr algn="ctr"/>
            <a:endParaRPr/>
          </a:p>
        </p:txBody>
      </p:sp>
      <p:sp>
        <p:nvSpPr>
          <p:cNvPr id="87" name="Rounded Rectangle 86"/>
          <p:cNvSpPr/>
          <p:nvPr/>
        </p:nvSpPr>
        <p:spPr>
          <a:xfrm>
            <a:off x="1545336" y="4169664"/>
            <a:ext cx="274320" cy="274320"/>
          </a:xfrm>
          <a:prstGeom prst="roundRect">
            <a:avLst>
              <a:gd name="adj" fmla="val 12000"/>
            </a:avLst>
          </a:prstGeom>
          <a:solidFill>
            <a:srgbClr val="CCDDEA"/>
          </a:solidFill>
          <a:ln>
            <a:noFill/>
          </a:ln>
        </p:spPr>
        <p:txBody>
          <a:bodyPr rtlCol="0" anchor="ctr"/>
          <a:lstStyle/>
          <a:p>
            <a:pPr algn="ctr"/>
            <a:endParaRPr/>
          </a:p>
        </p:txBody>
      </p:sp>
      <p:sp>
        <p:nvSpPr>
          <p:cNvPr id="88" name="Rounded Rectangle 87"/>
          <p:cNvSpPr/>
          <p:nvPr/>
        </p:nvSpPr>
        <p:spPr>
          <a:xfrm>
            <a:off x="1883663" y="4169664"/>
            <a:ext cx="274320" cy="274320"/>
          </a:xfrm>
          <a:prstGeom prst="roundRect">
            <a:avLst>
              <a:gd name="adj" fmla="val 12000"/>
            </a:avLst>
          </a:prstGeom>
          <a:solidFill>
            <a:srgbClr val="CCDDEA"/>
          </a:solidFill>
          <a:ln>
            <a:noFill/>
          </a:ln>
        </p:spPr>
        <p:txBody>
          <a:bodyPr rtlCol="0" anchor="ctr"/>
          <a:lstStyle/>
          <a:p>
            <a:pPr algn="ctr"/>
            <a:endParaRPr/>
          </a:p>
        </p:txBody>
      </p:sp>
      <p:sp>
        <p:nvSpPr>
          <p:cNvPr id="89" name="Rounded Rectangle 88"/>
          <p:cNvSpPr/>
          <p:nvPr/>
        </p:nvSpPr>
        <p:spPr>
          <a:xfrm>
            <a:off x="2221991" y="4169664"/>
            <a:ext cx="274320" cy="274320"/>
          </a:xfrm>
          <a:prstGeom prst="roundRect">
            <a:avLst>
              <a:gd name="adj" fmla="val 12000"/>
            </a:avLst>
          </a:prstGeom>
          <a:solidFill>
            <a:srgbClr val="CCDDEA"/>
          </a:solidFill>
          <a:ln>
            <a:noFill/>
          </a:ln>
        </p:spPr>
        <p:txBody>
          <a:bodyPr rtlCol="0" anchor="ctr"/>
          <a:lstStyle/>
          <a:p>
            <a:pPr algn="ctr"/>
            <a:endParaRPr/>
          </a:p>
        </p:txBody>
      </p:sp>
      <p:sp>
        <p:nvSpPr>
          <p:cNvPr id="90" name="Rounded Rectangle 89"/>
          <p:cNvSpPr/>
          <p:nvPr/>
        </p:nvSpPr>
        <p:spPr>
          <a:xfrm>
            <a:off x="2560320" y="4169664"/>
            <a:ext cx="274320" cy="274320"/>
          </a:xfrm>
          <a:prstGeom prst="roundRect">
            <a:avLst>
              <a:gd name="adj" fmla="val 12000"/>
            </a:avLst>
          </a:prstGeom>
          <a:solidFill>
            <a:srgbClr val="CCDDEA"/>
          </a:solidFill>
          <a:ln>
            <a:noFill/>
          </a:ln>
        </p:spPr>
        <p:txBody>
          <a:bodyPr rtlCol="0" anchor="ctr"/>
          <a:lstStyle/>
          <a:p>
            <a:pPr algn="ctr"/>
            <a:endParaRPr/>
          </a:p>
        </p:txBody>
      </p:sp>
      <p:sp>
        <p:nvSpPr>
          <p:cNvPr id="91" name="Rounded Rectangle 90"/>
          <p:cNvSpPr/>
          <p:nvPr/>
        </p:nvSpPr>
        <p:spPr>
          <a:xfrm>
            <a:off x="2898648" y="4169664"/>
            <a:ext cx="274320" cy="274320"/>
          </a:xfrm>
          <a:prstGeom prst="roundRect">
            <a:avLst>
              <a:gd name="adj" fmla="val 12000"/>
            </a:avLst>
          </a:prstGeom>
          <a:solidFill>
            <a:srgbClr val="CCDDEA"/>
          </a:solidFill>
          <a:ln>
            <a:noFill/>
          </a:ln>
        </p:spPr>
        <p:txBody>
          <a:bodyPr rtlCol="0" anchor="ctr"/>
          <a:lstStyle/>
          <a:p>
            <a:pPr algn="ctr"/>
            <a:endParaRPr/>
          </a:p>
        </p:txBody>
      </p:sp>
      <p:sp>
        <p:nvSpPr>
          <p:cNvPr id="92" name="Rounded Rectangle 91"/>
          <p:cNvSpPr/>
          <p:nvPr/>
        </p:nvSpPr>
        <p:spPr>
          <a:xfrm>
            <a:off x="3236976" y="4169664"/>
            <a:ext cx="274320" cy="274320"/>
          </a:xfrm>
          <a:prstGeom prst="roundRect">
            <a:avLst>
              <a:gd name="adj" fmla="val 12000"/>
            </a:avLst>
          </a:prstGeom>
          <a:solidFill>
            <a:srgbClr val="CCDDEA"/>
          </a:solidFill>
          <a:ln>
            <a:noFill/>
          </a:ln>
        </p:spPr>
        <p:txBody>
          <a:bodyPr rtlCol="0" anchor="ctr"/>
          <a:lstStyle/>
          <a:p>
            <a:pPr algn="ctr"/>
            <a:endParaRPr/>
          </a:p>
        </p:txBody>
      </p:sp>
      <p:sp>
        <p:nvSpPr>
          <p:cNvPr id="93" name="Rounded Rectangle 92"/>
          <p:cNvSpPr/>
          <p:nvPr/>
        </p:nvSpPr>
        <p:spPr>
          <a:xfrm>
            <a:off x="3575304" y="4169664"/>
            <a:ext cx="274320" cy="274320"/>
          </a:xfrm>
          <a:prstGeom prst="roundRect">
            <a:avLst>
              <a:gd name="adj" fmla="val 12000"/>
            </a:avLst>
          </a:prstGeom>
          <a:solidFill>
            <a:srgbClr val="CCDDEA"/>
          </a:solidFill>
          <a:ln>
            <a:noFill/>
          </a:ln>
        </p:spPr>
        <p:txBody>
          <a:bodyPr rtlCol="0" anchor="ctr"/>
          <a:lstStyle/>
          <a:p>
            <a:pPr algn="ctr"/>
            <a:endParaRPr/>
          </a:p>
        </p:txBody>
      </p:sp>
      <p:sp>
        <p:nvSpPr>
          <p:cNvPr id="94" name="Rounded Rectangle 93"/>
          <p:cNvSpPr/>
          <p:nvPr/>
        </p:nvSpPr>
        <p:spPr>
          <a:xfrm>
            <a:off x="3913632" y="4169664"/>
            <a:ext cx="274320" cy="274320"/>
          </a:xfrm>
          <a:prstGeom prst="roundRect">
            <a:avLst>
              <a:gd name="adj" fmla="val 12000"/>
            </a:avLst>
          </a:prstGeom>
          <a:solidFill>
            <a:srgbClr val="CCDDEA"/>
          </a:solidFill>
          <a:ln>
            <a:noFill/>
          </a:ln>
        </p:spPr>
        <p:txBody>
          <a:bodyPr rtlCol="0" anchor="ctr"/>
          <a:lstStyle/>
          <a:p>
            <a:pPr algn="ctr"/>
            <a:endParaRPr/>
          </a:p>
        </p:txBody>
      </p:sp>
      <p:sp>
        <p:nvSpPr>
          <p:cNvPr id="95" name="Rounded Rectangle 94"/>
          <p:cNvSpPr/>
          <p:nvPr/>
        </p:nvSpPr>
        <p:spPr>
          <a:xfrm>
            <a:off x="868680" y="4507992"/>
            <a:ext cx="274320" cy="274320"/>
          </a:xfrm>
          <a:prstGeom prst="roundRect">
            <a:avLst>
              <a:gd name="adj" fmla="val 12000"/>
            </a:avLst>
          </a:prstGeom>
          <a:solidFill>
            <a:srgbClr val="CCDDEA"/>
          </a:solidFill>
          <a:ln>
            <a:noFill/>
          </a:ln>
        </p:spPr>
        <p:txBody>
          <a:bodyPr rtlCol="0" anchor="ctr"/>
          <a:lstStyle/>
          <a:p>
            <a:pPr algn="ctr"/>
            <a:endParaRPr/>
          </a:p>
        </p:txBody>
      </p:sp>
      <p:sp>
        <p:nvSpPr>
          <p:cNvPr id="96" name="Rounded Rectangle 95"/>
          <p:cNvSpPr/>
          <p:nvPr/>
        </p:nvSpPr>
        <p:spPr>
          <a:xfrm>
            <a:off x="1207007" y="4507992"/>
            <a:ext cx="274320" cy="274320"/>
          </a:xfrm>
          <a:prstGeom prst="roundRect">
            <a:avLst>
              <a:gd name="adj" fmla="val 12000"/>
            </a:avLst>
          </a:prstGeom>
          <a:solidFill>
            <a:srgbClr val="CCDDEA"/>
          </a:solidFill>
          <a:ln>
            <a:noFill/>
          </a:ln>
        </p:spPr>
        <p:txBody>
          <a:bodyPr rtlCol="0" anchor="ctr"/>
          <a:lstStyle/>
          <a:p>
            <a:pPr algn="ctr"/>
            <a:endParaRPr/>
          </a:p>
        </p:txBody>
      </p:sp>
      <p:sp>
        <p:nvSpPr>
          <p:cNvPr id="97" name="Rounded Rectangle 96"/>
          <p:cNvSpPr/>
          <p:nvPr/>
        </p:nvSpPr>
        <p:spPr>
          <a:xfrm>
            <a:off x="1545336" y="4507992"/>
            <a:ext cx="274320" cy="274320"/>
          </a:xfrm>
          <a:prstGeom prst="roundRect">
            <a:avLst>
              <a:gd name="adj" fmla="val 12000"/>
            </a:avLst>
          </a:prstGeom>
          <a:solidFill>
            <a:srgbClr val="CCDDEA"/>
          </a:solidFill>
          <a:ln>
            <a:noFill/>
          </a:ln>
        </p:spPr>
        <p:txBody>
          <a:bodyPr rtlCol="0" anchor="ctr"/>
          <a:lstStyle/>
          <a:p>
            <a:pPr algn="ctr"/>
            <a:endParaRPr/>
          </a:p>
        </p:txBody>
      </p:sp>
      <p:sp>
        <p:nvSpPr>
          <p:cNvPr id="98" name="Rounded Rectangle 97"/>
          <p:cNvSpPr/>
          <p:nvPr/>
        </p:nvSpPr>
        <p:spPr>
          <a:xfrm>
            <a:off x="1883663" y="4507992"/>
            <a:ext cx="274320" cy="274320"/>
          </a:xfrm>
          <a:prstGeom prst="roundRect">
            <a:avLst>
              <a:gd name="adj" fmla="val 12000"/>
            </a:avLst>
          </a:prstGeom>
          <a:solidFill>
            <a:srgbClr val="CCDDEA"/>
          </a:solidFill>
          <a:ln>
            <a:noFill/>
          </a:ln>
        </p:spPr>
        <p:txBody>
          <a:bodyPr rtlCol="0" anchor="ctr"/>
          <a:lstStyle/>
          <a:p>
            <a:pPr algn="ctr"/>
            <a:endParaRPr/>
          </a:p>
        </p:txBody>
      </p:sp>
      <p:sp>
        <p:nvSpPr>
          <p:cNvPr id="99" name="Rounded Rectangle 98"/>
          <p:cNvSpPr/>
          <p:nvPr/>
        </p:nvSpPr>
        <p:spPr>
          <a:xfrm>
            <a:off x="2221991" y="4507992"/>
            <a:ext cx="274320" cy="274320"/>
          </a:xfrm>
          <a:prstGeom prst="roundRect">
            <a:avLst>
              <a:gd name="adj" fmla="val 12000"/>
            </a:avLst>
          </a:prstGeom>
          <a:solidFill>
            <a:srgbClr val="CCDDEA"/>
          </a:solidFill>
          <a:ln>
            <a:noFill/>
          </a:ln>
        </p:spPr>
        <p:txBody>
          <a:bodyPr rtlCol="0" anchor="ctr"/>
          <a:lstStyle/>
          <a:p>
            <a:pPr algn="ctr"/>
            <a:endParaRPr/>
          </a:p>
        </p:txBody>
      </p:sp>
      <p:sp>
        <p:nvSpPr>
          <p:cNvPr id="100" name="Rounded Rectangle 99"/>
          <p:cNvSpPr/>
          <p:nvPr/>
        </p:nvSpPr>
        <p:spPr>
          <a:xfrm>
            <a:off x="2560320" y="4507992"/>
            <a:ext cx="274320" cy="274320"/>
          </a:xfrm>
          <a:prstGeom prst="roundRect">
            <a:avLst>
              <a:gd name="adj" fmla="val 12000"/>
            </a:avLst>
          </a:prstGeom>
          <a:solidFill>
            <a:srgbClr val="CCDDEA"/>
          </a:solidFill>
          <a:ln>
            <a:noFill/>
          </a:ln>
        </p:spPr>
        <p:txBody>
          <a:bodyPr rtlCol="0" anchor="ctr"/>
          <a:lstStyle/>
          <a:p>
            <a:pPr algn="ctr"/>
            <a:endParaRPr/>
          </a:p>
        </p:txBody>
      </p:sp>
      <p:sp>
        <p:nvSpPr>
          <p:cNvPr id="101" name="Rounded Rectangle 100"/>
          <p:cNvSpPr/>
          <p:nvPr/>
        </p:nvSpPr>
        <p:spPr>
          <a:xfrm>
            <a:off x="2898648" y="4507992"/>
            <a:ext cx="274320" cy="274320"/>
          </a:xfrm>
          <a:prstGeom prst="roundRect">
            <a:avLst>
              <a:gd name="adj" fmla="val 12000"/>
            </a:avLst>
          </a:prstGeom>
          <a:solidFill>
            <a:srgbClr val="CCDDEA"/>
          </a:solidFill>
          <a:ln>
            <a:noFill/>
          </a:ln>
        </p:spPr>
        <p:txBody>
          <a:bodyPr rtlCol="0" anchor="ctr"/>
          <a:lstStyle/>
          <a:p>
            <a:pPr algn="ctr"/>
            <a:endParaRPr/>
          </a:p>
        </p:txBody>
      </p:sp>
      <p:sp>
        <p:nvSpPr>
          <p:cNvPr id="102" name="Rounded Rectangle 101"/>
          <p:cNvSpPr/>
          <p:nvPr/>
        </p:nvSpPr>
        <p:spPr>
          <a:xfrm>
            <a:off x="3236976" y="4507992"/>
            <a:ext cx="274320" cy="274320"/>
          </a:xfrm>
          <a:prstGeom prst="roundRect">
            <a:avLst>
              <a:gd name="adj" fmla="val 12000"/>
            </a:avLst>
          </a:prstGeom>
          <a:solidFill>
            <a:srgbClr val="CCDDEA"/>
          </a:solidFill>
          <a:ln>
            <a:noFill/>
          </a:ln>
        </p:spPr>
        <p:txBody>
          <a:bodyPr rtlCol="0" anchor="ctr"/>
          <a:lstStyle/>
          <a:p>
            <a:pPr algn="ctr"/>
            <a:endParaRPr/>
          </a:p>
        </p:txBody>
      </p:sp>
      <p:sp>
        <p:nvSpPr>
          <p:cNvPr id="103" name="Rounded Rectangle 102"/>
          <p:cNvSpPr/>
          <p:nvPr/>
        </p:nvSpPr>
        <p:spPr>
          <a:xfrm>
            <a:off x="3575304" y="4507992"/>
            <a:ext cx="274320" cy="274320"/>
          </a:xfrm>
          <a:prstGeom prst="roundRect">
            <a:avLst>
              <a:gd name="adj" fmla="val 12000"/>
            </a:avLst>
          </a:prstGeom>
          <a:solidFill>
            <a:srgbClr val="CCDDEA"/>
          </a:solidFill>
          <a:ln>
            <a:noFill/>
          </a:ln>
        </p:spPr>
        <p:txBody>
          <a:bodyPr rtlCol="0" anchor="ctr"/>
          <a:lstStyle/>
          <a:p>
            <a:pPr algn="ctr"/>
            <a:endParaRPr/>
          </a:p>
        </p:txBody>
      </p:sp>
      <p:sp>
        <p:nvSpPr>
          <p:cNvPr id="104" name="Rounded Rectangle 103"/>
          <p:cNvSpPr/>
          <p:nvPr/>
        </p:nvSpPr>
        <p:spPr>
          <a:xfrm>
            <a:off x="3913632" y="4507992"/>
            <a:ext cx="274320" cy="274320"/>
          </a:xfrm>
          <a:prstGeom prst="roundRect">
            <a:avLst>
              <a:gd name="adj" fmla="val 12000"/>
            </a:avLst>
          </a:prstGeom>
          <a:solidFill>
            <a:srgbClr val="CCDDEA"/>
          </a:solidFill>
          <a:ln>
            <a:noFill/>
          </a:ln>
        </p:spPr>
        <p:txBody>
          <a:bodyPr rtlCol="0" anchor="ctr"/>
          <a:lstStyle/>
          <a:p>
            <a:pPr algn="ctr"/>
            <a:endParaRPr/>
          </a:p>
        </p:txBody>
      </p:sp>
      <p:sp>
        <p:nvSpPr>
          <p:cNvPr id="105" name="Rounded Rectangle 104"/>
          <p:cNvSpPr/>
          <p:nvPr/>
        </p:nvSpPr>
        <p:spPr>
          <a:xfrm>
            <a:off x="868680" y="4983480"/>
            <a:ext cx="237744" cy="237744"/>
          </a:xfrm>
          <a:prstGeom prst="roundRect">
            <a:avLst>
              <a:gd name="adj" fmla="val 12000"/>
            </a:avLst>
          </a:prstGeom>
          <a:solidFill>
            <a:srgbClr val="1F394D"/>
          </a:solidFill>
          <a:ln>
            <a:noFill/>
          </a:ln>
        </p:spPr>
        <p:txBody>
          <a:bodyPr rtlCol="0" anchor="ctr"/>
          <a:lstStyle/>
          <a:p>
            <a:pPr algn="ctr"/>
            <a:endParaRPr/>
          </a:p>
        </p:txBody>
      </p:sp>
      <p:sp>
        <p:nvSpPr>
          <p:cNvPr id="106" name="TextBox 105"/>
          <p:cNvSpPr txBox="1"/>
          <p:nvPr/>
        </p:nvSpPr>
        <p:spPr>
          <a:xfrm>
            <a:off x="1207008" y="4956048"/>
            <a:ext cx="3108960" cy="292608"/>
          </a:xfrm>
          <a:prstGeom prst="rect">
            <a:avLst/>
          </a:prstGeom>
          <a:noFill/>
        </p:spPr>
        <p:txBody>
          <a:bodyPr wrap="square" lIns="0" tIns="0" rIns="0" bIns="0" anchor="ctr">
            <a:spAutoFit/>
          </a:bodyPr>
          <a:lstStyle/>
          <a:p>
            <a:pPr algn="l"/>
            <a:r>
              <a:rPr sz="1400" b="0" i="0">
                <a:solidFill>
                  <a:srgbClr val="1F2A33"/>
                </a:solidFill>
              </a:rPr>
              <a:t>1 = most people can be trusted (481)</a:t>
            </a:r>
          </a:p>
        </p:txBody>
      </p:sp>
      <p:sp>
        <p:nvSpPr>
          <p:cNvPr id="107" name="Rounded Rectangle 106"/>
          <p:cNvSpPr/>
          <p:nvPr/>
        </p:nvSpPr>
        <p:spPr>
          <a:xfrm>
            <a:off x="868680" y="5349240"/>
            <a:ext cx="237744" cy="237744"/>
          </a:xfrm>
          <a:prstGeom prst="roundRect">
            <a:avLst>
              <a:gd name="adj" fmla="val 12000"/>
            </a:avLst>
          </a:prstGeom>
          <a:solidFill>
            <a:srgbClr val="CCDDEA"/>
          </a:solidFill>
          <a:ln>
            <a:noFill/>
          </a:ln>
        </p:spPr>
        <p:txBody>
          <a:bodyPr rtlCol="0" anchor="ctr"/>
          <a:lstStyle/>
          <a:p>
            <a:pPr algn="ctr"/>
            <a:endParaRPr/>
          </a:p>
        </p:txBody>
      </p:sp>
      <p:sp>
        <p:nvSpPr>
          <p:cNvPr id="108" name="TextBox 107"/>
          <p:cNvSpPr txBox="1"/>
          <p:nvPr/>
        </p:nvSpPr>
        <p:spPr>
          <a:xfrm>
            <a:off x="1207008" y="5321808"/>
            <a:ext cx="3108960" cy="292608"/>
          </a:xfrm>
          <a:prstGeom prst="rect">
            <a:avLst/>
          </a:prstGeom>
          <a:noFill/>
        </p:spPr>
        <p:txBody>
          <a:bodyPr wrap="square" lIns="0" tIns="0" rIns="0" bIns="0" anchor="ctr">
            <a:spAutoFit/>
          </a:bodyPr>
          <a:lstStyle/>
          <a:p>
            <a:pPr algn="l"/>
            <a:r>
              <a:rPr sz="1400" b="0" i="0">
                <a:solidFill>
                  <a:srgbClr val="1F2A33"/>
                </a:solidFill>
              </a:rPr>
              <a:t>0 = can’t be too careful (579)</a:t>
            </a:r>
          </a:p>
        </p:txBody>
      </p:sp>
      <p:sp>
        <p:nvSpPr>
          <p:cNvPr id="109" name="TextBox 108"/>
          <p:cNvSpPr txBox="1"/>
          <p:nvPr/>
        </p:nvSpPr>
        <p:spPr>
          <a:xfrm>
            <a:off x="868680" y="5669280"/>
            <a:ext cx="3383280" cy="228600"/>
          </a:xfrm>
          <a:prstGeom prst="rect">
            <a:avLst/>
          </a:prstGeom>
          <a:noFill/>
        </p:spPr>
        <p:txBody>
          <a:bodyPr wrap="square" lIns="0" tIns="0" rIns="0" bIns="0" anchor="t">
            <a:spAutoFit/>
          </a:bodyPr>
          <a:lstStyle/>
          <a:p>
            <a:pPr algn="l"/>
            <a:r>
              <a:rPr sz="1200" b="0" i="0">
                <a:solidFill>
                  <a:srgbClr val="55606B"/>
                </a:solidFill>
              </a:rPr>
              <a:t>Each square is about 1% of the 1,060 respondents</a:t>
            </a:r>
          </a:p>
        </p:txBody>
      </p:sp>
      <p:sp>
        <p:nvSpPr>
          <p:cNvPr id="110" name="Rounded Rectangle 109"/>
          <p:cNvSpPr/>
          <p:nvPr/>
        </p:nvSpPr>
        <p:spPr>
          <a:xfrm>
            <a:off x="4663440" y="1417320"/>
            <a:ext cx="6702552" cy="1417320"/>
          </a:xfrm>
          <a:prstGeom prst="roundRect">
            <a:avLst>
              <a:gd name="adj" fmla="val 8000"/>
            </a:avLst>
          </a:prstGeom>
          <a:solidFill>
            <a:srgbClr val="EEF3F7"/>
          </a:solidFill>
          <a:ln>
            <a:noFill/>
          </a:ln>
        </p:spPr>
        <p:txBody>
          <a:bodyPr rtlCol="0" anchor="ctr"/>
          <a:lstStyle/>
          <a:p>
            <a:pPr algn="ctr"/>
            <a:endParaRPr/>
          </a:p>
        </p:txBody>
      </p:sp>
      <p:sp>
        <p:nvSpPr>
          <p:cNvPr id="111" name="TextBox 110"/>
          <p:cNvSpPr txBox="1"/>
          <p:nvPr/>
        </p:nvSpPr>
        <p:spPr>
          <a:xfrm>
            <a:off x="4892040" y="1695817"/>
            <a:ext cx="6309360" cy="869469"/>
          </a:xfrm>
          <a:prstGeom prst="rect">
            <a:avLst/>
          </a:prstGeom>
          <a:noFill/>
        </p:spPr>
        <p:txBody>
          <a:bodyPr wrap="square" lIns="0" tIns="0" rIns="0" bIns="0" anchor="ctr">
            <a:spAutoFit/>
          </a:bodyPr>
          <a:lstStyle/>
          <a:p>
            <a:pPr algn="l">
              <a:spcAft>
                <a:spcPts val="600"/>
              </a:spcAft>
            </a:pPr>
            <a:r>
              <a:rPr sz="1500" b="1" i="0" dirty="0">
                <a:solidFill>
                  <a:srgbClr val="3F739B"/>
                </a:solidFill>
              </a:rPr>
              <a:t>Two categories</a:t>
            </a:r>
          </a:p>
          <a:p>
            <a:pPr algn="l">
              <a:spcAft>
                <a:spcPts val="300"/>
              </a:spcAft>
            </a:pPr>
            <a:r>
              <a:rPr sz="1700" b="0" i="0" dirty="0">
                <a:solidFill>
                  <a:srgbClr val="1F2A33"/>
                </a:solidFill>
              </a:rPr>
              <a:t>Voted or not  </a:t>
            </a:r>
            <a:r>
              <a:rPr lang="en-GB" sz="1700" b="0" i="0" dirty="0">
                <a:solidFill>
                  <a:srgbClr val="1F2A33"/>
                </a:solidFill>
              </a:rPr>
              <a:t>|</a:t>
            </a:r>
            <a:r>
              <a:rPr sz="1700" b="0" i="0" dirty="0">
                <a:solidFill>
                  <a:srgbClr val="1F2A33"/>
                </a:solidFill>
              </a:rPr>
              <a:t>  in paid work or not  </a:t>
            </a:r>
            <a:r>
              <a:rPr lang="en-GB" sz="1700" b="0" i="0" dirty="0">
                <a:solidFill>
                  <a:srgbClr val="1F2A33"/>
                </a:solidFill>
              </a:rPr>
              <a:t>|</a:t>
            </a:r>
            <a:r>
              <a:rPr sz="1700" b="0" i="0" dirty="0">
                <a:solidFill>
                  <a:srgbClr val="1F2A33"/>
                </a:solidFill>
              </a:rPr>
              <a:t>  owns a home or not</a:t>
            </a:r>
          </a:p>
          <a:p>
            <a:pPr algn="l"/>
            <a:r>
              <a:rPr sz="1700" b="0" i="0" dirty="0">
                <a:solidFill>
                  <a:srgbClr val="1F2A33"/>
                </a:solidFill>
              </a:rPr>
              <a:t>Trusts most people or not  </a:t>
            </a:r>
            <a:r>
              <a:rPr lang="en-GB" sz="1700" b="0" i="0" dirty="0">
                <a:solidFill>
                  <a:srgbClr val="1F2A33"/>
                </a:solidFill>
              </a:rPr>
              <a:t>|</a:t>
            </a:r>
            <a:r>
              <a:rPr sz="1700" b="0" i="0" dirty="0">
                <a:solidFill>
                  <a:srgbClr val="1F2A33"/>
                </a:solidFill>
              </a:rPr>
              <a:t>  supports a policy or not</a:t>
            </a:r>
          </a:p>
        </p:txBody>
      </p:sp>
      <p:sp>
        <p:nvSpPr>
          <p:cNvPr id="112" name="Rounded Rectangle 111"/>
          <p:cNvSpPr/>
          <p:nvPr/>
        </p:nvSpPr>
        <p:spPr>
          <a:xfrm>
            <a:off x="4663440" y="3017520"/>
            <a:ext cx="6702552" cy="1417320"/>
          </a:xfrm>
          <a:prstGeom prst="roundRect">
            <a:avLst>
              <a:gd name="adj" fmla="val 8000"/>
            </a:avLst>
          </a:prstGeom>
          <a:solidFill>
            <a:srgbClr val="EEF3F7"/>
          </a:solidFill>
          <a:ln>
            <a:noFill/>
          </a:ln>
        </p:spPr>
        <p:txBody>
          <a:bodyPr rtlCol="0" anchor="ctr"/>
          <a:lstStyle/>
          <a:p>
            <a:pPr algn="ctr"/>
            <a:endParaRPr/>
          </a:p>
        </p:txBody>
      </p:sp>
      <p:sp>
        <p:nvSpPr>
          <p:cNvPr id="113" name="TextBox 112"/>
          <p:cNvSpPr txBox="1"/>
          <p:nvPr/>
        </p:nvSpPr>
        <p:spPr>
          <a:xfrm>
            <a:off x="4892040" y="3136392"/>
            <a:ext cx="6309360" cy="1188720"/>
          </a:xfrm>
          <a:prstGeom prst="rect">
            <a:avLst/>
          </a:prstGeom>
          <a:noFill/>
        </p:spPr>
        <p:txBody>
          <a:bodyPr wrap="square" lIns="0" tIns="0" rIns="0" bIns="0" anchor="ctr">
            <a:spAutoFit/>
          </a:bodyPr>
          <a:lstStyle/>
          <a:p>
            <a:pPr algn="l">
              <a:spcAft>
                <a:spcPts val="600"/>
              </a:spcAft>
            </a:pPr>
            <a:r>
              <a:rPr sz="1500" b="1" i="0">
                <a:solidFill>
                  <a:srgbClr val="3F739B"/>
                </a:solidFill>
              </a:rPr>
              <a:t>The mean of a 0/1 variable</a:t>
            </a:r>
          </a:p>
          <a:p>
            <a:pPr algn="l">
              <a:spcAft>
                <a:spcPts val="300"/>
              </a:spcAft>
            </a:pPr>
            <a:r>
              <a:rPr sz="2200" b="1" i="0">
                <a:solidFill>
                  <a:srgbClr val="1F394D"/>
                </a:solidFill>
              </a:rPr>
              <a:t>(481 × 1 + 579 × 0) ÷ 1,060 = 0.454</a:t>
            </a:r>
          </a:p>
          <a:p>
            <a:pPr algn="l"/>
            <a:r>
              <a:rPr sz="1500" b="0" i="0">
                <a:solidFill>
                  <a:srgbClr val="55606B"/>
                </a:solidFill>
              </a:rPr>
              <a:t>the proportion who say most people can be trusted: 45.4%</a:t>
            </a:r>
          </a:p>
        </p:txBody>
      </p:sp>
      <p:sp>
        <p:nvSpPr>
          <p:cNvPr id="114" name="Rounded Rectangle 113"/>
          <p:cNvSpPr/>
          <p:nvPr/>
        </p:nvSpPr>
        <p:spPr>
          <a:xfrm>
            <a:off x="4663440" y="4617720"/>
            <a:ext cx="6702552" cy="1188720"/>
          </a:xfrm>
          <a:prstGeom prst="roundRect">
            <a:avLst>
              <a:gd name="adj" fmla="val 8000"/>
            </a:avLst>
          </a:prstGeom>
          <a:solidFill>
            <a:srgbClr val="1F394D"/>
          </a:solidFill>
          <a:ln>
            <a:noFill/>
          </a:ln>
        </p:spPr>
        <p:txBody>
          <a:bodyPr rtlCol="0" anchor="ctr"/>
          <a:lstStyle/>
          <a:p>
            <a:pPr algn="ctr"/>
            <a:endParaRPr/>
          </a:p>
        </p:txBody>
      </p:sp>
      <p:sp>
        <p:nvSpPr>
          <p:cNvPr id="115" name="TextBox 114"/>
          <p:cNvSpPr txBox="1"/>
          <p:nvPr/>
        </p:nvSpPr>
        <p:spPr>
          <a:xfrm>
            <a:off x="4892040" y="4709160"/>
            <a:ext cx="6309360" cy="1005840"/>
          </a:xfrm>
          <a:prstGeom prst="rect">
            <a:avLst/>
          </a:prstGeom>
          <a:noFill/>
        </p:spPr>
        <p:txBody>
          <a:bodyPr wrap="square" lIns="0" tIns="0" rIns="0" bIns="0" anchor="ctr">
            <a:spAutoFit/>
          </a:bodyPr>
          <a:lstStyle/>
          <a:p>
            <a:pPr algn="l">
              <a:spcAft>
                <a:spcPts val="400"/>
              </a:spcAft>
            </a:pPr>
            <a:r>
              <a:rPr sz="1500" b="1" i="0">
                <a:solidFill>
                  <a:srgbClr val="B88C00"/>
                </a:solidFill>
              </a:rPr>
              <a:t>What we model</a:t>
            </a:r>
          </a:p>
          <a:p>
            <a:pPr algn="l"/>
            <a:r>
              <a:rPr sz="1700" b="0" i="0">
                <a:solidFill>
                  <a:srgbClr val="FFFFFF"/>
                </a:solidFill>
              </a:rPr>
              <a:t>The probability of being in the category coded 1, and how it changes with age, sex or education</a:t>
            </a:r>
          </a:p>
        </p:txBody>
      </p:sp>
      <p:sp>
        <p:nvSpPr>
          <p:cNvPr id="116" name="TextBox 115"/>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British Social Attitudes 2010 (gb-bsa10-trust.sav), n = 1,060; 7 respondents of unknown age excluded.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Activity: linear or logistic regression</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TextBox 4"/>
          <p:cNvSpPr txBox="1"/>
          <p:nvPr/>
        </p:nvSpPr>
        <p:spPr>
          <a:xfrm>
            <a:off x="758952" y="1216152"/>
            <a:ext cx="10607040" cy="457200"/>
          </a:xfrm>
          <a:prstGeom prst="rect">
            <a:avLst/>
          </a:prstGeom>
          <a:noFill/>
        </p:spPr>
        <p:txBody>
          <a:bodyPr wrap="square" lIns="0" tIns="0" rIns="0" bIns="0" anchor="t">
            <a:spAutoFit/>
          </a:bodyPr>
          <a:lstStyle/>
          <a:p>
            <a:pPr algn="l"/>
            <a:r>
              <a:rPr sz="2000" b="0" i="0">
                <a:solidFill>
                  <a:srgbClr val="55606B"/>
                </a:solidFill>
              </a:rPr>
              <a:t>Which model fits each outcome? All from datasets you have used. 2 minutes with a neighbour.</a:t>
            </a:r>
          </a:p>
        </p:txBody>
      </p:sp>
      <p:sp>
        <p:nvSpPr>
          <p:cNvPr id="6" name="Outcome card 1"/>
          <p:cNvSpPr/>
          <p:nvPr/>
        </p:nvSpPr>
        <p:spPr>
          <a:xfrm>
            <a:off x="758952" y="1874519"/>
            <a:ext cx="3425952" cy="1874519"/>
          </a:xfrm>
          <a:prstGeom prst="roundRect">
            <a:avLst>
              <a:gd name="adj" fmla="val 8000"/>
            </a:avLst>
          </a:prstGeom>
          <a:solidFill>
            <a:srgbClr val="EEF3F7"/>
          </a:solidFill>
          <a:ln>
            <a:noFill/>
          </a:ln>
        </p:spPr>
        <p:txBody>
          <a:bodyPr rtlCol="0" anchor="ctr"/>
          <a:lstStyle/>
          <a:p>
            <a:endParaRPr/>
          </a:p>
        </p:txBody>
      </p:sp>
      <p:sp>
        <p:nvSpPr>
          <p:cNvPr id="7" name="Oval 6"/>
          <p:cNvSpPr/>
          <p:nvPr/>
        </p:nvSpPr>
        <p:spPr>
          <a:xfrm>
            <a:off x="960120" y="207568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1</a:t>
            </a:r>
          </a:p>
        </p:txBody>
      </p:sp>
      <p:sp>
        <p:nvSpPr>
          <p:cNvPr id="8" name="TextBox 7"/>
          <p:cNvSpPr txBox="1"/>
          <p:nvPr/>
        </p:nvSpPr>
        <p:spPr>
          <a:xfrm>
            <a:off x="1536192" y="2075688"/>
            <a:ext cx="2465831" cy="457200"/>
          </a:xfrm>
          <a:prstGeom prst="rect">
            <a:avLst/>
          </a:prstGeom>
          <a:noFill/>
        </p:spPr>
        <p:txBody>
          <a:bodyPr wrap="square" lIns="0" tIns="0" rIns="0" bIns="0" anchor="ctr">
            <a:spAutoFit/>
          </a:bodyPr>
          <a:lstStyle/>
          <a:p>
            <a:pPr algn="l"/>
            <a:r>
              <a:rPr sz="1500" b="1" i="0">
                <a:solidFill>
                  <a:srgbClr val="3F739B"/>
                </a:solidFill>
              </a:rPr>
              <a:t>ESS 2023-24 · ppltrst</a:t>
            </a:r>
          </a:p>
        </p:txBody>
      </p:sp>
      <p:sp>
        <p:nvSpPr>
          <p:cNvPr id="9" name="TextBox 8"/>
          <p:cNvSpPr txBox="1"/>
          <p:nvPr/>
        </p:nvSpPr>
        <p:spPr>
          <a:xfrm>
            <a:off x="960120" y="2651760"/>
            <a:ext cx="3023616" cy="960119"/>
          </a:xfrm>
          <a:prstGeom prst="rect">
            <a:avLst/>
          </a:prstGeom>
          <a:noFill/>
        </p:spPr>
        <p:txBody>
          <a:bodyPr wrap="square" lIns="0" tIns="0" rIns="0" bIns="0" anchor="t">
            <a:spAutoFit/>
          </a:bodyPr>
          <a:lstStyle/>
          <a:p>
            <a:pPr algn="l"/>
            <a:r>
              <a:rPr sz="1700" b="0" i="0">
                <a:solidFill>
                  <a:srgbClr val="1F2A33"/>
                </a:solidFill>
              </a:rPr>
              <a:t>Trust in most people, from 0 (“can’t be too careful”) to 10 (“most people can be trusted”)</a:t>
            </a:r>
          </a:p>
        </p:txBody>
      </p:sp>
      <p:sp>
        <p:nvSpPr>
          <p:cNvPr id="10" name="Outcome card 2"/>
          <p:cNvSpPr/>
          <p:nvPr/>
        </p:nvSpPr>
        <p:spPr>
          <a:xfrm>
            <a:off x="4349496" y="1874519"/>
            <a:ext cx="3425952" cy="1874519"/>
          </a:xfrm>
          <a:prstGeom prst="roundRect">
            <a:avLst>
              <a:gd name="adj" fmla="val 8000"/>
            </a:avLst>
          </a:prstGeom>
          <a:solidFill>
            <a:srgbClr val="EEF3F7"/>
          </a:solidFill>
          <a:ln>
            <a:noFill/>
          </a:ln>
        </p:spPr>
        <p:txBody>
          <a:bodyPr rtlCol="0" anchor="ctr"/>
          <a:lstStyle/>
          <a:p>
            <a:endParaRPr/>
          </a:p>
        </p:txBody>
      </p:sp>
      <p:sp>
        <p:nvSpPr>
          <p:cNvPr id="11" name="Oval 10"/>
          <p:cNvSpPr/>
          <p:nvPr/>
        </p:nvSpPr>
        <p:spPr>
          <a:xfrm>
            <a:off x="4550664" y="207568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2</a:t>
            </a:r>
          </a:p>
        </p:txBody>
      </p:sp>
      <p:sp>
        <p:nvSpPr>
          <p:cNvPr id="12" name="TextBox 11"/>
          <p:cNvSpPr txBox="1"/>
          <p:nvPr/>
        </p:nvSpPr>
        <p:spPr>
          <a:xfrm>
            <a:off x="5126736" y="2075688"/>
            <a:ext cx="2465831" cy="457200"/>
          </a:xfrm>
          <a:prstGeom prst="rect">
            <a:avLst/>
          </a:prstGeom>
          <a:noFill/>
        </p:spPr>
        <p:txBody>
          <a:bodyPr wrap="square" lIns="0" tIns="0" rIns="0" bIns="0" anchor="ctr">
            <a:spAutoFit/>
          </a:bodyPr>
          <a:lstStyle/>
          <a:p>
            <a:pPr algn="l"/>
            <a:r>
              <a:rPr sz="1500" b="1" i="0">
                <a:solidFill>
                  <a:srgbClr val="3F739B"/>
                </a:solidFill>
              </a:rPr>
              <a:t>BSA 2010 · SocTrust</a:t>
            </a:r>
          </a:p>
        </p:txBody>
      </p:sp>
      <p:sp>
        <p:nvSpPr>
          <p:cNvPr id="13" name="TextBox 12"/>
          <p:cNvSpPr txBox="1"/>
          <p:nvPr/>
        </p:nvSpPr>
        <p:spPr>
          <a:xfrm>
            <a:off x="4550664" y="2651760"/>
            <a:ext cx="3023616" cy="960119"/>
          </a:xfrm>
          <a:prstGeom prst="rect">
            <a:avLst/>
          </a:prstGeom>
          <a:noFill/>
        </p:spPr>
        <p:txBody>
          <a:bodyPr wrap="square" lIns="0" tIns="0" rIns="0" bIns="0" anchor="t">
            <a:spAutoFit/>
          </a:bodyPr>
          <a:lstStyle/>
          <a:p>
            <a:pPr algn="l"/>
            <a:r>
              <a:rPr sz="1700" b="0" i="0">
                <a:solidFill>
                  <a:srgbClr val="1F2A33"/>
                </a:solidFill>
              </a:rPr>
              <a:t>“Most people can be trusted” or “Can’t be too careful in dealing with people”</a:t>
            </a:r>
          </a:p>
        </p:txBody>
      </p:sp>
      <p:sp>
        <p:nvSpPr>
          <p:cNvPr id="14" name="Outcome card 3"/>
          <p:cNvSpPr/>
          <p:nvPr/>
        </p:nvSpPr>
        <p:spPr>
          <a:xfrm>
            <a:off x="7940040" y="1874519"/>
            <a:ext cx="3425952" cy="1874519"/>
          </a:xfrm>
          <a:prstGeom prst="roundRect">
            <a:avLst>
              <a:gd name="adj" fmla="val 8000"/>
            </a:avLst>
          </a:prstGeom>
          <a:solidFill>
            <a:srgbClr val="EEF3F7"/>
          </a:solidFill>
          <a:ln>
            <a:noFill/>
          </a:ln>
        </p:spPr>
        <p:txBody>
          <a:bodyPr rtlCol="0" anchor="ctr"/>
          <a:lstStyle/>
          <a:p>
            <a:endParaRPr/>
          </a:p>
        </p:txBody>
      </p:sp>
      <p:sp>
        <p:nvSpPr>
          <p:cNvPr id="15" name="Oval 14"/>
          <p:cNvSpPr/>
          <p:nvPr/>
        </p:nvSpPr>
        <p:spPr>
          <a:xfrm>
            <a:off x="8141208" y="207568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3</a:t>
            </a:r>
          </a:p>
        </p:txBody>
      </p:sp>
      <p:sp>
        <p:nvSpPr>
          <p:cNvPr id="16" name="TextBox 15"/>
          <p:cNvSpPr txBox="1"/>
          <p:nvPr/>
        </p:nvSpPr>
        <p:spPr>
          <a:xfrm>
            <a:off x="8717280" y="2075688"/>
            <a:ext cx="2465831" cy="457200"/>
          </a:xfrm>
          <a:prstGeom prst="rect">
            <a:avLst/>
          </a:prstGeom>
          <a:noFill/>
        </p:spPr>
        <p:txBody>
          <a:bodyPr wrap="square" lIns="0" tIns="0" rIns="0" bIns="0" anchor="ctr">
            <a:spAutoFit/>
          </a:bodyPr>
          <a:lstStyle/>
          <a:p>
            <a:pPr algn="l"/>
            <a:r>
              <a:rPr sz="1500" b="1" i="0">
                <a:solidFill>
                  <a:srgbClr val="3F739B"/>
                </a:solidFill>
              </a:rPr>
              <a:t>Spirit Level · Trust</a:t>
            </a:r>
          </a:p>
        </p:txBody>
      </p:sp>
      <p:sp>
        <p:nvSpPr>
          <p:cNvPr id="17" name="TextBox 16"/>
          <p:cNvSpPr txBox="1"/>
          <p:nvPr/>
        </p:nvSpPr>
        <p:spPr>
          <a:xfrm>
            <a:off x="8141208" y="2651760"/>
            <a:ext cx="3023616" cy="960119"/>
          </a:xfrm>
          <a:prstGeom prst="rect">
            <a:avLst/>
          </a:prstGeom>
          <a:noFill/>
        </p:spPr>
        <p:txBody>
          <a:bodyPr wrap="square" lIns="0" tIns="0" rIns="0" bIns="0" anchor="t">
            <a:spAutoFit/>
          </a:bodyPr>
          <a:lstStyle/>
          <a:p>
            <a:pPr algn="l"/>
            <a:r>
              <a:rPr sz="1700" b="0" i="0">
                <a:solidFill>
                  <a:srgbClr val="1F2A33"/>
                </a:solidFill>
              </a:rPr>
              <a:t>Percentage of each country’s population who say most people can be trusted</a:t>
            </a:r>
          </a:p>
        </p:txBody>
      </p:sp>
      <p:sp>
        <p:nvSpPr>
          <p:cNvPr id="18" name="Outcome card 4"/>
          <p:cNvSpPr/>
          <p:nvPr/>
        </p:nvSpPr>
        <p:spPr>
          <a:xfrm>
            <a:off x="758952" y="3950208"/>
            <a:ext cx="3425952" cy="1874519"/>
          </a:xfrm>
          <a:prstGeom prst="roundRect">
            <a:avLst>
              <a:gd name="adj" fmla="val 8000"/>
            </a:avLst>
          </a:prstGeom>
          <a:solidFill>
            <a:srgbClr val="EEF3F7"/>
          </a:solidFill>
          <a:ln>
            <a:noFill/>
          </a:ln>
        </p:spPr>
        <p:txBody>
          <a:bodyPr rtlCol="0" anchor="ctr"/>
          <a:lstStyle/>
          <a:p>
            <a:endParaRPr/>
          </a:p>
        </p:txBody>
      </p:sp>
      <p:sp>
        <p:nvSpPr>
          <p:cNvPr id="19" name="Oval 18"/>
          <p:cNvSpPr/>
          <p:nvPr/>
        </p:nvSpPr>
        <p:spPr>
          <a:xfrm>
            <a:off x="960120" y="4151376"/>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4</a:t>
            </a:r>
          </a:p>
        </p:txBody>
      </p:sp>
      <p:sp>
        <p:nvSpPr>
          <p:cNvPr id="20" name="TextBox 19"/>
          <p:cNvSpPr txBox="1"/>
          <p:nvPr/>
        </p:nvSpPr>
        <p:spPr>
          <a:xfrm>
            <a:off x="1536192" y="4151376"/>
            <a:ext cx="2465831" cy="457200"/>
          </a:xfrm>
          <a:prstGeom prst="rect">
            <a:avLst/>
          </a:prstGeom>
          <a:noFill/>
        </p:spPr>
        <p:txBody>
          <a:bodyPr wrap="square" lIns="0" tIns="0" rIns="0" bIns="0" anchor="ctr">
            <a:spAutoFit/>
          </a:bodyPr>
          <a:lstStyle/>
          <a:p>
            <a:pPr algn="l"/>
            <a:r>
              <a:rPr sz="1500" b="1" i="0">
                <a:solidFill>
                  <a:srgbClr val="3F739B"/>
                </a:solidFill>
              </a:rPr>
              <a:t>BSA 2023 · ISSP_Q36</a:t>
            </a:r>
          </a:p>
        </p:txBody>
      </p:sp>
      <p:sp>
        <p:nvSpPr>
          <p:cNvPr id="21" name="TextBox 20"/>
          <p:cNvSpPr txBox="1"/>
          <p:nvPr/>
        </p:nvSpPr>
        <p:spPr>
          <a:xfrm>
            <a:off x="960120" y="4727448"/>
            <a:ext cx="3023616" cy="960119"/>
          </a:xfrm>
          <a:prstGeom prst="rect">
            <a:avLst/>
          </a:prstGeom>
          <a:noFill/>
        </p:spPr>
        <p:txBody>
          <a:bodyPr wrap="square" lIns="0" tIns="0" rIns="0" bIns="0" anchor="t">
            <a:spAutoFit/>
          </a:bodyPr>
          <a:lstStyle/>
          <a:p>
            <a:pPr algn="l"/>
            <a:r>
              <a:rPr sz="1700" b="0" i="0">
                <a:solidFill>
                  <a:srgbClr val="1F2A33"/>
                </a:solidFill>
              </a:rPr>
              <a:t>Four answers, from “people can almost always be trusted” to “you almost always can’t be too careful”</a:t>
            </a:r>
          </a:p>
        </p:txBody>
      </p:sp>
      <p:sp>
        <p:nvSpPr>
          <p:cNvPr id="22" name="Outcome card 5"/>
          <p:cNvSpPr/>
          <p:nvPr/>
        </p:nvSpPr>
        <p:spPr>
          <a:xfrm>
            <a:off x="4349496" y="3950208"/>
            <a:ext cx="3425952" cy="1874519"/>
          </a:xfrm>
          <a:prstGeom prst="roundRect">
            <a:avLst>
              <a:gd name="adj" fmla="val 8000"/>
            </a:avLst>
          </a:prstGeom>
          <a:solidFill>
            <a:srgbClr val="EEF3F7"/>
          </a:solidFill>
          <a:ln>
            <a:noFill/>
          </a:ln>
        </p:spPr>
        <p:txBody>
          <a:bodyPr rtlCol="0" anchor="ctr"/>
          <a:lstStyle/>
          <a:p>
            <a:endParaRPr/>
          </a:p>
        </p:txBody>
      </p:sp>
      <p:sp>
        <p:nvSpPr>
          <p:cNvPr id="23" name="Oval 22"/>
          <p:cNvSpPr/>
          <p:nvPr/>
        </p:nvSpPr>
        <p:spPr>
          <a:xfrm>
            <a:off x="4550664" y="4151376"/>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5</a:t>
            </a:r>
          </a:p>
        </p:txBody>
      </p:sp>
      <p:sp>
        <p:nvSpPr>
          <p:cNvPr id="24" name="TextBox 23"/>
          <p:cNvSpPr txBox="1"/>
          <p:nvPr/>
        </p:nvSpPr>
        <p:spPr>
          <a:xfrm>
            <a:off x="5126736" y="4151376"/>
            <a:ext cx="2465831" cy="457200"/>
          </a:xfrm>
          <a:prstGeom prst="rect">
            <a:avLst/>
          </a:prstGeom>
          <a:noFill/>
        </p:spPr>
        <p:txBody>
          <a:bodyPr wrap="square" lIns="0" tIns="0" rIns="0" bIns="0" anchor="ctr">
            <a:spAutoFit/>
          </a:bodyPr>
          <a:lstStyle/>
          <a:p>
            <a:pPr algn="l"/>
            <a:r>
              <a:rPr sz="1500" b="1" i="0">
                <a:solidFill>
                  <a:srgbClr val="3F739B"/>
                </a:solidFill>
              </a:rPr>
              <a:t>Citizenship Survey 2010-11 · PTrust</a:t>
            </a:r>
          </a:p>
        </p:txBody>
      </p:sp>
      <p:sp>
        <p:nvSpPr>
          <p:cNvPr id="25" name="TextBox 24"/>
          <p:cNvSpPr txBox="1"/>
          <p:nvPr/>
        </p:nvSpPr>
        <p:spPr>
          <a:xfrm>
            <a:off x="4550664" y="4727448"/>
            <a:ext cx="3023616" cy="960119"/>
          </a:xfrm>
          <a:prstGeom prst="rect">
            <a:avLst/>
          </a:prstGeom>
          <a:noFill/>
        </p:spPr>
        <p:txBody>
          <a:bodyPr wrap="square" lIns="0" tIns="0" rIns="0" bIns="0" anchor="t">
            <a:spAutoFit/>
          </a:bodyPr>
          <a:lstStyle/>
          <a:p>
            <a:pPr algn="l"/>
            <a:r>
              <a:rPr sz="1700" b="0" i="0">
                <a:solidFill>
                  <a:srgbClr val="1F2A33"/>
                </a:solidFill>
              </a:rPr>
              <a:t>“People can be trusted”, “You can’t be too careful”, or a volunteered “It depends”</a:t>
            </a:r>
          </a:p>
        </p:txBody>
      </p:sp>
      <p:sp>
        <p:nvSpPr>
          <p:cNvPr id="26" name="Outcome card 6"/>
          <p:cNvSpPr/>
          <p:nvPr/>
        </p:nvSpPr>
        <p:spPr>
          <a:xfrm>
            <a:off x="7940040" y="3950208"/>
            <a:ext cx="3425952" cy="1874519"/>
          </a:xfrm>
          <a:prstGeom prst="roundRect">
            <a:avLst>
              <a:gd name="adj" fmla="val 8000"/>
            </a:avLst>
          </a:prstGeom>
          <a:solidFill>
            <a:srgbClr val="EEF3F7"/>
          </a:solidFill>
          <a:ln>
            <a:noFill/>
          </a:ln>
        </p:spPr>
        <p:txBody>
          <a:bodyPr rtlCol="0" anchor="ctr"/>
          <a:lstStyle/>
          <a:p>
            <a:endParaRPr/>
          </a:p>
        </p:txBody>
      </p:sp>
      <p:sp>
        <p:nvSpPr>
          <p:cNvPr id="27" name="Oval 26"/>
          <p:cNvSpPr/>
          <p:nvPr/>
        </p:nvSpPr>
        <p:spPr>
          <a:xfrm>
            <a:off x="8141208" y="4151376"/>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6</a:t>
            </a:r>
          </a:p>
        </p:txBody>
      </p:sp>
      <p:sp>
        <p:nvSpPr>
          <p:cNvPr id="28" name="TextBox 27"/>
          <p:cNvSpPr txBox="1"/>
          <p:nvPr/>
        </p:nvSpPr>
        <p:spPr>
          <a:xfrm>
            <a:off x="8717280" y="4151376"/>
            <a:ext cx="2465831" cy="457200"/>
          </a:xfrm>
          <a:prstGeom prst="rect">
            <a:avLst/>
          </a:prstGeom>
          <a:noFill/>
        </p:spPr>
        <p:txBody>
          <a:bodyPr wrap="square" lIns="0" tIns="0" rIns="0" bIns="0" anchor="ctr">
            <a:spAutoFit/>
          </a:bodyPr>
          <a:lstStyle/>
          <a:p>
            <a:pPr algn="l"/>
            <a:r>
              <a:rPr sz="1500" b="1" i="0">
                <a:solidFill>
                  <a:srgbClr val="3F739B"/>
                </a:solidFill>
              </a:rPr>
              <a:t>Your assignment question</a:t>
            </a:r>
          </a:p>
        </p:txBody>
      </p:sp>
      <p:sp>
        <p:nvSpPr>
          <p:cNvPr id="29" name="TextBox 28"/>
          <p:cNvSpPr txBox="1"/>
          <p:nvPr/>
        </p:nvSpPr>
        <p:spPr>
          <a:xfrm>
            <a:off x="8141208" y="4727448"/>
            <a:ext cx="3023616" cy="960119"/>
          </a:xfrm>
          <a:prstGeom prst="rect">
            <a:avLst/>
          </a:prstGeom>
          <a:noFill/>
        </p:spPr>
        <p:txBody>
          <a:bodyPr wrap="square" lIns="0" tIns="0" rIns="0" bIns="0" anchor="t">
            <a:spAutoFit/>
          </a:bodyPr>
          <a:lstStyle/>
          <a:p>
            <a:pPr algn="l"/>
            <a:r>
              <a:rPr sz="1700" b="0" i="0">
                <a:solidFill>
                  <a:srgbClr val="1F2A33"/>
                </a:solidFill>
              </a:rPr>
              <a:t>How is the outcome in the question you chose actually measured?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straight line for a 0/1 outcome</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6" name="Rounded Rectangle 5"/>
          <p:cNvSpPr/>
          <p:nvPr/>
        </p:nvSpPr>
        <p:spPr>
          <a:xfrm>
            <a:off x="8595360" y="1417320"/>
            <a:ext cx="2770632" cy="2011680"/>
          </a:xfrm>
          <a:prstGeom prst="roundRect">
            <a:avLst>
              <a:gd name="adj" fmla="val 8000"/>
            </a:avLst>
          </a:prstGeom>
          <a:solidFill>
            <a:srgbClr val="1F394D"/>
          </a:solidFill>
          <a:ln>
            <a:noFill/>
          </a:ln>
        </p:spPr>
        <p:txBody>
          <a:bodyPr rtlCol="0" anchor="ctr"/>
          <a:lstStyle/>
          <a:p>
            <a:endParaRPr/>
          </a:p>
        </p:txBody>
      </p:sp>
      <p:sp>
        <p:nvSpPr>
          <p:cNvPr id="7" name="TextBox 6"/>
          <p:cNvSpPr txBox="1"/>
          <p:nvPr/>
        </p:nvSpPr>
        <p:spPr>
          <a:xfrm>
            <a:off x="8796528" y="1578254"/>
            <a:ext cx="2368296" cy="1689811"/>
          </a:xfrm>
          <a:prstGeom prst="rect">
            <a:avLst/>
          </a:prstGeom>
          <a:noFill/>
        </p:spPr>
        <p:txBody>
          <a:bodyPr wrap="square" lIns="0" tIns="0" rIns="0" bIns="0" anchor="t">
            <a:spAutoFit/>
          </a:bodyPr>
          <a:lstStyle/>
          <a:p>
            <a:pPr algn="l">
              <a:spcAft>
                <a:spcPts val="400"/>
              </a:spcAft>
            </a:pPr>
            <a:r>
              <a:rPr sz="3000" b="1" i="0">
                <a:solidFill>
                  <a:srgbClr val="B88C00"/>
                </a:solidFill>
              </a:rPr>
              <a:t>121%</a:t>
            </a:r>
          </a:p>
          <a:p>
            <a:pPr algn="l">
              <a:spcAft>
                <a:spcPts val="400"/>
              </a:spcAft>
            </a:pPr>
            <a:r>
              <a:rPr sz="1500" b="0" i="0">
                <a:solidFill>
                  <a:srgbClr val="CCDDEA"/>
                </a:solidFill>
              </a:rPr>
              <a:t>the straight line’s prediction at £100,000: impossible</a:t>
            </a:r>
          </a:p>
        </p:txBody>
      </p:sp>
      <p:sp>
        <p:nvSpPr>
          <p:cNvPr id="8" name="Rounded Rectangle 7"/>
          <p:cNvSpPr/>
          <p:nvPr/>
        </p:nvSpPr>
        <p:spPr>
          <a:xfrm>
            <a:off x="8595360" y="3611880"/>
            <a:ext cx="2770632" cy="2148840"/>
          </a:xfrm>
          <a:prstGeom prst="roundRect">
            <a:avLst>
              <a:gd name="adj" fmla="val 8000"/>
            </a:avLst>
          </a:prstGeom>
          <a:solidFill>
            <a:srgbClr val="EEF3F7"/>
          </a:solidFill>
          <a:ln>
            <a:noFill/>
          </a:ln>
        </p:spPr>
        <p:txBody>
          <a:bodyPr rtlCol="0" anchor="ctr"/>
          <a:lstStyle/>
          <a:p>
            <a:endParaRPr/>
          </a:p>
        </p:txBody>
      </p:sp>
      <p:sp>
        <p:nvSpPr>
          <p:cNvPr id="9" name="TextBox 8"/>
          <p:cNvSpPr txBox="1"/>
          <p:nvPr/>
        </p:nvSpPr>
        <p:spPr>
          <a:xfrm>
            <a:off x="8796528" y="3772814"/>
            <a:ext cx="2368296" cy="1826971"/>
          </a:xfrm>
          <a:prstGeom prst="rect">
            <a:avLst/>
          </a:prstGeom>
          <a:noFill/>
        </p:spPr>
        <p:txBody>
          <a:bodyPr wrap="square" lIns="0" tIns="0" rIns="0" bIns="0" anchor="t">
            <a:spAutoFit/>
          </a:bodyPr>
          <a:lstStyle/>
          <a:p>
            <a:pPr algn="l">
              <a:spcAft>
                <a:spcPts val="400"/>
              </a:spcAft>
            </a:pPr>
            <a:r>
              <a:rPr sz="1900" b="1" i="0">
                <a:solidFill>
                  <a:srgbClr val="1F394D"/>
                </a:solidFill>
              </a:rPr>
              <a:t>The S-curve</a:t>
            </a:r>
          </a:p>
          <a:p>
            <a:pPr algn="l">
              <a:spcAft>
                <a:spcPts val="400"/>
              </a:spcAft>
            </a:pPr>
            <a:r>
              <a:rPr sz="1500" b="0" i="0">
                <a:solidFill>
                  <a:srgbClr val="1F2A33"/>
                </a:solidFill>
              </a:rPr>
              <a:t>Stays between 0 and 1: flattens at the extremes, steepest in the middle.</a:t>
            </a:r>
          </a:p>
        </p:txBody>
      </p:sp>
      <p:sp>
        <p:nvSpPr>
          <p:cNvPr id="10" name="Rounded Rectangle 9"/>
          <p:cNvSpPr/>
          <p:nvPr/>
        </p:nvSpPr>
        <p:spPr>
          <a:xfrm>
            <a:off x="758952" y="5943600"/>
            <a:ext cx="2514600" cy="292608"/>
          </a:xfrm>
          <a:prstGeom prst="roundRect">
            <a:avLst>
              <a:gd name="adj" fmla="val 50000"/>
            </a:avLst>
          </a:prstGeom>
          <a:solidFill>
            <a:srgbClr val="FFFFFF"/>
          </a:solidFill>
          <a:ln w="15875">
            <a:solidFill>
              <a:srgbClr val="B88C00"/>
            </a:solidFill>
          </a:ln>
        </p:spPr>
        <p:txBody>
          <a:bodyPr rtlCol="0" anchor="ctr"/>
          <a:lstStyle/>
          <a:p>
            <a:endParaRPr/>
          </a:p>
        </p:txBody>
      </p:sp>
      <p:sp>
        <p:nvSpPr>
          <p:cNvPr id="11" name="TextBox 10"/>
          <p:cNvSpPr txBox="1"/>
          <p:nvPr/>
        </p:nvSpPr>
        <p:spPr>
          <a:xfrm>
            <a:off x="758952" y="5943600"/>
            <a:ext cx="2514600" cy="292608"/>
          </a:xfrm>
          <a:prstGeom prst="rect">
            <a:avLst/>
          </a:prstGeom>
          <a:noFill/>
        </p:spPr>
        <p:txBody>
          <a:bodyPr wrap="square" lIns="0" tIns="0" rIns="0" bIns="0" anchor="ctr">
            <a:spAutoFit/>
          </a:bodyPr>
          <a:lstStyle/>
          <a:p>
            <a:pPr algn="ctr"/>
            <a:r>
              <a:rPr sz="1200" b="1" i="0">
                <a:solidFill>
                  <a:srgbClr val="7A5C00"/>
                </a:solidFill>
              </a:rPr>
              <a:t>SYNTHETIC EXAMPLE DATA</a:t>
            </a:r>
          </a:p>
        </p:txBody>
      </p:sp>
      <p:sp>
        <p:nvSpPr>
          <p:cNvPr id="12" name="TextBox 11"/>
          <p:cNvSpPr txBox="1"/>
          <p:nvPr/>
        </p:nvSpPr>
        <p:spPr>
          <a:xfrm>
            <a:off x="3410712" y="5943600"/>
            <a:ext cx="7955279" cy="292608"/>
          </a:xfrm>
          <a:prstGeom prst="rect">
            <a:avLst/>
          </a:prstGeom>
          <a:noFill/>
        </p:spPr>
        <p:txBody>
          <a:bodyPr wrap="square" lIns="0" tIns="0" rIns="0" bIns="0" anchor="ctr">
            <a:spAutoFit/>
          </a:bodyPr>
          <a:lstStyle/>
          <a:p>
            <a:pPr algn="l"/>
            <a:r>
              <a:rPr sz="1200" b="0" i="0">
                <a:solidFill>
                  <a:srgbClr val="55606B"/>
                </a:solidFill>
              </a:rPr>
              <a:t>500 households: income (£10,000s) and whether they own a car (1) or not (0).</a:t>
            </a:r>
          </a:p>
        </p:txBody>
      </p:sp>
      <p:graphicFrame>
        <p:nvGraphicFramePr>
          <p:cNvPr id="13" name="Car chart"/>
          <p:cNvGraphicFramePr>
            <a:graphicFrameLocks noGrp="1"/>
          </p:cNvGraphicFramePr>
          <p:nvPr/>
        </p:nvGraphicFramePr>
        <p:xfrm>
          <a:off x="758952" y="1280160"/>
          <a:ext cx="7589520" cy="4572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2CD23AC-0A85-D9D0-4F22-DC32EC044CC9}"/>
              </a:ext>
            </a:extLst>
          </p:cNvPr>
          <p:cNvSpPr>
            <a:spLocks noGrp="1"/>
          </p:cNvSpPr>
          <p:nvPr>
            <p:ph type="title"/>
          </p:nvPr>
        </p:nvSpPr>
        <p:spPr/>
        <p:txBody>
          <a:bodyPr/>
          <a:lstStyle/>
          <a:p>
            <a:r>
              <a:rPr sz="4400"/>
              <a:t>Probability, odds</a:t>
            </a:r>
            <a:br/>
            <a:r>
              <a:rPr sz="4400"/>
              <a:t>and log-odds</a:t>
            </a:r>
          </a:p>
        </p:txBody>
      </p:sp>
      <p:sp>
        <p:nvSpPr>
          <p:cNvPr id="2" name="Text Placeholder 1">
            <a:extLst>
              <a:ext uri="{FF2B5EF4-FFF2-40B4-BE49-F238E27FC236}">
                <a16:creationId xmlns:a16="http://schemas.microsoft.com/office/drawing/2014/main" id="{01542C17-2D4C-7318-D8DB-750135EFE689}"/>
              </a:ext>
            </a:extLst>
          </p:cNvPr>
          <p:cNvSpPr>
            <a:spLocks noGrp="1"/>
          </p:cNvSpPr>
          <p:nvPr>
            <p:ph type="body" sz="half" idx="2"/>
          </p:nvPr>
        </p:nvSpPr>
        <p:spPr/>
        <p:txBody>
          <a:bodyPr/>
          <a:lstStyle/>
          <a:p>
            <a:endParaRPr lang="en-GB"/>
          </a:p>
        </p:txBody>
      </p:sp>
      <p:sp>
        <p:nvSpPr>
          <p:cNvPr id="3" name="Date Placeholder 2">
            <a:extLst>
              <a:ext uri="{FF2B5EF4-FFF2-40B4-BE49-F238E27FC236}">
                <a16:creationId xmlns:a16="http://schemas.microsoft.com/office/drawing/2014/main" id="{2B0A1004-EA61-9EE1-5858-497753EB66A9}"/>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BAA5B42C-F9C0-A2AE-5786-4918FAF5FAD9}"/>
              </a:ext>
            </a:extLst>
          </p:cNvPr>
          <p:cNvSpPr>
            <a:spLocks noGrp="1"/>
          </p:cNvSpPr>
          <p:nvPr>
            <p:ph type="ftr" sz="quarter" idx="11"/>
          </p:nvPr>
        </p:nvSpPr>
        <p:spPr/>
        <p:txBody>
          <a:bodyPr/>
          <a:lstStyle/>
          <a:p>
            <a:r>
              <a:rPr lang="en-GB"/>
              <a:t>Logistic regression</a:t>
            </a:r>
          </a:p>
        </p:txBody>
      </p:sp>
    </p:spTree>
    <p:extLst>
      <p:ext uri="{BB962C8B-B14F-4D97-AF65-F5344CB8AC3E}">
        <p14:creationId xmlns:p14="http://schemas.microsoft.com/office/powerpoint/2010/main" val="5024709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Probability and odds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Rounded Rectangle 4"/>
          <p:cNvSpPr/>
          <p:nvPr/>
        </p:nvSpPr>
        <p:spPr>
          <a:xfrm>
            <a:off x="758952" y="1371600"/>
            <a:ext cx="10607040" cy="2057400"/>
          </a:xfrm>
          <a:prstGeom prst="roundRect">
            <a:avLst>
              <a:gd name="adj" fmla="val 8000"/>
            </a:avLst>
          </a:prstGeom>
          <a:solidFill>
            <a:srgbClr val="EEF3F7"/>
          </a:solidFill>
          <a:ln>
            <a:noFill/>
          </a:ln>
        </p:spPr>
        <p:txBody>
          <a:bodyPr rtlCol="0" anchor="ctr"/>
          <a:lstStyle/>
          <a:p>
            <a:pPr algn="ctr"/>
            <a:endParaRPr/>
          </a:p>
        </p:txBody>
      </p:sp>
      <p:sp>
        <p:nvSpPr>
          <p:cNvPr id="6" name="TextBox 5"/>
          <p:cNvSpPr txBox="1"/>
          <p:nvPr/>
        </p:nvSpPr>
        <p:spPr>
          <a:xfrm>
            <a:off x="987552" y="1508760"/>
            <a:ext cx="4572000" cy="320040"/>
          </a:xfrm>
          <a:prstGeom prst="rect">
            <a:avLst/>
          </a:prstGeom>
          <a:noFill/>
        </p:spPr>
        <p:txBody>
          <a:bodyPr wrap="square" lIns="0" tIns="0" rIns="0" bIns="0" anchor="t">
            <a:spAutoFit/>
          </a:bodyPr>
          <a:lstStyle/>
          <a:p>
            <a:pPr algn="l"/>
            <a:r>
              <a:rPr sz="1600" b="1" i="0">
                <a:solidFill>
                  <a:srgbClr val="3F739B"/>
                </a:solidFill>
              </a:rPr>
              <a:t>Rain tomorrow</a:t>
            </a:r>
          </a:p>
        </p:txBody>
      </p:sp>
      <p:sp>
        <p:nvSpPr>
          <p:cNvPr id="7" name="Rounded Rectangle 6"/>
          <p:cNvSpPr/>
          <p:nvPr/>
        </p:nvSpPr>
        <p:spPr>
          <a:xfrm>
            <a:off x="987552" y="2011680"/>
            <a:ext cx="380390" cy="380390"/>
          </a:xfrm>
          <a:prstGeom prst="roundRect">
            <a:avLst>
              <a:gd name="adj" fmla="val 12000"/>
            </a:avLst>
          </a:prstGeom>
          <a:solidFill>
            <a:srgbClr val="B88C00"/>
          </a:solidFill>
          <a:ln>
            <a:noFill/>
          </a:ln>
        </p:spPr>
        <p:txBody>
          <a:bodyPr rtlCol="0" anchor="ctr"/>
          <a:lstStyle/>
          <a:p>
            <a:pPr algn="ctr"/>
            <a:endParaRPr/>
          </a:p>
        </p:txBody>
      </p:sp>
      <p:sp>
        <p:nvSpPr>
          <p:cNvPr id="8" name="Rounded Rectangle 7"/>
          <p:cNvSpPr/>
          <p:nvPr/>
        </p:nvSpPr>
        <p:spPr>
          <a:xfrm>
            <a:off x="1463040" y="2011680"/>
            <a:ext cx="380390" cy="380390"/>
          </a:xfrm>
          <a:prstGeom prst="roundRect">
            <a:avLst>
              <a:gd name="adj" fmla="val 12000"/>
            </a:avLst>
          </a:prstGeom>
          <a:solidFill>
            <a:srgbClr val="B88C00"/>
          </a:solidFill>
          <a:ln>
            <a:noFill/>
          </a:ln>
        </p:spPr>
        <p:txBody>
          <a:bodyPr rtlCol="0" anchor="ctr"/>
          <a:lstStyle/>
          <a:p>
            <a:pPr algn="ctr"/>
            <a:endParaRPr/>
          </a:p>
        </p:txBody>
      </p:sp>
      <p:sp>
        <p:nvSpPr>
          <p:cNvPr id="9" name="Rounded Rectangle 8"/>
          <p:cNvSpPr/>
          <p:nvPr/>
        </p:nvSpPr>
        <p:spPr>
          <a:xfrm>
            <a:off x="1938528" y="2011680"/>
            <a:ext cx="380390" cy="380390"/>
          </a:xfrm>
          <a:prstGeom prst="roundRect">
            <a:avLst>
              <a:gd name="adj" fmla="val 12000"/>
            </a:avLst>
          </a:prstGeom>
          <a:solidFill>
            <a:srgbClr val="B88C00"/>
          </a:solidFill>
          <a:ln>
            <a:noFill/>
          </a:ln>
        </p:spPr>
        <p:txBody>
          <a:bodyPr rtlCol="0" anchor="ctr"/>
          <a:lstStyle/>
          <a:p>
            <a:pPr algn="ctr"/>
            <a:endParaRPr/>
          </a:p>
        </p:txBody>
      </p:sp>
      <p:sp>
        <p:nvSpPr>
          <p:cNvPr id="10" name="Rounded Rectangle 9"/>
          <p:cNvSpPr/>
          <p:nvPr/>
        </p:nvSpPr>
        <p:spPr>
          <a:xfrm>
            <a:off x="2414016" y="2011680"/>
            <a:ext cx="380390" cy="380390"/>
          </a:xfrm>
          <a:prstGeom prst="roundRect">
            <a:avLst>
              <a:gd name="adj" fmla="val 12000"/>
            </a:avLst>
          </a:prstGeom>
          <a:solidFill>
            <a:srgbClr val="B88C00"/>
          </a:solidFill>
          <a:ln>
            <a:noFill/>
          </a:ln>
        </p:spPr>
        <p:txBody>
          <a:bodyPr rtlCol="0" anchor="ctr"/>
          <a:lstStyle/>
          <a:p>
            <a:pPr algn="ctr"/>
            <a:endParaRPr/>
          </a:p>
        </p:txBody>
      </p:sp>
      <p:sp>
        <p:nvSpPr>
          <p:cNvPr id="11" name="Rounded Rectangle 10"/>
          <p:cNvSpPr/>
          <p:nvPr/>
        </p:nvSpPr>
        <p:spPr>
          <a:xfrm>
            <a:off x="2889504" y="2011680"/>
            <a:ext cx="380390" cy="380390"/>
          </a:xfrm>
          <a:prstGeom prst="roundRect">
            <a:avLst>
              <a:gd name="adj" fmla="val 12000"/>
            </a:avLst>
          </a:prstGeom>
          <a:solidFill>
            <a:srgbClr val="B88C00"/>
          </a:solidFill>
          <a:ln>
            <a:noFill/>
          </a:ln>
        </p:spPr>
        <p:txBody>
          <a:bodyPr rtlCol="0" anchor="ctr"/>
          <a:lstStyle/>
          <a:p>
            <a:pPr algn="ctr"/>
            <a:endParaRPr/>
          </a:p>
        </p:txBody>
      </p:sp>
      <p:sp>
        <p:nvSpPr>
          <p:cNvPr id="12" name="Rounded Rectangle 11"/>
          <p:cNvSpPr/>
          <p:nvPr/>
        </p:nvSpPr>
        <p:spPr>
          <a:xfrm>
            <a:off x="3364992" y="2011680"/>
            <a:ext cx="380390" cy="380390"/>
          </a:xfrm>
          <a:prstGeom prst="roundRect">
            <a:avLst>
              <a:gd name="adj" fmla="val 12000"/>
            </a:avLst>
          </a:prstGeom>
          <a:solidFill>
            <a:srgbClr val="B88C00"/>
          </a:solidFill>
          <a:ln>
            <a:noFill/>
          </a:ln>
        </p:spPr>
        <p:txBody>
          <a:bodyPr rtlCol="0" anchor="ctr"/>
          <a:lstStyle/>
          <a:p>
            <a:pPr algn="ctr"/>
            <a:endParaRPr/>
          </a:p>
        </p:txBody>
      </p:sp>
      <p:sp>
        <p:nvSpPr>
          <p:cNvPr id="13" name="Rounded Rectangle 12"/>
          <p:cNvSpPr/>
          <p:nvPr/>
        </p:nvSpPr>
        <p:spPr>
          <a:xfrm>
            <a:off x="3840480" y="2011680"/>
            <a:ext cx="380390" cy="380390"/>
          </a:xfrm>
          <a:prstGeom prst="roundRect">
            <a:avLst>
              <a:gd name="adj" fmla="val 12000"/>
            </a:avLst>
          </a:prstGeom>
          <a:solidFill>
            <a:srgbClr val="B88C00"/>
          </a:solidFill>
          <a:ln>
            <a:noFill/>
          </a:ln>
        </p:spPr>
        <p:txBody>
          <a:bodyPr rtlCol="0" anchor="ctr"/>
          <a:lstStyle/>
          <a:p>
            <a:pPr algn="ctr"/>
            <a:endParaRPr/>
          </a:p>
        </p:txBody>
      </p:sp>
      <p:sp>
        <p:nvSpPr>
          <p:cNvPr id="14" name="Rounded Rectangle 13"/>
          <p:cNvSpPr/>
          <p:nvPr/>
        </p:nvSpPr>
        <p:spPr>
          <a:xfrm>
            <a:off x="4315968" y="2011680"/>
            <a:ext cx="380390" cy="380390"/>
          </a:xfrm>
          <a:prstGeom prst="roundRect">
            <a:avLst>
              <a:gd name="adj" fmla="val 12000"/>
            </a:avLst>
          </a:prstGeom>
          <a:solidFill>
            <a:srgbClr val="CCDDEA"/>
          </a:solidFill>
          <a:ln>
            <a:noFill/>
          </a:ln>
        </p:spPr>
        <p:txBody>
          <a:bodyPr rtlCol="0" anchor="ctr"/>
          <a:lstStyle/>
          <a:p>
            <a:pPr algn="ctr"/>
            <a:endParaRPr/>
          </a:p>
        </p:txBody>
      </p:sp>
      <p:sp>
        <p:nvSpPr>
          <p:cNvPr id="15" name="Rounded Rectangle 14"/>
          <p:cNvSpPr/>
          <p:nvPr/>
        </p:nvSpPr>
        <p:spPr>
          <a:xfrm>
            <a:off x="4791456" y="2011680"/>
            <a:ext cx="380390" cy="380390"/>
          </a:xfrm>
          <a:prstGeom prst="roundRect">
            <a:avLst>
              <a:gd name="adj" fmla="val 12000"/>
            </a:avLst>
          </a:prstGeom>
          <a:solidFill>
            <a:srgbClr val="CCDDEA"/>
          </a:solidFill>
          <a:ln>
            <a:noFill/>
          </a:ln>
        </p:spPr>
        <p:txBody>
          <a:bodyPr rtlCol="0" anchor="ctr"/>
          <a:lstStyle/>
          <a:p>
            <a:pPr algn="ctr"/>
            <a:endParaRPr/>
          </a:p>
        </p:txBody>
      </p:sp>
      <p:sp>
        <p:nvSpPr>
          <p:cNvPr id="16" name="Rounded Rectangle 15"/>
          <p:cNvSpPr/>
          <p:nvPr/>
        </p:nvSpPr>
        <p:spPr>
          <a:xfrm>
            <a:off x="5266944" y="2011680"/>
            <a:ext cx="380390" cy="380390"/>
          </a:xfrm>
          <a:prstGeom prst="roundRect">
            <a:avLst>
              <a:gd name="adj" fmla="val 12000"/>
            </a:avLst>
          </a:prstGeom>
          <a:solidFill>
            <a:srgbClr val="CCDDEA"/>
          </a:solidFill>
          <a:ln>
            <a:noFill/>
          </a:ln>
        </p:spPr>
        <p:txBody>
          <a:bodyPr rtlCol="0" anchor="ctr"/>
          <a:lstStyle/>
          <a:p>
            <a:pPr algn="ctr"/>
            <a:endParaRPr/>
          </a:p>
        </p:txBody>
      </p:sp>
      <p:sp>
        <p:nvSpPr>
          <p:cNvPr id="17" name="TextBox 16"/>
          <p:cNvSpPr txBox="1"/>
          <p:nvPr/>
        </p:nvSpPr>
        <p:spPr>
          <a:xfrm>
            <a:off x="987552" y="2437790"/>
            <a:ext cx="3328416" cy="274320"/>
          </a:xfrm>
          <a:prstGeom prst="rect">
            <a:avLst/>
          </a:prstGeom>
          <a:noFill/>
        </p:spPr>
        <p:txBody>
          <a:bodyPr wrap="square" lIns="0" tIns="0" rIns="0" bIns="0" anchor="t">
            <a:spAutoFit/>
          </a:bodyPr>
          <a:lstStyle/>
          <a:p>
            <a:pPr algn="l"/>
            <a:r>
              <a:rPr sz="1200" b="0" i="0">
                <a:solidFill>
                  <a:srgbClr val="55606B"/>
                </a:solidFill>
              </a:rPr>
              <a:t>7 rainy days</a:t>
            </a:r>
          </a:p>
        </p:txBody>
      </p:sp>
      <p:sp>
        <p:nvSpPr>
          <p:cNvPr id="18" name="TextBox 17"/>
          <p:cNvSpPr txBox="1"/>
          <p:nvPr/>
        </p:nvSpPr>
        <p:spPr>
          <a:xfrm>
            <a:off x="4315968" y="2437790"/>
            <a:ext cx="1426464" cy="274320"/>
          </a:xfrm>
          <a:prstGeom prst="rect">
            <a:avLst/>
          </a:prstGeom>
          <a:noFill/>
        </p:spPr>
        <p:txBody>
          <a:bodyPr wrap="square" lIns="0" tIns="0" rIns="0" bIns="0" anchor="t">
            <a:spAutoFit/>
          </a:bodyPr>
          <a:lstStyle/>
          <a:p>
            <a:pPr algn="l"/>
            <a:r>
              <a:rPr sz="1200" b="0" i="0">
                <a:solidFill>
                  <a:srgbClr val="55606B"/>
                </a:solidFill>
              </a:rPr>
              <a:t>3 dry</a:t>
            </a:r>
          </a:p>
        </p:txBody>
      </p:sp>
      <p:sp>
        <p:nvSpPr>
          <p:cNvPr id="19" name="TextBox 18"/>
          <p:cNvSpPr txBox="1"/>
          <p:nvPr/>
        </p:nvSpPr>
        <p:spPr>
          <a:xfrm>
            <a:off x="6172200" y="1783080"/>
            <a:ext cx="5029200" cy="1463040"/>
          </a:xfrm>
          <a:prstGeom prst="rect">
            <a:avLst/>
          </a:prstGeom>
          <a:noFill/>
        </p:spPr>
        <p:txBody>
          <a:bodyPr wrap="square" lIns="0" tIns="0" rIns="0" bIns="0" anchor="ctr">
            <a:spAutoFit/>
          </a:bodyPr>
          <a:lstStyle/>
          <a:p>
            <a:pPr algn="l">
              <a:spcAft>
                <a:spcPts val="600"/>
              </a:spcAft>
            </a:pPr>
            <a:r>
              <a:rPr sz="2000" b="1" i="0">
                <a:solidFill>
                  <a:srgbClr val="1F394D"/>
                </a:solidFill>
              </a:rPr>
              <a:t>Probability</a:t>
            </a:r>
            <a:r>
              <a:rPr sz="2000" b="0" i="0">
                <a:solidFill>
                  <a:srgbClr val="1F2A33"/>
                </a:solidFill>
              </a:rPr>
              <a:t>  =  7 out of 10  =  0.70</a:t>
            </a:r>
          </a:p>
          <a:p>
            <a:pPr algn="l">
              <a:spcAft>
                <a:spcPts val="800"/>
              </a:spcAft>
            </a:pPr>
            <a:r>
              <a:rPr sz="2000" b="1" i="0">
                <a:solidFill>
                  <a:srgbClr val="1F394D"/>
                </a:solidFill>
              </a:rPr>
              <a:t>Odds</a:t>
            </a:r>
            <a:r>
              <a:rPr sz="2000" b="0" i="0">
                <a:solidFill>
                  <a:srgbClr val="1F2A33"/>
                </a:solidFill>
              </a:rPr>
              <a:t>  =  7 for every 3  =  7 ÷ 3  =  2.33</a:t>
            </a:r>
          </a:p>
          <a:p>
            <a:pPr algn="l"/>
            <a:r>
              <a:rPr sz="1400" b="0" i="0">
                <a:solidFill>
                  <a:srgbClr val="55606B"/>
                </a:solidFill>
              </a:rPr>
              <a:t>a probability compares rainy days with all days; odds compare rainy days with dry days</a:t>
            </a:r>
          </a:p>
        </p:txBody>
      </p:sp>
      <p:sp>
        <p:nvSpPr>
          <p:cNvPr id="20" name="Rounded Rectangle 19"/>
          <p:cNvSpPr/>
          <p:nvPr/>
        </p:nvSpPr>
        <p:spPr>
          <a:xfrm>
            <a:off x="758952" y="3611880"/>
            <a:ext cx="10607040" cy="2057400"/>
          </a:xfrm>
          <a:prstGeom prst="roundRect">
            <a:avLst>
              <a:gd name="adj" fmla="val 8000"/>
            </a:avLst>
          </a:prstGeom>
          <a:solidFill>
            <a:srgbClr val="EEF3F7"/>
          </a:solidFill>
          <a:ln>
            <a:noFill/>
          </a:ln>
        </p:spPr>
        <p:txBody>
          <a:bodyPr rtlCol="0" anchor="ctr"/>
          <a:lstStyle/>
          <a:p>
            <a:pPr algn="ctr"/>
            <a:endParaRPr/>
          </a:p>
        </p:txBody>
      </p:sp>
      <p:sp>
        <p:nvSpPr>
          <p:cNvPr id="21" name="TextBox 20"/>
          <p:cNvSpPr txBox="1"/>
          <p:nvPr/>
        </p:nvSpPr>
        <p:spPr>
          <a:xfrm>
            <a:off x="987552" y="3749040"/>
            <a:ext cx="4572000" cy="320040"/>
          </a:xfrm>
          <a:prstGeom prst="rect">
            <a:avLst/>
          </a:prstGeom>
          <a:noFill/>
        </p:spPr>
        <p:txBody>
          <a:bodyPr wrap="square" lIns="0" tIns="0" rIns="0" bIns="0" anchor="t">
            <a:spAutoFit/>
          </a:bodyPr>
          <a:lstStyle/>
          <a:p>
            <a:pPr algn="l"/>
            <a:r>
              <a:rPr sz="1600" b="1" i="0">
                <a:solidFill>
                  <a:srgbClr val="3F739B"/>
                </a:solidFill>
              </a:rPr>
              <a:t>Social trust, BSA 2010</a:t>
            </a:r>
          </a:p>
        </p:txBody>
      </p:sp>
      <p:sp>
        <p:nvSpPr>
          <p:cNvPr id="22" name="Rounded Rectangle 21"/>
          <p:cNvSpPr/>
          <p:nvPr/>
        </p:nvSpPr>
        <p:spPr>
          <a:xfrm>
            <a:off x="987552" y="4251960"/>
            <a:ext cx="345809" cy="345809"/>
          </a:xfrm>
          <a:prstGeom prst="roundRect">
            <a:avLst>
              <a:gd name="adj" fmla="val 12000"/>
            </a:avLst>
          </a:prstGeom>
          <a:solidFill>
            <a:srgbClr val="1F394D"/>
          </a:solidFill>
          <a:ln>
            <a:noFill/>
          </a:ln>
        </p:spPr>
        <p:txBody>
          <a:bodyPr rtlCol="0" anchor="ctr"/>
          <a:lstStyle/>
          <a:p>
            <a:pPr algn="ctr"/>
            <a:endParaRPr/>
          </a:p>
        </p:txBody>
      </p:sp>
      <p:sp>
        <p:nvSpPr>
          <p:cNvPr id="23" name="Rounded Rectangle 22"/>
          <p:cNvSpPr/>
          <p:nvPr/>
        </p:nvSpPr>
        <p:spPr>
          <a:xfrm>
            <a:off x="1419813" y="4251960"/>
            <a:ext cx="345809" cy="345809"/>
          </a:xfrm>
          <a:prstGeom prst="roundRect">
            <a:avLst>
              <a:gd name="adj" fmla="val 12000"/>
            </a:avLst>
          </a:prstGeom>
          <a:solidFill>
            <a:srgbClr val="1F394D"/>
          </a:solidFill>
          <a:ln>
            <a:noFill/>
          </a:ln>
        </p:spPr>
        <p:txBody>
          <a:bodyPr rtlCol="0" anchor="ctr"/>
          <a:lstStyle/>
          <a:p>
            <a:pPr algn="ctr"/>
            <a:endParaRPr/>
          </a:p>
        </p:txBody>
      </p:sp>
      <p:sp>
        <p:nvSpPr>
          <p:cNvPr id="24" name="Rounded Rectangle 23"/>
          <p:cNvSpPr/>
          <p:nvPr/>
        </p:nvSpPr>
        <p:spPr>
          <a:xfrm>
            <a:off x="1852075" y="4251960"/>
            <a:ext cx="345809" cy="345809"/>
          </a:xfrm>
          <a:prstGeom prst="roundRect">
            <a:avLst>
              <a:gd name="adj" fmla="val 12000"/>
            </a:avLst>
          </a:prstGeom>
          <a:solidFill>
            <a:srgbClr val="1F394D"/>
          </a:solidFill>
          <a:ln>
            <a:noFill/>
          </a:ln>
        </p:spPr>
        <p:txBody>
          <a:bodyPr rtlCol="0" anchor="ctr"/>
          <a:lstStyle/>
          <a:p>
            <a:pPr algn="ctr"/>
            <a:endParaRPr/>
          </a:p>
        </p:txBody>
      </p:sp>
      <p:sp>
        <p:nvSpPr>
          <p:cNvPr id="25" name="Rounded Rectangle 24"/>
          <p:cNvSpPr/>
          <p:nvPr/>
        </p:nvSpPr>
        <p:spPr>
          <a:xfrm>
            <a:off x="2284337" y="4251960"/>
            <a:ext cx="345809" cy="345809"/>
          </a:xfrm>
          <a:prstGeom prst="roundRect">
            <a:avLst>
              <a:gd name="adj" fmla="val 12000"/>
            </a:avLst>
          </a:prstGeom>
          <a:solidFill>
            <a:srgbClr val="1F394D"/>
          </a:solidFill>
          <a:ln>
            <a:noFill/>
          </a:ln>
        </p:spPr>
        <p:txBody>
          <a:bodyPr rtlCol="0" anchor="ctr"/>
          <a:lstStyle/>
          <a:p>
            <a:pPr algn="ctr"/>
            <a:endParaRPr/>
          </a:p>
        </p:txBody>
      </p:sp>
      <p:sp>
        <p:nvSpPr>
          <p:cNvPr id="26" name="Rounded Rectangle 25"/>
          <p:cNvSpPr/>
          <p:nvPr/>
        </p:nvSpPr>
        <p:spPr>
          <a:xfrm>
            <a:off x="2716599" y="4251960"/>
            <a:ext cx="345809" cy="345809"/>
          </a:xfrm>
          <a:prstGeom prst="roundRect">
            <a:avLst>
              <a:gd name="adj" fmla="val 12000"/>
            </a:avLst>
          </a:prstGeom>
          <a:solidFill>
            <a:srgbClr val="1F394D"/>
          </a:solidFill>
          <a:ln>
            <a:noFill/>
          </a:ln>
        </p:spPr>
        <p:txBody>
          <a:bodyPr rtlCol="0" anchor="ctr"/>
          <a:lstStyle/>
          <a:p>
            <a:pPr algn="ctr"/>
            <a:endParaRPr/>
          </a:p>
        </p:txBody>
      </p:sp>
      <p:sp>
        <p:nvSpPr>
          <p:cNvPr id="27" name="Rounded Rectangle 26"/>
          <p:cNvSpPr/>
          <p:nvPr/>
        </p:nvSpPr>
        <p:spPr>
          <a:xfrm>
            <a:off x="3148861" y="4251960"/>
            <a:ext cx="345809" cy="345809"/>
          </a:xfrm>
          <a:prstGeom prst="roundRect">
            <a:avLst>
              <a:gd name="adj" fmla="val 12000"/>
            </a:avLst>
          </a:prstGeom>
          <a:solidFill>
            <a:srgbClr val="CCDDEA"/>
          </a:solidFill>
          <a:ln>
            <a:noFill/>
          </a:ln>
        </p:spPr>
        <p:txBody>
          <a:bodyPr rtlCol="0" anchor="ctr"/>
          <a:lstStyle/>
          <a:p>
            <a:pPr algn="ctr"/>
            <a:endParaRPr/>
          </a:p>
        </p:txBody>
      </p:sp>
      <p:sp>
        <p:nvSpPr>
          <p:cNvPr id="28" name="Rounded Rectangle 27"/>
          <p:cNvSpPr/>
          <p:nvPr/>
        </p:nvSpPr>
        <p:spPr>
          <a:xfrm>
            <a:off x="3581122" y="4251960"/>
            <a:ext cx="345809" cy="345809"/>
          </a:xfrm>
          <a:prstGeom prst="roundRect">
            <a:avLst>
              <a:gd name="adj" fmla="val 12000"/>
            </a:avLst>
          </a:prstGeom>
          <a:solidFill>
            <a:srgbClr val="CCDDEA"/>
          </a:solidFill>
          <a:ln>
            <a:noFill/>
          </a:ln>
        </p:spPr>
        <p:txBody>
          <a:bodyPr rtlCol="0" anchor="ctr"/>
          <a:lstStyle/>
          <a:p>
            <a:pPr algn="ctr"/>
            <a:endParaRPr/>
          </a:p>
        </p:txBody>
      </p:sp>
      <p:sp>
        <p:nvSpPr>
          <p:cNvPr id="29" name="Rounded Rectangle 28"/>
          <p:cNvSpPr/>
          <p:nvPr/>
        </p:nvSpPr>
        <p:spPr>
          <a:xfrm>
            <a:off x="4013384" y="4251960"/>
            <a:ext cx="345809" cy="345809"/>
          </a:xfrm>
          <a:prstGeom prst="roundRect">
            <a:avLst>
              <a:gd name="adj" fmla="val 12000"/>
            </a:avLst>
          </a:prstGeom>
          <a:solidFill>
            <a:srgbClr val="CCDDEA"/>
          </a:solidFill>
          <a:ln>
            <a:noFill/>
          </a:ln>
        </p:spPr>
        <p:txBody>
          <a:bodyPr rtlCol="0" anchor="ctr"/>
          <a:lstStyle/>
          <a:p>
            <a:pPr algn="ctr"/>
            <a:endParaRPr/>
          </a:p>
        </p:txBody>
      </p:sp>
      <p:sp>
        <p:nvSpPr>
          <p:cNvPr id="30" name="Rounded Rectangle 29"/>
          <p:cNvSpPr/>
          <p:nvPr/>
        </p:nvSpPr>
        <p:spPr>
          <a:xfrm>
            <a:off x="4445646" y="4251960"/>
            <a:ext cx="345809" cy="345809"/>
          </a:xfrm>
          <a:prstGeom prst="roundRect">
            <a:avLst>
              <a:gd name="adj" fmla="val 12000"/>
            </a:avLst>
          </a:prstGeom>
          <a:solidFill>
            <a:srgbClr val="CCDDEA"/>
          </a:solidFill>
          <a:ln>
            <a:noFill/>
          </a:ln>
        </p:spPr>
        <p:txBody>
          <a:bodyPr rtlCol="0" anchor="ctr"/>
          <a:lstStyle/>
          <a:p>
            <a:pPr algn="ctr"/>
            <a:endParaRPr/>
          </a:p>
        </p:txBody>
      </p:sp>
      <p:sp>
        <p:nvSpPr>
          <p:cNvPr id="31" name="Rounded Rectangle 30"/>
          <p:cNvSpPr/>
          <p:nvPr/>
        </p:nvSpPr>
        <p:spPr>
          <a:xfrm>
            <a:off x="4877908" y="4251960"/>
            <a:ext cx="345809" cy="345809"/>
          </a:xfrm>
          <a:prstGeom prst="roundRect">
            <a:avLst>
              <a:gd name="adj" fmla="val 12000"/>
            </a:avLst>
          </a:prstGeom>
          <a:solidFill>
            <a:srgbClr val="CCDDEA"/>
          </a:solidFill>
          <a:ln>
            <a:noFill/>
          </a:ln>
        </p:spPr>
        <p:txBody>
          <a:bodyPr rtlCol="0" anchor="ctr"/>
          <a:lstStyle/>
          <a:p>
            <a:pPr algn="ctr"/>
            <a:endParaRPr/>
          </a:p>
        </p:txBody>
      </p:sp>
      <p:sp>
        <p:nvSpPr>
          <p:cNvPr id="32" name="Rounded Rectangle 31"/>
          <p:cNvSpPr/>
          <p:nvPr/>
        </p:nvSpPr>
        <p:spPr>
          <a:xfrm>
            <a:off x="5310170" y="4251960"/>
            <a:ext cx="345809" cy="345809"/>
          </a:xfrm>
          <a:prstGeom prst="roundRect">
            <a:avLst>
              <a:gd name="adj" fmla="val 12000"/>
            </a:avLst>
          </a:prstGeom>
          <a:solidFill>
            <a:srgbClr val="CCDDEA"/>
          </a:solidFill>
          <a:ln>
            <a:noFill/>
          </a:ln>
        </p:spPr>
        <p:txBody>
          <a:bodyPr rtlCol="0" anchor="ctr"/>
          <a:lstStyle/>
          <a:p>
            <a:pPr algn="ctr"/>
            <a:endParaRPr/>
          </a:p>
        </p:txBody>
      </p:sp>
      <p:sp>
        <p:nvSpPr>
          <p:cNvPr id="33" name="TextBox 32"/>
          <p:cNvSpPr txBox="1"/>
          <p:nvPr/>
        </p:nvSpPr>
        <p:spPr>
          <a:xfrm>
            <a:off x="987552" y="4643489"/>
            <a:ext cx="2161309" cy="274320"/>
          </a:xfrm>
          <a:prstGeom prst="rect">
            <a:avLst/>
          </a:prstGeom>
          <a:noFill/>
        </p:spPr>
        <p:txBody>
          <a:bodyPr wrap="square" lIns="0" tIns="0" rIns="0" bIns="0" anchor="t">
            <a:spAutoFit/>
          </a:bodyPr>
          <a:lstStyle/>
          <a:p>
            <a:pPr algn="l"/>
            <a:r>
              <a:rPr sz="1200" b="0" i="0">
                <a:solidFill>
                  <a:srgbClr val="55606B"/>
                </a:solidFill>
              </a:rPr>
              <a:t>about 5 trust</a:t>
            </a:r>
          </a:p>
        </p:txBody>
      </p:sp>
      <p:sp>
        <p:nvSpPr>
          <p:cNvPr id="34" name="TextBox 33"/>
          <p:cNvSpPr txBox="1"/>
          <p:nvPr/>
        </p:nvSpPr>
        <p:spPr>
          <a:xfrm>
            <a:off x="3148861" y="4643489"/>
            <a:ext cx="2593570" cy="274320"/>
          </a:xfrm>
          <a:prstGeom prst="rect">
            <a:avLst/>
          </a:prstGeom>
          <a:noFill/>
        </p:spPr>
        <p:txBody>
          <a:bodyPr wrap="square" lIns="0" tIns="0" rIns="0" bIns="0" anchor="t">
            <a:spAutoFit/>
          </a:bodyPr>
          <a:lstStyle/>
          <a:p>
            <a:pPr algn="l"/>
            <a:r>
              <a:rPr sz="1200" b="0" i="0">
                <a:solidFill>
                  <a:srgbClr val="55606B"/>
                </a:solidFill>
              </a:rPr>
              <a:t>6 can’t be too careful</a:t>
            </a:r>
          </a:p>
        </p:txBody>
      </p:sp>
      <p:sp>
        <p:nvSpPr>
          <p:cNvPr id="35" name="TextBox 34"/>
          <p:cNvSpPr txBox="1"/>
          <p:nvPr/>
        </p:nvSpPr>
        <p:spPr>
          <a:xfrm>
            <a:off x="6172200" y="4023360"/>
            <a:ext cx="5029200" cy="1463040"/>
          </a:xfrm>
          <a:prstGeom prst="rect">
            <a:avLst/>
          </a:prstGeom>
          <a:noFill/>
        </p:spPr>
        <p:txBody>
          <a:bodyPr wrap="square" lIns="0" tIns="0" rIns="0" bIns="0" anchor="ctr">
            <a:spAutoFit/>
          </a:bodyPr>
          <a:lstStyle/>
          <a:p>
            <a:pPr algn="l">
              <a:spcAft>
                <a:spcPts val="600"/>
              </a:spcAft>
            </a:pPr>
            <a:r>
              <a:rPr sz="2000" b="1" i="0">
                <a:solidFill>
                  <a:srgbClr val="1F394D"/>
                </a:solidFill>
              </a:rPr>
              <a:t>Probability</a:t>
            </a:r>
            <a:r>
              <a:rPr sz="2000" b="0" i="0">
                <a:solidFill>
                  <a:srgbClr val="1F2A33"/>
                </a:solidFill>
              </a:rPr>
              <a:t>  =  481 out of 1,060  =  0.454</a:t>
            </a:r>
          </a:p>
          <a:p>
            <a:pPr algn="l">
              <a:spcAft>
                <a:spcPts val="800"/>
              </a:spcAft>
            </a:pPr>
            <a:r>
              <a:rPr sz="2000" b="1" i="0">
                <a:solidFill>
                  <a:srgbClr val="1F394D"/>
                </a:solidFill>
              </a:rPr>
              <a:t>Odds</a:t>
            </a:r>
            <a:r>
              <a:rPr sz="2000" b="0" i="0">
                <a:solidFill>
                  <a:srgbClr val="1F2A33"/>
                </a:solidFill>
              </a:rPr>
              <a:t>  =  481 for every 579  =  0.83</a:t>
            </a:r>
          </a:p>
          <a:p>
            <a:pPr algn="l"/>
            <a:r>
              <a:rPr sz="1400" b="0" i="0">
                <a:solidFill>
                  <a:srgbClr val="55606B"/>
                </a:solidFill>
              </a:rPr>
              <a:t>roughly 5 trusting people for every 6 careful ones</a:t>
            </a:r>
          </a:p>
        </p:txBody>
      </p:sp>
      <p:sp>
        <p:nvSpPr>
          <p:cNvPr id="36" name="TextBox 35"/>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British Social Attitudes 2010 (gb-bsa10-trust.sav), n = 1,060.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Trust on three scales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TextBox 4"/>
          <p:cNvSpPr txBox="1"/>
          <p:nvPr/>
        </p:nvSpPr>
        <p:spPr>
          <a:xfrm>
            <a:off x="758952" y="1216152"/>
            <a:ext cx="10607040" cy="457200"/>
          </a:xfrm>
          <a:prstGeom prst="rect">
            <a:avLst/>
          </a:prstGeom>
          <a:noFill/>
        </p:spPr>
        <p:txBody>
          <a:bodyPr wrap="square" lIns="0" tIns="0" rIns="0" bIns="0" anchor="t">
            <a:spAutoFit/>
          </a:bodyPr>
          <a:lstStyle/>
          <a:p>
            <a:pPr algn="l"/>
            <a:r>
              <a:rPr sz="2000" b="1" i="0">
                <a:solidFill>
                  <a:srgbClr val="1F394D"/>
                </a:solidFill>
              </a:rPr>
              <a:t>British Social Attitudes 2010: </a:t>
            </a:r>
            <a:r>
              <a:rPr sz="2000" b="0" i="0">
                <a:solidFill>
                  <a:srgbClr val="1F2A33"/>
                </a:solidFill>
              </a:rPr>
              <a:t>481 of 1,060 respondents say “most people can be trusted”</a:t>
            </a:r>
          </a:p>
        </p:txBody>
      </p:sp>
      <p:sp>
        <p:nvSpPr>
          <p:cNvPr id="6" name="Scale card 1"/>
          <p:cNvSpPr/>
          <p:nvPr/>
        </p:nvSpPr>
        <p:spPr>
          <a:xfrm>
            <a:off x="758952" y="1965960"/>
            <a:ext cx="2926080" cy="2743200"/>
          </a:xfrm>
          <a:prstGeom prst="roundRect">
            <a:avLst>
              <a:gd name="adj" fmla="val 8000"/>
            </a:avLst>
          </a:prstGeom>
          <a:solidFill>
            <a:srgbClr val="EEF3F7"/>
          </a:solidFill>
          <a:ln>
            <a:noFill/>
          </a:ln>
        </p:spPr>
        <p:txBody>
          <a:bodyPr rtlCol="0" anchor="ctr"/>
          <a:lstStyle/>
          <a:p>
            <a:endParaRPr/>
          </a:p>
        </p:txBody>
      </p:sp>
      <p:sp>
        <p:nvSpPr>
          <p:cNvPr id="7" name="TextBox 6"/>
          <p:cNvSpPr txBox="1"/>
          <p:nvPr/>
        </p:nvSpPr>
        <p:spPr>
          <a:xfrm>
            <a:off x="987552" y="2194560"/>
            <a:ext cx="2468880" cy="365760"/>
          </a:xfrm>
          <a:prstGeom prst="rect">
            <a:avLst/>
          </a:prstGeom>
          <a:noFill/>
        </p:spPr>
        <p:txBody>
          <a:bodyPr wrap="square" lIns="0" tIns="0" rIns="0" bIns="0" anchor="t">
            <a:spAutoFit/>
          </a:bodyPr>
          <a:lstStyle/>
          <a:p>
            <a:pPr algn="l"/>
            <a:r>
              <a:rPr sz="1500" b="1" i="0">
                <a:solidFill>
                  <a:srgbClr val="3F739B"/>
                </a:solidFill>
              </a:rPr>
              <a:t>PROBABILITY</a:t>
            </a:r>
          </a:p>
        </p:txBody>
      </p:sp>
      <p:sp>
        <p:nvSpPr>
          <p:cNvPr id="8" name="TextBox 7"/>
          <p:cNvSpPr txBox="1"/>
          <p:nvPr/>
        </p:nvSpPr>
        <p:spPr>
          <a:xfrm>
            <a:off x="987552" y="2651760"/>
            <a:ext cx="2468880" cy="914400"/>
          </a:xfrm>
          <a:prstGeom prst="rect">
            <a:avLst/>
          </a:prstGeom>
          <a:noFill/>
        </p:spPr>
        <p:txBody>
          <a:bodyPr wrap="square" lIns="0" tIns="0" rIns="0" bIns="0" anchor="t">
            <a:spAutoFit/>
          </a:bodyPr>
          <a:lstStyle/>
          <a:p>
            <a:pPr algn="l"/>
            <a:r>
              <a:rPr sz="5400" b="1" i="0">
                <a:solidFill>
                  <a:srgbClr val="1F394D"/>
                </a:solidFill>
              </a:rPr>
              <a:t>0.454</a:t>
            </a:r>
          </a:p>
        </p:txBody>
      </p:sp>
      <p:sp>
        <p:nvSpPr>
          <p:cNvPr id="9" name="TextBox 8"/>
          <p:cNvSpPr txBox="1"/>
          <p:nvPr/>
        </p:nvSpPr>
        <p:spPr>
          <a:xfrm>
            <a:off x="987552" y="3657600"/>
            <a:ext cx="2468880" cy="914400"/>
          </a:xfrm>
          <a:prstGeom prst="rect">
            <a:avLst/>
          </a:prstGeom>
          <a:noFill/>
        </p:spPr>
        <p:txBody>
          <a:bodyPr wrap="square" lIns="0" tIns="0" rIns="0" bIns="0" anchor="t">
            <a:spAutoFit/>
          </a:bodyPr>
          <a:lstStyle/>
          <a:p>
            <a:pPr algn="l"/>
            <a:r>
              <a:rPr sz="1700" b="1" i="0">
                <a:solidFill>
                  <a:srgbClr val="1F2A33"/>
                </a:solidFill>
              </a:rPr>
              <a:t>481 ÷ 1,060</a:t>
            </a:r>
          </a:p>
          <a:p>
            <a:pPr algn="l"/>
            <a:r>
              <a:rPr sz="1700" b="0" i="0">
                <a:solidFill>
                  <a:srgbClr val="55606B"/>
                </a:solidFill>
              </a:rPr>
              <a:t>45% of respondents</a:t>
            </a:r>
          </a:p>
        </p:txBody>
      </p:sp>
      <p:sp>
        <p:nvSpPr>
          <p:cNvPr id="10" name="Scale card 2"/>
          <p:cNvSpPr/>
          <p:nvPr/>
        </p:nvSpPr>
        <p:spPr>
          <a:xfrm>
            <a:off x="4599432" y="1965960"/>
            <a:ext cx="2926080" cy="274320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4828032" y="2194560"/>
            <a:ext cx="2468880" cy="365760"/>
          </a:xfrm>
          <a:prstGeom prst="rect">
            <a:avLst/>
          </a:prstGeom>
          <a:noFill/>
        </p:spPr>
        <p:txBody>
          <a:bodyPr wrap="square" lIns="0" tIns="0" rIns="0" bIns="0" anchor="t">
            <a:spAutoFit/>
          </a:bodyPr>
          <a:lstStyle/>
          <a:p>
            <a:pPr algn="l"/>
            <a:r>
              <a:rPr sz="1500" b="1" i="0">
                <a:solidFill>
                  <a:srgbClr val="3F739B"/>
                </a:solidFill>
              </a:rPr>
              <a:t>ODDS</a:t>
            </a:r>
          </a:p>
        </p:txBody>
      </p:sp>
      <p:sp>
        <p:nvSpPr>
          <p:cNvPr id="12" name="TextBox 11"/>
          <p:cNvSpPr txBox="1"/>
          <p:nvPr/>
        </p:nvSpPr>
        <p:spPr>
          <a:xfrm>
            <a:off x="4828032" y="2651760"/>
            <a:ext cx="2468880" cy="914400"/>
          </a:xfrm>
          <a:prstGeom prst="rect">
            <a:avLst/>
          </a:prstGeom>
          <a:noFill/>
        </p:spPr>
        <p:txBody>
          <a:bodyPr wrap="square" lIns="0" tIns="0" rIns="0" bIns="0" anchor="t">
            <a:spAutoFit/>
          </a:bodyPr>
          <a:lstStyle/>
          <a:p>
            <a:pPr algn="l"/>
            <a:r>
              <a:rPr sz="5400" b="1" i="0">
                <a:solidFill>
                  <a:srgbClr val="1F394D"/>
                </a:solidFill>
              </a:rPr>
              <a:t>0.83</a:t>
            </a:r>
          </a:p>
        </p:txBody>
      </p:sp>
      <p:sp>
        <p:nvSpPr>
          <p:cNvPr id="13" name="TextBox 12"/>
          <p:cNvSpPr txBox="1"/>
          <p:nvPr/>
        </p:nvSpPr>
        <p:spPr>
          <a:xfrm>
            <a:off x="4828032" y="3657600"/>
            <a:ext cx="2468880" cy="914400"/>
          </a:xfrm>
          <a:prstGeom prst="rect">
            <a:avLst/>
          </a:prstGeom>
          <a:noFill/>
        </p:spPr>
        <p:txBody>
          <a:bodyPr wrap="square" lIns="0" tIns="0" rIns="0" bIns="0" anchor="t">
            <a:spAutoFit/>
          </a:bodyPr>
          <a:lstStyle/>
          <a:p>
            <a:pPr algn="l"/>
            <a:r>
              <a:rPr sz="1700" b="1" i="0">
                <a:solidFill>
                  <a:srgbClr val="1F2A33"/>
                </a:solidFill>
              </a:rPr>
              <a:t>0.454 ÷ 0.546</a:t>
            </a:r>
          </a:p>
          <a:p>
            <a:pPr algn="l"/>
            <a:r>
              <a:rPr sz="1700" b="0" i="0">
                <a:solidFill>
                  <a:srgbClr val="55606B"/>
                </a:solidFill>
              </a:rPr>
              <a:t>~5 trusting for every 6 careful</a:t>
            </a:r>
          </a:p>
        </p:txBody>
      </p:sp>
      <p:sp>
        <p:nvSpPr>
          <p:cNvPr id="14" name="Scale card 3"/>
          <p:cNvSpPr/>
          <p:nvPr/>
        </p:nvSpPr>
        <p:spPr>
          <a:xfrm>
            <a:off x="8439912" y="1965960"/>
            <a:ext cx="2926080" cy="2743200"/>
          </a:xfrm>
          <a:prstGeom prst="roundRect">
            <a:avLst>
              <a:gd name="adj" fmla="val 8000"/>
            </a:avLst>
          </a:prstGeom>
          <a:solidFill>
            <a:srgbClr val="1F394D"/>
          </a:solidFill>
          <a:ln>
            <a:noFill/>
          </a:ln>
        </p:spPr>
        <p:txBody>
          <a:bodyPr rtlCol="0" anchor="ctr"/>
          <a:lstStyle/>
          <a:p>
            <a:endParaRPr/>
          </a:p>
        </p:txBody>
      </p:sp>
      <p:sp>
        <p:nvSpPr>
          <p:cNvPr id="15" name="TextBox 14"/>
          <p:cNvSpPr txBox="1"/>
          <p:nvPr/>
        </p:nvSpPr>
        <p:spPr>
          <a:xfrm>
            <a:off x="8668512" y="2194560"/>
            <a:ext cx="2468880" cy="365760"/>
          </a:xfrm>
          <a:prstGeom prst="rect">
            <a:avLst/>
          </a:prstGeom>
          <a:noFill/>
        </p:spPr>
        <p:txBody>
          <a:bodyPr wrap="square" lIns="0" tIns="0" rIns="0" bIns="0" anchor="t">
            <a:spAutoFit/>
          </a:bodyPr>
          <a:lstStyle/>
          <a:p>
            <a:pPr algn="l"/>
            <a:r>
              <a:rPr sz="1500" b="1" i="0">
                <a:solidFill>
                  <a:srgbClr val="CCDDEA"/>
                </a:solidFill>
              </a:rPr>
              <a:t>LOG-ODDS (LOGIT)</a:t>
            </a:r>
          </a:p>
        </p:txBody>
      </p:sp>
      <p:sp>
        <p:nvSpPr>
          <p:cNvPr id="16" name="TextBox 15"/>
          <p:cNvSpPr txBox="1"/>
          <p:nvPr/>
        </p:nvSpPr>
        <p:spPr>
          <a:xfrm>
            <a:off x="8668512" y="2651760"/>
            <a:ext cx="2468880" cy="914400"/>
          </a:xfrm>
          <a:prstGeom prst="rect">
            <a:avLst/>
          </a:prstGeom>
          <a:noFill/>
        </p:spPr>
        <p:txBody>
          <a:bodyPr wrap="square" lIns="0" tIns="0" rIns="0" bIns="0" anchor="t">
            <a:spAutoFit/>
          </a:bodyPr>
          <a:lstStyle/>
          <a:p>
            <a:pPr algn="l"/>
            <a:r>
              <a:rPr sz="5400" b="1" i="0">
                <a:solidFill>
                  <a:srgbClr val="FFFFFF"/>
                </a:solidFill>
              </a:rPr>
              <a:t>−0.185</a:t>
            </a:r>
          </a:p>
        </p:txBody>
      </p:sp>
      <p:sp>
        <p:nvSpPr>
          <p:cNvPr id="17" name="TextBox 16"/>
          <p:cNvSpPr txBox="1"/>
          <p:nvPr/>
        </p:nvSpPr>
        <p:spPr>
          <a:xfrm>
            <a:off x="8668512" y="3657600"/>
            <a:ext cx="2468880" cy="914400"/>
          </a:xfrm>
          <a:prstGeom prst="rect">
            <a:avLst/>
          </a:prstGeom>
          <a:noFill/>
        </p:spPr>
        <p:txBody>
          <a:bodyPr wrap="square" lIns="0" tIns="0" rIns="0" bIns="0" anchor="t">
            <a:spAutoFit/>
          </a:bodyPr>
          <a:lstStyle/>
          <a:p>
            <a:pPr algn="l"/>
            <a:r>
              <a:rPr sz="1700" b="1" i="0">
                <a:solidFill>
                  <a:srgbClr val="FFFFFF"/>
                </a:solidFill>
              </a:rPr>
              <a:t>ln(0.8307)</a:t>
            </a:r>
          </a:p>
          <a:p>
            <a:pPr algn="l"/>
            <a:r>
              <a:rPr sz="1700" b="0" i="0">
                <a:solidFill>
                  <a:srgbClr val="FFFFFF"/>
                </a:solidFill>
              </a:rPr>
              <a:t>= the (Intercept) in JASP’s M₀</a:t>
            </a:r>
          </a:p>
        </p:txBody>
      </p:sp>
      <p:sp>
        <p:nvSpPr>
          <p:cNvPr id="18" name="Right Arrow 17"/>
          <p:cNvSpPr/>
          <p:nvPr/>
        </p:nvSpPr>
        <p:spPr>
          <a:xfrm>
            <a:off x="3794760" y="3017520"/>
            <a:ext cx="694944" cy="457200"/>
          </a:xfrm>
          <a:prstGeom prst="rightArrow">
            <a:avLst/>
          </a:prstGeom>
          <a:solidFill>
            <a:srgbClr val="3F739B"/>
          </a:solidFill>
          <a:ln>
            <a:noFill/>
          </a:ln>
        </p:spPr>
        <p:txBody>
          <a:bodyPr rtlCol="0" anchor="ctr"/>
          <a:lstStyle/>
          <a:p>
            <a:pPr algn="ctr"/>
            <a:endParaRPr/>
          </a:p>
        </p:txBody>
      </p:sp>
      <p:sp>
        <p:nvSpPr>
          <p:cNvPr id="19" name="TextBox 18"/>
          <p:cNvSpPr txBox="1"/>
          <p:nvPr/>
        </p:nvSpPr>
        <p:spPr>
          <a:xfrm>
            <a:off x="3611880" y="3566160"/>
            <a:ext cx="1060704" cy="365760"/>
          </a:xfrm>
          <a:prstGeom prst="rect">
            <a:avLst/>
          </a:prstGeom>
          <a:noFill/>
        </p:spPr>
        <p:txBody>
          <a:bodyPr wrap="square" lIns="0" tIns="0" rIns="0" bIns="0" anchor="t">
            <a:spAutoFit/>
          </a:bodyPr>
          <a:lstStyle/>
          <a:p>
            <a:pPr algn="ctr"/>
            <a:r>
              <a:rPr sz="1600" b="1" i="0">
                <a:solidFill>
                  <a:srgbClr val="3F739B"/>
                </a:solidFill>
              </a:rPr>
              <a:t>÷ (1 − p)</a:t>
            </a:r>
          </a:p>
        </p:txBody>
      </p:sp>
      <p:sp>
        <p:nvSpPr>
          <p:cNvPr id="20" name="Right Arrow 19"/>
          <p:cNvSpPr/>
          <p:nvPr/>
        </p:nvSpPr>
        <p:spPr>
          <a:xfrm>
            <a:off x="7635240" y="3017520"/>
            <a:ext cx="694944" cy="457200"/>
          </a:xfrm>
          <a:prstGeom prst="rightArrow">
            <a:avLst/>
          </a:prstGeom>
          <a:solidFill>
            <a:srgbClr val="3F739B"/>
          </a:solidFill>
          <a:ln>
            <a:noFill/>
          </a:ln>
        </p:spPr>
        <p:txBody>
          <a:bodyPr rtlCol="0" anchor="ctr"/>
          <a:lstStyle/>
          <a:p>
            <a:pPr algn="ctr"/>
            <a:endParaRPr/>
          </a:p>
        </p:txBody>
      </p:sp>
      <p:sp>
        <p:nvSpPr>
          <p:cNvPr id="21" name="TextBox 20"/>
          <p:cNvSpPr txBox="1"/>
          <p:nvPr/>
        </p:nvSpPr>
        <p:spPr>
          <a:xfrm>
            <a:off x="7452360" y="3566160"/>
            <a:ext cx="1060704" cy="365760"/>
          </a:xfrm>
          <a:prstGeom prst="rect">
            <a:avLst/>
          </a:prstGeom>
          <a:noFill/>
        </p:spPr>
        <p:txBody>
          <a:bodyPr wrap="square" lIns="0" tIns="0" rIns="0" bIns="0" anchor="t">
            <a:spAutoFit/>
          </a:bodyPr>
          <a:lstStyle/>
          <a:p>
            <a:pPr algn="ctr"/>
            <a:r>
              <a:rPr sz="1600" b="1" i="0">
                <a:solidFill>
                  <a:srgbClr val="3F739B"/>
                </a:solidFill>
              </a:rPr>
              <a:t>ln( )</a:t>
            </a:r>
          </a:p>
        </p:txBody>
      </p:sp>
      <p:sp>
        <p:nvSpPr>
          <p:cNvPr id="22" name="Reference row"/>
          <p:cNvSpPr/>
          <p:nvPr/>
        </p:nvSpPr>
        <p:spPr>
          <a:xfrm>
            <a:off x="758952" y="5029200"/>
            <a:ext cx="10607040" cy="868680"/>
          </a:xfrm>
          <a:prstGeom prst="roundRect">
            <a:avLst>
              <a:gd name="adj" fmla="val 8000"/>
            </a:avLst>
          </a:prstGeom>
          <a:noFill/>
          <a:ln w="15875">
            <a:solidFill>
              <a:srgbClr val="CCDDEA"/>
            </a:solidFill>
          </a:ln>
        </p:spPr>
        <p:txBody>
          <a:bodyPr rtlCol="0" anchor="ctr"/>
          <a:lstStyle/>
          <a:p>
            <a:endParaRPr/>
          </a:p>
        </p:txBody>
      </p:sp>
      <p:sp>
        <p:nvSpPr>
          <p:cNvPr id="23" name="TextBox 22"/>
          <p:cNvSpPr txBox="1"/>
          <p:nvPr/>
        </p:nvSpPr>
        <p:spPr>
          <a:xfrm>
            <a:off x="1005840" y="5029200"/>
            <a:ext cx="10149840" cy="868680"/>
          </a:xfrm>
          <a:prstGeom prst="rect">
            <a:avLst/>
          </a:prstGeom>
          <a:noFill/>
        </p:spPr>
        <p:txBody>
          <a:bodyPr wrap="square" lIns="0" tIns="0" rIns="0" bIns="0" anchor="ctr">
            <a:spAutoFit/>
          </a:bodyPr>
          <a:lstStyle/>
          <a:p>
            <a:pPr algn="l"/>
            <a:r>
              <a:rPr sz="2000" b="1" i="0">
                <a:solidFill>
                  <a:srgbClr val="1F394D"/>
                </a:solidFill>
              </a:rPr>
              <a:t>Reference point: </a:t>
            </a:r>
            <a:r>
              <a:rPr sz="2000" b="0" i="0">
                <a:solidFill>
                  <a:srgbClr val="1F2A33"/>
                </a:solidFill>
              </a:rPr>
              <a:t>an even split is  p = 0.5  ↔  odds = 1  ↔  log-odds = 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three scales side by side</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TextBox 4"/>
          <p:cNvSpPr txBox="1"/>
          <p:nvPr/>
        </p:nvSpPr>
        <p:spPr>
          <a:xfrm>
            <a:off x="758952" y="1490472"/>
            <a:ext cx="2103120" cy="731520"/>
          </a:xfrm>
          <a:prstGeom prst="rect">
            <a:avLst/>
          </a:prstGeom>
          <a:noFill/>
        </p:spPr>
        <p:txBody>
          <a:bodyPr wrap="square" lIns="0" tIns="0" rIns="0" bIns="0" anchor="ctr">
            <a:spAutoFit/>
          </a:bodyPr>
          <a:lstStyle/>
          <a:p>
            <a:pPr algn="l"/>
            <a:r>
              <a:rPr sz="1800" b="1" i="0">
                <a:solidFill>
                  <a:srgbClr val="1F394D"/>
                </a:solidFill>
              </a:rPr>
              <a:t>Probability</a:t>
            </a:r>
          </a:p>
          <a:p>
            <a:pPr algn="l"/>
            <a:r>
              <a:rPr sz="1300" b="0" i="0">
                <a:solidFill>
                  <a:srgbClr val="55606B"/>
                </a:solidFill>
              </a:rPr>
              <a:t>from 0 to 1</a:t>
            </a:r>
          </a:p>
        </p:txBody>
      </p:sp>
      <p:cxnSp>
        <p:nvCxnSpPr>
          <p:cNvPr id="6" name="Connector 5"/>
          <p:cNvCxnSpPr/>
          <p:nvPr/>
        </p:nvCxnSpPr>
        <p:spPr>
          <a:xfrm>
            <a:off x="2971800" y="1874519"/>
            <a:ext cx="8183880" cy="0"/>
          </a:xfrm>
          <a:prstGeom prst="line">
            <a:avLst/>
          </a:prstGeom>
          <a:ln w="19050">
            <a:solidFill>
              <a:srgbClr val="55606B"/>
            </a:solidFill>
          </a:ln>
        </p:spPr>
      </p:cxnSp>
      <p:cxnSp>
        <p:nvCxnSpPr>
          <p:cNvPr id="7" name="Connector 6"/>
          <p:cNvCxnSpPr/>
          <p:nvPr/>
        </p:nvCxnSpPr>
        <p:spPr>
          <a:xfrm>
            <a:off x="2971800" y="1874519"/>
            <a:ext cx="0" cy="73153"/>
          </a:xfrm>
          <a:prstGeom prst="line">
            <a:avLst/>
          </a:prstGeom>
          <a:ln w="12700">
            <a:solidFill>
              <a:srgbClr val="55606B"/>
            </a:solidFill>
          </a:ln>
        </p:spPr>
      </p:cxnSp>
      <p:sp>
        <p:nvSpPr>
          <p:cNvPr id="8" name="TextBox 7"/>
          <p:cNvSpPr txBox="1"/>
          <p:nvPr/>
        </p:nvSpPr>
        <p:spPr>
          <a:xfrm>
            <a:off x="2606040" y="1965960"/>
            <a:ext cx="731520" cy="228600"/>
          </a:xfrm>
          <a:prstGeom prst="rect">
            <a:avLst/>
          </a:prstGeom>
          <a:noFill/>
        </p:spPr>
        <p:txBody>
          <a:bodyPr wrap="square" lIns="0" tIns="0" rIns="0" bIns="0" anchor="t">
            <a:spAutoFit/>
          </a:bodyPr>
          <a:lstStyle/>
          <a:p>
            <a:pPr algn="ctr"/>
            <a:r>
              <a:rPr sz="1100" b="0" i="0">
                <a:solidFill>
                  <a:srgbClr val="55606B"/>
                </a:solidFill>
              </a:rPr>
              <a:t>0</a:t>
            </a:r>
          </a:p>
        </p:txBody>
      </p:sp>
      <p:cxnSp>
        <p:nvCxnSpPr>
          <p:cNvPr id="9" name="Connector 8"/>
          <p:cNvCxnSpPr/>
          <p:nvPr/>
        </p:nvCxnSpPr>
        <p:spPr>
          <a:xfrm>
            <a:off x="5017770" y="1874519"/>
            <a:ext cx="0" cy="73153"/>
          </a:xfrm>
          <a:prstGeom prst="line">
            <a:avLst/>
          </a:prstGeom>
          <a:ln w="12700">
            <a:solidFill>
              <a:srgbClr val="55606B"/>
            </a:solidFill>
          </a:ln>
        </p:spPr>
      </p:cxnSp>
      <p:sp>
        <p:nvSpPr>
          <p:cNvPr id="10" name="TextBox 9"/>
          <p:cNvSpPr txBox="1"/>
          <p:nvPr/>
        </p:nvSpPr>
        <p:spPr>
          <a:xfrm>
            <a:off x="4652009" y="1965960"/>
            <a:ext cx="731520" cy="228600"/>
          </a:xfrm>
          <a:prstGeom prst="rect">
            <a:avLst/>
          </a:prstGeom>
          <a:noFill/>
        </p:spPr>
        <p:txBody>
          <a:bodyPr wrap="square" lIns="0" tIns="0" rIns="0" bIns="0" anchor="t">
            <a:spAutoFit/>
          </a:bodyPr>
          <a:lstStyle/>
          <a:p>
            <a:pPr algn="ctr"/>
            <a:endParaRPr/>
          </a:p>
        </p:txBody>
      </p:sp>
      <p:cxnSp>
        <p:nvCxnSpPr>
          <p:cNvPr id="11" name="Connector 10"/>
          <p:cNvCxnSpPr/>
          <p:nvPr/>
        </p:nvCxnSpPr>
        <p:spPr>
          <a:xfrm>
            <a:off x="7063740" y="1874519"/>
            <a:ext cx="0" cy="73153"/>
          </a:xfrm>
          <a:prstGeom prst="line">
            <a:avLst/>
          </a:prstGeom>
          <a:ln w="12700">
            <a:solidFill>
              <a:srgbClr val="55606B"/>
            </a:solidFill>
          </a:ln>
        </p:spPr>
      </p:cxnSp>
      <p:sp>
        <p:nvSpPr>
          <p:cNvPr id="12" name="TextBox 11"/>
          <p:cNvSpPr txBox="1"/>
          <p:nvPr/>
        </p:nvSpPr>
        <p:spPr>
          <a:xfrm>
            <a:off x="6697979" y="1965960"/>
            <a:ext cx="731520" cy="228600"/>
          </a:xfrm>
          <a:prstGeom prst="rect">
            <a:avLst/>
          </a:prstGeom>
          <a:noFill/>
        </p:spPr>
        <p:txBody>
          <a:bodyPr wrap="square" lIns="0" tIns="0" rIns="0" bIns="0" anchor="t">
            <a:spAutoFit/>
          </a:bodyPr>
          <a:lstStyle/>
          <a:p>
            <a:pPr algn="ctr"/>
            <a:endParaRPr/>
          </a:p>
        </p:txBody>
      </p:sp>
      <p:cxnSp>
        <p:nvCxnSpPr>
          <p:cNvPr id="13" name="Connector 12"/>
          <p:cNvCxnSpPr/>
          <p:nvPr/>
        </p:nvCxnSpPr>
        <p:spPr>
          <a:xfrm>
            <a:off x="9109709" y="1874519"/>
            <a:ext cx="0" cy="73153"/>
          </a:xfrm>
          <a:prstGeom prst="line">
            <a:avLst/>
          </a:prstGeom>
          <a:ln w="12700">
            <a:solidFill>
              <a:srgbClr val="55606B"/>
            </a:solidFill>
          </a:ln>
        </p:spPr>
      </p:cxnSp>
      <p:sp>
        <p:nvSpPr>
          <p:cNvPr id="14" name="TextBox 13"/>
          <p:cNvSpPr txBox="1"/>
          <p:nvPr/>
        </p:nvSpPr>
        <p:spPr>
          <a:xfrm>
            <a:off x="8743949" y="1965960"/>
            <a:ext cx="731520" cy="228600"/>
          </a:xfrm>
          <a:prstGeom prst="rect">
            <a:avLst/>
          </a:prstGeom>
          <a:noFill/>
        </p:spPr>
        <p:txBody>
          <a:bodyPr wrap="square" lIns="0" tIns="0" rIns="0" bIns="0" anchor="t">
            <a:spAutoFit/>
          </a:bodyPr>
          <a:lstStyle/>
          <a:p>
            <a:pPr algn="ctr"/>
            <a:endParaRPr/>
          </a:p>
        </p:txBody>
      </p:sp>
      <p:cxnSp>
        <p:nvCxnSpPr>
          <p:cNvPr id="15" name="Connector 14"/>
          <p:cNvCxnSpPr/>
          <p:nvPr/>
        </p:nvCxnSpPr>
        <p:spPr>
          <a:xfrm>
            <a:off x="11155680" y="1874519"/>
            <a:ext cx="0" cy="73153"/>
          </a:xfrm>
          <a:prstGeom prst="line">
            <a:avLst/>
          </a:prstGeom>
          <a:ln w="12700">
            <a:solidFill>
              <a:srgbClr val="55606B"/>
            </a:solidFill>
          </a:ln>
        </p:spPr>
      </p:cxnSp>
      <p:sp>
        <p:nvSpPr>
          <p:cNvPr id="16" name="TextBox 15"/>
          <p:cNvSpPr txBox="1"/>
          <p:nvPr/>
        </p:nvSpPr>
        <p:spPr>
          <a:xfrm>
            <a:off x="10789919" y="1965960"/>
            <a:ext cx="731520" cy="228600"/>
          </a:xfrm>
          <a:prstGeom prst="rect">
            <a:avLst/>
          </a:prstGeom>
          <a:noFill/>
        </p:spPr>
        <p:txBody>
          <a:bodyPr wrap="square" lIns="0" tIns="0" rIns="0" bIns="0" anchor="t">
            <a:spAutoFit/>
          </a:bodyPr>
          <a:lstStyle/>
          <a:p>
            <a:pPr algn="ctr"/>
            <a:r>
              <a:rPr sz="1100" b="0" i="0">
                <a:solidFill>
                  <a:srgbClr val="55606B"/>
                </a:solidFill>
              </a:rPr>
              <a:t>1</a:t>
            </a:r>
          </a:p>
        </p:txBody>
      </p:sp>
      <p:sp>
        <p:nvSpPr>
          <p:cNvPr id="17" name="TextBox 16"/>
          <p:cNvSpPr txBox="1"/>
          <p:nvPr/>
        </p:nvSpPr>
        <p:spPr>
          <a:xfrm>
            <a:off x="3424427" y="1508760"/>
            <a:ext cx="731520" cy="256032"/>
          </a:xfrm>
          <a:prstGeom prst="rect">
            <a:avLst/>
          </a:prstGeom>
          <a:noFill/>
        </p:spPr>
        <p:txBody>
          <a:bodyPr wrap="square" lIns="0" tIns="0" rIns="0" bIns="0" anchor="t">
            <a:spAutoFit/>
          </a:bodyPr>
          <a:lstStyle/>
          <a:p>
            <a:pPr algn="ctr"/>
            <a:r>
              <a:rPr sz="1300" b="1" i="0">
                <a:solidFill>
                  <a:srgbClr val="3F739B"/>
                </a:solidFill>
              </a:rPr>
              <a:t>0.10</a:t>
            </a:r>
          </a:p>
        </p:txBody>
      </p:sp>
      <p:sp>
        <p:nvSpPr>
          <p:cNvPr id="18" name="TextBox 17"/>
          <p:cNvSpPr txBox="1"/>
          <p:nvPr/>
        </p:nvSpPr>
        <p:spPr>
          <a:xfrm>
            <a:off x="4652009" y="1508760"/>
            <a:ext cx="731520" cy="256032"/>
          </a:xfrm>
          <a:prstGeom prst="rect">
            <a:avLst/>
          </a:prstGeom>
          <a:noFill/>
        </p:spPr>
        <p:txBody>
          <a:bodyPr wrap="square" lIns="0" tIns="0" rIns="0" bIns="0" anchor="t">
            <a:spAutoFit/>
          </a:bodyPr>
          <a:lstStyle/>
          <a:p>
            <a:pPr algn="ctr"/>
            <a:r>
              <a:rPr sz="1300" b="1" i="0">
                <a:solidFill>
                  <a:srgbClr val="3F739B"/>
                </a:solidFill>
              </a:rPr>
              <a:t>0.25</a:t>
            </a:r>
          </a:p>
        </p:txBody>
      </p:sp>
      <p:sp>
        <p:nvSpPr>
          <p:cNvPr id="19" name="TextBox 18"/>
          <p:cNvSpPr txBox="1"/>
          <p:nvPr/>
        </p:nvSpPr>
        <p:spPr>
          <a:xfrm>
            <a:off x="6697979" y="1508760"/>
            <a:ext cx="731520" cy="256032"/>
          </a:xfrm>
          <a:prstGeom prst="rect">
            <a:avLst/>
          </a:prstGeom>
          <a:noFill/>
        </p:spPr>
        <p:txBody>
          <a:bodyPr wrap="square" lIns="0" tIns="0" rIns="0" bIns="0" anchor="t">
            <a:spAutoFit/>
          </a:bodyPr>
          <a:lstStyle/>
          <a:p>
            <a:pPr algn="ctr"/>
            <a:r>
              <a:rPr sz="1300" b="1" i="0">
                <a:solidFill>
                  <a:srgbClr val="B88C00"/>
                </a:solidFill>
              </a:rPr>
              <a:t>0.50</a:t>
            </a:r>
          </a:p>
        </p:txBody>
      </p:sp>
      <p:sp>
        <p:nvSpPr>
          <p:cNvPr id="20" name="TextBox 19"/>
          <p:cNvSpPr txBox="1"/>
          <p:nvPr/>
        </p:nvSpPr>
        <p:spPr>
          <a:xfrm>
            <a:off x="8743949" y="1508760"/>
            <a:ext cx="731520" cy="256032"/>
          </a:xfrm>
          <a:prstGeom prst="rect">
            <a:avLst/>
          </a:prstGeom>
          <a:noFill/>
        </p:spPr>
        <p:txBody>
          <a:bodyPr wrap="square" lIns="0" tIns="0" rIns="0" bIns="0" anchor="t">
            <a:spAutoFit/>
          </a:bodyPr>
          <a:lstStyle/>
          <a:p>
            <a:pPr algn="ctr"/>
            <a:r>
              <a:rPr sz="1300" b="1" i="0">
                <a:solidFill>
                  <a:srgbClr val="3F739B"/>
                </a:solidFill>
              </a:rPr>
              <a:t>0.75</a:t>
            </a:r>
          </a:p>
        </p:txBody>
      </p:sp>
      <p:sp>
        <p:nvSpPr>
          <p:cNvPr id="21" name="TextBox 20"/>
          <p:cNvSpPr txBox="1"/>
          <p:nvPr/>
        </p:nvSpPr>
        <p:spPr>
          <a:xfrm>
            <a:off x="9971532" y="1508760"/>
            <a:ext cx="731520" cy="256032"/>
          </a:xfrm>
          <a:prstGeom prst="rect">
            <a:avLst/>
          </a:prstGeom>
          <a:noFill/>
        </p:spPr>
        <p:txBody>
          <a:bodyPr wrap="square" lIns="0" tIns="0" rIns="0" bIns="0" anchor="t">
            <a:spAutoFit/>
          </a:bodyPr>
          <a:lstStyle/>
          <a:p>
            <a:pPr algn="ctr"/>
            <a:r>
              <a:rPr sz="1300" b="1" i="0">
                <a:solidFill>
                  <a:srgbClr val="3F739B"/>
                </a:solidFill>
              </a:rPr>
              <a:t>0.90</a:t>
            </a:r>
          </a:p>
        </p:txBody>
      </p:sp>
      <p:sp>
        <p:nvSpPr>
          <p:cNvPr id="22" name="TextBox 21"/>
          <p:cNvSpPr txBox="1"/>
          <p:nvPr/>
        </p:nvSpPr>
        <p:spPr>
          <a:xfrm>
            <a:off x="758952" y="2862072"/>
            <a:ext cx="2103120" cy="731520"/>
          </a:xfrm>
          <a:prstGeom prst="rect">
            <a:avLst/>
          </a:prstGeom>
          <a:noFill/>
        </p:spPr>
        <p:txBody>
          <a:bodyPr wrap="square" lIns="0" tIns="0" rIns="0" bIns="0" anchor="ctr">
            <a:spAutoFit/>
          </a:bodyPr>
          <a:lstStyle/>
          <a:p>
            <a:pPr algn="l"/>
            <a:r>
              <a:rPr sz="1800" b="1" i="0">
                <a:solidFill>
                  <a:srgbClr val="1F394D"/>
                </a:solidFill>
              </a:rPr>
              <a:t>Odds</a:t>
            </a:r>
          </a:p>
          <a:p>
            <a:pPr algn="l"/>
            <a:r>
              <a:rPr sz="1300" b="0" i="0">
                <a:solidFill>
                  <a:srgbClr val="55606B"/>
                </a:solidFill>
              </a:rPr>
              <a:t>from 0, no upper limit</a:t>
            </a:r>
          </a:p>
        </p:txBody>
      </p:sp>
      <p:cxnSp>
        <p:nvCxnSpPr>
          <p:cNvPr id="23" name="Connector 22"/>
          <p:cNvCxnSpPr/>
          <p:nvPr/>
        </p:nvCxnSpPr>
        <p:spPr>
          <a:xfrm>
            <a:off x="2971800" y="3246120"/>
            <a:ext cx="8183880" cy="0"/>
          </a:xfrm>
          <a:prstGeom prst="line">
            <a:avLst/>
          </a:prstGeom>
          <a:ln w="19050">
            <a:solidFill>
              <a:srgbClr val="55606B"/>
            </a:solidFill>
            <a:tailEnd type="triangle" w="med" len="med"/>
          </a:ln>
        </p:spPr>
      </p:cxnSp>
      <p:cxnSp>
        <p:nvCxnSpPr>
          <p:cNvPr id="24" name="Connector 23"/>
          <p:cNvCxnSpPr/>
          <p:nvPr/>
        </p:nvCxnSpPr>
        <p:spPr>
          <a:xfrm>
            <a:off x="2971800" y="3246120"/>
            <a:ext cx="0" cy="73152"/>
          </a:xfrm>
          <a:prstGeom prst="line">
            <a:avLst/>
          </a:prstGeom>
          <a:ln w="12700">
            <a:solidFill>
              <a:srgbClr val="55606B"/>
            </a:solidFill>
          </a:ln>
        </p:spPr>
      </p:cxnSp>
      <p:sp>
        <p:nvSpPr>
          <p:cNvPr id="25" name="TextBox 24"/>
          <p:cNvSpPr txBox="1"/>
          <p:nvPr/>
        </p:nvSpPr>
        <p:spPr>
          <a:xfrm>
            <a:off x="2606040" y="3337560"/>
            <a:ext cx="731520" cy="228600"/>
          </a:xfrm>
          <a:prstGeom prst="rect">
            <a:avLst/>
          </a:prstGeom>
          <a:noFill/>
        </p:spPr>
        <p:txBody>
          <a:bodyPr wrap="square" lIns="0" tIns="0" rIns="0" bIns="0" anchor="t">
            <a:spAutoFit/>
          </a:bodyPr>
          <a:lstStyle/>
          <a:p>
            <a:pPr algn="ctr"/>
            <a:r>
              <a:rPr sz="1100" b="0" i="0">
                <a:solidFill>
                  <a:srgbClr val="55606B"/>
                </a:solidFill>
              </a:rPr>
              <a:t>0</a:t>
            </a:r>
          </a:p>
        </p:txBody>
      </p:sp>
      <p:cxnSp>
        <p:nvCxnSpPr>
          <p:cNvPr id="26" name="Connector 25"/>
          <p:cNvCxnSpPr/>
          <p:nvPr/>
        </p:nvCxnSpPr>
        <p:spPr>
          <a:xfrm>
            <a:off x="3790187" y="3246120"/>
            <a:ext cx="0" cy="73152"/>
          </a:xfrm>
          <a:prstGeom prst="line">
            <a:avLst/>
          </a:prstGeom>
          <a:ln w="12700">
            <a:solidFill>
              <a:srgbClr val="55606B"/>
            </a:solidFill>
          </a:ln>
        </p:spPr>
      </p:cxnSp>
      <p:sp>
        <p:nvSpPr>
          <p:cNvPr id="27" name="TextBox 26"/>
          <p:cNvSpPr txBox="1"/>
          <p:nvPr/>
        </p:nvSpPr>
        <p:spPr>
          <a:xfrm>
            <a:off x="3424427" y="3337560"/>
            <a:ext cx="731520" cy="228600"/>
          </a:xfrm>
          <a:prstGeom prst="rect">
            <a:avLst/>
          </a:prstGeom>
          <a:noFill/>
        </p:spPr>
        <p:txBody>
          <a:bodyPr wrap="square" lIns="0" tIns="0" rIns="0" bIns="0" anchor="t">
            <a:spAutoFit/>
          </a:bodyPr>
          <a:lstStyle/>
          <a:p>
            <a:pPr algn="ctr"/>
            <a:r>
              <a:rPr sz="1100" b="0" i="0">
                <a:solidFill>
                  <a:srgbClr val="55606B"/>
                </a:solidFill>
              </a:rPr>
              <a:t>1</a:t>
            </a:r>
          </a:p>
        </p:txBody>
      </p:sp>
      <p:cxnSp>
        <p:nvCxnSpPr>
          <p:cNvPr id="28" name="Connector 27"/>
          <p:cNvCxnSpPr/>
          <p:nvPr/>
        </p:nvCxnSpPr>
        <p:spPr>
          <a:xfrm>
            <a:off x="4608576" y="3246120"/>
            <a:ext cx="0" cy="73152"/>
          </a:xfrm>
          <a:prstGeom prst="line">
            <a:avLst/>
          </a:prstGeom>
          <a:ln w="12700">
            <a:solidFill>
              <a:srgbClr val="55606B"/>
            </a:solidFill>
          </a:ln>
        </p:spPr>
      </p:cxnSp>
      <p:sp>
        <p:nvSpPr>
          <p:cNvPr id="29" name="TextBox 28"/>
          <p:cNvSpPr txBox="1"/>
          <p:nvPr/>
        </p:nvSpPr>
        <p:spPr>
          <a:xfrm>
            <a:off x="4242816" y="3337560"/>
            <a:ext cx="731520" cy="228600"/>
          </a:xfrm>
          <a:prstGeom prst="rect">
            <a:avLst/>
          </a:prstGeom>
          <a:noFill/>
        </p:spPr>
        <p:txBody>
          <a:bodyPr wrap="square" lIns="0" tIns="0" rIns="0" bIns="0" anchor="t">
            <a:spAutoFit/>
          </a:bodyPr>
          <a:lstStyle/>
          <a:p>
            <a:pPr algn="ctr"/>
            <a:r>
              <a:rPr sz="1100" b="0" i="0">
                <a:solidFill>
                  <a:srgbClr val="55606B"/>
                </a:solidFill>
              </a:rPr>
              <a:t>2</a:t>
            </a:r>
          </a:p>
        </p:txBody>
      </p:sp>
      <p:cxnSp>
        <p:nvCxnSpPr>
          <p:cNvPr id="30" name="Connector 29"/>
          <p:cNvCxnSpPr/>
          <p:nvPr/>
        </p:nvCxnSpPr>
        <p:spPr>
          <a:xfrm>
            <a:off x="7063740" y="3246120"/>
            <a:ext cx="0" cy="73152"/>
          </a:xfrm>
          <a:prstGeom prst="line">
            <a:avLst/>
          </a:prstGeom>
          <a:ln w="12700">
            <a:solidFill>
              <a:srgbClr val="55606B"/>
            </a:solidFill>
          </a:ln>
        </p:spPr>
      </p:cxnSp>
      <p:sp>
        <p:nvSpPr>
          <p:cNvPr id="31" name="TextBox 30"/>
          <p:cNvSpPr txBox="1"/>
          <p:nvPr/>
        </p:nvSpPr>
        <p:spPr>
          <a:xfrm>
            <a:off x="6697979" y="3337560"/>
            <a:ext cx="731520" cy="228600"/>
          </a:xfrm>
          <a:prstGeom prst="rect">
            <a:avLst/>
          </a:prstGeom>
          <a:noFill/>
        </p:spPr>
        <p:txBody>
          <a:bodyPr wrap="square" lIns="0" tIns="0" rIns="0" bIns="0" anchor="t">
            <a:spAutoFit/>
          </a:bodyPr>
          <a:lstStyle/>
          <a:p>
            <a:pPr algn="ctr"/>
            <a:r>
              <a:rPr sz="1100" b="0" i="0">
                <a:solidFill>
                  <a:srgbClr val="55606B"/>
                </a:solidFill>
              </a:rPr>
              <a:t>5</a:t>
            </a:r>
          </a:p>
        </p:txBody>
      </p:sp>
      <p:cxnSp>
        <p:nvCxnSpPr>
          <p:cNvPr id="32" name="Connector 31"/>
          <p:cNvCxnSpPr/>
          <p:nvPr/>
        </p:nvCxnSpPr>
        <p:spPr>
          <a:xfrm>
            <a:off x="11155680" y="3246120"/>
            <a:ext cx="0" cy="73152"/>
          </a:xfrm>
          <a:prstGeom prst="line">
            <a:avLst/>
          </a:prstGeom>
          <a:ln w="12700">
            <a:solidFill>
              <a:srgbClr val="55606B"/>
            </a:solidFill>
          </a:ln>
        </p:spPr>
      </p:cxnSp>
      <p:sp>
        <p:nvSpPr>
          <p:cNvPr id="33" name="TextBox 32"/>
          <p:cNvSpPr txBox="1"/>
          <p:nvPr/>
        </p:nvSpPr>
        <p:spPr>
          <a:xfrm>
            <a:off x="10789919" y="3337560"/>
            <a:ext cx="731520" cy="228600"/>
          </a:xfrm>
          <a:prstGeom prst="rect">
            <a:avLst/>
          </a:prstGeom>
          <a:noFill/>
        </p:spPr>
        <p:txBody>
          <a:bodyPr wrap="square" lIns="0" tIns="0" rIns="0" bIns="0" anchor="t">
            <a:spAutoFit/>
          </a:bodyPr>
          <a:lstStyle/>
          <a:p>
            <a:pPr algn="ctr"/>
            <a:r>
              <a:rPr sz="1100" b="0" i="0">
                <a:solidFill>
                  <a:srgbClr val="55606B"/>
                </a:solidFill>
              </a:rPr>
              <a:t>10</a:t>
            </a:r>
          </a:p>
        </p:txBody>
      </p:sp>
      <p:sp>
        <p:nvSpPr>
          <p:cNvPr id="34" name="TextBox 33"/>
          <p:cNvSpPr txBox="1"/>
          <p:nvPr/>
        </p:nvSpPr>
        <p:spPr>
          <a:xfrm>
            <a:off x="2495804" y="2880360"/>
            <a:ext cx="530352" cy="256032"/>
          </a:xfrm>
          <a:prstGeom prst="rect">
            <a:avLst/>
          </a:prstGeom>
          <a:noFill/>
        </p:spPr>
        <p:txBody>
          <a:bodyPr wrap="square" lIns="0" tIns="0" rIns="0" bIns="0" anchor="t">
            <a:spAutoFit/>
          </a:bodyPr>
          <a:lstStyle/>
          <a:p>
            <a:pPr algn="r"/>
            <a:r>
              <a:rPr sz="1300" b="1" i="0">
                <a:solidFill>
                  <a:srgbClr val="3F739B"/>
                </a:solidFill>
              </a:rPr>
              <a:t>0.11</a:t>
            </a:r>
          </a:p>
        </p:txBody>
      </p:sp>
      <p:sp>
        <p:nvSpPr>
          <p:cNvPr id="35" name="TextBox 34"/>
          <p:cNvSpPr txBox="1"/>
          <p:nvPr/>
        </p:nvSpPr>
        <p:spPr>
          <a:xfrm>
            <a:off x="3281172" y="2880360"/>
            <a:ext cx="530352" cy="256032"/>
          </a:xfrm>
          <a:prstGeom prst="rect">
            <a:avLst/>
          </a:prstGeom>
          <a:noFill/>
        </p:spPr>
        <p:txBody>
          <a:bodyPr wrap="square" lIns="0" tIns="0" rIns="0" bIns="0" anchor="t">
            <a:spAutoFit/>
          </a:bodyPr>
          <a:lstStyle/>
          <a:p>
            <a:pPr algn="l"/>
            <a:r>
              <a:rPr sz="1300" b="1" i="0">
                <a:solidFill>
                  <a:srgbClr val="3F739B"/>
                </a:solidFill>
              </a:rPr>
              <a:t>0.33</a:t>
            </a:r>
          </a:p>
        </p:txBody>
      </p:sp>
      <p:sp>
        <p:nvSpPr>
          <p:cNvPr id="36" name="TextBox 35"/>
          <p:cNvSpPr txBox="1"/>
          <p:nvPr/>
        </p:nvSpPr>
        <p:spPr>
          <a:xfrm>
            <a:off x="3424427" y="2880360"/>
            <a:ext cx="731520" cy="256032"/>
          </a:xfrm>
          <a:prstGeom prst="rect">
            <a:avLst/>
          </a:prstGeom>
          <a:noFill/>
        </p:spPr>
        <p:txBody>
          <a:bodyPr wrap="square" lIns="0" tIns="0" rIns="0" bIns="0" anchor="t">
            <a:spAutoFit/>
          </a:bodyPr>
          <a:lstStyle/>
          <a:p>
            <a:pPr algn="ctr"/>
            <a:r>
              <a:rPr sz="1300" b="1" i="0">
                <a:solidFill>
                  <a:srgbClr val="B88C00"/>
                </a:solidFill>
              </a:rPr>
              <a:t>1</a:t>
            </a:r>
          </a:p>
        </p:txBody>
      </p:sp>
      <p:sp>
        <p:nvSpPr>
          <p:cNvPr id="37" name="TextBox 36"/>
          <p:cNvSpPr txBox="1"/>
          <p:nvPr/>
        </p:nvSpPr>
        <p:spPr>
          <a:xfrm>
            <a:off x="5061203" y="2880360"/>
            <a:ext cx="731520" cy="256032"/>
          </a:xfrm>
          <a:prstGeom prst="rect">
            <a:avLst/>
          </a:prstGeom>
          <a:noFill/>
        </p:spPr>
        <p:txBody>
          <a:bodyPr wrap="square" lIns="0" tIns="0" rIns="0" bIns="0" anchor="t">
            <a:spAutoFit/>
          </a:bodyPr>
          <a:lstStyle/>
          <a:p>
            <a:pPr algn="ctr"/>
            <a:r>
              <a:rPr sz="1300" b="1" i="0">
                <a:solidFill>
                  <a:srgbClr val="3F739B"/>
                </a:solidFill>
              </a:rPr>
              <a:t>3</a:t>
            </a:r>
          </a:p>
        </p:txBody>
      </p:sp>
      <p:sp>
        <p:nvSpPr>
          <p:cNvPr id="38" name="TextBox 37"/>
          <p:cNvSpPr txBox="1"/>
          <p:nvPr/>
        </p:nvSpPr>
        <p:spPr>
          <a:xfrm>
            <a:off x="9971532" y="2880360"/>
            <a:ext cx="731520" cy="256032"/>
          </a:xfrm>
          <a:prstGeom prst="rect">
            <a:avLst/>
          </a:prstGeom>
          <a:noFill/>
        </p:spPr>
        <p:txBody>
          <a:bodyPr wrap="square" lIns="0" tIns="0" rIns="0" bIns="0" anchor="t">
            <a:spAutoFit/>
          </a:bodyPr>
          <a:lstStyle/>
          <a:p>
            <a:pPr algn="ctr"/>
            <a:r>
              <a:rPr sz="1300" b="1" i="0">
                <a:solidFill>
                  <a:srgbClr val="3F739B"/>
                </a:solidFill>
              </a:rPr>
              <a:t>9</a:t>
            </a:r>
          </a:p>
        </p:txBody>
      </p:sp>
      <p:sp>
        <p:nvSpPr>
          <p:cNvPr id="39" name="TextBox 38"/>
          <p:cNvSpPr txBox="1"/>
          <p:nvPr/>
        </p:nvSpPr>
        <p:spPr>
          <a:xfrm>
            <a:off x="758952" y="4233672"/>
            <a:ext cx="2103120" cy="731520"/>
          </a:xfrm>
          <a:prstGeom prst="rect">
            <a:avLst/>
          </a:prstGeom>
          <a:noFill/>
        </p:spPr>
        <p:txBody>
          <a:bodyPr wrap="square" lIns="0" tIns="0" rIns="0" bIns="0" anchor="ctr">
            <a:spAutoFit/>
          </a:bodyPr>
          <a:lstStyle/>
          <a:p>
            <a:pPr algn="l"/>
            <a:r>
              <a:rPr sz="1800" b="1" i="0">
                <a:solidFill>
                  <a:srgbClr val="1F394D"/>
                </a:solidFill>
              </a:rPr>
              <a:t>Log-odds</a:t>
            </a:r>
          </a:p>
          <a:p>
            <a:pPr algn="l"/>
            <a:r>
              <a:rPr sz="1300" b="0" i="0">
                <a:solidFill>
                  <a:srgbClr val="55606B"/>
                </a:solidFill>
              </a:rPr>
              <a:t>no lower or upper limit</a:t>
            </a:r>
          </a:p>
        </p:txBody>
      </p:sp>
      <p:cxnSp>
        <p:nvCxnSpPr>
          <p:cNvPr id="40" name="Connector 39"/>
          <p:cNvCxnSpPr/>
          <p:nvPr/>
        </p:nvCxnSpPr>
        <p:spPr>
          <a:xfrm>
            <a:off x="2971800" y="4617720"/>
            <a:ext cx="8183880" cy="0"/>
          </a:xfrm>
          <a:prstGeom prst="line">
            <a:avLst/>
          </a:prstGeom>
          <a:ln w="19050">
            <a:solidFill>
              <a:srgbClr val="55606B"/>
            </a:solidFill>
            <a:tailEnd type="triangle" w="med" len="med"/>
          </a:ln>
        </p:spPr>
      </p:cxnSp>
      <p:cxnSp>
        <p:nvCxnSpPr>
          <p:cNvPr id="41" name="Connector 40"/>
          <p:cNvCxnSpPr/>
          <p:nvPr/>
        </p:nvCxnSpPr>
        <p:spPr>
          <a:xfrm flipH="1">
            <a:off x="2971800" y="4617720"/>
            <a:ext cx="8183880" cy="0"/>
          </a:xfrm>
          <a:prstGeom prst="line">
            <a:avLst/>
          </a:prstGeom>
          <a:ln w="19050">
            <a:solidFill>
              <a:srgbClr val="55606B"/>
            </a:solidFill>
            <a:tailEnd type="triangle" w="med" len="med"/>
          </a:ln>
        </p:spPr>
      </p:cxnSp>
      <p:cxnSp>
        <p:nvCxnSpPr>
          <p:cNvPr id="42" name="Connector 41"/>
          <p:cNvCxnSpPr/>
          <p:nvPr/>
        </p:nvCxnSpPr>
        <p:spPr>
          <a:xfrm>
            <a:off x="2971800" y="4617720"/>
            <a:ext cx="0" cy="73152"/>
          </a:xfrm>
          <a:prstGeom prst="line">
            <a:avLst/>
          </a:prstGeom>
          <a:ln w="12700">
            <a:solidFill>
              <a:srgbClr val="55606B"/>
            </a:solidFill>
          </a:ln>
        </p:spPr>
      </p:cxnSp>
      <p:sp>
        <p:nvSpPr>
          <p:cNvPr id="43" name="TextBox 42"/>
          <p:cNvSpPr txBox="1"/>
          <p:nvPr/>
        </p:nvSpPr>
        <p:spPr>
          <a:xfrm>
            <a:off x="2606040" y="4709159"/>
            <a:ext cx="731520" cy="228600"/>
          </a:xfrm>
          <a:prstGeom prst="rect">
            <a:avLst/>
          </a:prstGeom>
          <a:noFill/>
        </p:spPr>
        <p:txBody>
          <a:bodyPr wrap="square" lIns="0" tIns="0" rIns="0" bIns="0" anchor="t">
            <a:spAutoFit/>
          </a:bodyPr>
          <a:lstStyle/>
          <a:p>
            <a:pPr algn="ctr"/>
            <a:r>
              <a:rPr sz="1100" b="0" i="0">
                <a:solidFill>
                  <a:srgbClr val="55606B"/>
                </a:solidFill>
              </a:rPr>
              <a:t>−3</a:t>
            </a:r>
          </a:p>
        </p:txBody>
      </p:sp>
      <p:cxnSp>
        <p:nvCxnSpPr>
          <p:cNvPr id="44" name="Connector 43"/>
          <p:cNvCxnSpPr/>
          <p:nvPr/>
        </p:nvCxnSpPr>
        <p:spPr>
          <a:xfrm>
            <a:off x="4335780" y="4617720"/>
            <a:ext cx="0" cy="73152"/>
          </a:xfrm>
          <a:prstGeom prst="line">
            <a:avLst/>
          </a:prstGeom>
          <a:ln w="12700">
            <a:solidFill>
              <a:srgbClr val="55606B"/>
            </a:solidFill>
          </a:ln>
        </p:spPr>
      </p:cxnSp>
      <p:sp>
        <p:nvSpPr>
          <p:cNvPr id="45" name="TextBox 44"/>
          <p:cNvSpPr txBox="1"/>
          <p:nvPr/>
        </p:nvSpPr>
        <p:spPr>
          <a:xfrm>
            <a:off x="3970019" y="4709159"/>
            <a:ext cx="731520" cy="228600"/>
          </a:xfrm>
          <a:prstGeom prst="rect">
            <a:avLst/>
          </a:prstGeom>
          <a:noFill/>
        </p:spPr>
        <p:txBody>
          <a:bodyPr wrap="square" lIns="0" tIns="0" rIns="0" bIns="0" anchor="t">
            <a:spAutoFit/>
          </a:bodyPr>
          <a:lstStyle/>
          <a:p>
            <a:pPr algn="ctr"/>
            <a:r>
              <a:rPr sz="1100" b="0" i="0">
                <a:solidFill>
                  <a:srgbClr val="55606B"/>
                </a:solidFill>
              </a:rPr>
              <a:t>−2</a:t>
            </a:r>
          </a:p>
        </p:txBody>
      </p:sp>
      <p:cxnSp>
        <p:nvCxnSpPr>
          <p:cNvPr id="46" name="Connector 45"/>
          <p:cNvCxnSpPr/>
          <p:nvPr/>
        </p:nvCxnSpPr>
        <p:spPr>
          <a:xfrm>
            <a:off x="5699759" y="4617720"/>
            <a:ext cx="0" cy="73152"/>
          </a:xfrm>
          <a:prstGeom prst="line">
            <a:avLst/>
          </a:prstGeom>
          <a:ln w="12700">
            <a:solidFill>
              <a:srgbClr val="55606B"/>
            </a:solidFill>
          </a:ln>
        </p:spPr>
      </p:cxnSp>
      <p:sp>
        <p:nvSpPr>
          <p:cNvPr id="47" name="TextBox 46"/>
          <p:cNvSpPr txBox="1"/>
          <p:nvPr/>
        </p:nvSpPr>
        <p:spPr>
          <a:xfrm>
            <a:off x="5333999" y="4709159"/>
            <a:ext cx="731520" cy="228600"/>
          </a:xfrm>
          <a:prstGeom prst="rect">
            <a:avLst/>
          </a:prstGeom>
          <a:noFill/>
        </p:spPr>
        <p:txBody>
          <a:bodyPr wrap="square" lIns="0" tIns="0" rIns="0" bIns="0" anchor="t">
            <a:spAutoFit/>
          </a:bodyPr>
          <a:lstStyle/>
          <a:p>
            <a:pPr algn="ctr"/>
            <a:r>
              <a:rPr sz="1100" b="0" i="0">
                <a:solidFill>
                  <a:srgbClr val="55606B"/>
                </a:solidFill>
              </a:rPr>
              <a:t>−1</a:t>
            </a:r>
          </a:p>
        </p:txBody>
      </p:sp>
      <p:cxnSp>
        <p:nvCxnSpPr>
          <p:cNvPr id="48" name="Connector 47"/>
          <p:cNvCxnSpPr/>
          <p:nvPr/>
        </p:nvCxnSpPr>
        <p:spPr>
          <a:xfrm>
            <a:off x="7063740" y="4617720"/>
            <a:ext cx="0" cy="73152"/>
          </a:xfrm>
          <a:prstGeom prst="line">
            <a:avLst/>
          </a:prstGeom>
          <a:ln w="12700">
            <a:solidFill>
              <a:srgbClr val="55606B"/>
            </a:solidFill>
          </a:ln>
        </p:spPr>
      </p:cxnSp>
      <p:sp>
        <p:nvSpPr>
          <p:cNvPr id="49" name="TextBox 48"/>
          <p:cNvSpPr txBox="1"/>
          <p:nvPr/>
        </p:nvSpPr>
        <p:spPr>
          <a:xfrm>
            <a:off x="6697979" y="4709159"/>
            <a:ext cx="731520" cy="228600"/>
          </a:xfrm>
          <a:prstGeom prst="rect">
            <a:avLst/>
          </a:prstGeom>
          <a:noFill/>
        </p:spPr>
        <p:txBody>
          <a:bodyPr wrap="square" lIns="0" tIns="0" rIns="0" bIns="0" anchor="t">
            <a:spAutoFit/>
          </a:bodyPr>
          <a:lstStyle/>
          <a:p>
            <a:pPr algn="ctr"/>
            <a:r>
              <a:rPr sz="1100" b="0" i="0">
                <a:solidFill>
                  <a:srgbClr val="55606B"/>
                </a:solidFill>
              </a:rPr>
              <a:t>0</a:t>
            </a:r>
          </a:p>
        </p:txBody>
      </p:sp>
      <p:cxnSp>
        <p:nvCxnSpPr>
          <p:cNvPr id="50" name="Connector 49"/>
          <p:cNvCxnSpPr/>
          <p:nvPr/>
        </p:nvCxnSpPr>
        <p:spPr>
          <a:xfrm>
            <a:off x="8427719" y="4617720"/>
            <a:ext cx="0" cy="73152"/>
          </a:xfrm>
          <a:prstGeom prst="line">
            <a:avLst/>
          </a:prstGeom>
          <a:ln w="12700">
            <a:solidFill>
              <a:srgbClr val="55606B"/>
            </a:solidFill>
          </a:ln>
        </p:spPr>
      </p:cxnSp>
      <p:sp>
        <p:nvSpPr>
          <p:cNvPr id="51" name="TextBox 50"/>
          <p:cNvSpPr txBox="1"/>
          <p:nvPr/>
        </p:nvSpPr>
        <p:spPr>
          <a:xfrm>
            <a:off x="8061959" y="4709159"/>
            <a:ext cx="731520" cy="228600"/>
          </a:xfrm>
          <a:prstGeom prst="rect">
            <a:avLst/>
          </a:prstGeom>
          <a:noFill/>
        </p:spPr>
        <p:txBody>
          <a:bodyPr wrap="square" lIns="0" tIns="0" rIns="0" bIns="0" anchor="t">
            <a:spAutoFit/>
          </a:bodyPr>
          <a:lstStyle/>
          <a:p>
            <a:pPr algn="ctr"/>
            <a:r>
              <a:rPr sz="1100" b="0" i="0">
                <a:solidFill>
                  <a:srgbClr val="55606B"/>
                </a:solidFill>
              </a:rPr>
              <a:t>1</a:t>
            </a:r>
          </a:p>
        </p:txBody>
      </p:sp>
      <p:cxnSp>
        <p:nvCxnSpPr>
          <p:cNvPr id="52" name="Connector 51"/>
          <p:cNvCxnSpPr/>
          <p:nvPr/>
        </p:nvCxnSpPr>
        <p:spPr>
          <a:xfrm>
            <a:off x="9791699" y="4617720"/>
            <a:ext cx="0" cy="73152"/>
          </a:xfrm>
          <a:prstGeom prst="line">
            <a:avLst/>
          </a:prstGeom>
          <a:ln w="12700">
            <a:solidFill>
              <a:srgbClr val="55606B"/>
            </a:solidFill>
          </a:ln>
        </p:spPr>
      </p:cxnSp>
      <p:sp>
        <p:nvSpPr>
          <p:cNvPr id="53" name="TextBox 52"/>
          <p:cNvSpPr txBox="1"/>
          <p:nvPr/>
        </p:nvSpPr>
        <p:spPr>
          <a:xfrm>
            <a:off x="9425939" y="4709159"/>
            <a:ext cx="731520" cy="228600"/>
          </a:xfrm>
          <a:prstGeom prst="rect">
            <a:avLst/>
          </a:prstGeom>
          <a:noFill/>
        </p:spPr>
        <p:txBody>
          <a:bodyPr wrap="square" lIns="0" tIns="0" rIns="0" bIns="0" anchor="t">
            <a:spAutoFit/>
          </a:bodyPr>
          <a:lstStyle/>
          <a:p>
            <a:pPr algn="ctr"/>
            <a:r>
              <a:rPr sz="1100" b="0" i="0">
                <a:solidFill>
                  <a:srgbClr val="55606B"/>
                </a:solidFill>
              </a:rPr>
              <a:t>2</a:t>
            </a:r>
          </a:p>
        </p:txBody>
      </p:sp>
      <p:cxnSp>
        <p:nvCxnSpPr>
          <p:cNvPr id="54" name="Connector 53"/>
          <p:cNvCxnSpPr/>
          <p:nvPr/>
        </p:nvCxnSpPr>
        <p:spPr>
          <a:xfrm>
            <a:off x="11155680" y="4617720"/>
            <a:ext cx="0" cy="73152"/>
          </a:xfrm>
          <a:prstGeom prst="line">
            <a:avLst/>
          </a:prstGeom>
          <a:ln w="12700">
            <a:solidFill>
              <a:srgbClr val="55606B"/>
            </a:solidFill>
          </a:ln>
        </p:spPr>
      </p:cxnSp>
      <p:sp>
        <p:nvSpPr>
          <p:cNvPr id="55" name="TextBox 54"/>
          <p:cNvSpPr txBox="1"/>
          <p:nvPr/>
        </p:nvSpPr>
        <p:spPr>
          <a:xfrm>
            <a:off x="10789919" y="4709159"/>
            <a:ext cx="731520" cy="228600"/>
          </a:xfrm>
          <a:prstGeom prst="rect">
            <a:avLst/>
          </a:prstGeom>
          <a:noFill/>
        </p:spPr>
        <p:txBody>
          <a:bodyPr wrap="square" lIns="0" tIns="0" rIns="0" bIns="0" anchor="t">
            <a:spAutoFit/>
          </a:bodyPr>
          <a:lstStyle/>
          <a:p>
            <a:pPr algn="ctr"/>
            <a:r>
              <a:rPr sz="1100" b="0" i="0">
                <a:solidFill>
                  <a:srgbClr val="55606B"/>
                </a:solidFill>
              </a:rPr>
              <a:t>3</a:t>
            </a:r>
          </a:p>
        </p:txBody>
      </p:sp>
      <p:sp>
        <p:nvSpPr>
          <p:cNvPr id="56" name="TextBox 55"/>
          <p:cNvSpPr txBox="1"/>
          <p:nvPr/>
        </p:nvSpPr>
        <p:spPr>
          <a:xfrm>
            <a:off x="3701009" y="4251959"/>
            <a:ext cx="731520" cy="256032"/>
          </a:xfrm>
          <a:prstGeom prst="rect">
            <a:avLst/>
          </a:prstGeom>
          <a:noFill/>
        </p:spPr>
        <p:txBody>
          <a:bodyPr wrap="square" lIns="0" tIns="0" rIns="0" bIns="0" anchor="t">
            <a:spAutoFit/>
          </a:bodyPr>
          <a:lstStyle/>
          <a:p>
            <a:pPr algn="ctr"/>
            <a:r>
              <a:rPr sz="1300" b="1" i="0">
                <a:solidFill>
                  <a:srgbClr val="3F739B"/>
                </a:solidFill>
              </a:rPr>
              <a:t>−2.2</a:t>
            </a:r>
          </a:p>
        </p:txBody>
      </p:sp>
      <p:sp>
        <p:nvSpPr>
          <p:cNvPr id="57" name="TextBox 56"/>
          <p:cNvSpPr txBox="1"/>
          <p:nvPr/>
        </p:nvSpPr>
        <p:spPr>
          <a:xfrm>
            <a:off x="5199494" y="4251959"/>
            <a:ext cx="731520" cy="256032"/>
          </a:xfrm>
          <a:prstGeom prst="rect">
            <a:avLst/>
          </a:prstGeom>
          <a:noFill/>
        </p:spPr>
        <p:txBody>
          <a:bodyPr wrap="square" lIns="0" tIns="0" rIns="0" bIns="0" anchor="t">
            <a:spAutoFit/>
          </a:bodyPr>
          <a:lstStyle/>
          <a:p>
            <a:pPr algn="ctr"/>
            <a:r>
              <a:rPr sz="1300" b="1" i="0">
                <a:solidFill>
                  <a:srgbClr val="3F739B"/>
                </a:solidFill>
              </a:rPr>
              <a:t>−1.1</a:t>
            </a:r>
          </a:p>
        </p:txBody>
      </p:sp>
      <p:sp>
        <p:nvSpPr>
          <p:cNvPr id="58" name="TextBox 57"/>
          <p:cNvSpPr txBox="1"/>
          <p:nvPr/>
        </p:nvSpPr>
        <p:spPr>
          <a:xfrm>
            <a:off x="6697979" y="4251959"/>
            <a:ext cx="731520" cy="256032"/>
          </a:xfrm>
          <a:prstGeom prst="rect">
            <a:avLst/>
          </a:prstGeom>
          <a:noFill/>
        </p:spPr>
        <p:txBody>
          <a:bodyPr wrap="square" lIns="0" tIns="0" rIns="0" bIns="0" anchor="t">
            <a:spAutoFit/>
          </a:bodyPr>
          <a:lstStyle/>
          <a:p>
            <a:pPr algn="ctr"/>
            <a:r>
              <a:rPr sz="1300" b="1" i="0">
                <a:solidFill>
                  <a:srgbClr val="B88C00"/>
                </a:solidFill>
              </a:rPr>
              <a:t>0</a:t>
            </a:r>
          </a:p>
        </p:txBody>
      </p:sp>
      <p:sp>
        <p:nvSpPr>
          <p:cNvPr id="59" name="TextBox 58"/>
          <p:cNvSpPr txBox="1"/>
          <p:nvPr/>
        </p:nvSpPr>
        <p:spPr>
          <a:xfrm>
            <a:off x="8196465" y="4251959"/>
            <a:ext cx="731520" cy="256032"/>
          </a:xfrm>
          <a:prstGeom prst="rect">
            <a:avLst/>
          </a:prstGeom>
          <a:noFill/>
        </p:spPr>
        <p:txBody>
          <a:bodyPr wrap="square" lIns="0" tIns="0" rIns="0" bIns="0" anchor="t">
            <a:spAutoFit/>
          </a:bodyPr>
          <a:lstStyle/>
          <a:p>
            <a:pPr algn="ctr"/>
            <a:r>
              <a:rPr sz="1300" b="1" i="0">
                <a:solidFill>
                  <a:srgbClr val="3F739B"/>
                </a:solidFill>
              </a:rPr>
              <a:t>1.1</a:t>
            </a:r>
          </a:p>
        </p:txBody>
      </p:sp>
      <p:sp>
        <p:nvSpPr>
          <p:cNvPr id="60" name="TextBox 59"/>
          <p:cNvSpPr txBox="1"/>
          <p:nvPr/>
        </p:nvSpPr>
        <p:spPr>
          <a:xfrm>
            <a:off x="9694950" y="4251959"/>
            <a:ext cx="731520" cy="256032"/>
          </a:xfrm>
          <a:prstGeom prst="rect">
            <a:avLst/>
          </a:prstGeom>
          <a:noFill/>
        </p:spPr>
        <p:txBody>
          <a:bodyPr wrap="square" lIns="0" tIns="0" rIns="0" bIns="0" anchor="t">
            <a:spAutoFit/>
          </a:bodyPr>
          <a:lstStyle/>
          <a:p>
            <a:pPr algn="ctr"/>
            <a:r>
              <a:rPr sz="1300" b="1" i="0">
                <a:solidFill>
                  <a:srgbClr val="3F739B"/>
                </a:solidFill>
              </a:rPr>
              <a:t>2.2</a:t>
            </a:r>
          </a:p>
        </p:txBody>
      </p:sp>
      <p:cxnSp>
        <p:nvCxnSpPr>
          <p:cNvPr id="61" name="Connector 60"/>
          <p:cNvCxnSpPr/>
          <p:nvPr/>
        </p:nvCxnSpPr>
        <p:spPr>
          <a:xfrm flipH="1">
            <a:off x="3062732" y="1874519"/>
            <a:ext cx="727455" cy="1371601"/>
          </a:xfrm>
          <a:prstGeom prst="line">
            <a:avLst/>
          </a:prstGeom>
          <a:ln w="9525">
            <a:solidFill>
              <a:srgbClr val="3F739B"/>
            </a:solidFill>
            <a:prstDash val="dash"/>
          </a:ln>
        </p:spPr>
      </p:cxnSp>
      <p:cxnSp>
        <p:nvCxnSpPr>
          <p:cNvPr id="62" name="Connector 61"/>
          <p:cNvCxnSpPr/>
          <p:nvPr/>
        </p:nvCxnSpPr>
        <p:spPr>
          <a:xfrm>
            <a:off x="3062732" y="3246120"/>
            <a:ext cx="1004037" cy="1371600"/>
          </a:xfrm>
          <a:prstGeom prst="line">
            <a:avLst/>
          </a:prstGeom>
          <a:ln w="9525">
            <a:solidFill>
              <a:srgbClr val="3F739B"/>
            </a:solidFill>
            <a:prstDash val="dash"/>
          </a:ln>
        </p:spPr>
      </p:cxnSp>
      <p:cxnSp>
        <p:nvCxnSpPr>
          <p:cNvPr id="63" name="Connector 62"/>
          <p:cNvCxnSpPr/>
          <p:nvPr/>
        </p:nvCxnSpPr>
        <p:spPr>
          <a:xfrm flipH="1">
            <a:off x="3244596" y="1874519"/>
            <a:ext cx="1773174" cy="1371601"/>
          </a:xfrm>
          <a:prstGeom prst="line">
            <a:avLst/>
          </a:prstGeom>
          <a:ln w="9525">
            <a:solidFill>
              <a:srgbClr val="3F739B"/>
            </a:solidFill>
            <a:prstDash val="dash"/>
          </a:ln>
        </p:spPr>
      </p:cxnSp>
      <p:cxnSp>
        <p:nvCxnSpPr>
          <p:cNvPr id="64" name="Connector 63"/>
          <p:cNvCxnSpPr/>
          <p:nvPr/>
        </p:nvCxnSpPr>
        <p:spPr>
          <a:xfrm>
            <a:off x="3244596" y="3246120"/>
            <a:ext cx="2320658" cy="1371600"/>
          </a:xfrm>
          <a:prstGeom prst="line">
            <a:avLst/>
          </a:prstGeom>
          <a:ln w="9525">
            <a:solidFill>
              <a:srgbClr val="3F739B"/>
            </a:solidFill>
            <a:prstDash val="dash"/>
          </a:ln>
        </p:spPr>
      </p:cxnSp>
      <p:cxnSp>
        <p:nvCxnSpPr>
          <p:cNvPr id="65" name="Connector 64"/>
          <p:cNvCxnSpPr/>
          <p:nvPr/>
        </p:nvCxnSpPr>
        <p:spPr>
          <a:xfrm flipH="1">
            <a:off x="3790187" y="1874519"/>
            <a:ext cx="3273553" cy="1371601"/>
          </a:xfrm>
          <a:prstGeom prst="line">
            <a:avLst/>
          </a:prstGeom>
          <a:ln w="22225">
            <a:solidFill>
              <a:srgbClr val="B88C00"/>
            </a:solidFill>
          </a:ln>
        </p:spPr>
      </p:cxnSp>
      <p:cxnSp>
        <p:nvCxnSpPr>
          <p:cNvPr id="66" name="Connector 65"/>
          <p:cNvCxnSpPr/>
          <p:nvPr/>
        </p:nvCxnSpPr>
        <p:spPr>
          <a:xfrm>
            <a:off x="3790187" y="3246120"/>
            <a:ext cx="3273553" cy="1371600"/>
          </a:xfrm>
          <a:prstGeom prst="line">
            <a:avLst/>
          </a:prstGeom>
          <a:ln w="22225">
            <a:solidFill>
              <a:srgbClr val="B88C00"/>
            </a:solidFill>
          </a:ln>
        </p:spPr>
      </p:cxnSp>
      <p:cxnSp>
        <p:nvCxnSpPr>
          <p:cNvPr id="67" name="Connector 66"/>
          <p:cNvCxnSpPr/>
          <p:nvPr/>
        </p:nvCxnSpPr>
        <p:spPr>
          <a:xfrm flipH="1">
            <a:off x="5426964" y="1874519"/>
            <a:ext cx="3682745" cy="1371601"/>
          </a:xfrm>
          <a:prstGeom prst="line">
            <a:avLst/>
          </a:prstGeom>
          <a:ln w="9525">
            <a:solidFill>
              <a:srgbClr val="3F739B"/>
            </a:solidFill>
            <a:prstDash val="dash"/>
          </a:ln>
        </p:spPr>
      </p:cxnSp>
      <p:cxnSp>
        <p:nvCxnSpPr>
          <p:cNvPr id="68" name="Connector 67"/>
          <p:cNvCxnSpPr/>
          <p:nvPr/>
        </p:nvCxnSpPr>
        <p:spPr>
          <a:xfrm>
            <a:off x="5426964" y="3246120"/>
            <a:ext cx="3135261" cy="1371600"/>
          </a:xfrm>
          <a:prstGeom prst="line">
            <a:avLst/>
          </a:prstGeom>
          <a:ln w="9525">
            <a:solidFill>
              <a:srgbClr val="3F739B"/>
            </a:solidFill>
            <a:prstDash val="dash"/>
          </a:ln>
        </p:spPr>
      </p:cxnSp>
      <p:cxnSp>
        <p:nvCxnSpPr>
          <p:cNvPr id="69" name="Connector 68"/>
          <p:cNvCxnSpPr/>
          <p:nvPr/>
        </p:nvCxnSpPr>
        <p:spPr>
          <a:xfrm>
            <a:off x="10337292" y="1874519"/>
            <a:ext cx="0" cy="1371601"/>
          </a:xfrm>
          <a:prstGeom prst="line">
            <a:avLst/>
          </a:prstGeom>
          <a:ln w="9525">
            <a:solidFill>
              <a:srgbClr val="3F739B"/>
            </a:solidFill>
            <a:prstDash val="dash"/>
          </a:ln>
        </p:spPr>
      </p:cxnSp>
      <p:cxnSp>
        <p:nvCxnSpPr>
          <p:cNvPr id="70" name="Connector 69"/>
          <p:cNvCxnSpPr/>
          <p:nvPr/>
        </p:nvCxnSpPr>
        <p:spPr>
          <a:xfrm flipH="1">
            <a:off x="10060710" y="3246120"/>
            <a:ext cx="276582" cy="1371600"/>
          </a:xfrm>
          <a:prstGeom prst="line">
            <a:avLst/>
          </a:prstGeom>
          <a:ln w="9525">
            <a:solidFill>
              <a:srgbClr val="3F739B"/>
            </a:solidFill>
            <a:prstDash val="dash"/>
          </a:ln>
        </p:spPr>
      </p:cxnSp>
      <p:sp>
        <p:nvSpPr>
          <p:cNvPr id="71" name="Oval 70"/>
          <p:cNvSpPr/>
          <p:nvPr/>
        </p:nvSpPr>
        <p:spPr>
          <a:xfrm>
            <a:off x="3717035" y="1801367"/>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72" name="Oval 71"/>
          <p:cNvSpPr/>
          <p:nvPr/>
        </p:nvSpPr>
        <p:spPr>
          <a:xfrm>
            <a:off x="4944618" y="1801367"/>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73" name="Oval 72"/>
          <p:cNvSpPr/>
          <p:nvPr/>
        </p:nvSpPr>
        <p:spPr>
          <a:xfrm>
            <a:off x="6990588" y="1801367"/>
            <a:ext cx="146304" cy="146304"/>
          </a:xfrm>
          <a:prstGeom prst="ellipse">
            <a:avLst/>
          </a:prstGeom>
          <a:solidFill>
            <a:srgbClr val="B88C00"/>
          </a:solidFill>
          <a:ln w="12700">
            <a:solidFill>
              <a:srgbClr val="FFFFFF"/>
            </a:solidFill>
          </a:ln>
        </p:spPr>
        <p:txBody>
          <a:bodyPr rtlCol="0" anchor="ctr"/>
          <a:lstStyle/>
          <a:p>
            <a:pPr algn="ctr"/>
            <a:endParaRPr/>
          </a:p>
        </p:txBody>
      </p:sp>
      <p:sp>
        <p:nvSpPr>
          <p:cNvPr id="74" name="Oval 73"/>
          <p:cNvSpPr/>
          <p:nvPr/>
        </p:nvSpPr>
        <p:spPr>
          <a:xfrm>
            <a:off x="9036557" y="1801367"/>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75" name="Oval 74"/>
          <p:cNvSpPr/>
          <p:nvPr/>
        </p:nvSpPr>
        <p:spPr>
          <a:xfrm>
            <a:off x="10264140" y="1801367"/>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76" name="Oval 75"/>
          <p:cNvSpPr/>
          <p:nvPr/>
        </p:nvSpPr>
        <p:spPr>
          <a:xfrm>
            <a:off x="2989580" y="3172968"/>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77" name="Oval 76"/>
          <p:cNvSpPr/>
          <p:nvPr/>
        </p:nvSpPr>
        <p:spPr>
          <a:xfrm>
            <a:off x="3171444" y="3172968"/>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78" name="Oval 77"/>
          <p:cNvSpPr/>
          <p:nvPr/>
        </p:nvSpPr>
        <p:spPr>
          <a:xfrm>
            <a:off x="3717035" y="3172968"/>
            <a:ext cx="146304" cy="146304"/>
          </a:xfrm>
          <a:prstGeom prst="ellipse">
            <a:avLst/>
          </a:prstGeom>
          <a:solidFill>
            <a:srgbClr val="B88C00"/>
          </a:solidFill>
          <a:ln w="12700">
            <a:solidFill>
              <a:srgbClr val="FFFFFF"/>
            </a:solidFill>
          </a:ln>
        </p:spPr>
        <p:txBody>
          <a:bodyPr rtlCol="0" anchor="ctr"/>
          <a:lstStyle/>
          <a:p>
            <a:pPr algn="ctr"/>
            <a:endParaRPr/>
          </a:p>
        </p:txBody>
      </p:sp>
      <p:sp>
        <p:nvSpPr>
          <p:cNvPr id="79" name="Oval 78"/>
          <p:cNvSpPr/>
          <p:nvPr/>
        </p:nvSpPr>
        <p:spPr>
          <a:xfrm>
            <a:off x="5353812" y="3172968"/>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80" name="Oval 79"/>
          <p:cNvSpPr/>
          <p:nvPr/>
        </p:nvSpPr>
        <p:spPr>
          <a:xfrm>
            <a:off x="10264140" y="3172968"/>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81" name="Oval 80"/>
          <p:cNvSpPr/>
          <p:nvPr/>
        </p:nvSpPr>
        <p:spPr>
          <a:xfrm>
            <a:off x="3993617" y="4544568"/>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82" name="Oval 81"/>
          <p:cNvSpPr/>
          <p:nvPr/>
        </p:nvSpPr>
        <p:spPr>
          <a:xfrm>
            <a:off x="5492102" y="4544568"/>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83" name="Oval 82"/>
          <p:cNvSpPr/>
          <p:nvPr/>
        </p:nvSpPr>
        <p:spPr>
          <a:xfrm>
            <a:off x="6990588" y="4544568"/>
            <a:ext cx="146304" cy="146304"/>
          </a:xfrm>
          <a:prstGeom prst="ellipse">
            <a:avLst/>
          </a:prstGeom>
          <a:solidFill>
            <a:srgbClr val="B88C00"/>
          </a:solidFill>
          <a:ln w="12700">
            <a:solidFill>
              <a:srgbClr val="FFFFFF"/>
            </a:solidFill>
          </a:ln>
        </p:spPr>
        <p:txBody>
          <a:bodyPr rtlCol="0" anchor="ctr"/>
          <a:lstStyle/>
          <a:p>
            <a:pPr algn="ctr"/>
            <a:endParaRPr/>
          </a:p>
        </p:txBody>
      </p:sp>
      <p:sp>
        <p:nvSpPr>
          <p:cNvPr id="84" name="Oval 83"/>
          <p:cNvSpPr/>
          <p:nvPr/>
        </p:nvSpPr>
        <p:spPr>
          <a:xfrm>
            <a:off x="8489073" y="4544568"/>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85" name="Oval 84"/>
          <p:cNvSpPr/>
          <p:nvPr/>
        </p:nvSpPr>
        <p:spPr>
          <a:xfrm>
            <a:off x="9987558" y="4544568"/>
            <a:ext cx="146304" cy="146304"/>
          </a:xfrm>
          <a:prstGeom prst="ellipse">
            <a:avLst/>
          </a:prstGeom>
          <a:solidFill>
            <a:srgbClr val="3F739B"/>
          </a:solidFill>
          <a:ln w="12700">
            <a:solidFill>
              <a:srgbClr val="FFFFFF"/>
            </a:solidFill>
          </a:ln>
        </p:spPr>
        <p:txBody>
          <a:bodyPr rtlCol="0" anchor="ctr"/>
          <a:lstStyle/>
          <a:p>
            <a:pPr algn="ctr"/>
            <a:endParaRPr/>
          </a:p>
        </p:txBody>
      </p:sp>
      <p:sp>
        <p:nvSpPr>
          <p:cNvPr id="86" name="Rounded Rectangle 85"/>
          <p:cNvSpPr/>
          <p:nvPr/>
        </p:nvSpPr>
        <p:spPr>
          <a:xfrm>
            <a:off x="758952" y="5230368"/>
            <a:ext cx="10607040" cy="640080"/>
          </a:xfrm>
          <a:prstGeom prst="roundRect">
            <a:avLst>
              <a:gd name="adj" fmla="val 8000"/>
            </a:avLst>
          </a:prstGeom>
          <a:solidFill>
            <a:srgbClr val="1F394D"/>
          </a:solidFill>
          <a:ln>
            <a:noFill/>
          </a:ln>
        </p:spPr>
        <p:txBody>
          <a:bodyPr rtlCol="0" anchor="ctr"/>
          <a:lstStyle/>
          <a:p>
            <a:pPr algn="ctr"/>
            <a:endParaRPr/>
          </a:p>
        </p:txBody>
      </p:sp>
      <p:sp>
        <p:nvSpPr>
          <p:cNvPr id="87" name="TextBox 86"/>
          <p:cNvSpPr txBox="1"/>
          <p:nvPr/>
        </p:nvSpPr>
        <p:spPr>
          <a:xfrm>
            <a:off x="987552" y="5257800"/>
            <a:ext cx="10149840" cy="585216"/>
          </a:xfrm>
          <a:prstGeom prst="rect">
            <a:avLst/>
          </a:prstGeom>
          <a:noFill/>
        </p:spPr>
        <p:txBody>
          <a:bodyPr wrap="square" lIns="0" tIns="0" rIns="0" bIns="0" anchor="ctr">
            <a:spAutoFit/>
          </a:bodyPr>
          <a:lstStyle/>
          <a:p>
            <a:pPr algn="l"/>
            <a:r>
              <a:rPr sz="1500" b="1" i="0">
                <a:solidFill>
                  <a:srgbClr val="B88C00"/>
                </a:solidFill>
              </a:rPr>
              <a:t>An even split sits at p = 0.5, odds = 1 and log-odds = 0. </a:t>
            </a:r>
            <a:r>
              <a:rPr sz="1500" b="0" i="0">
                <a:solidFill>
                  <a:srgbClr val="FFFFFF"/>
                </a:solidFill>
              </a:rPr>
              <a:t>Log-odds have no limit in either direction and are symmetric around 0, so a straight line on this scale never predicts an impossible value.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Activity: converting between scales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Question card 1"/>
          <p:cNvSpPr/>
          <p:nvPr/>
        </p:nvSpPr>
        <p:spPr>
          <a:xfrm>
            <a:off x="758952" y="1325880"/>
            <a:ext cx="5212080" cy="1783080"/>
          </a:xfrm>
          <a:prstGeom prst="roundRect">
            <a:avLst>
              <a:gd name="adj" fmla="val 8000"/>
            </a:avLst>
          </a:prstGeom>
          <a:solidFill>
            <a:srgbClr val="EEF3F7"/>
          </a:solidFill>
          <a:ln>
            <a:noFill/>
          </a:ln>
        </p:spPr>
        <p:txBody>
          <a:bodyPr rtlCol="0" anchor="ctr"/>
          <a:lstStyle/>
          <a:p>
            <a:endParaRPr/>
          </a:p>
        </p:txBody>
      </p:sp>
      <p:sp>
        <p:nvSpPr>
          <p:cNvPr id="6" name="Oval 5"/>
          <p:cNvSpPr/>
          <p:nvPr/>
        </p:nvSpPr>
        <p:spPr>
          <a:xfrm>
            <a:off x="960120" y="152704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1</a:t>
            </a:r>
          </a:p>
        </p:txBody>
      </p:sp>
      <p:sp>
        <p:nvSpPr>
          <p:cNvPr id="7" name="TextBox 6"/>
          <p:cNvSpPr txBox="1"/>
          <p:nvPr/>
        </p:nvSpPr>
        <p:spPr>
          <a:xfrm>
            <a:off x="1581912" y="1508760"/>
            <a:ext cx="4206240" cy="1463040"/>
          </a:xfrm>
          <a:prstGeom prst="rect">
            <a:avLst/>
          </a:prstGeom>
          <a:noFill/>
        </p:spPr>
        <p:txBody>
          <a:bodyPr wrap="square" lIns="0" tIns="0" rIns="0" bIns="0" anchor="t">
            <a:spAutoFit/>
          </a:bodyPr>
          <a:lstStyle/>
          <a:p>
            <a:pPr algn="l"/>
            <a:r>
              <a:rPr sz="1800" b="0" i="0">
                <a:solidFill>
                  <a:srgbClr val="1F2A33"/>
                </a:solidFill>
              </a:rPr>
              <a:t>60% of respondents say most people can be trusted. What are the odds?</a:t>
            </a:r>
          </a:p>
        </p:txBody>
      </p:sp>
      <p:sp>
        <p:nvSpPr>
          <p:cNvPr id="8" name="Question card 2"/>
          <p:cNvSpPr/>
          <p:nvPr/>
        </p:nvSpPr>
        <p:spPr>
          <a:xfrm>
            <a:off x="6153912" y="1325880"/>
            <a:ext cx="5212080" cy="1783080"/>
          </a:xfrm>
          <a:prstGeom prst="roundRect">
            <a:avLst>
              <a:gd name="adj" fmla="val 8000"/>
            </a:avLst>
          </a:prstGeom>
          <a:solidFill>
            <a:srgbClr val="EEF3F7"/>
          </a:solidFill>
          <a:ln>
            <a:noFill/>
          </a:ln>
        </p:spPr>
        <p:txBody>
          <a:bodyPr rtlCol="0" anchor="ctr"/>
          <a:lstStyle/>
          <a:p>
            <a:endParaRPr/>
          </a:p>
        </p:txBody>
      </p:sp>
      <p:sp>
        <p:nvSpPr>
          <p:cNvPr id="9" name="Oval 8"/>
          <p:cNvSpPr/>
          <p:nvPr/>
        </p:nvSpPr>
        <p:spPr>
          <a:xfrm>
            <a:off x="6355080" y="152704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2</a:t>
            </a:r>
          </a:p>
        </p:txBody>
      </p:sp>
      <p:sp>
        <p:nvSpPr>
          <p:cNvPr id="10" name="TextBox 9"/>
          <p:cNvSpPr txBox="1"/>
          <p:nvPr/>
        </p:nvSpPr>
        <p:spPr>
          <a:xfrm>
            <a:off x="6976872" y="1508760"/>
            <a:ext cx="4206240" cy="1463040"/>
          </a:xfrm>
          <a:prstGeom prst="rect">
            <a:avLst/>
          </a:prstGeom>
          <a:noFill/>
        </p:spPr>
        <p:txBody>
          <a:bodyPr wrap="square" lIns="0" tIns="0" rIns="0" bIns="0" anchor="t">
            <a:spAutoFit/>
          </a:bodyPr>
          <a:lstStyle/>
          <a:p>
            <a:pPr algn="l"/>
            <a:r>
              <a:rPr sz="1800" b="0" i="0">
                <a:solidFill>
                  <a:srgbClr val="1F2A33"/>
                </a:solidFill>
              </a:rPr>
              <a:t>The odds of voting are 3 (3 to 1). What is the probability?</a:t>
            </a:r>
          </a:p>
        </p:txBody>
      </p:sp>
      <p:sp>
        <p:nvSpPr>
          <p:cNvPr id="11" name="Question card 3"/>
          <p:cNvSpPr/>
          <p:nvPr/>
        </p:nvSpPr>
        <p:spPr>
          <a:xfrm>
            <a:off x="758952" y="3291839"/>
            <a:ext cx="5212080" cy="1783080"/>
          </a:xfrm>
          <a:prstGeom prst="roundRect">
            <a:avLst>
              <a:gd name="adj" fmla="val 8000"/>
            </a:avLst>
          </a:prstGeom>
          <a:solidFill>
            <a:srgbClr val="EEF3F7"/>
          </a:solidFill>
          <a:ln>
            <a:noFill/>
          </a:ln>
        </p:spPr>
        <p:txBody>
          <a:bodyPr rtlCol="0" anchor="ctr"/>
          <a:lstStyle/>
          <a:p>
            <a:endParaRPr/>
          </a:p>
        </p:txBody>
      </p:sp>
      <p:sp>
        <p:nvSpPr>
          <p:cNvPr id="12" name="Oval 11"/>
          <p:cNvSpPr/>
          <p:nvPr/>
        </p:nvSpPr>
        <p:spPr>
          <a:xfrm>
            <a:off x="960120" y="349300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3</a:t>
            </a:r>
          </a:p>
        </p:txBody>
      </p:sp>
      <p:sp>
        <p:nvSpPr>
          <p:cNvPr id="13" name="TextBox 12"/>
          <p:cNvSpPr txBox="1"/>
          <p:nvPr/>
        </p:nvSpPr>
        <p:spPr>
          <a:xfrm>
            <a:off x="1581912" y="3474720"/>
            <a:ext cx="4206240" cy="1463040"/>
          </a:xfrm>
          <a:prstGeom prst="rect">
            <a:avLst/>
          </a:prstGeom>
          <a:noFill/>
        </p:spPr>
        <p:txBody>
          <a:bodyPr wrap="square" lIns="0" tIns="0" rIns="0" bIns="0" anchor="t">
            <a:spAutoFit/>
          </a:bodyPr>
          <a:lstStyle/>
          <a:p>
            <a:pPr algn="l"/>
            <a:r>
              <a:rPr sz="1800" b="0" i="0">
                <a:solidFill>
                  <a:srgbClr val="1F2A33"/>
                </a:solidFill>
              </a:rPr>
              <a:t>A coefficient is 0 on the log-odds scale. What is the odds ratio, and what does it mean?</a:t>
            </a:r>
          </a:p>
        </p:txBody>
      </p:sp>
      <p:sp>
        <p:nvSpPr>
          <p:cNvPr id="14" name="Question card 4"/>
          <p:cNvSpPr/>
          <p:nvPr/>
        </p:nvSpPr>
        <p:spPr>
          <a:xfrm>
            <a:off x="6153912" y="3291839"/>
            <a:ext cx="5212080" cy="1783080"/>
          </a:xfrm>
          <a:prstGeom prst="roundRect">
            <a:avLst>
              <a:gd name="adj" fmla="val 8000"/>
            </a:avLst>
          </a:prstGeom>
          <a:solidFill>
            <a:srgbClr val="EEF3F7"/>
          </a:solidFill>
          <a:ln>
            <a:noFill/>
          </a:ln>
        </p:spPr>
        <p:txBody>
          <a:bodyPr rtlCol="0" anchor="ctr"/>
          <a:lstStyle/>
          <a:p>
            <a:endParaRPr/>
          </a:p>
        </p:txBody>
      </p:sp>
      <p:sp>
        <p:nvSpPr>
          <p:cNvPr id="15" name="Oval 14"/>
          <p:cNvSpPr/>
          <p:nvPr/>
        </p:nvSpPr>
        <p:spPr>
          <a:xfrm>
            <a:off x="6355080" y="349300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4</a:t>
            </a:r>
          </a:p>
        </p:txBody>
      </p:sp>
      <p:sp>
        <p:nvSpPr>
          <p:cNvPr id="16" name="TextBox 15"/>
          <p:cNvSpPr txBox="1"/>
          <p:nvPr/>
        </p:nvSpPr>
        <p:spPr>
          <a:xfrm>
            <a:off x="6976872" y="3474720"/>
            <a:ext cx="4206240" cy="1463040"/>
          </a:xfrm>
          <a:prstGeom prst="rect">
            <a:avLst/>
          </a:prstGeom>
          <a:noFill/>
        </p:spPr>
        <p:txBody>
          <a:bodyPr wrap="square" lIns="0" tIns="0" rIns="0" bIns="0" anchor="t">
            <a:spAutoFit/>
          </a:bodyPr>
          <a:lstStyle/>
          <a:p>
            <a:pPr algn="l"/>
            <a:r>
              <a:rPr sz="1800" b="0" i="0">
                <a:solidFill>
                  <a:srgbClr val="1F2A33"/>
                </a:solidFill>
              </a:rPr>
              <a:t>An odds ratio is 0.5. Has the probability halved?</a:t>
            </a:r>
          </a:p>
        </p:txBody>
      </p:sp>
      <p:sp>
        <p:nvSpPr>
          <p:cNvPr id="17" name="Formula strip"/>
          <p:cNvSpPr/>
          <p:nvPr/>
        </p:nvSpPr>
        <p:spPr>
          <a:xfrm>
            <a:off x="758952" y="5486400"/>
            <a:ext cx="10607040" cy="548640"/>
          </a:xfrm>
          <a:prstGeom prst="roundRect">
            <a:avLst>
              <a:gd name="adj" fmla="val 8000"/>
            </a:avLst>
          </a:prstGeom>
          <a:solidFill>
            <a:srgbClr val="1F394D"/>
          </a:solidFill>
          <a:ln>
            <a:noFill/>
          </a:ln>
        </p:spPr>
        <p:txBody>
          <a:bodyPr rtlCol="0" anchor="ctr"/>
          <a:lstStyle/>
          <a:p>
            <a:endParaRPr/>
          </a:p>
        </p:txBody>
      </p:sp>
      <p:sp>
        <p:nvSpPr>
          <p:cNvPr id="18" name="TextBox 17"/>
          <p:cNvSpPr txBox="1"/>
          <p:nvPr/>
        </p:nvSpPr>
        <p:spPr>
          <a:xfrm>
            <a:off x="941832" y="5486400"/>
            <a:ext cx="10241280" cy="548640"/>
          </a:xfrm>
          <a:prstGeom prst="rect">
            <a:avLst/>
          </a:prstGeom>
          <a:noFill/>
        </p:spPr>
        <p:txBody>
          <a:bodyPr wrap="square" lIns="0" tIns="0" rIns="0" bIns="0" anchor="ctr">
            <a:spAutoFit/>
          </a:bodyPr>
          <a:lstStyle/>
          <a:p>
            <a:pPr algn="ctr"/>
            <a:r>
              <a:rPr sz="1900" b="1" i="0">
                <a:solidFill>
                  <a:srgbClr val="FFFFFF"/>
                </a:solidFill>
              </a:rPr>
              <a:t>odds = p ÷ (1 − p)        p = odds ÷ (1 + odds)        odds ratio = e^(estimate)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Answers: converting between scales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Question card 1"/>
          <p:cNvSpPr/>
          <p:nvPr/>
        </p:nvSpPr>
        <p:spPr>
          <a:xfrm>
            <a:off x="758952" y="1325880"/>
            <a:ext cx="5212080" cy="1783080"/>
          </a:xfrm>
          <a:prstGeom prst="roundRect">
            <a:avLst>
              <a:gd name="adj" fmla="val 8000"/>
            </a:avLst>
          </a:prstGeom>
          <a:solidFill>
            <a:srgbClr val="EEF3F7"/>
          </a:solidFill>
          <a:ln>
            <a:noFill/>
          </a:ln>
        </p:spPr>
        <p:txBody>
          <a:bodyPr rtlCol="0" anchor="ctr"/>
          <a:lstStyle/>
          <a:p>
            <a:endParaRPr/>
          </a:p>
        </p:txBody>
      </p:sp>
      <p:sp>
        <p:nvSpPr>
          <p:cNvPr id="6" name="Oval 5"/>
          <p:cNvSpPr/>
          <p:nvPr/>
        </p:nvSpPr>
        <p:spPr>
          <a:xfrm>
            <a:off x="960120" y="152704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1</a:t>
            </a:r>
          </a:p>
        </p:txBody>
      </p:sp>
      <p:sp>
        <p:nvSpPr>
          <p:cNvPr id="7" name="TextBox 6"/>
          <p:cNvSpPr txBox="1"/>
          <p:nvPr/>
        </p:nvSpPr>
        <p:spPr>
          <a:xfrm>
            <a:off x="1581912" y="1508760"/>
            <a:ext cx="4206240" cy="1463040"/>
          </a:xfrm>
          <a:prstGeom prst="rect">
            <a:avLst/>
          </a:prstGeom>
          <a:noFill/>
        </p:spPr>
        <p:txBody>
          <a:bodyPr wrap="square" lIns="0" tIns="0" rIns="0" bIns="0" anchor="t">
            <a:spAutoFit/>
          </a:bodyPr>
          <a:lstStyle/>
          <a:p>
            <a:pPr algn="l"/>
            <a:r>
              <a:rPr sz="1800" b="0" i="0">
                <a:solidFill>
                  <a:srgbClr val="1F2A33"/>
                </a:solidFill>
              </a:rPr>
              <a:t>60% of respondents say most people can be trusted. What are the odds?</a:t>
            </a:r>
          </a:p>
          <a:p>
            <a:pPr algn="l">
              <a:spcBef>
                <a:spcPts val="400"/>
              </a:spcBef>
            </a:pPr>
            <a:r>
              <a:rPr sz="1800" b="1" i="0">
                <a:solidFill>
                  <a:srgbClr val="2E6B45"/>
                </a:solidFill>
              </a:rPr>
              <a:t>0.6 ÷ 0.4 = 1.5 (3 to 2)</a:t>
            </a:r>
          </a:p>
        </p:txBody>
      </p:sp>
      <p:sp>
        <p:nvSpPr>
          <p:cNvPr id="8" name="Question card 2"/>
          <p:cNvSpPr/>
          <p:nvPr/>
        </p:nvSpPr>
        <p:spPr>
          <a:xfrm>
            <a:off x="6153912" y="1325880"/>
            <a:ext cx="5212080" cy="1783080"/>
          </a:xfrm>
          <a:prstGeom prst="roundRect">
            <a:avLst>
              <a:gd name="adj" fmla="val 8000"/>
            </a:avLst>
          </a:prstGeom>
          <a:solidFill>
            <a:srgbClr val="EEF3F7"/>
          </a:solidFill>
          <a:ln>
            <a:noFill/>
          </a:ln>
        </p:spPr>
        <p:txBody>
          <a:bodyPr rtlCol="0" anchor="ctr"/>
          <a:lstStyle/>
          <a:p>
            <a:endParaRPr/>
          </a:p>
        </p:txBody>
      </p:sp>
      <p:sp>
        <p:nvSpPr>
          <p:cNvPr id="9" name="Oval 8"/>
          <p:cNvSpPr/>
          <p:nvPr/>
        </p:nvSpPr>
        <p:spPr>
          <a:xfrm>
            <a:off x="6355080" y="152704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2</a:t>
            </a:r>
          </a:p>
        </p:txBody>
      </p:sp>
      <p:sp>
        <p:nvSpPr>
          <p:cNvPr id="10" name="TextBox 9"/>
          <p:cNvSpPr txBox="1"/>
          <p:nvPr/>
        </p:nvSpPr>
        <p:spPr>
          <a:xfrm>
            <a:off x="6976872" y="1508760"/>
            <a:ext cx="4206240" cy="1463040"/>
          </a:xfrm>
          <a:prstGeom prst="rect">
            <a:avLst/>
          </a:prstGeom>
          <a:noFill/>
        </p:spPr>
        <p:txBody>
          <a:bodyPr wrap="square" lIns="0" tIns="0" rIns="0" bIns="0" anchor="t">
            <a:spAutoFit/>
          </a:bodyPr>
          <a:lstStyle/>
          <a:p>
            <a:pPr algn="l"/>
            <a:r>
              <a:rPr sz="1800" b="0" i="0">
                <a:solidFill>
                  <a:srgbClr val="1F2A33"/>
                </a:solidFill>
              </a:rPr>
              <a:t>The odds of voting are 3 (3 to 1). What is the probability?</a:t>
            </a:r>
          </a:p>
          <a:p>
            <a:pPr algn="l">
              <a:spcBef>
                <a:spcPts val="400"/>
              </a:spcBef>
            </a:pPr>
            <a:r>
              <a:rPr sz="1800" b="1" i="0">
                <a:solidFill>
                  <a:srgbClr val="2E6B45"/>
                </a:solidFill>
              </a:rPr>
              <a:t>3 ÷ (1 + 3) = 0.75</a:t>
            </a:r>
          </a:p>
        </p:txBody>
      </p:sp>
      <p:sp>
        <p:nvSpPr>
          <p:cNvPr id="11" name="Question card 3"/>
          <p:cNvSpPr/>
          <p:nvPr/>
        </p:nvSpPr>
        <p:spPr>
          <a:xfrm>
            <a:off x="758952" y="3291839"/>
            <a:ext cx="5212080" cy="1783080"/>
          </a:xfrm>
          <a:prstGeom prst="roundRect">
            <a:avLst>
              <a:gd name="adj" fmla="val 8000"/>
            </a:avLst>
          </a:prstGeom>
          <a:solidFill>
            <a:srgbClr val="EEF3F7"/>
          </a:solidFill>
          <a:ln>
            <a:noFill/>
          </a:ln>
        </p:spPr>
        <p:txBody>
          <a:bodyPr rtlCol="0" anchor="ctr"/>
          <a:lstStyle/>
          <a:p>
            <a:endParaRPr/>
          </a:p>
        </p:txBody>
      </p:sp>
      <p:sp>
        <p:nvSpPr>
          <p:cNvPr id="12" name="Oval 11"/>
          <p:cNvSpPr/>
          <p:nvPr/>
        </p:nvSpPr>
        <p:spPr>
          <a:xfrm>
            <a:off x="960120" y="349300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3</a:t>
            </a:r>
          </a:p>
        </p:txBody>
      </p:sp>
      <p:sp>
        <p:nvSpPr>
          <p:cNvPr id="13" name="TextBox 12"/>
          <p:cNvSpPr txBox="1"/>
          <p:nvPr/>
        </p:nvSpPr>
        <p:spPr>
          <a:xfrm>
            <a:off x="1581912" y="3474720"/>
            <a:ext cx="4206240" cy="1463040"/>
          </a:xfrm>
          <a:prstGeom prst="rect">
            <a:avLst/>
          </a:prstGeom>
          <a:noFill/>
        </p:spPr>
        <p:txBody>
          <a:bodyPr wrap="square" lIns="0" tIns="0" rIns="0" bIns="0" anchor="t">
            <a:spAutoFit/>
          </a:bodyPr>
          <a:lstStyle/>
          <a:p>
            <a:pPr algn="l"/>
            <a:r>
              <a:rPr sz="1800" b="0" i="0">
                <a:solidFill>
                  <a:srgbClr val="1F2A33"/>
                </a:solidFill>
              </a:rPr>
              <a:t>A coefficient is 0 on the log-odds scale. What is the odds ratio, and what does it mean?</a:t>
            </a:r>
          </a:p>
          <a:p>
            <a:pPr algn="l">
              <a:spcBef>
                <a:spcPts val="400"/>
              </a:spcBef>
            </a:pPr>
            <a:r>
              <a:rPr sz="1800" b="1" i="0">
                <a:solidFill>
                  <a:srgbClr val="2E6B45"/>
                </a:solidFill>
              </a:rPr>
              <a:t>e⁰ = 1: no difference in the odds</a:t>
            </a:r>
          </a:p>
        </p:txBody>
      </p:sp>
      <p:sp>
        <p:nvSpPr>
          <p:cNvPr id="14" name="Question card 4"/>
          <p:cNvSpPr/>
          <p:nvPr/>
        </p:nvSpPr>
        <p:spPr>
          <a:xfrm>
            <a:off x="6153912" y="3291839"/>
            <a:ext cx="5212080" cy="1783080"/>
          </a:xfrm>
          <a:prstGeom prst="roundRect">
            <a:avLst>
              <a:gd name="adj" fmla="val 8000"/>
            </a:avLst>
          </a:prstGeom>
          <a:solidFill>
            <a:srgbClr val="EEF3F7"/>
          </a:solidFill>
          <a:ln>
            <a:noFill/>
          </a:ln>
        </p:spPr>
        <p:txBody>
          <a:bodyPr rtlCol="0" anchor="ctr"/>
          <a:lstStyle/>
          <a:p>
            <a:endParaRPr/>
          </a:p>
        </p:txBody>
      </p:sp>
      <p:sp>
        <p:nvSpPr>
          <p:cNvPr id="15" name="Oval 14"/>
          <p:cNvSpPr/>
          <p:nvPr/>
        </p:nvSpPr>
        <p:spPr>
          <a:xfrm>
            <a:off x="6355080" y="349300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4</a:t>
            </a:r>
          </a:p>
        </p:txBody>
      </p:sp>
      <p:sp>
        <p:nvSpPr>
          <p:cNvPr id="16" name="TextBox 15"/>
          <p:cNvSpPr txBox="1"/>
          <p:nvPr/>
        </p:nvSpPr>
        <p:spPr>
          <a:xfrm>
            <a:off x="6976872" y="3474720"/>
            <a:ext cx="4206240" cy="1463040"/>
          </a:xfrm>
          <a:prstGeom prst="rect">
            <a:avLst/>
          </a:prstGeom>
          <a:noFill/>
        </p:spPr>
        <p:txBody>
          <a:bodyPr wrap="square" lIns="0" tIns="0" rIns="0" bIns="0" anchor="t">
            <a:spAutoFit/>
          </a:bodyPr>
          <a:lstStyle/>
          <a:p>
            <a:pPr algn="l"/>
            <a:r>
              <a:rPr sz="1800" b="0" i="0">
                <a:solidFill>
                  <a:srgbClr val="1F2A33"/>
                </a:solidFill>
              </a:rPr>
              <a:t>An odds ratio is 0.5. Has the probability halved?</a:t>
            </a:r>
          </a:p>
          <a:p>
            <a:pPr algn="l">
              <a:spcBef>
                <a:spcPts val="400"/>
              </a:spcBef>
            </a:pPr>
            <a:r>
              <a:rPr sz="1800" b="1" i="0">
                <a:solidFill>
                  <a:srgbClr val="2E6B45"/>
                </a:solidFill>
              </a:rPr>
              <a:t>No: from p = 0.5 (odds 1) to odds 0.5 gives p = 0.33, not 0.25</a:t>
            </a:r>
          </a:p>
        </p:txBody>
      </p:sp>
      <p:sp>
        <p:nvSpPr>
          <p:cNvPr id="17" name="Formula strip"/>
          <p:cNvSpPr/>
          <p:nvPr/>
        </p:nvSpPr>
        <p:spPr>
          <a:xfrm>
            <a:off x="758952" y="5486400"/>
            <a:ext cx="10607040" cy="548640"/>
          </a:xfrm>
          <a:prstGeom prst="roundRect">
            <a:avLst>
              <a:gd name="adj" fmla="val 8000"/>
            </a:avLst>
          </a:prstGeom>
          <a:solidFill>
            <a:srgbClr val="1F394D"/>
          </a:solidFill>
          <a:ln>
            <a:noFill/>
          </a:ln>
        </p:spPr>
        <p:txBody>
          <a:bodyPr rtlCol="0" anchor="ctr"/>
          <a:lstStyle/>
          <a:p>
            <a:endParaRPr/>
          </a:p>
        </p:txBody>
      </p:sp>
      <p:sp>
        <p:nvSpPr>
          <p:cNvPr id="18" name="TextBox 17"/>
          <p:cNvSpPr txBox="1"/>
          <p:nvPr/>
        </p:nvSpPr>
        <p:spPr>
          <a:xfrm>
            <a:off x="941832" y="5486400"/>
            <a:ext cx="10241280" cy="548640"/>
          </a:xfrm>
          <a:prstGeom prst="rect">
            <a:avLst/>
          </a:prstGeom>
          <a:noFill/>
        </p:spPr>
        <p:txBody>
          <a:bodyPr wrap="square" lIns="0" tIns="0" rIns="0" bIns="0" anchor="ctr">
            <a:spAutoFit/>
          </a:bodyPr>
          <a:lstStyle/>
          <a:p>
            <a:pPr algn="ctr"/>
            <a:r>
              <a:rPr sz="1900" b="1" i="0">
                <a:solidFill>
                  <a:srgbClr val="FFFFFF"/>
                </a:solidFill>
              </a:rPr>
              <a:t>odds = p ÷ (1 − p)        p = odds ÷ (1 + odds)        odds ratio = e^(estimate)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a:t>The logistic</a:t>
            </a:r>
            <a:br/>
            <a:r>
              <a:rPr sz="4400"/>
              <a:t>regression model</a:t>
            </a:r>
          </a:p>
        </p:txBody>
      </p:sp>
      <p:sp>
        <p:nvSpPr>
          <p:cNvPr id="3" name="Text Placeholder 2"/>
          <p:cNvSpPr>
            <a:spLocks noGrp="1"/>
          </p:cNvSpPr>
          <p:nvPr>
            <p:ph type="body" sz="half" idx="2"/>
          </p:nvPr>
        </p:nvSpPr>
        <p:spPr/>
        <p:txBody>
          <a:bodyPr/>
          <a:lstStyle/>
          <a:p>
            <a:endParaRPr/>
          </a:p>
        </p:txBody>
      </p:sp>
      <p:sp>
        <p:nvSpPr>
          <p:cNvPr id="5" name="Date Placeholder 2">
            <a:extLst>
              <a:ext uri="{FF2B5EF4-FFF2-40B4-BE49-F238E27FC236}">
                <a16:creationId xmlns:a16="http://schemas.microsoft.com/office/drawing/2014/main" id="{2B0A1004-EA61-9EE1-5858-497753EB66A9}"/>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BAA5B42C-F9C0-A2AE-5786-4918FAF5FAD9}"/>
              </a:ext>
            </a:extLst>
          </p:cNvPr>
          <p:cNvSpPr>
            <a:spLocks noGrp="1"/>
          </p:cNvSpPr>
          <p:nvPr>
            <p:ph type="ftr" sz="quarter" idx="11"/>
          </p:nvPr>
        </p:nvSpPr>
        <p:spPr/>
        <p:txBody>
          <a:bodyPr/>
          <a:lstStyle/>
          <a:p>
            <a:r>
              <a:rPr lang="en-GB"/>
              <a:t>Logistic regression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model on two scales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TextBox 4"/>
          <p:cNvSpPr txBox="1"/>
          <p:nvPr/>
        </p:nvSpPr>
        <p:spPr>
          <a:xfrm>
            <a:off x="758952" y="1261872"/>
            <a:ext cx="5212080" cy="320040"/>
          </a:xfrm>
          <a:prstGeom prst="rect">
            <a:avLst/>
          </a:prstGeom>
          <a:noFill/>
        </p:spPr>
        <p:txBody>
          <a:bodyPr wrap="square" lIns="0" tIns="0" rIns="0" bIns="0" anchor="t">
            <a:spAutoFit/>
          </a:bodyPr>
          <a:lstStyle/>
          <a:p>
            <a:pPr algn="l"/>
            <a:r>
              <a:rPr sz="1600" b="1" i="0">
                <a:solidFill>
                  <a:srgbClr val="1F394D"/>
                </a:solidFill>
              </a:rPr>
              <a:t>Log-odds of owning a car</a:t>
            </a:r>
          </a:p>
        </p:txBody>
      </p:sp>
      <p:sp>
        <p:nvSpPr>
          <p:cNvPr id="6" name="TextBox 5"/>
          <p:cNvSpPr txBox="1"/>
          <p:nvPr/>
        </p:nvSpPr>
        <p:spPr>
          <a:xfrm>
            <a:off x="6199632" y="1261872"/>
            <a:ext cx="5166360" cy="320040"/>
          </a:xfrm>
          <a:prstGeom prst="rect">
            <a:avLst/>
          </a:prstGeom>
          <a:noFill/>
        </p:spPr>
        <p:txBody>
          <a:bodyPr wrap="square" lIns="0" tIns="0" rIns="0" bIns="0" anchor="t">
            <a:spAutoFit/>
          </a:bodyPr>
          <a:lstStyle/>
          <a:p>
            <a:pPr algn="l"/>
            <a:r>
              <a:rPr sz="1600" b="1" i="0">
                <a:solidFill>
                  <a:srgbClr val="1F394D"/>
                </a:solidFill>
              </a:rPr>
              <a:t>Probability of owning a car</a:t>
            </a:r>
          </a:p>
        </p:txBody>
      </p:sp>
      <p:graphicFrame>
        <p:nvGraphicFramePr>
          <p:cNvPr id="7" name="Log-odds chart"/>
          <p:cNvGraphicFramePr>
            <a:graphicFrameLocks noGrp="1"/>
          </p:cNvGraphicFramePr>
          <p:nvPr/>
        </p:nvGraphicFramePr>
        <p:xfrm>
          <a:off x="758952" y="1600200"/>
          <a:ext cx="5212080" cy="3611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Probability chart"/>
          <p:cNvGraphicFramePr>
            <a:graphicFrameLocks noGrp="1"/>
          </p:cNvGraphicFramePr>
          <p:nvPr/>
        </p:nvGraphicFramePr>
        <p:xfrm>
          <a:off x="6199632" y="1600200"/>
          <a:ext cx="5166360" cy="3611880"/>
        </p:xfrm>
        <a:graphic>
          <a:graphicData uri="http://schemas.openxmlformats.org/drawingml/2006/chart">
            <c:chart xmlns:c="http://schemas.openxmlformats.org/drawingml/2006/chart" xmlns:r="http://schemas.openxmlformats.org/officeDocument/2006/relationships" r:id="rId4"/>
          </a:graphicData>
        </a:graphic>
      </p:graphicFrame>
      <p:sp>
        <p:nvSpPr>
          <p:cNvPr id="9" name="Rounded Rectangle 8"/>
          <p:cNvSpPr/>
          <p:nvPr/>
        </p:nvSpPr>
        <p:spPr>
          <a:xfrm>
            <a:off x="758952" y="5321808"/>
            <a:ext cx="5212080" cy="502920"/>
          </a:xfrm>
          <a:prstGeom prst="roundRect">
            <a:avLst>
              <a:gd name="adj" fmla="val 8000"/>
            </a:avLst>
          </a:prstGeom>
          <a:solidFill>
            <a:srgbClr val="EEF3F7"/>
          </a:solidFill>
          <a:ln>
            <a:noFill/>
          </a:ln>
        </p:spPr>
        <p:txBody>
          <a:bodyPr rtlCol="0" anchor="ctr"/>
          <a:lstStyle/>
          <a:p>
            <a:pPr algn="ctr"/>
            <a:endParaRPr/>
          </a:p>
        </p:txBody>
      </p:sp>
      <p:sp>
        <p:nvSpPr>
          <p:cNvPr id="10" name="TextBox 9"/>
          <p:cNvSpPr txBox="1"/>
          <p:nvPr/>
        </p:nvSpPr>
        <p:spPr>
          <a:xfrm>
            <a:off x="868680" y="5321808"/>
            <a:ext cx="4992624" cy="502920"/>
          </a:xfrm>
          <a:prstGeom prst="rect">
            <a:avLst/>
          </a:prstGeom>
          <a:noFill/>
        </p:spPr>
        <p:txBody>
          <a:bodyPr wrap="square" lIns="0" tIns="0" rIns="0" bIns="0" anchor="ctr">
            <a:spAutoFit/>
          </a:bodyPr>
          <a:lstStyle/>
          <a:p>
            <a:pPr algn="ctr"/>
            <a:r>
              <a:rPr sz="1700" b="1" i="0">
                <a:solidFill>
                  <a:srgbClr val="1F394D"/>
                </a:solidFill>
              </a:rPr>
              <a:t>log-odds = −2.12 + 0.80 × income</a:t>
            </a:r>
          </a:p>
        </p:txBody>
      </p:sp>
      <p:sp>
        <p:nvSpPr>
          <p:cNvPr id="11" name="Rounded Rectangle 10"/>
          <p:cNvSpPr/>
          <p:nvPr/>
        </p:nvSpPr>
        <p:spPr>
          <a:xfrm>
            <a:off x="6199632" y="5321808"/>
            <a:ext cx="5166360" cy="502920"/>
          </a:xfrm>
          <a:prstGeom prst="roundRect">
            <a:avLst>
              <a:gd name="adj" fmla="val 8000"/>
            </a:avLst>
          </a:prstGeom>
          <a:solidFill>
            <a:srgbClr val="EEF3F7"/>
          </a:solidFill>
          <a:ln>
            <a:noFill/>
          </a:ln>
        </p:spPr>
        <p:txBody>
          <a:bodyPr rtlCol="0" anchor="ctr"/>
          <a:lstStyle/>
          <a:p>
            <a:pPr algn="ctr"/>
            <a:endParaRPr/>
          </a:p>
        </p:txBody>
      </p:sp>
      <p:sp>
        <p:nvSpPr>
          <p:cNvPr id="12" name="TextBox 11"/>
          <p:cNvSpPr txBox="1"/>
          <p:nvPr/>
        </p:nvSpPr>
        <p:spPr>
          <a:xfrm>
            <a:off x="6309360" y="5321808"/>
            <a:ext cx="4946904" cy="502920"/>
          </a:xfrm>
          <a:prstGeom prst="rect">
            <a:avLst/>
          </a:prstGeom>
          <a:noFill/>
        </p:spPr>
        <p:txBody>
          <a:bodyPr wrap="square" lIns="0" tIns="0" rIns="0" bIns="0" anchor="ctr">
            <a:spAutoFit/>
          </a:bodyPr>
          <a:lstStyle/>
          <a:p>
            <a:pPr algn="ctr"/>
            <a:r>
              <a:rPr sz="1700" b="1" i="0">
                <a:solidFill>
                  <a:srgbClr val="1F394D"/>
                </a:solidFill>
              </a:rPr>
              <a:t>probability = odds ÷ (1 + odds),  odds = e</a:t>
            </a:r>
            <a:r>
              <a:rPr sz="1700" b="1" i="0" baseline="30000">
                <a:solidFill>
                  <a:srgbClr val="1F394D"/>
                </a:solidFill>
              </a:rPr>
              <a:t>log-odds</a:t>
            </a:r>
          </a:p>
        </p:txBody>
      </p:sp>
      <p:sp>
        <p:nvSpPr>
          <p:cNvPr id="13" name="Rounded Rectangle 12"/>
          <p:cNvSpPr/>
          <p:nvPr/>
        </p:nvSpPr>
        <p:spPr>
          <a:xfrm>
            <a:off x="758952" y="5943600"/>
            <a:ext cx="2514600" cy="292608"/>
          </a:xfrm>
          <a:prstGeom prst="roundRect">
            <a:avLst>
              <a:gd name="adj" fmla="val 50000"/>
            </a:avLst>
          </a:prstGeom>
          <a:noFill/>
          <a:ln w="15875">
            <a:solidFill>
              <a:srgbClr val="B88C00"/>
            </a:solidFill>
          </a:ln>
        </p:spPr>
        <p:txBody>
          <a:bodyPr wrap="square" lIns="0" tIns="18288" rIns="0" bIns="18288" rtlCol="0" anchor="ctr"/>
          <a:lstStyle/>
          <a:p>
            <a:pPr algn="ctr"/>
            <a:r>
              <a:rPr sz="1200" b="1" i="0">
                <a:solidFill>
                  <a:srgbClr val="7A5C00"/>
                </a:solidFill>
              </a:rPr>
              <a:t>SYNTHETIC EXAMPLE DATA</a:t>
            </a:r>
          </a:p>
        </p:txBody>
      </p:sp>
      <p:sp>
        <p:nvSpPr>
          <p:cNvPr id="14" name="TextBox 13"/>
          <p:cNvSpPr txBox="1"/>
          <p:nvPr/>
        </p:nvSpPr>
        <p:spPr>
          <a:xfrm>
            <a:off x="3410712" y="5943600"/>
            <a:ext cx="7955279" cy="292608"/>
          </a:xfrm>
          <a:prstGeom prst="rect">
            <a:avLst/>
          </a:prstGeom>
          <a:noFill/>
        </p:spPr>
        <p:txBody>
          <a:bodyPr wrap="square" lIns="0" tIns="0" rIns="0" bIns="0" anchor="ctr">
            <a:spAutoFit/>
          </a:bodyPr>
          <a:lstStyle/>
          <a:p>
            <a:pPr algn="l"/>
            <a:r>
              <a:rPr sz="1200" b="0" i="0">
                <a:solidFill>
                  <a:srgbClr val="55606B"/>
                </a:solidFill>
              </a:rPr>
              <a:t>500 households: income (£10,000s) and whether they own a car (1) or not (0).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Steps of £10,000 on each scale</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graphicFrame>
        <p:nvGraphicFramePr>
          <p:cNvPr id="5" name="Steps table"/>
          <p:cNvGraphicFramePr>
            <a:graphicFrameLocks noGrp="1"/>
          </p:cNvGraphicFramePr>
          <p:nvPr/>
        </p:nvGraphicFramePr>
        <p:xfrm>
          <a:off x="758952" y="1371600"/>
          <a:ext cx="6035040" cy="2999232"/>
        </p:xfrm>
        <a:graphic>
          <a:graphicData uri="http://schemas.openxmlformats.org/drawingml/2006/table">
            <a:tbl>
              <a:tblPr>
                <a:tableStyleId>{2D5ABB26-0587-4C30-8999-92F81FD0307C}</a:tableStyleId>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tblGrid>
              <a:tr h="374904">
                <a:tc>
                  <a:txBody>
                    <a:bodyPr/>
                    <a:lstStyle/>
                    <a:p>
                      <a:pPr algn="ctr"/>
                      <a:r>
                        <a:rPr sz="1400" b="1" i="0">
                          <a:solidFill>
                            <a:srgbClr val="FFFFFF"/>
                          </a:solidFill>
                        </a:rPr>
                        <a:t>Income (£10,000s)</a:t>
                      </a:r>
                    </a:p>
                  </a:txBody>
                  <a:tcPr marL="73152" marR="73152" marT="27432" marB="27432" anchor="ctr">
                    <a:solidFill>
                      <a:srgbClr val="1F394D"/>
                    </a:solidFill>
                  </a:tcPr>
                </a:tc>
                <a:tc>
                  <a:txBody>
                    <a:bodyPr/>
                    <a:lstStyle/>
                    <a:p>
                      <a:pPr algn="r"/>
                      <a:r>
                        <a:rPr sz="1400" b="1" i="0">
                          <a:solidFill>
                            <a:srgbClr val="FFFFFF"/>
                          </a:solidFill>
                        </a:rPr>
                        <a:t>Log-odds</a:t>
                      </a:r>
                    </a:p>
                  </a:txBody>
                  <a:tcPr marL="73152" marR="73152" marT="27432" marB="27432" anchor="ctr">
                    <a:solidFill>
                      <a:srgbClr val="1F394D"/>
                    </a:solidFill>
                  </a:tcPr>
                </a:tc>
                <a:tc>
                  <a:txBody>
                    <a:bodyPr/>
                    <a:lstStyle/>
                    <a:p>
                      <a:pPr algn="r"/>
                      <a:r>
                        <a:rPr sz="1400" b="1" i="0">
                          <a:solidFill>
                            <a:srgbClr val="FFFFFF"/>
                          </a:solidFill>
                        </a:rPr>
                        <a:t>Odds</a:t>
                      </a:r>
                    </a:p>
                  </a:txBody>
                  <a:tcPr marL="73152" marR="73152" marT="27432" marB="27432" anchor="ctr">
                    <a:solidFill>
                      <a:srgbClr val="1F394D"/>
                    </a:solidFill>
                  </a:tcPr>
                </a:tc>
                <a:tc>
                  <a:txBody>
                    <a:bodyPr/>
                    <a:lstStyle/>
                    <a:p>
                      <a:pPr algn="r"/>
                      <a:r>
                        <a:rPr sz="1400" b="1" i="0">
                          <a:solidFill>
                            <a:srgbClr val="FFFFFF"/>
                          </a:solidFill>
                        </a:rPr>
                        <a:t>Probability</a:t>
                      </a:r>
                    </a:p>
                  </a:txBody>
                  <a:tcPr marL="73152" marR="73152" marT="27432" marB="27432" anchor="ctr">
                    <a:solidFill>
                      <a:srgbClr val="1F394D"/>
                    </a:solidFill>
                  </a:tcPr>
                </a:tc>
                <a:tc>
                  <a:txBody>
                    <a:bodyPr/>
                    <a:lstStyle/>
                    <a:p>
                      <a:pPr algn="r"/>
                      <a:r>
                        <a:rPr sz="1400" b="1" i="0">
                          <a:solidFill>
                            <a:srgbClr val="FFFFFF"/>
                          </a:solidFill>
                        </a:rPr>
                        <a:t>Change</a:t>
                      </a:r>
                    </a:p>
                  </a:txBody>
                  <a:tcPr marL="73152" marR="73152" marT="27432" marB="27432" anchor="ctr">
                    <a:solidFill>
                      <a:srgbClr val="1F394D"/>
                    </a:solidFill>
                  </a:tcPr>
                </a:tc>
                <a:extLst>
                  <a:ext uri="{0D108BD9-81ED-4DB2-BD59-A6C34878D82A}">
                    <a16:rowId xmlns:a16="http://schemas.microsoft.com/office/drawing/2014/main" val="10000"/>
                  </a:ext>
                </a:extLst>
              </a:tr>
              <a:tr h="374904">
                <a:tc>
                  <a:txBody>
                    <a:bodyPr/>
                    <a:lstStyle/>
                    <a:p>
                      <a:pPr algn="ctr"/>
                      <a:r>
                        <a:rPr sz="1400" b="0" i="0">
                          <a:solidFill>
                            <a:srgbClr val="1F2A33"/>
                          </a:solidFill>
                        </a:rPr>
                        <a:t>0</a:t>
                      </a:r>
                    </a:p>
                  </a:txBody>
                  <a:tcPr marL="73152" marR="73152" marT="27432" marB="27432" anchor="ctr">
                    <a:solidFill>
                      <a:srgbClr val="FFFFFF"/>
                    </a:solidFill>
                  </a:tcPr>
                </a:tc>
                <a:tc>
                  <a:txBody>
                    <a:bodyPr/>
                    <a:lstStyle/>
                    <a:p>
                      <a:pPr algn="r"/>
                      <a:r>
                        <a:rPr sz="1400" b="0" i="0">
                          <a:solidFill>
                            <a:srgbClr val="1F2A33"/>
                          </a:solidFill>
                        </a:rPr>
                        <a:t>−2.12</a:t>
                      </a:r>
                    </a:p>
                  </a:txBody>
                  <a:tcPr marL="73152" marR="73152" marT="27432" marB="27432" anchor="ctr">
                    <a:solidFill>
                      <a:srgbClr val="FFFFFF"/>
                    </a:solidFill>
                  </a:tcPr>
                </a:tc>
                <a:tc>
                  <a:txBody>
                    <a:bodyPr/>
                    <a:lstStyle/>
                    <a:p>
                      <a:pPr algn="r"/>
                      <a:r>
                        <a:rPr sz="1400" b="0" i="0">
                          <a:solidFill>
                            <a:srgbClr val="1F2A33"/>
                          </a:solidFill>
                        </a:rPr>
                        <a:t>0.12</a:t>
                      </a:r>
                    </a:p>
                  </a:txBody>
                  <a:tcPr marL="73152" marR="73152" marT="27432" marB="27432" anchor="ctr">
                    <a:solidFill>
                      <a:srgbClr val="FFFFFF"/>
                    </a:solidFill>
                  </a:tcPr>
                </a:tc>
                <a:tc>
                  <a:txBody>
                    <a:bodyPr/>
                    <a:lstStyle/>
                    <a:p>
                      <a:pPr algn="r"/>
                      <a:r>
                        <a:rPr sz="1400" b="0" i="0">
                          <a:solidFill>
                            <a:srgbClr val="1F2A33"/>
                          </a:solidFill>
                        </a:rPr>
                        <a:t>10.7%</a:t>
                      </a:r>
                    </a:p>
                  </a:txBody>
                  <a:tcPr marL="73152" marR="73152" marT="27432" marB="27432" anchor="ctr">
                    <a:solidFill>
                      <a:srgbClr val="FFFFFF"/>
                    </a:solidFill>
                  </a:tcPr>
                </a:tc>
                <a:tc>
                  <a:txBody>
                    <a:bodyPr/>
                    <a:lstStyle/>
                    <a:p>
                      <a:pPr algn="r"/>
                      <a:endParaRPr/>
                    </a:p>
                  </a:txBody>
                  <a:tcPr marL="73152" marR="73152" marT="27432" marB="27432" anchor="ctr">
                    <a:solidFill>
                      <a:srgbClr val="FFFFFF"/>
                    </a:solidFill>
                  </a:tcPr>
                </a:tc>
                <a:extLst>
                  <a:ext uri="{0D108BD9-81ED-4DB2-BD59-A6C34878D82A}">
                    <a16:rowId xmlns:a16="http://schemas.microsoft.com/office/drawing/2014/main" val="10001"/>
                  </a:ext>
                </a:extLst>
              </a:tr>
              <a:tr h="374904">
                <a:tc>
                  <a:txBody>
                    <a:bodyPr/>
                    <a:lstStyle/>
                    <a:p>
                      <a:pPr algn="ctr"/>
                      <a:r>
                        <a:rPr sz="1400" b="0" i="0">
                          <a:solidFill>
                            <a:srgbClr val="1F2A33"/>
                          </a:solidFill>
                        </a:rPr>
                        <a:t>1</a:t>
                      </a:r>
                    </a:p>
                  </a:txBody>
                  <a:tcPr marL="73152" marR="73152" marT="27432" marB="27432" anchor="ctr">
                    <a:solidFill>
                      <a:srgbClr val="EEF3F7"/>
                    </a:solidFill>
                  </a:tcPr>
                </a:tc>
                <a:tc>
                  <a:txBody>
                    <a:bodyPr/>
                    <a:lstStyle/>
                    <a:p>
                      <a:pPr algn="r"/>
                      <a:r>
                        <a:rPr sz="1400" b="0" i="0">
                          <a:solidFill>
                            <a:srgbClr val="1F2A33"/>
                          </a:solidFill>
                        </a:rPr>
                        <a:t>−1.32</a:t>
                      </a:r>
                    </a:p>
                  </a:txBody>
                  <a:tcPr marL="73152" marR="73152" marT="27432" marB="27432" anchor="ctr">
                    <a:solidFill>
                      <a:srgbClr val="EEF3F7"/>
                    </a:solidFill>
                  </a:tcPr>
                </a:tc>
                <a:tc>
                  <a:txBody>
                    <a:bodyPr/>
                    <a:lstStyle/>
                    <a:p>
                      <a:pPr algn="r"/>
                      <a:r>
                        <a:rPr sz="1400" b="0" i="0">
                          <a:solidFill>
                            <a:srgbClr val="1F2A33"/>
                          </a:solidFill>
                        </a:rPr>
                        <a:t>0.27</a:t>
                      </a:r>
                    </a:p>
                  </a:txBody>
                  <a:tcPr marL="73152" marR="73152" marT="27432" marB="27432" anchor="ctr">
                    <a:solidFill>
                      <a:srgbClr val="EEF3F7"/>
                    </a:solidFill>
                  </a:tcPr>
                </a:tc>
                <a:tc>
                  <a:txBody>
                    <a:bodyPr/>
                    <a:lstStyle/>
                    <a:p>
                      <a:pPr algn="r"/>
                      <a:r>
                        <a:rPr sz="1400" b="0" i="0">
                          <a:solidFill>
                            <a:srgbClr val="1F2A33"/>
                          </a:solidFill>
                        </a:rPr>
                        <a:t>21.0%</a:t>
                      </a:r>
                    </a:p>
                  </a:txBody>
                  <a:tcPr marL="73152" marR="73152" marT="27432" marB="27432" anchor="ctr">
                    <a:solidFill>
                      <a:srgbClr val="EEF3F7"/>
                    </a:solidFill>
                  </a:tcPr>
                </a:tc>
                <a:tc>
                  <a:txBody>
                    <a:bodyPr/>
                    <a:lstStyle/>
                    <a:p>
                      <a:pPr algn="r"/>
                      <a:r>
                        <a:rPr sz="1400" b="0" i="0">
                          <a:solidFill>
                            <a:srgbClr val="1F2A33"/>
                          </a:solidFill>
                        </a:rPr>
                        <a:t>+10.3 points</a:t>
                      </a:r>
                    </a:p>
                  </a:txBody>
                  <a:tcPr marL="73152" marR="73152" marT="27432" marB="27432" anchor="ctr">
                    <a:solidFill>
                      <a:srgbClr val="EEF3F7"/>
                    </a:solidFill>
                  </a:tcPr>
                </a:tc>
                <a:extLst>
                  <a:ext uri="{0D108BD9-81ED-4DB2-BD59-A6C34878D82A}">
                    <a16:rowId xmlns:a16="http://schemas.microsoft.com/office/drawing/2014/main" val="10002"/>
                  </a:ext>
                </a:extLst>
              </a:tr>
              <a:tr h="374904">
                <a:tc>
                  <a:txBody>
                    <a:bodyPr/>
                    <a:lstStyle/>
                    <a:p>
                      <a:pPr algn="ctr"/>
                      <a:r>
                        <a:rPr sz="1400" b="0" i="0">
                          <a:solidFill>
                            <a:srgbClr val="1F2A33"/>
                          </a:solidFill>
                        </a:rPr>
                        <a:t>2</a:t>
                      </a:r>
                    </a:p>
                  </a:txBody>
                  <a:tcPr marL="73152" marR="73152" marT="27432" marB="27432" anchor="ctr">
                    <a:solidFill>
                      <a:srgbClr val="FFFFFF"/>
                    </a:solidFill>
                  </a:tcPr>
                </a:tc>
                <a:tc>
                  <a:txBody>
                    <a:bodyPr/>
                    <a:lstStyle/>
                    <a:p>
                      <a:pPr algn="r"/>
                      <a:r>
                        <a:rPr sz="1400" b="0" i="0">
                          <a:solidFill>
                            <a:srgbClr val="1F2A33"/>
                          </a:solidFill>
                        </a:rPr>
                        <a:t>−0.53</a:t>
                      </a:r>
                    </a:p>
                  </a:txBody>
                  <a:tcPr marL="73152" marR="73152" marT="27432" marB="27432" anchor="ctr">
                    <a:solidFill>
                      <a:srgbClr val="FFFFFF"/>
                    </a:solidFill>
                  </a:tcPr>
                </a:tc>
                <a:tc>
                  <a:txBody>
                    <a:bodyPr/>
                    <a:lstStyle/>
                    <a:p>
                      <a:pPr algn="r"/>
                      <a:r>
                        <a:rPr sz="1400" b="0" i="0">
                          <a:solidFill>
                            <a:srgbClr val="1F2A33"/>
                          </a:solidFill>
                        </a:rPr>
                        <a:t>0.59</a:t>
                      </a:r>
                    </a:p>
                  </a:txBody>
                  <a:tcPr marL="73152" marR="73152" marT="27432" marB="27432" anchor="ctr">
                    <a:solidFill>
                      <a:srgbClr val="FFFFFF"/>
                    </a:solidFill>
                  </a:tcPr>
                </a:tc>
                <a:tc>
                  <a:txBody>
                    <a:bodyPr/>
                    <a:lstStyle/>
                    <a:p>
                      <a:pPr algn="r"/>
                      <a:r>
                        <a:rPr sz="1400" b="0" i="0">
                          <a:solidFill>
                            <a:srgbClr val="1F2A33"/>
                          </a:solidFill>
                        </a:rPr>
                        <a:t>37.1%</a:t>
                      </a:r>
                    </a:p>
                  </a:txBody>
                  <a:tcPr marL="73152" marR="73152" marT="27432" marB="27432" anchor="ctr">
                    <a:solidFill>
                      <a:srgbClr val="FFFFFF"/>
                    </a:solidFill>
                  </a:tcPr>
                </a:tc>
                <a:tc>
                  <a:txBody>
                    <a:bodyPr/>
                    <a:lstStyle/>
                    <a:p>
                      <a:pPr algn="r"/>
                      <a:r>
                        <a:rPr sz="1400" b="0" i="0">
                          <a:solidFill>
                            <a:srgbClr val="1F2A33"/>
                          </a:solidFill>
                        </a:rPr>
                        <a:t>+16.1 points</a:t>
                      </a:r>
                    </a:p>
                  </a:txBody>
                  <a:tcPr marL="73152" marR="73152" marT="27432" marB="27432" anchor="ctr">
                    <a:solidFill>
                      <a:srgbClr val="FFFFFF"/>
                    </a:solidFill>
                  </a:tcPr>
                </a:tc>
                <a:extLst>
                  <a:ext uri="{0D108BD9-81ED-4DB2-BD59-A6C34878D82A}">
                    <a16:rowId xmlns:a16="http://schemas.microsoft.com/office/drawing/2014/main" val="10003"/>
                  </a:ext>
                </a:extLst>
              </a:tr>
              <a:tr h="374904">
                <a:tc>
                  <a:txBody>
                    <a:bodyPr/>
                    <a:lstStyle/>
                    <a:p>
                      <a:pPr algn="ctr"/>
                      <a:r>
                        <a:rPr sz="1400" b="0" i="0">
                          <a:solidFill>
                            <a:srgbClr val="1F2A33"/>
                          </a:solidFill>
                        </a:rPr>
                        <a:t>3</a:t>
                      </a:r>
                    </a:p>
                  </a:txBody>
                  <a:tcPr marL="73152" marR="73152" marT="27432" marB="27432" anchor="ctr">
                    <a:solidFill>
                      <a:srgbClr val="EEF3F7"/>
                    </a:solidFill>
                  </a:tcPr>
                </a:tc>
                <a:tc>
                  <a:txBody>
                    <a:bodyPr/>
                    <a:lstStyle/>
                    <a:p>
                      <a:pPr algn="r"/>
                      <a:r>
                        <a:rPr sz="1400" b="0" i="0">
                          <a:solidFill>
                            <a:srgbClr val="1F2A33"/>
                          </a:solidFill>
                        </a:rPr>
                        <a:t>0.27</a:t>
                      </a:r>
                    </a:p>
                  </a:txBody>
                  <a:tcPr marL="73152" marR="73152" marT="27432" marB="27432" anchor="ctr">
                    <a:solidFill>
                      <a:srgbClr val="EEF3F7"/>
                    </a:solidFill>
                  </a:tcPr>
                </a:tc>
                <a:tc>
                  <a:txBody>
                    <a:bodyPr/>
                    <a:lstStyle/>
                    <a:p>
                      <a:pPr algn="r"/>
                      <a:r>
                        <a:rPr sz="1400" b="0" i="0">
                          <a:solidFill>
                            <a:srgbClr val="1F2A33"/>
                          </a:solidFill>
                        </a:rPr>
                        <a:t>1.31</a:t>
                      </a:r>
                    </a:p>
                  </a:txBody>
                  <a:tcPr marL="73152" marR="73152" marT="27432" marB="27432" anchor="ctr">
                    <a:solidFill>
                      <a:srgbClr val="EEF3F7"/>
                    </a:solidFill>
                  </a:tcPr>
                </a:tc>
                <a:tc>
                  <a:txBody>
                    <a:bodyPr/>
                    <a:lstStyle/>
                    <a:p>
                      <a:pPr algn="r"/>
                      <a:r>
                        <a:rPr sz="1400" b="0" i="0">
                          <a:solidFill>
                            <a:srgbClr val="1F2A33"/>
                          </a:solidFill>
                        </a:rPr>
                        <a:t>56.6%</a:t>
                      </a:r>
                    </a:p>
                  </a:txBody>
                  <a:tcPr marL="73152" marR="73152" marT="27432" marB="27432" anchor="ctr">
                    <a:solidFill>
                      <a:srgbClr val="EEF3F7"/>
                    </a:solidFill>
                  </a:tcPr>
                </a:tc>
                <a:tc>
                  <a:txBody>
                    <a:bodyPr/>
                    <a:lstStyle/>
                    <a:p>
                      <a:pPr algn="r"/>
                      <a:r>
                        <a:rPr sz="1400" b="0" i="0">
                          <a:solidFill>
                            <a:srgbClr val="1F2A33"/>
                          </a:solidFill>
                        </a:rPr>
                        <a:t>+19.5 points</a:t>
                      </a:r>
                    </a:p>
                  </a:txBody>
                  <a:tcPr marL="73152" marR="73152" marT="27432" marB="27432" anchor="ctr">
                    <a:solidFill>
                      <a:srgbClr val="EEF3F7"/>
                    </a:solidFill>
                  </a:tcPr>
                </a:tc>
                <a:extLst>
                  <a:ext uri="{0D108BD9-81ED-4DB2-BD59-A6C34878D82A}">
                    <a16:rowId xmlns:a16="http://schemas.microsoft.com/office/drawing/2014/main" val="10004"/>
                  </a:ext>
                </a:extLst>
              </a:tr>
              <a:tr h="374904">
                <a:tc>
                  <a:txBody>
                    <a:bodyPr/>
                    <a:lstStyle/>
                    <a:p>
                      <a:pPr algn="ctr"/>
                      <a:r>
                        <a:rPr sz="1400" b="0" i="0">
                          <a:solidFill>
                            <a:srgbClr val="1F2A33"/>
                          </a:solidFill>
                        </a:rPr>
                        <a:t>4</a:t>
                      </a:r>
                    </a:p>
                  </a:txBody>
                  <a:tcPr marL="73152" marR="73152" marT="27432" marB="27432" anchor="ctr">
                    <a:solidFill>
                      <a:srgbClr val="FFFFFF"/>
                    </a:solidFill>
                  </a:tcPr>
                </a:tc>
                <a:tc>
                  <a:txBody>
                    <a:bodyPr/>
                    <a:lstStyle/>
                    <a:p>
                      <a:pPr algn="r"/>
                      <a:r>
                        <a:rPr sz="1400" b="0" i="0">
                          <a:solidFill>
                            <a:srgbClr val="1F2A33"/>
                          </a:solidFill>
                        </a:rPr>
                        <a:t>1.06</a:t>
                      </a:r>
                    </a:p>
                  </a:txBody>
                  <a:tcPr marL="73152" marR="73152" marT="27432" marB="27432" anchor="ctr">
                    <a:solidFill>
                      <a:srgbClr val="FFFFFF"/>
                    </a:solidFill>
                  </a:tcPr>
                </a:tc>
                <a:tc>
                  <a:txBody>
                    <a:bodyPr/>
                    <a:lstStyle/>
                    <a:p>
                      <a:pPr algn="r"/>
                      <a:r>
                        <a:rPr sz="1400" b="0" i="0">
                          <a:solidFill>
                            <a:srgbClr val="1F2A33"/>
                          </a:solidFill>
                        </a:rPr>
                        <a:t>2.89</a:t>
                      </a:r>
                    </a:p>
                  </a:txBody>
                  <a:tcPr marL="73152" marR="73152" marT="27432" marB="27432" anchor="ctr">
                    <a:solidFill>
                      <a:srgbClr val="FFFFFF"/>
                    </a:solidFill>
                  </a:tcPr>
                </a:tc>
                <a:tc>
                  <a:txBody>
                    <a:bodyPr/>
                    <a:lstStyle/>
                    <a:p>
                      <a:pPr algn="r"/>
                      <a:r>
                        <a:rPr sz="1400" b="0" i="0">
                          <a:solidFill>
                            <a:srgbClr val="1F2A33"/>
                          </a:solidFill>
                        </a:rPr>
                        <a:t>74.3%</a:t>
                      </a:r>
                    </a:p>
                  </a:txBody>
                  <a:tcPr marL="73152" marR="73152" marT="27432" marB="27432" anchor="ctr">
                    <a:solidFill>
                      <a:srgbClr val="FFFFFF"/>
                    </a:solidFill>
                  </a:tcPr>
                </a:tc>
                <a:tc>
                  <a:txBody>
                    <a:bodyPr/>
                    <a:lstStyle/>
                    <a:p>
                      <a:pPr algn="r"/>
                      <a:r>
                        <a:rPr sz="1400" b="0" i="0">
                          <a:solidFill>
                            <a:srgbClr val="1F2A33"/>
                          </a:solidFill>
                        </a:rPr>
                        <a:t>+17.7 points</a:t>
                      </a:r>
                    </a:p>
                  </a:txBody>
                  <a:tcPr marL="73152" marR="73152" marT="27432" marB="27432" anchor="ctr">
                    <a:solidFill>
                      <a:srgbClr val="FFFFFF"/>
                    </a:solidFill>
                  </a:tcPr>
                </a:tc>
                <a:extLst>
                  <a:ext uri="{0D108BD9-81ED-4DB2-BD59-A6C34878D82A}">
                    <a16:rowId xmlns:a16="http://schemas.microsoft.com/office/drawing/2014/main" val="10005"/>
                  </a:ext>
                </a:extLst>
              </a:tr>
              <a:tr h="374904">
                <a:tc>
                  <a:txBody>
                    <a:bodyPr/>
                    <a:lstStyle/>
                    <a:p>
                      <a:pPr algn="ctr"/>
                      <a:r>
                        <a:rPr sz="1400" b="0" i="0">
                          <a:solidFill>
                            <a:srgbClr val="1F2A33"/>
                          </a:solidFill>
                        </a:rPr>
                        <a:t>5</a:t>
                      </a:r>
                    </a:p>
                  </a:txBody>
                  <a:tcPr marL="73152" marR="73152" marT="27432" marB="27432" anchor="ctr">
                    <a:solidFill>
                      <a:srgbClr val="EEF3F7"/>
                    </a:solidFill>
                  </a:tcPr>
                </a:tc>
                <a:tc>
                  <a:txBody>
                    <a:bodyPr/>
                    <a:lstStyle/>
                    <a:p>
                      <a:pPr algn="r"/>
                      <a:r>
                        <a:rPr sz="1400" b="0" i="0">
                          <a:solidFill>
                            <a:srgbClr val="1F2A33"/>
                          </a:solidFill>
                        </a:rPr>
                        <a:t>1.86</a:t>
                      </a:r>
                    </a:p>
                  </a:txBody>
                  <a:tcPr marL="73152" marR="73152" marT="27432" marB="27432" anchor="ctr">
                    <a:solidFill>
                      <a:srgbClr val="EEF3F7"/>
                    </a:solidFill>
                  </a:tcPr>
                </a:tc>
                <a:tc>
                  <a:txBody>
                    <a:bodyPr/>
                    <a:lstStyle/>
                    <a:p>
                      <a:pPr algn="r"/>
                      <a:r>
                        <a:rPr sz="1400" b="0" i="0">
                          <a:solidFill>
                            <a:srgbClr val="1F2A33"/>
                          </a:solidFill>
                        </a:rPr>
                        <a:t>6.40</a:t>
                      </a:r>
                    </a:p>
                  </a:txBody>
                  <a:tcPr marL="73152" marR="73152" marT="27432" marB="27432" anchor="ctr">
                    <a:solidFill>
                      <a:srgbClr val="EEF3F7"/>
                    </a:solidFill>
                  </a:tcPr>
                </a:tc>
                <a:tc>
                  <a:txBody>
                    <a:bodyPr/>
                    <a:lstStyle/>
                    <a:p>
                      <a:pPr algn="r"/>
                      <a:r>
                        <a:rPr sz="1400" b="0" i="0">
                          <a:solidFill>
                            <a:srgbClr val="1F2A33"/>
                          </a:solidFill>
                        </a:rPr>
                        <a:t>86.5%</a:t>
                      </a:r>
                    </a:p>
                  </a:txBody>
                  <a:tcPr marL="73152" marR="73152" marT="27432" marB="27432" anchor="ctr">
                    <a:solidFill>
                      <a:srgbClr val="EEF3F7"/>
                    </a:solidFill>
                  </a:tcPr>
                </a:tc>
                <a:tc>
                  <a:txBody>
                    <a:bodyPr/>
                    <a:lstStyle/>
                    <a:p>
                      <a:pPr algn="r"/>
                      <a:r>
                        <a:rPr sz="1400" b="0" i="0">
                          <a:solidFill>
                            <a:srgbClr val="1F2A33"/>
                          </a:solidFill>
                        </a:rPr>
                        <a:t>+12.2 points</a:t>
                      </a:r>
                    </a:p>
                  </a:txBody>
                  <a:tcPr marL="73152" marR="73152" marT="27432" marB="27432" anchor="ctr">
                    <a:solidFill>
                      <a:srgbClr val="EEF3F7"/>
                    </a:solidFill>
                  </a:tcPr>
                </a:tc>
                <a:extLst>
                  <a:ext uri="{0D108BD9-81ED-4DB2-BD59-A6C34878D82A}">
                    <a16:rowId xmlns:a16="http://schemas.microsoft.com/office/drawing/2014/main" val="10006"/>
                  </a:ext>
                </a:extLst>
              </a:tr>
              <a:tr h="374904">
                <a:tc>
                  <a:txBody>
                    <a:bodyPr/>
                    <a:lstStyle/>
                    <a:p>
                      <a:pPr algn="ctr"/>
                      <a:r>
                        <a:rPr sz="1400" b="0" i="0">
                          <a:solidFill>
                            <a:srgbClr val="1F2A33"/>
                          </a:solidFill>
                        </a:rPr>
                        <a:t>6</a:t>
                      </a:r>
                    </a:p>
                  </a:txBody>
                  <a:tcPr marL="73152" marR="73152" marT="27432" marB="27432" anchor="ctr">
                    <a:solidFill>
                      <a:srgbClr val="FFFFFF"/>
                    </a:solidFill>
                  </a:tcPr>
                </a:tc>
                <a:tc>
                  <a:txBody>
                    <a:bodyPr/>
                    <a:lstStyle/>
                    <a:p>
                      <a:pPr algn="r"/>
                      <a:r>
                        <a:rPr sz="1400" b="0" i="0">
                          <a:solidFill>
                            <a:srgbClr val="1F2A33"/>
                          </a:solidFill>
                        </a:rPr>
                        <a:t>2.65</a:t>
                      </a:r>
                    </a:p>
                  </a:txBody>
                  <a:tcPr marL="73152" marR="73152" marT="27432" marB="27432" anchor="ctr">
                    <a:solidFill>
                      <a:srgbClr val="FFFFFF"/>
                    </a:solidFill>
                  </a:tcPr>
                </a:tc>
                <a:tc>
                  <a:txBody>
                    <a:bodyPr/>
                    <a:lstStyle/>
                    <a:p>
                      <a:pPr algn="r"/>
                      <a:r>
                        <a:rPr sz="1400" b="0" i="0">
                          <a:solidFill>
                            <a:srgbClr val="1F2A33"/>
                          </a:solidFill>
                        </a:rPr>
                        <a:t>14.18</a:t>
                      </a:r>
                    </a:p>
                  </a:txBody>
                  <a:tcPr marL="73152" marR="73152" marT="27432" marB="27432" anchor="ctr">
                    <a:solidFill>
                      <a:srgbClr val="FFFFFF"/>
                    </a:solidFill>
                  </a:tcPr>
                </a:tc>
                <a:tc>
                  <a:txBody>
                    <a:bodyPr/>
                    <a:lstStyle/>
                    <a:p>
                      <a:pPr algn="r"/>
                      <a:r>
                        <a:rPr sz="1400" b="0" i="0">
                          <a:solidFill>
                            <a:srgbClr val="1F2A33"/>
                          </a:solidFill>
                        </a:rPr>
                        <a:t>93.4%</a:t>
                      </a:r>
                    </a:p>
                  </a:txBody>
                  <a:tcPr marL="73152" marR="73152" marT="27432" marB="27432" anchor="ctr">
                    <a:solidFill>
                      <a:srgbClr val="FFFFFF"/>
                    </a:solidFill>
                  </a:tcPr>
                </a:tc>
                <a:tc>
                  <a:txBody>
                    <a:bodyPr/>
                    <a:lstStyle/>
                    <a:p>
                      <a:pPr algn="r"/>
                      <a:r>
                        <a:rPr sz="1400" b="0" i="0">
                          <a:solidFill>
                            <a:srgbClr val="1F2A33"/>
                          </a:solidFill>
                        </a:rPr>
                        <a:t>+6.9 points</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6" name="Rounded Rectangle 5"/>
          <p:cNvSpPr/>
          <p:nvPr/>
        </p:nvSpPr>
        <p:spPr>
          <a:xfrm>
            <a:off x="758952" y="4526280"/>
            <a:ext cx="1938528" cy="1298448"/>
          </a:xfrm>
          <a:prstGeom prst="roundRect">
            <a:avLst>
              <a:gd name="adj" fmla="val 8000"/>
            </a:avLst>
          </a:prstGeom>
          <a:solidFill>
            <a:srgbClr val="EEF3F7"/>
          </a:solidFill>
          <a:ln>
            <a:noFill/>
          </a:ln>
        </p:spPr>
        <p:txBody>
          <a:bodyPr rtlCol="0" anchor="ctr"/>
          <a:lstStyle/>
          <a:p>
            <a:pPr algn="ctr"/>
            <a:endParaRPr/>
          </a:p>
        </p:txBody>
      </p:sp>
      <p:sp>
        <p:nvSpPr>
          <p:cNvPr id="7" name="TextBox 6"/>
          <p:cNvSpPr txBox="1"/>
          <p:nvPr/>
        </p:nvSpPr>
        <p:spPr>
          <a:xfrm>
            <a:off x="877824" y="4599432"/>
            <a:ext cx="1719072" cy="1152144"/>
          </a:xfrm>
          <a:prstGeom prst="rect">
            <a:avLst/>
          </a:prstGeom>
          <a:noFill/>
        </p:spPr>
        <p:txBody>
          <a:bodyPr wrap="square" lIns="0" tIns="0" rIns="0" bIns="0" anchor="ctr">
            <a:spAutoFit/>
          </a:bodyPr>
          <a:lstStyle/>
          <a:p>
            <a:pPr algn="l">
              <a:spcAft>
                <a:spcPts val="300"/>
              </a:spcAft>
            </a:pPr>
            <a:r>
              <a:rPr sz="1500" b="1" i="0">
                <a:solidFill>
                  <a:srgbClr val="1F394D"/>
                </a:solidFill>
              </a:rPr>
              <a:t>Log-odds</a:t>
            </a:r>
          </a:p>
          <a:p>
            <a:pPr algn="l"/>
            <a:r>
              <a:rPr sz="1300" b="0" i="0">
                <a:solidFill>
                  <a:srgbClr val="1F2A33"/>
                </a:solidFill>
              </a:rPr>
              <a:t>+0.80 at every step: the slope</a:t>
            </a:r>
          </a:p>
        </p:txBody>
      </p:sp>
      <p:sp>
        <p:nvSpPr>
          <p:cNvPr id="8" name="Rounded Rectangle 7"/>
          <p:cNvSpPr/>
          <p:nvPr/>
        </p:nvSpPr>
        <p:spPr>
          <a:xfrm>
            <a:off x="2816352" y="4526280"/>
            <a:ext cx="1938528" cy="1298448"/>
          </a:xfrm>
          <a:prstGeom prst="roundRect">
            <a:avLst>
              <a:gd name="adj" fmla="val 8000"/>
            </a:avLst>
          </a:prstGeom>
          <a:solidFill>
            <a:srgbClr val="EEF3F7"/>
          </a:solidFill>
          <a:ln>
            <a:noFill/>
          </a:ln>
        </p:spPr>
        <p:txBody>
          <a:bodyPr rtlCol="0" anchor="ctr"/>
          <a:lstStyle/>
          <a:p>
            <a:pPr algn="ctr"/>
            <a:endParaRPr/>
          </a:p>
        </p:txBody>
      </p:sp>
      <p:sp>
        <p:nvSpPr>
          <p:cNvPr id="9" name="TextBox 8"/>
          <p:cNvSpPr txBox="1"/>
          <p:nvPr/>
        </p:nvSpPr>
        <p:spPr>
          <a:xfrm>
            <a:off x="2935224" y="4599432"/>
            <a:ext cx="1719072" cy="1152144"/>
          </a:xfrm>
          <a:prstGeom prst="rect">
            <a:avLst/>
          </a:prstGeom>
          <a:noFill/>
        </p:spPr>
        <p:txBody>
          <a:bodyPr wrap="square" lIns="0" tIns="0" rIns="0" bIns="0" anchor="ctr">
            <a:spAutoFit/>
          </a:bodyPr>
          <a:lstStyle/>
          <a:p>
            <a:pPr algn="l">
              <a:spcAft>
                <a:spcPts val="300"/>
              </a:spcAft>
            </a:pPr>
            <a:r>
              <a:rPr sz="1500" b="1" i="0">
                <a:solidFill>
                  <a:srgbClr val="1F394D"/>
                </a:solidFill>
              </a:rPr>
              <a:t>Odds</a:t>
            </a:r>
          </a:p>
          <a:p>
            <a:pPr algn="l"/>
            <a:r>
              <a:rPr sz="1300" b="0" i="0">
                <a:solidFill>
                  <a:srgbClr val="1F2A33"/>
                </a:solidFill>
              </a:rPr>
              <a:t>×2.21 at every step: the odds ratio, e</a:t>
            </a:r>
            <a:r>
              <a:rPr sz="1300" b="0" i="0" baseline="30000">
                <a:solidFill>
                  <a:srgbClr val="1F2A33"/>
                </a:solidFill>
              </a:rPr>
              <a:t>0.80</a:t>
            </a:r>
          </a:p>
        </p:txBody>
      </p:sp>
      <p:sp>
        <p:nvSpPr>
          <p:cNvPr id="10" name="Rounded Rectangle 9"/>
          <p:cNvSpPr/>
          <p:nvPr/>
        </p:nvSpPr>
        <p:spPr>
          <a:xfrm>
            <a:off x="4873752" y="4526280"/>
            <a:ext cx="1938528" cy="1298448"/>
          </a:xfrm>
          <a:prstGeom prst="roundRect">
            <a:avLst>
              <a:gd name="adj" fmla="val 8000"/>
            </a:avLst>
          </a:prstGeom>
          <a:solidFill>
            <a:srgbClr val="1F394D"/>
          </a:solidFill>
          <a:ln>
            <a:noFill/>
          </a:ln>
        </p:spPr>
        <p:txBody>
          <a:bodyPr rtlCol="0" anchor="ctr"/>
          <a:lstStyle/>
          <a:p>
            <a:pPr algn="ctr"/>
            <a:endParaRPr/>
          </a:p>
        </p:txBody>
      </p:sp>
      <p:sp>
        <p:nvSpPr>
          <p:cNvPr id="11" name="TextBox 10"/>
          <p:cNvSpPr txBox="1"/>
          <p:nvPr/>
        </p:nvSpPr>
        <p:spPr>
          <a:xfrm>
            <a:off x="4992624" y="4599432"/>
            <a:ext cx="1719072" cy="1152144"/>
          </a:xfrm>
          <a:prstGeom prst="rect">
            <a:avLst/>
          </a:prstGeom>
          <a:noFill/>
        </p:spPr>
        <p:txBody>
          <a:bodyPr wrap="square" lIns="0" tIns="0" rIns="0" bIns="0" anchor="ctr">
            <a:spAutoFit/>
          </a:bodyPr>
          <a:lstStyle/>
          <a:p>
            <a:pPr algn="l">
              <a:spcAft>
                <a:spcPts val="300"/>
              </a:spcAft>
            </a:pPr>
            <a:r>
              <a:rPr sz="1500" b="1" i="0">
                <a:solidFill>
                  <a:srgbClr val="B88C00"/>
                </a:solidFill>
              </a:rPr>
              <a:t>Probability</a:t>
            </a:r>
          </a:p>
          <a:p>
            <a:pPr algn="l"/>
            <a:r>
              <a:rPr sz="1300" b="0" i="0">
                <a:solidFill>
                  <a:srgbClr val="FFFFFF"/>
                </a:solidFill>
              </a:rPr>
              <a:t>a change that depends on where you start on the S-curve</a:t>
            </a:r>
          </a:p>
        </p:txBody>
      </p:sp>
      <p:graphicFrame>
        <p:nvGraphicFramePr>
          <p:cNvPr id="12" name="Staircase chart"/>
          <p:cNvGraphicFramePr>
            <a:graphicFrameLocks noGrp="1"/>
          </p:cNvGraphicFramePr>
          <p:nvPr/>
        </p:nvGraphicFramePr>
        <p:xfrm>
          <a:off x="6903720" y="1280160"/>
          <a:ext cx="4480560" cy="4544568"/>
        </p:xfrm>
        <a:graphic>
          <a:graphicData uri="http://schemas.openxmlformats.org/drawingml/2006/chart">
            <c:chart xmlns:c="http://schemas.openxmlformats.org/drawingml/2006/chart" xmlns:r="http://schemas.openxmlformats.org/officeDocument/2006/relationships" r:id="rId3"/>
          </a:graphicData>
        </a:graphic>
      </p:graphicFrame>
      <p:sp>
        <p:nvSpPr>
          <p:cNvPr id="13" name="Rounded Rectangle 12"/>
          <p:cNvSpPr/>
          <p:nvPr/>
        </p:nvSpPr>
        <p:spPr>
          <a:xfrm>
            <a:off x="758952" y="5943600"/>
            <a:ext cx="2514600" cy="292608"/>
          </a:xfrm>
          <a:prstGeom prst="roundRect">
            <a:avLst>
              <a:gd name="adj" fmla="val 50000"/>
            </a:avLst>
          </a:prstGeom>
          <a:noFill/>
          <a:ln w="15875">
            <a:solidFill>
              <a:srgbClr val="B88C00"/>
            </a:solidFill>
          </a:ln>
        </p:spPr>
        <p:txBody>
          <a:bodyPr wrap="square" lIns="0" tIns="18288" rIns="0" bIns="18288" rtlCol="0" anchor="ctr"/>
          <a:lstStyle/>
          <a:p>
            <a:pPr algn="ctr"/>
            <a:r>
              <a:rPr sz="1200" b="1" i="0">
                <a:solidFill>
                  <a:srgbClr val="7A5C00"/>
                </a:solidFill>
              </a:rPr>
              <a:t>SYNTHETIC EXAMPLE DATA</a:t>
            </a:r>
          </a:p>
        </p:txBody>
      </p:sp>
      <p:sp>
        <p:nvSpPr>
          <p:cNvPr id="14" name="TextBox 13"/>
          <p:cNvSpPr txBox="1"/>
          <p:nvPr/>
        </p:nvSpPr>
        <p:spPr>
          <a:xfrm>
            <a:off x="3410712" y="5943600"/>
            <a:ext cx="7955279" cy="292608"/>
          </a:xfrm>
          <a:prstGeom prst="rect">
            <a:avLst/>
          </a:prstGeom>
          <a:noFill/>
        </p:spPr>
        <p:txBody>
          <a:bodyPr wrap="square" lIns="0" tIns="0" rIns="0" bIns="0" anchor="ctr">
            <a:spAutoFit/>
          </a:bodyPr>
          <a:lstStyle/>
          <a:p>
            <a:pPr algn="l"/>
            <a:r>
              <a:rPr sz="1200" b="0" i="0">
                <a:solidFill>
                  <a:srgbClr val="55606B"/>
                </a:solidFill>
              </a:rPr>
              <a:t>Same households and model as the previous slide.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a:t>Logistic regression</a:t>
            </a:r>
            <a:br/>
            <a:r>
              <a:rPr sz="4400"/>
              <a:t>in JASP</a:t>
            </a:r>
          </a:p>
        </p:txBody>
      </p:sp>
      <p:sp>
        <p:nvSpPr>
          <p:cNvPr id="3" name="Text Placeholder 2"/>
          <p:cNvSpPr>
            <a:spLocks noGrp="1"/>
          </p:cNvSpPr>
          <p:nvPr>
            <p:ph type="body" sz="half" idx="2"/>
          </p:nvPr>
        </p:nvSpPr>
        <p:spPr/>
        <p:txBody>
          <a:bodyPr/>
          <a:lstStyle/>
          <a:p>
            <a:endParaRPr/>
          </a:p>
        </p:txBody>
      </p:sp>
      <p:sp>
        <p:nvSpPr>
          <p:cNvPr id="5" name="Date Placeholder 2">
            <a:extLst>
              <a:ext uri="{FF2B5EF4-FFF2-40B4-BE49-F238E27FC236}">
                <a16:creationId xmlns:a16="http://schemas.microsoft.com/office/drawing/2014/main" id="{2B0A1004-EA61-9EE1-5858-497753EB66A9}"/>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BAA5B42C-F9C0-A2AE-5786-4918FAF5FAD9}"/>
              </a:ext>
            </a:extLst>
          </p:cNvPr>
          <p:cNvSpPr>
            <a:spLocks noGrp="1"/>
          </p:cNvSpPr>
          <p:nvPr>
            <p:ph type="ftr" sz="quarter" idx="11"/>
          </p:nvPr>
        </p:nvSpPr>
        <p:spPr/>
        <p:txBody>
          <a:bodyPr/>
          <a:lstStyle/>
          <a:p>
            <a:r>
              <a:rPr lang="en-GB"/>
              <a:t>Logistic regression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Preparing the outcome variable</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TextBox 4"/>
          <p:cNvSpPr txBox="1"/>
          <p:nvPr/>
        </p:nvSpPr>
        <p:spPr>
          <a:xfrm>
            <a:off x="758952" y="1216152"/>
            <a:ext cx="10607040" cy="457200"/>
          </a:xfrm>
          <a:prstGeom prst="rect">
            <a:avLst/>
          </a:prstGeom>
          <a:noFill/>
        </p:spPr>
        <p:txBody>
          <a:bodyPr wrap="square" lIns="0" tIns="0" rIns="0" bIns="0" anchor="t">
            <a:spAutoFit/>
          </a:bodyPr>
          <a:lstStyle/>
          <a:p>
            <a:pPr algn="l"/>
            <a:r>
              <a:rPr sz="2000" b="0" i="0">
                <a:solidFill>
                  <a:srgbClr val="55606B"/>
                </a:solidFill>
              </a:rPr>
              <a:t>BSA 2010 SocTrust: original codes and what each becomes for logistic regression</a:t>
            </a:r>
          </a:p>
        </p:txBody>
      </p:sp>
      <p:sp>
        <p:nvSpPr>
          <p:cNvPr id="6" name="TextBox 5"/>
          <p:cNvSpPr txBox="1"/>
          <p:nvPr/>
        </p:nvSpPr>
        <p:spPr>
          <a:xfrm>
            <a:off x="868680" y="1783080"/>
            <a:ext cx="914400" cy="365760"/>
          </a:xfrm>
          <a:prstGeom prst="rect">
            <a:avLst/>
          </a:prstGeom>
          <a:noFill/>
        </p:spPr>
        <p:txBody>
          <a:bodyPr wrap="square" lIns="0" tIns="0" rIns="0" bIns="0" anchor="t">
            <a:spAutoFit/>
          </a:bodyPr>
          <a:lstStyle/>
          <a:p>
            <a:pPr algn="l"/>
            <a:r>
              <a:rPr sz="1400" b="1" i="0">
                <a:solidFill>
                  <a:srgbClr val="3F739B"/>
                </a:solidFill>
              </a:rPr>
              <a:t>Code</a:t>
            </a:r>
          </a:p>
        </p:txBody>
      </p:sp>
      <p:sp>
        <p:nvSpPr>
          <p:cNvPr id="7" name="TextBox 6"/>
          <p:cNvSpPr txBox="1"/>
          <p:nvPr/>
        </p:nvSpPr>
        <p:spPr>
          <a:xfrm>
            <a:off x="1600200" y="1783080"/>
            <a:ext cx="3657600" cy="365760"/>
          </a:xfrm>
          <a:prstGeom prst="rect">
            <a:avLst/>
          </a:prstGeom>
          <a:noFill/>
        </p:spPr>
        <p:txBody>
          <a:bodyPr wrap="square" lIns="0" tIns="0" rIns="0" bIns="0" anchor="t">
            <a:spAutoFit/>
          </a:bodyPr>
          <a:lstStyle/>
          <a:p>
            <a:pPr algn="l"/>
            <a:r>
              <a:rPr sz="1400" b="1" i="0">
                <a:solidFill>
                  <a:srgbClr val="3F739B"/>
                </a:solidFill>
              </a:rPr>
              <a:t>Answer</a:t>
            </a:r>
          </a:p>
        </p:txBody>
      </p:sp>
      <p:sp>
        <p:nvSpPr>
          <p:cNvPr id="8" name="TextBox 7"/>
          <p:cNvSpPr txBox="1"/>
          <p:nvPr/>
        </p:nvSpPr>
        <p:spPr>
          <a:xfrm>
            <a:off x="5605272" y="1783080"/>
            <a:ext cx="914400" cy="365760"/>
          </a:xfrm>
          <a:prstGeom prst="rect">
            <a:avLst/>
          </a:prstGeom>
          <a:noFill/>
        </p:spPr>
        <p:txBody>
          <a:bodyPr wrap="square" lIns="0" tIns="0" rIns="0" bIns="0" anchor="t">
            <a:spAutoFit/>
          </a:bodyPr>
          <a:lstStyle/>
          <a:p>
            <a:pPr algn="r"/>
            <a:r>
              <a:rPr sz="1400" b="1" i="0">
                <a:solidFill>
                  <a:srgbClr val="3F739B"/>
                </a:solidFill>
              </a:rPr>
              <a:t>n</a:t>
            </a:r>
          </a:p>
        </p:txBody>
      </p:sp>
      <p:sp>
        <p:nvSpPr>
          <p:cNvPr id="9" name="TextBox 8"/>
          <p:cNvSpPr txBox="1"/>
          <p:nvPr/>
        </p:nvSpPr>
        <p:spPr>
          <a:xfrm>
            <a:off x="7635240" y="1783080"/>
            <a:ext cx="914400" cy="365760"/>
          </a:xfrm>
          <a:prstGeom prst="rect">
            <a:avLst/>
          </a:prstGeom>
          <a:noFill/>
        </p:spPr>
        <p:txBody>
          <a:bodyPr wrap="square" lIns="0" tIns="0" rIns="0" bIns="0" anchor="t">
            <a:spAutoFit/>
          </a:bodyPr>
          <a:lstStyle/>
          <a:p>
            <a:pPr algn="l"/>
            <a:r>
              <a:rPr sz="1400" b="1" i="0">
                <a:solidFill>
                  <a:srgbClr val="3F739B"/>
                </a:solidFill>
              </a:rPr>
              <a:t>Becomes</a:t>
            </a:r>
          </a:p>
        </p:txBody>
      </p:sp>
      <p:sp>
        <p:nvSpPr>
          <p:cNvPr id="10" name="From 1"/>
          <p:cNvSpPr/>
          <p:nvPr/>
        </p:nvSpPr>
        <p:spPr>
          <a:xfrm>
            <a:off x="758952" y="2194560"/>
            <a:ext cx="5943600" cy="50292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868680" y="2194560"/>
            <a:ext cx="731520" cy="502920"/>
          </a:xfrm>
          <a:prstGeom prst="rect">
            <a:avLst/>
          </a:prstGeom>
          <a:noFill/>
        </p:spPr>
        <p:txBody>
          <a:bodyPr wrap="square" lIns="0" tIns="0" rIns="0" bIns="0" anchor="ctr">
            <a:spAutoFit/>
          </a:bodyPr>
          <a:lstStyle/>
          <a:p>
            <a:pPr algn="l"/>
            <a:r>
              <a:rPr sz="1800" b="1" i="0">
                <a:solidFill>
                  <a:srgbClr val="1F394D"/>
                </a:solidFill>
              </a:rPr>
              <a:t>1</a:t>
            </a:r>
          </a:p>
        </p:txBody>
      </p:sp>
      <p:sp>
        <p:nvSpPr>
          <p:cNvPr id="12" name="TextBox 11"/>
          <p:cNvSpPr txBox="1"/>
          <p:nvPr/>
        </p:nvSpPr>
        <p:spPr>
          <a:xfrm>
            <a:off x="1600200" y="2194560"/>
            <a:ext cx="4023360" cy="502920"/>
          </a:xfrm>
          <a:prstGeom prst="rect">
            <a:avLst/>
          </a:prstGeom>
          <a:noFill/>
        </p:spPr>
        <p:txBody>
          <a:bodyPr wrap="square" lIns="0" tIns="0" rIns="0" bIns="0" anchor="ctr">
            <a:spAutoFit/>
          </a:bodyPr>
          <a:lstStyle/>
          <a:p>
            <a:pPr algn="l"/>
            <a:r>
              <a:rPr sz="1700" b="0" i="0">
                <a:solidFill>
                  <a:srgbClr val="1F2A33"/>
                </a:solidFill>
              </a:rPr>
              <a:t>Most people can be trusted</a:t>
            </a:r>
          </a:p>
        </p:txBody>
      </p:sp>
      <p:sp>
        <p:nvSpPr>
          <p:cNvPr id="13" name="TextBox 12"/>
          <p:cNvSpPr txBox="1"/>
          <p:nvPr/>
        </p:nvSpPr>
        <p:spPr>
          <a:xfrm>
            <a:off x="5605272" y="2194560"/>
            <a:ext cx="914400" cy="502920"/>
          </a:xfrm>
          <a:prstGeom prst="rect">
            <a:avLst/>
          </a:prstGeom>
          <a:noFill/>
        </p:spPr>
        <p:txBody>
          <a:bodyPr wrap="square" lIns="0" tIns="0" rIns="0" bIns="0" anchor="ctr">
            <a:spAutoFit/>
          </a:bodyPr>
          <a:lstStyle/>
          <a:p>
            <a:pPr algn="r"/>
            <a:r>
              <a:rPr sz="1700" b="0" i="0">
                <a:solidFill>
                  <a:srgbClr val="55606B"/>
                </a:solidFill>
              </a:rPr>
              <a:t>481</a:t>
            </a:r>
          </a:p>
        </p:txBody>
      </p:sp>
      <p:sp>
        <p:nvSpPr>
          <p:cNvPr id="14" name="Right Arrow 13"/>
          <p:cNvSpPr/>
          <p:nvPr/>
        </p:nvSpPr>
        <p:spPr>
          <a:xfrm>
            <a:off x="6858000" y="2304288"/>
            <a:ext cx="594360" cy="292608"/>
          </a:xfrm>
          <a:prstGeom prst="rightArrow">
            <a:avLst/>
          </a:prstGeom>
          <a:solidFill>
            <a:srgbClr val="3F739B"/>
          </a:solidFill>
          <a:ln>
            <a:noFill/>
          </a:ln>
        </p:spPr>
        <p:txBody>
          <a:bodyPr rtlCol="0" anchor="ctr"/>
          <a:lstStyle/>
          <a:p>
            <a:pPr algn="ctr"/>
            <a:endParaRPr/>
          </a:p>
        </p:txBody>
      </p:sp>
      <p:sp>
        <p:nvSpPr>
          <p:cNvPr id="15" name="To 1"/>
          <p:cNvSpPr/>
          <p:nvPr/>
        </p:nvSpPr>
        <p:spPr>
          <a:xfrm>
            <a:off x="7635240" y="2194560"/>
            <a:ext cx="2743200" cy="502920"/>
          </a:xfrm>
          <a:prstGeom prst="roundRect">
            <a:avLst>
              <a:gd name="adj" fmla="val 8000"/>
            </a:avLst>
          </a:prstGeom>
          <a:solidFill>
            <a:srgbClr val="1F394D"/>
          </a:solidFill>
          <a:ln>
            <a:noFill/>
          </a:ln>
        </p:spPr>
        <p:txBody>
          <a:bodyPr rtlCol="0" anchor="ctr"/>
          <a:lstStyle/>
          <a:p>
            <a:endParaRPr/>
          </a:p>
        </p:txBody>
      </p:sp>
      <p:sp>
        <p:nvSpPr>
          <p:cNvPr id="16" name="TextBox 15"/>
          <p:cNvSpPr txBox="1"/>
          <p:nvPr/>
        </p:nvSpPr>
        <p:spPr>
          <a:xfrm>
            <a:off x="7772400" y="2194560"/>
            <a:ext cx="2560320" cy="502920"/>
          </a:xfrm>
          <a:prstGeom prst="rect">
            <a:avLst/>
          </a:prstGeom>
          <a:noFill/>
        </p:spPr>
        <p:txBody>
          <a:bodyPr wrap="square" lIns="0" tIns="0" rIns="0" bIns="0" anchor="ctr">
            <a:spAutoFit/>
          </a:bodyPr>
          <a:lstStyle/>
          <a:p>
            <a:pPr algn="l"/>
            <a:r>
              <a:rPr sz="1700" b="1" i="0">
                <a:solidFill>
                  <a:srgbClr val="FFFFFF"/>
                </a:solidFill>
              </a:rPr>
              <a:t>1  Trusts</a:t>
            </a:r>
          </a:p>
        </p:txBody>
      </p:sp>
      <p:sp>
        <p:nvSpPr>
          <p:cNvPr id="17" name="From 2"/>
          <p:cNvSpPr/>
          <p:nvPr/>
        </p:nvSpPr>
        <p:spPr>
          <a:xfrm>
            <a:off x="758952" y="2798064"/>
            <a:ext cx="5943600" cy="502920"/>
          </a:xfrm>
          <a:prstGeom prst="roundRect">
            <a:avLst>
              <a:gd name="adj" fmla="val 8000"/>
            </a:avLst>
          </a:prstGeom>
          <a:solidFill>
            <a:srgbClr val="EEF3F7"/>
          </a:solidFill>
          <a:ln>
            <a:noFill/>
          </a:ln>
        </p:spPr>
        <p:txBody>
          <a:bodyPr rtlCol="0" anchor="ctr"/>
          <a:lstStyle/>
          <a:p>
            <a:endParaRPr/>
          </a:p>
        </p:txBody>
      </p:sp>
      <p:sp>
        <p:nvSpPr>
          <p:cNvPr id="18" name="TextBox 17"/>
          <p:cNvSpPr txBox="1"/>
          <p:nvPr/>
        </p:nvSpPr>
        <p:spPr>
          <a:xfrm>
            <a:off x="868680" y="2798064"/>
            <a:ext cx="731520" cy="502920"/>
          </a:xfrm>
          <a:prstGeom prst="rect">
            <a:avLst/>
          </a:prstGeom>
          <a:noFill/>
        </p:spPr>
        <p:txBody>
          <a:bodyPr wrap="square" lIns="0" tIns="0" rIns="0" bIns="0" anchor="ctr">
            <a:spAutoFit/>
          </a:bodyPr>
          <a:lstStyle/>
          <a:p>
            <a:pPr algn="l"/>
            <a:r>
              <a:rPr sz="1800" b="1" i="0">
                <a:solidFill>
                  <a:srgbClr val="1F394D"/>
                </a:solidFill>
              </a:rPr>
              <a:t>2</a:t>
            </a:r>
          </a:p>
        </p:txBody>
      </p:sp>
      <p:sp>
        <p:nvSpPr>
          <p:cNvPr id="19" name="TextBox 18"/>
          <p:cNvSpPr txBox="1"/>
          <p:nvPr/>
        </p:nvSpPr>
        <p:spPr>
          <a:xfrm>
            <a:off x="1600200" y="2798064"/>
            <a:ext cx="4023360" cy="502920"/>
          </a:xfrm>
          <a:prstGeom prst="rect">
            <a:avLst/>
          </a:prstGeom>
          <a:noFill/>
        </p:spPr>
        <p:txBody>
          <a:bodyPr wrap="square" lIns="0" tIns="0" rIns="0" bIns="0" anchor="ctr">
            <a:spAutoFit/>
          </a:bodyPr>
          <a:lstStyle/>
          <a:p>
            <a:pPr algn="l"/>
            <a:r>
              <a:rPr sz="1700" b="0" i="0">
                <a:solidFill>
                  <a:srgbClr val="1F2A33"/>
                </a:solidFill>
              </a:rPr>
              <a:t>Can’t be too careful in dealing with people</a:t>
            </a:r>
          </a:p>
        </p:txBody>
      </p:sp>
      <p:sp>
        <p:nvSpPr>
          <p:cNvPr id="20" name="TextBox 19"/>
          <p:cNvSpPr txBox="1"/>
          <p:nvPr/>
        </p:nvSpPr>
        <p:spPr>
          <a:xfrm>
            <a:off x="5605272" y="2798064"/>
            <a:ext cx="914400" cy="502920"/>
          </a:xfrm>
          <a:prstGeom prst="rect">
            <a:avLst/>
          </a:prstGeom>
          <a:noFill/>
        </p:spPr>
        <p:txBody>
          <a:bodyPr wrap="square" lIns="0" tIns="0" rIns="0" bIns="0" anchor="ctr">
            <a:spAutoFit/>
          </a:bodyPr>
          <a:lstStyle/>
          <a:p>
            <a:pPr algn="r"/>
            <a:r>
              <a:rPr sz="1700" b="0" i="0">
                <a:solidFill>
                  <a:srgbClr val="55606B"/>
                </a:solidFill>
              </a:rPr>
              <a:t>579</a:t>
            </a:r>
          </a:p>
        </p:txBody>
      </p:sp>
      <p:sp>
        <p:nvSpPr>
          <p:cNvPr id="21" name="Right Arrow 20"/>
          <p:cNvSpPr/>
          <p:nvPr/>
        </p:nvSpPr>
        <p:spPr>
          <a:xfrm>
            <a:off x="6858000" y="2907792"/>
            <a:ext cx="594360" cy="292608"/>
          </a:xfrm>
          <a:prstGeom prst="rightArrow">
            <a:avLst/>
          </a:prstGeom>
          <a:solidFill>
            <a:srgbClr val="3F739B"/>
          </a:solidFill>
          <a:ln>
            <a:noFill/>
          </a:ln>
        </p:spPr>
        <p:txBody>
          <a:bodyPr rtlCol="0" anchor="ctr"/>
          <a:lstStyle/>
          <a:p>
            <a:pPr algn="ctr"/>
            <a:endParaRPr/>
          </a:p>
        </p:txBody>
      </p:sp>
      <p:sp>
        <p:nvSpPr>
          <p:cNvPr id="22" name="To 2"/>
          <p:cNvSpPr/>
          <p:nvPr/>
        </p:nvSpPr>
        <p:spPr>
          <a:xfrm>
            <a:off x="7635240" y="2798064"/>
            <a:ext cx="2743200" cy="502920"/>
          </a:xfrm>
          <a:prstGeom prst="roundRect">
            <a:avLst>
              <a:gd name="adj" fmla="val 8000"/>
            </a:avLst>
          </a:prstGeom>
          <a:solidFill>
            <a:srgbClr val="1F394D"/>
          </a:solidFill>
          <a:ln>
            <a:noFill/>
          </a:ln>
        </p:spPr>
        <p:txBody>
          <a:bodyPr rtlCol="0" anchor="ctr"/>
          <a:lstStyle/>
          <a:p>
            <a:endParaRPr/>
          </a:p>
        </p:txBody>
      </p:sp>
      <p:sp>
        <p:nvSpPr>
          <p:cNvPr id="23" name="TextBox 22"/>
          <p:cNvSpPr txBox="1"/>
          <p:nvPr/>
        </p:nvSpPr>
        <p:spPr>
          <a:xfrm>
            <a:off x="7772400" y="2798064"/>
            <a:ext cx="2560320" cy="502920"/>
          </a:xfrm>
          <a:prstGeom prst="rect">
            <a:avLst/>
          </a:prstGeom>
          <a:noFill/>
        </p:spPr>
        <p:txBody>
          <a:bodyPr wrap="square" lIns="0" tIns="0" rIns="0" bIns="0" anchor="ctr">
            <a:spAutoFit/>
          </a:bodyPr>
          <a:lstStyle/>
          <a:p>
            <a:pPr algn="l"/>
            <a:r>
              <a:rPr sz="1700" b="1" i="0">
                <a:solidFill>
                  <a:srgbClr val="FFFFFF"/>
                </a:solidFill>
              </a:rPr>
              <a:t>0  Doesn’t trust</a:t>
            </a:r>
          </a:p>
        </p:txBody>
      </p:sp>
      <p:sp>
        <p:nvSpPr>
          <p:cNvPr id="24" name="From 8"/>
          <p:cNvSpPr/>
          <p:nvPr/>
        </p:nvSpPr>
        <p:spPr>
          <a:xfrm>
            <a:off x="758952" y="3401568"/>
            <a:ext cx="5943600" cy="502920"/>
          </a:xfrm>
          <a:prstGeom prst="roundRect">
            <a:avLst>
              <a:gd name="adj" fmla="val 8000"/>
            </a:avLst>
          </a:prstGeom>
          <a:solidFill>
            <a:srgbClr val="EEF3F7"/>
          </a:solidFill>
          <a:ln>
            <a:noFill/>
          </a:ln>
        </p:spPr>
        <p:txBody>
          <a:bodyPr rtlCol="0" anchor="ctr"/>
          <a:lstStyle/>
          <a:p>
            <a:endParaRPr/>
          </a:p>
        </p:txBody>
      </p:sp>
      <p:sp>
        <p:nvSpPr>
          <p:cNvPr id="25" name="TextBox 24"/>
          <p:cNvSpPr txBox="1"/>
          <p:nvPr/>
        </p:nvSpPr>
        <p:spPr>
          <a:xfrm>
            <a:off x="868680" y="3401568"/>
            <a:ext cx="731520" cy="502920"/>
          </a:xfrm>
          <a:prstGeom prst="rect">
            <a:avLst/>
          </a:prstGeom>
          <a:noFill/>
        </p:spPr>
        <p:txBody>
          <a:bodyPr wrap="square" lIns="0" tIns="0" rIns="0" bIns="0" anchor="ctr">
            <a:spAutoFit/>
          </a:bodyPr>
          <a:lstStyle/>
          <a:p>
            <a:pPr algn="l"/>
            <a:r>
              <a:rPr sz="1800" b="1" i="0">
                <a:solidFill>
                  <a:srgbClr val="1F394D"/>
                </a:solidFill>
              </a:rPr>
              <a:t>8</a:t>
            </a:r>
          </a:p>
        </p:txBody>
      </p:sp>
      <p:sp>
        <p:nvSpPr>
          <p:cNvPr id="26" name="TextBox 25"/>
          <p:cNvSpPr txBox="1"/>
          <p:nvPr/>
        </p:nvSpPr>
        <p:spPr>
          <a:xfrm>
            <a:off x="1600200" y="3401568"/>
            <a:ext cx="4023360" cy="502920"/>
          </a:xfrm>
          <a:prstGeom prst="rect">
            <a:avLst/>
          </a:prstGeom>
          <a:noFill/>
        </p:spPr>
        <p:txBody>
          <a:bodyPr wrap="square" lIns="0" tIns="0" rIns="0" bIns="0" anchor="ctr">
            <a:spAutoFit/>
          </a:bodyPr>
          <a:lstStyle/>
          <a:p>
            <a:pPr algn="l"/>
            <a:r>
              <a:rPr sz="1700" b="0" i="0">
                <a:solidFill>
                  <a:srgbClr val="1F2A33"/>
                </a:solidFill>
              </a:rPr>
              <a:t>Don’t know</a:t>
            </a:r>
          </a:p>
        </p:txBody>
      </p:sp>
      <p:sp>
        <p:nvSpPr>
          <p:cNvPr id="27" name="TextBox 26"/>
          <p:cNvSpPr txBox="1"/>
          <p:nvPr/>
        </p:nvSpPr>
        <p:spPr>
          <a:xfrm>
            <a:off x="5605272" y="3401568"/>
            <a:ext cx="914400" cy="502920"/>
          </a:xfrm>
          <a:prstGeom prst="rect">
            <a:avLst/>
          </a:prstGeom>
          <a:noFill/>
        </p:spPr>
        <p:txBody>
          <a:bodyPr wrap="square" lIns="0" tIns="0" rIns="0" bIns="0" anchor="ctr">
            <a:spAutoFit/>
          </a:bodyPr>
          <a:lstStyle/>
          <a:p>
            <a:pPr algn="r"/>
            <a:r>
              <a:rPr sz="1700" b="0" i="0">
                <a:solidFill>
                  <a:srgbClr val="55606B"/>
                </a:solidFill>
              </a:rPr>
              <a:t>10</a:t>
            </a:r>
          </a:p>
        </p:txBody>
      </p:sp>
      <p:sp>
        <p:nvSpPr>
          <p:cNvPr id="28" name="Right Arrow 27"/>
          <p:cNvSpPr/>
          <p:nvPr/>
        </p:nvSpPr>
        <p:spPr>
          <a:xfrm>
            <a:off x="6858000" y="3511296"/>
            <a:ext cx="594360" cy="292608"/>
          </a:xfrm>
          <a:prstGeom prst="rightArrow">
            <a:avLst/>
          </a:prstGeom>
          <a:solidFill>
            <a:srgbClr val="CCDDEA"/>
          </a:solidFill>
          <a:ln>
            <a:noFill/>
          </a:ln>
        </p:spPr>
        <p:txBody>
          <a:bodyPr rtlCol="0" anchor="ctr"/>
          <a:lstStyle/>
          <a:p>
            <a:pPr algn="ctr"/>
            <a:endParaRPr/>
          </a:p>
        </p:txBody>
      </p:sp>
      <p:sp>
        <p:nvSpPr>
          <p:cNvPr id="29" name="To 8"/>
          <p:cNvSpPr/>
          <p:nvPr/>
        </p:nvSpPr>
        <p:spPr>
          <a:xfrm>
            <a:off x="7635240" y="3401568"/>
            <a:ext cx="2743200" cy="502920"/>
          </a:xfrm>
          <a:prstGeom prst="roundRect">
            <a:avLst>
              <a:gd name="adj" fmla="val 8000"/>
            </a:avLst>
          </a:prstGeom>
          <a:solidFill>
            <a:srgbClr val="FFFFFF"/>
          </a:solidFill>
          <a:ln w="15875">
            <a:solidFill>
              <a:srgbClr val="CCDDEA"/>
            </a:solidFill>
          </a:ln>
        </p:spPr>
        <p:txBody>
          <a:bodyPr rtlCol="0" anchor="ctr"/>
          <a:lstStyle/>
          <a:p>
            <a:endParaRPr/>
          </a:p>
        </p:txBody>
      </p:sp>
      <p:sp>
        <p:nvSpPr>
          <p:cNvPr id="30" name="TextBox 29"/>
          <p:cNvSpPr txBox="1"/>
          <p:nvPr/>
        </p:nvSpPr>
        <p:spPr>
          <a:xfrm>
            <a:off x="7772400" y="3401568"/>
            <a:ext cx="2560320" cy="502920"/>
          </a:xfrm>
          <a:prstGeom prst="rect">
            <a:avLst/>
          </a:prstGeom>
          <a:noFill/>
        </p:spPr>
        <p:txBody>
          <a:bodyPr wrap="square" lIns="0" tIns="0" rIns="0" bIns="0" anchor="ctr">
            <a:spAutoFit/>
          </a:bodyPr>
          <a:lstStyle/>
          <a:p>
            <a:pPr algn="l"/>
            <a:r>
              <a:rPr sz="1700" b="0" i="0">
                <a:solidFill>
                  <a:srgbClr val="55606B"/>
                </a:solidFill>
              </a:rPr>
              <a:t>Missing</a:t>
            </a:r>
          </a:p>
        </p:txBody>
      </p:sp>
      <p:sp>
        <p:nvSpPr>
          <p:cNvPr id="31" name="From 9"/>
          <p:cNvSpPr/>
          <p:nvPr/>
        </p:nvSpPr>
        <p:spPr>
          <a:xfrm>
            <a:off x="758952" y="4005072"/>
            <a:ext cx="5943600" cy="502920"/>
          </a:xfrm>
          <a:prstGeom prst="roundRect">
            <a:avLst>
              <a:gd name="adj" fmla="val 8000"/>
            </a:avLst>
          </a:prstGeom>
          <a:solidFill>
            <a:srgbClr val="EEF3F7"/>
          </a:solidFill>
          <a:ln>
            <a:noFill/>
          </a:ln>
        </p:spPr>
        <p:txBody>
          <a:bodyPr rtlCol="0" anchor="ctr"/>
          <a:lstStyle/>
          <a:p>
            <a:endParaRPr/>
          </a:p>
        </p:txBody>
      </p:sp>
      <p:sp>
        <p:nvSpPr>
          <p:cNvPr id="32" name="TextBox 31"/>
          <p:cNvSpPr txBox="1"/>
          <p:nvPr/>
        </p:nvSpPr>
        <p:spPr>
          <a:xfrm>
            <a:off x="868680" y="4005072"/>
            <a:ext cx="731520" cy="502920"/>
          </a:xfrm>
          <a:prstGeom prst="rect">
            <a:avLst/>
          </a:prstGeom>
          <a:noFill/>
        </p:spPr>
        <p:txBody>
          <a:bodyPr wrap="square" lIns="0" tIns="0" rIns="0" bIns="0" anchor="ctr">
            <a:spAutoFit/>
          </a:bodyPr>
          <a:lstStyle/>
          <a:p>
            <a:pPr algn="l"/>
            <a:r>
              <a:rPr sz="1800" b="1" i="0">
                <a:solidFill>
                  <a:srgbClr val="1F394D"/>
                </a:solidFill>
              </a:rPr>
              <a:t>9</a:t>
            </a:r>
          </a:p>
        </p:txBody>
      </p:sp>
      <p:sp>
        <p:nvSpPr>
          <p:cNvPr id="33" name="TextBox 32"/>
          <p:cNvSpPr txBox="1"/>
          <p:nvPr/>
        </p:nvSpPr>
        <p:spPr>
          <a:xfrm>
            <a:off x="1600200" y="4005072"/>
            <a:ext cx="4023360" cy="502920"/>
          </a:xfrm>
          <a:prstGeom prst="rect">
            <a:avLst/>
          </a:prstGeom>
          <a:noFill/>
        </p:spPr>
        <p:txBody>
          <a:bodyPr wrap="square" lIns="0" tIns="0" rIns="0" bIns="0" anchor="ctr">
            <a:spAutoFit/>
          </a:bodyPr>
          <a:lstStyle/>
          <a:p>
            <a:pPr algn="l"/>
            <a:r>
              <a:rPr sz="1700" b="0" i="0">
                <a:solidFill>
                  <a:srgbClr val="1F2A33"/>
                </a:solidFill>
              </a:rPr>
              <a:t>Refusal</a:t>
            </a:r>
          </a:p>
        </p:txBody>
      </p:sp>
      <p:sp>
        <p:nvSpPr>
          <p:cNvPr id="34" name="TextBox 33"/>
          <p:cNvSpPr txBox="1"/>
          <p:nvPr/>
        </p:nvSpPr>
        <p:spPr>
          <a:xfrm>
            <a:off x="5605272" y="4005072"/>
            <a:ext cx="914400" cy="502920"/>
          </a:xfrm>
          <a:prstGeom prst="rect">
            <a:avLst/>
          </a:prstGeom>
          <a:noFill/>
        </p:spPr>
        <p:txBody>
          <a:bodyPr wrap="square" lIns="0" tIns="0" rIns="0" bIns="0" anchor="ctr">
            <a:spAutoFit/>
          </a:bodyPr>
          <a:lstStyle/>
          <a:p>
            <a:pPr algn="r"/>
            <a:r>
              <a:rPr sz="1700" b="0" i="0">
                <a:solidFill>
                  <a:srgbClr val="55606B"/>
                </a:solidFill>
              </a:rPr>
              <a:t>7</a:t>
            </a:r>
          </a:p>
        </p:txBody>
      </p:sp>
      <p:sp>
        <p:nvSpPr>
          <p:cNvPr id="35" name="Right Arrow 34"/>
          <p:cNvSpPr/>
          <p:nvPr/>
        </p:nvSpPr>
        <p:spPr>
          <a:xfrm>
            <a:off x="6858000" y="4114800"/>
            <a:ext cx="594360" cy="292608"/>
          </a:xfrm>
          <a:prstGeom prst="rightArrow">
            <a:avLst/>
          </a:prstGeom>
          <a:solidFill>
            <a:srgbClr val="CCDDEA"/>
          </a:solidFill>
          <a:ln>
            <a:noFill/>
          </a:ln>
        </p:spPr>
        <p:txBody>
          <a:bodyPr rtlCol="0" anchor="ctr"/>
          <a:lstStyle/>
          <a:p>
            <a:pPr algn="ctr"/>
            <a:endParaRPr/>
          </a:p>
        </p:txBody>
      </p:sp>
      <p:sp>
        <p:nvSpPr>
          <p:cNvPr id="36" name="To 9"/>
          <p:cNvSpPr/>
          <p:nvPr/>
        </p:nvSpPr>
        <p:spPr>
          <a:xfrm>
            <a:off x="7635240" y="4005072"/>
            <a:ext cx="2743200" cy="502920"/>
          </a:xfrm>
          <a:prstGeom prst="roundRect">
            <a:avLst>
              <a:gd name="adj" fmla="val 8000"/>
            </a:avLst>
          </a:prstGeom>
          <a:solidFill>
            <a:srgbClr val="FFFFFF"/>
          </a:solidFill>
          <a:ln w="15875">
            <a:solidFill>
              <a:srgbClr val="CCDDEA"/>
            </a:solidFill>
          </a:ln>
        </p:spPr>
        <p:txBody>
          <a:bodyPr rtlCol="0" anchor="ctr"/>
          <a:lstStyle/>
          <a:p>
            <a:endParaRPr/>
          </a:p>
        </p:txBody>
      </p:sp>
      <p:sp>
        <p:nvSpPr>
          <p:cNvPr id="37" name="TextBox 36"/>
          <p:cNvSpPr txBox="1"/>
          <p:nvPr/>
        </p:nvSpPr>
        <p:spPr>
          <a:xfrm>
            <a:off x="7772400" y="4005072"/>
            <a:ext cx="2560320" cy="502920"/>
          </a:xfrm>
          <a:prstGeom prst="rect">
            <a:avLst/>
          </a:prstGeom>
          <a:noFill/>
        </p:spPr>
        <p:txBody>
          <a:bodyPr wrap="square" lIns="0" tIns="0" rIns="0" bIns="0" anchor="ctr">
            <a:spAutoFit/>
          </a:bodyPr>
          <a:lstStyle/>
          <a:p>
            <a:pPr algn="l"/>
            <a:r>
              <a:rPr sz="1700" b="0" i="0">
                <a:solidFill>
                  <a:srgbClr val="55606B"/>
                </a:solidFill>
              </a:rPr>
              <a:t>Missing</a:t>
            </a:r>
          </a:p>
        </p:txBody>
      </p:sp>
      <p:sp>
        <p:nvSpPr>
          <p:cNvPr id="38" name="From −2"/>
          <p:cNvSpPr/>
          <p:nvPr/>
        </p:nvSpPr>
        <p:spPr>
          <a:xfrm>
            <a:off x="758952" y="4608576"/>
            <a:ext cx="5943600" cy="502920"/>
          </a:xfrm>
          <a:prstGeom prst="roundRect">
            <a:avLst>
              <a:gd name="adj" fmla="val 8000"/>
            </a:avLst>
          </a:prstGeom>
          <a:solidFill>
            <a:srgbClr val="EEF3F7"/>
          </a:solidFill>
          <a:ln>
            <a:noFill/>
          </a:ln>
        </p:spPr>
        <p:txBody>
          <a:bodyPr rtlCol="0" anchor="ctr"/>
          <a:lstStyle/>
          <a:p>
            <a:endParaRPr/>
          </a:p>
        </p:txBody>
      </p:sp>
      <p:sp>
        <p:nvSpPr>
          <p:cNvPr id="39" name="TextBox 38"/>
          <p:cNvSpPr txBox="1"/>
          <p:nvPr/>
        </p:nvSpPr>
        <p:spPr>
          <a:xfrm>
            <a:off x="868680" y="4608576"/>
            <a:ext cx="731520" cy="502920"/>
          </a:xfrm>
          <a:prstGeom prst="rect">
            <a:avLst/>
          </a:prstGeom>
          <a:noFill/>
        </p:spPr>
        <p:txBody>
          <a:bodyPr wrap="square" lIns="0" tIns="0" rIns="0" bIns="0" anchor="ctr">
            <a:spAutoFit/>
          </a:bodyPr>
          <a:lstStyle/>
          <a:p>
            <a:pPr algn="l"/>
            <a:r>
              <a:rPr sz="1800" b="1" i="0">
                <a:solidFill>
                  <a:srgbClr val="1F394D"/>
                </a:solidFill>
              </a:rPr>
              <a:t>−2</a:t>
            </a:r>
          </a:p>
        </p:txBody>
      </p:sp>
      <p:sp>
        <p:nvSpPr>
          <p:cNvPr id="40" name="TextBox 39"/>
          <p:cNvSpPr txBox="1"/>
          <p:nvPr/>
        </p:nvSpPr>
        <p:spPr>
          <a:xfrm>
            <a:off x="1600200" y="4608576"/>
            <a:ext cx="4023360" cy="502920"/>
          </a:xfrm>
          <a:prstGeom prst="rect">
            <a:avLst/>
          </a:prstGeom>
          <a:noFill/>
        </p:spPr>
        <p:txBody>
          <a:bodyPr wrap="square" lIns="0" tIns="0" rIns="0" bIns="0" anchor="ctr">
            <a:spAutoFit/>
          </a:bodyPr>
          <a:lstStyle/>
          <a:p>
            <a:pPr algn="l"/>
            <a:r>
              <a:rPr sz="1700" b="0" i="0">
                <a:solidFill>
                  <a:srgbClr val="1F2A33"/>
                </a:solidFill>
              </a:rPr>
              <a:t>Skip (other questionnaire versions)</a:t>
            </a:r>
          </a:p>
        </p:txBody>
      </p:sp>
      <p:sp>
        <p:nvSpPr>
          <p:cNvPr id="41" name="TextBox 40"/>
          <p:cNvSpPr txBox="1"/>
          <p:nvPr/>
        </p:nvSpPr>
        <p:spPr>
          <a:xfrm>
            <a:off x="5605272" y="4608576"/>
            <a:ext cx="914400" cy="502920"/>
          </a:xfrm>
          <a:prstGeom prst="rect">
            <a:avLst/>
          </a:prstGeom>
          <a:noFill/>
        </p:spPr>
        <p:txBody>
          <a:bodyPr wrap="square" lIns="0" tIns="0" rIns="0" bIns="0" anchor="ctr">
            <a:spAutoFit/>
          </a:bodyPr>
          <a:lstStyle/>
          <a:p>
            <a:pPr algn="r"/>
            <a:r>
              <a:rPr sz="1700" b="0" i="0">
                <a:solidFill>
                  <a:srgbClr val="55606B"/>
                </a:solidFill>
              </a:rPr>
              <a:t>2,213</a:t>
            </a:r>
          </a:p>
        </p:txBody>
      </p:sp>
      <p:sp>
        <p:nvSpPr>
          <p:cNvPr id="42" name="Right Arrow 41"/>
          <p:cNvSpPr/>
          <p:nvPr/>
        </p:nvSpPr>
        <p:spPr>
          <a:xfrm>
            <a:off x="6858000" y="4718304"/>
            <a:ext cx="594360" cy="292608"/>
          </a:xfrm>
          <a:prstGeom prst="rightArrow">
            <a:avLst/>
          </a:prstGeom>
          <a:solidFill>
            <a:srgbClr val="CCDDEA"/>
          </a:solidFill>
          <a:ln>
            <a:noFill/>
          </a:ln>
        </p:spPr>
        <p:txBody>
          <a:bodyPr rtlCol="0" anchor="ctr"/>
          <a:lstStyle/>
          <a:p>
            <a:pPr algn="ctr"/>
            <a:endParaRPr/>
          </a:p>
        </p:txBody>
      </p:sp>
      <p:sp>
        <p:nvSpPr>
          <p:cNvPr id="43" name="To −2"/>
          <p:cNvSpPr/>
          <p:nvPr/>
        </p:nvSpPr>
        <p:spPr>
          <a:xfrm>
            <a:off x="7635240" y="4608576"/>
            <a:ext cx="2743200" cy="502920"/>
          </a:xfrm>
          <a:prstGeom prst="roundRect">
            <a:avLst>
              <a:gd name="adj" fmla="val 8000"/>
            </a:avLst>
          </a:prstGeom>
          <a:solidFill>
            <a:srgbClr val="FFFFFF"/>
          </a:solidFill>
          <a:ln w="15875">
            <a:solidFill>
              <a:srgbClr val="CCDDEA"/>
            </a:solidFill>
          </a:ln>
        </p:spPr>
        <p:txBody>
          <a:bodyPr rtlCol="0" anchor="ctr"/>
          <a:lstStyle/>
          <a:p>
            <a:endParaRPr/>
          </a:p>
        </p:txBody>
      </p:sp>
      <p:sp>
        <p:nvSpPr>
          <p:cNvPr id="44" name="TextBox 43"/>
          <p:cNvSpPr txBox="1"/>
          <p:nvPr/>
        </p:nvSpPr>
        <p:spPr>
          <a:xfrm>
            <a:off x="7772400" y="4608576"/>
            <a:ext cx="2560320" cy="502920"/>
          </a:xfrm>
          <a:prstGeom prst="rect">
            <a:avLst/>
          </a:prstGeom>
          <a:noFill/>
        </p:spPr>
        <p:txBody>
          <a:bodyPr wrap="square" lIns="0" tIns="0" rIns="0" bIns="0" anchor="ctr">
            <a:spAutoFit/>
          </a:bodyPr>
          <a:lstStyle/>
          <a:p>
            <a:pPr algn="l"/>
            <a:r>
              <a:rPr sz="1700" b="0" i="0">
                <a:solidFill>
                  <a:srgbClr val="55606B"/>
                </a:solidFill>
              </a:rPr>
              <a:t>Missing by design</a:t>
            </a:r>
          </a:p>
        </p:txBody>
      </p:sp>
      <p:sp>
        <p:nvSpPr>
          <p:cNvPr id="45" name="Why box"/>
          <p:cNvSpPr/>
          <p:nvPr/>
        </p:nvSpPr>
        <p:spPr>
          <a:xfrm>
            <a:off x="758952" y="5349240"/>
            <a:ext cx="10607040" cy="548640"/>
          </a:xfrm>
          <a:prstGeom prst="roundRect">
            <a:avLst>
              <a:gd name="adj" fmla="val 8000"/>
            </a:avLst>
          </a:prstGeom>
          <a:solidFill>
            <a:srgbClr val="1F394D"/>
          </a:solidFill>
          <a:ln>
            <a:noFill/>
          </a:ln>
        </p:spPr>
        <p:txBody>
          <a:bodyPr rtlCol="0" anchor="ctr"/>
          <a:lstStyle/>
          <a:p>
            <a:endParaRPr/>
          </a:p>
        </p:txBody>
      </p:sp>
      <p:sp>
        <p:nvSpPr>
          <p:cNvPr id="46" name="TextBox 45"/>
          <p:cNvSpPr txBox="1"/>
          <p:nvPr/>
        </p:nvSpPr>
        <p:spPr>
          <a:xfrm>
            <a:off x="960120" y="5349240"/>
            <a:ext cx="10241280" cy="548640"/>
          </a:xfrm>
          <a:prstGeom prst="rect">
            <a:avLst/>
          </a:prstGeom>
          <a:noFill/>
        </p:spPr>
        <p:txBody>
          <a:bodyPr wrap="square" lIns="0" tIns="0" rIns="0" bIns="0" anchor="ctr">
            <a:spAutoFit/>
          </a:bodyPr>
          <a:lstStyle/>
          <a:p>
            <a:pPr algn="l"/>
            <a:r>
              <a:rPr sz="1600" b="1" i="0">
                <a:solidFill>
                  <a:srgbClr val="B88C00"/>
                </a:solidFill>
              </a:rPr>
              <a:t>Why it matters: </a:t>
            </a:r>
            <a:r>
              <a:rPr sz="1600" b="0" i="0">
                <a:solidFill>
                  <a:srgbClr val="FFFFFF"/>
                </a:solidFill>
              </a:rPr>
              <a:t>the model describes the category coded 1, and JASP codes the second label as 1. Check its note first.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the JASP output</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TextBox 4"/>
          <p:cNvSpPr txBox="1"/>
          <p:nvPr/>
        </p:nvSpPr>
        <p:spPr>
          <a:xfrm>
            <a:off x="758952" y="1261872"/>
            <a:ext cx="4572000" cy="292608"/>
          </a:xfrm>
          <a:prstGeom prst="rect">
            <a:avLst/>
          </a:prstGeom>
          <a:noFill/>
        </p:spPr>
        <p:txBody>
          <a:bodyPr wrap="square" lIns="0" tIns="0" rIns="0" bIns="0" anchor="t">
            <a:spAutoFit/>
          </a:bodyPr>
          <a:lstStyle/>
          <a:p>
            <a:pPr algn="l"/>
            <a:r>
              <a:rPr sz="1400" b="1" i="0">
                <a:solidFill>
                  <a:srgbClr val="222222"/>
                </a:solidFill>
              </a:rPr>
              <a:t>Model Summary – SocTrust</a:t>
            </a:r>
          </a:p>
        </p:txBody>
      </p:sp>
      <p:graphicFrame>
        <p:nvGraphicFramePr>
          <p:cNvPr id="6" name="JASP model summary"/>
          <p:cNvGraphicFramePr>
            <a:graphicFrameLocks noGrp="1"/>
          </p:cNvGraphicFramePr>
          <p:nvPr/>
        </p:nvGraphicFramePr>
        <p:xfrm>
          <a:off x="758952" y="1600200"/>
          <a:ext cx="10378440" cy="987552"/>
        </p:xfrm>
        <a:graphic>
          <a:graphicData uri="http://schemas.openxmlformats.org/drawingml/2006/table">
            <a:tbl>
              <a:tblPr>
                <a:tableStyleId>{2D5ABB26-0587-4C30-8999-92F81FD0307C}</a:tableStyleId>
              </a:tblPr>
              <a:tblGrid>
                <a:gridCol w="8686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gridCol w="1234440">
                  <a:extLst>
                    <a:ext uri="{9D8B030D-6E8A-4147-A177-3AD203B41FA5}">
                      <a16:colId xmlns:a16="http://schemas.microsoft.com/office/drawing/2014/main" val="20008"/>
                    </a:ext>
                  </a:extLst>
                </a:gridCol>
                <a:gridCol w="914400">
                  <a:extLst>
                    <a:ext uri="{9D8B030D-6E8A-4147-A177-3AD203B41FA5}">
                      <a16:colId xmlns:a16="http://schemas.microsoft.com/office/drawing/2014/main" val="20009"/>
                    </a:ext>
                  </a:extLst>
                </a:gridCol>
                <a:gridCol w="1325880">
                  <a:extLst>
                    <a:ext uri="{9D8B030D-6E8A-4147-A177-3AD203B41FA5}">
                      <a16:colId xmlns:a16="http://schemas.microsoft.com/office/drawing/2014/main" val="20010"/>
                    </a:ext>
                  </a:extLst>
                </a:gridCol>
              </a:tblGrid>
              <a:tr h="329184">
                <a:tc>
                  <a:txBody>
                    <a:bodyPr/>
                    <a:lstStyle/>
                    <a:p>
                      <a:pPr algn="l"/>
                      <a:r>
                        <a:rPr sz="1200" b="1" i="0">
                          <a:solidFill>
                            <a:srgbClr val="222222"/>
                          </a:solidFill>
                        </a:rPr>
                        <a:t>Model</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Deviance</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AIC</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BIC</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df</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ΔΧ²</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p</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McFadden R²</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Nagelkerke R²</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Tjur R²</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Cox &amp; Snell R²</a:t>
                      </a:r>
                    </a:p>
                  </a:txBody>
                  <a:tcPr marL="73152" marR="73152" marT="27432" marB="27432" anchor="ctr">
                    <a:lnL w="0">
                      <a:noFill/>
                    </a:lnL>
                    <a:lnR w="0">
                      <a:noFill/>
                    </a:lnR>
                    <a:lnT w="12700">
                      <a:solidFill>
                        <a:srgbClr val="222222"/>
                      </a:solidFill>
                    </a:lnT>
                    <a:lnB w="9525">
                      <a:solidFill>
                        <a:srgbClr val="222222"/>
                      </a:solidFill>
                    </a:lnB>
                    <a:noFill/>
                  </a:tcPr>
                </a:tc>
                <a:extLst>
                  <a:ext uri="{0D108BD9-81ED-4DB2-BD59-A6C34878D82A}">
                    <a16:rowId xmlns:a16="http://schemas.microsoft.com/office/drawing/2014/main" val="10000"/>
                  </a:ext>
                </a:extLst>
              </a:tr>
              <a:tr h="329184">
                <a:tc>
                  <a:txBody>
                    <a:bodyPr/>
                    <a:lstStyle/>
                    <a:p>
                      <a:pPr algn="l"/>
                      <a:r>
                        <a:rPr sz="1200" b="0" i="0">
                          <a:solidFill>
                            <a:srgbClr val="222222"/>
                          </a:solidFill>
                        </a:rPr>
                        <a:t>M₀</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1460.399</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1462.399</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1467.365</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1059</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endParaRP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endParaRP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endParaRP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endParaRP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endParaRP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endParaRP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extLst>
                  <a:ext uri="{0D108BD9-81ED-4DB2-BD59-A6C34878D82A}">
                    <a16:rowId xmlns:a16="http://schemas.microsoft.com/office/drawing/2014/main" val="10001"/>
                  </a:ext>
                </a:extLst>
              </a:tr>
              <a:tr h="329184">
                <a:tc>
                  <a:txBody>
                    <a:bodyPr/>
                    <a:lstStyle/>
                    <a:p>
                      <a:pPr algn="l"/>
                      <a:r>
                        <a:rPr sz="1200" b="0" i="0">
                          <a:solidFill>
                            <a:srgbClr val="222222"/>
                          </a:solidFill>
                        </a:rPr>
                        <a:t>M₁</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1445.108</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1451.108</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1466.006</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1057</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15.290</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&lt; .001</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0.010</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0.019</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0.014</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0.014</a:t>
                      </a:r>
                    </a:p>
                  </a:txBody>
                  <a:tcPr marL="73152" marR="73152" marT="27432" marB="27432" anchor="ctr">
                    <a:lnL w="0">
                      <a:noFill/>
                    </a:lnL>
                    <a:lnR w="0">
                      <a:noFill/>
                    </a:lnR>
                    <a:lnT w="0">
                      <a:noFill/>
                    </a:lnT>
                    <a:lnB w="12700">
                      <a:solidFill>
                        <a:srgbClr val="222222"/>
                      </a:solidFill>
                    </a:lnB>
                    <a:noFill/>
                  </a:tcPr>
                </a:tc>
                <a:extLst>
                  <a:ext uri="{0D108BD9-81ED-4DB2-BD59-A6C34878D82A}">
                    <a16:rowId xmlns:a16="http://schemas.microsoft.com/office/drawing/2014/main" val="10002"/>
                  </a:ext>
                </a:extLst>
              </a:tr>
            </a:tbl>
          </a:graphicData>
        </a:graphic>
      </p:graphicFrame>
      <p:sp>
        <p:nvSpPr>
          <p:cNvPr id="7" name="TextBox 6"/>
          <p:cNvSpPr txBox="1"/>
          <p:nvPr/>
        </p:nvSpPr>
        <p:spPr>
          <a:xfrm>
            <a:off x="758952" y="2743200"/>
            <a:ext cx="4572000" cy="292608"/>
          </a:xfrm>
          <a:prstGeom prst="rect">
            <a:avLst/>
          </a:prstGeom>
          <a:noFill/>
        </p:spPr>
        <p:txBody>
          <a:bodyPr wrap="square" lIns="0" tIns="0" rIns="0" bIns="0" anchor="t">
            <a:spAutoFit/>
          </a:bodyPr>
          <a:lstStyle/>
          <a:p>
            <a:pPr algn="l"/>
            <a:r>
              <a:rPr sz="1400" b="1" i="0">
                <a:solidFill>
                  <a:srgbClr val="222222"/>
                </a:solidFill>
              </a:rPr>
              <a:t>Coefficients</a:t>
            </a:r>
          </a:p>
        </p:txBody>
      </p:sp>
      <p:graphicFrame>
        <p:nvGraphicFramePr>
          <p:cNvPr id="8" name="JASP coefficients"/>
          <p:cNvGraphicFramePr>
            <a:graphicFrameLocks noGrp="1"/>
          </p:cNvGraphicFramePr>
          <p:nvPr/>
        </p:nvGraphicFramePr>
        <p:xfrm>
          <a:off x="758952" y="3081528"/>
          <a:ext cx="9646920" cy="1316736"/>
        </p:xfrm>
        <a:graphic>
          <a:graphicData uri="http://schemas.openxmlformats.org/drawingml/2006/table">
            <a:tbl>
              <a:tblPr>
                <a:tableStyleId>{2D5ABB26-0587-4C30-8999-92F81FD0307C}</a:tableStyleId>
              </a:tblPr>
              <a:tblGrid>
                <a:gridCol w="1920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640080">
                  <a:extLst>
                    <a:ext uri="{9D8B030D-6E8A-4147-A177-3AD203B41FA5}">
                      <a16:colId xmlns:a16="http://schemas.microsoft.com/office/drawing/2014/main" val="20006"/>
                    </a:ext>
                  </a:extLst>
                </a:gridCol>
                <a:gridCol w="868680">
                  <a:extLst>
                    <a:ext uri="{9D8B030D-6E8A-4147-A177-3AD203B41FA5}">
                      <a16:colId xmlns:a16="http://schemas.microsoft.com/office/drawing/2014/main" val="20007"/>
                    </a:ext>
                  </a:extLst>
                </a:gridCol>
              </a:tblGrid>
              <a:tr h="329184">
                <a:tc>
                  <a:txBody>
                    <a:bodyPr/>
                    <a:lstStyle/>
                    <a:p>
                      <a:pPr algn="l"/>
                      <a:endParaRP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Estimate</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Standard Error</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Odds Ratio</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z</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Wald Statistic</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df</a:t>
                      </a:r>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p</a:t>
                      </a:r>
                    </a:p>
                  </a:txBody>
                  <a:tcPr marL="73152" marR="73152" marT="27432" marB="27432" anchor="ctr">
                    <a:lnL w="0">
                      <a:noFill/>
                    </a:lnL>
                    <a:lnR w="0">
                      <a:noFill/>
                    </a:lnR>
                    <a:lnT w="12700">
                      <a:solidFill>
                        <a:srgbClr val="222222"/>
                      </a:solidFill>
                    </a:lnT>
                    <a:lnB w="9525">
                      <a:solidFill>
                        <a:srgbClr val="222222"/>
                      </a:solidFill>
                    </a:lnB>
                    <a:noFill/>
                  </a:tcPr>
                </a:tc>
                <a:extLst>
                  <a:ext uri="{0D108BD9-81ED-4DB2-BD59-A6C34878D82A}">
                    <a16:rowId xmlns:a16="http://schemas.microsoft.com/office/drawing/2014/main" val="10000"/>
                  </a:ext>
                </a:extLst>
              </a:tr>
              <a:tr h="329184">
                <a:tc>
                  <a:txBody>
                    <a:bodyPr/>
                    <a:lstStyle/>
                    <a:p>
                      <a:pPr algn="l"/>
                      <a:r>
                        <a:rPr sz="1200" b="0" i="0">
                          <a:solidFill>
                            <a:srgbClr val="222222"/>
                          </a:solidFill>
                        </a:rPr>
                        <a:t>(Intercept)</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−0.257</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0.196</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0.773</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−1.311</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1.719</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1</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0.190</a:t>
                      </a:r>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extLst>
                  <a:ext uri="{0D108BD9-81ED-4DB2-BD59-A6C34878D82A}">
                    <a16:rowId xmlns:a16="http://schemas.microsoft.com/office/drawing/2014/main" val="10001"/>
                  </a:ext>
                </a:extLst>
              </a:tr>
              <a:tr h="329184">
                <a:tc>
                  <a:txBody>
                    <a:bodyPr/>
                    <a:lstStyle/>
                    <a:p>
                      <a:pPr algn="l"/>
                      <a:r>
                        <a:rPr sz="1200" b="0" i="0">
                          <a:solidFill>
                            <a:srgbClr val="222222"/>
                          </a:solidFill>
                        </a:rPr>
                        <a:t>Age</a:t>
                      </a:r>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0.006</a:t>
                      </a:r>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0.003</a:t>
                      </a:r>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1.006</a:t>
                      </a:r>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1.816</a:t>
                      </a:r>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3.299</a:t>
                      </a:r>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a:t>
                      </a:r>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0.069</a:t>
                      </a:r>
                    </a:p>
                  </a:txBody>
                  <a:tcPr marL="73152" marR="73152" marT="27432" marB="27432" anchor="ctr">
                    <a:lnL w="0">
                      <a:noFill/>
                    </a:lnL>
                    <a:lnR w="0">
                      <a:noFill/>
                    </a:lnR>
                    <a:lnT w="0">
                      <a:noFill/>
                    </a:lnT>
                    <a:lnB w="0">
                      <a:noFill/>
                    </a:lnB>
                    <a:noFill/>
                  </a:tcPr>
                </a:tc>
                <a:extLst>
                  <a:ext uri="{0D108BD9-81ED-4DB2-BD59-A6C34878D82A}">
                    <a16:rowId xmlns:a16="http://schemas.microsoft.com/office/drawing/2014/main" val="10002"/>
                  </a:ext>
                </a:extLst>
              </a:tr>
              <a:tr h="329184">
                <a:tc>
                  <a:txBody>
                    <a:bodyPr/>
                    <a:lstStyle/>
                    <a:p>
                      <a:pPr algn="l"/>
                      <a:r>
                        <a:rPr sz="1200" b="0" i="0">
                          <a:solidFill>
                            <a:srgbClr val="222222"/>
                          </a:solidFill>
                        </a:rPr>
                        <a:t>Sex (Female)</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−0.437</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0.125</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0.646</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−3.492</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12.197</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1</a:t>
                      </a:r>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&lt; .001</a:t>
                      </a:r>
                    </a:p>
                  </a:txBody>
                  <a:tcPr marL="73152" marR="73152" marT="27432" marB="27432" anchor="ctr">
                    <a:lnL w="0">
                      <a:noFill/>
                    </a:lnL>
                    <a:lnR w="0">
                      <a:noFill/>
                    </a:lnR>
                    <a:lnT w="0">
                      <a:noFill/>
                    </a:lnT>
                    <a:lnB w="12700">
                      <a:solidFill>
                        <a:srgbClr val="222222"/>
                      </a:solidFill>
                    </a:lnB>
                    <a:noFill/>
                  </a:tcPr>
                </a:tc>
                <a:extLst>
                  <a:ext uri="{0D108BD9-81ED-4DB2-BD59-A6C34878D82A}">
                    <a16:rowId xmlns:a16="http://schemas.microsoft.com/office/drawing/2014/main" val="10003"/>
                  </a:ext>
                </a:extLst>
              </a:tr>
            </a:tbl>
          </a:graphicData>
        </a:graphic>
      </p:graphicFrame>
      <p:sp>
        <p:nvSpPr>
          <p:cNvPr id="9" name="TextBox 8"/>
          <p:cNvSpPr txBox="1"/>
          <p:nvPr/>
        </p:nvSpPr>
        <p:spPr>
          <a:xfrm>
            <a:off x="1051560" y="4434840"/>
            <a:ext cx="9875520" cy="256032"/>
          </a:xfrm>
          <a:prstGeom prst="rect">
            <a:avLst/>
          </a:prstGeom>
          <a:noFill/>
        </p:spPr>
        <p:txBody>
          <a:bodyPr wrap="square" lIns="0" tIns="0" rIns="0" bIns="0" anchor="t">
            <a:spAutoFit/>
          </a:bodyPr>
          <a:lstStyle/>
          <a:p>
            <a:pPr algn="l"/>
            <a:r>
              <a:rPr sz="1200" b="0" i="1">
                <a:solidFill>
                  <a:srgbClr val="222222"/>
                </a:solidFill>
              </a:rPr>
              <a:t>Note. </a:t>
            </a:r>
            <a:r>
              <a:rPr sz="1200" b="0" i="0">
                <a:solidFill>
                  <a:srgbClr val="222222"/>
                </a:solidFill>
              </a:rPr>
              <a:t>SocTrust level ‘Trusts’ coded as class 1.</a:t>
            </a:r>
          </a:p>
        </p:txBody>
      </p:sp>
      <p:sp>
        <p:nvSpPr>
          <p:cNvPr id="10" name="Oval 9"/>
          <p:cNvSpPr/>
          <p:nvPr/>
        </p:nvSpPr>
        <p:spPr>
          <a:xfrm>
            <a:off x="3104388" y="2779776"/>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1</a:t>
            </a:r>
          </a:p>
        </p:txBody>
      </p:sp>
      <p:sp>
        <p:nvSpPr>
          <p:cNvPr id="11" name="Oval 10"/>
          <p:cNvSpPr/>
          <p:nvPr/>
        </p:nvSpPr>
        <p:spPr>
          <a:xfrm>
            <a:off x="5756148" y="2779776"/>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2</a:t>
            </a:r>
          </a:p>
        </p:txBody>
      </p:sp>
      <p:sp>
        <p:nvSpPr>
          <p:cNvPr id="12" name="Oval 11"/>
          <p:cNvSpPr/>
          <p:nvPr/>
        </p:nvSpPr>
        <p:spPr>
          <a:xfrm>
            <a:off x="8019288" y="2779776"/>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3</a:t>
            </a:r>
          </a:p>
        </p:txBody>
      </p:sp>
      <p:sp>
        <p:nvSpPr>
          <p:cNvPr id="13" name="Oval 12"/>
          <p:cNvSpPr/>
          <p:nvPr/>
        </p:nvSpPr>
        <p:spPr>
          <a:xfrm>
            <a:off x="5321808" y="1289304"/>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4</a:t>
            </a:r>
          </a:p>
        </p:txBody>
      </p:sp>
      <p:sp>
        <p:nvSpPr>
          <p:cNvPr id="14" name="Oval 13"/>
          <p:cNvSpPr/>
          <p:nvPr/>
        </p:nvSpPr>
        <p:spPr>
          <a:xfrm>
            <a:off x="8133588" y="1289304"/>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5</a:t>
            </a:r>
          </a:p>
        </p:txBody>
      </p:sp>
      <p:sp>
        <p:nvSpPr>
          <p:cNvPr id="15" name="Oval 14"/>
          <p:cNvSpPr/>
          <p:nvPr/>
        </p:nvSpPr>
        <p:spPr>
          <a:xfrm>
            <a:off x="722375" y="4416552"/>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6</a:t>
            </a:r>
          </a:p>
        </p:txBody>
      </p:sp>
      <p:sp>
        <p:nvSpPr>
          <p:cNvPr id="16" name="Oval 15"/>
          <p:cNvSpPr/>
          <p:nvPr/>
        </p:nvSpPr>
        <p:spPr>
          <a:xfrm>
            <a:off x="758952" y="4901184"/>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1</a:t>
            </a:r>
          </a:p>
        </p:txBody>
      </p:sp>
      <p:sp>
        <p:nvSpPr>
          <p:cNvPr id="17" name="TextBox 16"/>
          <p:cNvSpPr txBox="1"/>
          <p:nvPr/>
        </p:nvSpPr>
        <p:spPr>
          <a:xfrm>
            <a:off x="1143000" y="4828032"/>
            <a:ext cx="3108960" cy="457200"/>
          </a:xfrm>
          <a:prstGeom prst="rect">
            <a:avLst/>
          </a:prstGeom>
          <a:noFill/>
        </p:spPr>
        <p:txBody>
          <a:bodyPr wrap="square" lIns="0" tIns="0" rIns="0" bIns="0" anchor="ctr">
            <a:spAutoFit/>
          </a:bodyPr>
          <a:lstStyle/>
          <a:p>
            <a:pPr algn="l"/>
            <a:r>
              <a:rPr sz="1300" b="0" i="0">
                <a:solidFill>
                  <a:srgbClr val="1F2A33"/>
                </a:solidFill>
              </a:rPr>
              <a:t>Estimate: change in log-odds; the sign gives the direction</a:t>
            </a:r>
          </a:p>
        </p:txBody>
      </p:sp>
      <p:sp>
        <p:nvSpPr>
          <p:cNvPr id="18" name="Oval 17"/>
          <p:cNvSpPr/>
          <p:nvPr/>
        </p:nvSpPr>
        <p:spPr>
          <a:xfrm>
            <a:off x="4325112" y="4901184"/>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2</a:t>
            </a:r>
          </a:p>
        </p:txBody>
      </p:sp>
      <p:sp>
        <p:nvSpPr>
          <p:cNvPr id="19" name="TextBox 18"/>
          <p:cNvSpPr txBox="1"/>
          <p:nvPr/>
        </p:nvSpPr>
        <p:spPr>
          <a:xfrm>
            <a:off x="4709159" y="4828032"/>
            <a:ext cx="3108960" cy="457200"/>
          </a:xfrm>
          <a:prstGeom prst="rect">
            <a:avLst/>
          </a:prstGeom>
          <a:noFill/>
        </p:spPr>
        <p:txBody>
          <a:bodyPr wrap="square" lIns="0" tIns="0" rIns="0" bIns="0" anchor="ctr">
            <a:spAutoFit/>
          </a:bodyPr>
          <a:lstStyle/>
          <a:p>
            <a:pPr algn="l"/>
            <a:r>
              <a:rPr sz="1300" b="0" i="0">
                <a:solidFill>
                  <a:srgbClr val="1F2A33"/>
                </a:solidFill>
              </a:rPr>
              <a:t>Odds Ratio: e</a:t>
            </a:r>
            <a:r>
              <a:rPr sz="1300" b="0" i="0" baseline="30000">
                <a:solidFill>
                  <a:srgbClr val="1F2A33"/>
                </a:solidFill>
              </a:rPr>
              <a:t>Estimate</a:t>
            </a:r>
            <a:r>
              <a:rPr sz="1300" b="0" i="0">
                <a:solidFill>
                  <a:srgbClr val="1F2A33"/>
                </a:solidFill>
              </a:rPr>
              <a:t>; above 1 higher odds, below 1 lower</a:t>
            </a:r>
          </a:p>
        </p:txBody>
      </p:sp>
      <p:sp>
        <p:nvSpPr>
          <p:cNvPr id="20" name="Oval 19"/>
          <p:cNvSpPr/>
          <p:nvPr/>
        </p:nvSpPr>
        <p:spPr>
          <a:xfrm>
            <a:off x="7891271" y="4901184"/>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3</a:t>
            </a:r>
          </a:p>
        </p:txBody>
      </p:sp>
      <p:sp>
        <p:nvSpPr>
          <p:cNvPr id="21" name="TextBox 20"/>
          <p:cNvSpPr txBox="1"/>
          <p:nvPr/>
        </p:nvSpPr>
        <p:spPr>
          <a:xfrm>
            <a:off x="8275319" y="4828032"/>
            <a:ext cx="3108960" cy="457200"/>
          </a:xfrm>
          <a:prstGeom prst="rect">
            <a:avLst/>
          </a:prstGeom>
          <a:noFill/>
        </p:spPr>
        <p:txBody>
          <a:bodyPr wrap="square" lIns="0" tIns="0" rIns="0" bIns="0" anchor="ctr">
            <a:spAutoFit/>
          </a:bodyPr>
          <a:lstStyle/>
          <a:p>
            <a:pPr algn="l"/>
            <a:r>
              <a:rPr sz="1300" b="0" i="0">
                <a:solidFill>
                  <a:srgbClr val="1F2A33"/>
                </a:solidFill>
              </a:rPr>
              <a:t>z, Wald and p: how sure we can be (Week 5)</a:t>
            </a:r>
          </a:p>
        </p:txBody>
      </p:sp>
      <p:sp>
        <p:nvSpPr>
          <p:cNvPr id="22" name="Oval 21"/>
          <p:cNvSpPr/>
          <p:nvPr/>
        </p:nvSpPr>
        <p:spPr>
          <a:xfrm>
            <a:off x="758952" y="5431536"/>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4</a:t>
            </a:r>
          </a:p>
        </p:txBody>
      </p:sp>
      <p:sp>
        <p:nvSpPr>
          <p:cNvPr id="23" name="TextBox 22"/>
          <p:cNvSpPr txBox="1"/>
          <p:nvPr/>
        </p:nvSpPr>
        <p:spPr>
          <a:xfrm>
            <a:off x="1143000" y="5358384"/>
            <a:ext cx="3108960" cy="457200"/>
          </a:xfrm>
          <a:prstGeom prst="rect">
            <a:avLst/>
          </a:prstGeom>
          <a:noFill/>
        </p:spPr>
        <p:txBody>
          <a:bodyPr wrap="square" lIns="0" tIns="0" rIns="0" bIns="0" anchor="ctr">
            <a:spAutoFit/>
          </a:bodyPr>
          <a:lstStyle/>
          <a:p>
            <a:pPr algn="l"/>
            <a:r>
              <a:rPr sz="1300" b="0" i="0">
                <a:solidFill>
                  <a:srgbClr val="1F2A33"/>
                </a:solidFill>
              </a:rPr>
              <a:t>ΔΧ² and p: does M₁ predict better than the null model M₀?</a:t>
            </a:r>
          </a:p>
        </p:txBody>
      </p:sp>
      <p:sp>
        <p:nvSpPr>
          <p:cNvPr id="24" name="Oval 23"/>
          <p:cNvSpPr/>
          <p:nvPr/>
        </p:nvSpPr>
        <p:spPr>
          <a:xfrm>
            <a:off x="4325112" y="5431536"/>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5</a:t>
            </a:r>
          </a:p>
        </p:txBody>
      </p:sp>
      <p:sp>
        <p:nvSpPr>
          <p:cNvPr id="25" name="TextBox 24"/>
          <p:cNvSpPr txBox="1"/>
          <p:nvPr/>
        </p:nvSpPr>
        <p:spPr>
          <a:xfrm>
            <a:off x="4709159" y="5358384"/>
            <a:ext cx="3108960" cy="457200"/>
          </a:xfrm>
          <a:prstGeom prst="rect">
            <a:avLst/>
          </a:prstGeom>
          <a:noFill/>
        </p:spPr>
        <p:txBody>
          <a:bodyPr wrap="square" lIns="0" tIns="0" rIns="0" bIns="0" anchor="ctr">
            <a:spAutoFit/>
          </a:bodyPr>
          <a:lstStyle/>
          <a:p>
            <a:pPr algn="l"/>
            <a:r>
              <a:rPr sz="1300" b="0" i="0">
                <a:solidFill>
                  <a:srgbClr val="1F2A33"/>
                </a:solidFill>
              </a:rPr>
              <a:t>Nagelkerke R²: rough share of the variation explained</a:t>
            </a:r>
          </a:p>
        </p:txBody>
      </p:sp>
      <p:sp>
        <p:nvSpPr>
          <p:cNvPr id="26" name="Oval 25"/>
          <p:cNvSpPr/>
          <p:nvPr/>
        </p:nvSpPr>
        <p:spPr>
          <a:xfrm>
            <a:off x="7891271" y="5431536"/>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6</a:t>
            </a:r>
          </a:p>
        </p:txBody>
      </p:sp>
      <p:sp>
        <p:nvSpPr>
          <p:cNvPr id="27" name="TextBox 26"/>
          <p:cNvSpPr txBox="1"/>
          <p:nvPr/>
        </p:nvSpPr>
        <p:spPr>
          <a:xfrm>
            <a:off x="8275319" y="5358384"/>
            <a:ext cx="3108960" cy="457200"/>
          </a:xfrm>
          <a:prstGeom prst="rect">
            <a:avLst/>
          </a:prstGeom>
          <a:noFill/>
        </p:spPr>
        <p:txBody>
          <a:bodyPr wrap="square" lIns="0" tIns="0" rIns="0" bIns="0" anchor="ctr">
            <a:spAutoFit/>
          </a:bodyPr>
          <a:lstStyle/>
          <a:p>
            <a:pPr algn="l"/>
            <a:r>
              <a:rPr sz="1300" b="0" i="0">
                <a:solidFill>
                  <a:srgbClr val="1F2A33"/>
                </a:solidFill>
              </a:rPr>
              <a:t>The note: which category the model predicts</a:t>
            </a:r>
          </a:p>
        </p:txBody>
      </p:sp>
      <p:sp>
        <p:nvSpPr>
          <p:cNvPr id="28" name="TextBox 27"/>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BSA 2010, n = 1,060. JASP: Regression › Logistic Regression; SocTrust as Dependent Variable, Age as Covariate, Sex as Factor.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Interpreting the coefficients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Step 1"/>
          <p:cNvSpPr/>
          <p:nvPr/>
        </p:nvSpPr>
        <p:spPr>
          <a:xfrm>
            <a:off x="758952" y="1371600"/>
            <a:ext cx="3931920" cy="1143000"/>
          </a:xfrm>
          <a:prstGeom prst="roundRect">
            <a:avLst>
              <a:gd name="adj" fmla="val 8000"/>
            </a:avLst>
          </a:prstGeom>
          <a:solidFill>
            <a:srgbClr val="EEF3F7"/>
          </a:solidFill>
          <a:ln>
            <a:noFill/>
          </a:ln>
        </p:spPr>
        <p:txBody>
          <a:bodyPr rtlCol="0" anchor="ctr"/>
          <a:lstStyle/>
          <a:p>
            <a:endParaRPr/>
          </a:p>
        </p:txBody>
      </p:sp>
      <p:sp>
        <p:nvSpPr>
          <p:cNvPr id="6" name="TextBox 5"/>
          <p:cNvSpPr txBox="1"/>
          <p:nvPr/>
        </p:nvSpPr>
        <p:spPr>
          <a:xfrm>
            <a:off x="960120" y="1481328"/>
            <a:ext cx="3566160" cy="1005840"/>
          </a:xfrm>
          <a:prstGeom prst="rect">
            <a:avLst/>
          </a:prstGeom>
          <a:noFill/>
        </p:spPr>
        <p:txBody>
          <a:bodyPr wrap="square" lIns="0" tIns="0" rIns="0" bIns="0" anchor="t">
            <a:spAutoFit/>
          </a:bodyPr>
          <a:lstStyle/>
          <a:p>
            <a:pPr algn="l">
              <a:spcAft>
                <a:spcPts val="200"/>
              </a:spcAft>
            </a:pPr>
            <a:r>
              <a:rPr sz="2000" b="1" i="0">
                <a:solidFill>
                  <a:srgbClr val="1F394D"/>
                </a:solidFill>
              </a:rPr>
              <a:t>Estimate (b)</a:t>
            </a:r>
          </a:p>
          <a:p>
            <a:pPr algn="l"/>
            <a:r>
              <a:rPr sz="1600" b="0" i="0">
                <a:solidFill>
                  <a:srgbClr val="55606B"/>
                </a:solidFill>
              </a:rPr>
              <a:t>log-odds scale</a:t>
            </a:r>
          </a:p>
          <a:p>
            <a:pPr algn="l"/>
            <a:r>
              <a:rPr sz="1600" b="0" i="0">
                <a:solidFill>
                  <a:srgbClr val="55606B"/>
                </a:solidFill>
              </a:rPr>
              <a:t>sign = direction</a:t>
            </a:r>
          </a:p>
        </p:txBody>
      </p:sp>
      <p:sp>
        <p:nvSpPr>
          <p:cNvPr id="7" name="Down Arrow 6"/>
          <p:cNvSpPr/>
          <p:nvPr/>
        </p:nvSpPr>
        <p:spPr>
          <a:xfrm>
            <a:off x="2514600" y="2532888"/>
            <a:ext cx="411480" cy="237744"/>
          </a:xfrm>
          <a:prstGeom prst="downArrow">
            <a:avLst/>
          </a:prstGeom>
          <a:solidFill>
            <a:srgbClr val="3F739B"/>
          </a:solidFill>
          <a:ln>
            <a:noFill/>
          </a:ln>
        </p:spPr>
        <p:txBody>
          <a:bodyPr rtlCol="0" anchor="ctr"/>
          <a:lstStyle/>
          <a:p>
            <a:pPr algn="ctr"/>
            <a:endParaRPr/>
          </a:p>
        </p:txBody>
      </p:sp>
      <p:sp>
        <p:nvSpPr>
          <p:cNvPr id="8" name="Step 2"/>
          <p:cNvSpPr/>
          <p:nvPr/>
        </p:nvSpPr>
        <p:spPr>
          <a:xfrm>
            <a:off x="758952" y="2788920"/>
            <a:ext cx="3931920" cy="1143000"/>
          </a:xfrm>
          <a:prstGeom prst="roundRect">
            <a:avLst>
              <a:gd name="adj" fmla="val 8000"/>
            </a:avLst>
          </a:prstGeom>
          <a:solidFill>
            <a:srgbClr val="EEF3F7"/>
          </a:solidFill>
          <a:ln>
            <a:noFill/>
          </a:ln>
        </p:spPr>
        <p:txBody>
          <a:bodyPr rtlCol="0" anchor="ctr"/>
          <a:lstStyle/>
          <a:p>
            <a:endParaRPr/>
          </a:p>
        </p:txBody>
      </p:sp>
      <p:sp>
        <p:nvSpPr>
          <p:cNvPr id="9" name="TextBox 8"/>
          <p:cNvSpPr txBox="1"/>
          <p:nvPr/>
        </p:nvSpPr>
        <p:spPr>
          <a:xfrm>
            <a:off x="960120" y="2898648"/>
            <a:ext cx="3566160" cy="1005840"/>
          </a:xfrm>
          <a:prstGeom prst="rect">
            <a:avLst/>
          </a:prstGeom>
          <a:noFill/>
        </p:spPr>
        <p:txBody>
          <a:bodyPr wrap="square" lIns="0" tIns="0" rIns="0" bIns="0" anchor="t">
            <a:spAutoFit/>
          </a:bodyPr>
          <a:lstStyle/>
          <a:p>
            <a:pPr algn="l">
              <a:spcAft>
                <a:spcPts val="200"/>
              </a:spcAft>
            </a:pPr>
            <a:r>
              <a:rPr sz="2000" b="1" i="0">
                <a:solidFill>
                  <a:srgbClr val="1F394D"/>
                </a:solidFill>
              </a:rPr>
              <a:t>Odds ratio</a:t>
            </a:r>
          </a:p>
          <a:p>
            <a:pPr algn="l"/>
            <a:r>
              <a:rPr sz="1600" b="0" i="0">
                <a:solidFill>
                  <a:srgbClr val="55606B"/>
                </a:solidFill>
              </a:rPr>
              <a:t>e^b</a:t>
            </a:r>
          </a:p>
          <a:p>
            <a:pPr algn="l"/>
            <a:r>
              <a:rPr sz="1600" b="0" i="0">
                <a:solidFill>
                  <a:srgbClr val="55606B"/>
                </a:solidFill>
              </a:rPr>
              <a:t>OR &gt; 1 higher odds, &lt; 1 lower</a:t>
            </a:r>
          </a:p>
        </p:txBody>
      </p:sp>
      <p:sp>
        <p:nvSpPr>
          <p:cNvPr id="10" name="Down Arrow 9"/>
          <p:cNvSpPr/>
          <p:nvPr/>
        </p:nvSpPr>
        <p:spPr>
          <a:xfrm>
            <a:off x="2514600" y="3950208"/>
            <a:ext cx="411480" cy="237744"/>
          </a:xfrm>
          <a:prstGeom prst="downArrow">
            <a:avLst/>
          </a:prstGeom>
          <a:solidFill>
            <a:srgbClr val="3F739B"/>
          </a:solidFill>
          <a:ln>
            <a:noFill/>
          </a:ln>
        </p:spPr>
        <p:txBody>
          <a:bodyPr rtlCol="0" anchor="ctr"/>
          <a:lstStyle/>
          <a:p>
            <a:pPr algn="ctr"/>
            <a:endParaRPr/>
          </a:p>
        </p:txBody>
      </p:sp>
      <p:sp>
        <p:nvSpPr>
          <p:cNvPr id="11" name="Step 3"/>
          <p:cNvSpPr/>
          <p:nvPr/>
        </p:nvSpPr>
        <p:spPr>
          <a:xfrm>
            <a:off x="758952" y="4206240"/>
            <a:ext cx="3931920" cy="1143000"/>
          </a:xfrm>
          <a:prstGeom prst="roundRect">
            <a:avLst>
              <a:gd name="adj" fmla="val 8000"/>
            </a:avLst>
          </a:prstGeom>
          <a:solidFill>
            <a:srgbClr val="1F394D"/>
          </a:solidFill>
          <a:ln>
            <a:noFill/>
          </a:ln>
        </p:spPr>
        <p:txBody>
          <a:bodyPr rtlCol="0" anchor="ctr"/>
          <a:lstStyle/>
          <a:p>
            <a:endParaRPr/>
          </a:p>
        </p:txBody>
      </p:sp>
      <p:sp>
        <p:nvSpPr>
          <p:cNvPr id="12" name="TextBox 11"/>
          <p:cNvSpPr txBox="1"/>
          <p:nvPr/>
        </p:nvSpPr>
        <p:spPr>
          <a:xfrm>
            <a:off x="960120" y="4315968"/>
            <a:ext cx="3566160" cy="1005840"/>
          </a:xfrm>
          <a:prstGeom prst="rect">
            <a:avLst/>
          </a:prstGeom>
          <a:noFill/>
        </p:spPr>
        <p:txBody>
          <a:bodyPr wrap="square" lIns="0" tIns="0" rIns="0" bIns="0" anchor="t">
            <a:spAutoFit/>
          </a:bodyPr>
          <a:lstStyle/>
          <a:p>
            <a:pPr algn="l">
              <a:spcAft>
                <a:spcPts val="200"/>
              </a:spcAft>
            </a:pPr>
            <a:r>
              <a:rPr sz="2000" b="1" i="0">
                <a:solidFill>
                  <a:srgbClr val="FFFFFF"/>
                </a:solidFill>
              </a:rPr>
              <a:t>% change in odds</a:t>
            </a:r>
          </a:p>
          <a:p>
            <a:pPr algn="l"/>
            <a:r>
              <a:rPr sz="1600" b="0" i="0">
                <a:solidFill>
                  <a:srgbClr val="CCDDEA"/>
                </a:solidFill>
              </a:rPr>
              <a:t>(OR − 1) × 100</a:t>
            </a:r>
          </a:p>
        </p:txBody>
      </p:sp>
      <p:sp>
        <p:nvSpPr>
          <p:cNvPr id="13" name="TextBox 12"/>
          <p:cNvSpPr txBox="1"/>
          <p:nvPr/>
        </p:nvSpPr>
        <p:spPr>
          <a:xfrm>
            <a:off x="5166360" y="1371600"/>
            <a:ext cx="6217920" cy="411480"/>
          </a:xfrm>
          <a:prstGeom prst="rect">
            <a:avLst/>
          </a:prstGeom>
          <a:noFill/>
        </p:spPr>
        <p:txBody>
          <a:bodyPr wrap="square" lIns="0" tIns="0" rIns="0" bIns="0" anchor="t">
            <a:spAutoFit/>
          </a:bodyPr>
          <a:lstStyle/>
          <a:p>
            <a:pPr algn="l"/>
            <a:r>
              <a:rPr sz="1800" b="1" i="0">
                <a:solidFill>
                  <a:srgbClr val="3F739B"/>
                </a:solidFill>
              </a:rPr>
              <a:t>Worked example: BSA 2010, trust ~ age + sex</a:t>
            </a:r>
          </a:p>
        </p:txBody>
      </p:sp>
      <p:graphicFrame>
        <p:nvGraphicFramePr>
          <p:cNvPr id="14" name="Table 13"/>
          <p:cNvGraphicFramePr>
            <a:graphicFrameLocks noGrp="1"/>
          </p:cNvGraphicFramePr>
          <p:nvPr/>
        </p:nvGraphicFramePr>
        <p:xfrm>
          <a:off x="5166360" y="1874519"/>
          <a:ext cx="6199631" cy="2011680"/>
        </p:xfrm>
        <a:graphic>
          <a:graphicData uri="http://schemas.openxmlformats.org/drawingml/2006/table">
            <a:tbl>
              <a:tblPr firstRow="1">
                <a:tableStyleId>{5C22544A-7EE6-4342-B048-85BDC9FD1C3A}</a:tableStyleId>
              </a:tblPr>
              <a:tblGrid>
                <a:gridCol w="1874519">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353312">
                  <a:extLst>
                    <a:ext uri="{9D8B030D-6E8A-4147-A177-3AD203B41FA5}">
                      <a16:colId xmlns:a16="http://schemas.microsoft.com/office/drawing/2014/main" val="20003"/>
                    </a:ext>
                  </a:extLst>
                </a:gridCol>
              </a:tblGrid>
              <a:tr h="502920">
                <a:tc>
                  <a:txBody>
                    <a:bodyPr/>
                    <a:lstStyle/>
                    <a:p>
                      <a:pPr algn="l"/>
                      <a:endParaRPr/>
                    </a:p>
                  </a:txBody>
                  <a:tcPr marT="27432" marB="27432" anchor="ctr">
                    <a:solidFill>
                      <a:srgbClr val="1F394D"/>
                    </a:solidFill>
                  </a:tcPr>
                </a:tc>
                <a:tc>
                  <a:txBody>
                    <a:bodyPr/>
                    <a:lstStyle/>
                    <a:p>
                      <a:pPr algn="r"/>
                      <a:r>
                        <a:rPr sz="1600" b="1">
                          <a:solidFill>
                            <a:srgbClr val="FFFFFF"/>
                          </a:solidFill>
                        </a:rPr>
                        <a:t>Estimate</a:t>
                      </a:r>
                    </a:p>
                  </a:txBody>
                  <a:tcPr marT="27432" marB="27432" anchor="ctr">
                    <a:solidFill>
                      <a:srgbClr val="1F394D"/>
                    </a:solidFill>
                  </a:tcPr>
                </a:tc>
                <a:tc>
                  <a:txBody>
                    <a:bodyPr/>
                    <a:lstStyle/>
                    <a:p>
                      <a:pPr algn="r"/>
                      <a:r>
                        <a:rPr sz="1600" b="1">
                          <a:solidFill>
                            <a:srgbClr val="FFFFFF"/>
                          </a:solidFill>
                        </a:rPr>
                        <a:t>Odds ratio</a:t>
                      </a:r>
                    </a:p>
                  </a:txBody>
                  <a:tcPr marT="27432" marB="27432" anchor="ctr">
                    <a:solidFill>
                      <a:srgbClr val="1F394D"/>
                    </a:solidFill>
                  </a:tcPr>
                </a:tc>
                <a:tc>
                  <a:txBody>
                    <a:bodyPr/>
                    <a:lstStyle/>
                    <a:p>
                      <a:pPr algn="r"/>
                      <a:r>
                        <a:rPr sz="1600" b="1">
                          <a:solidFill>
                            <a:srgbClr val="FFFFFF"/>
                          </a:solidFill>
                        </a:rPr>
                        <a:t>Odds change</a:t>
                      </a:r>
                    </a:p>
                  </a:txBody>
                  <a:tcPr marT="27432" marB="27432" anchor="ctr">
                    <a:solidFill>
                      <a:srgbClr val="1F394D"/>
                    </a:solidFill>
                  </a:tcPr>
                </a:tc>
                <a:extLst>
                  <a:ext uri="{0D108BD9-81ED-4DB2-BD59-A6C34878D82A}">
                    <a16:rowId xmlns:a16="http://schemas.microsoft.com/office/drawing/2014/main" val="10000"/>
                  </a:ext>
                </a:extLst>
              </a:tr>
              <a:tr h="502920">
                <a:tc>
                  <a:txBody>
                    <a:bodyPr/>
                    <a:lstStyle/>
                    <a:p>
                      <a:pPr algn="l"/>
                      <a:r>
                        <a:rPr sz="1600" b="1">
                          <a:solidFill>
                            <a:srgbClr val="1F2A33"/>
                          </a:solidFill>
                        </a:rPr>
                        <a:t>Female (vs male)</a:t>
                      </a:r>
                    </a:p>
                  </a:txBody>
                  <a:tcPr marT="27432" marB="27432" anchor="ctr">
                    <a:solidFill>
                      <a:srgbClr val="FFFFFF"/>
                    </a:solidFill>
                  </a:tcPr>
                </a:tc>
                <a:tc>
                  <a:txBody>
                    <a:bodyPr/>
                    <a:lstStyle/>
                    <a:p>
                      <a:pPr algn="r"/>
                      <a:r>
                        <a:rPr sz="1600" b="0">
                          <a:solidFill>
                            <a:srgbClr val="1F2A33"/>
                          </a:solidFill>
                        </a:rPr>
                        <a:t>−0.437</a:t>
                      </a:r>
                    </a:p>
                  </a:txBody>
                  <a:tcPr marT="27432" marB="27432" anchor="ctr">
                    <a:solidFill>
                      <a:srgbClr val="FFFFFF"/>
                    </a:solidFill>
                  </a:tcPr>
                </a:tc>
                <a:tc>
                  <a:txBody>
                    <a:bodyPr/>
                    <a:lstStyle/>
                    <a:p>
                      <a:pPr algn="r"/>
                      <a:r>
                        <a:rPr sz="1600" b="0">
                          <a:solidFill>
                            <a:srgbClr val="1F2A33"/>
                          </a:solidFill>
                        </a:rPr>
                        <a:t>e^−0.437 = 0.646</a:t>
                      </a:r>
                    </a:p>
                  </a:txBody>
                  <a:tcPr marT="27432" marB="27432" anchor="ctr">
                    <a:solidFill>
                      <a:srgbClr val="FFFFFF"/>
                    </a:solidFill>
                  </a:tcPr>
                </a:tc>
                <a:tc>
                  <a:txBody>
                    <a:bodyPr/>
                    <a:lstStyle/>
                    <a:p>
                      <a:pPr algn="r"/>
                      <a:r>
                        <a:rPr sz="1600" b="0">
                          <a:solidFill>
                            <a:srgbClr val="1F2A33"/>
                          </a:solidFill>
                        </a:rPr>
                        <a:t>35% lower</a:t>
                      </a:r>
                    </a:p>
                  </a:txBody>
                  <a:tcPr marT="27432" marB="27432" anchor="ctr">
                    <a:solidFill>
                      <a:srgbClr val="FFFFFF"/>
                    </a:solidFill>
                  </a:tcPr>
                </a:tc>
                <a:extLst>
                  <a:ext uri="{0D108BD9-81ED-4DB2-BD59-A6C34878D82A}">
                    <a16:rowId xmlns:a16="http://schemas.microsoft.com/office/drawing/2014/main" val="10001"/>
                  </a:ext>
                </a:extLst>
              </a:tr>
              <a:tr h="502920">
                <a:tc>
                  <a:txBody>
                    <a:bodyPr/>
                    <a:lstStyle/>
                    <a:p>
                      <a:pPr algn="l"/>
                      <a:r>
                        <a:rPr sz="1600" b="1">
                          <a:solidFill>
                            <a:srgbClr val="1F2A33"/>
                          </a:solidFill>
                        </a:rPr>
                        <a:t>Age (per year)</a:t>
                      </a:r>
                    </a:p>
                  </a:txBody>
                  <a:tcPr marT="27432" marB="27432" anchor="ctr">
                    <a:solidFill>
                      <a:srgbClr val="EEF3F7"/>
                    </a:solidFill>
                  </a:tcPr>
                </a:tc>
                <a:tc>
                  <a:txBody>
                    <a:bodyPr/>
                    <a:lstStyle/>
                    <a:p>
                      <a:pPr algn="r"/>
                      <a:r>
                        <a:rPr sz="1600" b="0">
                          <a:solidFill>
                            <a:srgbClr val="1F2A33"/>
                          </a:solidFill>
                        </a:rPr>
                        <a:t>0.006</a:t>
                      </a:r>
                    </a:p>
                  </a:txBody>
                  <a:tcPr marT="27432" marB="27432" anchor="ctr">
                    <a:solidFill>
                      <a:srgbClr val="EEF3F7"/>
                    </a:solidFill>
                  </a:tcPr>
                </a:tc>
                <a:tc>
                  <a:txBody>
                    <a:bodyPr/>
                    <a:lstStyle/>
                    <a:p>
                      <a:pPr algn="r"/>
                      <a:r>
                        <a:rPr sz="1600" b="0">
                          <a:solidFill>
                            <a:srgbClr val="1F2A33"/>
                          </a:solidFill>
                        </a:rPr>
                        <a:t>e^0.006 = 1.006</a:t>
                      </a:r>
                    </a:p>
                  </a:txBody>
                  <a:tcPr marT="27432" marB="27432" anchor="ctr">
                    <a:solidFill>
                      <a:srgbClr val="EEF3F7"/>
                    </a:solidFill>
                  </a:tcPr>
                </a:tc>
                <a:tc>
                  <a:txBody>
                    <a:bodyPr/>
                    <a:lstStyle/>
                    <a:p>
                      <a:pPr algn="r"/>
                      <a:r>
                        <a:rPr sz="1600" b="0">
                          <a:solidFill>
                            <a:srgbClr val="1F2A33"/>
                          </a:solidFill>
                        </a:rPr>
                        <a:t>0.6% higher</a:t>
                      </a:r>
                    </a:p>
                  </a:txBody>
                  <a:tcPr marT="27432" marB="27432" anchor="ctr">
                    <a:solidFill>
                      <a:srgbClr val="EEF3F7"/>
                    </a:solidFill>
                  </a:tcPr>
                </a:tc>
                <a:extLst>
                  <a:ext uri="{0D108BD9-81ED-4DB2-BD59-A6C34878D82A}">
                    <a16:rowId xmlns:a16="http://schemas.microsoft.com/office/drawing/2014/main" val="10002"/>
                  </a:ext>
                </a:extLst>
              </a:tr>
              <a:tr h="502920">
                <a:tc>
                  <a:txBody>
                    <a:bodyPr/>
                    <a:lstStyle/>
                    <a:p>
                      <a:pPr algn="l"/>
                      <a:r>
                        <a:rPr sz="1600" b="1">
                          <a:solidFill>
                            <a:srgbClr val="1F2A33"/>
                          </a:solidFill>
                        </a:rPr>
                        <a:t>Age (per 10 years)</a:t>
                      </a:r>
                    </a:p>
                  </a:txBody>
                  <a:tcPr marT="27432" marB="27432" anchor="ctr">
                    <a:solidFill>
                      <a:srgbClr val="FFFFFF"/>
                    </a:solidFill>
                  </a:tcPr>
                </a:tc>
                <a:tc>
                  <a:txBody>
                    <a:bodyPr/>
                    <a:lstStyle/>
                    <a:p>
                      <a:pPr algn="r"/>
                      <a:r>
                        <a:rPr sz="1600" b="0">
                          <a:solidFill>
                            <a:srgbClr val="1F2A33"/>
                          </a:solidFill>
                        </a:rPr>
                        <a:t>0.062</a:t>
                      </a:r>
                    </a:p>
                  </a:txBody>
                  <a:tcPr marT="27432" marB="27432" anchor="ctr">
                    <a:solidFill>
                      <a:srgbClr val="FFFFFF"/>
                    </a:solidFill>
                  </a:tcPr>
                </a:tc>
                <a:tc>
                  <a:txBody>
                    <a:bodyPr/>
                    <a:lstStyle/>
                    <a:p>
                      <a:pPr algn="r"/>
                      <a:r>
                        <a:rPr sz="1600" b="0">
                          <a:solidFill>
                            <a:srgbClr val="1F2A33"/>
                          </a:solidFill>
                        </a:rPr>
                        <a:t>e^0.062 = 1.064</a:t>
                      </a:r>
                    </a:p>
                  </a:txBody>
                  <a:tcPr marT="27432" marB="27432" anchor="ctr">
                    <a:solidFill>
                      <a:srgbClr val="FFFFFF"/>
                    </a:solidFill>
                  </a:tcPr>
                </a:tc>
                <a:tc>
                  <a:txBody>
                    <a:bodyPr/>
                    <a:lstStyle/>
                    <a:p>
                      <a:pPr algn="r"/>
                      <a:r>
                        <a:rPr sz="1600" b="0">
                          <a:solidFill>
                            <a:srgbClr val="1F2A33"/>
                          </a:solidFill>
                        </a:rPr>
                        <a:t>6% higher</a:t>
                      </a:r>
                    </a:p>
                  </a:txBody>
                  <a:tcPr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5" name="Sentence box"/>
          <p:cNvSpPr/>
          <p:nvPr/>
        </p:nvSpPr>
        <p:spPr>
          <a:xfrm>
            <a:off x="5166360" y="4160520"/>
            <a:ext cx="6199632" cy="1463040"/>
          </a:xfrm>
          <a:prstGeom prst="roundRect">
            <a:avLst>
              <a:gd name="adj" fmla="val 8000"/>
            </a:avLst>
          </a:prstGeom>
          <a:noFill/>
          <a:ln w="15875">
            <a:solidFill>
              <a:srgbClr val="3F739B"/>
            </a:solidFill>
          </a:ln>
        </p:spPr>
        <p:txBody>
          <a:bodyPr rtlCol="0" anchor="ctr"/>
          <a:lstStyle/>
          <a:p>
            <a:endParaRPr/>
          </a:p>
        </p:txBody>
      </p:sp>
      <p:sp>
        <p:nvSpPr>
          <p:cNvPr id="16" name="TextBox 15"/>
          <p:cNvSpPr txBox="1"/>
          <p:nvPr/>
        </p:nvSpPr>
        <p:spPr>
          <a:xfrm>
            <a:off x="5394960" y="4206240"/>
            <a:ext cx="5760720" cy="1371600"/>
          </a:xfrm>
          <a:prstGeom prst="rect">
            <a:avLst/>
          </a:prstGeom>
          <a:noFill/>
        </p:spPr>
        <p:txBody>
          <a:bodyPr wrap="square" lIns="0" tIns="0" rIns="0" bIns="0" anchor="ctr">
            <a:spAutoFit/>
          </a:bodyPr>
          <a:lstStyle/>
          <a:p>
            <a:pPr algn="l"/>
            <a:r>
              <a:rPr sz="1800" b="1" i="0">
                <a:solidFill>
                  <a:srgbClr val="1F394D"/>
                </a:solidFill>
              </a:rPr>
              <a:t>Say it in words: </a:t>
            </a:r>
            <a:r>
              <a:rPr sz="1800" b="0" i="0">
                <a:solidFill>
                  <a:srgbClr val="1F2A33"/>
                </a:solidFill>
              </a:rPr>
              <a:t>among people of the same age, women’s odds of saying most people can be trusted are about 35% lower than men’s.</a:t>
            </a:r>
          </a:p>
        </p:txBody>
      </p:sp>
      <p:sp>
        <p:nvSpPr>
          <p:cNvPr id="17" name="TextBox 16"/>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British Social Attitudes 2010 (gb-bsa10-trust.sav), n = 1,060; outcome 1 = “most people can be trusted”.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Predicted probabilities by age and sex</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14" name="TextBox 13"/>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British Social Attitudes 2010 (gb-bsa10-trust.sav), n = 1,060; outcome 1 = “most people can be trusted”.</a:t>
            </a:r>
          </a:p>
        </p:txBody>
      </p:sp>
      <p:graphicFrame>
        <p:nvGraphicFramePr>
          <p:cNvPr id="15" name="Predicted probability chart"/>
          <p:cNvGraphicFramePr>
            <a:graphicFrameLocks noGrp="1"/>
          </p:cNvGraphicFramePr>
          <p:nvPr/>
        </p:nvGraphicFramePr>
        <p:xfrm>
          <a:off x="758952" y="1280160"/>
          <a:ext cx="69494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6" name="Rounded Rectangle 15"/>
          <p:cNvSpPr/>
          <p:nvPr/>
        </p:nvSpPr>
        <p:spPr>
          <a:xfrm>
            <a:off x="8001000" y="1371600"/>
            <a:ext cx="3364992" cy="1097280"/>
          </a:xfrm>
          <a:prstGeom prst="roundRect">
            <a:avLst>
              <a:gd name="adj" fmla="val 8000"/>
            </a:avLst>
          </a:prstGeom>
          <a:solidFill>
            <a:srgbClr val="EEF3F7"/>
          </a:solidFill>
          <a:ln>
            <a:noFill/>
          </a:ln>
        </p:spPr>
        <p:txBody>
          <a:bodyPr rtlCol="0" anchor="ctr"/>
          <a:lstStyle/>
          <a:p>
            <a:pPr algn="ctr"/>
            <a:endParaRPr/>
          </a:p>
        </p:txBody>
      </p:sp>
      <p:sp>
        <p:nvSpPr>
          <p:cNvPr id="17" name="TextBox 16"/>
          <p:cNvSpPr txBox="1"/>
          <p:nvPr/>
        </p:nvSpPr>
        <p:spPr>
          <a:xfrm>
            <a:off x="8183879" y="1463040"/>
            <a:ext cx="3017520" cy="914400"/>
          </a:xfrm>
          <a:prstGeom prst="rect">
            <a:avLst/>
          </a:prstGeom>
          <a:noFill/>
        </p:spPr>
        <p:txBody>
          <a:bodyPr wrap="square" lIns="0" tIns="0" rIns="0" bIns="0" anchor="ctr">
            <a:spAutoFit/>
          </a:bodyPr>
          <a:lstStyle/>
          <a:p>
            <a:pPr algn="l">
              <a:spcAft>
                <a:spcPts val="200"/>
              </a:spcAft>
            </a:pPr>
            <a:r>
              <a:rPr sz="1800" b="1" i="0">
                <a:solidFill>
                  <a:srgbClr val="1F394D"/>
                </a:solidFill>
              </a:rPr>
              <a:t>Men</a:t>
            </a:r>
          </a:p>
          <a:p>
            <a:pPr algn="l"/>
            <a:r>
              <a:rPr sz="1700" b="0" i="0">
                <a:solidFill>
                  <a:srgbClr val="1F2A33"/>
                </a:solidFill>
              </a:rPr>
              <a:t>47% at 20   56% at 80</a:t>
            </a:r>
          </a:p>
        </p:txBody>
      </p:sp>
      <p:sp>
        <p:nvSpPr>
          <p:cNvPr id="18" name="Rounded Rectangle 17"/>
          <p:cNvSpPr/>
          <p:nvPr/>
        </p:nvSpPr>
        <p:spPr>
          <a:xfrm>
            <a:off x="8001000" y="2606040"/>
            <a:ext cx="3364992" cy="1097280"/>
          </a:xfrm>
          <a:prstGeom prst="roundRect">
            <a:avLst>
              <a:gd name="adj" fmla="val 8000"/>
            </a:avLst>
          </a:prstGeom>
          <a:solidFill>
            <a:srgbClr val="EEF3F7"/>
          </a:solidFill>
          <a:ln>
            <a:noFill/>
          </a:ln>
        </p:spPr>
        <p:txBody>
          <a:bodyPr rtlCol="0" anchor="ctr"/>
          <a:lstStyle/>
          <a:p>
            <a:pPr algn="ctr"/>
            <a:endParaRPr/>
          </a:p>
        </p:txBody>
      </p:sp>
      <p:sp>
        <p:nvSpPr>
          <p:cNvPr id="19" name="TextBox 18"/>
          <p:cNvSpPr txBox="1"/>
          <p:nvPr/>
        </p:nvSpPr>
        <p:spPr>
          <a:xfrm>
            <a:off x="8183879" y="2697480"/>
            <a:ext cx="3017520" cy="914400"/>
          </a:xfrm>
          <a:prstGeom prst="rect">
            <a:avLst/>
          </a:prstGeom>
          <a:noFill/>
        </p:spPr>
        <p:txBody>
          <a:bodyPr wrap="square" lIns="0" tIns="0" rIns="0" bIns="0" anchor="ctr">
            <a:spAutoFit/>
          </a:bodyPr>
          <a:lstStyle/>
          <a:p>
            <a:pPr algn="l">
              <a:spcAft>
                <a:spcPts val="200"/>
              </a:spcAft>
            </a:pPr>
            <a:r>
              <a:rPr sz="1800" b="1" i="0">
                <a:solidFill>
                  <a:srgbClr val="7A5C00"/>
                </a:solidFill>
              </a:rPr>
              <a:t>Women</a:t>
            </a:r>
          </a:p>
          <a:p>
            <a:pPr algn="l"/>
            <a:r>
              <a:rPr sz="1700" b="0" i="0">
                <a:solidFill>
                  <a:srgbClr val="1F2A33"/>
                </a:solidFill>
              </a:rPr>
              <a:t>36% at 20   45% at 80</a:t>
            </a:r>
          </a:p>
        </p:txBody>
      </p:sp>
      <p:sp>
        <p:nvSpPr>
          <p:cNvPr id="20" name="Rounded Rectangle 19"/>
          <p:cNvSpPr/>
          <p:nvPr/>
        </p:nvSpPr>
        <p:spPr>
          <a:xfrm>
            <a:off x="8001000" y="3840480"/>
            <a:ext cx="3364992" cy="914400"/>
          </a:xfrm>
          <a:prstGeom prst="roundRect">
            <a:avLst>
              <a:gd name="adj" fmla="val 8000"/>
            </a:avLst>
          </a:prstGeom>
          <a:solidFill>
            <a:srgbClr val="EEF3F7"/>
          </a:solidFill>
          <a:ln>
            <a:noFill/>
          </a:ln>
        </p:spPr>
        <p:txBody>
          <a:bodyPr rtlCol="0" anchor="ctr"/>
          <a:lstStyle/>
          <a:p>
            <a:pPr algn="ctr"/>
            <a:endParaRPr/>
          </a:p>
        </p:txBody>
      </p:sp>
      <p:sp>
        <p:nvSpPr>
          <p:cNvPr id="21" name="TextBox 20"/>
          <p:cNvSpPr txBox="1"/>
          <p:nvPr/>
        </p:nvSpPr>
        <p:spPr>
          <a:xfrm>
            <a:off x="8183879" y="3931920"/>
            <a:ext cx="3017520" cy="731520"/>
          </a:xfrm>
          <a:prstGeom prst="rect">
            <a:avLst/>
          </a:prstGeom>
          <a:noFill/>
        </p:spPr>
        <p:txBody>
          <a:bodyPr wrap="square" lIns="0" tIns="0" rIns="0" bIns="0" anchor="ctr">
            <a:spAutoFit/>
          </a:bodyPr>
          <a:lstStyle/>
          <a:p>
            <a:pPr algn="l">
              <a:spcAft>
                <a:spcPts val="200"/>
              </a:spcAft>
            </a:pPr>
            <a:r>
              <a:rPr sz="1800" b="1" i="0">
                <a:solidFill>
                  <a:srgbClr val="1F394D"/>
                </a:solidFill>
              </a:rPr>
              <a:t>About 11 points</a:t>
            </a:r>
          </a:p>
          <a:p>
            <a:pPr algn="l"/>
            <a:r>
              <a:rPr sz="1700" b="0" i="0">
                <a:solidFill>
                  <a:srgbClr val="1F2A33"/>
                </a:solidFill>
              </a:rPr>
              <a:t>lower for women at every age</a:t>
            </a:r>
          </a:p>
        </p:txBody>
      </p:sp>
      <p:sp>
        <p:nvSpPr>
          <p:cNvPr id="22" name="Rounded Rectangle 21"/>
          <p:cNvSpPr/>
          <p:nvPr/>
        </p:nvSpPr>
        <p:spPr>
          <a:xfrm>
            <a:off x="8001000" y="4892040"/>
            <a:ext cx="3364992" cy="960120"/>
          </a:xfrm>
          <a:prstGeom prst="roundRect">
            <a:avLst>
              <a:gd name="adj" fmla="val 8000"/>
            </a:avLst>
          </a:prstGeom>
          <a:solidFill>
            <a:srgbClr val="1F394D"/>
          </a:solidFill>
          <a:ln>
            <a:noFill/>
          </a:ln>
        </p:spPr>
        <p:txBody>
          <a:bodyPr rtlCol="0" anchor="ctr"/>
          <a:lstStyle/>
          <a:p>
            <a:pPr algn="ctr"/>
            <a:endParaRPr/>
          </a:p>
        </p:txBody>
      </p:sp>
      <p:sp>
        <p:nvSpPr>
          <p:cNvPr id="23" name="TextBox 22"/>
          <p:cNvSpPr txBox="1"/>
          <p:nvPr/>
        </p:nvSpPr>
        <p:spPr>
          <a:xfrm>
            <a:off x="8165592" y="4937760"/>
            <a:ext cx="3063240" cy="868680"/>
          </a:xfrm>
          <a:prstGeom prst="rect">
            <a:avLst/>
          </a:prstGeom>
          <a:noFill/>
        </p:spPr>
        <p:txBody>
          <a:bodyPr wrap="square" lIns="0" tIns="0" rIns="0" bIns="0" anchor="ctr">
            <a:spAutoFit/>
          </a:bodyPr>
          <a:lstStyle/>
          <a:p>
            <a:pPr algn="l"/>
            <a:r>
              <a:rPr sz="1200" b="1" i="0">
                <a:solidFill>
                  <a:srgbClr val="B88C00"/>
                </a:solidFill>
              </a:rPr>
              <a:t>Age 0, outside the data: </a:t>
            </a:r>
            <a:r>
              <a:rPr sz="1200" b="0" i="0">
                <a:solidFill>
                  <a:srgbClr val="FFFFFF"/>
                </a:solidFill>
              </a:rPr>
              <a:t>43.6% is the intercept (−0.257) converted; 33.3% adds the sex coefficient (−0.257 − 0.437).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fit</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Rounded Rectangle 4"/>
          <p:cNvSpPr/>
          <p:nvPr/>
        </p:nvSpPr>
        <p:spPr>
          <a:xfrm>
            <a:off x="758952" y="1371600"/>
            <a:ext cx="5120640" cy="1325880"/>
          </a:xfrm>
          <a:prstGeom prst="roundRect">
            <a:avLst>
              <a:gd name="adj" fmla="val 8000"/>
            </a:avLst>
          </a:prstGeom>
          <a:solidFill>
            <a:srgbClr val="EEF3F7"/>
          </a:solidFill>
          <a:ln>
            <a:noFill/>
          </a:ln>
        </p:spPr>
        <p:txBody>
          <a:bodyPr rtlCol="0" anchor="ctr"/>
          <a:lstStyle/>
          <a:p>
            <a:pPr algn="ctr"/>
            <a:endParaRPr/>
          </a:p>
        </p:txBody>
      </p:sp>
      <p:sp>
        <p:nvSpPr>
          <p:cNvPr id="6" name="TextBox 5"/>
          <p:cNvSpPr txBox="1"/>
          <p:nvPr/>
        </p:nvSpPr>
        <p:spPr>
          <a:xfrm>
            <a:off x="960120" y="1481328"/>
            <a:ext cx="4754880" cy="1106424"/>
          </a:xfrm>
          <a:prstGeom prst="rect">
            <a:avLst/>
          </a:prstGeom>
          <a:noFill/>
        </p:spPr>
        <p:txBody>
          <a:bodyPr wrap="square" lIns="0" tIns="0" rIns="0" bIns="0" anchor="ctr">
            <a:spAutoFit/>
          </a:bodyPr>
          <a:lstStyle/>
          <a:p>
            <a:pPr algn="l">
              <a:spcAft>
                <a:spcPts val="400"/>
              </a:spcAft>
            </a:pPr>
            <a:r>
              <a:rPr sz="1700" b="1" i="0">
                <a:solidFill>
                  <a:srgbClr val="1F394D"/>
                </a:solidFill>
              </a:rPr>
              <a:t>Compared with the null model</a:t>
            </a:r>
          </a:p>
          <a:p>
            <a:pPr algn="l"/>
            <a:r>
              <a:rPr sz="1500" b="0" i="0">
                <a:solidFill>
                  <a:srgbClr val="1F2A33"/>
                </a:solidFill>
              </a:rPr>
              <a:t>ΔΧ² = 15.3 on 2 df, p &lt; .001: knowing age and sex improves on predicting 45% for everyone</a:t>
            </a:r>
          </a:p>
        </p:txBody>
      </p:sp>
      <p:sp>
        <p:nvSpPr>
          <p:cNvPr id="7" name="Rounded Rectangle 6"/>
          <p:cNvSpPr/>
          <p:nvPr/>
        </p:nvSpPr>
        <p:spPr>
          <a:xfrm>
            <a:off x="758952" y="2834640"/>
            <a:ext cx="5120640" cy="1325880"/>
          </a:xfrm>
          <a:prstGeom prst="roundRect">
            <a:avLst>
              <a:gd name="adj" fmla="val 8000"/>
            </a:avLst>
          </a:prstGeom>
          <a:solidFill>
            <a:srgbClr val="EEF3F7"/>
          </a:solidFill>
          <a:ln>
            <a:noFill/>
          </a:ln>
        </p:spPr>
        <p:txBody>
          <a:bodyPr rtlCol="0" anchor="ctr"/>
          <a:lstStyle/>
          <a:p>
            <a:pPr algn="ctr"/>
            <a:endParaRPr/>
          </a:p>
        </p:txBody>
      </p:sp>
      <p:sp>
        <p:nvSpPr>
          <p:cNvPr id="8" name="TextBox 7"/>
          <p:cNvSpPr txBox="1"/>
          <p:nvPr/>
        </p:nvSpPr>
        <p:spPr>
          <a:xfrm>
            <a:off x="960120" y="2944368"/>
            <a:ext cx="4754880" cy="1106424"/>
          </a:xfrm>
          <a:prstGeom prst="rect">
            <a:avLst/>
          </a:prstGeom>
          <a:noFill/>
        </p:spPr>
        <p:txBody>
          <a:bodyPr wrap="square" lIns="0" tIns="0" rIns="0" bIns="0" anchor="ctr">
            <a:spAutoFit/>
          </a:bodyPr>
          <a:lstStyle/>
          <a:p>
            <a:pPr algn="l">
              <a:spcAft>
                <a:spcPts val="400"/>
              </a:spcAft>
            </a:pPr>
            <a:r>
              <a:rPr sz="1700" b="1" i="0">
                <a:solidFill>
                  <a:srgbClr val="1F394D"/>
                </a:solidFill>
              </a:rPr>
              <a:t>Pseudo-R²</a:t>
            </a:r>
          </a:p>
          <a:p>
            <a:pPr algn="l"/>
            <a:r>
              <a:rPr sz="1500" b="0" i="0">
                <a:solidFill>
                  <a:srgbClr val="1F2A33"/>
                </a:solidFill>
              </a:rPr>
              <a:t>Nagelkerke R² = 0.019 (McFadden 0.010): age and sex account for very little of who trusts</a:t>
            </a:r>
          </a:p>
        </p:txBody>
      </p:sp>
      <p:sp>
        <p:nvSpPr>
          <p:cNvPr id="9" name="Rounded Rectangle 8"/>
          <p:cNvSpPr/>
          <p:nvPr/>
        </p:nvSpPr>
        <p:spPr>
          <a:xfrm>
            <a:off x="758952" y="4297680"/>
            <a:ext cx="5120640" cy="1508760"/>
          </a:xfrm>
          <a:prstGeom prst="roundRect">
            <a:avLst>
              <a:gd name="adj" fmla="val 8000"/>
            </a:avLst>
          </a:prstGeom>
          <a:solidFill>
            <a:srgbClr val="1F394D"/>
          </a:solidFill>
          <a:ln>
            <a:noFill/>
          </a:ln>
        </p:spPr>
        <p:txBody>
          <a:bodyPr rtlCol="0" anchor="ctr"/>
          <a:lstStyle/>
          <a:p>
            <a:pPr algn="ctr"/>
            <a:endParaRPr/>
          </a:p>
        </p:txBody>
      </p:sp>
      <p:sp>
        <p:nvSpPr>
          <p:cNvPr id="10" name="TextBox 9"/>
          <p:cNvSpPr txBox="1"/>
          <p:nvPr/>
        </p:nvSpPr>
        <p:spPr>
          <a:xfrm>
            <a:off x="960120" y="4407408"/>
            <a:ext cx="4754880" cy="1289304"/>
          </a:xfrm>
          <a:prstGeom prst="rect">
            <a:avLst/>
          </a:prstGeom>
          <a:noFill/>
        </p:spPr>
        <p:txBody>
          <a:bodyPr wrap="square" lIns="0" tIns="0" rIns="0" bIns="0" anchor="ctr">
            <a:spAutoFit/>
          </a:bodyPr>
          <a:lstStyle/>
          <a:p>
            <a:pPr algn="l">
              <a:spcAft>
                <a:spcPts val="400"/>
              </a:spcAft>
            </a:pPr>
            <a:r>
              <a:rPr sz="1700" b="1" i="0">
                <a:solidFill>
                  <a:srgbClr val="B88C00"/>
                </a:solidFill>
              </a:rPr>
              <a:t>Weak fit</a:t>
            </a:r>
          </a:p>
          <a:p>
            <a:pPr algn="l"/>
            <a:r>
              <a:rPr sz="1500" b="0" i="0">
                <a:solidFill>
                  <a:srgbClr val="FFFFFF"/>
                </a:solidFill>
              </a:rPr>
              <a:t>Common for attitudes. A clear difference between groups (women and men) can sit alongside poor prediction of individuals.</a:t>
            </a:r>
          </a:p>
        </p:txBody>
      </p:sp>
      <p:sp>
        <p:nvSpPr>
          <p:cNvPr id="11" name="TextBox 10"/>
          <p:cNvSpPr txBox="1"/>
          <p:nvPr/>
        </p:nvSpPr>
        <p:spPr>
          <a:xfrm>
            <a:off x="6263640" y="1325880"/>
            <a:ext cx="5120640" cy="320040"/>
          </a:xfrm>
          <a:prstGeom prst="rect">
            <a:avLst/>
          </a:prstGeom>
          <a:noFill/>
        </p:spPr>
        <p:txBody>
          <a:bodyPr wrap="square" lIns="0" tIns="0" rIns="0" bIns="0" anchor="t">
            <a:spAutoFit/>
          </a:bodyPr>
          <a:lstStyle/>
          <a:p>
            <a:pPr algn="l"/>
            <a:r>
              <a:rPr sz="1600" b="1" i="0">
                <a:solidFill>
                  <a:srgbClr val="1F394D"/>
                </a:solidFill>
              </a:rPr>
              <a:t>Classification at a cut-off of 0.5</a:t>
            </a:r>
          </a:p>
        </p:txBody>
      </p:sp>
      <p:graphicFrame>
        <p:nvGraphicFramePr>
          <p:cNvPr id="12" name="Classification table"/>
          <p:cNvGraphicFramePr>
            <a:graphicFrameLocks noGrp="1"/>
          </p:cNvGraphicFramePr>
          <p:nvPr/>
        </p:nvGraphicFramePr>
        <p:xfrm>
          <a:off x="6263640" y="1719072"/>
          <a:ext cx="5102351" cy="1536192"/>
        </p:xfrm>
        <a:graphic>
          <a:graphicData uri="http://schemas.openxmlformats.org/drawingml/2006/table">
            <a:tbl>
              <a:tblPr>
                <a:tableStyleId>{2D5ABB26-0587-4C30-8999-92F81FD0307C}</a:tableStyleId>
              </a:tblPr>
              <a:tblGrid>
                <a:gridCol w="20574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33271">
                  <a:extLst>
                    <a:ext uri="{9D8B030D-6E8A-4147-A177-3AD203B41FA5}">
                      <a16:colId xmlns:a16="http://schemas.microsoft.com/office/drawing/2014/main" val="20003"/>
                    </a:ext>
                  </a:extLst>
                </a:gridCol>
              </a:tblGrid>
              <a:tr h="384048">
                <a:tc>
                  <a:txBody>
                    <a:bodyPr/>
                    <a:lstStyle/>
                    <a:p>
                      <a:pPr algn="l"/>
                      <a:r>
                        <a:rPr sz="1400" b="1" i="0">
                          <a:solidFill>
                            <a:srgbClr val="FFFFFF"/>
                          </a:solidFill>
                        </a:rPr>
                        <a:t>Observed</a:t>
                      </a:r>
                    </a:p>
                  </a:txBody>
                  <a:tcPr marL="73152" marR="73152" marT="27432" marB="27432" anchor="ctr">
                    <a:solidFill>
                      <a:srgbClr val="1F394D"/>
                    </a:solidFill>
                  </a:tcPr>
                </a:tc>
                <a:tc>
                  <a:txBody>
                    <a:bodyPr/>
                    <a:lstStyle/>
                    <a:p>
                      <a:pPr algn="r"/>
                      <a:r>
                        <a:rPr sz="1400" b="1" i="0">
                          <a:solidFill>
                            <a:srgbClr val="FFFFFF"/>
                          </a:solidFill>
                        </a:rPr>
                        <a:t>Predicted 0</a:t>
                      </a:r>
                    </a:p>
                  </a:txBody>
                  <a:tcPr marL="73152" marR="73152" marT="27432" marB="27432" anchor="ctr">
                    <a:solidFill>
                      <a:srgbClr val="1F394D"/>
                    </a:solidFill>
                  </a:tcPr>
                </a:tc>
                <a:tc>
                  <a:txBody>
                    <a:bodyPr/>
                    <a:lstStyle/>
                    <a:p>
                      <a:pPr algn="r"/>
                      <a:r>
                        <a:rPr sz="1400" b="1" i="0">
                          <a:solidFill>
                            <a:srgbClr val="FFFFFF"/>
                          </a:solidFill>
                        </a:rPr>
                        <a:t>Predicted 1</a:t>
                      </a:r>
                    </a:p>
                  </a:txBody>
                  <a:tcPr marL="73152" marR="73152" marT="27432" marB="27432" anchor="ctr">
                    <a:solidFill>
                      <a:srgbClr val="1F394D"/>
                    </a:solidFill>
                  </a:tcPr>
                </a:tc>
                <a:tc>
                  <a:txBody>
                    <a:bodyPr/>
                    <a:lstStyle/>
                    <a:p>
                      <a:pPr algn="r"/>
                      <a:r>
                        <a:rPr sz="1400" b="1" i="0">
                          <a:solidFill>
                            <a:srgbClr val="FFFFFF"/>
                          </a:solidFill>
                        </a:rPr>
                        <a:t>% correct</a:t>
                      </a:r>
                    </a:p>
                  </a:txBody>
                  <a:tcPr marL="73152" marR="73152" marT="27432" marB="27432" anchor="ctr">
                    <a:solidFill>
                      <a:srgbClr val="1F394D"/>
                    </a:solidFill>
                  </a:tcPr>
                </a:tc>
                <a:extLst>
                  <a:ext uri="{0D108BD9-81ED-4DB2-BD59-A6C34878D82A}">
                    <a16:rowId xmlns:a16="http://schemas.microsoft.com/office/drawing/2014/main" val="10000"/>
                  </a:ext>
                </a:extLst>
              </a:tr>
              <a:tr h="384048">
                <a:tc>
                  <a:txBody>
                    <a:bodyPr/>
                    <a:lstStyle/>
                    <a:p>
                      <a:pPr algn="l"/>
                      <a:r>
                        <a:rPr sz="1400" b="0" i="0">
                          <a:solidFill>
                            <a:srgbClr val="1F2A33"/>
                          </a:solidFill>
                        </a:rPr>
                        <a:t>0 Can’t be too careful</a:t>
                      </a:r>
                    </a:p>
                  </a:txBody>
                  <a:tcPr marL="73152" marR="73152" marT="27432" marB="27432" anchor="ctr">
                    <a:solidFill>
                      <a:srgbClr val="FFFFFF"/>
                    </a:solidFill>
                  </a:tcPr>
                </a:tc>
                <a:tc>
                  <a:txBody>
                    <a:bodyPr/>
                    <a:lstStyle/>
                    <a:p>
                      <a:pPr algn="r"/>
                      <a:r>
                        <a:rPr sz="1400" b="0" i="0">
                          <a:solidFill>
                            <a:srgbClr val="1F2A33"/>
                          </a:solidFill>
                        </a:rPr>
                        <a:t>439</a:t>
                      </a:r>
                    </a:p>
                  </a:txBody>
                  <a:tcPr marL="73152" marR="73152" marT="27432" marB="27432" anchor="ctr">
                    <a:solidFill>
                      <a:srgbClr val="FFFFFF"/>
                    </a:solidFill>
                  </a:tcPr>
                </a:tc>
                <a:tc>
                  <a:txBody>
                    <a:bodyPr/>
                    <a:lstStyle/>
                    <a:p>
                      <a:pPr algn="r"/>
                      <a:r>
                        <a:rPr sz="1400" b="0" i="0">
                          <a:solidFill>
                            <a:srgbClr val="1F2A33"/>
                          </a:solidFill>
                        </a:rPr>
                        <a:t>140</a:t>
                      </a:r>
                    </a:p>
                  </a:txBody>
                  <a:tcPr marL="73152" marR="73152" marT="27432" marB="27432" anchor="ctr">
                    <a:solidFill>
                      <a:srgbClr val="FFFFFF"/>
                    </a:solidFill>
                  </a:tcPr>
                </a:tc>
                <a:tc>
                  <a:txBody>
                    <a:bodyPr/>
                    <a:lstStyle/>
                    <a:p>
                      <a:pPr algn="r"/>
                      <a:r>
                        <a:rPr sz="1400" b="0" i="0">
                          <a:solidFill>
                            <a:srgbClr val="1F2A33"/>
                          </a:solidFill>
                        </a:rPr>
                        <a:t>75.8%</a:t>
                      </a:r>
                    </a:p>
                  </a:txBody>
                  <a:tcPr marL="73152" marR="73152" marT="27432" marB="27432" anchor="ctr">
                    <a:solidFill>
                      <a:srgbClr val="FFFFFF"/>
                    </a:solidFill>
                  </a:tcPr>
                </a:tc>
                <a:extLst>
                  <a:ext uri="{0D108BD9-81ED-4DB2-BD59-A6C34878D82A}">
                    <a16:rowId xmlns:a16="http://schemas.microsoft.com/office/drawing/2014/main" val="10001"/>
                  </a:ext>
                </a:extLst>
              </a:tr>
              <a:tr h="384048">
                <a:tc>
                  <a:txBody>
                    <a:bodyPr/>
                    <a:lstStyle/>
                    <a:p>
                      <a:pPr algn="l"/>
                      <a:r>
                        <a:rPr sz="1400" b="0" i="0">
                          <a:solidFill>
                            <a:srgbClr val="1F2A33"/>
                          </a:solidFill>
                        </a:rPr>
                        <a:t>1 Trusts</a:t>
                      </a:r>
                    </a:p>
                  </a:txBody>
                  <a:tcPr marL="73152" marR="73152" marT="27432" marB="27432" anchor="ctr">
                    <a:solidFill>
                      <a:srgbClr val="EEF3F7"/>
                    </a:solidFill>
                  </a:tcPr>
                </a:tc>
                <a:tc>
                  <a:txBody>
                    <a:bodyPr/>
                    <a:lstStyle/>
                    <a:p>
                      <a:pPr algn="r"/>
                      <a:r>
                        <a:rPr sz="1400" b="0" i="0">
                          <a:solidFill>
                            <a:srgbClr val="1F2A33"/>
                          </a:solidFill>
                        </a:rPr>
                        <a:t>328</a:t>
                      </a:r>
                    </a:p>
                  </a:txBody>
                  <a:tcPr marL="73152" marR="73152" marT="27432" marB="27432" anchor="ctr">
                    <a:solidFill>
                      <a:srgbClr val="EEF3F7"/>
                    </a:solidFill>
                  </a:tcPr>
                </a:tc>
                <a:tc>
                  <a:txBody>
                    <a:bodyPr/>
                    <a:lstStyle/>
                    <a:p>
                      <a:pPr algn="r"/>
                      <a:r>
                        <a:rPr sz="1400" b="0" i="0">
                          <a:solidFill>
                            <a:srgbClr val="1F2A33"/>
                          </a:solidFill>
                        </a:rPr>
                        <a:t>153</a:t>
                      </a:r>
                    </a:p>
                  </a:txBody>
                  <a:tcPr marL="73152" marR="73152" marT="27432" marB="27432" anchor="ctr">
                    <a:solidFill>
                      <a:srgbClr val="EEF3F7"/>
                    </a:solidFill>
                  </a:tcPr>
                </a:tc>
                <a:tc>
                  <a:txBody>
                    <a:bodyPr/>
                    <a:lstStyle/>
                    <a:p>
                      <a:pPr algn="r"/>
                      <a:r>
                        <a:rPr sz="1400" b="0" i="0">
                          <a:solidFill>
                            <a:srgbClr val="1F2A33"/>
                          </a:solidFill>
                        </a:rPr>
                        <a:t>31.8%</a:t>
                      </a:r>
                    </a:p>
                  </a:txBody>
                  <a:tcPr marL="73152" marR="73152" marT="27432" marB="27432" anchor="ctr">
                    <a:solidFill>
                      <a:srgbClr val="EEF3F7"/>
                    </a:solidFill>
                  </a:tcPr>
                </a:tc>
                <a:extLst>
                  <a:ext uri="{0D108BD9-81ED-4DB2-BD59-A6C34878D82A}">
                    <a16:rowId xmlns:a16="http://schemas.microsoft.com/office/drawing/2014/main" val="10002"/>
                  </a:ext>
                </a:extLst>
              </a:tr>
              <a:tr h="384048">
                <a:tc>
                  <a:txBody>
                    <a:bodyPr/>
                    <a:lstStyle/>
                    <a:p>
                      <a:pPr algn="l"/>
                      <a:r>
                        <a:rPr sz="1400" b="1" i="0">
                          <a:solidFill>
                            <a:srgbClr val="1F2A33"/>
                          </a:solidFill>
                        </a:rPr>
                        <a:t>Overall</a:t>
                      </a:r>
                    </a:p>
                  </a:txBody>
                  <a:tcPr marL="73152" marR="73152" marT="27432" marB="27432" anchor="ctr">
                    <a:solidFill>
                      <a:srgbClr val="FFFFFF"/>
                    </a:solidFill>
                  </a:tcPr>
                </a:tc>
                <a:tc>
                  <a:txBody>
                    <a:bodyPr/>
                    <a:lstStyle/>
                    <a:p>
                      <a:pPr algn="r"/>
                      <a:endParaRPr/>
                    </a:p>
                  </a:txBody>
                  <a:tcPr marL="73152" marR="73152" marT="27432" marB="27432" anchor="ctr">
                    <a:solidFill>
                      <a:srgbClr val="FFFFFF"/>
                    </a:solidFill>
                  </a:tcPr>
                </a:tc>
                <a:tc>
                  <a:txBody>
                    <a:bodyPr/>
                    <a:lstStyle/>
                    <a:p>
                      <a:pPr algn="r"/>
                      <a:endParaRPr/>
                    </a:p>
                  </a:txBody>
                  <a:tcPr marL="73152" marR="73152" marT="27432" marB="27432" anchor="ctr">
                    <a:solidFill>
                      <a:srgbClr val="FFFFFF"/>
                    </a:solidFill>
                  </a:tcPr>
                </a:tc>
                <a:tc>
                  <a:txBody>
                    <a:bodyPr/>
                    <a:lstStyle/>
                    <a:p>
                      <a:pPr algn="r"/>
                      <a:r>
                        <a:rPr sz="1400" b="1" i="0">
                          <a:solidFill>
                            <a:srgbClr val="1F2A33"/>
                          </a:solidFill>
                        </a:rPr>
                        <a:t>55.8%</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3" name="Rounded Rectangle 12"/>
          <p:cNvSpPr/>
          <p:nvPr/>
        </p:nvSpPr>
        <p:spPr>
          <a:xfrm>
            <a:off x="6263640" y="3520440"/>
            <a:ext cx="2505456" cy="1188720"/>
          </a:xfrm>
          <a:prstGeom prst="roundRect">
            <a:avLst>
              <a:gd name="adj" fmla="val 8000"/>
            </a:avLst>
          </a:prstGeom>
          <a:solidFill>
            <a:srgbClr val="1F394D"/>
          </a:solidFill>
          <a:ln>
            <a:noFill/>
          </a:ln>
        </p:spPr>
        <p:txBody>
          <a:bodyPr rtlCol="0" anchor="ctr"/>
          <a:lstStyle/>
          <a:p>
            <a:pPr algn="ctr"/>
            <a:endParaRPr/>
          </a:p>
        </p:txBody>
      </p:sp>
      <p:sp>
        <p:nvSpPr>
          <p:cNvPr id="14" name="TextBox 13"/>
          <p:cNvSpPr txBox="1"/>
          <p:nvPr/>
        </p:nvSpPr>
        <p:spPr>
          <a:xfrm>
            <a:off x="6400800" y="3584448"/>
            <a:ext cx="2231136" cy="1060704"/>
          </a:xfrm>
          <a:prstGeom prst="rect">
            <a:avLst/>
          </a:prstGeom>
          <a:noFill/>
        </p:spPr>
        <p:txBody>
          <a:bodyPr wrap="square" lIns="0" tIns="0" rIns="0" bIns="0" anchor="ctr">
            <a:spAutoFit/>
          </a:bodyPr>
          <a:lstStyle/>
          <a:p>
            <a:pPr algn="ctr">
              <a:spcAft>
                <a:spcPts val="200"/>
              </a:spcAft>
            </a:pPr>
            <a:r>
              <a:rPr sz="1400" b="1" i="0">
                <a:solidFill>
                  <a:srgbClr val="B88C00"/>
                </a:solidFill>
              </a:rPr>
              <a:t>The model</a:t>
            </a:r>
          </a:p>
          <a:p>
            <a:pPr algn="ctr"/>
            <a:r>
              <a:rPr sz="2400" b="1" i="0">
                <a:solidFill>
                  <a:srgbClr val="FFFFFF"/>
                </a:solidFill>
              </a:rPr>
              <a:t>55.8% correct</a:t>
            </a:r>
          </a:p>
        </p:txBody>
      </p:sp>
      <p:sp>
        <p:nvSpPr>
          <p:cNvPr id="15" name="Rounded Rectangle 14"/>
          <p:cNvSpPr/>
          <p:nvPr/>
        </p:nvSpPr>
        <p:spPr>
          <a:xfrm>
            <a:off x="8860536" y="3520440"/>
            <a:ext cx="2505456" cy="1188720"/>
          </a:xfrm>
          <a:prstGeom prst="roundRect">
            <a:avLst>
              <a:gd name="adj" fmla="val 8000"/>
            </a:avLst>
          </a:prstGeom>
          <a:solidFill>
            <a:srgbClr val="EEF3F7"/>
          </a:solidFill>
          <a:ln>
            <a:noFill/>
          </a:ln>
        </p:spPr>
        <p:txBody>
          <a:bodyPr rtlCol="0" anchor="ctr"/>
          <a:lstStyle/>
          <a:p>
            <a:pPr algn="ctr"/>
            <a:endParaRPr/>
          </a:p>
        </p:txBody>
      </p:sp>
      <p:sp>
        <p:nvSpPr>
          <p:cNvPr id="16" name="TextBox 15"/>
          <p:cNvSpPr txBox="1"/>
          <p:nvPr/>
        </p:nvSpPr>
        <p:spPr>
          <a:xfrm>
            <a:off x="8997696" y="3584448"/>
            <a:ext cx="2231136" cy="1060704"/>
          </a:xfrm>
          <a:prstGeom prst="rect">
            <a:avLst/>
          </a:prstGeom>
          <a:noFill/>
        </p:spPr>
        <p:txBody>
          <a:bodyPr wrap="square" lIns="0" tIns="0" rIns="0" bIns="0" anchor="ctr">
            <a:spAutoFit/>
          </a:bodyPr>
          <a:lstStyle/>
          <a:p>
            <a:pPr algn="ctr">
              <a:spcAft>
                <a:spcPts val="200"/>
              </a:spcAft>
            </a:pPr>
            <a:r>
              <a:rPr sz="1400" b="1" i="0">
                <a:solidFill>
                  <a:srgbClr val="3F739B"/>
                </a:solidFill>
              </a:rPr>
              <a:t>Everyone predicted 0</a:t>
            </a:r>
          </a:p>
          <a:p>
            <a:pPr algn="ctr"/>
            <a:r>
              <a:rPr sz="2400" b="1" i="0">
                <a:solidFill>
                  <a:srgbClr val="1F394D"/>
                </a:solidFill>
              </a:rPr>
              <a:t>54.6% correct</a:t>
            </a:r>
          </a:p>
        </p:txBody>
      </p:sp>
      <p:sp>
        <p:nvSpPr>
          <p:cNvPr id="17" name="TextBox 16"/>
          <p:cNvSpPr txBox="1"/>
          <p:nvPr/>
        </p:nvSpPr>
        <p:spPr>
          <a:xfrm>
            <a:off x="6263640" y="4892040"/>
            <a:ext cx="5102352" cy="914400"/>
          </a:xfrm>
          <a:prstGeom prst="rect">
            <a:avLst/>
          </a:prstGeom>
          <a:noFill/>
        </p:spPr>
        <p:txBody>
          <a:bodyPr wrap="square" lIns="0" tIns="0" rIns="0" bIns="0" anchor="ctr">
            <a:spAutoFit/>
          </a:bodyPr>
          <a:lstStyle/>
          <a:p>
            <a:pPr algn="l"/>
            <a:r>
              <a:rPr sz="1400" b="0" i="0">
                <a:solidFill>
                  <a:srgbClr val="55606B"/>
                </a:solidFill>
              </a:rPr>
              <a:t>Predicted probabilities run from 36% to 59%, so the model predicts ‘trusts’ only for men older than about 41.</a:t>
            </a:r>
          </a:p>
        </p:txBody>
      </p:sp>
      <p:sp>
        <p:nvSpPr>
          <p:cNvPr id="18" name="TextBox 17"/>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British Social Attitudes 2010 (gb-bsa10-trust.sav), n = 1,060; outcome 1 = “most people can be trusted”.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Linear and logistic predictions compared</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graphicFrame>
        <p:nvGraphicFramePr>
          <p:cNvPr id="5" name="Table 4"/>
          <p:cNvGraphicFramePr>
            <a:graphicFrameLocks noGrp="1"/>
          </p:cNvGraphicFramePr>
          <p:nvPr/>
        </p:nvGraphicFramePr>
        <p:xfrm>
          <a:off x="758952" y="1325880"/>
          <a:ext cx="6035040" cy="4114800"/>
        </p:xfrm>
        <a:graphic>
          <a:graphicData uri="http://schemas.openxmlformats.org/drawingml/2006/table">
            <a:tbl>
              <a:tblPr firstRow="1">
                <a:tableStyleId>{5C22544A-7EE6-4342-B048-85BDC9FD1C3A}</a:tableStyleId>
              </a:tblPr>
              <a:tblGrid>
                <a:gridCol w="3108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57200">
                <a:tc>
                  <a:txBody>
                    <a:bodyPr/>
                    <a:lstStyle/>
                    <a:p>
                      <a:pPr algn="l"/>
                      <a:r>
                        <a:rPr sz="1500" b="1">
                          <a:solidFill>
                            <a:srgbClr val="FFFFFF"/>
                          </a:solidFill>
                        </a:rPr>
                        <a:t>Predicted probability of trusting</a:t>
                      </a:r>
                    </a:p>
                  </a:txBody>
                  <a:tcPr marT="27432" marB="27432" anchor="ctr">
                    <a:solidFill>
                      <a:srgbClr val="1F394D"/>
                    </a:solidFill>
                  </a:tcPr>
                </a:tc>
                <a:tc>
                  <a:txBody>
                    <a:bodyPr/>
                    <a:lstStyle/>
                    <a:p>
                      <a:pPr algn="r"/>
                      <a:r>
                        <a:rPr sz="1500" b="1">
                          <a:solidFill>
                            <a:srgbClr val="FFFFFF"/>
                          </a:solidFill>
                        </a:rPr>
                        <a:t>Linear model</a:t>
                      </a:r>
                    </a:p>
                  </a:txBody>
                  <a:tcPr marT="27432" marB="27432" anchor="ctr">
                    <a:solidFill>
                      <a:srgbClr val="1F394D"/>
                    </a:solidFill>
                  </a:tcPr>
                </a:tc>
                <a:tc>
                  <a:txBody>
                    <a:bodyPr/>
                    <a:lstStyle/>
                    <a:p>
                      <a:pPr algn="r"/>
                      <a:r>
                        <a:rPr sz="1500" b="1">
                          <a:solidFill>
                            <a:srgbClr val="FFFFFF"/>
                          </a:solidFill>
                        </a:rPr>
                        <a:t>Logistic model</a:t>
                      </a:r>
                    </a:p>
                  </a:txBody>
                  <a:tcPr marT="27432" marB="27432" anchor="ctr">
                    <a:solidFill>
                      <a:srgbClr val="1F394D"/>
                    </a:solidFill>
                  </a:tcPr>
                </a:tc>
                <a:extLst>
                  <a:ext uri="{0D108BD9-81ED-4DB2-BD59-A6C34878D82A}">
                    <a16:rowId xmlns:a16="http://schemas.microsoft.com/office/drawing/2014/main" val="10000"/>
                  </a:ext>
                </a:extLst>
              </a:tr>
              <a:tr h="457200">
                <a:tc>
                  <a:txBody>
                    <a:bodyPr/>
                    <a:lstStyle/>
                    <a:p>
                      <a:pPr algn="l"/>
                      <a:r>
                        <a:rPr sz="1500" b="0">
                          <a:solidFill>
                            <a:srgbClr val="1F2A33"/>
                          </a:solidFill>
                        </a:rPr>
                        <a:t>Man aged 20</a:t>
                      </a:r>
                    </a:p>
                  </a:txBody>
                  <a:tcPr marT="27432" marB="27432" anchor="ctr">
                    <a:solidFill>
                      <a:srgbClr val="FFFFFF"/>
                    </a:solidFill>
                  </a:tcPr>
                </a:tc>
                <a:tc>
                  <a:txBody>
                    <a:bodyPr/>
                    <a:lstStyle/>
                    <a:p>
                      <a:pPr algn="r"/>
                      <a:r>
                        <a:rPr sz="1500" b="0">
                          <a:solidFill>
                            <a:srgbClr val="1F2A33"/>
                          </a:solidFill>
                        </a:rPr>
                        <a:t>46.8%</a:t>
                      </a:r>
                    </a:p>
                  </a:txBody>
                  <a:tcPr marT="27432" marB="27432" anchor="ctr">
                    <a:solidFill>
                      <a:srgbClr val="FFFFFF"/>
                    </a:solidFill>
                  </a:tcPr>
                </a:tc>
                <a:tc>
                  <a:txBody>
                    <a:bodyPr/>
                    <a:lstStyle/>
                    <a:p>
                      <a:pPr algn="r"/>
                      <a:r>
                        <a:rPr sz="1500" b="0">
                          <a:solidFill>
                            <a:srgbClr val="1F2A33"/>
                          </a:solidFill>
                        </a:rPr>
                        <a:t>46.7%</a:t>
                      </a:r>
                    </a:p>
                  </a:txBody>
                  <a:tcPr marT="27432" marB="27432" anchor="ctr">
                    <a:solidFill>
                      <a:srgbClr val="FFFFFF"/>
                    </a:solidFill>
                  </a:tcPr>
                </a:tc>
                <a:extLst>
                  <a:ext uri="{0D108BD9-81ED-4DB2-BD59-A6C34878D82A}">
                    <a16:rowId xmlns:a16="http://schemas.microsoft.com/office/drawing/2014/main" val="10001"/>
                  </a:ext>
                </a:extLst>
              </a:tr>
              <a:tr h="457200">
                <a:tc>
                  <a:txBody>
                    <a:bodyPr/>
                    <a:lstStyle/>
                    <a:p>
                      <a:pPr algn="l"/>
                      <a:r>
                        <a:rPr sz="1500" b="0">
                          <a:solidFill>
                            <a:srgbClr val="1F2A33"/>
                          </a:solidFill>
                        </a:rPr>
                        <a:t>Woman aged 20</a:t>
                      </a:r>
                    </a:p>
                  </a:txBody>
                  <a:tcPr marT="27432" marB="27432" anchor="ctr">
                    <a:solidFill>
                      <a:srgbClr val="EEF3F7"/>
                    </a:solidFill>
                  </a:tcPr>
                </a:tc>
                <a:tc>
                  <a:txBody>
                    <a:bodyPr/>
                    <a:lstStyle/>
                    <a:p>
                      <a:pPr algn="r"/>
                      <a:r>
                        <a:rPr sz="1500" b="0">
                          <a:solidFill>
                            <a:srgbClr val="1F2A33"/>
                          </a:solidFill>
                        </a:rPr>
                        <a:t>36.0%</a:t>
                      </a:r>
                    </a:p>
                  </a:txBody>
                  <a:tcPr marT="27432" marB="27432" anchor="ctr">
                    <a:solidFill>
                      <a:srgbClr val="EEF3F7"/>
                    </a:solidFill>
                  </a:tcPr>
                </a:tc>
                <a:tc>
                  <a:txBody>
                    <a:bodyPr/>
                    <a:lstStyle/>
                    <a:p>
                      <a:pPr algn="r"/>
                      <a:r>
                        <a:rPr sz="1500" b="0">
                          <a:solidFill>
                            <a:srgbClr val="1F2A33"/>
                          </a:solidFill>
                        </a:rPr>
                        <a:t>36.1%</a:t>
                      </a:r>
                    </a:p>
                  </a:txBody>
                  <a:tcPr marT="27432" marB="27432" anchor="ctr">
                    <a:solidFill>
                      <a:srgbClr val="EEF3F7"/>
                    </a:solidFill>
                  </a:tcPr>
                </a:tc>
                <a:extLst>
                  <a:ext uri="{0D108BD9-81ED-4DB2-BD59-A6C34878D82A}">
                    <a16:rowId xmlns:a16="http://schemas.microsoft.com/office/drawing/2014/main" val="10002"/>
                  </a:ext>
                </a:extLst>
              </a:tr>
              <a:tr h="457200">
                <a:tc>
                  <a:txBody>
                    <a:bodyPr/>
                    <a:lstStyle/>
                    <a:p>
                      <a:pPr algn="l"/>
                      <a:r>
                        <a:rPr sz="1500" b="0">
                          <a:solidFill>
                            <a:srgbClr val="1F2A33"/>
                          </a:solidFill>
                        </a:rPr>
                        <a:t>Man aged 40</a:t>
                      </a:r>
                    </a:p>
                  </a:txBody>
                  <a:tcPr marT="27432" marB="27432" anchor="ctr">
                    <a:solidFill>
                      <a:srgbClr val="FFFFFF"/>
                    </a:solidFill>
                  </a:tcPr>
                </a:tc>
                <a:tc>
                  <a:txBody>
                    <a:bodyPr/>
                    <a:lstStyle/>
                    <a:p>
                      <a:pPr algn="r"/>
                      <a:r>
                        <a:rPr sz="1500" b="0">
                          <a:solidFill>
                            <a:srgbClr val="1F2A33"/>
                          </a:solidFill>
                        </a:rPr>
                        <a:t>49.8%</a:t>
                      </a:r>
                    </a:p>
                  </a:txBody>
                  <a:tcPr marT="27432" marB="27432" anchor="ctr">
                    <a:solidFill>
                      <a:srgbClr val="FFFFFF"/>
                    </a:solidFill>
                  </a:tcPr>
                </a:tc>
                <a:tc>
                  <a:txBody>
                    <a:bodyPr/>
                    <a:lstStyle/>
                    <a:p>
                      <a:pPr algn="r"/>
                      <a:r>
                        <a:rPr sz="1500" b="0">
                          <a:solidFill>
                            <a:srgbClr val="1F2A33"/>
                          </a:solidFill>
                        </a:rPr>
                        <a:t>49.8%</a:t>
                      </a:r>
                    </a:p>
                  </a:txBody>
                  <a:tcPr marT="27432" marB="27432" anchor="ctr">
                    <a:solidFill>
                      <a:srgbClr val="FFFFFF"/>
                    </a:solidFill>
                  </a:tcPr>
                </a:tc>
                <a:extLst>
                  <a:ext uri="{0D108BD9-81ED-4DB2-BD59-A6C34878D82A}">
                    <a16:rowId xmlns:a16="http://schemas.microsoft.com/office/drawing/2014/main" val="10003"/>
                  </a:ext>
                </a:extLst>
              </a:tr>
              <a:tr h="457200">
                <a:tc>
                  <a:txBody>
                    <a:bodyPr/>
                    <a:lstStyle/>
                    <a:p>
                      <a:pPr algn="l"/>
                      <a:r>
                        <a:rPr sz="1500" b="0">
                          <a:solidFill>
                            <a:srgbClr val="1F2A33"/>
                          </a:solidFill>
                        </a:rPr>
                        <a:t>Woman aged 40</a:t>
                      </a:r>
                    </a:p>
                  </a:txBody>
                  <a:tcPr marT="27432" marB="27432" anchor="ctr">
                    <a:solidFill>
                      <a:srgbClr val="EEF3F7"/>
                    </a:solidFill>
                  </a:tcPr>
                </a:tc>
                <a:tc>
                  <a:txBody>
                    <a:bodyPr/>
                    <a:lstStyle/>
                    <a:p>
                      <a:pPr algn="r"/>
                      <a:r>
                        <a:rPr sz="1500" b="0">
                          <a:solidFill>
                            <a:srgbClr val="1F2A33"/>
                          </a:solidFill>
                        </a:rPr>
                        <a:t>39.1%</a:t>
                      </a:r>
                    </a:p>
                  </a:txBody>
                  <a:tcPr marT="27432" marB="27432" anchor="ctr">
                    <a:solidFill>
                      <a:srgbClr val="EEF3F7"/>
                    </a:solidFill>
                  </a:tcPr>
                </a:tc>
                <a:tc>
                  <a:txBody>
                    <a:bodyPr/>
                    <a:lstStyle/>
                    <a:p>
                      <a:pPr algn="r"/>
                      <a:r>
                        <a:rPr sz="1500" b="0">
                          <a:solidFill>
                            <a:srgbClr val="1F2A33"/>
                          </a:solidFill>
                        </a:rPr>
                        <a:t>39.1%</a:t>
                      </a:r>
                    </a:p>
                  </a:txBody>
                  <a:tcPr marT="27432" marB="27432" anchor="ctr">
                    <a:solidFill>
                      <a:srgbClr val="EEF3F7"/>
                    </a:solidFill>
                  </a:tcPr>
                </a:tc>
                <a:extLst>
                  <a:ext uri="{0D108BD9-81ED-4DB2-BD59-A6C34878D82A}">
                    <a16:rowId xmlns:a16="http://schemas.microsoft.com/office/drawing/2014/main" val="10004"/>
                  </a:ext>
                </a:extLst>
              </a:tr>
              <a:tr h="457200">
                <a:tc>
                  <a:txBody>
                    <a:bodyPr/>
                    <a:lstStyle/>
                    <a:p>
                      <a:pPr algn="l"/>
                      <a:r>
                        <a:rPr sz="1500" b="0">
                          <a:solidFill>
                            <a:srgbClr val="1F2A33"/>
                          </a:solidFill>
                        </a:rPr>
                        <a:t>Man aged 60</a:t>
                      </a:r>
                    </a:p>
                  </a:txBody>
                  <a:tcPr marT="27432" marB="27432" anchor="ctr">
                    <a:solidFill>
                      <a:srgbClr val="FFFFFF"/>
                    </a:solidFill>
                  </a:tcPr>
                </a:tc>
                <a:tc>
                  <a:txBody>
                    <a:bodyPr/>
                    <a:lstStyle/>
                    <a:p>
                      <a:pPr algn="r"/>
                      <a:r>
                        <a:rPr sz="1500" b="0">
                          <a:solidFill>
                            <a:srgbClr val="1F2A33"/>
                          </a:solidFill>
                        </a:rPr>
                        <a:t>52.9%</a:t>
                      </a:r>
                    </a:p>
                  </a:txBody>
                  <a:tcPr marT="27432" marB="27432" anchor="ctr">
                    <a:solidFill>
                      <a:srgbClr val="FFFFFF"/>
                    </a:solidFill>
                  </a:tcPr>
                </a:tc>
                <a:tc>
                  <a:txBody>
                    <a:bodyPr/>
                    <a:lstStyle/>
                    <a:p>
                      <a:pPr algn="r"/>
                      <a:r>
                        <a:rPr sz="1500" b="0">
                          <a:solidFill>
                            <a:srgbClr val="1F2A33"/>
                          </a:solidFill>
                        </a:rPr>
                        <a:t>52.9%</a:t>
                      </a:r>
                    </a:p>
                  </a:txBody>
                  <a:tcPr marT="27432" marB="27432" anchor="ctr">
                    <a:solidFill>
                      <a:srgbClr val="FFFFFF"/>
                    </a:solidFill>
                  </a:tcPr>
                </a:tc>
                <a:extLst>
                  <a:ext uri="{0D108BD9-81ED-4DB2-BD59-A6C34878D82A}">
                    <a16:rowId xmlns:a16="http://schemas.microsoft.com/office/drawing/2014/main" val="10005"/>
                  </a:ext>
                </a:extLst>
              </a:tr>
              <a:tr h="457200">
                <a:tc>
                  <a:txBody>
                    <a:bodyPr/>
                    <a:lstStyle/>
                    <a:p>
                      <a:pPr algn="l"/>
                      <a:r>
                        <a:rPr sz="1500" b="0">
                          <a:solidFill>
                            <a:srgbClr val="1F2A33"/>
                          </a:solidFill>
                        </a:rPr>
                        <a:t>Woman aged 60</a:t>
                      </a:r>
                    </a:p>
                  </a:txBody>
                  <a:tcPr marT="27432" marB="27432" anchor="ctr">
                    <a:solidFill>
                      <a:srgbClr val="EEF3F7"/>
                    </a:solidFill>
                  </a:tcPr>
                </a:tc>
                <a:tc>
                  <a:txBody>
                    <a:bodyPr/>
                    <a:lstStyle/>
                    <a:p>
                      <a:pPr algn="r"/>
                      <a:r>
                        <a:rPr sz="1500" b="0">
                          <a:solidFill>
                            <a:srgbClr val="1F2A33"/>
                          </a:solidFill>
                        </a:rPr>
                        <a:t>42.1%</a:t>
                      </a:r>
                    </a:p>
                  </a:txBody>
                  <a:tcPr marT="27432" marB="27432" anchor="ctr">
                    <a:solidFill>
                      <a:srgbClr val="EEF3F7"/>
                    </a:solidFill>
                  </a:tcPr>
                </a:tc>
                <a:tc>
                  <a:txBody>
                    <a:bodyPr/>
                    <a:lstStyle/>
                    <a:p>
                      <a:pPr algn="r"/>
                      <a:r>
                        <a:rPr sz="1500" b="0">
                          <a:solidFill>
                            <a:srgbClr val="1F2A33"/>
                          </a:solidFill>
                        </a:rPr>
                        <a:t>42.1%</a:t>
                      </a:r>
                    </a:p>
                  </a:txBody>
                  <a:tcPr marT="27432" marB="27432" anchor="ctr">
                    <a:solidFill>
                      <a:srgbClr val="EEF3F7"/>
                    </a:solidFill>
                  </a:tcPr>
                </a:tc>
                <a:extLst>
                  <a:ext uri="{0D108BD9-81ED-4DB2-BD59-A6C34878D82A}">
                    <a16:rowId xmlns:a16="http://schemas.microsoft.com/office/drawing/2014/main" val="10006"/>
                  </a:ext>
                </a:extLst>
              </a:tr>
              <a:tr h="457200">
                <a:tc>
                  <a:txBody>
                    <a:bodyPr/>
                    <a:lstStyle/>
                    <a:p>
                      <a:pPr algn="l"/>
                      <a:r>
                        <a:rPr sz="1500" b="0">
                          <a:solidFill>
                            <a:srgbClr val="1F2A33"/>
                          </a:solidFill>
                        </a:rPr>
                        <a:t>Man aged 80</a:t>
                      </a:r>
                    </a:p>
                  </a:txBody>
                  <a:tcPr marT="27432" marB="27432" anchor="ctr">
                    <a:solidFill>
                      <a:srgbClr val="FFFFFF"/>
                    </a:solidFill>
                  </a:tcPr>
                </a:tc>
                <a:tc>
                  <a:txBody>
                    <a:bodyPr/>
                    <a:lstStyle/>
                    <a:p>
                      <a:pPr algn="r"/>
                      <a:r>
                        <a:rPr sz="1500" b="0">
                          <a:solidFill>
                            <a:srgbClr val="1F2A33"/>
                          </a:solidFill>
                        </a:rPr>
                        <a:t>55.9%</a:t>
                      </a:r>
                    </a:p>
                  </a:txBody>
                  <a:tcPr marT="27432" marB="27432" anchor="ctr">
                    <a:solidFill>
                      <a:srgbClr val="FFFFFF"/>
                    </a:solidFill>
                  </a:tcPr>
                </a:tc>
                <a:tc>
                  <a:txBody>
                    <a:bodyPr/>
                    <a:lstStyle/>
                    <a:p>
                      <a:pPr algn="r"/>
                      <a:r>
                        <a:rPr sz="1500" b="0">
                          <a:solidFill>
                            <a:srgbClr val="1F2A33"/>
                          </a:solidFill>
                        </a:rPr>
                        <a:t>56.0%</a:t>
                      </a:r>
                    </a:p>
                  </a:txBody>
                  <a:tcPr marT="27432" marB="27432" anchor="ctr">
                    <a:solidFill>
                      <a:srgbClr val="FFFFFF"/>
                    </a:solidFill>
                  </a:tcPr>
                </a:tc>
                <a:extLst>
                  <a:ext uri="{0D108BD9-81ED-4DB2-BD59-A6C34878D82A}">
                    <a16:rowId xmlns:a16="http://schemas.microsoft.com/office/drawing/2014/main" val="10007"/>
                  </a:ext>
                </a:extLst>
              </a:tr>
              <a:tr h="457200">
                <a:tc>
                  <a:txBody>
                    <a:bodyPr/>
                    <a:lstStyle/>
                    <a:p>
                      <a:pPr algn="l"/>
                      <a:r>
                        <a:rPr sz="1500" b="0">
                          <a:solidFill>
                            <a:srgbClr val="1F2A33"/>
                          </a:solidFill>
                        </a:rPr>
                        <a:t>Woman aged 80</a:t>
                      </a:r>
                    </a:p>
                  </a:txBody>
                  <a:tcPr marT="27432" marB="27432" anchor="ctr">
                    <a:solidFill>
                      <a:srgbClr val="EEF3F7"/>
                    </a:solidFill>
                  </a:tcPr>
                </a:tc>
                <a:tc>
                  <a:txBody>
                    <a:bodyPr/>
                    <a:lstStyle/>
                    <a:p>
                      <a:pPr algn="r"/>
                      <a:r>
                        <a:rPr sz="1500" b="0">
                          <a:solidFill>
                            <a:srgbClr val="1F2A33"/>
                          </a:solidFill>
                        </a:rPr>
                        <a:t>45.1%</a:t>
                      </a:r>
                    </a:p>
                  </a:txBody>
                  <a:tcPr marT="27432" marB="27432" anchor="ctr">
                    <a:solidFill>
                      <a:srgbClr val="EEF3F7"/>
                    </a:solidFill>
                  </a:tcPr>
                </a:tc>
                <a:tc>
                  <a:txBody>
                    <a:bodyPr/>
                    <a:lstStyle/>
                    <a:p>
                      <a:pPr algn="r"/>
                      <a:r>
                        <a:rPr sz="1500" b="0">
                          <a:solidFill>
                            <a:srgbClr val="1F2A33"/>
                          </a:solidFill>
                        </a:rPr>
                        <a:t>45.1%</a:t>
                      </a:r>
                    </a:p>
                  </a:txBody>
                  <a:tcPr marT="27432" marB="27432" anchor="ctr">
                    <a:solidFill>
                      <a:srgbClr val="EEF3F7"/>
                    </a:solidFill>
                  </a:tcPr>
                </a:tc>
                <a:extLst>
                  <a:ext uri="{0D108BD9-81ED-4DB2-BD59-A6C34878D82A}">
                    <a16:rowId xmlns:a16="http://schemas.microsoft.com/office/drawing/2014/main" val="10008"/>
                  </a:ext>
                </a:extLst>
              </a:tr>
            </a:tbl>
          </a:graphicData>
        </a:graphic>
      </p:graphicFrame>
      <p:sp>
        <p:nvSpPr>
          <p:cNvPr id="6" name="Rounded Rectangle 5"/>
          <p:cNvSpPr/>
          <p:nvPr/>
        </p:nvSpPr>
        <p:spPr>
          <a:xfrm>
            <a:off x="7178040" y="1325880"/>
            <a:ext cx="4187952" cy="2103120"/>
          </a:xfrm>
          <a:prstGeom prst="roundRect">
            <a:avLst>
              <a:gd name="adj" fmla="val 8000"/>
            </a:avLst>
          </a:prstGeom>
          <a:solidFill>
            <a:srgbClr val="EEF3F7"/>
          </a:solidFill>
          <a:ln>
            <a:noFill/>
          </a:ln>
        </p:spPr>
        <p:txBody>
          <a:bodyPr rtlCol="0" anchor="ctr"/>
          <a:lstStyle/>
          <a:p>
            <a:endParaRPr/>
          </a:p>
        </p:txBody>
      </p:sp>
      <p:sp>
        <p:nvSpPr>
          <p:cNvPr id="7" name="TextBox 6"/>
          <p:cNvSpPr txBox="1"/>
          <p:nvPr/>
        </p:nvSpPr>
        <p:spPr>
          <a:xfrm>
            <a:off x="7379208" y="1486814"/>
            <a:ext cx="3785615" cy="1781251"/>
          </a:xfrm>
          <a:prstGeom prst="rect">
            <a:avLst/>
          </a:prstGeom>
          <a:noFill/>
        </p:spPr>
        <p:txBody>
          <a:bodyPr wrap="square" lIns="0" tIns="0" rIns="0" bIns="0" anchor="t">
            <a:spAutoFit/>
          </a:bodyPr>
          <a:lstStyle/>
          <a:p>
            <a:pPr algn="l">
              <a:spcAft>
                <a:spcPts val="400"/>
              </a:spcAft>
            </a:pPr>
            <a:r>
              <a:rPr sz="2000" b="1" i="0">
                <a:solidFill>
                  <a:srgbClr val="1F394D"/>
                </a:solidFill>
              </a:rPr>
              <a:t>Between 35% and 60%</a:t>
            </a:r>
          </a:p>
          <a:p>
            <a:pPr algn="l">
              <a:spcAft>
                <a:spcPts val="400"/>
              </a:spcAft>
            </a:pPr>
            <a:r>
              <a:rPr sz="1600" b="0" i="0">
                <a:solidFill>
                  <a:srgbClr val="1F2A33"/>
                </a:solidFill>
              </a:rPr>
              <a:t>All predictions sit between 35% and 60%, where the S-curve is almost straight. The linear model says women are 10.8 points less likely to trust.</a:t>
            </a:r>
          </a:p>
        </p:txBody>
      </p:sp>
      <p:sp>
        <p:nvSpPr>
          <p:cNvPr id="8" name="Rounded Rectangle 7"/>
          <p:cNvSpPr/>
          <p:nvPr/>
        </p:nvSpPr>
        <p:spPr>
          <a:xfrm>
            <a:off x="7178040" y="3611880"/>
            <a:ext cx="4187952" cy="2286000"/>
          </a:xfrm>
          <a:prstGeom prst="roundRect">
            <a:avLst>
              <a:gd name="adj" fmla="val 8000"/>
            </a:avLst>
          </a:prstGeom>
          <a:solidFill>
            <a:srgbClr val="1F394D"/>
          </a:solidFill>
          <a:ln>
            <a:noFill/>
          </a:ln>
        </p:spPr>
        <p:txBody>
          <a:bodyPr rtlCol="0" anchor="ctr"/>
          <a:lstStyle/>
          <a:p>
            <a:endParaRPr/>
          </a:p>
        </p:txBody>
      </p:sp>
      <p:sp>
        <p:nvSpPr>
          <p:cNvPr id="9" name="TextBox 8"/>
          <p:cNvSpPr txBox="1"/>
          <p:nvPr/>
        </p:nvSpPr>
        <p:spPr>
          <a:xfrm>
            <a:off x="7379208" y="3772814"/>
            <a:ext cx="3785615" cy="1964131"/>
          </a:xfrm>
          <a:prstGeom prst="rect">
            <a:avLst/>
          </a:prstGeom>
          <a:noFill/>
        </p:spPr>
        <p:txBody>
          <a:bodyPr wrap="square" lIns="0" tIns="0" rIns="0" bIns="0" anchor="t">
            <a:spAutoFit/>
          </a:bodyPr>
          <a:lstStyle/>
          <a:p>
            <a:pPr algn="l">
              <a:spcAft>
                <a:spcPts val="400"/>
              </a:spcAft>
            </a:pPr>
            <a:r>
              <a:rPr sz="2000" b="1" i="0">
                <a:solidFill>
                  <a:srgbClr val="FFFFFF"/>
                </a:solidFill>
              </a:rPr>
              <a:t>Near 0% or 100%</a:t>
            </a:r>
          </a:p>
          <a:p>
            <a:pPr algn="l">
              <a:spcAft>
                <a:spcPts val="400"/>
              </a:spcAft>
            </a:pPr>
            <a:r>
              <a:rPr sz="1600" b="0" i="0">
                <a:solidFill>
                  <a:srgbClr val="CCDDEA"/>
                </a:solidFill>
              </a:rPr>
              <a:t>Near 0% or 100% (the car example) a straight line predicts impossible probabilities. Logistic regression always stays between 0 and 1.</a:t>
            </a:r>
          </a:p>
        </p:txBody>
      </p:sp>
      <p:sp>
        <p:nvSpPr>
          <p:cNvPr id="10" name="TextBox 9"/>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British Social Attitudes 2010 (gb-bsa10-trust.sav), n = 1,060; outcome 1 = “most people can be trusted”.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Activity: interpreting an odds ratio</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TextBox 4"/>
          <p:cNvSpPr txBox="1"/>
          <p:nvPr/>
        </p:nvSpPr>
        <p:spPr>
          <a:xfrm>
            <a:off x="758952" y="1216152"/>
            <a:ext cx="10607040" cy="457200"/>
          </a:xfrm>
          <a:prstGeom prst="rect">
            <a:avLst/>
          </a:prstGeom>
          <a:noFill/>
        </p:spPr>
        <p:txBody>
          <a:bodyPr wrap="square" lIns="0" tIns="0" rIns="0" bIns="0" anchor="t">
            <a:spAutoFit/>
          </a:bodyPr>
          <a:lstStyle/>
          <a:p>
            <a:pPr algn="l"/>
            <a:r>
              <a:rPr sz="2000" b="0" i="0">
                <a:solidFill>
                  <a:srgbClr val="55606B"/>
                </a:solidFill>
              </a:rPr>
              <a:t>The model gives women an odds ratio of 0.646. Which statements are right?</a:t>
            </a:r>
          </a:p>
        </p:txBody>
      </p:sp>
      <p:sp>
        <p:nvSpPr>
          <p:cNvPr id="6" name="Statement 1"/>
          <p:cNvSpPr/>
          <p:nvPr/>
        </p:nvSpPr>
        <p:spPr>
          <a:xfrm>
            <a:off x="758952" y="1828800"/>
            <a:ext cx="10607040" cy="896112"/>
          </a:xfrm>
          <a:prstGeom prst="roundRect">
            <a:avLst>
              <a:gd name="adj" fmla="val 8000"/>
            </a:avLst>
          </a:prstGeom>
          <a:solidFill>
            <a:srgbClr val="EEF3F7"/>
          </a:solidFill>
          <a:ln>
            <a:noFill/>
          </a:ln>
        </p:spPr>
        <p:txBody>
          <a:bodyPr rtlCol="0" anchor="ctr"/>
          <a:lstStyle/>
          <a:p>
            <a:endParaRPr/>
          </a:p>
        </p:txBody>
      </p:sp>
      <p:sp>
        <p:nvSpPr>
          <p:cNvPr id="7" name="Oval 6"/>
          <p:cNvSpPr/>
          <p:nvPr/>
        </p:nvSpPr>
        <p:spPr>
          <a:xfrm>
            <a:off x="914400" y="2002536"/>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A</a:t>
            </a:r>
          </a:p>
        </p:txBody>
      </p:sp>
      <p:sp>
        <p:nvSpPr>
          <p:cNvPr id="8" name="TextBox 7"/>
          <p:cNvSpPr txBox="1"/>
          <p:nvPr/>
        </p:nvSpPr>
        <p:spPr>
          <a:xfrm>
            <a:off x="1645919" y="1828800"/>
            <a:ext cx="9509760" cy="896112"/>
          </a:xfrm>
          <a:prstGeom prst="rect">
            <a:avLst/>
          </a:prstGeom>
          <a:noFill/>
        </p:spPr>
        <p:txBody>
          <a:bodyPr wrap="square" lIns="0" tIns="0" rIns="0" bIns="0" anchor="ctr">
            <a:spAutoFit/>
          </a:bodyPr>
          <a:lstStyle/>
          <a:p>
            <a:pPr algn="l"/>
            <a:r>
              <a:rPr sz="1900" b="0" i="0">
                <a:solidFill>
                  <a:srgbClr val="1F2A33"/>
                </a:solidFill>
              </a:rPr>
              <a:t>Women are 35% less likely than men to say most people can be trusted.</a:t>
            </a:r>
          </a:p>
        </p:txBody>
      </p:sp>
      <p:sp>
        <p:nvSpPr>
          <p:cNvPr id="9" name="Statement 2"/>
          <p:cNvSpPr/>
          <p:nvPr/>
        </p:nvSpPr>
        <p:spPr>
          <a:xfrm>
            <a:off x="758952" y="2852928"/>
            <a:ext cx="10607040" cy="896112"/>
          </a:xfrm>
          <a:prstGeom prst="roundRect">
            <a:avLst>
              <a:gd name="adj" fmla="val 8000"/>
            </a:avLst>
          </a:prstGeom>
          <a:solidFill>
            <a:srgbClr val="EEF3F7"/>
          </a:solidFill>
          <a:ln>
            <a:noFill/>
          </a:ln>
        </p:spPr>
        <p:txBody>
          <a:bodyPr rtlCol="0" anchor="ctr"/>
          <a:lstStyle/>
          <a:p>
            <a:endParaRPr/>
          </a:p>
        </p:txBody>
      </p:sp>
      <p:sp>
        <p:nvSpPr>
          <p:cNvPr id="10" name="Oval 9"/>
          <p:cNvSpPr/>
          <p:nvPr/>
        </p:nvSpPr>
        <p:spPr>
          <a:xfrm>
            <a:off x="914400" y="3026664"/>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B</a:t>
            </a:r>
          </a:p>
        </p:txBody>
      </p:sp>
      <p:sp>
        <p:nvSpPr>
          <p:cNvPr id="11" name="TextBox 10"/>
          <p:cNvSpPr txBox="1"/>
          <p:nvPr/>
        </p:nvSpPr>
        <p:spPr>
          <a:xfrm>
            <a:off x="1645919" y="2852928"/>
            <a:ext cx="9509760" cy="896112"/>
          </a:xfrm>
          <a:prstGeom prst="rect">
            <a:avLst/>
          </a:prstGeom>
          <a:noFill/>
        </p:spPr>
        <p:txBody>
          <a:bodyPr wrap="square" lIns="0" tIns="0" rIns="0" bIns="0" anchor="ctr">
            <a:spAutoFit/>
          </a:bodyPr>
          <a:lstStyle/>
          <a:p>
            <a:pPr algn="l"/>
            <a:r>
              <a:rPr sz="1900" b="0" i="0">
                <a:solidFill>
                  <a:srgbClr val="1F2A33"/>
                </a:solidFill>
              </a:rPr>
              <a:t>Among people of the same age, women’s odds of trusting are about 35% lower than men’s.</a:t>
            </a:r>
          </a:p>
        </p:txBody>
      </p:sp>
      <p:sp>
        <p:nvSpPr>
          <p:cNvPr id="12" name="Statement 3"/>
          <p:cNvSpPr/>
          <p:nvPr/>
        </p:nvSpPr>
        <p:spPr>
          <a:xfrm>
            <a:off x="758952" y="3877056"/>
            <a:ext cx="10607040" cy="896112"/>
          </a:xfrm>
          <a:prstGeom prst="roundRect">
            <a:avLst>
              <a:gd name="adj" fmla="val 8000"/>
            </a:avLst>
          </a:prstGeom>
          <a:solidFill>
            <a:srgbClr val="EEF3F7"/>
          </a:solidFill>
          <a:ln>
            <a:noFill/>
          </a:ln>
        </p:spPr>
        <p:txBody>
          <a:bodyPr rtlCol="0" anchor="ctr"/>
          <a:lstStyle/>
          <a:p>
            <a:endParaRPr/>
          </a:p>
        </p:txBody>
      </p:sp>
      <p:sp>
        <p:nvSpPr>
          <p:cNvPr id="13" name="Oval 12"/>
          <p:cNvSpPr/>
          <p:nvPr/>
        </p:nvSpPr>
        <p:spPr>
          <a:xfrm>
            <a:off x="914400" y="4050792"/>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C</a:t>
            </a:r>
          </a:p>
        </p:txBody>
      </p:sp>
      <p:sp>
        <p:nvSpPr>
          <p:cNvPr id="14" name="TextBox 13"/>
          <p:cNvSpPr txBox="1"/>
          <p:nvPr/>
        </p:nvSpPr>
        <p:spPr>
          <a:xfrm>
            <a:off x="1645919" y="3877056"/>
            <a:ext cx="9509760" cy="896112"/>
          </a:xfrm>
          <a:prstGeom prst="rect">
            <a:avLst/>
          </a:prstGeom>
          <a:noFill/>
        </p:spPr>
        <p:txBody>
          <a:bodyPr wrap="square" lIns="0" tIns="0" rIns="0" bIns="0" anchor="ctr">
            <a:spAutoFit/>
          </a:bodyPr>
          <a:lstStyle/>
          <a:p>
            <a:pPr algn="l"/>
            <a:r>
              <a:rPr sz="1900" b="0" i="0">
                <a:solidFill>
                  <a:srgbClr val="1F2A33"/>
                </a:solidFill>
              </a:rPr>
              <a:t>Being a woman causes lower social trust.</a:t>
            </a:r>
          </a:p>
        </p:txBody>
      </p:sp>
      <p:sp>
        <p:nvSpPr>
          <p:cNvPr id="15" name="Statement 4"/>
          <p:cNvSpPr/>
          <p:nvPr/>
        </p:nvSpPr>
        <p:spPr>
          <a:xfrm>
            <a:off x="758952" y="4901184"/>
            <a:ext cx="10607040" cy="896112"/>
          </a:xfrm>
          <a:prstGeom prst="roundRect">
            <a:avLst>
              <a:gd name="adj" fmla="val 8000"/>
            </a:avLst>
          </a:prstGeom>
          <a:solidFill>
            <a:srgbClr val="EEF3F7"/>
          </a:solidFill>
          <a:ln>
            <a:noFill/>
          </a:ln>
        </p:spPr>
        <p:txBody>
          <a:bodyPr rtlCol="0" anchor="ctr"/>
          <a:lstStyle/>
          <a:p>
            <a:endParaRPr/>
          </a:p>
        </p:txBody>
      </p:sp>
      <p:sp>
        <p:nvSpPr>
          <p:cNvPr id="16" name="Oval 15"/>
          <p:cNvSpPr/>
          <p:nvPr/>
        </p:nvSpPr>
        <p:spPr>
          <a:xfrm>
            <a:off x="914400" y="5074920"/>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D</a:t>
            </a:r>
          </a:p>
        </p:txBody>
      </p:sp>
      <p:sp>
        <p:nvSpPr>
          <p:cNvPr id="17" name="TextBox 16"/>
          <p:cNvSpPr txBox="1"/>
          <p:nvPr/>
        </p:nvSpPr>
        <p:spPr>
          <a:xfrm>
            <a:off x="1645919" y="4901184"/>
            <a:ext cx="9509760" cy="896112"/>
          </a:xfrm>
          <a:prstGeom prst="rect">
            <a:avLst/>
          </a:prstGeom>
          <a:noFill/>
        </p:spPr>
        <p:txBody>
          <a:bodyPr wrap="square" lIns="0" tIns="0" rIns="0" bIns="0" anchor="ctr">
            <a:spAutoFit/>
          </a:bodyPr>
          <a:lstStyle/>
          <a:p>
            <a:pPr algn="l"/>
            <a:r>
              <a:rPr sz="1900" b="0" i="0">
                <a:solidFill>
                  <a:srgbClr val="1F2A33"/>
                </a:solidFill>
              </a:rPr>
              <a:t>Sex explains 35% of the variation in trust.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Answers: interpreting an odds ratio</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TextBox 4"/>
          <p:cNvSpPr txBox="1"/>
          <p:nvPr/>
        </p:nvSpPr>
        <p:spPr>
          <a:xfrm>
            <a:off x="758952" y="1216152"/>
            <a:ext cx="10607040" cy="457200"/>
          </a:xfrm>
          <a:prstGeom prst="rect">
            <a:avLst/>
          </a:prstGeom>
          <a:noFill/>
        </p:spPr>
        <p:txBody>
          <a:bodyPr wrap="square" lIns="0" tIns="0" rIns="0" bIns="0" anchor="t">
            <a:spAutoFit/>
          </a:bodyPr>
          <a:lstStyle/>
          <a:p>
            <a:pPr algn="l"/>
            <a:r>
              <a:rPr sz="2000" b="0" i="0">
                <a:solidFill>
                  <a:srgbClr val="55606B"/>
                </a:solidFill>
              </a:rPr>
              <a:t>The model gives women an odds ratio of 0.646. Which statements are right?</a:t>
            </a:r>
          </a:p>
        </p:txBody>
      </p:sp>
      <p:sp>
        <p:nvSpPr>
          <p:cNvPr id="6" name="Statement 1"/>
          <p:cNvSpPr/>
          <p:nvPr/>
        </p:nvSpPr>
        <p:spPr>
          <a:xfrm>
            <a:off x="758952" y="1828800"/>
            <a:ext cx="10607040" cy="896112"/>
          </a:xfrm>
          <a:prstGeom prst="roundRect">
            <a:avLst>
              <a:gd name="adj" fmla="val 8000"/>
            </a:avLst>
          </a:prstGeom>
          <a:solidFill>
            <a:srgbClr val="EEF3F7"/>
          </a:solidFill>
          <a:ln>
            <a:noFill/>
          </a:ln>
        </p:spPr>
        <p:txBody>
          <a:bodyPr rtlCol="0" anchor="ctr"/>
          <a:lstStyle/>
          <a:p>
            <a:endParaRPr/>
          </a:p>
        </p:txBody>
      </p:sp>
      <p:sp>
        <p:nvSpPr>
          <p:cNvPr id="7" name="Oval 6"/>
          <p:cNvSpPr/>
          <p:nvPr/>
        </p:nvSpPr>
        <p:spPr>
          <a:xfrm>
            <a:off x="914400" y="2002536"/>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A</a:t>
            </a:r>
          </a:p>
        </p:txBody>
      </p:sp>
      <p:sp>
        <p:nvSpPr>
          <p:cNvPr id="8" name="TextBox 7"/>
          <p:cNvSpPr txBox="1"/>
          <p:nvPr/>
        </p:nvSpPr>
        <p:spPr>
          <a:xfrm>
            <a:off x="1645919" y="1874519"/>
            <a:ext cx="6949440" cy="804672"/>
          </a:xfrm>
          <a:prstGeom prst="rect">
            <a:avLst/>
          </a:prstGeom>
          <a:noFill/>
        </p:spPr>
        <p:txBody>
          <a:bodyPr wrap="square" lIns="0" tIns="0" rIns="0" bIns="0" anchor="ctr">
            <a:spAutoFit/>
          </a:bodyPr>
          <a:lstStyle/>
          <a:p>
            <a:pPr algn="l"/>
            <a:r>
              <a:rPr sz="1700" b="0" i="0">
                <a:solidFill>
                  <a:srgbClr val="1F2A33"/>
                </a:solidFill>
              </a:rPr>
              <a:t>Women are 35% less likely than men to say most people can be trusted.</a:t>
            </a:r>
          </a:p>
          <a:p>
            <a:pPr algn="l"/>
            <a:r>
              <a:rPr sz="1400" b="0" i="0">
                <a:solidFill>
                  <a:srgbClr val="55606B"/>
                </a:solidFill>
              </a:rPr>
              <a:t>That 35% is about the odds. In probabilities the gap is ~11 points (e.g. 50% vs 39% at age 40).</a:t>
            </a:r>
          </a:p>
        </p:txBody>
      </p:sp>
      <p:sp>
        <p:nvSpPr>
          <p:cNvPr id="9" name="Verdict 1"/>
          <p:cNvSpPr/>
          <p:nvPr/>
        </p:nvSpPr>
        <p:spPr>
          <a:xfrm>
            <a:off x="8823960" y="2011680"/>
            <a:ext cx="2377440" cy="530352"/>
          </a:xfrm>
          <a:prstGeom prst="roundRect">
            <a:avLst>
              <a:gd name="adj" fmla="val 8000"/>
            </a:avLst>
          </a:prstGeom>
          <a:solidFill>
            <a:srgbClr val="FFFFFF"/>
          </a:solidFill>
          <a:ln w="15875">
            <a:solidFill>
              <a:srgbClr val="865640"/>
            </a:solidFill>
          </a:ln>
        </p:spPr>
        <p:txBody>
          <a:bodyPr rtlCol="0" anchor="ctr"/>
          <a:lstStyle/>
          <a:p>
            <a:endParaRPr/>
          </a:p>
        </p:txBody>
      </p:sp>
      <p:sp>
        <p:nvSpPr>
          <p:cNvPr id="10" name="TextBox 9"/>
          <p:cNvSpPr txBox="1"/>
          <p:nvPr/>
        </p:nvSpPr>
        <p:spPr>
          <a:xfrm>
            <a:off x="8823960" y="2011680"/>
            <a:ext cx="2377440" cy="530352"/>
          </a:xfrm>
          <a:prstGeom prst="rect">
            <a:avLst/>
          </a:prstGeom>
          <a:noFill/>
        </p:spPr>
        <p:txBody>
          <a:bodyPr wrap="square" lIns="0" tIns="0" rIns="0" bIns="0" anchor="ctr">
            <a:spAutoFit/>
          </a:bodyPr>
          <a:lstStyle/>
          <a:p>
            <a:pPr algn="ctr"/>
            <a:r>
              <a:rPr sz="1800" b="1" i="0">
                <a:solidFill>
                  <a:srgbClr val="865640"/>
                </a:solidFill>
              </a:rPr>
              <a:t>Not quite</a:t>
            </a:r>
          </a:p>
        </p:txBody>
      </p:sp>
      <p:sp>
        <p:nvSpPr>
          <p:cNvPr id="11" name="Statement 2"/>
          <p:cNvSpPr/>
          <p:nvPr/>
        </p:nvSpPr>
        <p:spPr>
          <a:xfrm>
            <a:off x="758952" y="2852928"/>
            <a:ext cx="10607040" cy="896112"/>
          </a:xfrm>
          <a:prstGeom prst="roundRect">
            <a:avLst>
              <a:gd name="adj" fmla="val 8000"/>
            </a:avLst>
          </a:prstGeom>
          <a:solidFill>
            <a:srgbClr val="EEF3F7"/>
          </a:solidFill>
          <a:ln>
            <a:noFill/>
          </a:ln>
        </p:spPr>
        <p:txBody>
          <a:bodyPr rtlCol="0" anchor="ctr"/>
          <a:lstStyle/>
          <a:p>
            <a:endParaRPr/>
          </a:p>
        </p:txBody>
      </p:sp>
      <p:sp>
        <p:nvSpPr>
          <p:cNvPr id="12" name="Oval 11"/>
          <p:cNvSpPr/>
          <p:nvPr/>
        </p:nvSpPr>
        <p:spPr>
          <a:xfrm>
            <a:off x="914400" y="3026664"/>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B</a:t>
            </a:r>
          </a:p>
        </p:txBody>
      </p:sp>
      <p:sp>
        <p:nvSpPr>
          <p:cNvPr id="13" name="TextBox 12"/>
          <p:cNvSpPr txBox="1"/>
          <p:nvPr/>
        </p:nvSpPr>
        <p:spPr>
          <a:xfrm>
            <a:off x="1645919" y="2898648"/>
            <a:ext cx="6949440" cy="804672"/>
          </a:xfrm>
          <a:prstGeom prst="rect">
            <a:avLst/>
          </a:prstGeom>
          <a:noFill/>
        </p:spPr>
        <p:txBody>
          <a:bodyPr wrap="square" lIns="0" tIns="0" rIns="0" bIns="0" anchor="ctr">
            <a:spAutoFit/>
          </a:bodyPr>
          <a:lstStyle/>
          <a:p>
            <a:pPr algn="l"/>
            <a:r>
              <a:rPr sz="1700" b="0" i="0">
                <a:solidFill>
                  <a:srgbClr val="1F2A33"/>
                </a:solidFill>
              </a:rPr>
              <a:t>Among people of the same age, women’s odds of trusting are about 35% lower than men’s.</a:t>
            </a:r>
          </a:p>
          <a:p>
            <a:pPr algn="l"/>
            <a:r>
              <a:rPr sz="1400" b="0" i="0">
                <a:solidFill>
                  <a:srgbClr val="55606B"/>
                </a:solidFill>
              </a:rPr>
              <a:t>Odds ratio 0.646, adjusted for age.</a:t>
            </a:r>
          </a:p>
        </p:txBody>
      </p:sp>
      <p:sp>
        <p:nvSpPr>
          <p:cNvPr id="14" name="Verdict 2"/>
          <p:cNvSpPr/>
          <p:nvPr/>
        </p:nvSpPr>
        <p:spPr>
          <a:xfrm>
            <a:off x="8823960" y="3035808"/>
            <a:ext cx="2377440" cy="530352"/>
          </a:xfrm>
          <a:prstGeom prst="roundRect">
            <a:avLst>
              <a:gd name="adj" fmla="val 8000"/>
            </a:avLst>
          </a:prstGeom>
          <a:solidFill>
            <a:srgbClr val="2E6B45"/>
          </a:solidFill>
          <a:ln>
            <a:noFill/>
          </a:ln>
        </p:spPr>
        <p:txBody>
          <a:bodyPr rtlCol="0" anchor="ctr"/>
          <a:lstStyle/>
          <a:p>
            <a:endParaRPr/>
          </a:p>
        </p:txBody>
      </p:sp>
      <p:sp>
        <p:nvSpPr>
          <p:cNvPr id="15" name="TextBox 14"/>
          <p:cNvSpPr txBox="1"/>
          <p:nvPr/>
        </p:nvSpPr>
        <p:spPr>
          <a:xfrm>
            <a:off x="8823960" y="3035808"/>
            <a:ext cx="2377440" cy="530352"/>
          </a:xfrm>
          <a:prstGeom prst="rect">
            <a:avLst/>
          </a:prstGeom>
          <a:noFill/>
        </p:spPr>
        <p:txBody>
          <a:bodyPr wrap="square" lIns="0" tIns="0" rIns="0" bIns="0" anchor="ctr">
            <a:spAutoFit/>
          </a:bodyPr>
          <a:lstStyle/>
          <a:p>
            <a:pPr algn="ctr"/>
            <a:r>
              <a:rPr sz="1800" b="1" i="0">
                <a:solidFill>
                  <a:srgbClr val="FFFFFF"/>
                </a:solidFill>
              </a:rPr>
              <a:t>Right</a:t>
            </a:r>
          </a:p>
        </p:txBody>
      </p:sp>
      <p:sp>
        <p:nvSpPr>
          <p:cNvPr id="16" name="Statement 3"/>
          <p:cNvSpPr/>
          <p:nvPr/>
        </p:nvSpPr>
        <p:spPr>
          <a:xfrm>
            <a:off x="758952" y="3877056"/>
            <a:ext cx="10607040" cy="896112"/>
          </a:xfrm>
          <a:prstGeom prst="roundRect">
            <a:avLst>
              <a:gd name="adj" fmla="val 8000"/>
            </a:avLst>
          </a:prstGeom>
          <a:solidFill>
            <a:srgbClr val="EEF3F7"/>
          </a:solidFill>
          <a:ln>
            <a:noFill/>
          </a:ln>
        </p:spPr>
        <p:txBody>
          <a:bodyPr rtlCol="0" anchor="ctr"/>
          <a:lstStyle/>
          <a:p>
            <a:endParaRPr/>
          </a:p>
        </p:txBody>
      </p:sp>
      <p:sp>
        <p:nvSpPr>
          <p:cNvPr id="17" name="Oval 16"/>
          <p:cNvSpPr/>
          <p:nvPr/>
        </p:nvSpPr>
        <p:spPr>
          <a:xfrm>
            <a:off x="914400" y="4050792"/>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C</a:t>
            </a:r>
          </a:p>
        </p:txBody>
      </p:sp>
      <p:sp>
        <p:nvSpPr>
          <p:cNvPr id="18" name="TextBox 17"/>
          <p:cNvSpPr txBox="1"/>
          <p:nvPr/>
        </p:nvSpPr>
        <p:spPr>
          <a:xfrm>
            <a:off x="1645919" y="3922776"/>
            <a:ext cx="6949440" cy="804672"/>
          </a:xfrm>
          <a:prstGeom prst="rect">
            <a:avLst/>
          </a:prstGeom>
          <a:noFill/>
        </p:spPr>
        <p:txBody>
          <a:bodyPr wrap="square" lIns="0" tIns="0" rIns="0" bIns="0" anchor="ctr">
            <a:spAutoFit/>
          </a:bodyPr>
          <a:lstStyle/>
          <a:p>
            <a:pPr algn="l"/>
            <a:r>
              <a:rPr sz="1700" b="0" i="0">
                <a:solidFill>
                  <a:srgbClr val="1F2A33"/>
                </a:solidFill>
              </a:rPr>
              <a:t>Being a woman causes lower social trust.</a:t>
            </a:r>
          </a:p>
          <a:p>
            <a:pPr algn="l"/>
            <a:r>
              <a:rPr sz="1400" b="0" i="0">
                <a:solidFill>
                  <a:srgbClr val="55606B"/>
                </a:solidFill>
              </a:rPr>
              <a:t>This is an association in survey data, adjusted only for age.</a:t>
            </a:r>
          </a:p>
        </p:txBody>
      </p:sp>
      <p:sp>
        <p:nvSpPr>
          <p:cNvPr id="19" name="Verdict 3"/>
          <p:cNvSpPr/>
          <p:nvPr/>
        </p:nvSpPr>
        <p:spPr>
          <a:xfrm>
            <a:off x="8823960" y="4059936"/>
            <a:ext cx="2377440" cy="530352"/>
          </a:xfrm>
          <a:prstGeom prst="roundRect">
            <a:avLst>
              <a:gd name="adj" fmla="val 8000"/>
            </a:avLst>
          </a:prstGeom>
          <a:solidFill>
            <a:srgbClr val="FFFFFF"/>
          </a:solidFill>
          <a:ln w="15875">
            <a:solidFill>
              <a:srgbClr val="865640"/>
            </a:solidFill>
          </a:ln>
        </p:spPr>
        <p:txBody>
          <a:bodyPr rtlCol="0" anchor="ctr"/>
          <a:lstStyle/>
          <a:p>
            <a:endParaRPr/>
          </a:p>
        </p:txBody>
      </p:sp>
      <p:sp>
        <p:nvSpPr>
          <p:cNvPr id="20" name="TextBox 19"/>
          <p:cNvSpPr txBox="1"/>
          <p:nvPr/>
        </p:nvSpPr>
        <p:spPr>
          <a:xfrm>
            <a:off x="8823960" y="4059936"/>
            <a:ext cx="2377440" cy="530352"/>
          </a:xfrm>
          <a:prstGeom prst="rect">
            <a:avLst/>
          </a:prstGeom>
          <a:noFill/>
        </p:spPr>
        <p:txBody>
          <a:bodyPr wrap="square" lIns="0" tIns="0" rIns="0" bIns="0" anchor="ctr">
            <a:spAutoFit/>
          </a:bodyPr>
          <a:lstStyle/>
          <a:p>
            <a:pPr algn="ctr"/>
            <a:r>
              <a:rPr sz="1800" b="1" i="0">
                <a:solidFill>
                  <a:srgbClr val="865640"/>
                </a:solidFill>
              </a:rPr>
              <a:t>Not quite</a:t>
            </a:r>
          </a:p>
        </p:txBody>
      </p:sp>
      <p:sp>
        <p:nvSpPr>
          <p:cNvPr id="21" name="Statement 4"/>
          <p:cNvSpPr/>
          <p:nvPr/>
        </p:nvSpPr>
        <p:spPr>
          <a:xfrm>
            <a:off x="758952" y="4901184"/>
            <a:ext cx="10607040" cy="896112"/>
          </a:xfrm>
          <a:prstGeom prst="roundRect">
            <a:avLst>
              <a:gd name="adj" fmla="val 8000"/>
            </a:avLst>
          </a:prstGeom>
          <a:solidFill>
            <a:srgbClr val="EEF3F7"/>
          </a:solidFill>
          <a:ln>
            <a:noFill/>
          </a:ln>
        </p:spPr>
        <p:txBody>
          <a:bodyPr rtlCol="0" anchor="ctr"/>
          <a:lstStyle/>
          <a:p>
            <a:endParaRPr/>
          </a:p>
        </p:txBody>
      </p:sp>
      <p:sp>
        <p:nvSpPr>
          <p:cNvPr id="22" name="Oval 21"/>
          <p:cNvSpPr/>
          <p:nvPr/>
        </p:nvSpPr>
        <p:spPr>
          <a:xfrm>
            <a:off x="914400" y="5074920"/>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D</a:t>
            </a:r>
          </a:p>
        </p:txBody>
      </p:sp>
      <p:sp>
        <p:nvSpPr>
          <p:cNvPr id="23" name="TextBox 22"/>
          <p:cNvSpPr txBox="1"/>
          <p:nvPr/>
        </p:nvSpPr>
        <p:spPr>
          <a:xfrm>
            <a:off x="1645919" y="4946904"/>
            <a:ext cx="6949440" cy="804672"/>
          </a:xfrm>
          <a:prstGeom prst="rect">
            <a:avLst/>
          </a:prstGeom>
          <a:noFill/>
        </p:spPr>
        <p:txBody>
          <a:bodyPr wrap="square" lIns="0" tIns="0" rIns="0" bIns="0" anchor="ctr">
            <a:spAutoFit/>
          </a:bodyPr>
          <a:lstStyle/>
          <a:p>
            <a:pPr algn="l"/>
            <a:r>
              <a:rPr sz="1700" b="0" i="0">
                <a:solidFill>
                  <a:srgbClr val="1F2A33"/>
                </a:solidFill>
              </a:rPr>
              <a:t>Sex explains 35% of the variation in trust.</a:t>
            </a:r>
          </a:p>
          <a:p>
            <a:pPr algn="l"/>
            <a:r>
              <a:rPr sz="1400" b="0" i="0">
                <a:solidFill>
                  <a:srgbClr val="55606B"/>
                </a:solidFill>
              </a:rPr>
              <a:t>Model fit is tiny: Nagelkerke R² = 0.019.</a:t>
            </a:r>
          </a:p>
        </p:txBody>
      </p:sp>
      <p:sp>
        <p:nvSpPr>
          <p:cNvPr id="24" name="Verdict 4"/>
          <p:cNvSpPr/>
          <p:nvPr/>
        </p:nvSpPr>
        <p:spPr>
          <a:xfrm>
            <a:off x="8823960" y="5084064"/>
            <a:ext cx="2377440" cy="530352"/>
          </a:xfrm>
          <a:prstGeom prst="roundRect">
            <a:avLst>
              <a:gd name="adj" fmla="val 8000"/>
            </a:avLst>
          </a:prstGeom>
          <a:solidFill>
            <a:srgbClr val="FFFFFF"/>
          </a:solidFill>
          <a:ln w="15875">
            <a:solidFill>
              <a:srgbClr val="865640"/>
            </a:solidFill>
          </a:ln>
        </p:spPr>
        <p:txBody>
          <a:bodyPr rtlCol="0" anchor="ctr"/>
          <a:lstStyle/>
          <a:p>
            <a:endParaRPr/>
          </a:p>
        </p:txBody>
      </p:sp>
      <p:sp>
        <p:nvSpPr>
          <p:cNvPr id="25" name="TextBox 24"/>
          <p:cNvSpPr txBox="1"/>
          <p:nvPr/>
        </p:nvSpPr>
        <p:spPr>
          <a:xfrm>
            <a:off x="8823960" y="5084064"/>
            <a:ext cx="2377440" cy="530352"/>
          </a:xfrm>
          <a:prstGeom prst="rect">
            <a:avLst/>
          </a:prstGeom>
          <a:noFill/>
        </p:spPr>
        <p:txBody>
          <a:bodyPr wrap="square" lIns="0" tIns="0" rIns="0" bIns="0" anchor="ctr">
            <a:spAutoFit/>
          </a:bodyPr>
          <a:lstStyle/>
          <a:p>
            <a:pPr algn="ctr"/>
            <a:r>
              <a:rPr sz="1800" b="1" i="0">
                <a:solidFill>
                  <a:srgbClr val="865640"/>
                </a:solidFill>
              </a:rPr>
              <a:t>Not quite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Activity: dichotomising a scale</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graphicFrame>
        <p:nvGraphicFramePr>
          <p:cNvPr id="5" name="PeopTrs3 distribution chart"/>
          <p:cNvGraphicFramePr>
            <a:graphicFrameLocks noGrp="1"/>
          </p:cNvGraphicFramePr>
          <p:nvPr/>
        </p:nvGraphicFramePr>
        <p:xfrm>
          <a:off x="758952" y="1280160"/>
          <a:ext cx="658368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758952" y="5806440"/>
            <a:ext cx="6583680" cy="274320"/>
          </a:xfrm>
          <a:prstGeom prst="rect">
            <a:avLst/>
          </a:prstGeom>
          <a:noFill/>
        </p:spPr>
        <p:txBody>
          <a:bodyPr wrap="square" lIns="0" tIns="0" rIns="0" bIns="0" anchor="t">
            <a:spAutoFit/>
          </a:bodyPr>
          <a:lstStyle/>
          <a:p>
            <a:pPr algn="l"/>
            <a:r>
              <a:rPr sz="1300" b="0" i="0">
                <a:solidFill>
                  <a:srgbClr val="55606B"/>
                </a:solidFill>
              </a:rPr>
              <a:t>BSA 2010 self-completion question (PeopTrs3), n = 892</a:t>
            </a:r>
          </a:p>
        </p:txBody>
      </p:sp>
      <p:sp>
        <p:nvSpPr>
          <p:cNvPr id="7" name="Option A"/>
          <p:cNvSpPr/>
          <p:nvPr/>
        </p:nvSpPr>
        <p:spPr>
          <a:xfrm>
            <a:off x="7680960" y="1371600"/>
            <a:ext cx="3685032" cy="1280160"/>
          </a:xfrm>
          <a:prstGeom prst="roundRect">
            <a:avLst>
              <a:gd name="adj" fmla="val 8000"/>
            </a:avLst>
          </a:prstGeom>
          <a:solidFill>
            <a:srgbClr val="EEF3F7"/>
          </a:solidFill>
          <a:ln>
            <a:noFill/>
          </a:ln>
        </p:spPr>
        <p:txBody>
          <a:bodyPr rtlCol="0" anchor="ctr"/>
          <a:lstStyle/>
          <a:p>
            <a:endParaRPr/>
          </a:p>
        </p:txBody>
      </p:sp>
      <p:sp>
        <p:nvSpPr>
          <p:cNvPr id="8" name="TextBox 7"/>
          <p:cNvSpPr txBox="1"/>
          <p:nvPr/>
        </p:nvSpPr>
        <p:spPr>
          <a:xfrm>
            <a:off x="7863840" y="1481328"/>
            <a:ext cx="3383280" cy="365760"/>
          </a:xfrm>
          <a:prstGeom prst="rect">
            <a:avLst/>
          </a:prstGeom>
          <a:noFill/>
        </p:spPr>
        <p:txBody>
          <a:bodyPr wrap="square" lIns="0" tIns="0" rIns="0" bIns="0" anchor="t">
            <a:spAutoFit/>
          </a:bodyPr>
          <a:lstStyle/>
          <a:p>
            <a:pPr algn="l"/>
            <a:r>
              <a:rPr sz="1500" b="1" i="0">
                <a:solidFill>
                  <a:srgbClr val="1F394D"/>
                </a:solidFill>
              </a:rPr>
              <a:t>Option A</a:t>
            </a:r>
          </a:p>
        </p:txBody>
      </p:sp>
      <p:sp>
        <p:nvSpPr>
          <p:cNvPr id="9" name="TextBox 8"/>
          <p:cNvSpPr txBox="1"/>
          <p:nvPr/>
        </p:nvSpPr>
        <p:spPr>
          <a:xfrm>
            <a:off x="7863840" y="1828800"/>
            <a:ext cx="3383280" cy="731520"/>
          </a:xfrm>
          <a:prstGeom prst="rect">
            <a:avLst/>
          </a:prstGeom>
          <a:noFill/>
        </p:spPr>
        <p:txBody>
          <a:bodyPr wrap="square" lIns="0" tIns="0" rIns="0" bIns="0" anchor="t">
            <a:spAutoFit/>
          </a:bodyPr>
          <a:lstStyle/>
          <a:p>
            <a:pPr algn="l"/>
            <a:r>
              <a:rPr sz="2200" b="1" i="0">
                <a:solidFill>
                  <a:srgbClr val="1F2A33"/>
                </a:solidFill>
              </a:rPr>
              <a:t>4–5 = trusts</a:t>
            </a:r>
            <a:r>
              <a:rPr sz="1500" b="0" i="0">
                <a:solidFill>
                  <a:srgbClr val="55606B"/>
                </a:solidFill>
              </a:rPr>
              <a:t>   39.6% trust</a:t>
            </a:r>
          </a:p>
        </p:txBody>
      </p:sp>
      <p:sp>
        <p:nvSpPr>
          <p:cNvPr id="10" name="Option B"/>
          <p:cNvSpPr/>
          <p:nvPr/>
        </p:nvSpPr>
        <p:spPr>
          <a:xfrm>
            <a:off x="7680960" y="2834640"/>
            <a:ext cx="3685032" cy="128016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7863840" y="2944368"/>
            <a:ext cx="3383280" cy="365760"/>
          </a:xfrm>
          <a:prstGeom prst="rect">
            <a:avLst/>
          </a:prstGeom>
          <a:noFill/>
        </p:spPr>
        <p:txBody>
          <a:bodyPr wrap="square" lIns="0" tIns="0" rIns="0" bIns="0" anchor="t">
            <a:spAutoFit/>
          </a:bodyPr>
          <a:lstStyle/>
          <a:p>
            <a:pPr algn="l"/>
            <a:r>
              <a:rPr sz="1500" b="1" i="0">
                <a:solidFill>
                  <a:srgbClr val="7A5C00"/>
                </a:solidFill>
              </a:rPr>
              <a:t>Option B</a:t>
            </a:r>
          </a:p>
        </p:txBody>
      </p:sp>
      <p:sp>
        <p:nvSpPr>
          <p:cNvPr id="12" name="TextBox 11"/>
          <p:cNvSpPr txBox="1"/>
          <p:nvPr/>
        </p:nvSpPr>
        <p:spPr>
          <a:xfrm>
            <a:off x="7863840" y="3291840"/>
            <a:ext cx="3383280" cy="731520"/>
          </a:xfrm>
          <a:prstGeom prst="rect">
            <a:avLst/>
          </a:prstGeom>
          <a:noFill/>
        </p:spPr>
        <p:txBody>
          <a:bodyPr wrap="square" lIns="0" tIns="0" rIns="0" bIns="0" anchor="t">
            <a:spAutoFit/>
          </a:bodyPr>
          <a:lstStyle/>
          <a:p>
            <a:pPr algn="l"/>
            <a:r>
              <a:rPr sz="2200" b="1" i="0">
                <a:solidFill>
                  <a:srgbClr val="1F2A33"/>
                </a:solidFill>
              </a:rPr>
              <a:t>3–5 = trusts</a:t>
            </a:r>
            <a:r>
              <a:rPr sz="1500" b="0" i="0">
                <a:solidFill>
                  <a:srgbClr val="55606B"/>
                </a:solidFill>
              </a:rPr>
              <a:t>   67.8% trust</a:t>
            </a:r>
          </a:p>
        </p:txBody>
      </p:sp>
      <p:sp>
        <p:nvSpPr>
          <p:cNvPr id="13" name="Question card"/>
          <p:cNvSpPr/>
          <p:nvPr/>
        </p:nvSpPr>
        <p:spPr>
          <a:xfrm>
            <a:off x="7680960" y="4343400"/>
            <a:ext cx="3685032" cy="1463040"/>
          </a:xfrm>
          <a:prstGeom prst="roundRect">
            <a:avLst>
              <a:gd name="adj" fmla="val 8000"/>
            </a:avLst>
          </a:prstGeom>
          <a:solidFill>
            <a:srgbClr val="1F394D"/>
          </a:solidFill>
          <a:ln>
            <a:noFill/>
          </a:ln>
        </p:spPr>
        <p:txBody>
          <a:bodyPr rtlCol="0" anchor="ctr"/>
          <a:lstStyle/>
          <a:p>
            <a:endParaRPr/>
          </a:p>
        </p:txBody>
      </p:sp>
      <p:sp>
        <p:nvSpPr>
          <p:cNvPr id="14" name="TextBox 13"/>
          <p:cNvSpPr txBox="1"/>
          <p:nvPr/>
        </p:nvSpPr>
        <p:spPr>
          <a:xfrm>
            <a:off x="7863840" y="4389120"/>
            <a:ext cx="3337560" cy="1371600"/>
          </a:xfrm>
          <a:prstGeom prst="rect">
            <a:avLst/>
          </a:prstGeom>
          <a:noFill/>
        </p:spPr>
        <p:txBody>
          <a:bodyPr wrap="square" lIns="0" tIns="0" rIns="0" bIns="0" anchor="ctr">
            <a:spAutoFit/>
          </a:bodyPr>
          <a:lstStyle/>
          <a:p>
            <a:pPr algn="l"/>
            <a:r>
              <a:rPr sz="1700" b="1" i="0">
                <a:solidFill>
                  <a:srgbClr val="FFFFFF"/>
                </a:solidFill>
              </a:rPr>
              <a:t>Where does the middle (3) belong? Which would you choose, and how would you defend 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Reporting the results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Rounded Rectangle 4"/>
          <p:cNvSpPr/>
          <p:nvPr/>
        </p:nvSpPr>
        <p:spPr>
          <a:xfrm>
            <a:off x="758952" y="1371600"/>
            <a:ext cx="6675120" cy="4434840"/>
          </a:xfrm>
          <a:prstGeom prst="roundRect">
            <a:avLst>
              <a:gd name="adj" fmla="val 8000"/>
            </a:avLst>
          </a:prstGeom>
          <a:solidFill>
            <a:srgbClr val="EEF3F7"/>
          </a:solidFill>
          <a:ln>
            <a:noFill/>
          </a:ln>
        </p:spPr>
        <p:txBody>
          <a:bodyPr rtlCol="0" anchor="ctr"/>
          <a:lstStyle/>
          <a:p>
            <a:pPr algn="ctr"/>
            <a:endParaRPr/>
          </a:p>
        </p:txBody>
      </p:sp>
      <p:sp>
        <p:nvSpPr>
          <p:cNvPr id="6" name="TextBox 5"/>
          <p:cNvSpPr txBox="1"/>
          <p:nvPr/>
        </p:nvSpPr>
        <p:spPr>
          <a:xfrm>
            <a:off x="987552" y="1508760"/>
            <a:ext cx="6263640" cy="4160520"/>
          </a:xfrm>
          <a:prstGeom prst="rect">
            <a:avLst/>
          </a:prstGeom>
          <a:noFill/>
        </p:spPr>
        <p:txBody>
          <a:bodyPr wrap="square" lIns="0" tIns="0" rIns="0" bIns="0" anchor="t">
            <a:spAutoFit/>
          </a:bodyPr>
          <a:lstStyle/>
          <a:p>
            <a:pPr algn="l">
              <a:spcAft>
                <a:spcPts val="800"/>
              </a:spcAft>
            </a:pPr>
            <a:r>
              <a:rPr sz="1500" b="1" i="0">
                <a:solidFill>
                  <a:srgbClr val="3F739B"/>
                </a:solidFill>
              </a:rPr>
              <a:t>Example paragraph</a:t>
            </a:r>
          </a:p>
          <a:p>
            <a:pPr algn="l">
              <a:lnSpc>
                <a:spcPct val="108000"/>
              </a:lnSpc>
            </a:pPr>
            <a:r>
              <a:rPr sz="1800" b="0" i="0">
                <a:solidFill>
                  <a:srgbClr val="1F2A33"/>
                </a:solidFill>
              </a:rPr>
              <a:t>Using the British Social Attitudes survey 2010 (n = 1,060), we fitted a logistic regression of social trust (1 = “most people can be trusted”, 0 = “can’t be too careful”) on age and sex. Holding age constant, women had about 35% lower odds than men of saying that most people can be trusted (odds ratio = 0.65). In predicted probabilities, 39% of 40-year-old women and 50% of 40-year-old men would be expected to say so, a gap of about 11 percentage points. Older respondents were slightly more trusting (odds ratio = 1.06 per ten years of age), but this association was small and imprecise. Together, age and sex explained little of the variation in trust (Nagelkerke R² = 0.02).</a:t>
            </a:r>
          </a:p>
        </p:txBody>
      </p:sp>
      <p:sp>
        <p:nvSpPr>
          <p:cNvPr id="7" name="Rounded Rectangle 6"/>
          <p:cNvSpPr/>
          <p:nvPr/>
        </p:nvSpPr>
        <p:spPr>
          <a:xfrm>
            <a:off x="7635240" y="1371600"/>
            <a:ext cx="3730752" cy="4434840"/>
          </a:xfrm>
          <a:prstGeom prst="roundRect">
            <a:avLst>
              <a:gd name="adj" fmla="val 8000"/>
            </a:avLst>
          </a:prstGeom>
          <a:solidFill>
            <a:srgbClr val="1F394D"/>
          </a:solidFill>
          <a:ln>
            <a:noFill/>
          </a:ln>
        </p:spPr>
        <p:txBody>
          <a:bodyPr rtlCol="0" anchor="ctr"/>
          <a:lstStyle/>
          <a:p>
            <a:pPr algn="ctr"/>
            <a:endParaRPr/>
          </a:p>
        </p:txBody>
      </p:sp>
      <p:sp>
        <p:nvSpPr>
          <p:cNvPr id="8" name="TextBox 7"/>
          <p:cNvSpPr txBox="1"/>
          <p:nvPr/>
        </p:nvSpPr>
        <p:spPr>
          <a:xfrm>
            <a:off x="7863840" y="1508760"/>
            <a:ext cx="3337560" cy="365760"/>
          </a:xfrm>
          <a:prstGeom prst="rect">
            <a:avLst/>
          </a:prstGeom>
          <a:noFill/>
        </p:spPr>
        <p:txBody>
          <a:bodyPr wrap="square" lIns="0" tIns="0" rIns="0" bIns="0" anchor="t">
            <a:spAutoFit/>
          </a:bodyPr>
          <a:lstStyle/>
          <a:p>
            <a:pPr algn="l"/>
            <a:r>
              <a:rPr sz="1600" b="1" i="0">
                <a:solidFill>
                  <a:srgbClr val="B88C00"/>
                </a:solidFill>
              </a:rPr>
              <a:t>Checklist</a:t>
            </a:r>
          </a:p>
        </p:txBody>
      </p:sp>
      <p:sp>
        <p:nvSpPr>
          <p:cNvPr id="9" name="Oval 8"/>
          <p:cNvSpPr/>
          <p:nvPr/>
        </p:nvSpPr>
        <p:spPr>
          <a:xfrm>
            <a:off x="7882128" y="2057400"/>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1</a:t>
            </a:r>
          </a:p>
        </p:txBody>
      </p:sp>
      <p:sp>
        <p:nvSpPr>
          <p:cNvPr id="10" name="TextBox 9"/>
          <p:cNvSpPr txBox="1"/>
          <p:nvPr/>
        </p:nvSpPr>
        <p:spPr>
          <a:xfrm>
            <a:off x="8385048" y="2057400"/>
            <a:ext cx="2880360" cy="384048"/>
          </a:xfrm>
          <a:prstGeom prst="rect">
            <a:avLst/>
          </a:prstGeom>
          <a:noFill/>
        </p:spPr>
        <p:txBody>
          <a:bodyPr wrap="square" lIns="0" tIns="0" rIns="0" bIns="0" anchor="ctr">
            <a:spAutoFit/>
          </a:bodyPr>
          <a:lstStyle/>
          <a:p>
            <a:pPr algn="l"/>
            <a:r>
              <a:rPr sz="1600" b="0" i="0">
                <a:solidFill>
                  <a:srgbClr val="FFFFFF"/>
                </a:solidFill>
              </a:rPr>
              <a:t>Which category is coded 1</a:t>
            </a:r>
          </a:p>
        </p:txBody>
      </p:sp>
      <p:sp>
        <p:nvSpPr>
          <p:cNvPr id="11" name="Oval 10"/>
          <p:cNvSpPr/>
          <p:nvPr/>
        </p:nvSpPr>
        <p:spPr>
          <a:xfrm>
            <a:off x="7882128" y="2660904"/>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2</a:t>
            </a:r>
          </a:p>
        </p:txBody>
      </p:sp>
      <p:sp>
        <p:nvSpPr>
          <p:cNvPr id="12" name="TextBox 11"/>
          <p:cNvSpPr txBox="1"/>
          <p:nvPr/>
        </p:nvSpPr>
        <p:spPr>
          <a:xfrm>
            <a:off x="8385048" y="2660904"/>
            <a:ext cx="2880360" cy="384048"/>
          </a:xfrm>
          <a:prstGeom prst="rect">
            <a:avLst/>
          </a:prstGeom>
          <a:noFill/>
        </p:spPr>
        <p:txBody>
          <a:bodyPr wrap="square" lIns="0" tIns="0" rIns="0" bIns="0" anchor="ctr">
            <a:spAutoFit/>
          </a:bodyPr>
          <a:lstStyle/>
          <a:p>
            <a:pPr algn="l"/>
            <a:r>
              <a:rPr sz="1600" b="0" i="0">
                <a:solidFill>
                  <a:srgbClr val="FFFFFF"/>
                </a:solidFill>
              </a:rPr>
              <a:t>The odds ratio, in words</a:t>
            </a:r>
          </a:p>
        </p:txBody>
      </p:sp>
      <p:sp>
        <p:nvSpPr>
          <p:cNvPr id="13" name="Oval 12"/>
          <p:cNvSpPr/>
          <p:nvPr/>
        </p:nvSpPr>
        <p:spPr>
          <a:xfrm>
            <a:off x="7882128" y="3264408"/>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3</a:t>
            </a:r>
          </a:p>
        </p:txBody>
      </p:sp>
      <p:sp>
        <p:nvSpPr>
          <p:cNvPr id="14" name="TextBox 13"/>
          <p:cNvSpPr txBox="1"/>
          <p:nvPr/>
        </p:nvSpPr>
        <p:spPr>
          <a:xfrm>
            <a:off x="8385048" y="3264408"/>
            <a:ext cx="2880360" cy="384048"/>
          </a:xfrm>
          <a:prstGeom prst="rect">
            <a:avLst/>
          </a:prstGeom>
          <a:noFill/>
        </p:spPr>
        <p:txBody>
          <a:bodyPr wrap="square" lIns="0" tIns="0" rIns="0" bIns="0" anchor="ctr">
            <a:spAutoFit/>
          </a:bodyPr>
          <a:lstStyle/>
          <a:p>
            <a:pPr algn="l"/>
            <a:r>
              <a:rPr sz="1600" b="0" i="0">
                <a:solidFill>
                  <a:srgbClr val="FFFFFF"/>
                </a:solidFill>
              </a:rPr>
              <a:t>Predicted probabilities</a:t>
            </a:r>
          </a:p>
        </p:txBody>
      </p:sp>
      <p:sp>
        <p:nvSpPr>
          <p:cNvPr id="15" name="Oval 14"/>
          <p:cNvSpPr/>
          <p:nvPr/>
        </p:nvSpPr>
        <p:spPr>
          <a:xfrm>
            <a:off x="7882128" y="3867912"/>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4</a:t>
            </a:r>
          </a:p>
        </p:txBody>
      </p:sp>
      <p:sp>
        <p:nvSpPr>
          <p:cNvPr id="16" name="TextBox 15"/>
          <p:cNvSpPr txBox="1"/>
          <p:nvPr/>
        </p:nvSpPr>
        <p:spPr>
          <a:xfrm>
            <a:off x="8385048" y="3867912"/>
            <a:ext cx="2880360" cy="384048"/>
          </a:xfrm>
          <a:prstGeom prst="rect">
            <a:avLst/>
          </a:prstGeom>
          <a:noFill/>
        </p:spPr>
        <p:txBody>
          <a:bodyPr wrap="square" lIns="0" tIns="0" rIns="0" bIns="0" anchor="ctr">
            <a:spAutoFit/>
          </a:bodyPr>
          <a:lstStyle/>
          <a:p>
            <a:pPr algn="l"/>
            <a:r>
              <a:rPr sz="1600" b="0" i="0">
                <a:solidFill>
                  <a:srgbClr val="FFFFFF"/>
                </a:solidFill>
              </a:rPr>
              <a:t>What is held constant</a:t>
            </a:r>
          </a:p>
        </p:txBody>
      </p:sp>
      <p:sp>
        <p:nvSpPr>
          <p:cNvPr id="17" name="Oval 16"/>
          <p:cNvSpPr/>
          <p:nvPr/>
        </p:nvSpPr>
        <p:spPr>
          <a:xfrm>
            <a:off x="7882128" y="4471416"/>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5</a:t>
            </a:r>
          </a:p>
        </p:txBody>
      </p:sp>
      <p:sp>
        <p:nvSpPr>
          <p:cNvPr id="18" name="TextBox 17"/>
          <p:cNvSpPr txBox="1"/>
          <p:nvPr/>
        </p:nvSpPr>
        <p:spPr>
          <a:xfrm>
            <a:off x="8385048" y="4471416"/>
            <a:ext cx="2880360" cy="384048"/>
          </a:xfrm>
          <a:prstGeom prst="rect">
            <a:avLst/>
          </a:prstGeom>
          <a:noFill/>
        </p:spPr>
        <p:txBody>
          <a:bodyPr wrap="square" lIns="0" tIns="0" rIns="0" bIns="0" anchor="ctr">
            <a:spAutoFit/>
          </a:bodyPr>
          <a:lstStyle/>
          <a:p>
            <a:pPr algn="l"/>
            <a:r>
              <a:rPr sz="1600" b="0" i="0">
                <a:solidFill>
                  <a:srgbClr val="FFFFFF"/>
                </a:solidFill>
              </a:rPr>
              <a:t>Model fit</a:t>
            </a:r>
          </a:p>
        </p:txBody>
      </p:sp>
      <p:sp>
        <p:nvSpPr>
          <p:cNvPr id="19" name="Oval 18"/>
          <p:cNvSpPr/>
          <p:nvPr/>
        </p:nvSpPr>
        <p:spPr>
          <a:xfrm>
            <a:off x="7882128" y="5074920"/>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6</a:t>
            </a:r>
          </a:p>
        </p:txBody>
      </p:sp>
      <p:sp>
        <p:nvSpPr>
          <p:cNvPr id="20" name="TextBox 19"/>
          <p:cNvSpPr txBox="1"/>
          <p:nvPr/>
        </p:nvSpPr>
        <p:spPr>
          <a:xfrm>
            <a:off x="8385048" y="5074920"/>
            <a:ext cx="2880360" cy="384048"/>
          </a:xfrm>
          <a:prstGeom prst="rect">
            <a:avLst/>
          </a:prstGeom>
          <a:noFill/>
        </p:spPr>
        <p:txBody>
          <a:bodyPr wrap="square" lIns="0" tIns="0" rIns="0" bIns="0" anchor="ctr">
            <a:spAutoFit/>
          </a:bodyPr>
          <a:lstStyle/>
          <a:p>
            <a:pPr algn="l"/>
            <a:r>
              <a:rPr sz="1600" b="0" i="0">
                <a:solidFill>
                  <a:srgbClr val="FFFFFF"/>
                </a:solidFill>
              </a:rPr>
              <a:t>Association, not cause</a:t>
            </a:r>
          </a:p>
        </p:txBody>
      </p:sp>
      <p:sp>
        <p:nvSpPr>
          <p:cNvPr id="21" name="TextBox 20"/>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British Social Attitudes 2010 (gb-bsa10-trust.sav), n = 1,060; outcome 1 = “most people can be trusted”.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Interactive explorer</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pic>
        <p:nvPicPr>
          <p:cNvPr id="5" name="Picture 4" descr="qr_notes_w4.png"/>
          <p:cNvPicPr>
            <a:picLocks noChangeAspect="1"/>
          </p:cNvPicPr>
          <p:nvPr/>
        </p:nvPicPr>
        <p:blipFill>
          <a:blip r:embed="rId3"/>
          <a:stretch>
            <a:fillRect/>
          </a:stretch>
        </p:blipFill>
        <p:spPr>
          <a:xfrm>
            <a:off x="1051560" y="1463040"/>
            <a:ext cx="2834640" cy="2834640"/>
          </a:xfrm>
          <a:prstGeom prst="rect">
            <a:avLst/>
          </a:prstGeom>
        </p:spPr>
      </p:pic>
      <p:sp>
        <p:nvSpPr>
          <p:cNvPr id="6" name="TextBox 5"/>
          <p:cNvSpPr txBox="1"/>
          <p:nvPr/>
        </p:nvSpPr>
        <p:spPr>
          <a:xfrm>
            <a:off x="758952" y="4434840"/>
            <a:ext cx="3429000" cy="1097280"/>
          </a:xfrm>
          <a:prstGeom prst="rect">
            <a:avLst/>
          </a:prstGeom>
          <a:noFill/>
        </p:spPr>
        <p:txBody>
          <a:bodyPr wrap="square" lIns="0" tIns="0" rIns="0" bIns="0" anchor="t">
            <a:spAutoFit/>
          </a:bodyPr>
          <a:lstStyle/>
          <a:p>
            <a:pPr algn="ctr">
              <a:spcAft>
                <a:spcPts val="400"/>
              </a:spcAft>
            </a:pPr>
            <a:r>
              <a:rPr sz="1400" b="1" i="0">
                <a:solidFill>
                  <a:srgbClr val="1F394D"/>
                </a:solidFill>
              </a:rPr>
              <a:t>Course site › [W4] Interactive Explorer</a:t>
            </a:r>
          </a:p>
          <a:p>
            <a:pPr algn="ctr"/>
            <a:r>
              <a:rPr sz="1200" b="0" i="0">
                <a:solidFill>
                  <a:srgbClr val="55606B"/>
                </a:solidFill>
              </a:rPr>
              <a:t>cgmoreh.github.io/SOC2069-QUANT-26</a:t>
            </a:r>
          </a:p>
        </p:txBody>
      </p:sp>
      <p:sp>
        <p:nvSpPr>
          <p:cNvPr id="7" name="Rounded Rectangle 6"/>
          <p:cNvSpPr/>
          <p:nvPr/>
        </p:nvSpPr>
        <p:spPr>
          <a:xfrm>
            <a:off x="4526280" y="1417320"/>
            <a:ext cx="6839712" cy="1097280"/>
          </a:xfrm>
          <a:prstGeom prst="roundRect">
            <a:avLst>
              <a:gd name="adj" fmla="val 8000"/>
            </a:avLst>
          </a:prstGeom>
          <a:solidFill>
            <a:srgbClr val="EEF3F7"/>
          </a:solidFill>
          <a:ln>
            <a:noFill/>
          </a:ln>
        </p:spPr>
        <p:txBody>
          <a:bodyPr rtlCol="0" anchor="ctr"/>
          <a:lstStyle/>
          <a:p>
            <a:pPr algn="ctr"/>
            <a:endParaRPr/>
          </a:p>
        </p:txBody>
      </p:sp>
      <p:sp>
        <p:nvSpPr>
          <p:cNvPr id="8" name="Oval 7"/>
          <p:cNvSpPr/>
          <p:nvPr/>
        </p:nvSpPr>
        <p:spPr>
          <a:xfrm>
            <a:off x="4732020" y="1714500"/>
            <a:ext cx="502920" cy="502920"/>
          </a:xfrm>
          <a:prstGeom prst="ellipse">
            <a:avLst/>
          </a:prstGeom>
          <a:solidFill>
            <a:srgbClr val="1F394D"/>
          </a:solidFill>
          <a:ln>
            <a:noFill/>
          </a:ln>
        </p:spPr>
        <p:txBody>
          <a:bodyPr wrap="square" lIns="0" tIns="18288" rIns="0" bIns="18288" rtlCol="0" anchor="ctr"/>
          <a:lstStyle/>
          <a:p>
            <a:pPr algn="ctr"/>
            <a:r>
              <a:rPr sz="1800" b="1" i="0">
                <a:solidFill>
                  <a:srgbClr val="FFFFFF"/>
                </a:solidFill>
              </a:rPr>
              <a:t>1</a:t>
            </a:r>
          </a:p>
        </p:txBody>
      </p:sp>
      <p:sp>
        <p:nvSpPr>
          <p:cNvPr id="9" name="TextBox 8"/>
          <p:cNvSpPr txBox="1"/>
          <p:nvPr/>
        </p:nvSpPr>
        <p:spPr>
          <a:xfrm>
            <a:off x="5440680" y="1527048"/>
            <a:ext cx="5760720" cy="877824"/>
          </a:xfrm>
          <a:prstGeom prst="rect">
            <a:avLst/>
          </a:prstGeom>
          <a:noFill/>
        </p:spPr>
        <p:txBody>
          <a:bodyPr wrap="square" lIns="0" tIns="0" rIns="0" bIns="0" anchor="ctr">
            <a:spAutoFit/>
          </a:bodyPr>
          <a:lstStyle/>
          <a:p>
            <a:pPr algn="l">
              <a:spcAft>
                <a:spcPts val="200"/>
              </a:spcAft>
            </a:pPr>
            <a:r>
              <a:rPr sz="1800" b="1" i="0">
                <a:solidFill>
                  <a:srgbClr val="1F394D"/>
                </a:solidFill>
              </a:rPr>
              <a:t>Slope set to 0</a:t>
            </a:r>
          </a:p>
          <a:p>
            <a:pPr algn="l"/>
            <a:r>
              <a:rPr sz="1500" b="0" i="0">
                <a:solidFill>
                  <a:srgbClr val="1F2A33"/>
                </a:solidFill>
              </a:rPr>
              <a:t>The curve goes flat: the probability no longer changes with x.</a:t>
            </a:r>
          </a:p>
        </p:txBody>
      </p:sp>
      <p:sp>
        <p:nvSpPr>
          <p:cNvPr id="10" name="Rounded Rectangle 9"/>
          <p:cNvSpPr/>
          <p:nvPr/>
        </p:nvSpPr>
        <p:spPr>
          <a:xfrm>
            <a:off x="4526280" y="2651760"/>
            <a:ext cx="6839712" cy="1097280"/>
          </a:xfrm>
          <a:prstGeom prst="roundRect">
            <a:avLst>
              <a:gd name="adj" fmla="val 8000"/>
            </a:avLst>
          </a:prstGeom>
          <a:solidFill>
            <a:srgbClr val="EEF3F7"/>
          </a:solidFill>
          <a:ln>
            <a:noFill/>
          </a:ln>
        </p:spPr>
        <p:txBody>
          <a:bodyPr rtlCol="0" anchor="ctr"/>
          <a:lstStyle/>
          <a:p>
            <a:pPr algn="ctr"/>
            <a:endParaRPr/>
          </a:p>
        </p:txBody>
      </p:sp>
      <p:sp>
        <p:nvSpPr>
          <p:cNvPr id="11" name="Oval 10"/>
          <p:cNvSpPr/>
          <p:nvPr/>
        </p:nvSpPr>
        <p:spPr>
          <a:xfrm>
            <a:off x="4732020" y="2948940"/>
            <a:ext cx="502920" cy="502920"/>
          </a:xfrm>
          <a:prstGeom prst="ellipse">
            <a:avLst/>
          </a:prstGeom>
          <a:solidFill>
            <a:srgbClr val="1F394D"/>
          </a:solidFill>
          <a:ln>
            <a:noFill/>
          </a:ln>
        </p:spPr>
        <p:txBody>
          <a:bodyPr wrap="square" lIns="0" tIns="18288" rIns="0" bIns="18288" rtlCol="0" anchor="ctr"/>
          <a:lstStyle/>
          <a:p>
            <a:pPr algn="ctr"/>
            <a:r>
              <a:rPr sz="1800" b="1" i="0">
                <a:solidFill>
                  <a:srgbClr val="FFFFFF"/>
                </a:solidFill>
              </a:rPr>
              <a:t>2</a:t>
            </a:r>
          </a:p>
        </p:txBody>
      </p:sp>
      <p:sp>
        <p:nvSpPr>
          <p:cNvPr id="12" name="TextBox 11"/>
          <p:cNvSpPr txBox="1"/>
          <p:nvPr/>
        </p:nvSpPr>
        <p:spPr>
          <a:xfrm>
            <a:off x="5440680" y="2761488"/>
            <a:ext cx="5760720" cy="877824"/>
          </a:xfrm>
          <a:prstGeom prst="rect">
            <a:avLst/>
          </a:prstGeom>
          <a:noFill/>
        </p:spPr>
        <p:txBody>
          <a:bodyPr wrap="square" lIns="0" tIns="0" rIns="0" bIns="0" anchor="ctr">
            <a:spAutoFit/>
          </a:bodyPr>
          <a:lstStyle/>
          <a:p>
            <a:pPr algn="l">
              <a:spcAft>
                <a:spcPts val="200"/>
              </a:spcAft>
            </a:pPr>
            <a:r>
              <a:rPr sz="1800" b="1" i="0">
                <a:solidFill>
                  <a:srgbClr val="1F394D"/>
                </a:solidFill>
              </a:rPr>
              <a:t>A negative slope</a:t>
            </a:r>
          </a:p>
          <a:p>
            <a:pPr algn="l"/>
            <a:r>
              <a:rPr sz="1500" b="0" i="0">
                <a:solidFill>
                  <a:srgbClr val="1F2A33"/>
                </a:solidFill>
              </a:rPr>
              <a:t>The S runs downhill: the probability falls as x rises.</a:t>
            </a:r>
          </a:p>
        </p:txBody>
      </p:sp>
      <p:sp>
        <p:nvSpPr>
          <p:cNvPr id="13" name="Rounded Rectangle 12"/>
          <p:cNvSpPr/>
          <p:nvPr/>
        </p:nvSpPr>
        <p:spPr>
          <a:xfrm>
            <a:off x="4526280" y="3886200"/>
            <a:ext cx="6839712" cy="1097280"/>
          </a:xfrm>
          <a:prstGeom prst="roundRect">
            <a:avLst>
              <a:gd name="adj" fmla="val 8000"/>
            </a:avLst>
          </a:prstGeom>
          <a:solidFill>
            <a:srgbClr val="EEF3F7"/>
          </a:solidFill>
          <a:ln>
            <a:noFill/>
          </a:ln>
        </p:spPr>
        <p:txBody>
          <a:bodyPr rtlCol="0" anchor="ctr"/>
          <a:lstStyle/>
          <a:p>
            <a:pPr algn="ctr"/>
            <a:endParaRPr/>
          </a:p>
        </p:txBody>
      </p:sp>
      <p:sp>
        <p:nvSpPr>
          <p:cNvPr id="14" name="Oval 13"/>
          <p:cNvSpPr/>
          <p:nvPr/>
        </p:nvSpPr>
        <p:spPr>
          <a:xfrm>
            <a:off x="4732020" y="4183379"/>
            <a:ext cx="502920" cy="502920"/>
          </a:xfrm>
          <a:prstGeom prst="ellipse">
            <a:avLst/>
          </a:prstGeom>
          <a:solidFill>
            <a:srgbClr val="1F394D"/>
          </a:solidFill>
          <a:ln>
            <a:noFill/>
          </a:ln>
        </p:spPr>
        <p:txBody>
          <a:bodyPr wrap="square" lIns="0" tIns="18288" rIns="0" bIns="18288" rtlCol="0" anchor="ctr"/>
          <a:lstStyle/>
          <a:p>
            <a:pPr algn="ctr"/>
            <a:r>
              <a:rPr sz="1800" b="1" i="0">
                <a:solidFill>
                  <a:srgbClr val="FFFFFF"/>
                </a:solidFill>
              </a:rPr>
              <a:t>3</a:t>
            </a:r>
          </a:p>
        </p:txBody>
      </p:sp>
      <p:sp>
        <p:nvSpPr>
          <p:cNvPr id="15" name="TextBox 14"/>
          <p:cNvSpPr txBox="1"/>
          <p:nvPr/>
        </p:nvSpPr>
        <p:spPr>
          <a:xfrm>
            <a:off x="5440680" y="3995928"/>
            <a:ext cx="5760720" cy="877824"/>
          </a:xfrm>
          <a:prstGeom prst="rect">
            <a:avLst/>
          </a:prstGeom>
          <a:noFill/>
        </p:spPr>
        <p:txBody>
          <a:bodyPr wrap="square" lIns="0" tIns="0" rIns="0" bIns="0" anchor="ctr">
            <a:spAutoFit/>
          </a:bodyPr>
          <a:lstStyle/>
          <a:p>
            <a:pPr algn="l">
              <a:spcAft>
                <a:spcPts val="200"/>
              </a:spcAft>
            </a:pPr>
            <a:r>
              <a:rPr sz="1800" b="1" i="0">
                <a:solidFill>
                  <a:srgbClr val="1F394D"/>
                </a:solidFill>
              </a:rPr>
              <a:t>A new intercept with the same slope</a:t>
            </a:r>
          </a:p>
          <a:p>
            <a:pPr algn="l"/>
            <a:r>
              <a:rPr sz="1500" b="0" i="0">
                <a:solidFill>
                  <a:srgbClr val="1F2A33"/>
                </a:solidFill>
              </a:rPr>
              <a:t>The curve slides sideways; its steepness stays the same.</a:t>
            </a:r>
          </a:p>
        </p:txBody>
      </p:sp>
      <p:sp>
        <p:nvSpPr>
          <p:cNvPr id="16" name="Rounded Rectangle 15"/>
          <p:cNvSpPr/>
          <p:nvPr/>
        </p:nvSpPr>
        <p:spPr>
          <a:xfrm>
            <a:off x="4526280" y="5120640"/>
            <a:ext cx="6839712" cy="731520"/>
          </a:xfrm>
          <a:prstGeom prst="roundRect">
            <a:avLst>
              <a:gd name="adj" fmla="val 8000"/>
            </a:avLst>
          </a:prstGeom>
          <a:solidFill>
            <a:srgbClr val="1F394D"/>
          </a:solidFill>
          <a:ln>
            <a:noFill/>
          </a:ln>
        </p:spPr>
        <p:txBody>
          <a:bodyPr rtlCol="0" anchor="ctr"/>
          <a:lstStyle/>
          <a:p>
            <a:pPr algn="ctr"/>
            <a:endParaRPr/>
          </a:p>
        </p:txBody>
      </p:sp>
      <p:sp>
        <p:nvSpPr>
          <p:cNvPr id="17" name="TextBox 16"/>
          <p:cNvSpPr txBox="1"/>
          <p:nvPr/>
        </p:nvSpPr>
        <p:spPr>
          <a:xfrm>
            <a:off x="4754880" y="5120640"/>
            <a:ext cx="6400800" cy="731520"/>
          </a:xfrm>
          <a:prstGeom prst="rect">
            <a:avLst/>
          </a:prstGeom>
          <a:noFill/>
        </p:spPr>
        <p:txBody>
          <a:bodyPr wrap="square" lIns="0" tIns="0" rIns="0" bIns="0" anchor="ctr">
            <a:spAutoFit/>
          </a:bodyPr>
          <a:lstStyle/>
          <a:p>
            <a:pPr algn="l"/>
            <a:r>
              <a:rPr sz="1500" b="1" i="0">
                <a:solidFill>
                  <a:srgbClr val="B88C00"/>
                </a:solidFill>
              </a:rPr>
              <a:t>Also on the page: </a:t>
            </a:r>
            <a:r>
              <a:rPr sz="1500" b="0" i="0">
                <a:solidFill>
                  <a:srgbClr val="FFFFFF"/>
                </a:solidFill>
              </a:rPr>
              <a:t>a converter between probability, odds and log-odds, and a calculator for the BSA 2010 model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points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r>
              <a:rPr lang="en-US"/>
              <a:t>20 October 2026</a:t>
            </a:r>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Logistic regression</a:t>
            </a:r>
          </a:p>
        </p:txBody>
      </p:sp>
      <p:sp>
        <p:nvSpPr>
          <p:cNvPr id="5" name="Rounded Rectangle 4"/>
          <p:cNvSpPr/>
          <p:nvPr/>
        </p:nvSpPr>
        <p:spPr>
          <a:xfrm>
            <a:off x="758952" y="1417320"/>
            <a:ext cx="5212080" cy="2103120"/>
          </a:xfrm>
          <a:prstGeom prst="roundRect">
            <a:avLst>
              <a:gd name="adj" fmla="val 8000"/>
            </a:avLst>
          </a:prstGeom>
          <a:solidFill>
            <a:srgbClr val="EEF3F7"/>
          </a:solidFill>
          <a:ln>
            <a:noFill/>
          </a:ln>
        </p:spPr>
        <p:txBody>
          <a:bodyPr rtlCol="0" anchor="ctr"/>
          <a:lstStyle/>
          <a:p>
            <a:pPr algn="ctr"/>
            <a:endParaRPr/>
          </a:p>
        </p:txBody>
      </p:sp>
      <p:sp>
        <p:nvSpPr>
          <p:cNvPr id="6" name="Oval 5"/>
          <p:cNvSpPr/>
          <p:nvPr/>
        </p:nvSpPr>
        <p:spPr>
          <a:xfrm>
            <a:off x="987552" y="1645920"/>
            <a:ext cx="566928" cy="566928"/>
          </a:xfrm>
          <a:prstGeom prst="ellipse">
            <a:avLst/>
          </a:prstGeom>
          <a:solidFill>
            <a:srgbClr val="1F394D"/>
          </a:solidFill>
          <a:ln>
            <a:noFill/>
          </a:ln>
        </p:spPr>
        <p:txBody>
          <a:bodyPr wrap="square" lIns="0" tIns="18288" rIns="0" bIns="18288" rtlCol="0" anchor="ctr"/>
          <a:lstStyle/>
          <a:p>
            <a:pPr algn="ctr"/>
            <a:r>
              <a:rPr sz="2000" b="1" i="0">
                <a:solidFill>
                  <a:srgbClr val="FFFFFF"/>
                </a:solidFill>
              </a:rPr>
              <a:t>1</a:t>
            </a:r>
          </a:p>
        </p:txBody>
      </p:sp>
      <p:sp>
        <p:nvSpPr>
          <p:cNvPr id="7" name="TextBox 6"/>
          <p:cNvSpPr txBox="1"/>
          <p:nvPr/>
        </p:nvSpPr>
        <p:spPr>
          <a:xfrm>
            <a:off x="1719072" y="1691640"/>
            <a:ext cx="4023360" cy="502920"/>
          </a:xfrm>
          <a:prstGeom prst="rect">
            <a:avLst/>
          </a:prstGeom>
          <a:noFill/>
        </p:spPr>
        <p:txBody>
          <a:bodyPr wrap="square" lIns="0" tIns="0" rIns="0" bIns="0" anchor="ctr">
            <a:spAutoFit/>
          </a:bodyPr>
          <a:lstStyle/>
          <a:p>
            <a:pPr algn="l"/>
            <a:r>
              <a:rPr sz="2000" b="1" i="0">
                <a:solidFill>
                  <a:srgbClr val="1F394D"/>
                </a:solidFill>
              </a:rPr>
              <a:t>Binary outcomes</a:t>
            </a:r>
          </a:p>
        </p:txBody>
      </p:sp>
      <p:sp>
        <p:nvSpPr>
          <p:cNvPr id="8" name="TextBox 7"/>
          <p:cNvSpPr txBox="1"/>
          <p:nvPr/>
        </p:nvSpPr>
        <p:spPr>
          <a:xfrm>
            <a:off x="1719072" y="2286000"/>
            <a:ext cx="4023360" cy="1097280"/>
          </a:xfrm>
          <a:prstGeom prst="rect">
            <a:avLst/>
          </a:prstGeom>
          <a:noFill/>
        </p:spPr>
        <p:txBody>
          <a:bodyPr wrap="square" lIns="0" tIns="0" rIns="0" bIns="0" anchor="t">
            <a:spAutoFit/>
          </a:bodyPr>
          <a:lstStyle/>
          <a:p>
            <a:pPr algn="l"/>
            <a:r>
              <a:rPr sz="1600" b="0" i="0">
                <a:solidFill>
                  <a:srgbClr val="1F2A33"/>
                </a:solidFill>
              </a:rPr>
              <a:t>Logistic regression models the probability of the category coded 1. Check which category that is.</a:t>
            </a:r>
          </a:p>
        </p:txBody>
      </p:sp>
      <p:sp>
        <p:nvSpPr>
          <p:cNvPr id="9" name="Rounded Rectangle 8"/>
          <p:cNvSpPr/>
          <p:nvPr/>
        </p:nvSpPr>
        <p:spPr>
          <a:xfrm>
            <a:off x="6153912" y="1417320"/>
            <a:ext cx="5212080" cy="2103120"/>
          </a:xfrm>
          <a:prstGeom prst="roundRect">
            <a:avLst>
              <a:gd name="adj" fmla="val 8000"/>
            </a:avLst>
          </a:prstGeom>
          <a:solidFill>
            <a:srgbClr val="EEF3F7"/>
          </a:solidFill>
          <a:ln>
            <a:noFill/>
          </a:ln>
        </p:spPr>
        <p:txBody>
          <a:bodyPr rtlCol="0" anchor="ctr"/>
          <a:lstStyle/>
          <a:p>
            <a:pPr algn="ctr"/>
            <a:endParaRPr/>
          </a:p>
        </p:txBody>
      </p:sp>
      <p:sp>
        <p:nvSpPr>
          <p:cNvPr id="10" name="Oval 9"/>
          <p:cNvSpPr/>
          <p:nvPr/>
        </p:nvSpPr>
        <p:spPr>
          <a:xfrm>
            <a:off x="6382512" y="1645920"/>
            <a:ext cx="566928" cy="566928"/>
          </a:xfrm>
          <a:prstGeom prst="ellipse">
            <a:avLst/>
          </a:prstGeom>
          <a:solidFill>
            <a:srgbClr val="1F394D"/>
          </a:solidFill>
          <a:ln>
            <a:noFill/>
          </a:ln>
        </p:spPr>
        <p:txBody>
          <a:bodyPr wrap="square" lIns="0" tIns="18288" rIns="0" bIns="18288" rtlCol="0" anchor="ctr"/>
          <a:lstStyle/>
          <a:p>
            <a:pPr algn="ctr"/>
            <a:r>
              <a:rPr sz="2000" b="1" i="0">
                <a:solidFill>
                  <a:srgbClr val="FFFFFF"/>
                </a:solidFill>
              </a:rPr>
              <a:t>2</a:t>
            </a:r>
          </a:p>
        </p:txBody>
      </p:sp>
      <p:sp>
        <p:nvSpPr>
          <p:cNvPr id="11" name="TextBox 10"/>
          <p:cNvSpPr txBox="1"/>
          <p:nvPr/>
        </p:nvSpPr>
        <p:spPr>
          <a:xfrm>
            <a:off x="7114032" y="1691640"/>
            <a:ext cx="4023360" cy="502920"/>
          </a:xfrm>
          <a:prstGeom prst="rect">
            <a:avLst/>
          </a:prstGeom>
          <a:noFill/>
        </p:spPr>
        <p:txBody>
          <a:bodyPr wrap="square" lIns="0" tIns="0" rIns="0" bIns="0" anchor="ctr">
            <a:spAutoFit/>
          </a:bodyPr>
          <a:lstStyle/>
          <a:p>
            <a:pPr algn="l"/>
            <a:r>
              <a:rPr sz="2000" b="1" i="0">
                <a:solidFill>
                  <a:srgbClr val="1F394D"/>
                </a:solidFill>
              </a:rPr>
              <a:t>The log-odds scale</a:t>
            </a:r>
          </a:p>
        </p:txBody>
      </p:sp>
      <p:sp>
        <p:nvSpPr>
          <p:cNvPr id="12" name="TextBox 11"/>
          <p:cNvSpPr txBox="1"/>
          <p:nvPr/>
        </p:nvSpPr>
        <p:spPr>
          <a:xfrm>
            <a:off x="7114032" y="2286000"/>
            <a:ext cx="4023360" cy="1097280"/>
          </a:xfrm>
          <a:prstGeom prst="rect">
            <a:avLst/>
          </a:prstGeom>
          <a:noFill/>
        </p:spPr>
        <p:txBody>
          <a:bodyPr wrap="square" lIns="0" tIns="0" rIns="0" bIns="0" anchor="t">
            <a:spAutoFit/>
          </a:bodyPr>
          <a:lstStyle/>
          <a:p>
            <a:pPr algn="l"/>
            <a:r>
              <a:rPr sz="1600" b="0" i="0">
                <a:solidFill>
                  <a:srgbClr val="1F2A33"/>
                </a:solidFill>
              </a:rPr>
              <a:t>The model is a straight line here: the intercept is the log-odds at x = 0, the slope the change for a one-unit step.</a:t>
            </a:r>
          </a:p>
        </p:txBody>
      </p:sp>
      <p:sp>
        <p:nvSpPr>
          <p:cNvPr id="13" name="Rounded Rectangle 12"/>
          <p:cNvSpPr/>
          <p:nvPr/>
        </p:nvSpPr>
        <p:spPr>
          <a:xfrm>
            <a:off x="758952" y="3749039"/>
            <a:ext cx="5212080" cy="2103120"/>
          </a:xfrm>
          <a:prstGeom prst="roundRect">
            <a:avLst>
              <a:gd name="adj" fmla="val 8000"/>
            </a:avLst>
          </a:prstGeom>
          <a:solidFill>
            <a:srgbClr val="EEF3F7"/>
          </a:solidFill>
          <a:ln>
            <a:noFill/>
          </a:ln>
        </p:spPr>
        <p:txBody>
          <a:bodyPr rtlCol="0" anchor="ctr"/>
          <a:lstStyle/>
          <a:p>
            <a:pPr algn="ctr"/>
            <a:endParaRPr/>
          </a:p>
        </p:txBody>
      </p:sp>
      <p:sp>
        <p:nvSpPr>
          <p:cNvPr id="14" name="Oval 13"/>
          <p:cNvSpPr/>
          <p:nvPr/>
        </p:nvSpPr>
        <p:spPr>
          <a:xfrm>
            <a:off x="987552" y="3977640"/>
            <a:ext cx="566928" cy="566928"/>
          </a:xfrm>
          <a:prstGeom prst="ellipse">
            <a:avLst/>
          </a:prstGeom>
          <a:solidFill>
            <a:srgbClr val="1F394D"/>
          </a:solidFill>
          <a:ln>
            <a:noFill/>
          </a:ln>
        </p:spPr>
        <p:txBody>
          <a:bodyPr wrap="square" lIns="0" tIns="18288" rIns="0" bIns="18288" rtlCol="0" anchor="ctr"/>
          <a:lstStyle/>
          <a:p>
            <a:pPr algn="ctr"/>
            <a:r>
              <a:rPr sz="2000" b="1" i="0">
                <a:solidFill>
                  <a:srgbClr val="FFFFFF"/>
                </a:solidFill>
              </a:rPr>
              <a:t>3</a:t>
            </a:r>
          </a:p>
        </p:txBody>
      </p:sp>
      <p:sp>
        <p:nvSpPr>
          <p:cNvPr id="15" name="TextBox 14"/>
          <p:cNvSpPr txBox="1"/>
          <p:nvPr/>
        </p:nvSpPr>
        <p:spPr>
          <a:xfrm>
            <a:off x="1719072" y="4023359"/>
            <a:ext cx="4023360" cy="502920"/>
          </a:xfrm>
          <a:prstGeom prst="rect">
            <a:avLst/>
          </a:prstGeom>
          <a:noFill/>
        </p:spPr>
        <p:txBody>
          <a:bodyPr wrap="square" lIns="0" tIns="0" rIns="0" bIns="0" anchor="ctr">
            <a:spAutoFit/>
          </a:bodyPr>
          <a:lstStyle/>
          <a:p>
            <a:pPr algn="l"/>
            <a:r>
              <a:rPr sz="2000" b="1" i="0">
                <a:solidFill>
                  <a:srgbClr val="1F394D"/>
                </a:solidFill>
              </a:rPr>
              <a:t>Odds ratios</a:t>
            </a:r>
          </a:p>
        </p:txBody>
      </p:sp>
      <p:sp>
        <p:nvSpPr>
          <p:cNvPr id="16" name="TextBox 15"/>
          <p:cNvSpPr txBox="1"/>
          <p:nvPr/>
        </p:nvSpPr>
        <p:spPr>
          <a:xfrm>
            <a:off x="1719072" y="4617720"/>
            <a:ext cx="4023360" cy="1097280"/>
          </a:xfrm>
          <a:prstGeom prst="rect">
            <a:avLst/>
          </a:prstGeom>
          <a:noFill/>
        </p:spPr>
        <p:txBody>
          <a:bodyPr wrap="square" lIns="0" tIns="0" rIns="0" bIns="0" anchor="t">
            <a:spAutoFit/>
          </a:bodyPr>
          <a:lstStyle/>
          <a:p>
            <a:pPr algn="l"/>
            <a:r>
              <a:rPr sz="1600" b="0" i="0">
                <a:solidFill>
                  <a:srgbClr val="1F2A33"/>
                </a:solidFill>
              </a:rPr>
              <a:t>e</a:t>
            </a:r>
            <a:r>
              <a:rPr sz="1600" b="0" i="0" baseline="30000">
                <a:solidFill>
                  <a:srgbClr val="1F2A33"/>
                </a:solidFill>
              </a:rPr>
              <a:t>slope</a:t>
            </a:r>
            <a:r>
              <a:rPr sz="1600" b="0" i="0">
                <a:solidFill>
                  <a:srgbClr val="1F2A33"/>
                </a:solidFill>
              </a:rPr>
              <a:t> multiplies the odds: above 1 means higher odds, below 1 lower. Odds are not probabilities.</a:t>
            </a:r>
          </a:p>
        </p:txBody>
      </p:sp>
      <p:sp>
        <p:nvSpPr>
          <p:cNvPr id="17" name="Rounded Rectangle 16"/>
          <p:cNvSpPr/>
          <p:nvPr/>
        </p:nvSpPr>
        <p:spPr>
          <a:xfrm>
            <a:off x="6153912" y="3749039"/>
            <a:ext cx="5212080" cy="2103120"/>
          </a:xfrm>
          <a:prstGeom prst="roundRect">
            <a:avLst>
              <a:gd name="adj" fmla="val 8000"/>
            </a:avLst>
          </a:prstGeom>
          <a:solidFill>
            <a:srgbClr val="EEF3F7"/>
          </a:solidFill>
          <a:ln>
            <a:noFill/>
          </a:ln>
        </p:spPr>
        <p:txBody>
          <a:bodyPr rtlCol="0" anchor="ctr"/>
          <a:lstStyle/>
          <a:p>
            <a:pPr algn="ctr"/>
            <a:endParaRPr/>
          </a:p>
        </p:txBody>
      </p:sp>
      <p:sp>
        <p:nvSpPr>
          <p:cNvPr id="18" name="Oval 17"/>
          <p:cNvSpPr/>
          <p:nvPr/>
        </p:nvSpPr>
        <p:spPr>
          <a:xfrm>
            <a:off x="6382512" y="3977640"/>
            <a:ext cx="566928" cy="566928"/>
          </a:xfrm>
          <a:prstGeom prst="ellipse">
            <a:avLst/>
          </a:prstGeom>
          <a:solidFill>
            <a:srgbClr val="1F394D"/>
          </a:solidFill>
          <a:ln>
            <a:noFill/>
          </a:ln>
        </p:spPr>
        <p:txBody>
          <a:bodyPr wrap="square" lIns="0" tIns="18288" rIns="0" bIns="18288" rtlCol="0" anchor="ctr"/>
          <a:lstStyle/>
          <a:p>
            <a:pPr algn="ctr"/>
            <a:r>
              <a:rPr sz="2000" b="1" i="0">
                <a:solidFill>
                  <a:srgbClr val="FFFFFF"/>
                </a:solidFill>
              </a:rPr>
              <a:t>4</a:t>
            </a:r>
          </a:p>
        </p:txBody>
      </p:sp>
      <p:sp>
        <p:nvSpPr>
          <p:cNvPr id="19" name="TextBox 18"/>
          <p:cNvSpPr txBox="1"/>
          <p:nvPr/>
        </p:nvSpPr>
        <p:spPr>
          <a:xfrm>
            <a:off x="7114032" y="4023359"/>
            <a:ext cx="4023360" cy="502920"/>
          </a:xfrm>
          <a:prstGeom prst="rect">
            <a:avLst/>
          </a:prstGeom>
          <a:noFill/>
        </p:spPr>
        <p:txBody>
          <a:bodyPr wrap="square" lIns="0" tIns="0" rIns="0" bIns="0" anchor="ctr">
            <a:spAutoFit/>
          </a:bodyPr>
          <a:lstStyle/>
          <a:p>
            <a:pPr algn="l"/>
            <a:r>
              <a:rPr sz="2000" b="1" i="0">
                <a:solidFill>
                  <a:srgbClr val="1F394D"/>
                </a:solidFill>
              </a:rPr>
              <a:t>Predicted probabilities</a:t>
            </a:r>
          </a:p>
        </p:txBody>
      </p:sp>
      <p:sp>
        <p:nvSpPr>
          <p:cNvPr id="20" name="TextBox 19"/>
          <p:cNvSpPr txBox="1"/>
          <p:nvPr/>
        </p:nvSpPr>
        <p:spPr>
          <a:xfrm>
            <a:off x="7114032" y="4617720"/>
            <a:ext cx="4023360" cy="1097280"/>
          </a:xfrm>
          <a:prstGeom prst="rect">
            <a:avLst/>
          </a:prstGeom>
          <a:noFill/>
        </p:spPr>
        <p:txBody>
          <a:bodyPr wrap="square" lIns="0" tIns="0" rIns="0" bIns="0" anchor="t">
            <a:spAutoFit/>
          </a:bodyPr>
          <a:lstStyle/>
          <a:p>
            <a:pPr algn="l"/>
            <a:r>
              <a:rPr sz="1600" b="0" i="0">
                <a:solidFill>
                  <a:srgbClr val="1F2A33"/>
                </a:solidFill>
              </a:rPr>
              <a:t>They show how big a difference is, and the change depends on where you are on the S. Report your coding decisions.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2CBA3A-E59C-1E5C-37CA-CD0F1E185ED5}"/>
              </a:ext>
            </a:extLst>
          </p:cNvPr>
          <p:cNvSpPr>
            <a:spLocks noGrp="1"/>
          </p:cNvSpPr>
          <p:nvPr>
            <p:ph type="title"/>
          </p:nvPr>
        </p:nvSpPr>
        <p:spPr>
          <a:xfrm>
            <a:off x="5664452" y="1340856"/>
            <a:ext cx="6218753" cy="2344176"/>
          </a:xfrm>
        </p:spPr>
        <p:txBody>
          <a:bodyPr/>
          <a:lstStyle/>
          <a:p>
            <a:r>
              <a:rPr lang="en-GB" sz="4400" dirty="0"/>
              <a:t>Logistic regression</a:t>
            </a:r>
            <a:br>
              <a:rPr lang="en-GB" dirty="0"/>
            </a:br>
            <a:r>
              <a:rPr lang="en-GB" sz="4400" dirty="0"/>
              <a:t>applied: </a:t>
            </a:r>
            <a:br>
              <a:rPr lang="en-GB" dirty="0"/>
            </a:br>
            <a:r>
              <a:rPr lang="en-GB" sz="4400" dirty="0"/>
              <a:t>Workshop</a:t>
            </a:r>
          </a:p>
        </p:txBody>
      </p:sp>
      <p:sp>
        <p:nvSpPr>
          <p:cNvPr id="8" name="Text Placeholder 7">
            <a:extLst>
              <a:ext uri="{FF2B5EF4-FFF2-40B4-BE49-F238E27FC236}">
                <a16:creationId xmlns:a16="http://schemas.microsoft.com/office/drawing/2014/main" id="{636F7FD2-53FA-4A51-9681-6FC5C8960063}"/>
              </a:ext>
            </a:extLst>
          </p:cNvPr>
          <p:cNvSpPr>
            <a:spLocks noGrp="1"/>
          </p:cNvSpPr>
          <p:nvPr>
            <p:ph type="body" sz="half" idx="2"/>
          </p:nvPr>
        </p:nvSpPr>
        <p:spPr>
          <a:xfrm>
            <a:off x="5664452" y="3621023"/>
            <a:ext cx="6218753" cy="445637"/>
          </a:xfrm>
        </p:spPr>
        <p:txBody>
          <a:bodyPr/>
          <a:lstStyle/>
          <a:p>
            <a:r>
              <a:rPr lang="en-GB" dirty="0"/>
              <a:t>3-</a:t>
            </a:r>
            <a:r>
              <a:rPr lang="en-GB" dirty="0" err="1"/>
              <a:t>5pm</a:t>
            </a:r>
            <a:endParaRPr lang="en-GB" dirty="0"/>
          </a:p>
        </p:txBody>
      </p:sp>
      <p:sp>
        <p:nvSpPr>
          <p:cNvPr id="4" name="Date Placeholder 3">
            <a:extLst>
              <a:ext uri="{FF2B5EF4-FFF2-40B4-BE49-F238E27FC236}">
                <a16:creationId xmlns:a16="http://schemas.microsoft.com/office/drawing/2014/main" id="{7452334B-2A42-251C-845C-1CED233665F2}"/>
              </a:ext>
            </a:extLst>
          </p:cNvPr>
          <p:cNvSpPr>
            <a:spLocks noGrp="1"/>
          </p:cNvSpPr>
          <p:nvPr>
            <p:ph type="dt" sz="half" idx="10"/>
          </p:nvPr>
        </p:nvSpPr>
        <p:spPr/>
        <p:txBody>
          <a:bodyPr/>
          <a:lstStyle/>
          <a:p>
            <a:r>
              <a:rPr lang="en-US"/>
              <a:t>20 October 2026</a:t>
            </a:r>
            <a:endParaRPr lang="en-GB" dirty="0"/>
          </a:p>
        </p:txBody>
      </p:sp>
      <p:sp>
        <p:nvSpPr>
          <p:cNvPr id="5" name="Footer Placeholder 4">
            <a:extLst>
              <a:ext uri="{FF2B5EF4-FFF2-40B4-BE49-F238E27FC236}">
                <a16:creationId xmlns:a16="http://schemas.microsoft.com/office/drawing/2014/main" id="{E7848055-4F62-3048-C4D2-554FF0041ADC}"/>
              </a:ext>
            </a:extLst>
          </p:cNvPr>
          <p:cNvSpPr>
            <a:spLocks noGrp="1"/>
          </p:cNvSpPr>
          <p:nvPr>
            <p:ph type="ftr" sz="quarter" idx="11"/>
          </p:nvPr>
        </p:nvSpPr>
        <p:spPr/>
        <p:txBody>
          <a:bodyPr/>
          <a:lstStyle/>
          <a:p>
            <a:r>
              <a:rPr lang="en-GB"/>
              <a:t>Logistic regression</a:t>
            </a:r>
            <a:endParaRPr lang="en-GB" dirty="0"/>
          </a:p>
        </p:txBody>
      </p:sp>
    </p:spTree>
    <p:extLst>
      <p:ext uri="{BB962C8B-B14F-4D97-AF65-F5344CB8AC3E}">
        <p14:creationId xmlns:p14="http://schemas.microsoft.com/office/powerpoint/2010/main" val="2531294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CA108-CB1D-5541-DFA5-C4B6F5FB8C65}"/>
              </a:ext>
            </a:extLst>
          </p:cNvPr>
          <p:cNvSpPr>
            <a:spLocks noGrp="1"/>
          </p:cNvSpPr>
          <p:nvPr>
            <p:ph type="title"/>
          </p:nvPr>
        </p:nvSpPr>
        <p:spPr>
          <a:xfrm>
            <a:off x="465512" y="2761331"/>
            <a:ext cx="3200400" cy="1198178"/>
          </a:xfrm>
        </p:spPr>
        <p:txBody>
          <a:bodyPr vert="horz" lIns="91440" tIns="45720" rIns="91440" bIns="45720" rtlCol="0" anchor="b">
            <a:normAutofit/>
          </a:bodyPr>
          <a:lstStyle/>
          <a:p>
            <a:r>
              <a:rPr lang="en-GB" dirty="0"/>
              <a:t>Assignment Questions</a:t>
            </a:r>
          </a:p>
        </p:txBody>
      </p:sp>
      <p:sp>
        <p:nvSpPr>
          <p:cNvPr id="2" name="Date Placeholder 1">
            <a:extLst>
              <a:ext uri="{FF2B5EF4-FFF2-40B4-BE49-F238E27FC236}">
                <a16:creationId xmlns:a16="http://schemas.microsoft.com/office/drawing/2014/main" id="{BFF50875-77B6-7B50-6789-FC1B56491CC3}"/>
              </a:ext>
            </a:extLst>
          </p:cNvPr>
          <p:cNvSpPr>
            <a:spLocks noGrp="1"/>
          </p:cNvSpPr>
          <p:nvPr>
            <p:ph type="dt" sz="half" idx="10"/>
          </p:nvPr>
        </p:nvSpPr>
        <p:spPr>
          <a:xfrm>
            <a:off x="465512" y="6459785"/>
            <a:ext cx="2618510" cy="365125"/>
          </a:xfrm>
        </p:spPr>
        <p:txBody>
          <a:bodyPr vert="horz" lIns="91440" tIns="45720" rIns="91440" bIns="45720" rtlCol="0" anchor="ctr">
            <a:normAutofit/>
          </a:bodyPr>
          <a:lstStyle/>
          <a:p>
            <a:pPr>
              <a:spcAft>
                <a:spcPts val="600"/>
              </a:spcAft>
            </a:pPr>
            <a:fld id="{FA72AB8D-F27B-45C4-A3C3-1397CC759085}" type="datetimeyyyy">
              <a:rPr lang="en-US" smtClean="0"/>
              <a:pPr>
                <a:spcAft>
                  <a:spcPts val="600"/>
                </a:spcAft>
              </a:pPr>
              <a:t>2026</a:t>
            </a:fld>
            <a:endParaRPr lang="en-GB"/>
          </a:p>
        </p:txBody>
      </p:sp>
      <p:graphicFrame>
        <p:nvGraphicFramePr>
          <p:cNvPr id="9" name="TextBox 3">
            <a:extLst>
              <a:ext uri="{FF2B5EF4-FFF2-40B4-BE49-F238E27FC236}">
                <a16:creationId xmlns:a16="http://schemas.microsoft.com/office/drawing/2014/main" id="{C99D6C87-9AF3-E3D7-FBAB-D1AACB4C355B}"/>
              </a:ext>
            </a:extLst>
          </p:cNvPr>
          <p:cNvGraphicFramePr/>
          <p:nvPr/>
        </p:nvGraphicFramePr>
        <p:xfrm>
          <a:off x="4800600" y="731520"/>
          <a:ext cx="649224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08145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AE4DB1-6B08-6AEB-B597-8064268FD9C5}"/>
              </a:ext>
            </a:extLst>
          </p:cNvPr>
          <p:cNvSpPr>
            <a:spLocks noGrp="1"/>
          </p:cNvSpPr>
          <p:nvPr>
            <p:ph type="dt" sz="half" idx="10"/>
          </p:nvPr>
        </p:nvSpPr>
        <p:spPr/>
        <p:txBody>
          <a:bodyPr/>
          <a:lstStyle/>
          <a:p>
            <a:r>
              <a:rPr lang="en-US"/>
              <a:t>20 October 2026</a:t>
            </a:r>
            <a:endParaRPr lang="en-GB"/>
          </a:p>
        </p:txBody>
      </p:sp>
      <p:sp>
        <p:nvSpPr>
          <p:cNvPr id="3" name="Footer Placeholder 2">
            <a:extLst>
              <a:ext uri="{FF2B5EF4-FFF2-40B4-BE49-F238E27FC236}">
                <a16:creationId xmlns:a16="http://schemas.microsoft.com/office/drawing/2014/main" id="{D6F2723A-2C1C-2AB6-3420-9BD762F766DF}"/>
              </a:ext>
            </a:extLst>
          </p:cNvPr>
          <p:cNvSpPr>
            <a:spLocks noGrp="1"/>
          </p:cNvSpPr>
          <p:nvPr>
            <p:ph type="ftr" sz="quarter" idx="11"/>
          </p:nvPr>
        </p:nvSpPr>
        <p:spPr/>
        <p:txBody>
          <a:bodyPr/>
          <a:lstStyle/>
          <a:p>
            <a:r>
              <a:rPr lang="en-GB"/>
              <a:t>Logistic regression</a:t>
            </a:r>
          </a:p>
        </p:txBody>
      </p:sp>
    </p:spTree>
    <p:extLst>
      <p:ext uri="{BB962C8B-B14F-4D97-AF65-F5344CB8AC3E}">
        <p14:creationId xmlns:p14="http://schemas.microsoft.com/office/powerpoint/2010/main" val="28580937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Retrospect">
  <a:themeElements>
    <a:clrScheme name="Moreh">
      <a:dk1>
        <a:srgbClr val="000000"/>
      </a:dk1>
      <a:lt1>
        <a:sysClr val="window" lastClr="FFFFFF"/>
      </a:lt1>
      <a:dk2>
        <a:srgbClr val="637052"/>
      </a:dk2>
      <a:lt2>
        <a:srgbClr val="CCDDEA"/>
      </a:lt2>
      <a:accent1>
        <a:srgbClr val="3F739B"/>
      </a:accent1>
      <a:accent2>
        <a:srgbClr val="1F394D"/>
      </a:accent2>
      <a:accent3>
        <a:srgbClr val="865640"/>
      </a:accent3>
      <a:accent4>
        <a:srgbClr val="9B8357"/>
      </a:accent4>
      <a:accent5>
        <a:srgbClr val="C2BC80"/>
      </a:accent5>
      <a:accent6>
        <a:srgbClr val="94A088"/>
      </a:accent6>
      <a:hlink>
        <a:srgbClr val="B88C00"/>
      </a:hlink>
      <a:folHlink>
        <a:srgbClr val="B88C0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Moreh template.pptx" id="{976FE89A-DE24-46CA-AC0C-F592F46D6A11}" vid="{6FA3B6B4-ED01-4468-97EF-FE3176612C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24.07.16-Osaka</Template>
  <TotalTime>3644</TotalTime>
  <Words>5222</Words>
  <Application>Microsoft Office PowerPoint</Application>
  <PresentationFormat>Widescreen</PresentationFormat>
  <Paragraphs>630</Paragraphs>
  <Slides>32</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Aptos</vt:lpstr>
      <vt:lpstr>Arial</vt:lpstr>
      <vt:lpstr>Arial Narrow</vt:lpstr>
      <vt:lpstr>Arial Nova Cond Light</vt:lpstr>
      <vt:lpstr>Calibri</vt:lpstr>
      <vt:lpstr>Calibri Light</vt:lpstr>
      <vt:lpstr>Courier New</vt:lpstr>
      <vt:lpstr>Wingdings</vt:lpstr>
      <vt:lpstr>Retrospect</vt:lpstr>
      <vt:lpstr>PowerPoint Presentation</vt:lpstr>
      <vt:lpstr>Week 4</vt:lpstr>
      <vt:lpstr>Outline</vt:lpstr>
      <vt:lpstr>Recap: the linear regression line</vt:lpstr>
      <vt:lpstr>Binary outcomes</vt:lpstr>
      <vt:lpstr>Activity: linear or logistic regression</vt:lpstr>
      <vt:lpstr>A straight line for a 0/1 outcome</vt:lpstr>
      <vt:lpstr>Probability, odds and log-odds</vt:lpstr>
      <vt:lpstr>Probability and odds</vt:lpstr>
      <vt:lpstr>Trust on three scales</vt:lpstr>
      <vt:lpstr>The three scales side by side</vt:lpstr>
      <vt:lpstr>Activity: converting between scales</vt:lpstr>
      <vt:lpstr>Answers: converting between scales</vt:lpstr>
      <vt:lpstr>The logistic regression model</vt:lpstr>
      <vt:lpstr>The model on two scales</vt:lpstr>
      <vt:lpstr>Steps of £10,000 on each scale</vt:lpstr>
      <vt:lpstr>Logistic regression in JASP</vt:lpstr>
      <vt:lpstr>Preparing the outcome variable</vt:lpstr>
      <vt:lpstr>Reading the JASP output</vt:lpstr>
      <vt:lpstr>Interpreting the coefficients</vt:lpstr>
      <vt:lpstr>Predicted probabilities by age and sex</vt:lpstr>
      <vt:lpstr>Model fit</vt:lpstr>
      <vt:lpstr>Linear and logistic predictions compared</vt:lpstr>
      <vt:lpstr>Activity: interpreting an odds ratio</vt:lpstr>
      <vt:lpstr>Answers: interpreting an odds ratio</vt:lpstr>
      <vt:lpstr>Activity: dichotomising a scale</vt:lpstr>
      <vt:lpstr>Reporting the results</vt:lpstr>
      <vt:lpstr>Interactive explorer</vt:lpstr>
      <vt:lpstr>Key points</vt:lpstr>
      <vt:lpstr>Logistic regression applied:  Workshop</vt:lpstr>
      <vt:lpstr>Assignment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Moreh</dc:creator>
  <cp:lastModifiedBy>Chris Moreh</cp:lastModifiedBy>
  <cp:revision>9</cp:revision>
  <dcterms:created xsi:type="dcterms:W3CDTF">2024-07-11T13:35:49Z</dcterms:created>
  <dcterms:modified xsi:type="dcterms:W3CDTF">2026-10-19T16:26:50Z</dcterms:modified>
</cp:coreProperties>
</file>